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sldIdLst>
    <p:sldId id="807" r:id="rId3"/>
    <p:sldId id="261" r:id="rId4"/>
    <p:sldId id="262" r:id="rId5"/>
    <p:sldId id="264" r:id="rId6"/>
    <p:sldId id="263" r:id="rId7"/>
    <p:sldId id="256" r:id="rId8"/>
    <p:sldId id="265" r:id="rId9"/>
    <p:sldId id="384" r:id="rId10"/>
    <p:sldId id="385" r:id="rId11"/>
    <p:sldId id="383" r:id="rId12"/>
    <p:sldId id="266" r:id="rId13"/>
    <p:sldId id="809" r:id="rId14"/>
    <p:sldId id="808" r:id="rId15"/>
    <p:sldId id="3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015D"/>
    <a:srgbClr val="6A0DAD"/>
    <a:srgbClr val="4B0082"/>
    <a:srgbClr val="710193"/>
    <a:srgbClr val="8F00FF"/>
    <a:srgbClr val="9867C5"/>
    <a:srgbClr val="A32CC4"/>
    <a:srgbClr val="7852A9"/>
    <a:srgbClr val="81007F"/>
    <a:srgbClr val="6F2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95"/>
    <p:restoredTop sz="94726"/>
  </p:normalViewPr>
  <p:slideViewPr>
    <p:cSldViewPr snapToGrid="0">
      <p:cViewPr varScale="1">
        <p:scale>
          <a:sx n="120" d="100"/>
          <a:sy n="120" d="100"/>
        </p:scale>
        <p:origin x="1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6450D-D7BE-FB47-BEB0-D3D716B900A5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35B0A-270B-4A40-AA49-B2772BBA2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92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1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35B0A-270B-4A40-AA49-B2772BBA29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6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35B0A-270B-4A40-AA49-B2772BBA29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08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35B0A-270B-4A40-AA49-B2772BBA29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91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58F6-A9E6-B1C5-FE6D-467262B64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9ABE8-9D82-20A8-3F56-3205070C6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B1BC9-C0A1-7FF6-E1D3-604BEBD63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09955-6D95-F736-9488-C4F6AC754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8D28B-5673-572B-A5A0-2E8AE65A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7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BDD88-7B92-9361-B20C-067317DB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146C6-E2A7-3B86-30BF-7D04F92E9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6FC8-A3FE-4A61-0514-900D64977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1BF25-9D1D-2FEE-876C-1928FC3C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02FF7-85E4-6525-EB92-A36FEF95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9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3F90-05A5-E6AB-1ED1-F24AC33D1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32F32-749C-97B8-B7E2-A27CA2E3D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DA30C-52E8-1C3C-91C0-FF136781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3284B-A6DF-E106-556F-A3D13E7B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F62B2-E01A-862B-5269-85AAFB3A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5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50382-7353-03F4-02A2-E69F0C1F4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9AA00-4A12-EB98-99A8-155A25F38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09D7E-2A04-5DBC-0DB2-DBB138DD5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238E3-98B4-3333-032A-338689098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D6537-5FA0-DFE9-3C64-BC5843F55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55215-1ECC-B24A-5A02-68AEE4FE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4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B91A-A02E-3467-FCCF-33BC4504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79A6F-DE41-6C93-431F-4278249B5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768C0-2598-A960-9384-EDFDA6041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2B228-C2D7-1AE4-ACAC-A61606E370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3A2E4-08E3-9419-BBF8-F2F7127EF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17BC30-64CE-6000-4020-21052B00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C921E-03D2-B159-FFA3-59786F98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DD9E3-D298-4876-DF49-9CC09D0A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49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8F84-459D-1491-4C7C-6952831B6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C9917-A108-32AD-EC90-3981ECD8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BFCDE-920E-ECA1-9A20-359D6976D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54D86-2EAA-76D0-6520-FE465A607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88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2B94CD-99CA-30B8-D332-6E32C32F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496C6-4FE9-0365-FB30-16A21EF2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B1B75-D566-065F-6121-4F9D7D0B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4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63179-148D-B1B0-F02A-B892F422D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DB326-27A7-AEB8-1411-91D690A6F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2557E-79D5-58DB-D6E1-B32354C64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9AEC1-1EBD-E4C6-C342-0B7A8B86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9D86A-0747-BBDA-CAC4-051593EFC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6959A-F51A-8FFA-A488-02F960082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69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8834-8240-6C80-7415-3133FEA1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DC2C14-087D-D872-7EA0-BEE490571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B1639-3A28-8642-9C74-0A5DDA842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6284A-C08F-ED04-5ACF-B693B9B14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CB4A0-BF2C-82F3-762C-0DB15D7E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6B99B-5850-8F44-8CEF-3D041DEF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1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2FA2-4116-E4CA-F62E-D6048B6E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0F4654-60C9-211B-3B31-3E50D07F4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B43EF-0F5B-9ECF-ABB7-843FD943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EBA3D-4B94-0F97-9872-B33E786A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D95A0-4796-81C9-C803-89CD80B3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36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9961D4-5735-F0C1-DA7E-2889B837A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E0781-DF4B-7122-79EE-FC9933F10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E0915-F01D-A112-CC1C-3A23B204E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98D6F-7308-42C5-4429-5D8816F6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31C-06FF-E9A7-F3D3-46186C51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29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2668-EBEB-AE41-BF76-89062B014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28A4C-0805-8E44-B54E-3B6F671F8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B74C2-6265-7F41-BB8F-D8A0A0C8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C895-F8E0-4049-8BEE-E5499394E46C}" type="datetime1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53590-4180-6C42-A6BF-707655C1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81401-8545-2D4E-A7FB-31AFC7A8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5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560F9-C770-5C4C-9C93-102EC332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38EDA-56F1-1C40-B81E-28B921C4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88156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2772-5D80-F641-A1BB-6048573C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F55E2-A889-F24B-B1FE-1E878178F308}" type="datetime1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FC4AF-90CF-484C-B6C7-5CE1A016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9AF1E-33D8-3041-A601-1384C718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911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822D-6D7A-1342-98EF-890C6F2D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CF19EA-9170-5B4B-814F-7425C8E2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8461C-3391-334C-9885-001B32D724C4}" type="datetime1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2B1FB-ECDF-AD43-9020-0267ED91C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9C470-5AF0-5246-81E7-95EAEE56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95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8B9412-6E2F-E9E7-60A9-290B01CE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38891-018A-51E7-278A-1E5367995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7EBC5-E733-7A91-F32D-26B94EB92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8F27B-DA9C-924C-AB72-BB2AD1CD8579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2F64F-5A5F-38B3-AE09-4F4603E80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7B9A4-2CD8-FA68-F110-900EF36F8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5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9A1DB-155B-0846-9CED-8B75F56E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9736F-08D5-7643-A656-ABAEB9457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33D04-66F5-D74B-8EEA-459FDC00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2005EE61-3907-C44D-8624-D47E09E871DB}" type="datetime1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E6E67-6F97-E149-8437-635D11E7E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C1E-0AB1-F34A-83C6-0956BF9B4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D73D4D4B-2FF7-BE46-958C-B004BD45EF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2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7ACA5-3691-8FEB-0266-8D47BBCCF4C6}"/>
              </a:ext>
            </a:extLst>
          </p:cNvPr>
          <p:cNvSpPr txBox="1"/>
          <p:nvPr/>
        </p:nvSpPr>
        <p:spPr>
          <a:xfrm>
            <a:off x="0" y="186247"/>
            <a:ext cx="1219199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0" b="1" dirty="0">
                <a:solidFill>
                  <a:srgbClr val="FFC000"/>
                </a:solidFill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Title</a:t>
            </a:r>
            <a:endParaRPr kumimoji="0" lang="en-US" sz="115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pic>
        <p:nvPicPr>
          <p:cNvPr id="4" name="Audio 4.m4a">
            <a:hlinkClick r:id="" action="ppaction://media"/>
            <a:extLst>
              <a:ext uri="{FF2B5EF4-FFF2-40B4-BE49-F238E27FC236}">
                <a16:creationId xmlns:a16="http://schemas.microsoft.com/office/drawing/2014/main" id="{517B54EF-D7B1-E948-D130-5B2C54B785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79536" y="7453964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3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4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7E9F5D-1FBC-9D7B-5678-A9CF9F534CD6}"/>
              </a:ext>
            </a:extLst>
          </p:cNvPr>
          <p:cNvSpPr txBox="1"/>
          <p:nvPr/>
        </p:nvSpPr>
        <p:spPr>
          <a:xfrm>
            <a:off x="433388" y="221172"/>
            <a:ext cx="11758612" cy="4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Colors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5A336C-9DE9-9203-4406-C074680B388C}"/>
              </a:ext>
            </a:extLst>
          </p:cNvPr>
          <p:cNvSpPr/>
          <p:nvPr/>
        </p:nvSpPr>
        <p:spPr>
          <a:xfrm>
            <a:off x="9451983" y="3965888"/>
            <a:ext cx="1914525" cy="1271588"/>
          </a:xfrm>
          <a:prstGeom prst="rect">
            <a:avLst/>
          </a:prstGeom>
          <a:solidFill>
            <a:srgbClr val="71019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#710193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EABFBC-E695-EC88-92F2-D10E0E39EBC8}"/>
              </a:ext>
            </a:extLst>
          </p:cNvPr>
          <p:cNvSpPr/>
          <p:nvPr/>
        </p:nvSpPr>
        <p:spPr>
          <a:xfrm>
            <a:off x="3660779" y="2122055"/>
            <a:ext cx="1914525" cy="1271588"/>
          </a:xfrm>
          <a:prstGeom prst="rect">
            <a:avLst/>
          </a:prstGeom>
          <a:solidFill>
            <a:srgbClr val="4B008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#4B0082</a:t>
            </a:r>
          </a:p>
          <a:p>
            <a:pPr algn="ctr"/>
            <a:r>
              <a:rPr lang="en-US" dirty="0"/>
              <a:t>INDIGO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8BD314-EFC0-C911-5096-D9DCAEB2B76E}"/>
              </a:ext>
            </a:extLst>
          </p:cNvPr>
          <p:cNvSpPr/>
          <p:nvPr/>
        </p:nvSpPr>
        <p:spPr>
          <a:xfrm>
            <a:off x="3736980" y="3984722"/>
            <a:ext cx="1914525" cy="1271588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#7030A0</a:t>
            </a:r>
          </a:p>
          <a:p>
            <a:pPr algn="ctr"/>
            <a:r>
              <a:rPr lang="en-US" dirty="0"/>
              <a:t>PPT purple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A5524A-7932-4BDB-F8EB-5B03F4679731}"/>
              </a:ext>
            </a:extLst>
          </p:cNvPr>
          <p:cNvSpPr/>
          <p:nvPr/>
        </p:nvSpPr>
        <p:spPr>
          <a:xfrm>
            <a:off x="714378" y="2122055"/>
            <a:ext cx="1914525" cy="1271588"/>
          </a:xfrm>
          <a:prstGeom prst="rect">
            <a:avLst/>
          </a:prstGeom>
          <a:solidFill>
            <a:srgbClr val="8F0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#8F00FF</a:t>
            </a:r>
          </a:p>
          <a:p>
            <a:r>
              <a:rPr lang="en-US" dirty="0"/>
              <a:t>ELECTRIC_PURPLE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6D199E-B257-43A8-759F-62D2A0F2C90F}"/>
              </a:ext>
            </a:extLst>
          </p:cNvPr>
          <p:cNvSpPr/>
          <p:nvPr/>
        </p:nvSpPr>
        <p:spPr>
          <a:xfrm>
            <a:off x="9392714" y="2122055"/>
            <a:ext cx="1914525" cy="1271588"/>
          </a:xfrm>
          <a:prstGeom prst="rect">
            <a:avLst/>
          </a:prstGeom>
          <a:solidFill>
            <a:srgbClr val="6A0D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#6A0DAD</a:t>
            </a:r>
          </a:p>
          <a:p>
            <a:pPr algn="ctr"/>
            <a:r>
              <a:rPr lang="en-US" dirty="0"/>
              <a:t>TRUE_PURPLE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E7362D-CE29-DCCB-BAD6-AFC6F602451F}"/>
              </a:ext>
            </a:extLst>
          </p:cNvPr>
          <p:cNvSpPr/>
          <p:nvPr/>
        </p:nvSpPr>
        <p:spPr>
          <a:xfrm>
            <a:off x="6616698" y="2122055"/>
            <a:ext cx="1914525" cy="1271588"/>
          </a:xfrm>
          <a:prstGeom prst="rect">
            <a:avLst/>
          </a:prstGeom>
          <a:solidFill>
            <a:srgbClr val="47015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 47015D</a:t>
            </a:r>
          </a:p>
          <a:p>
            <a:pPr algn="ctr"/>
            <a:r>
              <a:rPr lang="en-US" dirty="0"/>
              <a:t>DEEP_PURPLE</a:t>
            </a:r>
          </a:p>
        </p:txBody>
      </p:sp>
    </p:spTree>
    <p:extLst>
      <p:ext uri="{BB962C8B-B14F-4D97-AF65-F5344CB8AC3E}">
        <p14:creationId xmlns:p14="http://schemas.microsoft.com/office/powerpoint/2010/main" val="1887111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F9907F93-1CF5-6693-D3F3-32B98FBA0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912442"/>
              </p:ext>
            </p:extLst>
          </p:nvPr>
        </p:nvGraphicFramePr>
        <p:xfrm>
          <a:off x="0" y="0"/>
          <a:ext cx="12191998" cy="6858000"/>
        </p:xfrm>
        <a:graphic>
          <a:graphicData uri="http://schemas.openxmlformats.org/drawingml/2006/table">
            <a:tbl>
              <a:tblPr firstRow="1" bandRow="1"/>
              <a:tblGrid>
                <a:gridCol w="870857">
                  <a:extLst>
                    <a:ext uri="{9D8B030D-6E8A-4147-A177-3AD203B41FA5}">
                      <a16:colId xmlns:a16="http://schemas.microsoft.com/office/drawing/2014/main" val="237923156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4340033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8472493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09035335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821676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0679658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6483811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04222595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95733322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2148751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2619979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6844645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32669659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29576916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4,4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7,4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47896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3,3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52727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1,2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2,2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65633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1,1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67922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-1,-1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33638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ELECTRIC</a:t>
                      </a:r>
                      <a:b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PURPLE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90874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#8F00FF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98752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-7,-4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5182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27E9F5D-1FBC-9D7B-5678-A9CF9F534CD6}"/>
              </a:ext>
            </a:extLst>
          </p:cNvPr>
          <p:cNvSpPr txBox="1"/>
          <p:nvPr/>
        </p:nvSpPr>
        <p:spPr>
          <a:xfrm>
            <a:off x="-128587" y="7180765"/>
            <a:ext cx="123205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 default, the scene in </a:t>
            </a:r>
            <a:r>
              <a:rPr lang="en-US" sz="2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Manim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made up of an 8 x 14 grid.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grid is addressed using a </a:t>
            </a:r>
            <a:r>
              <a:rPr lang="en-US" sz="2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numpy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array in the form of [x, y, z].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2D animations, only the x and y axes are used.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origin (green dot) corresponds to the coordinates (0, 0, 0) in the </a:t>
            </a:r>
            <a:r>
              <a:rPr lang="en-US" sz="2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numpy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array [x, y, z].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image is helpful as a reference when sizing animation objects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59459AE-BA4F-D3ED-E7EE-03B1F1CA117F}"/>
              </a:ext>
            </a:extLst>
          </p:cNvPr>
          <p:cNvSpPr/>
          <p:nvPr/>
        </p:nvSpPr>
        <p:spPr>
          <a:xfrm>
            <a:off x="5938837" y="3261632"/>
            <a:ext cx="314325" cy="334736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494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00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F9907F93-1CF5-6693-D3F3-32B98FBA0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559326"/>
              </p:ext>
            </p:extLst>
          </p:nvPr>
        </p:nvGraphicFramePr>
        <p:xfrm>
          <a:off x="0" y="0"/>
          <a:ext cx="12191998" cy="6858000"/>
        </p:xfrm>
        <a:graphic>
          <a:graphicData uri="http://schemas.openxmlformats.org/drawingml/2006/table">
            <a:tbl>
              <a:tblPr firstRow="1" bandRow="1"/>
              <a:tblGrid>
                <a:gridCol w="870857">
                  <a:extLst>
                    <a:ext uri="{9D8B030D-6E8A-4147-A177-3AD203B41FA5}">
                      <a16:colId xmlns:a16="http://schemas.microsoft.com/office/drawing/2014/main" val="237923156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4340033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8472493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09035335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821676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0679658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6483811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04222595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95733322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2148751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2619979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6844645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32669659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29576916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4,4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7,4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47896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3,3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52727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1,2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2,2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65633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1,1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67922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-1,-1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33638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INDIGO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90874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#4B0082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98752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-7,-4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5182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27E9F5D-1FBC-9D7B-5678-A9CF9F534CD6}"/>
              </a:ext>
            </a:extLst>
          </p:cNvPr>
          <p:cNvSpPr txBox="1"/>
          <p:nvPr/>
        </p:nvSpPr>
        <p:spPr>
          <a:xfrm>
            <a:off x="-128587" y="7180765"/>
            <a:ext cx="123205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 default, the scene in </a:t>
            </a:r>
            <a:r>
              <a:rPr lang="en-US" sz="2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Manim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made up of an 8 x 14 grid.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grid is addressed using a </a:t>
            </a:r>
            <a:r>
              <a:rPr lang="en-US" sz="2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numpy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array in the form of [x, y, z].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2D animations, only the x and y axes are used.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origin (green dot) corresponds to the coordinates (0, 0, 0) in the </a:t>
            </a:r>
            <a:r>
              <a:rPr lang="en-US" sz="2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numpy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array [x, y, z].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image is helpful as a reference when sizing animation objects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59459AE-BA4F-D3ED-E7EE-03B1F1CA117F}"/>
              </a:ext>
            </a:extLst>
          </p:cNvPr>
          <p:cNvSpPr/>
          <p:nvPr/>
        </p:nvSpPr>
        <p:spPr>
          <a:xfrm>
            <a:off x="5938837" y="3261632"/>
            <a:ext cx="314325" cy="334736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736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0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F9907F93-1CF5-6693-D3F3-32B98FBA0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355971"/>
              </p:ext>
            </p:extLst>
          </p:nvPr>
        </p:nvGraphicFramePr>
        <p:xfrm>
          <a:off x="0" y="0"/>
          <a:ext cx="12191998" cy="6858000"/>
        </p:xfrm>
        <a:graphic>
          <a:graphicData uri="http://schemas.openxmlformats.org/drawingml/2006/table">
            <a:tbl>
              <a:tblPr firstRow="1" bandRow="1"/>
              <a:tblGrid>
                <a:gridCol w="870857">
                  <a:extLst>
                    <a:ext uri="{9D8B030D-6E8A-4147-A177-3AD203B41FA5}">
                      <a16:colId xmlns:a16="http://schemas.microsoft.com/office/drawing/2014/main" val="237923156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4340033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8472493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09035335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821676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0679658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6483811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04222595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95733322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2148751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2619979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6844645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32669659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29576916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4,4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7,4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47896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3,3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52727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1,2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2,2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65633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1,1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67922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-1,-1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33638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90874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#710193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98752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-7,-4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5182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27E9F5D-1FBC-9D7B-5678-A9CF9F534CD6}"/>
              </a:ext>
            </a:extLst>
          </p:cNvPr>
          <p:cNvSpPr txBox="1"/>
          <p:nvPr/>
        </p:nvSpPr>
        <p:spPr>
          <a:xfrm>
            <a:off x="-128587" y="7180765"/>
            <a:ext cx="123205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 default, the scene in </a:t>
            </a:r>
            <a:r>
              <a:rPr lang="en-US" sz="2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Manim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made up of an 8 x 14 grid.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grid is addressed using a </a:t>
            </a:r>
            <a:r>
              <a:rPr lang="en-US" sz="2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numpy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array in the form of [x, y, z].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2D animations, only the x and y axes are used.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origin (green dot) corresponds to the coordinates (0, 0, 0) in the </a:t>
            </a:r>
            <a:r>
              <a:rPr lang="en-US" sz="2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numpy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array [x, y, z].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image is helpful as a reference when sizing animation objects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59459AE-BA4F-D3ED-E7EE-03B1F1CA117F}"/>
              </a:ext>
            </a:extLst>
          </p:cNvPr>
          <p:cNvSpPr/>
          <p:nvPr/>
        </p:nvSpPr>
        <p:spPr>
          <a:xfrm>
            <a:off x="5938837" y="3261632"/>
            <a:ext cx="314325" cy="334736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615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F9907F93-1CF5-6693-D3F3-32B98FBA0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374841"/>
              </p:ext>
            </p:extLst>
          </p:nvPr>
        </p:nvGraphicFramePr>
        <p:xfrm>
          <a:off x="0" y="0"/>
          <a:ext cx="12191998" cy="6858000"/>
        </p:xfrm>
        <a:graphic>
          <a:graphicData uri="http://schemas.openxmlformats.org/drawingml/2006/table">
            <a:tbl>
              <a:tblPr firstRow="1" bandRow="1"/>
              <a:tblGrid>
                <a:gridCol w="870857">
                  <a:extLst>
                    <a:ext uri="{9D8B030D-6E8A-4147-A177-3AD203B41FA5}">
                      <a16:colId xmlns:a16="http://schemas.microsoft.com/office/drawing/2014/main" val="237923156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4340033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8472493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09035335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821676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0679658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6483811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04222595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95733322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2148751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2619979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6844645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32669659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29576916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4,4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7,4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47896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3,3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52727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1,2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2,2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65633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1,1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67922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-1,-1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33638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90874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#7030A0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98752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-7,-4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5182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27E9F5D-1FBC-9D7B-5678-A9CF9F534CD6}"/>
              </a:ext>
            </a:extLst>
          </p:cNvPr>
          <p:cNvSpPr txBox="1"/>
          <p:nvPr/>
        </p:nvSpPr>
        <p:spPr>
          <a:xfrm>
            <a:off x="-128587" y="7180765"/>
            <a:ext cx="123205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 default, the scene in </a:t>
            </a:r>
            <a:r>
              <a:rPr lang="en-US" sz="2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Manim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made up of an 8 x 14 grid.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grid is addressed using a </a:t>
            </a:r>
            <a:r>
              <a:rPr lang="en-US" sz="2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numpy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array in the form of [x, y, z].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2D animations, only the x and y axes are used.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origin (green dot) corresponds to the coordinates (0, 0, 0) in the </a:t>
            </a:r>
            <a:r>
              <a:rPr lang="en-US" sz="24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numpy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array [x, y, z].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image is helpful as a reference when sizing animation objects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59459AE-BA4F-D3ED-E7EE-03B1F1CA117F}"/>
              </a:ext>
            </a:extLst>
          </p:cNvPr>
          <p:cNvSpPr/>
          <p:nvPr/>
        </p:nvSpPr>
        <p:spPr>
          <a:xfrm>
            <a:off x="5938837" y="3261632"/>
            <a:ext cx="314325" cy="334736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242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4C46B5-ECD3-3446-8700-DADF72A5A6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E00CF5-DEFA-0242-AF11-B215BD2EAE5C}"/>
              </a:ext>
            </a:extLst>
          </p:cNvPr>
          <p:cNvSpPr/>
          <p:nvPr/>
        </p:nvSpPr>
        <p:spPr>
          <a:xfrm>
            <a:off x="-2" y="1999"/>
            <a:ext cx="8712485" cy="4900773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608017-561C-1346-9C44-873777DC4613}"/>
              </a:ext>
            </a:extLst>
          </p:cNvPr>
          <p:cNvSpPr/>
          <p:nvPr/>
        </p:nvSpPr>
        <p:spPr>
          <a:xfrm>
            <a:off x="8788400" y="-2"/>
            <a:ext cx="3402852" cy="4900773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1C2793-68AA-134B-946F-CFE1E6F8DB01}"/>
              </a:ext>
            </a:extLst>
          </p:cNvPr>
          <p:cNvSpPr txBox="1"/>
          <p:nvPr/>
        </p:nvSpPr>
        <p:spPr>
          <a:xfrm>
            <a:off x="2213049" y="1929006"/>
            <a:ext cx="345427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GR/QM/LCDM content (the past)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16 : 9 landscape orientation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clips of outreach videos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slide images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animations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Wikipedia or web pages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6181CB-A918-C040-85BD-A6736847FD25}"/>
              </a:ext>
            </a:extLst>
          </p:cNvPr>
          <p:cNvSpPr txBox="1"/>
          <p:nvPr/>
        </p:nvSpPr>
        <p:spPr>
          <a:xfrm>
            <a:off x="9738843" y="2067506"/>
            <a:ext cx="14268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NPQG future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portrait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head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shoulders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hands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F3EB28-FE27-CCA4-0C73-39E104175A4D}"/>
              </a:ext>
            </a:extLst>
          </p:cNvPr>
          <p:cNvSpPr/>
          <p:nvPr/>
        </p:nvSpPr>
        <p:spPr>
          <a:xfrm>
            <a:off x="-15126" y="4986670"/>
            <a:ext cx="12192000" cy="187133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8BFC7-3848-C18C-E41C-9EBA29F6D25A}"/>
              </a:ext>
            </a:extLst>
          </p:cNvPr>
          <p:cNvSpPr txBox="1"/>
          <p:nvPr/>
        </p:nvSpPr>
        <p:spPr>
          <a:xfrm>
            <a:off x="5340024" y="5599169"/>
            <a:ext cx="1511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statements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mathematics</a:t>
            </a:r>
          </a:p>
        </p:txBody>
      </p:sp>
    </p:spTree>
    <p:extLst>
      <p:ext uri="{BB962C8B-B14F-4D97-AF65-F5344CB8AC3E}">
        <p14:creationId xmlns:p14="http://schemas.microsoft.com/office/powerpoint/2010/main" val="381369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7AD30-364F-3C1E-4F15-D2BA3C258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A3BEFA-699D-9C89-2311-2C93AB4CC1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B6DE84-F9B8-6552-52F6-82462BEAEA31}"/>
              </a:ext>
            </a:extLst>
          </p:cNvPr>
          <p:cNvSpPr/>
          <p:nvPr/>
        </p:nvSpPr>
        <p:spPr>
          <a:xfrm>
            <a:off x="3479515" y="-1656"/>
            <a:ext cx="8712485" cy="4900773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D26CFE-7698-7225-929F-3E24C9C98E27}"/>
              </a:ext>
            </a:extLst>
          </p:cNvPr>
          <p:cNvSpPr/>
          <p:nvPr/>
        </p:nvSpPr>
        <p:spPr>
          <a:xfrm>
            <a:off x="0" y="1999"/>
            <a:ext cx="3402852" cy="4900773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8F0927-8581-8F61-1271-4072E1DB3EE9}"/>
              </a:ext>
            </a:extLst>
          </p:cNvPr>
          <p:cNvSpPr txBox="1"/>
          <p:nvPr/>
        </p:nvSpPr>
        <p:spPr>
          <a:xfrm>
            <a:off x="6461981" y="1508009"/>
            <a:ext cx="29258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Neoclassical.ai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Helvetica Neue" panose="02000503000000020004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16 : 9 landscape orientation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clips of outreach videos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slide images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animations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Wikipedia or web pages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F46CEF-38B5-777B-1E9D-0B53FA368B92}"/>
              </a:ext>
            </a:extLst>
          </p:cNvPr>
          <p:cNvSpPr txBox="1"/>
          <p:nvPr/>
        </p:nvSpPr>
        <p:spPr>
          <a:xfrm>
            <a:off x="899641" y="1646509"/>
            <a:ext cx="14268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defRPr>
            </a:lvl1pPr>
          </a:lstStyle>
          <a:p>
            <a:pPr algn="ctr">
              <a:defRPr/>
            </a:pPr>
            <a:r>
              <a:rPr lang="en-US" dirty="0">
                <a:solidFill>
                  <a:schemeClr val="bg1"/>
                </a:solidFill>
              </a:rPr>
              <a:t>NPQG future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Helvetica Neue" panose="02000503000000020004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portrait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head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shoulders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hands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EC37BD-0AD0-F389-4C6E-B985E08DB370}"/>
              </a:ext>
            </a:extLst>
          </p:cNvPr>
          <p:cNvSpPr/>
          <p:nvPr/>
        </p:nvSpPr>
        <p:spPr>
          <a:xfrm>
            <a:off x="-15126" y="4986670"/>
            <a:ext cx="12192000" cy="187133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EC376-4889-D278-E941-4A547937CB28}"/>
              </a:ext>
            </a:extLst>
          </p:cNvPr>
          <p:cNvSpPr txBox="1"/>
          <p:nvPr/>
        </p:nvSpPr>
        <p:spPr>
          <a:xfrm>
            <a:off x="5340024" y="5599169"/>
            <a:ext cx="1511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statements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mathematics</a:t>
            </a:r>
          </a:p>
        </p:txBody>
      </p:sp>
    </p:spTree>
    <p:extLst>
      <p:ext uri="{BB962C8B-B14F-4D97-AF65-F5344CB8AC3E}">
        <p14:creationId xmlns:p14="http://schemas.microsoft.com/office/powerpoint/2010/main" val="1005303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B97DF-105A-384B-1F1E-FB50AEE95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333C19-B226-C302-CFA8-CA8F517E1C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8520F0-D3D2-52FF-DB37-BECDBF15D08F}"/>
              </a:ext>
            </a:extLst>
          </p:cNvPr>
          <p:cNvSpPr/>
          <p:nvPr/>
        </p:nvSpPr>
        <p:spPr>
          <a:xfrm>
            <a:off x="3479515" y="-1656"/>
            <a:ext cx="8712485" cy="5960186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035A82-0CB0-156F-611F-846EF60A1212}"/>
              </a:ext>
            </a:extLst>
          </p:cNvPr>
          <p:cNvSpPr/>
          <p:nvPr/>
        </p:nvSpPr>
        <p:spPr>
          <a:xfrm>
            <a:off x="0" y="1999"/>
            <a:ext cx="3402852" cy="5960186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C135C-A5BF-4C74-8B78-90C0509ECFA3}"/>
              </a:ext>
            </a:extLst>
          </p:cNvPr>
          <p:cNvSpPr txBox="1"/>
          <p:nvPr/>
        </p:nvSpPr>
        <p:spPr>
          <a:xfrm>
            <a:off x="6461981" y="1508009"/>
            <a:ext cx="29258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16 : 9 landscape orientation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clips of outreach videos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slide images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animations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Wikipedia or web pages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72EEC5-78CB-18F5-0728-EC08F73E7353}"/>
              </a:ext>
            </a:extLst>
          </p:cNvPr>
          <p:cNvSpPr txBox="1"/>
          <p:nvPr/>
        </p:nvSpPr>
        <p:spPr>
          <a:xfrm>
            <a:off x="1033395" y="1646509"/>
            <a:ext cx="11592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portrait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head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shoulders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hands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EE945E-282D-20F6-6300-63D1307A9E79}"/>
              </a:ext>
            </a:extLst>
          </p:cNvPr>
          <p:cNvSpPr txBox="1"/>
          <p:nvPr/>
        </p:nvSpPr>
        <p:spPr>
          <a:xfrm>
            <a:off x="2468668" y="6223599"/>
            <a:ext cx="6210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statements, mathematics, credits, titles, my own ads,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urls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, etc.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5F7941-8375-EAB7-5930-CF4A6D3D4DCA}"/>
              </a:ext>
            </a:extLst>
          </p:cNvPr>
          <p:cNvSpPr/>
          <p:nvPr/>
        </p:nvSpPr>
        <p:spPr>
          <a:xfrm>
            <a:off x="-15126" y="6014224"/>
            <a:ext cx="12192000" cy="84377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693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A34F72-3CAF-7421-6B8B-EA60EEDCD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A02844-5642-437A-E515-6B89DC3EAE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75696-4940-C9C8-0653-FDB13BF0A4E5}"/>
              </a:ext>
            </a:extLst>
          </p:cNvPr>
          <p:cNvSpPr/>
          <p:nvPr/>
        </p:nvSpPr>
        <p:spPr>
          <a:xfrm>
            <a:off x="-15126" y="4986670"/>
            <a:ext cx="8727610" cy="187133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85C08C-5CC2-75FC-B512-09C2F4F8E88D}"/>
              </a:ext>
            </a:extLst>
          </p:cNvPr>
          <p:cNvSpPr/>
          <p:nvPr/>
        </p:nvSpPr>
        <p:spPr>
          <a:xfrm>
            <a:off x="8788398" y="2749651"/>
            <a:ext cx="3402853" cy="4114799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7DF08D-B00F-5BE1-FEA9-42C2BEB9DDFD}"/>
              </a:ext>
            </a:extLst>
          </p:cNvPr>
          <p:cNvSpPr/>
          <p:nvPr/>
        </p:nvSpPr>
        <p:spPr>
          <a:xfrm>
            <a:off x="-2" y="1999"/>
            <a:ext cx="8712485" cy="4900773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EDDE5-DAC6-0B4D-02DD-9B1221102319}"/>
              </a:ext>
            </a:extLst>
          </p:cNvPr>
          <p:cNvSpPr/>
          <p:nvPr/>
        </p:nvSpPr>
        <p:spPr>
          <a:xfrm>
            <a:off x="8788400" y="-2"/>
            <a:ext cx="3402852" cy="2667001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5EE73D-C759-F0EC-420D-B7FBFE17DF0E}"/>
              </a:ext>
            </a:extLst>
          </p:cNvPr>
          <p:cNvSpPr txBox="1"/>
          <p:nvPr/>
        </p:nvSpPr>
        <p:spPr>
          <a:xfrm>
            <a:off x="2688972" y="2067506"/>
            <a:ext cx="2502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16 : 9 orientation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clips of outreach videos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or slides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CAF58-FDB5-F7A3-C257-87C104ACA106}"/>
              </a:ext>
            </a:extLst>
          </p:cNvPr>
          <p:cNvSpPr txBox="1"/>
          <p:nvPr/>
        </p:nvSpPr>
        <p:spPr>
          <a:xfrm>
            <a:off x="3184204" y="5599169"/>
            <a:ext cx="1511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statements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mathematics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8A631-EE71-BA92-4ECA-6BE6401F96AC}"/>
              </a:ext>
            </a:extLst>
          </p:cNvPr>
          <p:cNvSpPr txBox="1"/>
          <p:nvPr/>
        </p:nvSpPr>
        <p:spPr>
          <a:xfrm>
            <a:off x="10031899" y="4579606"/>
            <a:ext cx="1439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geometry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visualization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10954D-9EF1-4E7C-719B-6EB86FF2B473}"/>
              </a:ext>
            </a:extLst>
          </p:cNvPr>
          <p:cNvSpPr txBox="1"/>
          <p:nvPr/>
        </p:nvSpPr>
        <p:spPr>
          <a:xfrm>
            <a:off x="9791326" y="763330"/>
            <a:ext cx="11929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head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shoulders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hands</a:t>
            </a:r>
          </a:p>
        </p:txBody>
      </p:sp>
    </p:spTree>
    <p:extLst>
      <p:ext uri="{BB962C8B-B14F-4D97-AF65-F5344CB8AC3E}">
        <p14:creationId xmlns:p14="http://schemas.microsoft.com/office/powerpoint/2010/main" val="2761043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4C46B5-ECD3-3446-8700-DADF72A5A6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9649DF-9C38-4345-A4F4-47C23FDAE8C7}"/>
              </a:ext>
            </a:extLst>
          </p:cNvPr>
          <p:cNvSpPr/>
          <p:nvPr/>
        </p:nvSpPr>
        <p:spPr>
          <a:xfrm>
            <a:off x="-15126" y="4191000"/>
            <a:ext cx="8727610" cy="2667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FADC36-F244-7A4A-AE33-748D14D3044B}"/>
              </a:ext>
            </a:extLst>
          </p:cNvPr>
          <p:cNvSpPr/>
          <p:nvPr/>
        </p:nvSpPr>
        <p:spPr>
          <a:xfrm>
            <a:off x="7391400" y="-1"/>
            <a:ext cx="4799852" cy="4114799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E00CF5-DEFA-0242-AF11-B215BD2EAE5C}"/>
              </a:ext>
            </a:extLst>
          </p:cNvPr>
          <p:cNvSpPr/>
          <p:nvPr/>
        </p:nvSpPr>
        <p:spPr>
          <a:xfrm>
            <a:off x="-1" y="2000"/>
            <a:ext cx="7315200" cy="4114800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608017-561C-1346-9C44-873777DC4613}"/>
              </a:ext>
            </a:extLst>
          </p:cNvPr>
          <p:cNvSpPr/>
          <p:nvPr/>
        </p:nvSpPr>
        <p:spPr>
          <a:xfrm>
            <a:off x="8788401" y="4190999"/>
            <a:ext cx="3402852" cy="2667001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1C2793-68AA-134B-946F-CFE1E6F8DB01}"/>
              </a:ext>
            </a:extLst>
          </p:cNvPr>
          <p:cNvSpPr txBox="1"/>
          <p:nvPr/>
        </p:nvSpPr>
        <p:spPr>
          <a:xfrm>
            <a:off x="2406391" y="1734232"/>
            <a:ext cx="2502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16 : 9 orientation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clips of outreach videos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230B1-84F7-7F44-A4B1-0B9020AE6DBD}"/>
              </a:ext>
            </a:extLst>
          </p:cNvPr>
          <p:cNvSpPr txBox="1"/>
          <p:nvPr/>
        </p:nvSpPr>
        <p:spPr>
          <a:xfrm>
            <a:off x="3396855" y="5201333"/>
            <a:ext cx="1511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statements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mathematics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A11C6A-0444-CE4C-BDBA-10A58376193E}"/>
              </a:ext>
            </a:extLst>
          </p:cNvPr>
          <p:cNvSpPr txBox="1"/>
          <p:nvPr/>
        </p:nvSpPr>
        <p:spPr>
          <a:xfrm>
            <a:off x="9071417" y="1587668"/>
            <a:ext cx="1439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geometry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visualization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6181CB-A918-C040-85BD-A6736847FD25}"/>
              </a:ext>
            </a:extLst>
          </p:cNvPr>
          <p:cNvSpPr txBox="1"/>
          <p:nvPr/>
        </p:nvSpPr>
        <p:spPr>
          <a:xfrm>
            <a:off x="9893349" y="5062834"/>
            <a:ext cx="11929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head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shoulders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hands</a:t>
            </a:r>
          </a:p>
        </p:txBody>
      </p:sp>
    </p:spTree>
    <p:extLst>
      <p:ext uri="{BB962C8B-B14F-4D97-AF65-F5344CB8AC3E}">
        <p14:creationId xmlns:p14="http://schemas.microsoft.com/office/powerpoint/2010/main" val="1202211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211FA-ACCF-A772-1416-E022EE8B2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13C6DB-708C-388C-EA12-23DC87611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98F432-4932-EEC5-D841-B52B481F4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31D92-3B9E-A18D-03F6-077EA8007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1F6C3-337E-A0F4-2581-8FD8E72B6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US" dirty="0"/>
              <a:t>Questions?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4232AF-81C0-DA5D-2060-E34270975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C78088-5566-028D-C31D-4675E50DC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5971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 - Model of Nature</a:t>
            </a:r>
          </a:p>
        </p:txBody>
      </p:sp>
    </p:spTree>
    <p:extLst>
      <p:ext uri="{BB962C8B-B14F-4D97-AF65-F5344CB8AC3E}">
        <p14:creationId xmlns:p14="http://schemas.microsoft.com/office/powerpoint/2010/main" val="49956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BC3AE-7F9B-6010-66FB-481A97F1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3E9266-B64F-7797-CF18-95191FC01724}"/>
              </a:ext>
            </a:extLst>
          </p:cNvPr>
          <p:cNvSpPr txBox="1"/>
          <p:nvPr/>
        </p:nvSpPr>
        <p:spPr>
          <a:xfrm>
            <a:off x="271463" y="0"/>
            <a:ext cx="11758612" cy="557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Manim</a:t>
            </a:r>
            <a:r>
              <a:rPr lang="en-US" alt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animation in 3D</a:t>
            </a:r>
          </a:p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marR="0" lvl="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might we display phase space?</a:t>
            </a: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x, y, z, x’, y’, z’, t is a lot to display visually in an understandable way.</a:t>
            </a: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s, s’, t may be difficult to understand since it abstracts a 3D position or velocity onto 1D.</a:t>
            </a: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Study </a:t>
            </a:r>
            <a:r>
              <a:rPr lang="en-US" altLang="en-US" sz="20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Varniex’s</a:t>
            </a:r>
            <a:r>
              <a:rPr lang="en-US" alt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YT videos for techniques for animation of paths.  </a:t>
            </a: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 says he uses </a:t>
            </a:r>
            <a:r>
              <a:rPr lang="en-US" altLang="en-US" sz="20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ManimGL</a:t>
            </a:r>
            <a:r>
              <a:rPr lang="en-US" alt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which is Grant’s version. Will it be compatible or will I need to make a .</a:t>
            </a:r>
            <a:r>
              <a:rPr lang="en-US" altLang="en-US" sz="20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venv</a:t>
            </a:r>
            <a:r>
              <a:rPr lang="en-US" alt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for </a:t>
            </a:r>
            <a:r>
              <a:rPr lang="en-US" altLang="en-US" sz="20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ManimGL</a:t>
            </a:r>
            <a:r>
              <a:rPr lang="en-US" alt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en-US" altLang="en-US" sz="20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etc</a:t>
            </a:r>
            <a:r>
              <a:rPr lang="en-US" alt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….</a:t>
            </a:r>
            <a:endParaRPr lang="en-US" altLang="en-US" sz="2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z="2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CA2324-A669-B9FC-52D0-AC5059C8E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0904" y="-3861256"/>
            <a:ext cx="7772400" cy="386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00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0B119-EC53-BA46-BAA3-CB758CDED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6BC0E-0DB7-C346-A0CC-E3CB36C29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US" dirty="0"/>
              <a:t>Questions?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26E67-7B90-B642-8D26-6DDF890C4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5971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 - Model of Nature</a:t>
            </a:r>
          </a:p>
        </p:txBody>
      </p:sp>
    </p:spTree>
    <p:extLst>
      <p:ext uri="{BB962C8B-B14F-4D97-AF65-F5344CB8AC3E}">
        <p14:creationId xmlns:p14="http://schemas.microsoft.com/office/powerpoint/2010/main" val="3747833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 algn="l">
          <a:defRPr sz="2400"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10347</TotalTime>
  <Words>789</Words>
  <Application>Microsoft Macintosh PowerPoint</Application>
  <PresentationFormat>Widescreen</PresentationFormat>
  <Paragraphs>157</Paragraphs>
  <Slides>14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Helvetica Neue</vt:lpstr>
      <vt:lpstr>Helvetica Neue Condensed Black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24</cp:revision>
  <dcterms:created xsi:type="dcterms:W3CDTF">2023-07-19T04:41:16Z</dcterms:created>
  <dcterms:modified xsi:type="dcterms:W3CDTF">2026-03-15T01:25:14Z</dcterms:modified>
</cp:coreProperties>
</file>