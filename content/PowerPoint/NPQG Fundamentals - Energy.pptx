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</p:sldMasterIdLst>
  <p:notesMasterIdLst>
    <p:notesMasterId r:id="rId16"/>
  </p:notesMasterIdLst>
  <p:sldIdLst>
    <p:sldId id="807" r:id="rId3"/>
    <p:sldId id="730" r:id="rId4"/>
    <p:sldId id="813" r:id="rId5"/>
    <p:sldId id="809" r:id="rId6"/>
    <p:sldId id="382" r:id="rId7"/>
    <p:sldId id="771" r:id="rId8"/>
    <p:sldId id="810" r:id="rId9"/>
    <p:sldId id="811" r:id="rId10"/>
    <p:sldId id="812" r:id="rId11"/>
    <p:sldId id="881" r:id="rId12"/>
    <p:sldId id="883" r:id="rId13"/>
    <p:sldId id="884" r:id="rId14"/>
    <p:sldId id="8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FF8AD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4386"/>
    <p:restoredTop sz="97363"/>
  </p:normalViewPr>
  <p:slideViewPr>
    <p:cSldViewPr snapToGrid="0" snapToObjects="1">
      <p:cViewPr>
        <p:scale>
          <a:sx n="84" d="100"/>
          <a:sy n="84" d="100"/>
        </p:scale>
        <p:origin x="7720" y="22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686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86AA-95FF-A495-A214-35B7DBF6E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DF82A-5C23-DD57-B461-A212307D9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BE8A1-0A61-4E37-214B-3CFF29481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27D8E-E965-071C-4BBF-52D6F2317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94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668-EBEB-AE41-BF76-89062B014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28A4C-0805-8E44-B54E-3B6F671F8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74C2-6265-7F41-BB8F-D8A0A0C8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C895-F8E0-4049-8BEE-E5499394E46C}" type="datetime1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3590-4180-6C42-A6BF-707655C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1401-8545-2D4E-A7FB-31AFC7A8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16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60F9-C770-5C4C-9C93-102EC33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8EDA-56F1-1C40-B81E-28B921C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2772-5D80-F641-A1BB-6048573C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55E2-A889-F24B-B1FE-1E878178F308}" type="datetime1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4AF-90CF-484C-B6C7-5CE1A01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AF1E-33D8-3041-A601-1384C71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39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22D-6D7A-1342-98EF-890C6F2D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F19EA-9170-5B4B-814F-7425C8E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461C-3391-334C-9885-001B32D724C4}" type="datetime1">
              <a:rPr lang="en-US" smtClean="0"/>
              <a:t>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2B1FB-ECDF-AD43-9020-0267ED91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9C470-5AF0-5246-81E7-95EAEE56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6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9A1DB-155B-0846-9CED-8B75F5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736F-08D5-7643-A656-ABAEB945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3D04-66F5-D74B-8EEA-459FDC00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2005EE61-3907-C44D-8624-D47E09E871DB}" type="datetime1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6E67-6F97-E149-8437-635D11E7E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C1E-0AB1-F34A-83C6-0956BF9B4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73D4D4B-2FF7-BE46-958C-B004BD45E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5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10" Type="http://schemas.openxmlformats.org/officeDocument/2006/relationships/image" Target="../media/image4.png"/><Relationship Id="rId4" Type="http://schemas.openxmlformats.org/officeDocument/2006/relationships/image" Target="../media/image19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0" y="358254"/>
            <a:ext cx="1219199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</a:rPr>
              <a:t>neoclassical.ai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Energy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FF8AD8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93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ACD5B1-F579-BE46-A136-9763C9D36C66}"/>
                  </a:ext>
                </a:extLst>
              </p:cNvPr>
              <p:cNvSpPr txBox="1"/>
              <p:nvPr/>
            </p:nvSpPr>
            <p:spPr>
              <a:xfrm>
                <a:off x="2693154" y="2369064"/>
                <a:ext cx="69638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𝐸𝑛𝑒𝑟𝑔𝑦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𝑇𝑂𝑇𝐴𝐿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𝐸𝑛𝑒𝑟𝑔𝑦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𝐴𝑃𝑃𝐴𝑅𝐸𝑁𝑇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𝐸𝑛𝑒𝑟𝑔𝑦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𝑆𝐻𝐼𝐸𝐿𝐷𝐸𝐷𝑣𝑖𝑎𝑆𝑈𝑃𝐸𝑅𝑃𝑂𝑆𝐼𝑇𝐼𝑂𝑁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ACD5B1-F579-BE46-A136-9763C9D36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154" y="2369064"/>
                <a:ext cx="6963894" cy="369332"/>
              </a:xfrm>
              <a:prstGeom prst="rect">
                <a:avLst/>
              </a:prstGeom>
              <a:blipFill>
                <a:blip r:embed="rId3"/>
                <a:stretch>
                  <a:fillRect l="-182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81FDB4-73FA-704E-B5D5-4BC4D73D775C}"/>
                  </a:ext>
                </a:extLst>
              </p:cNvPr>
              <p:cNvSpPr txBox="1"/>
              <p:nvPr/>
            </p:nvSpPr>
            <p:spPr>
              <a:xfrm>
                <a:off x="4058368" y="1651873"/>
                <a:ext cx="42334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𝑎𝑡𝑢𝑟𝑒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𝐸𝑛𝑒𝑟𝑔𝑦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𝐴𝑃𝑃𝐴𝑅𝐸𝑁𝑇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𝑀𝑎𝑠𝑠</m:t>
                      </m:r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∗ 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81FDB4-73FA-704E-B5D5-4BC4D73D7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368" y="1651873"/>
                <a:ext cx="4233467" cy="369332"/>
              </a:xfrm>
              <a:prstGeom prst="rect">
                <a:avLst/>
              </a:prstGeom>
              <a:blipFill>
                <a:blip r:embed="rId4"/>
                <a:stretch>
                  <a:fillRect t="-66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29D634-5CDA-EA4B-AB4E-C56D95412138}"/>
                  </a:ext>
                </a:extLst>
              </p:cNvPr>
              <p:cNvSpPr txBox="1"/>
              <p:nvPr/>
            </p:nvSpPr>
            <p:spPr>
              <a:xfrm>
                <a:off x="4435747" y="934682"/>
                <a:ext cx="34787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𝐸𝑖𝑛𝑠𝑡𝑒𝑖𝑛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: 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𝐸𝑛𝑒𝑟𝑔𝑦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𝑀𝑎𝑠𝑠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29D634-5CDA-EA4B-AB4E-C56D9541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747" y="934682"/>
                <a:ext cx="3478709" cy="369332"/>
              </a:xfrm>
              <a:prstGeom prst="rect">
                <a:avLst/>
              </a:prstGeom>
              <a:blipFill>
                <a:blip r:embed="rId5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3AC0F3-5C34-2644-BA21-4D36596EADBA}"/>
                  </a:ext>
                </a:extLst>
              </p:cNvPr>
              <p:cNvSpPr txBox="1"/>
              <p:nvPr/>
            </p:nvSpPr>
            <p:spPr>
              <a:xfrm>
                <a:off x="2705240" y="245304"/>
                <a:ext cx="6591869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𝑺𝒕𝒂𝒏𝒅𝒂𝒓𝒅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𝒎𝒂𝒕𝒕𝒆𝒓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𝒑𝒂𝒓𝒕𝒊𝒄𝒍𝒆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𝒂𝒔𝒔𝒆𝒎𝒃𝒍𝒚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𝒂𝒕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𝒓𝒆𝒔𝒕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𝒊𝒏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𝒕𝒉𝒆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𝒂𝒆𝒕𝒉𝒆𝒓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3AC0F3-5C34-2644-BA21-4D36596EA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240" y="245304"/>
                <a:ext cx="6591869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3E7794-1E88-FF47-B593-FD8ABD326D20}"/>
                  </a:ext>
                </a:extLst>
              </p:cNvPr>
              <p:cNvSpPr txBox="1"/>
              <p:nvPr/>
            </p:nvSpPr>
            <p:spPr>
              <a:xfrm>
                <a:off x="3902331" y="4520636"/>
                <a:ext cx="4545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𝐸𝑛𝑒𝑟𝑔𝑦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𝑇𝑂𝑇𝐴𝐿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=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𝐸𝑛𝑒𝑟𝑔𝑦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𝐴𝑃𝑃𝐴𝑅𝐸𝑁𝑇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∗ @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3E7794-1E88-FF47-B593-FD8ABD326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331" y="4520636"/>
                <a:ext cx="4545540" cy="369332"/>
              </a:xfrm>
              <a:prstGeom prst="rect">
                <a:avLst/>
              </a:prstGeom>
              <a:blipFill>
                <a:blip r:embed="rId7"/>
                <a:stretch>
                  <a:fillRect l="-279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F051DE-2A4B-0C4E-A0CC-04A871A02B3D}"/>
                  </a:ext>
                </a:extLst>
              </p:cNvPr>
              <p:cNvSpPr txBox="1"/>
              <p:nvPr/>
            </p:nvSpPr>
            <p:spPr>
              <a:xfrm>
                <a:off x="1485772" y="3803446"/>
                <a:ext cx="9030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𝐿𝑒𝑡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𝑡h𝑒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𝑠𝑦𝑚𝑏𝑜𝑙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@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𝑐𝑜𝑟𝑟𝑒𝑠𝑝𝑜𝑛𝑑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𝑡𝑜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𝑡h𝑒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𝑢𝑛𝑖𝑣𝑒𝑟𝑠𝑎𝑙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𝑐𝑜𝑛𝑠𝑡𝑎𝑛𝑡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𝑠𝑝𝑒𝑒𝑑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𝑜𝑓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𝑝𝑜𝑡𝑒𝑛𝑡𝑖𝑎𝑙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𝑒𝑚𝑖𝑠𝑠𝑖𝑜𝑛𝑠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F051DE-2A4B-0C4E-A0CC-04A871A02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772" y="3803446"/>
                <a:ext cx="9030806" cy="369332"/>
              </a:xfrm>
              <a:prstGeom prst="rect">
                <a:avLst/>
              </a:prstGeom>
              <a:blipFill>
                <a:blip r:embed="rId8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3FFFA43-DC28-C04C-8FF8-72E533B0CF14}"/>
                  </a:ext>
                </a:extLst>
              </p:cNvPr>
              <p:cNvSpPr txBox="1"/>
              <p:nvPr/>
            </p:nvSpPr>
            <p:spPr>
              <a:xfrm>
                <a:off x="1179767" y="3086255"/>
                <a:ext cx="9990668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𝑷𝒐𝒊𝒏𝒕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𝒑𝒐𝒕𝒆𝒏𝒕𝒊𝒂𝒍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𝒊𝒔𝒐𝒍𝒂𝒕𝒆𝒅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𝒊𝒏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𝒂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𝑬𝒖𝒄𝒍𝒊𝒅𝒆𝒂𝒏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𝒗𝒐𝒊𝒅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𝒐𝒇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𝒔𝒑𝒂𝒄𝒆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𝒂𝒏𝒅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𝒕𝒊𝒎𝒆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(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𝒗𝒆𝒍𝒐𝒄𝒊𝒕𝒚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𝒏𝒐𝒕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𝒅𝒆𝒇𝒊𝒏𝒆𝒅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3FFFA43-DC28-C04C-8FF8-72E533B0C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7" y="3086255"/>
                <a:ext cx="9990668" cy="369332"/>
              </a:xfrm>
              <a:prstGeom prst="rect">
                <a:avLst/>
              </a:prstGeom>
              <a:blipFill>
                <a:blip r:embed="rId9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270859-FECE-2645-A10D-F6319FAE5B09}"/>
                  </a:ext>
                </a:extLst>
              </p:cNvPr>
              <p:cNvSpPr txBox="1"/>
              <p:nvPr/>
            </p:nvSpPr>
            <p:spPr>
              <a:xfrm>
                <a:off x="2088245" y="5135368"/>
                <a:ext cx="8173712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𝑫𝒖𝒂𝒍𝒊𝒕𝒚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𝑃𝑜𝑖𝑛𝑡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𝑝𝑜𝑡𝑒𝑛𝑡𝑖𝑎𝑙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𝑓𝑖𝑒𝑙𝑑𝑠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𝑡𝑟𝑎𝑣𝑒𝑙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𝑟𝑎𝑑𝑖𝑎𝑙𝑙𝑦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𝑓𝑟𝑜𝑚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𝑒𝑚𝑖𝑠𝑠𝑖𝑜𝑛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𝑎𝑡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𝑠𝑝𝑒𝑒𝑑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@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𝑃h𝑜𝑡𝑜𝑛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𝑠𝑡𝑟𝑢𝑐𝑡𝑢𝑟𝑒𝑠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𝑡𝑟𝑎𝑣𝑒𝑙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𝑎𝑡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𝑐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𝑡h𝑒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𝒍𝒐𝒄𝒂𝒍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𝑠𝑝𝑒𝑒𝑑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𝑜𝑓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𝑙𝑖𝑔h𝑡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𝑡h𝑟𝑜𝑢𝑔h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𝑡h𝑒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𝑎𝑒𝑡h𝑒𝑟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𝐿𝑜𝑐𝑎𝑙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𝑐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𝑎𝑝𝑝𝑟𝑜𝑎𝑐h𝑒𝑠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@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𝑎𝑠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𝐸𝑛𝑒𝑟𝑔𝑦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𝐴𝑃𝑃𝐴𝑅𝐸𝑁𝑇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𝑜𝑓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𝑡h𝑒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𝑎𝑒𝑡h𝑒𝑟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𝑎𝑝𝑝𝑟𝑜𝑎𝑐h𝑒𝑠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𝑧𝑒𝑟𝑜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270859-FECE-2645-A10D-F6319FAE5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245" y="5135368"/>
                <a:ext cx="8173712" cy="1477328"/>
              </a:xfrm>
              <a:prstGeom prst="rect">
                <a:avLst/>
              </a:prstGeom>
              <a:blipFill>
                <a:blip r:embed="rId10"/>
                <a:stretch>
                  <a:fillRect b="-3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FE47B7C-83DE-044A-9B6F-FADD034B7A1A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</p:spTree>
    <p:extLst>
      <p:ext uri="{BB962C8B-B14F-4D97-AF65-F5344CB8AC3E}">
        <p14:creationId xmlns:p14="http://schemas.microsoft.com/office/powerpoint/2010/main" val="326828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B9E01-B119-4CB2-7592-D53888C7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14A8A5-2B2E-7901-77C5-1C6B5AC2E383}"/>
              </a:ext>
            </a:extLst>
          </p:cNvPr>
          <p:cNvSpPr txBox="1"/>
          <p:nvPr/>
        </p:nvSpPr>
        <p:spPr>
          <a:xfrm>
            <a:off x="0" y="358254"/>
            <a:ext cx="1219199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</a:rPr>
              <a:t>neoclassical.ai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Hamiltonian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FF8AD8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4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6C664-DA1B-F62F-45ED-4FE37C05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209704C-664D-2F6D-EF83-DE4BC64E5FEE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F2D21E-2DBB-57C9-E71C-4622E984F2C5}"/>
              </a:ext>
            </a:extLst>
          </p:cNvPr>
          <p:cNvSpPr txBox="1"/>
          <p:nvPr/>
        </p:nvSpPr>
        <p:spPr>
          <a:xfrm>
            <a:off x="914462" y="751114"/>
            <a:ext cx="95281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quantum mechanics, the Hamiltonian of a system is 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corresponding to the total energy of that system, including both kinetic energy and potential energy.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mm: so we have momentum type energy = KE = qv?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Its spectrum, the system's energy spectrum or its set of energy eigenvalues, is the set of possible outcomes obtainable from a measurement of the system's total energy.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mm: We don’t have possible outcomes in neoclassical theory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D5B8F-8323-AED9-632D-6EAD4C78699F}"/>
              </a:ext>
            </a:extLst>
          </p:cNvPr>
          <p:cNvSpPr txBox="1"/>
          <p:nvPr/>
        </p:nvSpPr>
        <p:spPr>
          <a:xfrm>
            <a:off x="2558823" y="117606"/>
            <a:ext cx="70743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Hamiltonian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FE5CE-B828-3159-94EF-4EB2E1349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47" y="2631518"/>
            <a:ext cx="4699095" cy="400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0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0B119-EC53-BA46-BAA3-CB758CDED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BC0E-0DB7-C346-A0CC-E3CB36C29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6E67-7B90-B642-8D26-6DDF890C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of Nature</a:t>
            </a:r>
          </a:p>
        </p:txBody>
      </p:sp>
    </p:spTree>
    <p:extLst>
      <p:ext uri="{BB962C8B-B14F-4D97-AF65-F5344CB8AC3E}">
        <p14:creationId xmlns:p14="http://schemas.microsoft.com/office/powerpoint/2010/main" val="374783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EA4115-15F8-921F-AB6F-6FB061DB5DDD}"/>
              </a:ext>
            </a:extLst>
          </p:cNvPr>
          <p:cNvSpPr txBox="1"/>
          <p:nvPr/>
        </p:nvSpPr>
        <p:spPr>
          <a:xfrm>
            <a:off x="1396093" y="751114"/>
            <a:ext cx="952815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Imagine two point potentials isolated in T3S.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Draw a picture with opposite point potentials starting out at a very large real distance.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Show it on the 1/r curve.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 on the ends is 0, and let’s say each potential has a PE equal which we will show is 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 at v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Now start the experiment and they attract and their velocity approaches @ asymptotically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potentials blow right through each other, which is fine.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can’t start the experiment at true infinity, but if we could, then the potentials would pass at v = @.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at the moment they pass, the PE is zero since the potential field is defined as 0 at r=0.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Therefore KE must be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 +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we have the equation PE + KE =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since energy is conserved.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this specific system due to symmetry, PE + KE =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 for each point potential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But this is different from the virial theorem. Why is that?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 am probably confused. I don’t think I have the potential to mass mapping thought out.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“The relationship between kinetic energy and momentum is given by the equation T=p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/2m, where T is kinetic energy, p is momentum and m is mass. This relationship comes directly from the definitions of momentum (p=mv) and kinetic energy (T=½mv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7070F-73F6-024C-A784-AA2DE3B8E022}"/>
              </a:ext>
            </a:extLst>
          </p:cNvPr>
          <p:cNvSpPr txBox="1"/>
          <p:nvPr/>
        </p:nvSpPr>
        <p:spPr>
          <a:xfrm>
            <a:off x="2579914" y="313050"/>
            <a:ext cx="70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Foundation for a dynamical geometry of nature and the universe </a:t>
            </a:r>
          </a:p>
        </p:txBody>
      </p:sp>
    </p:spTree>
    <p:extLst>
      <p:ext uri="{BB962C8B-B14F-4D97-AF65-F5344CB8AC3E}">
        <p14:creationId xmlns:p14="http://schemas.microsoft.com/office/powerpoint/2010/main" val="188180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167F6-EC11-70C0-EB31-19160305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34C1DBC-3221-5038-85EE-57DDBAD4C75D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AED66-D2A5-8BF7-61E9-C9FFCC4C3607}"/>
              </a:ext>
            </a:extLst>
          </p:cNvPr>
          <p:cNvSpPr txBox="1"/>
          <p:nvPr/>
        </p:nvSpPr>
        <p:spPr>
          <a:xfrm>
            <a:off x="516594" y="923406"/>
            <a:ext cx="114613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symmetry breaking point flip is particularly important because it is asymmetrical.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 we know it is the transition from inflation and expansion.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know the rate of change of slope starts high and decreases to 1 at the symmetry breaking point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v&lt;@ when expanding, the rate of change of slope starts at 1 and increases over time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is a lot like a transistor. Two ranges of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behaviour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The physics are different.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if energy accounting is on a delay basis. is there a time delay Hamiltonian?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 is a delay between emission and action and the delay to return the feedback.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end, everything works out, but the books can be slightly out of sync.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Energy exchange is not an atomic transaction. 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is a committed yet lazy self correcting update.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this make sense if all Noether cores balance the mid binary at v = @?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Then the mid binary is resting on the symmetry breaking point and sometimes goes one way or the other based on causally out of sync emitters.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math or information theory on this topic.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But any h-bar step in energy can rest on the edge of up or down. local perturbations flip an energy level.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why is the symmetry breaking point so important?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v &gt; @ an energy generation state?? Self action went from zero to high quickly.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1DA69-5DF4-7083-7F7A-4105442F27DE}"/>
              </a:ext>
            </a:extLst>
          </p:cNvPr>
          <p:cNvSpPr txBox="1"/>
          <p:nvPr/>
        </p:nvSpPr>
        <p:spPr>
          <a:xfrm>
            <a:off x="2558823" y="215328"/>
            <a:ext cx="70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Accounting for Energy</a:t>
            </a:r>
          </a:p>
        </p:txBody>
      </p:sp>
    </p:spTree>
    <p:extLst>
      <p:ext uri="{BB962C8B-B14F-4D97-AF65-F5344CB8AC3E}">
        <p14:creationId xmlns:p14="http://schemas.microsoft.com/office/powerpoint/2010/main" val="3966409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68AEF-8B80-5B82-CDB2-A02AC2DA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1242D3-B3B6-EB05-5D73-E8AC219BA0B7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FE1CD-1253-1CBE-5638-D22D59596C10}"/>
              </a:ext>
            </a:extLst>
          </p:cNvPr>
          <p:cNvSpPr txBox="1"/>
          <p:nvPr/>
        </p:nvSpPr>
        <p:spPr>
          <a:xfrm>
            <a:off x="516594" y="923406"/>
            <a:ext cx="114613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all binaries in a Noether core of spacetime tend to couple and try to equalize in energy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but when the variation is too high, it is like a transmission not engaging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but I presume binary couplings also change and jump around, for reasons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perhaps the high energy binary couplings in the Noether cores are more synchronized and in a locked state?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Mid energy is probably at v = @ might lock states with other mid energy binaries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it is probably the outer binaries that really jump around in coupling.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So perhaps that has a lot to do with apparent energy (mass) when spacetime Noether cores couple with fermions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Mass would represent the amount of coupling to fermions in local spacetime assemblies.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The more concentrated the mass, the more engagement of local spacetime assemblies.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DF4C4C-923C-4D93-92C5-2AEF3203433C}"/>
              </a:ext>
            </a:extLst>
          </p:cNvPr>
          <p:cNvSpPr txBox="1"/>
          <p:nvPr/>
        </p:nvSpPr>
        <p:spPr>
          <a:xfrm>
            <a:off x="2558823" y="215328"/>
            <a:ext cx="70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Conjecture</a:t>
            </a:r>
          </a:p>
        </p:txBody>
      </p:sp>
    </p:spTree>
    <p:extLst>
      <p:ext uri="{BB962C8B-B14F-4D97-AF65-F5344CB8AC3E}">
        <p14:creationId xmlns:p14="http://schemas.microsoft.com/office/powerpoint/2010/main" val="427971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7EF14-3CDB-27F9-F38C-05524B02F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B750387-6F5D-0257-9DC3-653F28CC7E2B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0E8BC7-A30D-EEB1-9D23-9E700DF39AE4}"/>
              </a:ext>
            </a:extLst>
          </p:cNvPr>
          <p:cNvSpPr txBox="1"/>
          <p:nvPr/>
        </p:nvSpPr>
        <p:spPr>
          <a:xfrm>
            <a:off x="516594" y="923406"/>
            <a:ext cx="114613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kumimoji="0" lang="en-US" sz="1800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uLnTx/>
                <a:uFillTx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onsider</a:t>
            </a:r>
            <a:r>
              <a:rPr kumimoji="0" lang="en-US" sz="1800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these cases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point potential kicks over v = @ and gets a boost from work done upon it by its own self action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energy to kick it over the symmetry breaking point is less than the energy gained.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point potential binary </a:t>
            </a: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continuously generates a sphere stream that spirals through the universe creating a differential potential which is available for work.</a:t>
            </a:r>
            <a:b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dirty="0">
              <a:solidFill>
                <a:srgbClr val="FFFFFF"/>
              </a:solidFill>
              <a:latin typeface="HelveticaNeue-UltraLightItalic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 a binary and two arbitrary local opposite point potentials as a system. (two electrinos and two positrinos)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point potential has an 8-ball.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might be two binaries at times, but everything evolves, the binaries may even switch partners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HelveticaNeue-UltraLightItalic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intuition here?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seems like a binary is a perpetual rotor and the wake that it creates can do work.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yet is there some overall equal and opposite effect??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will take more time to visualize and conceptualize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Just break it down to similar and opposites duos.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HelveticaNeue-UltraLightItalic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 changes relate to the point potential changes on a 1/r potential curve.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Orbiting on a 1/r geodesic does not change KE magnitude.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KE is a vector then there is more math.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HelveticaNeue-UltraLightItalic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A0382-67FC-989B-49FA-CC7E4D35E08F}"/>
              </a:ext>
            </a:extLst>
          </p:cNvPr>
          <p:cNvSpPr txBox="1"/>
          <p:nvPr/>
        </p:nvSpPr>
        <p:spPr>
          <a:xfrm>
            <a:off x="2558823" y="215328"/>
            <a:ext cx="70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PE + KE a constant? It is quite complex.</a:t>
            </a:r>
          </a:p>
        </p:txBody>
      </p:sp>
    </p:spTree>
    <p:extLst>
      <p:ext uri="{BB962C8B-B14F-4D97-AF65-F5344CB8AC3E}">
        <p14:creationId xmlns:p14="http://schemas.microsoft.com/office/powerpoint/2010/main" val="287247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B8420-5829-AE65-35FD-B9B72639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CB07F1B-345A-682C-7786-B93DA7229F70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78114D-FA61-2425-6DA6-903E1E0EEAEF}"/>
              </a:ext>
            </a:extLst>
          </p:cNvPr>
          <p:cNvSpPr/>
          <p:nvPr/>
        </p:nvSpPr>
        <p:spPr>
          <a:xfrm>
            <a:off x="2473327" y="378829"/>
            <a:ext cx="72454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Binary Energy Equalization to Equilibrium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F71A6-14E1-8A45-1EEC-76EE6482016F}"/>
              </a:ext>
            </a:extLst>
          </p:cNvPr>
          <p:cNvSpPr txBox="1"/>
          <p:nvPr/>
        </p:nvSpPr>
        <p:spPr>
          <a:xfrm>
            <a:off x="317359" y="1166842"/>
            <a:ext cx="1187464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Quantum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emerges from a continuous geometry.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neighborhood of spacetime Noether cores are attempting to equalize apparent energy.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all trading in quanta of energy in pi/2 state increments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operate like a slipping transmission, forward or backward.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a local neighborhood, assemblies quickly reach equilibrium.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the fundamental level, below these assemblies, it is a continuous system.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do the mathematical implications of skipping a beat apply?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skipping a beat is the well exercised conditions at the end of each state.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Arriving potential spheres influence the quantum choices.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a lightly perturbed locality, the assemblies quickly arrive at equilibrium.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IDEA: the denser the point potentials, the more energy they capture.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isolated point potential, distant from others, has little influence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point potential in the local neighborhood causes significant action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73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1F001-811A-D667-B922-F1D2D0A8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A1E872B-1B7B-235F-98D7-34D5BEDC988E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79D6B0-B5A3-1A84-B690-E862842077BB}"/>
              </a:ext>
            </a:extLst>
          </p:cNvPr>
          <p:cNvSpPr/>
          <p:nvPr/>
        </p:nvSpPr>
        <p:spPr>
          <a:xfrm>
            <a:off x="5221356" y="378829"/>
            <a:ext cx="17493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Template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37343D-971C-8C20-DBD6-FC8C41C0D215}"/>
              </a:ext>
            </a:extLst>
          </p:cNvPr>
          <p:cNvSpPr txBox="1"/>
          <p:nvPr/>
        </p:nvSpPr>
        <p:spPr>
          <a:xfrm>
            <a:off x="317359" y="1166842"/>
            <a:ext cx="118746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576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52D0E-7D5D-C1E8-B3FC-06030AF5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CA2C156-0E3D-FFC8-797A-AEA6E32F32A3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7F020D-D17B-D7C7-0950-4C1355A7F023}"/>
              </a:ext>
            </a:extLst>
          </p:cNvPr>
          <p:cNvSpPr/>
          <p:nvPr/>
        </p:nvSpPr>
        <p:spPr>
          <a:xfrm>
            <a:off x="1878554" y="281107"/>
            <a:ext cx="814184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Analysis of Energy in an Ideal Binary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E5F500-9630-DE5B-4156-454D4ACDDF86}"/>
              </a:ext>
            </a:extLst>
          </p:cNvPr>
          <p:cNvSpPr txBox="1"/>
          <p:nvPr/>
        </p:nvSpPr>
        <p:spPr>
          <a:xfrm>
            <a:off x="317359" y="1331402"/>
            <a:ext cx="1187464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natural unperturbed ideal spiral is the self powered spiral with two regions.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CFT Region : rate per spiral cycle = h (partner action)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AdS Region : rate per spiral cycle = h (partner action) + g (self action)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radius, frequency, velocity all have first and second degree derivatives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defines a natural emergent timeline – our rate of time vs the natural rate.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ideal 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onstant rate gains of energy in the form of angular momentum,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radius will get smaller more quickly,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frequency and orbital velocity will get faster more quickly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ideal 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onstant rate losses of energy in the form of angular momentum,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radius will get larger more quickly,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frequency and orbital velocity will get slower more quickly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175A5-74A8-2670-C353-E09D4CB21198}"/>
              </a:ext>
            </a:extLst>
          </p:cNvPr>
          <p:cNvSpPr txBox="1"/>
          <p:nvPr/>
        </p:nvSpPr>
        <p:spPr>
          <a:xfrm>
            <a:off x="-14368639" y="-5417"/>
            <a:ext cx="143686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Known physics may correctly assess that the binary would spiral to what they thought was oblivion for various reasons.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But they didn’t understand that was merely the symmetry breaking point between the CFT and AdS regions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can leverage this into a more abstract and yet correct energy analysis.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i.e., add an h, frequency increases from 0 to 1, what did we learn?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these are points on the natural spiral so we know they are valid.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must be cautious to remember that stability is the natural spiral behaviour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 think what is possibly confusing is that there are natural rates of change, in fact two of them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when we apply more energy that is changing the rate at which things were changing, thus an acceleration or deceleration.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once the energy transfer stops, then those changes are locked in and we continue the natural progression from there.  </a:t>
            </a:r>
          </a:p>
          <a:p>
            <a:pPr>
              <a:defRPr/>
            </a:pPr>
            <a:endParaRPr lang="en-US" sz="20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Vector potential q/(vr) intersecting a point potential with an eightball. What happens.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786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687C2-1ACA-4221-3A05-E1E762C0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F6C2A7-F0B0-8E51-48DD-B3758D93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E2E7A-20EB-9181-C8A0-E3AF09267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F44F7-D857-C73A-E74F-A30024A80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07F9E-DC7D-E27C-C733-06F4496CD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341B4C-755E-8B3B-D91F-72AAAB35D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62932-CE27-9AD5-AFD9-08485476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of Nature</a:t>
            </a:r>
          </a:p>
        </p:txBody>
      </p:sp>
    </p:spTree>
    <p:extLst>
      <p:ext uri="{BB962C8B-B14F-4D97-AF65-F5344CB8AC3E}">
        <p14:creationId xmlns:p14="http://schemas.microsoft.com/office/powerpoint/2010/main" val="2568037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9294</TotalTime>
  <Words>1830</Words>
  <Application>Microsoft Macintosh PowerPoint</Application>
  <PresentationFormat>Widescreen</PresentationFormat>
  <Paragraphs>170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Helvetica Neue</vt:lpstr>
      <vt:lpstr>Helvetica Neue Condensed Black</vt:lpstr>
      <vt:lpstr>Helvetica Neue UltraLight</vt:lpstr>
      <vt:lpstr>HelveticaNeue-UltraLightItalic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362</cp:revision>
  <cp:lastPrinted>2022-09-07T12:10:19Z</cp:lastPrinted>
  <dcterms:created xsi:type="dcterms:W3CDTF">2022-02-05T18:41:13Z</dcterms:created>
  <dcterms:modified xsi:type="dcterms:W3CDTF">2025-01-05T23:24:20Z</dcterms:modified>
</cp:coreProperties>
</file>