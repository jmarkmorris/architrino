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5" r:id="rId1"/>
    <p:sldMasterId id="2147483667" r:id="rId2"/>
  </p:sldMasterIdLst>
  <p:notesMasterIdLst>
    <p:notesMasterId r:id="rId16"/>
  </p:notesMasterIdLst>
  <p:sldIdLst>
    <p:sldId id="807" r:id="rId3"/>
    <p:sldId id="853" r:id="rId4"/>
    <p:sldId id="812" r:id="rId5"/>
    <p:sldId id="851" r:id="rId6"/>
    <p:sldId id="852" r:id="rId7"/>
    <p:sldId id="856" r:id="rId8"/>
    <p:sldId id="854" r:id="rId9"/>
    <p:sldId id="808" r:id="rId10"/>
    <p:sldId id="814" r:id="rId11"/>
    <p:sldId id="855" r:id="rId12"/>
    <p:sldId id="809" r:id="rId13"/>
    <p:sldId id="815" r:id="rId14"/>
    <p:sldId id="38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8" userDrawn="1">
          <p15:clr>
            <a:srgbClr val="A4A3A4"/>
          </p15:clr>
        </p15:guide>
        <p15:guide id="2" pos="374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k Morris" initials="MM" lastIdx="1" clrIdx="0">
    <p:extLst>
      <p:ext uri="{19B8F6BF-5375-455C-9EA6-DF929625EA0E}">
        <p15:presenceInfo xmlns:p15="http://schemas.microsoft.com/office/powerpoint/2012/main" userId="e0501bf2facbc5e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FF"/>
    <a:srgbClr val="0096FF"/>
    <a:srgbClr val="941100"/>
    <a:srgbClr val="76D6FF"/>
    <a:srgbClr val="00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vertBarState="minimized">
    <p:restoredLeft sz="4701"/>
    <p:restoredTop sz="96289"/>
  </p:normalViewPr>
  <p:slideViewPr>
    <p:cSldViewPr snapToGrid="0" snapToObjects="1">
      <p:cViewPr varScale="1">
        <p:scale>
          <a:sx n="175" d="100"/>
          <a:sy n="175" d="100"/>
        </p:scale>
        <p:origin x="936" y="168"/>
      </p:cViewPr>
      <p:guideLst>
        <p:guide orient="horz" pos="1368"/>
        <p:guide pos="37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8DD096-C670-234E-818F-1013BEFC83A3}" type="doc">
      <dgm:prSet loTypeId="urn:microsoft.com/office/officeart/2005/8/layout/venn2" loCatId="" qsTypeId="urn:microsoft.com/office/officeart/2005/8/quickstyle/3d9" qsCatId="3D" csTypeId="urn:microsoft.com/office/officeart/2005/8/colors/colorful1" csCatId="colorful" phldr="1"/>
      <dgm:spPr/>
    </dgm:pt>
    <dgm:pt modelId="{E11BA652-3D30-5542-AB08-B497B2697702}">
      <dgm:prSet phldrT="[Text]" custT="1"/>
      <dgm:spPr/>
      <dgm:t>
        <a:bodyPr/>
        <a:lstStyle/>
        <a:p>
          <a:pPr algn="r"/>
          <a:r>
            <a:rPr lang="en-US" sz="2600" b="1" i="0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rPr>
            <a:t>redundancy</a:t>
          </a:r>
        </a:p>
      </dgm:t>
    </dgm:pt>
    <dgm:pt modelId="{C506ADCD-5BED-B144-9A85-C31ABBE37F40}" type="parTrans" cxnId="{EF2404AE-72AF-324D-B4BC-B1DA9472EF50}">
      <dgm:prSet/>
      <dgm:spPr/>
      <dgm:t>
        <a:bodyPr/>
        <a:lstStyle/>
        <a:p>
          <a:endParaRPr lang="en-US" sz="2600"/>
        </a:p>
      </dgm:t>
    </dgm:pt>
    <dgm:pt modelId="{73475859-9D2E-7F49-A28C-F1F13FBFEA8F}" type="sibTrans" cxnId="{EF2404AE-72AF-324D-B4BC-B1DA9472EF50}">
      <dgm:prSet/>
      <dgm:spPr/>
      <dgm:t>
        <a:bodyPr/>
        <a:lstStyle/>
        <a:p>
          <a:endParaRPr lang="en-US" sz="2600"/>
        </a:p>
      </dgm:t>
    </dgm:pt>
    <dgm:pt modelId="{C990511F-B88F-FE4E-BA9D-5B3919F93193}">
      <dgm:prSet phldrT="[Text]" custT="1"/>
      <dgm:spPr/>
      <dgm:t>
        <a:bodyPr/>
        <a:lstStyle/>
        <a:p>
          <a:pPr algn="r"/>
          <a:r>
            <a:rPr lang="en-US" sz="2600" b="1" i="0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rPr>
            <a:t>self repair</a:t>
          </a:r>
        </a:p>
      </dgm:t>
    </dgm:pt>
    <dgm:pt modelId="{DDB217EF-D94E-E84F-AD22-456060CCAA75}" type="parTrans" cxnId="{D6D82808-2195-C943-B0F9-CA85715DD1E7}">
      <dgm:prSet/>
      <dgm:spPr/>
      <dgm:t>
        <a:bodyPr/>
        <a:lstStyle/>
        <a:p>
          <a:endParaRPr lang="en-US" sz="2600"/>
        </a:p>
      </dgm:t>
    </dgm:pt>
    <dgm:pt modelId="{BF028D6E-5B5A-B449-AA70-F82F610792A7}" type="sibTrans" cxnId="{D6D82808-2195-C943-B0F9-CA85715DD1E7}">
      <dgm:prSet/>
      <dgm:spPr/>
      <dgm:t>
        <a:bodyPr/>
        <a:lstStyle/>
        <a:p>
          <a:endParaRPr lang="en-US" sz="2600"/>
        </a:p>
      </dgm:t>
    </dgm:pt>
    <dgm:pt modelId="{F7DED27B-182C-7942-B2FB-2E52560E4626}">
      <dgm:prSet phldrT="[Text]" custT="1"/>
      <dgm:spPr/>
      <dgm:t>
        <a:bodyPr/>
        <a:lstStyle/>
        <a:p>
          <a:pPr algn="r"/>
          <a:r>
            <a:rPr lang="en-US" sz="2600" b="1" i="0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rPr>
            <a:t>radiation and reaction resistance</a:t>
          </a:r>
        </a:p>
      </dgm:t>
    </dgm:pt>
    <dgm:pt modelId="{88E7808F-AAA8-234A-AD9F-47DC711060FA}" type="parTrans" cxnId="{5517AB32-E187-0A40-BD9B-39CDF069C14E}">
      <dgm:prSet/>
      <dgm:spPr/>
      <dgm:t>
        <a:bodyPr/>
        <a:lstStyle/>
        <a:p>
          <a:endParaRPr lang="en-US" sz="2600"/>
        </a:p>
      </dgm:t>
    </dgm:pt>
    <dgm:pt modelId="{AF40EC81-B91A-FA41-A187-9D41CAEAC29E}" type="sibTrans" cxnId="{5517AB32-E187-0A40-BD9B-39CDF069C14E}">
      <dgm:prSet/>
      <dgm:spPr/>
      <dgm:t>
        <a:bodyPr/>
        <a:lstStyle/>
        <a:p>
          <a:endParaRPr lang="en-US" sz="2600"/>
        </a:p>
      </dgm:t>
    </dgm:pt>
    <dgm:pt modelId="{A073EF18-EF1A-5E4D-BD8A-C8B92B11661D}">
      <dgm:prSet custT="1"/>
      <dgm:spPr/>
      <dgm:t>
        <a:bodyPr/>
        <a:lstStyle/>
        <a:p>
          <a:pPr algn="r"/>
          <a:r>
            <a:rPr kumimoji="0" lang="en-US" sz="2600" b="1" i="0" u="none" strike="noStrike" cap="none" spc="0" normalizeH="0" baseline="0" noProof="0" dirty="0">
              <a:ln/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rPr>
            <a:t>nil environmental requirements</a:t>
          </a:r>
        </a:p>
      </dgm:t>
    </dgm:pt>
    <dgm:pt modelId="{3708A7DA-D163-5F49-9BF7-87F29F5A733B}" type="sibTrans" cxnId="{0D5DFEBE-8248-714D-B3A8-07C0E0F8A0BC}">
      <dgm:prSet/>
      <dgm:spPr/>
      <dgm:t>
        <a:bodyPr/>
        <a:lstStyle/>
        <a:p>
          <a:endParaRPr lang="en-US" sz="2600"/>
        </a:p>
      </dgm:t>
    </dgm:pt>
    <dgm:pt modelId="{F9DA67DB-AAB2-C546-9D01-8DCAE1E62400}" type="parTrans" cxnId="{0D5DFEBE-8248-714D-B3A8-07C0E0F8A0BC}">
      <dgm:prSet/>
      <dgm:spPr/>
      <dgm:t>
        <a:bodyPr/>
        <a:lstStyle/>
        <a:p>
          <a:endParaRPr lang="en-US" sz="2600"/>
        </a:p>
      </dgm:t>
    </dgm:pt>
    <dgm:pt modelId="{9336F42E-7694-5246-AB7C-07D28779ECF1}" type="pres">
      <dgm:prSet presAssocID="{898DD096-C670-234E-818F-1013BEFC83A3}" presName="Name0" presStyleCnt="0">
        <dgm:presLayoutVars>
          <dgm:chMax val="7"/>
          <dgm:resizeHandles val="exact"/>
        </dgm:presLayoutVars>
      </dgm:prSet>
      <dgm:spPr/>
    </dgm:pt>
    <dgm:pt modelId="{00D79D5E-53A6-C240-B8C1-1138140FD7E1}" type="pres">
      <dgm:prSet presAssocID="{898DD096-C670-234E-818F-1013BEFC83A3}" presName="comp1" presStyleCnt="0"/>
      <dgm:spPr/>
    </dgm:pt>
    <dgm:pt modelId="{4A63DFA4-0CA6-974F-95FE-14F79A3FAD8D}" type="pres">
      <dgm:prSet presAssocID="{898DD096-C670-234E-818F-1013BEFC83A3}" presName="circle1" presStyleLbl="node1" presStyleIdx="0" presStyleCnt="4"/>
      <dgm:spPr/>
    </dgm:pt>
    <dgm:pt modelId="{4C27BA4F-61AB-424D-BFFF-7CEE1DC4331C}" type="pres">
      <dgm:prSet presAssocID="{898DD096-C670-234E-818F-1013BEFC83A3}" presName="c1text" presStyleLbl="node1" presStyleIdx="0" presStyleCnt="4">
        <dgm:presLayoutVars>
          <dgm:bulletEnabled val="1"/>
        </dgm:presLayoutVars>
      </dgm:prSet>
      <dgm:spPr/>
    </dgm:pt>
    <dgm:pt modelId="{4DAE54CB-3637-A84E-8513-2D1AB6C263FE}" type="pres">
      <dgm:prSet presAssocID="{898DD096-C670-234E-818F-1013BEFC83A3}" presName="comp2" presStyleCnt="0"/>
      <dgm:spPr/>
    </dgm:pt>
    <dgm:pt modelId="{28C969EF-A430-EF4F-A8C4-4A2F818EC016}" type="pres">
      <dgm:prSet presAssocID="{898DD096-C670-234E-818F-1013BEFC83A3}" presName="circle2" presStyleLbl="node1" presStyleIdx="1" presStyleCnt="4" custLinFactNeighborX="-3324" custLinFactNeighborY="4374"/>
      <dgm:spPr/>
    </dgm:pt>
    <dgm:pt modelId="{8776CE88-1D2B-BD45-B5FB-DB306638066D}" type="pres">
      <dgm:prSet presAssocID="{898DD096-C670-234E-818F-1013BEFC83A3}" presName="c2text" presStyleLbl="node1" presStyleIdx="1" presStyleCnt="4">
        <dgm:presLayoutVars>
          <dgm:bulletEnabled val="1"/>
        </dgm:presLayoutVars>
      </dgm:prSet>
      <dgm:spPr/>
    </dgm:pt>
    <dgm:pt modelId="{21D09D46-E24C-D249-AE6F-DAD11CD5387A}" type="pres">
      <dgm:prSet presAssocID="{898DD096-C670-234E-818F-1013BEFC83A3}" presName="comp3" presStyleCnt="0"/>
      <dgm:spPr/>
    </dgm:pt>
    <dgm:pt modelId="{70521028-65C7-DA4E-8B39-C6D8AACF4A8E}" type="pres">
      <dgm:prSet presAssocID="{898DD096-C670-234E-818F-1013BEFC83A3}" presName="circle3" presStyleLbl="node1" presStyleIdx="2" presStyleCnt="4"/>
      <dgm:spPr/>
    </dgm:pt>
    <dgm:pt modelId="{F88E7D5F-28AF-9348-A5CB-09D55984F211}" type="pres">
      <dgm:prSet presAssocID="{898DD096-C670-234E-818F-1013BEFC83A3}" presName="c3text" presStyleLbl="node1" presStyleIdx="2" presStyleCnt="4">
        <dgm:presLayoutVars>
          <dgm:bulletEnabled val="1"/>
        </dgm:presLayoutVars>
      </dgm:prSet>
      <dgm:spPr/>
    </dgm:pt>
    <dgm:pt modelId="{4D403406-BEA9-5A4E-A0B9-1837CF9D6782}" type="pres">
      <dgm:prSet presAssocID="{898DD096-C670-234E-818F-1013BEFC83A3}" presName="comp4" presStyleCnt="0"/>
      <dgm:spPr/>
    </dgm:pt>
    <dgm:pt modelId="{8E6F3E2B-0D9B-3448-A0E9-AF89EA1FD203}" type="pres">
      <dgm:prSet presAssocID="{898DD096-C670-234E-818F-1013BEFC83A3}" presName="circle4" presStyleLbl="node1" presStyleIdx="3" presStyleCnt="4"/>
      <dgm:spPr/>
    </dgm:pt>
    <dgm:pt modelId="{46BEC05B-877C-CC4E-B823-19F534A7D55D}" type="pres">
      <dgm:prSet presAssocID="{898DD096-C670-234E-818F-1013BEFC83A3}" presName="c4text" presStyleLbl="node1" presStyleIdx="3" presStyleCnt="4">
        <dgm:presLayoutVars>
          <dgm:bulletEnabled val="1"/>
        </dgm:presLayoutVars>
      </dgm:prSet>
      <dgm:spPr/>
    </dgm:pt>
  </dgm:ptLst>
  <dgm:cxnLst>
    <dgm:cxn modelId="{D6D82808-2195-C943-B0F9-CA85715DD1E7}" srcId="{898DD096-C670-234E-818F-1013BEFC83A3}" destId="{C990511F-B88F-FE4E-BA9D-5B3919F93193}" srcOrd="3" destOrd="0" parTransId="{DDB217EF-D94E-E84F-AD22-456060CCAA75}" sibTransId="{BF028D6E-5B5A-B449-AA70-F82F610792A7}"/>
    <dgm:cxn modelId="{5517AB32-E187-0A40-BD9B-39CDF069C14E}" srcId="{898DD096-C670-234E-818F-1013BEFC83A3}" destId="{F7DED27B-182C-7942-B2FB-2E52560E4626}" srcOrd="1" destOrd="0" parTransId="{88E7808F-AAA8-234A-AD9F-47DC711060FA}" sibTransId="{AF40EC81-B91A-FA41-A187-9D41CAEAC29E}"/>
    <dgm:cxn modelId="{83797852-C4C2-234D-8CE1-E036B64CF84E}" type="presOf" srcId="{A073EF18-EF1A-5E4D-BD8A-C8B92B11661D}" destId="{4A63DFA4-0CA6-974F-95FE-14F79A3FAD8D}" srcOrd="0" destOrd="0" presId="urn:microsoft.com/office/officeart/2005/8/layout/venn2"/>
    <dgm:cxn modelId="{64F80D74-DB0C-E244-9554-E2B05A23B561}" type="presOf" srcId="{F7DED27B-182C-7942-B2FB-2E52560E4626}" destId="{28C969EF-A430-EF4F-A8C4-4A2F818EC016}" srcOrd="0" destOrd="0" presId="urn:microsoft.com/office/officeart/2005/8/layout/venn2"/>
    <dgm:cxn modelId="{855C339C-2C29-3447-91C4-C95CCBE6BA61}" type="presOf" srcId="{A073EF18-EF1A-5E4D-BD8A-C8B92B11661D}" destId="{4C27BA4F-61AB-424D-BFFF-7CEE1DC4331C}" srcOrd="1" destOrd="0" presId="urn:microsoft.com/office/officeart/2005/8/layout/venn2"/>
    <dgm:cxn modelId="{CDAA55A0-F843-1E46-A407-6B2A2C60DB74}" type="presOf" srcId="{C990511F-B88F-FE4E-BA9D-5B3919F93193}" destId="{8E6F3E2B-0D9B-3448-A0E9-AF89EA1FD203}" srcOrd="0" destOrd="0" presId="urn:microsoft.com/office/officeart/2005/8/layout/venn2"/>
    <dgm:cxn modelId="{F9AA62A9-7F57-5E42-8D22-E61187F6C5C4}" type="presOf" srcId="{E11BA652-3D30-5542-AB08-B497B2697702}" destId="{F88E7D5F-28AF-9348-A5CB-09D55984F211}" srcOrd="1" destOrd="0" presId="urn:microsoft.com/office/officeart/2005/8/layout/venn2"/>
    <dgm:cxn modelId="{DF7A3DAC-6E16-3249-B350-0FD591DD5AF6}" type="presOf" srcId="{898DD096-C670-234E-818F-1013BEFC83A3}" destId="{9336F42E-7694-5246-AB7C-07D28779ECF1}" srcOrd="0" destOrd="0" presId="urn:microsoft.com/office/officeart/2005/8/layout/venn2"/>
    <dgm:cxn modelId="{EF2404AE-72AF-324D-B4BC-B1DA9472EF50}" srcId="{898DD096-C670-234E-818F-1013BEFC83A3}" destId="{E11BA652-3D30-5542-AB08-B497B2697702}" srcOrd="2" destOrd="0" parTransId="{C506ADCD-5BED-B144-9A85-C31ABBE37F40}" sibTransId="{73475859-9D2E-7F49-A28C-F1F13FBFEA8F}"/>
    <dgm:cxn modelId="{0D5DFEBE-8248-714D-B3A8-07C0E0F8A0BC}" srcId="{898DD096-C670-234E-818F-1013BEFC83A3}" destId="{A073EF18-EF1A-5E4D-BD8A-C8B92B11661D}" srcOrd="0" destOrd="0" parTransId="{F9DA67DB-AAB2-C546-9D01-8DCAE1E62400}" sibTransId="{3708A7DA-D163-5F49-9BF7-87F29F5A733B}"/>
    <dgm:cxn modelId="{4B8F2DC2-BC4B-A243-9B96-27353CBABA74}" type="presOf" srcId="{C990511F-B88F-FE4E-BA9D-5B3919F93193}" destId="{46BEC05B-877C-CC4E-B823-19F534A7D55D}" srcOrd="1" destOrd="0" presId="urn:microsoft.com/office/officeart/2005/8/layout/venn2"/>
    <dgm:cxn modelId="{76B9BBC4-E800-B14B-9BDF-44D5EE4A3F7D}" type="presOf" srcId="{F7DED27B-182C-7942-B2FB-2E52560E4626}" destId="{8776CE88-1D2B-BD45-B5FB-DB306638066D}" srcOrd="1" destOrd="0" presId="urn:microsoft.com/office/officeart/2005/8/layout/venn2"/>
    <dgm:cxn modelId="{EFCA4BDF-E87F-4643-908C-06946763A6B3}" type="presOf" srcId="{E11BA652-3D30-5542-AB08-B497B2697702}" destId="{70521028-65C7-DA4E-8B39-C6D8AACF4A8E}" srcOrd="0" destOrd="0" presId="urn:microsoft.com/office/officeart/2005/8/layout/venn2"/>
    <dgm:cxn modelId="{72AD078B-E39E-AB42-BB8E-5755673FA1CD}" type="presParOf" srcId="{9336F42E-7694-5246-AB7C-07D28779ECF1}" destId="{00D79D5E-53A6-C240-B8C1-1138140FD7E1}" srcOrd="0" destOrd="0" presId="urn:microsoft.com/office/officeart/2005/8/layout/venn2"/>
    <dgm:cxn modelId="{8147C751-4D0A-2F43-B3ED-47D5A8E2067F}" type="presParOf" srcId="{00D79D5E-53A6-C240-B8C1-1138140FD7E1}" destId="{4A63DFA4-0CA6-974F-95FE-14F79A3FAD8D}" srcOrd="0" destOrd="0" presId="urn:microsoft.com/office/officeart/2005/8/layout/venn2"/>
    <dgm:cxn modelId="{14254ACC-BFF9-3643-95FD-42A2BA4F3441}" type="presParOf" srcId="{00D79D5E-53A6-C240-B8C1-1138140FD7E1}" destId="{4C27BA4F-61AB-424D-BFFF-7CEE1DC4331C}" srcOrd="1" destOrd="0" presId="urn:microsoft.com/office/officeart/2005/8/layout/venn2"/>
    <dgm:cxn modelId="{33C11C59-A453-C74B-90C2-D2A173EE78FA}" type="presParOf" srcId="{9336F42E-7694-5246-AB7C-07D28779ECF1}" destId="{4DAE54CB-3637-A84E-8513-2D1AB6C263FE}" srcOrd="1" destOrd="0" presId="urn:microsoft.com/office/officeart/2005/8/layout/venn2"/>
    <dgm:cxn modelId="{34FE785D-95BF-E544-B217-E05B77C791E4}" type="presParOf" srcId="{4DAE54CB-3637-A84E-8513-2D1AB6C263FE}" destId="{28C969EF-A430-EF4F-A8C4-4A2F818EC016}" srcOrd="0" destOrd="0" presId="urn:microsoft.com/office/officeart/2005/8/layout/venn2"/>
    <dgm:cxn modelId="{60FDB38F-E046-A344-AEE1-CE836BEA77F1}" type="presParOf" srcId="{4DAE54CB-3637-A84E-8513-2D1AB6C263FE}" destId="{8776CE88-1D2B-BD45-B5FB-DB306638066D}" srcOrd="1" destOrd="0" presId="urn:microsoft.com/office/officeart/2005/8/layout/venn2"/>
    <dgm:cxn modelId="{ADAB9C46-A577-8643-81DB-C2D516989F16}" type="presParOf" srcId="{9336F42E-7694-5246-AB7C-07D28779ECF1}" destId="{21D09D46-E24C-D249-AE6F-DAD11CD5387A}" srcOrd="2" destOrd="0" presId="urn:microsoft.com/office/officeart/2005/8/layout/venn2"/>
    <dgm:cxn modelId="{6359F6DC-199D-2040-B56B-2B00743635BE}" type="presParOf" srcId="{21D09D46-E24C-D249-AE6F-DAD11CD5387A}" destId="{70521028-65C7-DA4E-8B39-C6D8AACF4A8E}" srcOrd="0" destOrd="0" presId="urn:microsoft.com/office/officeart/2005/8/layout/venn2"/>
    <dgm:cxn modelId="{0BD869B0-D333-CF46-985A-BBE27E933A7F}" type="presParOf" srcId="{21D09D46-E24C-D249-AE6F-DAD11CD5387A}" destId="{F88E7D5F-28AF-9348-A5CB-09D55984F211}" srcOrd="1" destOrd="0" presId="urn:microsoft.com/office/officeart/2005/8/layout/venn2"/>
    <dgm:cxn modelId="{B1E257B0-A8A3-D143-AB32-157ABA98DE3D}" type="presParOf" srcId="{9336F42E-7694-5246-AB7C-07D28779ECF1}" destId="{4D403406-BEA9-5A4E-A0B9-1837CF9D6782}" srcOrd="3" destOrd="0" presId="urn:microsoft.com/office/officeart/2005/8/layout/venn2"/>
    <dgm:cxn modelId="{FDB2D14E-929C-1F49-90CC-C3AF6F48E287}" type="presParOf" srcId="{4D403406-BEA9-5A4E-A0B9-1837CF9D6782}" destId="{8E6F3E2B-0D9B-3448-A0E9-AF89EA1FD203}" srcOrd="0" destOrd="0" presId="urn:microsoft.com/office/officeart/2005/8/layout/venn2"/>
    <dgm:cxn modelId="{75A4FA33-61B1-E04F-9D8E-DBE59124B9DC}" type="presParOf" srcId="{4D403406-BEA9-5A4E-A0B9-1837CF9D6782}" destId="{46BEC05B-877C-CC4E-B823-19F534A7D55D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63DFA4-0CA6-974F-95FE-14F79A3FAD8D}">
      <dsp:nvSpPr>
        <dsp:cNvPr id="0" name=""/>
        <dsp:cNvSpPr/>
      </dsp:nvSpPr>
      <dsp:spPr>
        <a:xfrm>
          <a:off x="5073316" y="0"/>
          <a:ext cx="8446167" cy="844616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  <a:sp3d extrusionH="28000" prstMaterial="matte"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2600" b="1" i="0" u="none" strike="noStrike" kern="1200" cap="none" spc="0" normalizeH="0" baseline="0" noProof="0" dirty="0">
              <a:ln/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rPr>
            <a:t>nil environmental requirements</a:t>
          </a:r>
        </a:p>
      </dsp:txBody>
      <dsp:txXfrm>
        <a:off x="8115625" y="422308"/>
        <a:ext cx="2361548" cy="1266925"/>
      </dsp:txXfrm>
    </dsp:sp>
    <dsp:sp modelId="{28C969EF-A430-EF4F-A8C4-4A2F818EC016}">
      <dsp:nvSpPr>
        <dsp:cNvPr id="0" name=""/>
        <dsp:cNvSpPr/>
      </dsp:nvSpPr>
      <dsp:spPr>
        <a:xfrm>
          <a:off x="5693332" y="1689233"/>
          <a:ext cx="6756933" cy="67569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  <a:sp3d extrusionH="28000" prstMaterial="matte"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rPr>
            <a:t>radiation and reaction resistance</a:t>
          </a:r>
        </a:p>
      </dsp:txBody>
      <dsp:txXfrm>
        <a:off x="7891025" y="2094649"/>
        <a:ext cx="2361548" cy="1216248"/>
      </dsp:txXfrm>
    </dsp:sp>
    <dsp:sp modelId="{70521028-65C7-DA4E-8B39-C6D8AACF4A8E}">
      <dsp:nvSpPr>
        <dsp:cNvPr id="0" name=""/>
        <dsp:cNvSpPr/>
      </dsp:nvSpPr>
      <dsp:spPr>
        <a:xfrm>
          <a:off x="6762549" y="3378466"/>
          <a:ext cx="5067700" cy="50677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  <a:sp3d extrusionH="28000" prstMaterial="matte"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rPr>
            <a:t>redundancy</a:t>
          </a:r>
        </a:p>
      </dsp:txBody>
      <dsp:txXfrm>
        <a:off x="8115625" y="3758544"/>
        <a:ext cx="2361548" cy="1140232"/>
      </dsp:txXfrm>
    </dsp:sp>
    <dsp:sp modelId="{8E6F3E2B-0D9B-3448-A0E9-AF89EA1FD203}">
      <dsp:nvSpPr>
        <dsp:cNvPr id="0" name=""/>
        <dsp:cNvSpPr/>
      </dsp:nvSpPr>
      <dsp:spPr>
        <a:xfrm>
          <a:off x="7607166" y="5067700"/>
          <a:ext cx="3378466" cy="337846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  <a:sp3d extrusionH="28000" prstMaterial="matte"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rPr>
            <a:t>self repair</a:t>
          </a:r>
        </a:p>
      </dsp:txBody>
      <dsp:txXfrm>
        <a:off x="8101931" y="5912316"/>
        <a:ext cx="2388936" cy="16892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05754-C48E-DF4E-9B84-E7B6A3B19E2D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0362E-5C5C-984E-ABC7-C52ED959C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99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1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3BC77-BAF6-CD28-FA7D-D59C5525A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FD670-1CEC-D74C-4A05-51A82D90E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84B4A-6795-02D7-673A-BCCB278BA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994F9-2BF6-D957-AB37-2EBE65B40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2358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6A51F-C473-BEB1-7F16-0CD4AECE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878337-2DEA-70F6-EBA6-80E966CEE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44BCC-ECDA-D95F-9830-46F4F2EC7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3111B-1A98-632A-1261-807AD6745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015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E3E94-CC92-C8A9-85EC-3FC93BCAF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0915D-200B-EF7D-C77F-F0806AAB7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B3727-192B-65C3-9CDF-6276AE9BE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61451-A9AA-B5C3-8E77-A4A49856A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2840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1E76E-E5AE-CC4A-F87E-612828AF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42B81-8D6E-575C-1D87-DFAF8B574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133B77-2A2C-FF41-F3FF-B20248E2D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0CC9A-C03C-43E5-C3EB-4D265667C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1989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A7925-154D-5B7A-5702-0EACD395E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A3A45-82D3-4422-9208-87570272A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D792B-E5C1-DEAD-19B5-5DD7BDBE7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62BAB-B476-538B-F6C5-748305F85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102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307E2-1E26-EE2B-C8AB-E80009B58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5B6C8-E7D5-3A93-EFCA-C196EEE21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9DCE1-3CDE-9586-5794-299DFA5BD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999F4-210B-9AE5-4ACA-A1998CC4B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859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06EAE-DE53-A5B5-CF94-F7B68F058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E17579-08BF-A8CC-E163-8F9954A83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271A1-C072-6E70-4362-D2CB88F8D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F084F-2F06-9B47-093F-73D52CE62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6623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AC4F-7A0F-A943-A37C-CBCA0E32B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297DA-E85E-0C4F-99BF-0A156C60B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6CA89-2D26-3A41-89B1-501264742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AD168-D168-924A-82CE-07F9D6F7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38C6D-1145-FE40-A5F3-AA76BBFA8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05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04DC4-2DA1-B348-A4DF-75DC7F91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539A7-F958-5045-8004-AB9AE1A96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4E59F-8028-6640-B7CD-712A00A5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5207B-575E-EB46-9167-DC8B9A1A7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25824-8924-0F4E-BA06-D6714EF01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C153B-5FCE-B74A-A920-BCEF1F63D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97D35-0983-3A42-B252-8AD80D9BF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1E38F-3C0D-E140-A6E9-29E4DFD58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1BD2A-DB13-B24A-BBFC-927CE896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F839-BEAD-4046-84B9-B65359FF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25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C177-DB72-3842-8FEB-9F3714731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F9017-D4AC-4443-9CD1-2655A6BD26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8D979-597B-B94B-BB54-1E681A7EC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3BD60-7139-A04D-9B93-01CBEFB00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9F3AA-F8ED-E14B-85E0-12F62683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C5392-4C49-3D4E-A960-85F3FF79B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49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C7FD0-5120-0C4E-9ED8-2E64DC8B9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CB33E-1A4C-E646-937B-3065B793B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4967C-4E8D-224B-B99B-5A8BFB4A6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B943C8-A2E5-9D40-B765-79FA0F4A9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50570-0F93-F641-B441-AF42A2D4E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1A5EAD-E92B-9048-B9C8-92222381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BD3873-3B3E-ED46-AB43-A96EABCE2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982CEE-B54E-EB49-A16C-7BD03BE4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97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6FC62-6751-0643-9250-97D2B5E35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9D249-AD5C-E04F-9713-314E504E7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FAE547-A907-884B-BE81-EF89D3D6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2ED8E-C4AB-F14B-8929-F9E0303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94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74BB6F-7B9B-964D-886B-D85350A3C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2AF3E-955F-E044-BADD-4B3F3346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94269-793F-EC42-A5AD-E4EDD73AA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20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D5B24-7F29-EB4C-8550-397A4EF2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E189-5B1A-7048-AE10-17298DF6D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0FD4A-1397-2F45-A4D7-06ABB5876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62886-2AD3-CD44-9D2F-20320011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F0679-BAA2-4A4A-A43D-4712441F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063EA-2E55-AB41-AAC6-3B06B0A4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4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BCBE6-8654-C64C-A30A-1F235AC1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834EB-69C2-AA42-98DA-7B4340442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F0A069-EA0A-1644-B57A-5EAE0C27D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95D40-9D00-D947-957C-66E69B00B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C0489-A2A3-BD45-A96A-DD5F4DAED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4D875-A92C-C04E-8A5E-F2BC56828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29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9C65C-399B-6E41-B6BD-80F186188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25FAD-24BB-2D45-A8F1-E9A895511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E0D81-B122-544D-8ACE-546BF4911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E702-5864-8141-AF11-25FF6E46C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83AE1-F5D3-DF4B-8CC4-896B37D8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72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2BFE7-4426-2841-9026-40331CF4D8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FECEF-DF15-7A4D-BABF-0E2EA14CC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4D43-6AD7-3A4D-9528-F70FC789D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D42A1-B626-9246-BFA2-70780398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7DCD8-6D3F-824E-8311-38CE4EC5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32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2668-EBEB-AE41-BF76-89062B014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28A4C-0805-8E44-B54E-3B6F671F8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B74C2-6265-7F41-BB8F-D8A0A0C8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C895-F8E0-4049-8BEE-E5499394E46C}" type="datetime1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53590-4180-6C42-A6BF-707655C1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81401-8545-2D4E-A7FB-31AFC7A8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31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560F9-C770-5C4C-9C93-102EC332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38EDA-56F1-1C40-B81E-28B921C4E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488156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2772-5D80-F641-A1BB-6048573C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F55E2-A889-F24B-B1FE-1E878178F308}" type="datetime1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FC4AF-90CF-484C-B6C7-5CE1A016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9AF1E-33D8-3041-A601-1384C718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84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822D-6D7A-1342-98EF-890C6F2DA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CF19EA-9170-5B4B-814F-7425C8E2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8461C-3391-334C-9885-001B32D724C4}" type="datetime1">
              <a:rPr lang="en-US" smtClean="0"/>
              <a:t>10/14/24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2B1FB-ECDF-AD43-9020-0267ED91C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9C470-5AF0-5246-81E7-95EAEE56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3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D8D635-033D-CA45-AECF-FEC145E57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99257-A465-2C4D-9918-BC8C54895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DCD3B-E2F2-854E-BB00-D5B0BB2A9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42ED2-DF18-DB41-BB39-D7AA7F2F208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405ED-7212-D349-B4CE-23AE6F2BE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46886-3E69-B540-9366-21DA707D6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573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9A1DB-155B-0846-9CED-8B75F56E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9736F-08D5-7643-A656-ABAEB9457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33D04-66F5-D74B-8EEA-459FDC00D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2005EE61-3907-C44D-8624-D47E09E871DB}" type="datetime1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E6E67-6F97-E149-8437-635D11E7ED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5CC1E-0AB1-F34A-83C6-0956BF9B4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D73D4D4B-2FF7-BE46-958C-B004BD45EF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16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77ACA5-3691-8FEB-0266-8D47BBCCF4C6}"/>
              </a:ext>
            </a:extLst>
          </p:cNvPr>
          <p:cNvSpPr txBox="1"/>
          <p:nvPr/>
        </p:nvSpPr>
        <p:spPr>
          <a:xfrm>
            <a:off x="0" y="186247"/>
            <a:ext cx="12191999" cy="4067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 UltraLight" panose="02000206000000020004" pitchFamily="2" charset="0"/>
                <a:ea typeface="Helvetica Neue UltraLight" panose="02000206000000020004" pitchFamily="2" charset="0"/>
                <a:cs typeface="Helvetica Neue" panose="02000503000000020004" pitchFamily="2" charset="0"/>
              </a:rPr>
              <a:t>neoclassical.ai</a:t>
            </a:r>
          </a:p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Life Related Assemblies</a:t>
            </a:r>
            <a:endParaRPr kumimoji="0" lang="en-US" sz="11500" b="1" i="0" u="none" strike="noStrike" kern="1200" cap="none" spc="0" normalizeH="0" baseline="0" noProof="0" dirty="0">
              <a:ln>
                <a:noFill/>
              </a:ln>
              <a:solidFill>
                <a:srgbClr val="FF8AD8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93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5AA51-29DC-6620-9669-F7FDE0E96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0FF862E-5EBD-95F6-4785-4B3E43867223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8FA82E-49B5-9997-5FAA-AA23B523E07F}"/>
              </a:ext>
            </a:extLst>
          </p:cNvPr>
          <p:cNvSpPr/>
          <p:nvPr/>
        </p:nvSpPr>
        <p:spPr>
          <a:xfrm>
            <a:off x="567833" y="207788"/>
            <a:ext cx="110563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Testosterone C</a:t>
            </a:r>
            <a:r>
              <a:rPr kumimoji="0" lang="en-US" sz="2800" b="1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19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</a:t>
            </a:r>
            <a:r>
              <a:rPr kumimoji="0" lang="en-US" sz="2800" b="1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28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r>
              <a:rPr kumimoji="0" lang="en-US" sz="2800" b="1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an assembly of 12264 Point Potentials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3DF262-4725-E728-70B8-D423FB0711CD}"/>
              </a:ext>
            </a:extLst>
          </p:cNvPr>
          <p:cNvSpPr txBox="1"/>
          <p:nvPr/>
        </p:nvSpPr>
        <p:spPr>
          <a:xfrm>
            <a:off x="412586" y="922975"/>
            <a:ext cx="118746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332769-C6F5-DFEB-8CDA-03D4CB57B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593" y="3028790"/>
            <a:ext cx="8100848" cy="3501792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19C85F-5F5A-871C-0155-028F272E159A}"/>
              </a:ext>
            </a:extLst>
          </p:cNvPr>
          <p:cNvSpPr txBox="1">
            <a:spLocks/>
          </p:cNvSpPr>
          <p:nvPr/>
        </p:nvSpPr>
        <p:spPr>
          <a:xfrm>
            <a:off x="365554" y="922975"/>
            <a:ext cx="11700956" cy="455231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Consider this testosterone molecule assembly. C</a:t>
            </a:r>
            <a:r>
              <a:rPr lang="en-US" baseline="-25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19</a:t>
            </a: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</a:t>
            </a:r>
            <a:r>
              <a:rPr lang="en-US" baseline="-25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28</a:t>
            </a: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</a:t>
            </a:r>
            <a:r>
              <a:rPr lang="en-US" baseline="-25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Each atom contains many protons, neutrons, and electrons.</a:t>
            </a: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Protons and neutrons consist of quarks.</a:t>
            </a: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All of the above are sub-assemblies of point potentials</a:t>
            </a:r>
          </a:p>
          <a:p>
            <a:pPr>
              <a:lnSpc>
                <a:spcPct val="80000"/>
              </a:lnSpc>
            </a:pPr>
            <a:endParaRPr lang="en-US" sz="2400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endParaRPr lang="en-US" sz="24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23428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19E8318-451A-0369-0F28-7B2A1C47F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843671" y="985536"/>
            <a:ext cx="6472822" cy="444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05A60C-6AD8-E010-19DC-69929BDA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192427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674725B-5E1E-77B0-62B5-B838B04E3C41}"/>
              </a:ext>
            </a:extLst>
          </p:cNvPr>
          <p:cNvCxnSpPr>
            <a:cxnSpLocks/>
          </p:cNvCxnSpPr>
          <p:nvPr/>
        </p:nvCxnSpPr>
        <p:spPr>
          <a:xfrm flipV="1">
            <a:off x="7816383" y="4374292"/>
            <a:ext cx="100179" cy="821033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A1AFF6B-BF9C-8366-1528-7ABB14140F85}"/>
              </a:ext>
            </a:extLst>
          </p:cNvPr>
          <p:cNvSpPr/>
          <p:nvPr/>
        </p:nvSpPr>
        <p:spPr>
          <a:xfrm>
            <a:off x="6096000" y="5205360"/>
            <a:ext cx="2929905" cy="461665"/>
          </a:xfrm>
          <a:prstGeom prst="rect">
            <a:avLst/>
          </a:prstGeom>
          <a:ln w="63500">
            <a:solidFill>
              <a:schemeClr val="bg1"/>
            </a:solidFill>
          </a:ln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Hydrogen H, White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93695D-D94C-B9F8-ECFF-EECE8BEC1C0A}"/>
              </a:ext>
            </a:extLst>
          </p:cNvPr>
          <p:cNvSpPr/>
          <p:nvPr/>
        </p:nvSpPr>
        <p:spPr>
          <a:xfrm>
            <a:off x="9609712" y="5667025"/>
            <a:ext cx="2460930" cy="387798"/>
          </a:xfrm>
          <a:prstGeom prst="rect">
            <a:avLst/>
          </a:prstGeom>
          <a:solidFill>
            <a:schemeClr val="bg1"/>
          </a:solidFill>
          <a:ln w="63500"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Oxygen, O: Red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84227C-7E63-0A67-E314-66FE77F9E1B6}"/>
              </a:ext>
            </a:extLst>
          </p:cNvPr>
          <p:cNvSpPr/>
          <p:nvPr/>
        </p:nvSpPr>
        <p:spPr>
          <a:xfrm>
            <a:off x="9495898" y="814677"/>
            <a:ext cx="2574744" cy="461665"/>
          </a:xfrm>
          <a:prstGeom prst="rect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Carbon C, Black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F35A25-A480-BDA6-8936-F9B7C514F1B6}"/>
              </a:ext>
            </a:extLst>
          </p:cNvPr>
          <p:cNvCxnSpPr>
            <a:cxnSpLocks/>
          </p:cNvCxnSpPr>
          <p:nvPr/>
        </p:nvCxnSpPr>
        <p:spPr>
          <a:xfrm flipH="1">
            <a:off x="9721183" y="1185333"/>
            <a:ext cx="977297" cy="1613708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C1A8B37-E523-D796-E99C-C5982ED35A8A}"/>
              </a:ext>
            </a:extLst>
          </p:cNvPr>
          <p:cNvCxnSpPr>
            <a:cxnSpLocks/>
          </p:cNvCxnSpPr>
          <p:nvPr/>
        </p:nvCxnSpPr>
        <p:spPr>
          <a:xfrm flipV="1">
            <a:off x="11080750" y="4918075"/>
            <a:ext cx="142875" cy="7489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4" descr="Testosterone and Diabetes - Role, Diabetes Link in Men &amp; Women">
            <a:extLst>
              <a:ext uri="{FF2B5EF4-FFF2-40B4-BE49-F238E27FC236}">
                <a16:creationId xmlns:a16="http://schemas.microsoft.com/office/drawing/2014/main" id="{5866CE16-B018-B13A-69C5-20FDCBB8E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11" y="761574"/>
            <a:ext cx="5682505" cy="3612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301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A1F71-C5BD-4F4C-E241-BD8756E4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FD16751-BDC1-80A5-167A-4E70B590830B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FB1C8D-3967-327A-9D97-FA6A9120452F}"/>
              </a:ext>
            </a:extLst>
          </p:cNvPr>
          <p:cNvSpPr/>
          <p:nvPr/>
        </p:nvSpPr>
        <p:spPr>
          <a:xfrm>
            <a:off x="1290848" y="207788"/>
            <a:ext cx="96103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Pyridine C</a:t>
            </a:r>
            <a:r>
              <a:rPr kumimoji="0" lang="en-US" sz="2800" b="1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</a:t>
            </a:r>
            <a:r>
              <a:rPr kumimoji="0" lang="en-US" sz="2800" b="1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 is an assembly of 3348 Point Potentials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FD95C8-FD16-1D5D-3B0F-CF12891B65E8}"/>
              </a:ext>
            </a:extLst>
          </p:cNvPr>
          <p:cNvSpPr txBox="1"/>
          <p:nvPr/>
        </p:nvSpPr>
        <p:spPr>
          <a:xfrm>
            <a:off x="412586" y="922975"/>
            <a:ext cx="118746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Pyridine is a basic heterocyclic organic compound with the formula C₅H₅N. 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Pyridine forms the basis for the amino acids tryptophan and niacin.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EA214A-CCEB-32C9-6F9B-73E5CE1FE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24" y="2154620"/>
            <a:ext cx="10153024" cy="414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847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DA3861-4FE9-86FE-F0C3-063365F38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5E4DEEF-0EFF-52E2-B792-26216E48BC3B}"/>
              </a:ext>
            </a:extLst>
          </p:cNvPr>
          <p:cNvSpPr txBox="1">
            <a:spLocks/>
          </p:cNvSpPr>
          <p:nvPr/>
        </p:nvSpPr>
        <p:spPr>
          <a:xfrm>
            <a:off x="10864049" y="6492875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11C0BE-6F40-CD61-1A26-331851C6FBC0}"/>
              </a:ext>
            </a:extLst>
          </p:cNvPr>
          <p:cNvSpPr/>
          <p:nvPr/>
        </p:nvSpPr>
        <p:spPr>
          <a:xfrm>
            <a:off x="18117" y="207788"/>
            <a:ext cx="121558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RNA Molecular Assemblies Range from 4728 to 6372 Point Potentials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B0DF08-2107-122C-3F4F-9D80D91823FB}"/>
              </a:ext>
            </a:extLst>
          </p:cNvPr>
          <p:cNvSpPr txBox="1"/>
          <p:nvPr/>
        </p:nvSpPr>
        <p:spPr>
          <a:xfrm>
            <a:off x="496669" y="751344"/>
            <a:ext cx="1156984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RNA (ribonucleic acid) molecules are essential for various biological functions, including the processes of protein synthesis and gene regulation.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Structure: RNA is typically single-stranded, whereas DNA is double-stranded. 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RNA has a backbone made of ribose sugar, while DNA has deoxyribose.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8B13EF-A2CF-EB1F-6D45-ABABB115E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23" y="2470249"/>
            <a:ext cx="10623257" cy="402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717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AD505-148F-7C13-EC73-22518E14F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C53938-22FE-22BD-E59A-97F76192783B}"/>
              </a:ext>
            </a:extLst>
          </p:cNvPr>
          <p:cNvSpPr txBox="1"/>
          <p:nvPr/>
        </p:nvSpPr>
        <p:spPr>
          <a:xfrm>
            <a:off x="0" y="186247"/>
            <a:ext cx="12191999" cy="5364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 UltraLight" panose="02000206000000020004" pitchFamily="2" charset="0"/>
                <a:ea typeface="Helvetica Neue UltraLight" panose="02000206000000020004" pitchFamily="2" charset="0"/>
                <a:cs typeface="Helvetica Neue" panose="02000503000000020004" pitchFamily="2" charset="0"/>
              </a:rPr>
              <a:t>neoclassical.ai</a:t>
            </a:r>
          </a:p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What Life Form </a:t>
            </a:r>
            <a:br>
              <a:rPr kumimoji="0" lang="en-US" sz="11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</a:br>
            <a:r>
              <a:rPr kumimoji="0" lang="en-US" sz="11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has the Fewest </a:t>
            </a:r>
          </a:p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Point Potentials?</a:t>
            </a:r>
            <a:endParaRPr kumimoji="0" lang="en-US" sz="11500" b="1" i="0" u="none" strike="noStrike" kern="1200" cap="none" spc="0" normalizeH="0" baseline="0" noProof="0" dirty="0">
              <a:ln>
                <a:noFill/>
              </a:ln>
              <a:solidFill>
                <a:srgbClr val="FF8AD8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713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597FF-D28F-5D03-23C3-487A5055B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399C73-254D-2680-85FF-BA641B75BD19}"/>
              </a:ext>
            </a:extLst>
          </p:cNvPr>
          <p:cNvSpPr txBox="1"/>
          <p:nvPr/>
        </p:nvSpPr>
        <p:spPr>
          <a:xfrm>
            <a:off x="0" y="358254"/>
            <a:ext cx="12191999" cy="4082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 UltraLight" panose="02000206000000020004" pitchFamily="2" charset="0"/>
                <a:ea typeface="Helvetica Neue UltraLight" panose="02000206000000020004" pitchFamily="2" charset="0"/>
                <a:cs typeface="Helvetica Neue" panose="02000503000000020004" pitchFamily="2" charset="0"/>
              </a:rPr>
              <a:t>neoclassical.ai</a:t>
            </a:r>
          </a:p>
          <a:p>
            <a:pPr algn="ctr">
              <a:lnSpc>
                <a:spcPts val="10000"/>
              </a:lnSpc>
              <a:defRPr/>
            </a:pPr>
            <a:r>
              <a:rPr kumimoji="0" lang="en-US" sz="115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Nanoarchaeum</a:t>
            </a:r>
            <a:r>
              <a:rPr kumimoji="0" lang="en-US" sz="11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 </a:t>
            </a:r>
            <a:r>
              <a:rPr kumimoji="0" lang="en-US" sz="115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equitans</a:t>
            </a:r>
            <a:endParaRPr kumimoji="0" lang="en-US" sz="115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580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CF149-638E-D4FE-A688-5F738F29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2E71C-3B43-3887-6804-C1009A7A1619}"/>
              </a:ext>
            </a:extLst>
          </p:cNvPr>
          <p:cNvSpPr txBox="1"/>
          <p:nvPr/>
        </p:nvSpPr>
        <p:spPr>
          <a:xfrm>
            <a:off x="0" y="186247"/>
            <a:ext cx="12191999" cy="1374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0"/>
              </a:lnSpc>
              <a:defRPr/>
            </a:pPr>
            <a:r>
              <a:rPr kumimoji="0" lang="en-US" sz="88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Nanoarchaeum</a:t>
            </a: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 </a:t>
            </a:r>
            <a:r>
              <a:rPr kumimoji="0" lang="en-US" sz="88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equitans</a:t>
            </a:r>
            <a:endParaRPr kumimoji="0" lang="en-US" sz="8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D60923-3051-E75C-EBA1-5F01B55BA37A}"/>
              </a:ext>
            </a:extLst>
          </p:cNvPr>
          <p:cNvSpPr txBox="1"/>
          <p:nvPr/>
        </p:nvSpPr>
        <p:spPr>
          <a:xfrm>
            <a:off x="0" y="1568935"/>
            <a:ext cx="12191999" cy="481623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smallest living organism recognized by scientists is </a:t>
            </a:r>
            <a:r>
              <a:rPr lang="en-US" sz="20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Nanoarchaeum</a:t>
            </a: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equitans</a:t>
            </a: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 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microbe was discovered in 2002 in a hydrothermal vent off the coast of Iceland. 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Its cells are only about 400 nanometers in diameter.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has one of the smallest genomes of any sequenced microbe, with only 490,885 base pairs.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Its small size and minimal genome suggest it contains a relatively low number of atoms compared to larger organisms.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know that RNA molecules </a:t>
            </a:r>
            <a:r>
              <a:rPr lang="en-US" sz="20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cantain</a:t>
            </a: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4K-6K point potentials.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genome therefore contains 500K x 10K ~= 5B point potentials.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h/t CoPilot and Wikipedia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446818C8-F552-491F-947A-ACEDA4EBA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4158" y="3977052"/>
            <a:ext cx="2794000" cy="23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331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61E34-494B-53B8-B8DB-F565811FC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B4DA62-B82D-2B15-A49B-171CFC36B367}"/>
              </a:ext>
            </a:extLst>
          </p:cNvPr>
          <p:cNvSpPr txBox="1"/>
          <p:nvPr/>
        </p:nvSpPr>
        <p:spPr>
          <a:xfrm>
            <a:off x="0" y="358254"/>
            <a:ext cx="12191999" cy="4082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 UltraLight" panose="02000206000000020004" pitchFamily="2" charset="0"/>
                <a:ea typeface="Helvetica Neue UltraLight" panose="02000206000000020004" pitchFamily="2" charset="0"/>
                <a:cs typeface="Helvetica Neue" panose="02000503000000020004" pitchFamily="2" charset="0"/>
              </a:rPr>
              <a:t>neoclassical.ai</a:t>
            </a:r>
          </a:p>
          <a:p>
            <a:pPr algn="ctr">
              <a:lnSpc>
                <a:spcPts val="10000"/>
              </a:lnSpc>
              <a:defRPr/>
            </a:pPr>
            <a:r>
              <a:rPr kumimoji="0" lang="en-US" sz="115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Deinococcus</a:t>
            </a:r>
            <a:r>
              <a:rPr kumimoji="0" lang="en-US" sz="11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 </a:t>
            </a:r>
            <a:r>
              <a:rPr kumimoji="0" lang="en-US" sz="115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Radiodurans</a:t>
            </a:r>
            <a:endParaRPr kumimoji="0" lang="en-US" sz="115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659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11A77B-062A-BD38-03C1-60CB4990F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904127-1953-FD93-0848-CFD145C7CE67}"/>
              </a:ext>
            </a:extLst>
          </p:cNvPr>
          <p:cNvSpPr txBox="1"/>
          <p:nvPr/>
        </p:nvSpPr>
        <p:spPr>
          <a:xfrm>
            <a:off x="0" y="186247"/>
            <a:ext cx="12191999" cy="1374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D. </a:t>
            </a:r>
            <a:r>
              <a:rPr kumimoji="0" lang="en-US" sz="88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Radiodurans</a:t>
            </a:r>
            <a:endParaRPr kumimoji="0" lang="en-US" sz="8800" b="1" i="0" u="none" strike="noStrike" kern="1200" cap="none" spc="0" normalizeH="0" baseline="0" noProof="0" dirty="0">
              <a:ln>
                <a:noFill/>
              </a:ln>
              <a:solidFill>
                <a:srgbClr val="FF8AD8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4BFBEF-ACE4-2284-D65B-A6DB0D04FC01}"/>
              </a:ext>
            </a:extLst>
          </p:cNvPr>
          <p:cNvSpPr txBox="1"/>
          <p:nvPr/>
        </p:nvSpPr>
        <p:spPr>
          <a:xfrm>
            <a:off x="0" y="1568935"/>
            <a:ext cx="12191999" cy="481623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Deinococcus </a:t>
            </a:r>
            <a:r>
              <a:rPr lang="en-US" sz="2000" b="1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radiodurans</a:t>
            </a:r>
            <a:r>
              <a:rPr lang="en-US" sz="2000" b="1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</a:t>
            </a: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a microbe and a bacterium with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extraordinary survival capabilities</a:t>
            </a:r>
            <a:endParaRPr lang="en-US" sz="2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Microbe refers to any microscopic organism, which includes bacteria, viruses, fungi, and protozoa.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Bacterium is a specific type of microbe that belongs to the domain Bacteria.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D.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radiodurans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a polyextremophilic bacterium known for its remarkable resistance to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radiation (i.e., various frequency photons)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cold (how does it radiate photons as a blackbody?)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dehydration (does not require water)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vacuum (does not require any surrounding gas,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etc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acid (is not reactive)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outer space for extended periods (low energy spacetime)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survival skills may emerge from its unique ability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repair both single and double stranded DNA.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h/t CoPilot and Wikipedia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E983575-73C1-C2AA-EAB2-22F5A2F20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264091" y="2962677"/>
            <a:ext cx="3449556" cy="3968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9105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FBF43E-80A4-D013-5C64-AD16BBE30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4E743A-E740-B9E8-D400-EA3F32FF1D55}"/>
              </a:ext>
            </a:extLst>
          </p:cNvPr>
          <p:cNvSpPr txBox="1"/>
          <p:nvPr/>
        </p:nvSpPr>
        <p:spPr>
          <a:xfrm>
            <a:off x="0" y="186247"/>
            <a:ext cx="12191999" cy="1374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D. </a:t>
            </a:r>
            <a:r>
              <a:rPr kumimoji="0" lang="en-US" sz="88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Radiodurans</a:t>
            </a:r>
            <a:endParaRPr kumimoji="0" lang="en-US" sz="8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082ECC-CEEB-D2B8-60C0-FAF5A1857737}"/>
              </a:ext>
            </a:extLst>
          </p:cNvPr>
          <p:cNvSpPr txBox="1"/>
          <p:nvPr/>
        </p:nvSpPr>
        <p:spPr>
          <a:xfrm>
            <a:off x="0" y="1568935"/>
            <a:ext cx="12191999" cy="481623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FF85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DNA:</a:t>
            </a: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Its genome consists of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two circular chromosomes, </a:t>
            </a:r>
          </a:p>
          <a:p>
            <a:pPr marL="1657350" lvl="3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one 2.65 million base pairs long </a:t>
            </a:r>
          </a:p>
          <a:p>
            <a:pPr marL="1657350" lvl="3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one 412,000 base pairs long,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</a:t>
            </a:r>
            <a:r>
              <a:rPr lang="en-US" sz="20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megaplasmid</a:t>
            </a: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177,000 base pairs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plasmid of 46,000 base pairs.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has approximately 3,195 genes.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its stationary phase, each bacterial cell contains </a:t>
            </a:r>
            <a:r>
              <a:rPr lang="en-US" sz="20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four copies of this genome.</a:t>
            </a:r>
            <a:endParaRPr lang="en-US" sz="2000" dirty="0">
              <a:solidFill>
                <a:srgbClr val="FFC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when rapidly multiplying, each bacterium contains </a:t>
            </a:r>
            <a:r>
              <a:rPr lang="en-US" sz="20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eight to ten copies of the genome.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1" u="none" strike="noStrike" kern="1200" cap="none" spc="0" normalizeH="0" baseline="0" noProof="0" dirty="0">
                <a:ln>
                  <a:noFill/>
                </a:ln>
                <a:solidFill>
                  <a:srgbClr val="FF85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Proteins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rgbClr val="FF85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has a variety of proteins, including those involved in </a:t>
            </a:r>
            <a:r>
              <a:rPr kumimoji="0" lang="en-US" sz="2000" b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DNA repair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such as </a:t>
            </a:r>
            <a:r>
              <a:rPr kumimoji="0" lang="en-US" sz="200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UvrA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kumimoji="0" lang="en-US" sz="200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UvrB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kumimoji="0" lang="en-US" sz="200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UvrC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and UvrD2.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1" u="none" strike="noStrike" kern="1200" cap="none" spc="0" normalizeH="0" baseline="0" noProof="0" dirty="0">
                <a:ln>
                  <a:noFill/>
                </a:ln>
                <a:solidFill>
                  <a:srgbClr val="FF85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Carbohydrates: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The biofilm matrix of D. </a:t>
            </a:r>
            <a:r>
              <a:rPr kumimoji="0" lang="en-US" sz="200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radiodurans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contains proteins and carbohydrates.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1" u="none" strike="noStrike" kern="1200" cap="none" spc="0" normalizeH="0" baseline="0" noProof="0" dirty="0">
                <a:ln>
                  <a:noFill/>
                </a:ln>
                <a:solidFill>
                  <a:srgbClr val="FF85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Pigments: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It produces unique pigments,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especially carotenoids like </a:t>
            </a:r>
            <a:r>
              <a:rPr kumimoji="0" lang="en-US" sz="200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deinoxanthin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which </a:t>
            </a:r>
            <a:r>
              <a:rPr kumimoji="0" lang="en-US" sz="2000" b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play a critical role in its radiation resistance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008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3722B-3781-0E08-25A9-7EDF71C96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4AD777F-D0D7-80D3-EA3B-8A560D8BC3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2438656"/>
              </p:ext>
            </p:extLst>
          </p:nvPr>
        </p:nvGraphicFramePr>
        <p:xfrm>
          <a:off x="-1411705" y="-1588167"/>
          <a:ext cx="18592800" cy="8446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B0D959F-1F8C-C85F-60B5-2379D17C87E3}"/>
              </a:ext>
            </a:extLst>
          </p:cNvPr>
          <p:cNvSpPr txBox="1"/>
          <p:nvPr/>
        </p:nvSpPr>
        <p:spPr>
          <a:xfrm>
            <a:off x="149912" y="4755362"/>
            <a:ext cx="12191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D.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Radiodurans</a:t>
            </a:r>
            <a:endParaRPr lang="en-US" sz="4000" b="1" noProof="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571500" marR="0" lvl="0" indent="-57150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~10</a:t>
            </a:r>
            <a:r>
              <a:rPr kumimoji="0" lang="en-US" sz="4000" i="0" u="none" strike="noStrike" kern="120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11</a:t>
            </a:r>
            <a:r>
              <a:rPr kumimoji="0" lang="en-US" sz="4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atoms</a:t>
            </a:r>
          </a:p>
          <a:p>
            <a:pPr marL="571500" marR="0" lvl="0" indent="-57150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~10</a:t>
            </a:r>
            <a:r>
              <a:rPr kumimoji="0" lang="en-US" sz="4000" i="0" u="none" strike="noStrike" kern="120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14</a:t>
            </a:r>
            <a:r>
              <a:rPr kumimoji="0" lang="en-US" sz="4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point potentials</a:t>
            </a:r>
          </a:p>
        </p:txBody>
      </p:sp>
    </p:spTree>
    <p:extLst>
      <p:ext uri="{BB962C8B-B14F-4D97-AF65-F5344CB8AC3E}">
        <p14:creationId xmlns:p14="http://schemas.microsoft.com/office/powerpoint/2010/main" val="213017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10B119-EC53-BA46-BAA3-CB758CDED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n-US" sz="580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6BC0E-0DB7-C346-A0CC-E3CB36C29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6436"/>
            <a:ext cx="9144000" cy="1600818"/>
          </a:xfrm>
        </p:spPr>
        <p:txBody>
          <a:bodyPr>
            <a:normAutofit/>
          </a:bodyPr>
          <a:lstStyle/>
          <a:p>
            <a:r>
              <a:rPr lang="en-US" dirty="0"/>
              <a:t>Questions?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26E67-7B90-B642-8D26-6DDF890C4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5971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 - Model of Nature</a:t>
            </a:r>
          </a:p>
        </p:txBody>
      </p:sp>
    </p:spTree>
    <p:extLst>
      <p:ext uri="{BB962C8B-B14F-4D97-AF65-F5344CB8AC3E}">
        <p14:creationId xmlns:p14="http://schemas.microsoft.com/office/powerpoint/2010/main" val="3747833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 algn="l">
          <a:defRPr sz="2400"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43597</TotalTime>
  <Words>1350</Words>
  <Application>Microsoft Macintosh PowerPoint</Application>
  <PresentationFormat>Widescreen</PresentationFormat>
  <Paragraphs>195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Helvetica Neue</vt:lpstr>
      <vt:lpstr>Helvetica Neue Condensed Black</vt:lpstr>
      <vt:lpstr>Helvetica Neue Thin</vt:lpstr>
      <vt:lpstr>Helvetica Neue UltraLight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Neoclassical Physics Draft Slides In Progress Unbaked Ideas! </dc:title>
  <dc:creator>Mark Morris</dc:creator>
  <cp:lastModifiedBy>Mark Morris</cp:lastModifiedBy>
  <cp:revision>600</cp:revision>
  <cp:lastPrinted>2021-05-04T05:16:46Z</cp:lastPrinted>
  <dcterms:created xsi:type="dcterms:W3CDTF">2019-04-23T04:22:11Z</dcterms:created>
  <dcterms:modified xsi:type="dcterms:W3CDTF">2024-10-14T17:44:50Z</dcterms:modified>
</cp:coreProperties>
</file>