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31"/>
  </p:notesMasterIdLst>
  <p:sldIdLst>
    <p:sldId id="836" r:id="rId3"/>
    <p:sldId id="840" r:id="rId4"/>
    <p:sldId id="842" r:id="rId5"/>
    <p:sldId id="807" r:id="rId6"/>
    <p:sldId id="844" r:id="rId7"/>
    <p:sldId id="837" r:id="rId8"/>
    <p:sldId id="896" r:id="rId9"/>
    <p:sldId id="898" r:id="rId10"/>
    <p:sldId id="828" r:id="rId11"/>
    <p:sldId id="830" r:id="rId12"/>
    <p:sldId id="831" r:id="rId13"/>
    <p:sldId id="832" r:id="rId14"/>
    <p:sldId id="839" r:id="rId15"/>
    <p:sldId id="838" r:id="rId16"/>
    <p:sldId id="853" r:id="rId17"/>
    <p:sldId id="877" r:id="rId18"/>
    <p:sldId id="901" r:id="rId19"/>
    <p:sldId id="902" r:id="rId20"/>
    <p:sldId id="899" r:id="rId21"/>
    <p:sldId id="872" r:id="rId22"/>
    <p:sldId id="897" r:id="rId23"/>
    <p:sldId id="833" r:id="rId24"/>
    <p:sldId id="900" r:id="rId25"/>
    <p:sldId id="893" r:id="rId26"/>
    <p:sldId id="835" r:id="rId27"/>
    <p:sldId id="834" r:id="rId28"/>
    <p:sldId id="895" r:id="rId29"/>
    <p:sldId id="89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4386"/>
    <p:restoredTop sz="96327"/>
  </p:normalViewPr>
  <p:slideViewPr>
    <p:cSldViewPr snapToGrid="0">
      <p:cViewPr varScale="1">
        <p:scale>
          <a:sx n="182" d="100"/>
          <a:sy n="182" d="100"/>
        </p:scale>
        <p:origin x="336" y="168"/>
      </p:cViewPr>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137" d="100"/>
          <a:sy n="137" d="100"/>
        </p:scale>
        <p:origin x="4744"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6EB331-76C4-5A4A-B8BA-732AEDFD2294}" type="datetimeFigureOut">
              <a:rPr lang="en-US" smtClean="0"/>
              <a:t>12/31/24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65E6C3-0568-A144-A148-671892FA1E9E}" type="slidenum">
              <a:rPr lang="en-US" smtClean="0"/>
              <a:t>‹#›</a:t>
            </a:fld>
            <a:endParaRPr lang="en-US"/>
          </a:p>
        </p:txBody>
      </p:sp>
    </p:spTree>
    <p:extLst>
      <p:ext uri="{BB962C8B-B14F-4D97-AF65-F5344CB8AC3E}">
        <p14:creationId xmlns:p14="http://schemas.microsoft.com/office/powerpoint/2010/main" val="42776549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1933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9110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72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2720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0750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4B1E8-D851-D84E-7B7C-6439BBC268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B2B5A-3E8D-C2B6-E83D-FE1C54E139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FFD2B-3BE4-7995-3BA2-7C689753142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DC0CCDEB-4B10-6EC0-E077-07752AEED9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5231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4B0F0-77B6-4D7A-FAF1-4DE3A2124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19350-C19A-7970-F031-2DD8621A7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8C618-C9E5-273E-F7EE-431BF5EA792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1DC088BA-7716-6EBB-91EB-BFD60B9DCD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7364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8490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1035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1914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580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65342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013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15</a:t>
            </a:fld>
            <a:endParaRPr lang="en-US"/>
          </a:p>
        </p:txBody>
      </p:sp>
    </p:spTree>
    <p:extLst>
      <p:ext uri="{BB962C8B-B14F-4D97-AF65-F5344CB8AC3E}">
        <p14:creationId xmlns:p14="http://schemas.microsoft.com/office/powerpoint/2010/main" val="3679505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16</a:t>
            </a:fld>
            <a:endParaRPr lang="en-US"/>
          </a:p>
        </p:txBody>
      </p:sp>
    </p:spTree>
    <p:extLst>
      <p:ext uri="{BB962C8B-B14F-4D97-AF65-F5344CB8AC3E}">
        <p14:creationId xmlns:p14="http://schemas.microsoft.com/office/powerpoint/2010/main" val="2382463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A522D-D6C9-2895-99CC-0CD9F0B80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91F06F-B507-A14E-ADB0-571995A1E9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F6548-3E2E-AB07-1CDA-BB0830649FD0}"/>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78846C4-F3E6-9CA8-842F-D860DD4DF79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85DD313D-973B-0204-98D3-BA1AECB0180C}"/>
              </a:ext>
            </a:extLst>
          </p:cNvPr>
          <p:cNvSpPr txBox="1"/>
          <p:nvPr/>
        </p:nvSpPr>
        <p:spPr>
          <a:xfrm>
            <a:off x="8191500" y="464701"/>
            <a:ext cx="18554700" cy="8679299"/>
          </a:xfrm>
          <a:prstGeom prst="rect">
            <a:avLst/>
          </a:prstGeom>
          <a:noFill/>
        </p:spPr>
        <p:txBody>
          <a:bodyPr wrap="square">
            <a:spAutoFit/>
          </a:bodyPr>
          <a:lstStyle/>
          <a:p>
            <a:r>
              <a:rPr lang="en-US" dirty="0">
                <a:solidFill>
                  <a:schemeClr val="bg1"/>
                </a:solidFill>
              </a:rPr>
              <a:t>I'll elaborate on each concept, now including Metamorphosis:</a:t>
            </a:r>
          </a:p>
          <a:p>
            <a:endParaRPr lang="en-US" dirty="0">
              <a:solidFill>
                <a:schemeClr val="bg1"/>
              </a:solidFill>
            </a:endParaRPr>
          </a:p>
          <a:p>
            <a:r>
              <a:rPr lang="en-US" dirty="0">
                <a:solidFill>
                  <a:schemeClr val="bg1"/>
                </a:solidFill>
              </a:rPr>
              <a:t>* **Crisis**: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endParaRPr lang="en-US" dirty="0">
              <a:solidFill>
                <a:schemeClr val="bg1"/>
              </a:solidFill>
            </a:endParaRPr>
          </a:p>
          <a:p>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r>
              <a:rPr lang="en-US" dirty="0">
                <a:solidFill>
                  <a:schemeClr val="bg1"/>
                </a:solidFill>
              </a:rPr>
              <a:t>* **Sisyphus**: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endParaRPr lang="en-US" dirty="0">
              <a:solidFill>
                <a:schemeClr val="bg1"/>
              </a:solidFill>
            </a:endParaRPr>
          </a:p>
          <a:p>
            <a:r>
              <a:rPr lang="en-US" dirty="0">
                <a:solidFill>
                  <a:schemeClr val="bg1"/>
                </a:solidFill>
              </a:rPr>
              <a:t>* **Chrysalis**: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endParaRPr lang="en-US" dirty="0">
              <a:solidFill>
                <a:schemeClr val="bg1"/>
              </a:solidFill>
            </a:endParaRPr>
          </a:p>
          <a:p>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a:p>
            <a:r>
              <a:rPr lang="en-US" dirty="0">
                <a:solidFill>
                  <a:schemeClr val="bg1"/>
                </a:solidFill>
              </a:rPr>
              <a:t>Would you like me to delve deeper into any of these concepts or explore their psychological and philosophical implications further?</a:t>
            </a:r>
          </a:p>
        </p:txBody>
      </p:sp>
    </p:spTree>
    <p:extLst>
      <p:ext uri="{BB962C8B-B14F-4D97-AF65-F5344CB8AC3E}">
        <p14:creationId xmlns:p14="http://schemas.microsoft.com/office/powerpoint/2010/main" val="18201525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6C339-CDEE-0656-5CA3-64361A1F8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1B6AE-EFDB-0CDD-79E2-F16EE6083F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5624C-DB64-F757-8E9A-A1B344EC2B8F}"/>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EA04BD9-F6C8-384E-DD86-7AABD07FE8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1AB5358-B3CA-D14B-E6D7-72651E495D61}"/>
              </a:ext>
            </a:extLst>
          </p:cNvPr>
          <p:cNvSpPr txBox="1"/>
          <p:nvPr/>
        </p:nvSpPr>
        <p:spPr>
          <a:xfrm>
            <a:off x="8191500" y="464701"/>
            <a:ext cx="18554700" cy="8679299"/>
          </a:xfrm>
          <a:prstGeom prst="rect">
            <a:avLst/>
          </a:prstGeom>
          <a:noFill/>
        </p:spPr>
        <p:txBody>
          <a:bodyPr wrap="square">
            <a:spAutoFit/>
          </a:bodyPr>
          <a:lstStyle/>
          <a:p>
            <a:r>
              <a:rPr lang="en-US" dirty="0">
                <a:solidFill>
                  <a:schemeClr val="bg1"/>
                </a:solidFill>
              </a:rPr>
              <a:t>I'll elaborate on each concept, now including Metamorphosis:</a:t>
            </a:r>
          </a:p>
          <a:p>
            <a:endParaRPr lang="en-US" dirty="0">
              <a:solidFill>
                <a:schemeClr val="bg1"/>
              </a:solidFill>
            </a:endParaRPr>
          </a:p>
          <a:p>
            <a:r>
              <a:rPr lang="en-US" dirty="0">
                <a:solidFill>
                  <a:schemeClr val="bg1"/>
                </a:solidFill>
              </a:rPr>
              <a:t>* **Crisis**: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endParaRPr lang="en-US" dirty="0">
              <a:solidFill>
                <a:schemeClr val="bg1"/>
              </a:solidFill>
            </a:endParaRPr>
          </a:p>
          <a:p>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r>
              <a:rPr lang="en-US" dirty="0">
                <a:solidFill>
                  <a:schemeClr val="bg1"/>
                </a:solidFill>
              </a:rPr>
              <a:t>* **Sisyphus**: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endParaRPr lang="en-US" dirty="0">
              <a:solidFill>
                <a:schemeClr val="bg1"/>
              </a:solidFill>
            </a:endParaRPr>
          </a:p>
          <a:p>
            <a:r>
              <a:rPr lang="en-US" dirty="0">
                <a:solidFill>
                  <a:schemeClr val="bg1"/>
                </a:solidFill>
              </a:rPr>
              <a:t>* **Chrysalis**: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endParaRPr lang="en-US" dirty="0">
              <a:solidFill>
                <a:schemeClr val="bg1"/>
              </a:solidFill>
            </a:endParaRPr>
          </a:p>
          <a:p>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a:p>
            <a:r>
              <a:rPr lang="en-US" dirty="0">
                <a:solidFill>
                  <a:schemeClr val="bg1"/>
                </a:solidFill>
              </a:rPr>
              <a:t>Would you like me to delve deeper into any of these concepts or explore their psychological and philosophical implications further?</a:t>
            </a:r>
          </a:p>
        </p:txBody>
      </p:sp>
    </p:spTree>
    <p:extLst>
      <p:ext uri="{BB962C8B-B14F-4D97-AF65-F5344CB8AC3E}">
        <p14:creationId xmlns:p14="http://schemas.microsoft.com/office/powerpoint/2010/main" val="24832947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721E1-C2D6-758A-6BA9-E341CCCB8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542004-BDD8-5DD7-14B1-A1DC56D4D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22ED9-309F-2684-C174-C1135B0BA87D}"/>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61231FD7-7F74-3713-D776-1DA197AD607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3328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5C7FB-050B-BA06-9466-466A158186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481FD-714A-C518-285D-8372FD9ED8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BE4BF-7B1A-7644-44A7-8BA16B25A738}"/>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8BE149EC-7B02-F8F4-066D-01223D4CEF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464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13D5C-BB7A-7DEA-4763-176A16ACC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66860-9C26-4436-F4C0-5099E2051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D2E8C-FE8B-272C-8CED-371101DE58F4}"/>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566B43D9-6234-6ABA-F15C-98C5B461DCA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15300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12839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23</a:t>
            </a:fld>
            <a:endParaRPr lang="en-US"/>
          </a:p>
        </p:txBody>
      </p:sp>
    </p:spTree>
    <p:extLst>
      <p:ext uri="{BB962C8B-B14F-4D97-AF65-F5344CB8AC3E}">
        <p14:creationId xmlns:p14="http://schemas.microsoft.com/office/powerpoint/2010/main" val="269823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24</a:t>
            </a:fld>
            <a:endParaRPr lang="en-US"/>
          </a:p>
        </p:txBody>
      </p:sp>
    </p:spTree>
    <p:extLst>
      <p:ext uri="{BB962C8B-B14F-4D97-AF65-F5344CB8AC3E}">
        <p14:creationId xmlns:p14="http://schemas.microsoft.com/office/powerpoint/2010/main" val="4555196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6415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2BF5B-AC7D-3C21-72B8-E1A27FABD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B5AAC-20E7-8CA3-C75B-42B0AE80F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61EED-7F5C-3971-E4FC-C125FE059C64}"/>
              </a:ext>
            </a:extLst>
          </p:cNvPr>
          <p:cNvSpPr>
            <a:spLocks noGrp="1"/>
          </p:cNvSpPr>
          <p:nvPr>
            <p:ph type="body" idx="1"/>
          </p:nvPr>
        </p:nvSpPr>
        <p:spPr/>
        <p:txBody>
          <a:bodyPr/>
          <a:lstStyle/>
          <a:p>
            <a:r>
              <a:rPr lang="en-US" dirty="0"/>
              <a:t>Hi. Welcome to this episode of Emergent Nature. </a:t>
            </a:r>
          </a:p>
          <a:p>
            <a:endParaRPr lang="en-US" dirty="0"/>
          </a:p>
          <a:p>
            <a:r>
              <a:rPr lang="en-US" dirty="0"/>
              <a:t>My name is J Mark Morris. I go by Mark.</a:t>
            </a:r>
          </a:p>
          <a:p>
            <a:endParaRPr lang="en-US" dirty="0"/>
          </a:p>
          <a:p>
            <a:r>
              <a:rPr lang="en-US" dirty="0"/>
              <a:t>In this episode I’ll discuss the error that caused science to go off track into general relativity and quantum mechanics.</a:t>
            </a:r>
          </a:p>
          <a:p>
            <a:endParaRPr lang="en-US" dirty="0"/>
          </a:p>
          <a:p>
            <a:r>
              <a:rPr lang="en-US" dirty="0"/>
              <a:t>That may seem like an unusual thing to say, since general relativity and quantum theory are generally considered to be successful effective theories.</a:t>
            </a:r>
          </a:p>
          <a:p>
            <a:endParaRPr lang="en-US" dirty="0"/>
          </a:p>
          <a:p>
            <a:r>
              <a:rPr lang="en-US" dirty="0"/>
              <a:t>However, as we will see, an error circa 1900 threw science off track.</a:t>
            </a:r>
          </a:p>
          <a:p>
            <a:endParaRPr lang="en-US" dirty="0"/>
          </a:p>
          <a:p>
            <a:r>
              <a:rPr lang="en-US" dirty="0"/>
              <a:t>There is a parsimonious solution to nature.</a:t>
            </a:r>
          </a:p>
          <a:p>
            <a:endParaRPr lang="en-US" dirty="0"/>
          </a:p>
          <a:p>
            <a:endParaRPr lang="en-US" dirty="0"/>
          </a:p>
        </p:txBody>
      </p:sp>
      <p:sp>
        <p:nvSpPr>
          <p:cNvPr id="4" name="Slide Number Placeholder 3">
            <a:extLst>
              <a:ext uri="{FF2B5EF4-FFF2-40B4-BE49-F238E27FC236}">
                <a16:creationId xmlns:a16="http://schemas.microsoft.com/office/drawing/2014/main" id="{328CE7A6-86BB-670C-7F0B-F8CDD9D2F2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C398A3-AF21-A342-B6A8-6929C36BB1B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94540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F65E6C3-0568-A144-A148-671892FA1E9E}" type="slidenum">
              <a:rPr lang="en-US" smtClean="0"/>
              <a:t>28</a:t>
            </a:fld>
            <a:endParaRPr lang="en-US"/>
          </a:p>
        </p:txBody>
      </p:sp>
    </p:spTree>
    <p:extLst>
      <p:ext uri="{BB962C8B-B14F-4D97-AF65-F5344CB8AC3E}">
        <p14:creationId xmlns:p14="http://schemas.microsoft.com/office/powerpoint/2010/main" val="4208808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B3A9-9E4D-1B45-B3D5-CA3715227F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4A437C-6978-EF42-B683-287B0BCC683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2736A90-6A63-474E-AE00-47FF46C1C73E}"/>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1D9A6875-C7C8-8141-9B12-87599614E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F87BB-FFE9-4F4E-9787-48475824CC8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797117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7A8A-0845-AD47-90A8-18776E7495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85297E-D5E0-6745-91A9-52029EE302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79309D-6084-C74B-884A-230D6CFAC619}"/>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0F105DDE-4455-5940-ADF4-C579F78A20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64C6E-4C44-A641-B028-04035B812AA6}"/>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915432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5E37A-D8BF-D64A-8216-7ABA6C5836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F406964-1DAB-F14D-8D48-DEDCBF1951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ED9634-1414-224C-B6B9-3F0D98D672C3}"/>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A8157A06-C042-C649-8823-09CD9E492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B72125-B186-EA4F-87C1-D421E15E6F0E}"/>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704785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32C6-604D-5245-AF13-1117649C05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F3D95E-DB7F-8741-AA7E-E9FECF96C0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4FF041-1EE3-1840-9A00-F30BE067B9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E2B0A9-40F9-DB4D-BDC1-10F58EBA8438}"/>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6" name="Footer Placeholder 5">
            <a:extLst>
              <a:ext uri="{FF2B5EF4-FFF2-40B4-BE49-F238E27FC236}">
                <a16:creationId xmlns:a16="http://schemas.microsoft.com/office/drawing/2014/main" id="{4D45749E-ED3B-3643-8D22-DA2D88FFDE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4183C9-D2C9-CE44-B58B-ACE8898D0D0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1599481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A45A6-44FE-3848-88E8-5552DDC45A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EDC7C1F-E9B4-4E48-ACFC-DC65D6617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CFE821-3558-AB4C-948F-6C6990D147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74632-D045-5A44-BB14-E3D5737A2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5E05E-D502-E74B-91AF-BB193D328C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B03287E-662E-F54F-9162-3F755DD60CA2}"/>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8" name="Footer Placeholder 7">
            <a:extLst>
              <a:ext uri="{FF2B5EF4-FFF2-40B4-BE49-F238E27FC236}">
                <a16:creationId xmlns:a16="http://schemas.microsoft.com/office/drawing/2014/main" id="{B68BB5FE-E651-1B4F-8E93-FD794E8A5E6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DAAD7C8-64AF-684B-98B6-D6D6714A29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576780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DC2D9-851F-F94A-83EC-CAB5799206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3BF4D5-34AD-5A43-853F-006AD601FD76}"/>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4" name="Footer Placeholder 3">
            <a:extLst>
              <a:ext uri="{FF2B5EF4-FFF2-40B4-BE49-F238E27FC236}">
                <a16:creationId xmlns:a16="http://schemas.microsoft.com/office/drawing/2014/main" id="{67670C52-9CA4-AB4F-957A-7AAD4E2593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A441625-0652-EB4F-8E04-6C9011365173}"/>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127913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592881-FA37-DD45-860A-EA6B38C3108A}"/>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3" name="Footer Placeholder 2">
            <a:extLst>
              <a:ext uri="{FF2B5EF4-FFF2-40B4-BE49-F238E27FC236}">
                <a16:creationId xmlns:a16="http://schemas.microsoft.com/office/drawing/2014/main" id="{A4652DC6-52F3-8040-8665-17D023390D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9CEF52-EC52-6C42-81BD-397B5CE038F7}"/>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3907519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60788-9DB9-6745-96CF-A7A1862275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0E3299F-D119-D449-BD57-1CE490CB51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3BB0FB-61B4-DC45-9D1E-63F99E6ABC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F87701-43E6-A248-ABD9-E1C49D62242F}"/>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6" name="Footer Placeholder 5">
            <a:extLst>
              <a:ext uri="{FF2B5EF4-FFF2-40B4-BE49-F238E27FC236}">
                <a16:creationId xmlns:a16="http://schemas.microsoft.com/office/drawing/2014/main" id="{DFD6954C-9DFB-264A-A710-D12E71DB3A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88770-2503-8F4E-AFC6-6941CC59F7C1}"/>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439044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FF65-890A-1A47-B873-C56E2C7D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05E9CE-538C-294A-A814-80A50548B2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3C7C9D-B309-CF46-90D8-B95DD6C2D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97CA5D-F1C9-604D-83E1-2E60AE6E200D}"/>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6" name="Footer Placeholder 5">
            <a:extLst>
              <a:ext uri="{FF2B5EF4-FFF2-40B4-BE49-F238E27FC236}">
                <a16:creationId xmlns:a16="http://schemas.microsoft.com/office/drawing/2014/main" id="{BC9BE16D-FB3D-AA41-B06D-73A0FCDFBA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9839D-F44C-4B47-9DFE-D154851F551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2204029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5DFD1-B5EF-8445-B336-8B2E596E2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86E7C-46AA-9440-8F1F-C1AD5E8EC2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762E40-F60A-404F-9DB3-AC863A0E0847}"/>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156ABF7D-A207-9243-8354-69D0FCFA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C5599E-5B81-624B-A60C-D22AF58B66FB}"/>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579236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BC040-CE85-6347-809B-760E676EF4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7DD51C-FD4B-524F-8054-62599D261A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E9F735-3187-1341-AE2A-1316DEDA7CE8}"/>
              </a:ext>
            </a:extLst>
          </p:cNvPr>
          <p:cNvSpPr>
            <a:spLocks noGrp="1"/>
          </p:cNvSpPr>
          <p:nvPr>
            <p:ph type="dt" sz="half" idx="10"/>
          </p:nvPr>
        </p:nvSpPr>
        <p:spPr/>
        <p:txBody>
          <a:body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D08F8F3D-1D9D-EF45-9F9C-E682715F66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FDF4D4-99B2-C24C-BCFF-B3AB3F96C740}"/>
              </a:ext>
            </a:extLst>
          </p:cNvPr>
          <p:cNvSpPr>
            <a:spLocks noGrp="1"/>
          </p:cNvSpPr>
          <p:nvPr>
            <p:ph type="sldNum" sz="quarter" idx="12"/>
          </p:nvPr>
        </p:nvSpPr>
        <p:spPr/>
        <p:txBody>
          <a:bodyPr/>
          <a:lstStyle/>
          <a:p>
            <a:fld id="{EBE7AC70-81D3-9F4C-9FBF-EEB91175D34A}" type="slidenum">
              <a:rPr lang="en-US" smtClean="0"/>
              <a:t>‹#›</a:t>
            </a:fld>
            <a:endParaRPr lang="en-US"/>
          </a:p>
        </p:txBody>
      </p:sp>
    </p:spTree>
    <p:extLst>
      <p:ext uri="{BB962C8B-B14F-4D97-AF65-F5344CB8AC3E}">
        <p14:creationId xmlns:p14="http://schemas.microsoft.com/office/powerpoint/2010/main" val="7775695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C2668-EBEB-AE41-BF76-89062B014B13}"/>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C8C28A4C-0805-8E44-B54E-3B6F671F8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93B74C2-6265-7F41-BB8F-D8A0A0C89A63}"/>
              </a:ext>
            </a:extLst>
          </p:cNvPr>
          <p:cNvSpPr>
            <a:spLocks noGrp="1"/>
          </p:cNvSpPr>
          <p:nvPr>
            <p:ph type="dt" sz="half" idx="10"/>
          </p:nvPr>
        </p:nvSpPr>
        <p:spPr/>
        <p:txBody>
          <a:bodyPr/>
          <a:lstStyle/>
          <a:p>
            <a:fld id="{B1CFC895-F8E0-4049-8BEE-E5499394E46C}" type="datetime1">
              <a:rPr lang="en-US" smtClean="0"/>
              <a:t>12/31/24</a:t>
            </a:fld>
            <a:endParaRPr lang="en-US"/>
          </a:p>
        </p:txBody>
      </p:sp>
      <p:sp>
        <p:nvSpPr>
          <p:cNvPr id="5" name="Footer Placeholder 4">
            <a:extLst>
              <a:ext uri="{FF2B5EF4-FFF2-40B4-BE49-F238E27FC236}">
                <a16:creationId xmlns:a16="http://schemas.microsoft.com/office/drawing/2014/main" id="{74C53590-4180-6C42-A6BF-707655C15A1D}"/>
              </a:ext>
            </a:extLst>
          </p:cNvPr>
          <p:cNvSpPr>
            <a:spLocks noGrp="1"/>
          </p:cNvSpPr>
          <p:nvPr>
            <p:ph type="ftr" sz="quarter" idx="11"/>
          </p:nvPr>
        </p:nvSpPr>
        <p:spPr/>
        <p:txBody>
          <a:bodyPr/>
          <a:lstStyle>
            <a:lvl1pPr>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93A81401-8545-2D4E-A7FB-31AFC7A8DB71}"/>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2073663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560F9-C770-5C4C-9C93-102EC332DBA4}"/>
              </a:ext>
            </a:extLst>
          </p:cNvPr>
          <p:cNvSpPr>
            <a:spLocks noGrp="1"/>
          </p:cNvSpPr>
          <p:nvPr>
            <p:ph type="title"/>
          </p:nvPr>
        </p:nvSpPr>
        <p:spPr>
          <a:xfrm>
            <a:off x="838200" y="365125"/>
            <a:ext cx="10515600" cy="777875"/>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0D38EDA-56F1-1C40-B81E-28B921C4E99F}"/>
              </a:ext>
            </a:extLst>
          </p:cNvPr>
          <p:cNvSpPr>
            <a:spLocks noGrp="1"/>
          </p:cNvSpPr>
          <p:nvPr>
            <p:ph idx="1"/>
          </p:nvPr>
        </p:nvSpPr>
        <p:spPr>
          <a:xfrm>
            <a:off x="838200" y="1295400"/>
            <a:ext cx="10515600" cy="488156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AD42772-5D80-F641-A1BB-6048573C4E88}"/>
              </a:ext>
            </a:extLst>
          </p:cNvPr>
          <p:cNvSpPr>
            <a:spLocks noGrp="1"/>
          </p:cNvSpPr>
          <p:nvPr>
            <p:ph type="dt" sz="half" idx="10"/>
          </p:nvPr>
        </p:nvSpPr>
        <p:spPr/>
        <p:txBody>
          <a:bodyPr/>
          <a:lstStyle/>
          <a:p>
            <a:fld id="{A91F55E2-A889-F24B-B1FE-1E878178F308}" type="datetime1">
              <a:rPr lang="en-US" smtClean="0"/>
              <a:t>12/31/24</a:t>
            </a:fld>
            <a:endParaRPr lang="en-US"/>
          </a:p>
        </p:txBody>
      </p:sp>
      <p:sp>
        <p:nvSpPr>
          <p:cNvPr id="5" name="Footer Placeholder 4">
            <a:extLst>
              <a:ext uri="{FF2B5EF4-FFF2-40B4-BE49-F238E27FC236}">
                <a16:creationId xmlns:a16="http://schemas.microsoft.com/office/drawing/2014/main" id="{C68FC4AF-90CF-484C-B6C7-5CE1A016FB49}"/>
              </a:ext>
            </a:extLst>
          </p:cNvPr>
          <p:cNvSpPr>
            <a:spLocks noGrp="1"/>
          </p:cNvSpPr>
          <p:nvPr>
            <p:ph type="ftr" sz="quarter" idx="11"/>
          </p:nvPr>
        </p:nvSpPr>
        <p:spPr/>
        <p:txBody>
          <a:bodyPr/>
          <a:lstStyle/>
          <a:p>
            <a:r>
              <a:rPr lang="en-US"/>
              <a:t>J Mark Morris - Model of Nature - April 2019</a:t>
            </a:r>
          </a:p>
        </p:txBody>
      </p:sp>
      <p:sp>
        <p:nvSpPr>
          <p:cNvPr id="6" name="Slide Number Placeholder 5">
            <a:extLst>
              <a:ext uri="{FF2B5EF4-FFF2-40B4-BE49-F238E27FC236}">
                <a16:creationId xmlns:a16="http://schemas.microsoft.com/office/drawing/2014/main" id="{8169AF1E-33D8-3041-A601-1384C718A8B5}"/>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537191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822D-6D7A-1342-98EF-890C6F2DA174}"/>
              </a:ext>
            </a:extLst>
          </p:cNvPr>
          <p:cNvSpPr>
            <a:spLocks noGrp="1"/>
          </p:cNvSpPr>
          <p:nvPr>
            <p:ph type="title"/>
          </p:nvPr>
        </p:nvSpPr>
        <p:spPr>
          <a:xfrm>
            <a:off x="838200" y="365125"/>
            <a:ext cx="10515600" cy="777875"/>
          </a:xfrm>
        </p:spPr>
        <p:txBody>
          <a:bodyPr/>
          <a:lstStyle/>
          <a:p>
            <a:r>
              <a:rPr lang="en-US"/>
              <a:t>Click to edit Master title style</a:t>
            </a:r>
          </a:p>
        </p:txBody>
      </p:sp>
      <p:sp>
        <p:nvSpPr>
          <p:cNvPr id="3" name="Date Placeholder 2">
            <a:extLst>
              <a:ext uri="{FF2B5EF4-FFF2-40B4-BE49-F238E27FC236}">
                <a16:creationId xmlns:a16="http://schemas.microsoft.com/office/drawing/2014/main" id="{74CF19EA-9170-5B4B-814F-7425C8E22823}"/>
              </a:ext>
            </a:extLst>
          </p:cNvPr>
          <p:cNvSpPr>
            <a:spLocks noGrp="1"/>
          </p:cNvSpPr>
          <p:nvPr>
            <p:ph type="dt" sz="half" idx="10"/>
          </p:nvPr>
        </p:nvSpPr>
        <p:spPr/>
        <p:txBody>
          <a:bodyPr/>
          <a:lstStyle/>
          <a:p>
            <a:fld id="{C6E8461C-3391-334C-9885-001B32D724C4}" type="datetime1">
              <a:rPr lang="en-US" smtClean="0"/>
              <a:t>12/31/24</a:t>
            </a:fld>
            <a:endParaRPr lang="en-US"/>
          </a:p>
        </p:txBody>
      </p:sp>
      <p:sp>
        <p:nvSpPr>
          <p:cNvPr id="4" name="Footer Placeholder 3">
            <a:extLst>
              <a:ext uri="{FF2B5EF4-FFF2-40B4-BE49-F238E27FC236}">
                <a16:creationId xmlns:a16="http://schemas.microsoft.com/office/drawing/2014/main" id="{5882B1FB-ECDF-AD43-9020-0267ED91C04E}"/>
              </a:ext>
            </a:extLst>
          </p:cNvPr>
          <p:cNvSpPr>
            <a:spLocks noGrp="1"/>
          </p:cNvSpPr>
          <p:nvPr>
            <p:ph type="ftr" sz="quarter" idx="11"/>
          </p:nvPr>
        </p:nvSpPr>
        <p:spPr/>
        <p:txBody>
          <a:bodyPr/>
          <a:lstStyle>
            <a:lvl1pPr>
              <a:defRPr/>
            </a:lvl1pPr>
          </a:lstStyle>
          <a:p>
            <a:r>
              <a:rPr lang="en-US"/>
              <a:t>J Mark Morris - Model of Nature - April 2019</a:t>
            </a:r>
          </a:p>
        </p:txBody>
      </p:sp>
      <p:sp>
        <p:nvSpPr>
          <p:cNvPr id="5" name="Slide Number Placeholder 4">
            <a:extLst>
              <a:ext uri="{FF2B5EF4-FFF2-40B4-BE49-F238E27FC236}">
                <a16:creationId xmlns:a16="http://schemas.microsoft.com/office/drawing/2014/main" id="{D949C470-5AF0-5246-81E7-95EAEE5639EF}"/>
              </a:ext>
            </a:extLst>
          </p:cNvPr>
          <p:cNvSpPr>
            <a:spLocks noGrp="1"/>
          </p:cNvSpPr>
          <p:nvPr>
            <p:ph type="sldNum" sz="quarter" idx="12"/>
          </p:nvPr>
        </p:nvSpPr>
        <p:spPr/>
        <p:txBody>
          <a:bodyPr/>
          <a:lstStyle/>
          <a:p>
            <a:fld id="{D73D4D4B-2FF7-BE46-958C-B004BD45EF6F}" type="slidenum">
              <a:rPr lang="en-US" smtClean="0"/>
              <a:t>‹#›</a:t>
            </a:fld>
            <a:endParaRPr lang="en-US"/>
          </a:p>
        </p:txBody>
      </p:sp>
    </p:spTree>
    <p:extLst>
      <p:ext uri="{BB962C8B-B14F-4D97-AF65-F5344CB8AC3E}">
        <p14:creationId xmlns:p14="http://schemas.microsoft.com/office/powerpoint/2010/main" val="3154260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14B483-3334-204F-ADDF-2B9BC6A8D9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FCC4CF-F19A-1848-8467-61B9807ACF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128E2E-CB42-B64B-A2AC-B8713F8A0E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70D3E6-D921-5B44-AC8D-B7FDAFC8A532}" type="datetimeFigureOut">
              <a:rPr lang="en-US" smtClean="0"/>
              <a:t>12/31/24</a:t>
            </a:fld>
            <a:endParaRPr lang="en-US"/>
          </a:p>
        </p:txBody>
      </p:sp>
      <p:sp>
        <p:nvSpPr>
          <p:cNvPr id="5" name="Footer Placeholder 4">
            <a:extLst>
              <a:ext uri="{FF2B5EF4-FFF2-40B4-BE49-F238E27FC236}">
                <a16:creationId xmlns:a16="http://schemas.microsoft.com/office/drawing/2014/main" id="{2AA830BA-8B9E-D54E-AA7F-1B6C247B3A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3634F2-31DD-3F49-A362-988026E566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E7AC70-81D3-9F4C-9FBF-EEB91175D34A}" type="slidenum">
              <a:rPr lang="en-US" smtClean="0"/>
              <a:t>‹#›</a:t>
            </a:fld>
            <a:endParaRPr lang="en-US"/>
          </a:p>
        </p:txBody>
      </p:sp>
    </p:spTree>
    <p:extLst>
      <p:ext uri="{BB962C8B-B14F-4D97-AF65-F5344CB8AC3E}">
        <p14:creationId xmlns:p14="http://schemas.microsoft.com/office/powerpoint/2010/main" val="6315374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79A1DB-155B-0846-9CED-8B75F56E0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D69736F-08D5-7643-A656-ABAEB9457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433D04-66F5-D74B-8EEA-459FDC00D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2005EE61-3907-C44D-8624-D47E09E871DB}" type="datetime1">
              <a:rPr lang="en-US" smtClean="0"/>
              <a:t>12/31/24</a:t>
            </a:fld>
            <a:endParaRPr lang="en-US"/>
          </a:p>
        </p:txBody>
      </p:sp>
      <p:sp>
        <p:nvSpPr>
          <p:cNvPr id="5" name="Footer Placeholder 4">
            <a:extLst>
              <a:ext uri="{FF2B5EF4-FFF2-40B4-BE49-F238E27FC236}">
                <a16:creationId xmlns:a16="http://schemas.microsoft.com/office/drawing/2014/main" id="{9FDE6E67-6F97-E149-8437-635D11E7E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US"/>
              <a:t>J Mark Morris - Model of Nature - April 2019</a:t>
            </a:r>
          </a:p>
        </p:txBody>
      </p:sp>
      <p:sp>
        <p:nvSpPr>
          <p:cNvPr id="6" name="Slide Number Placeholder 5">
            <a:extLst>
              <a:ext uri="{FF2B5EF4-FFF2-40B4-BE49-F238E27FC236}">
                <a16:creationId xmlns:a16="http://schemas.microsoft.com/office/drawing/2014/main" id="{D585CC1E-0AB1-F34A-83C6-0956BF9B4A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Neue" panose="02000503000000020004" pitchFamily="2" charset="0"/>
                <a:ea typeface="Helvetica Neue" panose="02000503000000020004" pitchFamily="2" charset="0"/>
                <a:cs typeface="Helvetica Neue" panose="02000503000000020004" pitchFamily="2" charset="0"/>
              </a:defRPr>
            </a:lvl1pPr>
          </a:lstStyle>
          <a:p>
            <a:fld id="{D73D4D4B-2FF7-BE46-958C-B004BD45EF6F}" type="slidenum">
              <a:rPr lang="en-US" smtClean="0"/>
              <a:pPr/>
              <a:t>‹#›</a:t>
            </a:fld>
            <a:endParaRPr lang="en-US"/>
          </a:p>
        </p:txBody>
      </p:sp>
    </p:spTree>
    <p:extLst>
      <p:ext uri="{BB962C8B-B14F-4D97-AF65-F5344CB8AC3E}">
        <p14:creationId xmlns:p14="http://schemas.microsoft.com/office/powerpoint/2010/main" val="27368602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hf sldNum="0" hdr="0" dt="0"/>
  <p:txStyles>
    <p:titleStyle>
      <a:lvl1pPr algn="l" defTabSz="914400" rtl="0" eaLnBrk="1" latinLnBrk="0" hangingPunct="1">
        <a:lnSpc>
          <a:spcPct val="90000"/>
        </a:lnSpc>
        <a:spcBef>
          <a:spcPct val="0"/>
        </a:spcBef>
        <a:buNone/>
        <a:defRPr sz="4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Neue" panose="02000503000000020004" pitchFamily="2" charset="0"/>
          <a:ea typeface="Helvetica Neue" panose="02000503000000020004" pitchFamily="2" charset="0"/>
          <a:cs typeface="Helvetica Neue" panose="02000503000000020004"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1163324"/>
            <a:ext cx="12191999" cy="2913618"/>
          </a:xfrm>
          <a:prstGeom prst="rect">
            <a:avLst/>
          </a:prstGeom>
          <a:noFill/>
        </p:spPr>
        <p:txBody>
          <a:bodyPr wrap="square" rtlCol="0">
            <a:spAutoFit/>
          </a:bodyPr>
          <a:lstStyle/>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schemeClr val="bg1"/>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Title Slide Collection</a:t>
            </a:r>
            <a:endParaRPr kumimoji="0" lang="en-US" sz="9600" b="1" i="0" u="none" strike="noStrike" kern="1200" cap="none" spc="0" normalizeH="0" baseline="0" noProof="0" dirty="0">
              <a:ln>
                <a:noFill/>
              </a:ln>
              <a:solidFill>
                <a:schemeClr val="bg1"/>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310603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2992"/>
            <a:ext cx="12191999" cy="5478423"/>
          </a:xfrm>
          <a:prstGeom prst="rect">
            <a:avLst/>
          </a:prstGeom>
          <a:noFill/>
        </p:spPr>
        <p:txBody>
          <a:bodyPr wrap="square" rtlCol="0">
            <a:spAutoFit/>
          </a:bodyPr>
          <a:lstStyle/>
          <a:p>
            <a:pPr algn="ctr">
              <a:lnSpc>
                <a:spcPts val="11000"/>
              </a:lnSpc>
              <a:defRPr/>
            </a:pPr>
            <a:r>
              <a:rPr kumimoji="0" lang="en-US" sz="88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Newton’s Views on Space, Time, &amp; Motion</a:t>
            </a:r>
          </a:p>
        </p:txBody>
      </p:sp>
      <p:pic>
        <p:nvPicPr>
          <p:cNvPr id="3" name="Picture 2">
            <a:extLst>
              <a:ext uri="{FF2B5EF4-FFF2-40B4-BE49-F238E27FC236}">
                <a16:creationId xmlns:a16="http://schemas.microsoft.com/office/drawing/2014/main" id="{608F758E-94B5-074B-1301-340B594BAE0E}"/>
              </a:ext>
            </a:extLst>
          </p:cNvPr>
          <p:cNvPicPr>
            <a:picLocks noChangeAspect="1"/>
          </p:cNvPicPr>
          <p:nvPr/>
        </p:nvPicPr>
        <p:blipFill>
          <a:blip r:embed="rId3"/>
          <a:stretch>
            <a:fillRect/>
          </a:stretch>
        </p:blipFill>
        <p:spPr>
          <a:xfrm>
            <a:off x="3228974" y="5976573"/>
            <a:ext cx="5734051" cy="683735"/>
          </a:xfrm>
          <a:prstGeom prst="rect">
            <a:avLst/>
          </a:prstGeom>
        </p:spPr>
      </p:pic>
      <p:sp>
        <p:nvSpPr>
          <p:cNvPr id="4" name="TextBox 3">
            <a:extLst>
              <a:ext uri="{FF2B5EF4-FFF2-40B4-BE49-F238E27FC236}">
                <a16:creationId xmlns:a16="http://schemas.microsoft.com/office/drawing/2014/main" id="{CB18998F-2FD9-0C21-DB11-0772A53D8050}"/>
              </a:ext>
            </a:extLst>
          </p:cNvPr>
          <p:cNvSpPr txBox="1"/>
          <p:nvPr/>
        </p:nvSpPr>
        <p:spPr>
          <a:xfrm>
            <a:off x="4450555" y="5607241"/>
            <a:ext cx="3176511" cy="369332"/>
          </a:xfrm>
          <a:prstGeom prst="rect">
            <a:avLst/>
          </a:prstGeom>
          <a:noFill/>
        </p:spPr>
        <p:txBody>
          <a:bodyPr wrap="none" rtlCol="0">
            <a:spAutoFit/>
          </a:bodyPr>
          <a:lstStyle/>
          <a:p>
            <a:r>
              <a:rPr lang="en-US" i="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Review of an article from the:</a:t>
            </a:r>
          </a:p>
        </p:txBody>
      </p:sp>
    </p:spTree>
    <p:extLst>
      <p:ext uri="{BB962C8B-B14F-4D97-AF65-F5344CB8AC3E}">
        <p14:creationId xmlns:p14="http://schemas.microsoft.com/office/powerpoint/2010/main" val="394100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Ethan Siegel on </a:t>
            </a:r>
            <a:b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Universe Expansion</a:t>
            </a:r>
          </a:p>
        </p:txBody>
      </p:sp>
      <p:cxnSp>
        <p:nvCxnSpPr>
          <p:cNvPr id="9" name="Straight Connector 8">
            <a:extLst>
              <a:ext uri="{FF2B5EF4-FFF2-40B4-BE49-F238E27FC236}">
                <a16:creationId xmlns:a16="http://schemas.microsoft.com/office/drawing/2014/main" id="{B7531AA8-BC8D-3FA1-88EA-A0EF15521F67}"/>
              </a:ext>
            </a:extLst>
          </p:cNvPr>
          <p:cNvCxnSpPr>
            <a:cxnSpLocks/>
          </p:cNvCxnSpPr>
          <p:nvPr/>
        </p:nvCxnSpPr>
        <p:spPr>
          <a:xfrm flipV="1">
            <a:off x="986367" y="4218330"/>
            <a:ext cx="4614333" cy="1075267"/>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CEF2825-EF07-0BB5-9470-127560E7B9E1}"/>
              </a:ext>
            </a:extLst>
          </p:cNvPr>
          <p:cNvCxnSpPr>
            <a:cxnSpLocks/>
          </p:cNvCxnSpPr>
          <p:nvPr/>
        </p:nvCxnSpPr>
        <p:spPr>
          <a:xfrm flipH="1" flipV="1">
            <a:off x="986367" y="4218330"/>
            <a:ext cx="4614333" cy="1075267"/>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25FA6717-7C61-4FFB-16E8-7DAD12D507D6}"/>
              </a:ext>
            </a:extLst>
          </p:cNvPr>
          <p:cNvPicPr>
            <a:picLocks noChangeAspect="1"/>
          </p:cNvPicPr>
          <p:nvPr/>
        </p:nvPicPr>
        <p:blipFill rotWithShape="1">
          <a:blip r:embed="rId3"/>
          <a:srcRect l="29316" t="26752" r="27171" b="30584"/>
          <a:stretch/>
        </p:blipFill>
        <p:spPr>
          <a:xfrm>
            <a:off x="4841553" y="5629936"/>
            <a:ext cx="2115332" cy="1185186"/>
          </a:xfrm>
          <a:prstGeom prst="rect">
            <a:avLst/>
          </a:prstGeom>
        </p:spPr>
      </p:pic>
    </p:spTree>
    <p:extLst>
      <p:ext uri="{BB962C8B-B14F-4D97-AF65-F5344CB8AC3E}">
        <p14:creationId xmlns:p14="http://schemas.microsoft.com/office/powerpoint/2010/main" val="7131623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4324261"/>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b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Public F</a:t>
            </a:r>
            <a:r>
              <a:rPr kumimoji="0" lang="en-US" sz="9600" b="1" i="0" u="none" strike="noStrike" kern="1200" cap="none" spc="0" normalizeH="0" baseline="0" noProof="0" dirty="0" err="1">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unding</a:t>
            </a: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Failure</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2348934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150 Years of</a:t>
            </a:r>
            <a:b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Misinterpretation</a:t>
            </a:r>
          </a:p>
        </p:txBody>
      </p:sp>
    </p:spTree>
    <p:extLst>
      <p:ext uri="{BB962C8B-B14F-4D97-AF65-F5344CB8AC3E}">
        <p14:creationId xmlns:p14="http://schemas.microsoft.com/office/powerpoint/2010/main" val="1599249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Flip </a:t>
            </a:r>
            <a:r>
              <a:rPr kumimoji="0" lang="en-US" sz="11500" b="1" i="0" u="none" strike="noStrike" kern="1200" cap="none" spc="0" normalizeH="0" baseline="0" noProof="0" dirty="0" err="1">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Tenado</a:t>
            </a:r>
            <a:endPar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at Per</a:t>
            </a:r>
            <a:r>
              <a:rPr lang="en-US" sz="115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imeter</a:t>
            </a: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 2024</a:t>
            </a:r>
            <a:endPar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73784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8BD2D8D3-4FC2-5B46-4A44-7A2085023C6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7EE182-5C47-C603-7102-03C62C1E8913}"/>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David Kaiser</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Aether History</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898337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2CB8459F-9206-7CBC-FAD7-B1088E4DEBE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371C28-8E58-2334-EE8D-181D406BE474}"/>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Phil Halper, et al.</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Black Hole Alternatives</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769894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a:t>
            </a:r>
          </a:p>
        </p:txBody>
      </p:sp>
    </p:spTree>
    <p:extLst>
      <p:ext uri="{BB962C8B-B14F-4D97-AF65-F5344CB8AC3E}">
        <p14:creationId xmlns:p14="http://schemas.microsoft.com/office/powerpoint/2010/main" val="388271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2</a:t>
            </a:r>
          </a:p>
        </p:txBody>
      </p:sp>
    </p:spTree>
    <p:extLst>
      <p:ext uri="{BB962C8B-B14F-4D97-AF65-F5344CB8AC3E}">
        <p14:creationId xmlns:p14="http://schemas.microsoft.com/office/powerpoint/2010/main" val="2356624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3</a:t>
            </a:r>
          </a:p>
        </p:txBody>
      </p:sp>
    </p:spTree>
    <p:extLst>
      <p:ext uri="{BB962C8B-B14F-4D97-AF65-F5344CB8AC3E}">
        <p14:creationId xmlns:p14="http://schemas.microsoft.com/office/powerpoint/2010/main" val="3173046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You Can Solve Nature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and the Universe </a:t>
            </a:r>
            <a: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4</a:t>
            </a:r>
          </a:p>
        </p:txBody>
      </p:sp>
    </p:spTree>
    <p:extLst>
      <p:ext uri="{BB962C8B-B14F-4D97-AF65-F5344CB8AC3E}">
        <p14:creationId xmlns:p14="http://schemas.microsoft.com/office/powerpoint/2010/main" val="3452473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1"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Point Potentials Experiment </a:t>
            </a:r>
            <a:r>
              <a:rPr kumimoji="0" lang="en-US" sz="11500" b="1" i="0" u="none" strike="noStrike" kern="1200" cap="none" spc="0" normalizeH="0" baseline="0" noProof="0" dirty="0">
                <a:ln>
                  <a:noFill/>
                </a:ln>
                <a:solidFill>
                  <a:srgbClr val="00B0F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#1</a:t>
            </a:r>
          </a:p>
        </p:txBody>
      </p:sp>
    </p:spTree>
    <p:extLst>
      <p:ext uri="{BB962C8B-B14F-4D97-AF65-F5344CB8AC3E}">
        <p14:creationId xmlns:p14="http://schemas.microsoft.com/office/powerpoint/2010/main" val="921020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Conway’s </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Game of Life</a:t>
            </a:r>
          </a:p>
        </p:txBody>
      </p:sp>
      <p:pic>
        <p:nvPicPr>
          <p:cNvPr id="4" name="Audio 4.m4a">
            <a:hlinkClick r:id="" action="ppaction://media"/>
            <a:extLst>
              <a:ext uri="{FF2B5EF4-FFF2-40B4-BE49-F238E27FC236}">
                <a16:creationId xmlns:a16="http://schemas.microsoft.com/office/drawing/2014/main" id="{517B54EF-D7B1-E948-D130-5B2C54B785C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379536" y="7453964"/>
            <a:ext cx="812800" cy="812800"/>
          </a:xfrm>
          <a:prstGeom prst="rect">
            <a:avLst/>
          </a:prstGeom>
        </p:spPr>
      </p:pic>
    </p:spTree>
    <p:extLst>
      <p:ext uri="{BB962C8B-B14F-4D97-AF65-F5344CB8AC3E}">
        <p14:creationId xmlns:p14="http://schemas.microsoft.com/office/powerpoint/2010/main" val="154205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48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39B5145-C7CC-4CCE-487E-4254D67A4F7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FBDE84-924A-E8FB-3BA9-FBAA104E7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56E144F-032B-6022-3543-526B3E6F1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44DE0F-0C17-6919-233B-D98BD654A0DB}"/>
              </a:ext>
            </a:extLst>
          </p:cNvPr>
          <p:cNvSpPr>
            <a:spLocks noGrp="1"/>
          </p:cNvSpPr>
          <p:nvPr>
            <p:ph type="ctrTitle"/>
          </p:nvPr>
        </p:nvSpPr>
        <p:spPr>
          <a:xfrm>
            <a:off x="1524000" y="1122362"/>
            <a:ext cx="9144000" cy="2840037"/>
          </a:xfrm>
        </p:spPr>
        <p:txBody>
          <a:bodyPr>
            <a:normAutofit/>
          </a:bodyPr>
          <a:lstStyle/>
          <a:p>
            <a:r>
              <a:rPr lang="en-US" sz="5800" dirty="0"/>
              <a:t>Imagine. </a:t>
            </a:r>
            <a:br>
              <a:rPr lang="en-US" sz="5800" dirty="0"/>
            </a:br>
            <a:r>
              <a:rPr lang="en-US" sz="5800" dirty="0"/>
              <a:t>Visualize. </a:t>
            </a:r>
            <a:br>
              <a:rPr lang="en-US" sz="5800" dirty="0"/>
            </a:br>
            <a:r>
              <a:rPr lang="en-US" sz="5800" dirty="0"/>
              <a:t>Represent.</a:t>
            </a:r>
          </a:p>
        </p:txBody>
      </p:sp>
      <p:cxnSp>
        <p:nvCxnSpPr>
          <p:cNvPr id="13" name="Straight Connector 12">
            <a:extLst>
              <a:ext uri="{FF2B5EF4-FFF2-40B4-BE49-F238E27FC236}">
                <a16:creationId xmlns:a16="http://schemas.microsoft.com/office/drawing/2014/main" id="{99EC64F2-D776-BF3D-FBD9-93D13C26D9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27F93D-7588-EB6D-94E1-96EFF9F59E48}"/>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n</a:t>
            </a:r>
            <a:r>
              <a:rPr kumimoji="0" lang="en-US" sz="1200" b="0" i="0" u="none" strike="noStrike" kern="1200" cap="none" spc="0" normalizeH="0" baseline="0" noProof="0" dirty="0" err="1">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eoclassical.ai</a:t>
            </a:r>
            <a:endPar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530850193"/>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98DABE02-FEC0-2F1C-7988-24EADFD765A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D731982-FC66-60FC-160D-1276BA635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9BBF2ED-75A8-CF2B-116D-772D13AE96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212831-CBF6-4E57-77FE-DD87FF067B1B}"/>
              </a:ext>
            </a:extLst>
          </p:cNvPr>
          <p:cNvSpPr>
            <a:spLocks noGrp="1"/>
          </p:cNvSpPr>
          <p:nvPr>
            <p:ph type="ctrTitle"/>
          </p:nvPr>
        </p:nvSpPr>
        <p:spPr>
          <a:xfrm>
            <a:off x="1524000" y="1122362"/>
            <a:ext cx="9144000" cy="2840037"/>
          </a:xfrm>
        </p:spPr>
        <p:txBody>
          <a:bodyPr>
            <a:normAutofit/>
          </a:bodyPr>
          <a:lstStyle/>
          <a:p>
            <a:r>
              <a:rPr lang="en-US" sz="5800" dirty="0"/>
              <a:t>Queue</a:t>
            </a:r>
            <a:br>
              <a:rPr lang="en-US" sz="5800" dirty="0"/>
            </a:br>
            <a:endParaRPr lang="en-US" sz="5800" dirty="0"/>
          </a:p>
        </p:txBody>
      </p:sp>
      <p:sp>
        <p:nvSpPr>
          <p:cNvPr id="3" name="Subtitle 2">
            <a:extLst>
              <a:ext uri="{FF2B5EF4-FFF2-40B4-BE49-F238E27FC236}">
                <a16:creationId xmlns:a16="http://schemas.microsoft.com/office/drawing/2014/main" id="{C3870AC6-70BC-82C8-1E9B-7DE0338EA5D5}"/>
              </a:ext>
            </a:extLst>
          </p:cNvPr>
          <p:cNvSpPr>
            <a:spLocks noGrp="1"/>
          </p:cNvSpPr>
          <p:nvPr>
            <p:ph type="subTitle" idx="1"/>
          </p:nvPr>
        </p:nvSpPr>
        <p:spPr>
          <a:xfrm>
            <a:off x="1524000" y="4256436"/>
            <a:ext cx="9144000" cy="1600818"/>
          </a:xfrm>
        </p:spPr>
        <p:txBody>
          <a:bodyPr>
            <a:normAutofit/>
          </a:bodyPr>
          <a:lstStyle/>
          <a:p>
            <a:r>
              <a:rPr lang="en-US" dirty="0"/>
              <a:t>x</a:t>
            </a:r>
          </a:p>
        </p:txBody>
      </p:sp>
      <p:cxnSp>
        <p:nvCxnSpPr>
          <p:cNvPr id="13" name="Straight Connector 12">
            <a:extLst>
              <a:ext uri="{FF2B5EF4-FFF2-40B4-BE49-F238E27FC236}">
                <a16:creationId xmlns:a16="http://schemas.microsoft.com/office/drawing/2014/main" id="{CBCD6E9C-4871-0110-73B4-D22E7F58AC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5A99E6CE-07A3-B231-3F78-D9BC59EF8852}"/>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neoclassical.ai</a:t>
            </a:r>
          </a:p>
        </p:txBody>
      </p:sp>
    </p:spTree>
    <p:extLst>
      <p:ext uri="{BB962C8B-B14F-4D97-AF65-F5344CB8AC3E}">
        <p14:creationId xmlns:p14="http://schemas.microsoft.com/office/powerpoint/2010/main" val="4156127991"/>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4E97244-526B-D579-3264-791A5D9EC1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E3321C3-8FFD-6191-310D-A33C5C540DA8}"/>
              </a:ext>
            </a:extLst>
          </p:cNvPr>
          <p:cNvSpPr txBox="1"/>
          <p:nvPr/>
        </p:nvSpPr>
        <p:spPr>
          <a:xfrm>
            <a:off x="0" y="91440"/>
            <a:ext cx="12191999" cy="5550237"/>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Sabine </a:t>
            </a:r>
            <a:r>
              <a:rPr lang="en-US" sz="88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Hossenfelder</a:t>
            </a:r>
            <a:endPar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algn="ctr">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Why Physics is Dying</a:t>
            </a:r>
            <a:endParaRPr kumimoji="0" lang="en-US" sz="9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extBox 3">
            <a:extLst>
              <a:ext uri="{FF2B5EF4-FFF2-40B4-BE49-F238E27FC236}">
                <a16:creationId xmlns:a16="http://schemas.microsoft.com/office/drawing/2014/main" id="{6D6D88E4-3EDA-D4DA-2E0A-9AA83030F9E2}"/>
              </a:ext>
            </a:extLst>
          </p:cNvPr>
          <p:cNvSpPr txBox="1"/>
          <p:nvPr/>
        </p:nvSpPr>
        <p:spPr>
          <a:xfrm>
            <a:off x="13369638" y="-2711143"/>
            <a:ext cx="10903526" cy="12280285"/>
          </a:xfrm>
          <a:prstGeom prst="rect">
            <a:avLst/>
          </a:prstGeom>
          <a:noFill/>
        </p:spPr>
        <p:txBody>
          <a:bodyPr wrap="square">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p:txBody>
      </p:sp>
    </p:spTree>
    <p:extLst>
      <p:ext uri="{BB962C8B-B14F-4D97-AF65-F5344CB8AC3E}">
        <p14:creationId xmlns:p14="http://schemas.microsoft.com/office/powerpoint/2010/main" val="14003255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3CA06703-8282-FBA4-B131-78D3E40119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6FE6A9C-5863-591F-3901-98E63EEE2FD9}"/>
              </a:ext>
            </a:extLst>
          </p:cNvPr>
          <p:cNvSpPr txBox="1"/>
          <p:nvPr/>
        </p:nvSpPr>
        <p:spPr>
          <a:xfrm>
            <a:off x="0" y="91440"/>
            <a:ext cx="12191999" cy="6042680"/>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Sabine </a:t>
            </a:r>
            <a:r>
              <a:rPr lang="en-US" sz="88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Hossenfelder</a:t>
            </a:r>
            <a:endParaRPr lang="en-US" sz="88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algn="ctr">
              <a:defRPr/>
            </a:pPr>
            <a:r>
              <a:rPr lang="en-US" sz="60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Sisyphus, Narcissus, Crisis, </a:t>
            </a:r>
            <a:br>
              <a:rPr lang="en-US" sz="6000" b="1" dirty="0">
                <a:solidFill>
                  <a:srgbClr val="FFC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lang="en-US" sz="6000" b="1" dirty="0">
                <a:solidFill>
                  <a:srgbClr val="FFC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Chrysalis, Metamorphosis, Phoenix </a:t>
            </a:r>
            <a:endParaRPr kumimoji="0" lang="en-US" sz="66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
        <p:nvSpPr>
          <p:cNvPr id="4" name="TextBox 3">
            <a:extLst>
              <a:ext uri="{FF2B5EF4-FFF2-40B4-BE49-F238E27FC236}">
                <a16:creationId xmlns:a16="http://schemas.microsoft.com/office/drawing/2014/main" id="{92F36F80-43EE-02DA-E127-D996EF1B6D71}"/>
              </a:ext>
            </a:extLst>
          </p:cNvPr>
          <p:cNvSpPr txBox="1"/>
          <p:nvPr/>
        </p:nvSpPr>
        <p:spPr>
          <a:xfrm>
            <a:off x="13369638" y="-2711143"/>
            <a:ext cx="10903526" cy="12280285"/>
          </a:xfrm>
          <a:prstGeom prst="rect">
            <a:avLst/>
          </a:prstGeom>
          <a:noFill/>
        </p:spPr>
        <p:txBody>
          <a:bodyPr wrap="square">
            <a:spAutoFit/>
          </a:bodyPr>
          <a:lstStyle/>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**Sisyphus**: More than a symbol of futility, Sisyphus represents existential heroism. Albert Camus interpreted this myth as a profound statement of human dignity - finding meaning not in the achievement, but in the struggle itself. Each time Sisyphus pushes the boulder up the mountain, only to watch it roll down, he embodies human resilience. The value is not in completing the task, but in the conscious, defiant act of continuing. He becomes a hero not through success, but through persistent awareness and acceptance of his condition.</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**Narcissus**: Beyond mere self-absorption, Narcissus embodies the psychological journey of confronting one's illusions. In the Greek myth, he becomes so entranced by his own reflection that he cannot move, symbolizing the paralysis of ego and self-deception. His transformation occurs through a painful recognition - a moment of seeing oneself so clearly that the previous self-image shatters. The myth suggests that true self-awareness requires breaking through the mirror of self-delusion, often at the cost of previous comfortable narratives.</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**Crisis**: A moment of intense difficulty that demands change or decisive action. More than just a problem, a crisis represents a critical juncture where existing structures, beliefs, or ways of functioning become unsustainable. It forces an individual or system to confront fundamental weaknesses, requiring radical adaptation. Like a pressure point in a system, a crisis reveals vulnerabilities while simultaneously offering an opportunity for profound transformation. The Chinese character for crisis (</a:t>
            </a:r>
            <a:r>
              <a:rPr lang="en-US" dirty="0" err="1">
                <a:solidFill>
                  <a:schemeClr val="bg1"/>
                </a:solidFill>
              </a:rPr>
              <a:t>危机</a:t>
            </a:r>
            <a:r>
              <a:rPr lang="en-US" dirty="0">
                <a:solidFill>
                  <a:schemeClr val="bg1"/>
                </a:solidFill>
              </a:rPr>
              <a:t>) beautifully captures this duality - combining the symbols for "danger" and "opportunity".</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**Chrysalis**: A remarkable metaphor of absolute transformation. During metamorphosis, the caterpillar doesn't simply change - it completely liquefies inside its cocoon, breaking down to its most fundamental cellular components before reconstructing itself as a butterfly. This isn't gradual modification, but total dissolution and reconstruction. It represents the most radical form of personal change: surrendering entirely to the process of transformation, trusting in an inherent blueprint of potential.</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 **Metamorphosis**: Beyond physical change, metamorphosis represents fundamental, often irreversible transformation. Unlike simple growth or adaptation, metamorphosis involves a complete restructuring of identity, capabilities, and essence. In nature, it's seen in organisms like butterflies or frogs that undergo dramatic, non-linear changes. Psychologically, it represents profound shifts in consciousness, where one's entire perception of self and reality is fundamentally reorganized.</a:t>
            </a:r>
          </a:p>
          <a:p>
            <a:endParaRPr lang="en-US" dirty="0">
              <a:solidFill>
                <a:schemeClr val="bg1"/>
              </a:solidFill>
            </a:endParaRPr>
          </a:p>
          <a:p>
            <a:pPr marL="285750" indent="-285750">
              <a:buFont typeface="Arial" panose="020B0604020202020204" pitchFamily="34" charset="0"/>
              <a:buChar char="•"/>
            </a:pPr>
            <a:r>
              <a:rPr lang="en-US" dirty="0">
                <a:solidFill>
                  <a:schemeClr val="bg1"/>
                </a:solidFill>
              </a:rPr>
              <a:t>* **Phoenix**: The archetypal symbol of regenerative power. Rising from its own ashes, the Phoenix doesn't merely survive destruction - it is reborn through it. This myth suggests that true renewal requires complete surrender, allowing everything to burn away so that something more essential and powerful can emerge. It's not about restoration to a previous state, but about transcendence - becoming something fundamentally new through the very process of destruction.</a:t>
            </a:r>
          </a:p>
          <a:p>
            <a:pPr marL="285750" indent="-285750">
              <a:buFont typeface="Arial" panose="020B0604020202020204" pitchFamily="34" charset="0"/>
              <a:buChar char="•"/>
            </a:pPr>
            <a:endParaRPr lang="en-US" dirty="0">
              <a:solidFill>
                <a:schemeClr val="bg1"/>
              </a:solidFill>
            </a:endParaRPr>
          </a:p>
          <a:p>
            <a:endParaRPr lang="en-US" dirty="0">
              <a:solidFill>
                <a:schemeClr val="bg1"/>
              </a:solidFill>
            </a:endParaRPr>
          </a:p>
          <a:p>
            <a:r>
              <a:rPr lang="en-US" dirty="0">
                <a:solidFill>
                  <a:schemeClr val="bg1"/>
                </a:solidFill>
              </a:rPr>
              <a:t>These concepts are interconnected threads in a larger narrative of human potential - they speak to our capacity for radical transformation, resilience, and the profound potential for renewal that exists within apparent destruction.</a:t>
            </a:r>
          </a:p>
          <a:p>
            <a:endParaRPr lang="en-US" dirty="0">
              <a:solidFill>
                <a:schemeClr val="bg1"/>
              </a:solidFill>
            </a:endParaRPr>
          </a:p>
        </p:txBody>
      </p:sp>
    </p:spTree>
    <p:extLst>
      <p:ext uri="{BB962C8B-B14F-4D97-AF65-F5344CB8AC3E}">
        <p14:creationId xmlns:p14="http://schemas.microsoft.com/office/powerpoint/2010/main" val="828785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BE1882C9-77CE-BA45-5FB6-7F6B1C00FB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F9FD831-7748-830F-C71E-E247DF4D6136}"/>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Dr. Claudia de </a:t>
            </a:r>
            <a:r>
              <a:rPr lang="en-US" sz="9600" b="1" dirty="0" err="1">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Rham</a:t>
            </a:r>
            <a:endPar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at Perimeter 2024</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509306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D7FFE285-9A08-F2F9-EF12-7400E37967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5FD3ED-5619-E4E8-F86D-E93273D443B3}"/>
              </a:ext>
            </a:extLst>
          </p:cNvPr>
          <p:cNvSpPr txBox="1"/>
          <p:nvPr/>
        </p:nvSpPr>
        <p:spPr>
          <a:xfrm>
            <a:off x="0" y="91440"/>
            <a:ext cx="12191999" cy="547842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algn="ctr">
              <a:lnSpc>
                <a:spcPts val="10000"/>
              </a:lnSpc>
              <a:defRPr/>
            </a:pPr>
            <a:r>
              <a:rPr lang="en-US" sz="11500" b="1" dirty="0">
                <a:solidFill>
                  <a:prstClr val="white"/>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New Physics</a:t>
            </a:r>
            <a:endPar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The Binary</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Game of Life</a:t>
            </a:r>
            <a:endParaRPr kumimoji="0" lang="en-US" sz="115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4250219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97562E83-9294-BF8B-CF72-BC3C97B88B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5CF185C-9A2C-34BB-0E6E-62D58065332C}"/>
              </a:ext>
            </a:extLst>
          </p:cNvPr>
          <p:cNvSpPr txBox="1"/>
          <p:nvPr/>
        </p:nvSpPr>
        <p:spPr>
          <a:xfrm>
            <a:off x="0" y="91440"/>
            <a:ext cx="12191999" cy="6673302"/>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11500" b="1" dirty="0">
                <a:solidFill>
                  <a:srgbClr val="FF0000"/>
                </a:solidFill>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name</a:t>
            </a:r>
          </a:p>
          <a:p>
            <a:pPr marL="0" marR="0" lvl="0" indent="0" algn="ctr" defTabSz="914400" rtl="0" eaLnBrk="1" fontAlgn="auto" latinLnBrk="0" hangingPunct="1">
              <a:lnSpc>
                <a:spcPts val="10000"/>
              </a:lnSpc>
              <a:spcBef>
                <a:spcPts val="0"/>
              </a:spcBef>
              <a:spcAft>
                <a:spcPts val="0"/>
              </a:spcAft>
              <a:buClrTx/>
              <a:buSzTx/>
              <a:buFontTx/>
              <a:buNone/>
              <a:tabLst/>
              <a:defRPr/>
            </a:pPr>
            <a:r>
              <a:rPr kumimoji="0" lang="en-US" sz="115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video title</a:t>
            </a:r>
          </a:p>
          <a:p>
            <a:pPr marL="0" marR="0" lvl="0" indent="0" algn="ctr" defTabSz="914400" rtl="0" eaLnBrk="1" fontAlgn="auto" latinLnBrk="0" hangingPunct="1">
              <a:lnSpc>
                <a:spcPts val="10000"/>
              </a:lnSpc>
              <a:spcBef>
                <a:spcPts val="0"/>
              </a:spcBef>
              <a:spcAft>
                <a:spcPts val="0"/>
              </a:spcAft>
              <a:buClrTx/>
              <a:buSzTx/>
              <a:buFontTx/>
              <a:buNone/>
              <a:tabLst/>
              <a:defRPr/>
            </a:pPr>
            <a:endParaRPr kumimoji="0" lang="en-US" sz="8000" b="1" i="0" u="none" strike="noStrike" kern="1200" cap="none" spc="0" normalizeH="0" baseline="0" noProof="0" dirty="0">
              <a:ln>
                <a:noFill/>
              </a:ln>
              <a:solidFill>
                <a:srgbClr val="FF8AD8"/>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1943155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77ACA5-3691-8FEB-0266-8D47BBCCF4C6}"/>
              </a:ext>
            </a:extLst>
          </p:cNvPr>
          <p:cNvSpPr txBox="1"/>
          <p:nvPr/>
        </p:nvSpPr>
        <p:spPr>
          <a:xfrm>
            <a:off x="0" y="91440"/>
            <a:ext cx="12191999" cy="5606663"/>
          </a:xfrm>
          <a:prstGeom prst="rect">
            <a:avLst/>
          </a:prstGeom>
          <a:noFill/>
        </p:spPr>
        <p:txBody>
          <a:bodyPr wrap="square" rtlCol="0">
            <a:spAutoFit/>
          </a:bodyPr>
          <a:lstStyle/>
          <a:p>
            <a:pPr algn="ctr">
              <a:lnSpc>
                <a:spcPts val="11000"/>
              </a:lnSpc>
              <a:defRPr/>
            </a:pPr>
            <a:r>
              <a:rPr kumimoji="0" lang="en-US" sz="9600" u="none" strike="noStrike" kern="1200" cap="none" spc="0" normalizeH="0" baseline="0" noProof="0" dirty="0">
                <a:ln>
                  <a:noFill/>
                </a:ln>
                <a:solidFill>
                  <a:prstClr val="white"/>
                </a:solidFill>
                <a:effectLst/>
                <a:uLnTx/>
                <a:uFillTx/>
                <a:latin typeface="Helvetica Neue Thin" panose="020B0403020202020204" pitchFamily="34" charset="0"/>
                <a:ea typeface="Helvetica Neue Thin" panose="020B0403020202020204" pitchFamily="34" charset="0"/>
                <a:cs typeface="Helvetica Neue" panose="02000503000000020004" pitchFamily="2" charset="0"/>
              </a:rPr>
              <a:t>neoclassical.ai</a:t>
            </a:r>
          </a:p>
          <a:p>
            <a:pPr marL="0" marR="0" lvl="0" indent="0" algn="ctr" defTabSz="914400" rtl="0" eaLnBrk="1" fontAlgn="auto" latinLnBrk="0" hangingPunct="1">
              <a:lnSpc>
                <a:spcPts val="11000"/>
              </a:lnSpc>
              <a:spcBef>
                <a:spcPts val="0"/>
              </a:spcBef>
              <a:spcAft>
                <a:spcPts val="0"/>
              </a:spcAft>
              <a:buClrTx/>
              <a:buSzTx/>
              <a:buFontTx/>
              <a:buNone/>
              <a:tabLst/>
              <a:defRPr/>
            </a:pPr>
            <a:r>
              <a:rPr kumimoji="0" lang="en-US" sz="115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Crisis in Physics</a:t>
            </a:r>
            <a:br>
              <a:rPr kumimoji="0" lang="en-US" sz="9600" b="1" i="0" u="none" strike="noStrike" kern="1200" cap="none" spc="0" normalizeH="0" baseline="0" noProof="0" dirty="0">
                <a:ln>
                  <a:noFill/>
                </a:ln>
                <a:solidFill>
                  <a:prstClr val="white"/>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br>
            <a:r>
              <a:rPr kumimoji="0" lang="en-US" sz="9600" b="1" i="0" u="none" strike="noStrike" kern="1200" cap="none" spc="0" normalizeH="0" baseline="0" noProof="0" dirty="0">
                <a:ln>
                  <a:noFill/>
                </a:ln>
                <a:solidFill>
                  <a:srgbClr val="FF0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Physicist, Heal Thyself</a:t>
            </a:r>
          </a:p>
          <a:p>
            <a:pPr marL="0" marR="0" lvl="0" indent="0" algn="ctr" defTabSz="914400" rtl="0" eaLnBrk="1" fontAlgn="auto" latinLnBrk="0" hangingPunct="1">
              <a:lnSpc>
                <a:spcPts val="10000"/>
              </a:lnSpc>
              <a:spcBef>
                <a:spcPts val="0"/>
              </a:spcBef>
              <a:spcAft>
                <a:spcPts val="0"/>
              </a:spcAft>
              <a:buClrTx/>
              <a:buSzTx/>
              <a:buFontTx/>
              <a:buNone/>
              <a:tabLst/>
              <a:defRPr/>
            </a:pPr>
            <a:r>
              <a:rPr lang="en-US" sz="9600" b="1" i="0" kern="1200" spc="0" baseline="0" dirty="0">
                <a:ln>
                  <a:noFill/>
                </a:ln>
                <a:solidFill>
                  <a:srgbClr val="FFC000"/>
                </a:solidFill>
                <a:effectLst/>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rPr>
              <a:t>Take the L</a:t>
            </a:r>
            <a:endParaRPr kumimoji="0" lang="en-US" sz="9600" b="1" i="0" u="none" strike="noStrike" kern="1200" cap="none" spc="0" normalizeH="0" baseline="0" noProof="0" dirty="0">
              <a:ln>
                <a:noFill/>
              </a:ln>
              <a:solidFill>
                <a:srgbClr val="FFC000"/>
              </a:solidFill>
              <a:effectLst/>
              <a:uLnTx/>
              <a:uFillTx/>
              <a:latin typeface="Helvetica Neue Condensed Black" panose="02000503000000020004" pitchFamily="2" charset="0"/>
              <a:ea typeface="Helvetica Neue Condensed Black" panose="02000503000000020004" pitchFamily="2" charset="0"/>
              <a:cs typeface="Helvetica Neue Condensed Black" panose="02000503000000020004" pitchFamily="2" charset="0"/>
            </a:endParaRPr>
          </a:p>
        </p:txBody>
      </p:sp>
    </p:spTree>
    <p:extLst>
      <p:ext uri="{BB962C8B-B14F-4D97-AF65-F5344CB8AC3E}">
        <p14:creationId xmlns:p14="http://schemas.microsoft.com/office/powerpoint/2010/main" val="3996681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999F38A-EB91-E9E3-563B-65513F52BD3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B32D0E6-0443-11A8-57D6-EFE7B1C52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6D0AA46-5B3D-2B8D-46D5-AFD73D010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84637C-25AE-B5CB-6D0C-CBC5716C61DE}"/>
              </a:ext>
            </a:extLst>
          </p:cNvPr>
          <p:cNvSpPr>
            <a:spLocks noGrp="1"/>
          </p:cNvSpPr>
          <p:nvPr>
            <p:ph type="ctrTitle"/>
          </p:nvPr>
        </p:nvSpPr>
        <p:spPr>
          <a:xfrm>
            <a:off x="1524000" y="1122362"/>
            <a:ext cx="9144000" cy="2840037"/>
          </a:xfrm>
        </p:spPr>
        <p:txBody>
          <a:bodyPr>
            <a:normAutofit/>
          </a:bodyPr>
          <a:lstStyle/>
          <a:p>
            <a:r>
              <a:rPr lang="en-US" sz="5800" dirty="0"/>
              <a:t>Templates</a:t>
            </a:r>
            <a:br>
              <a:rPr lang="en-US" sz="5800" dirty="0"/>
            </a:br>
            <a:endParaRPr lang="en-US" sz="5800" dirty="0"/>
          </a:p>
        </p:txBody>
      </p:sp>
      <p:sp>
        <p:nvSpPr>
          <p:cNvPr id="3" name="Subtitle 2">
            <a:extLst>
              <a:ext uri="{FF2B5EF4-FFF2-40B4-BE49-F238E27FC236}">
                <a16:creationId xmlns:a16="http://schemas.microsoft.com/office/drawing/2014/main" id="{EA101BF0-F5B1-A319-D388-6881BC9226F8}"/>
              </a:ext>
            </a:extLst>
          </p:cNvPr>
          <p:cNvSpPr>
            <a:spLocks noGrp="1"/>
          </p:cNvSpPr>
          <p:nvPr>
            <p:ph type="subTitle" idx="1"/>
          </p:nvPr>
        </p:nvSpPr>
        <p:spPr>
          <a:xfrm>
            <a:off x="1524000" y="4256436"/>
            <a:ext cx="9144000" cy="1600818"/>
          </a:xfrm>
        </p:spPr>
        <p:txBody>
          <a:bodyPr>
            <a:normAutofit/>
          </a:bodyPr>
          <a:lstStyle/>
          <a:p>
            <a:r>
              <a:rPr lang="en-US" dirty="0"/>
              <a:t>x</a:t>
            </a:r>
          </a:p>
        </p:txBody>
      </p:sp>
      <p:cxnSp>
        <p:nvCxnSpPr>
          <p:cNvPr id="13" name="Straight Connector 12">
            <a:extLst>
              <a:ext uri="{FF2B5EF4-FFF2-40B4-BE49-F238E27FC236}">
                <a16:creationId xmlns:a16="http://schemas.microsoft.com/office/drawing/2014/main" id="{923C0D54-2263-7C4C-655C-C22AFC0A76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0D8F0B10-9062-81D1-7216-84D12B2FC2FB}"/>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Model of Nature</a:t>
            </a:r>
          </a:p>
        </p:txBody>
      </p:sp>
    </p:spTree>
    <p:extLst>
      <p:ext uri="{BB962C8B-B14F-4D97-AF65-F5344CB8AC3E}">
        <p14:creationId xmlns:p14="http://schemas.microsoft.com/office/powerpoint/2010/main" val="3312109013"/>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AFDF7AB9-4E99-9AC9-DD0C-666500A0F1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66EC84-EB86-F339-C75F-B8348ECCD862}"/>
              </a:ext>
            </a:extLst>
          </p:cNvPr>
          <p:cNvSpPr>
            <a:spLocks noGrp="1"/>
          </p:cNvSpPr>
          <p:nvPr>
            <p:ph type="title"/>
          </p:nvPr>
        </p:nvSpPr>
        <p:spPr>
          <a:xfrm>
            <a:off x="0" y="1"/>
            <a:ext cx="12191999" cy="914400"/>
          </a:xfrm>
        </p:spPr>
        <p:txBody>
          <a:bodyPr>
            <a:normAutofit/>
          </a:body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Template</a:t>
            </a:r>
          </a:p>
        </p:txBody>
      </p:sp>
      <p:sp>
        <p:nvSpPr>
          <p:cNvPr id="3" name="Content Placeholder 2">
            <a:extLst>
              <a:ext uri="{FF2B5EF4-FFF2-40B4-BE49-F238E27FC236}">
                <a16:creationId xmlns:a16="http://schemas.microsoft.com/office/drawing/2014/main" id="{8496C4EA-BEF4-448F-A476-B3756E8B768B}"/>
              </a:ext>
            </a:extLst>
          </p:cNvPr>
          <p:cNvSpPr>
            <a:spLocks noGrp="1"/>
          </p:cNvSpPr>
          <p:nvPr>
            <p:ph idx="1"/>
          </p:nvPr>
        </p:nvSpPr>
        <p:spPr>
          <a:xfrm>
            <a:off x="302028" y="1207567"/>
            <a:ext cx="11587942" cy="5311832"/>
          </a:xfrm>
        </p:spPr>
        <p:txBody>
          <a:bodyPr>
            <a:noAutofit/>
          </a:bodyPr>
          <a:lstStyle/>
          <a:p>
            <a:pPr>
              <a:lnSpc>
                <a:spcPct val="80000"/>
              </a:lnSpc>
            </a:pPr>
            <a:r>
              <a:rPr lang="en-US" sz="160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x</a:t>
            </a:r>
          </a:p>
        </p:txBody>
      </p:sp>
    </p:spTree>
    <p:extLst>
      <p:ext uri="{BB962C8B-B14F-4D97-AF65-F5344CB8AC3E}">
        <p14:creationId xmlns:p14="http://schemas.microsoft.com/office/powerpoint/2010/main" val="155232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8718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6DC4E2-E782-E730-A396-155E2F820F75}"/>
              </a:ext>
            </a:extLst>
          </p:cNvPr>
          <p:cNvPicPr>
            <a:picLocks noChangeAspect="1"/>
          </p:cNvPicPr>
          <p:nvPr/>
        </p:nvPicPr>
        <p:blipFill>
          <a:blip r:embed="rId2"/>
          <a:stretch>
            <a:fillRect/>
          </a:stretch>
        </p:blipFill>
        <p:spPr>
          <a:xfrm>
            <a:off x="2146601" y="652605"/>
            <a:ext cx="7772400" cy="5552789"/>
          </a:xfrm>
          <a:prstGeom prst="rect">
            <a:avLst/>
          </a:prstGeom>
        </p:spPr>
      </p:pic>
    </p:spTree>
    <p:extLst>
      <p:ext uri="{BB962C8B-B14F-4D97-AF65-F5344CB8AC3E}">
        <p14:creationId xmlns:p14="http://schemas.microsoft.com/office/powerpoint/2010/main" val="2788870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a:extLst>
            <a:ext uri="{FF2B5EF4-FFF2-40B4-BE49-F238E27FC236}">
              <a16:creationId xmlns:a16="http://schemas.microsoft.com/office/drawing/2014/main" id="{C3694E3F-C779-0000-DBBC-37529416EA4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81C5B004-319A-6E67-6482-73745ED10C89}"/>
              </a:ext>
            </a:extLst>
          </p:cNvPr>
          <p:cNvPicPr>
            <a:picLocks noChangeAspect="1"/>
          </p:cNvPicPr>
          <p:nvPr/>
        </p:nvPicPr>
        <p:blipFill>
          <a:blip r:embed="rId3"/>
          <a:stretch>
            <a:fillRect/>
          </a:stretch>
        </p:blipFill>
        <p:spPr>
          <a:xfrm>
            <a:off x="2536653" y="793820"/>
            <a:ext cx="6969088" cy="5748388"/>
          </a:xfrm>
          <a:prstGeom prst="rect">
            <a:avLst/>
          </a:prstGeom>
        </p:spPr>
      </p:pic>
      <p:cxnSp>
        <p:nvCxnSpPr>
          <p:cNvPr id="4" name="Straight Arrow Connector 3">
            <a:extLst>
              <a:ext uri="{FF2B5EF4-FFF2-40B4-BE49-F238E27FC236}">
                <a16:creationId xmlns:a16="http://schemas.microsoft.com/office/drawing/2014/main" id="{59E922BC-2830-E353-07AF-20905474140A}"/>
              </a:ext>
            </a:extLst>
          </p:cNvPr>
          <p:cNvCxnSpPr>
            <a:cxnSpLocks/>
          </p:cNvCxnSpPr>
          <p:nvPr/>
        </p:nvCxnSpPr>
        <p:spPr>
          <a:xfrm flipH="1">
            <a:off x="6521380" y="2773345"/>
            <a:ext cx="3607358" cy="1818752"/>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D6B828A3-72E5-D625-DA93-328648CCB0F1}"/>
              </a:ext>
            </a:extLst>
          </p:cNvPr>
          <p:cNvCxnSpPr>
            <a:cxnSpLocks/>
          </p:cNvCxnSpPr>
          <p:nvPr/>
        </p:nvCxnSpPr>
        <p:spPr>
          <a:xfrm flipH="1" flipV="1">
            <a:off x="7465925" y="1477108"/>
            <a:ext cx="2662813" cy="1296237"/>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5D4B6BFF-99FF-1DD5-7787-AAFCAB6AB8A5}"/>
              </a:ext>
            </a:extLst>
          </p:cNvPr>
          <p:cNvSpPr txBox="1">
            <a:spLocks/>
          </p:cNvSpPr>
          <p:nvPr/>
        </p:nvSpPr>
        <p:spPr>
          <a:xfrm>
            <a:off x="0" y="1"/>
            <a:ext cx="12191999" cy="9144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Colors for Article Comments and Highlights</a:t>
            </a:r>
          </a:p>
        </p:txBody>
      </p:sp>
      <p:cxnSp>
        <p:nvCxnSpPr>
          <p:cNvPr id="12" name="Straight Arrow Connector 11">
            <a:extLst>
              <a:ext uri="{FF2B5EF4-FFF2-40B4-BE49-F238E27FC236}">
                <a16:creationId xmlns:a16="http://schemas.microsoft.com/office/drawing/2014/main" id="{A72012AF-A493-1878-6BC4-C26479F07D81}"/>
              </a:ext>
            </a:extLst>
          </p:cNvPr>
          <p:cNvCxnSpPr>
            <a:cxnSpLocks/>
          </p:cNvCxnSpPr>
          <p:nvPr/>
        </p:nvCxnSpPr>
        <p:spPr>
          <a:xfrm>
            <a:off x="773724" y="6029011"/>
            <a:ext cx="2049864"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484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B9974D5-C673-2650-DE9A-7A718613E60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42508C9-3C18-24F6-B209-43EE6A3951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908781DA-CFBC-50BD-2D81-787CB121A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734" y="321733"/>
            <a:ext cx="11573488" cy="6214534"/>
          </a:xfrm>
          <a:prstGeom prst="rect">
            <a:avLst/>
          </a:prstGeom>
          <a:solidFill>
            <a:schemeClr val="bg1">
              <a:lumMod val="75000"/>
              <a:lumOff val="25000"/>
            </a:schemeClr>
          </a:solidFill>
          <a:ln w="127000" cap="sq" cmpd="thinThick">
            <a:solidFill>
              <a:schemeClr val="bg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F54231B-932F-53CF-1701-E2A46847C826}"/>
              </a:ext>
            </a:extLst>
          </p:cNvPr>
          <p:cNvSpPr>
            <a:spLocks noGrp="1"/>
          </p:cNvSpPr>
          <p:nvPr>
            <p:ph type="ctrTitle"/>
          </p:nvPr>
        </p:nvSpPr>
        <p:spPr>
          <a:xfrm>
            <a:off x="1524000" y="1122362"/>
            <a:ext cx="9144000" cy="2840037"/>
          </a:xfrm>
        </p:spPr>
        <p:txBody>
          <a:bodyPr>
            <a:normAutofit/>
          </a:bodyPr>
          <a:lstStyle/>
          <a:p>
            <a:r>
              <a:rPr lang="en-US" sz="5800" dirty="0"/>
              <a:t>Brainstorms Zone</a:t>
            </a:r>
          </a:p>
        </p:txBody>
      </p:sp>
      <p:cxnSp>
        <p:nvCxnSpPr>
          <p:cNvPr id="13" name="Straight Connector 12">
            <a:extLst>
              <a:ext uri="{FF2B5EF4-FFF2-40B4-BE49-F238E27FC236}">
                <a16:creationId xmlns:a16="http://schemas.microsoft.com/office/drawing/2014/main" id="{7CDCEC47-073C-831B-E31E-2595A55DDBF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4109417"/>
            <a:ext cx="2743200" cy="0"/>
          </a:xfrm>
          <a:prstGeom prst="line">
            <a:avLst/>
          </a:prstGeom>
          <a:ln w="12700">
            <a:solidFill>
              <a:schemeClr val="tx1">
                <a:lumMod val="85000"/>
              </a:schemeClr>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FD945E34-BE35-8E3E-B5E7-3EE7E57B9947}"/>
              </a:ext>
            </a:extLst>
          </p:cNvPr>
          <p:cNvSpPr>
            <a:spLocks noGrp="1"/>
          </p:cNvSpPr>
          <p:nvPr>
            <p:ph type="ftr" sz="quarter" idx="11"/>
          </p:nvPr>
        </p:nvSpPr>
        <p:spPr>
          <a:xfrm>
            <a:off x="4038600" y="6159710"/>
            <a:ext cx="4114800" cy="365125"/>
          </a:xfrm>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J Mark Morris – n</a:t>
            </a:r>
            <a:r>
              <a:rPr kumimoji="0" lang="en-US" sz="1200" b="0" i="0" u="none" strike="noStrike" kern="1200" cap="none" spc="0" normalizeH="0" baseline="0" noProof="0" dirty="0" err="1">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rPr>
              <a:t>eoclassical.ai</a:t>
            </a:r>
            <a:endParaRPr kumimoji="0" lang="en-US" sz="1200" b="0" i="0" u="none" strike="noStrike" kern="1200" cap="none" spc="0" normalizeH="0" baseline="0" noProof="0" dirty="0">
              <a:ln>
                <a:noFill/>
              </a:ln>
              <a:solidFill>
                <a:prstClr val="white">
                  <a:tint val="75000"/>
                </a:prstClr>
              </a:solidFill>
              <a:effectLst/>
              <a:uLnTx/>
              <a:uFillTx/>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371423634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wrap="none">
        <a:spAutoFit/>
      </a:bodyPr>
      <a:lstStyle>
        <a:defPPr algn="l">
          <a:defRPr sz="2400" dirty="0" smtClean="0">
            <a:latin typeface="Helvetica Neue" panose="02000503000000020004" pitchFamily="2" charset="0"/>
            <a:ea typeface="Helvetica Neue" panose="02000503000000020004" pitchFamily="2" charset="0"/>
            <a:cs typeface="Helvetica Neue" panose="02000503000000020004" pitchFamily="2" charset="0"/>
          </a:defRPr>
        </a:defPPr>
      </a:lstStyle>
    </a:spDef>
    <a:txDef>
      <a:spPr>
        <a:noFill/>
      </a:spPr>
      <a:bodyPr wrap="none" rtlCol="0">
        <a:spAutoFit/>
      </a:bodyPr>
      <a:lstStyle>
        <a:defPPr algn="l">
          <a:defRPr dirty="0" smtClean="0">
            <a:latin typeface="Helvetica Neue" panose="02000503000000020004" pitchFamily="2" charset="0"/>
            <a:ea typeface="Helvetica Neue" panose="02000503000000020004" pitchFamily="2" charset="0"/>
            <a:cs typeface="Helvetica Neue" panose="02000503000000020004" pitchFamily="2"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555</TotalTime>
  <Words>4573</Words>
  <Application>Microsoft Macintosh PowerPoint</Application>
  <PresentationFormat>Widescreen</PresentationFormat>
  <Paragraphs>412</Paragraphs>
  <Slides>28</Slides>
  <Notes>27</Notes>
  <HiddenSlides>0</HiddenSlides>
  <MMClips>2</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28</vt:i4>
      </vt:variant>
    </vt:vector>
  </HeadingPairs>
  <TitlesOfParts>
    <vt:vector size="38" baseType="lpstr">
      <vt:lpstr>Aptos</vt:lpstr>
      <vt:lpstr>Arial</vt:lpstr>
      <vt:lpstr>Calibri</vt:lpstr>
      <vt:lpstr>Calibri Light</vt:lpstr>
      <vt:lpstr>Helvetica Neue</vt:lpstr>
      <vt:lpstr>Helvetica Neue Condensed Black</vt:lpstr>
      <vt:lpstr>HELVETICA NEUE THIN</vt:lpstr>
      <vt:lpstr>HELVETICA NEUE THIN</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Imagine.  Visualize.  Represent.</vt:lpstr>
      <vt:lpstr>Queue </vt:lpstr>
      <vt:lpstr>PowerPoint Presentation</vt:lpstr>
      <vt:lpstr>PowerPoint Presentation</vt:lpstr>
      <vt:lpstr>PowerPoint Presentation</vt:lpstr>
      <vt:lpstr>PowerPoint Presentation</vt:lpstr>
      <vt:lpstr>PowerPoint Presentation</vt:lpstr>
      <vt:lpstr>PowerPoint Presentation</vt:lpstr>
      <vt:lpstr>Templates </vt:lpstr>
      <vt:lpstr>Template</vt:lpstr>
      <vt:lpstr>PowerPoint Presentation</vt:lpstr>
      <vt:lpstr>PowerPoint Presentation</vt:lpstr>
      <vt:lpstr>PowerPoint Presentation</vt:lpstr>
      <vt:lpstr>Brainstorms Zone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Morris</dc:creator>
  <cp:lastModifiedBy>Mark Morris</cp:lastModifiedBy>
  <cp:revision>47</cp:revision>
  <dcterms:created xsi:type="dcterms:W3CDTF">2024-02-19T20:51:27Z</dcterms:created>
  <dcterms:modified xsi:type="dcterms:W3CDTF">2025-01-01T02:25:28Z</dcterms:modified>
</cp:coreProperties>
</file>