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4" r:id="rId2"/>
  </p:sldMasterIdLst>
  <p:notesMasterIdLst>
    <p:notesMasterId r:id="rId19"/>
  </p:notesMasterIdLst>
  <p:sldIdLst>
    <p:sldId id="808" r:id="rId3"/>
    <p:sldId id="625" r:id="rId4"/>
    <p:sldId id="813" r:id="rId5"/>
    <p:sldId id="814" r:id="rId6"/>
    <p:sldId id="815" r:id="rId7"/>
    <p:sldId id="816" r:id="rId8"/>
    <p:sldId id="817" r:id="rId9"/>
    <p:sldId id="819" r:id="rId10"/>
    <p:sldId id="823" r:id="rId11"/>
    <p:sldId id="770" r:id="rId12"/>
    <p:sldId id="382" r:id="rId13"/>
    <p:sldId id="820" r:id="rId14"/>
    <p:sldId id="821" r:id="rId15"/>
    <p:sldId id="822" r:id="rId16"/>
    <p:sldId id="824" r:id="rId17"/>
    <p:sldId id="82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85FF"/>
    <a:srgbClr val="FF8AD8"/>
    <a:srgbClr val="FF7E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4568"/>
    <p:restoredTop sz="97363"/>
  </p:normalViewPr>
  <p:slideViewPr>
    <p:cSldViewPr snapToGrid="0" snapToObjects="1">
      <p:cViewPr varScale="1">
        <p:scale>
          <a:sx n="184" d="100"/>
          <a:sy n="184" d="100"/>
        </p:scale>
        <p:origin x="760" y="480"/>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BDA440-6FDE-5E41-BA40-A3C0E02BAB9F}" type="datetimeFigureOut">
              <a:rPr lang="en-US" smtClean="0"/>
              <a:t>1/8/26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C398A3-AF21-A342-B6A8-6929C36BB1BF}" type="slidenum">
              <a:rPr lang="en-US" smtClean="0"/>
              <a:t>‹#›</a:t>
            </a:fld>
            <a:endParaRPr lang="en-US"/>
          </a:p>
        </p:txBody>
      </p:sp>
    </p:spTree>
    <p:extLst>
      <p:ext uri="{BB962C8B-B14F-4D97-AF65-F5344CB8AC3E}">
        <p14:creationId xmlns:p14="http://schemas.microsoft.com/office/powerpoint/2010/main" val="33688699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Welcome to this episode of Emergent Nature. </a:t>
            </a:r>
          </a:p>
          <a:p>
            <a:endParaRPr lang="en-US" dirty="0"/>
          </a:p>
          <a:p>
            <a:r>
              <a:rPr lang="en-US" dirty="0"/>
              <a:t>My name is J Mark Morris. I go by Mark.</a:t>
            </a:r>
          </a:p>
          <a:p>
            <a:endParaRPr lang="en-US" dirty="0"/>
          </a:p>
          <a:p>
            <a:r>
              <a:rPr lang="en-US" dirty="0"/>
              <a:t>In this episode I’ll discuss the error that caused science to go off track into general relativity and quantum mechanics.</a:t>
            </a:r>
          </a:p>
          <a:p>
            <a:endParaRPr lang="en-US" dirty="0"/>
          </a:p>
          <a:p>
            <a:r>
              <a:rPr lang="en-US" dirty="0"/>
              <a:t>That may seem like an unusual thing to say, since general relativity and quantum theory are generally considered to be successful effective theories.</a:t>
            </a:r>
          </a:p>
          <a:p>
            <a:endParaRPr lang="en-US" dirty="0"/>
          </a:p>
          <a:p>
            <a:r>
              <a:rPr lang="en-US" dirty="0"/>
              <a:t>However, as we will see, an error circa 1900 threw science off track.</a:t>
            </a:r>
          </a:p>
          <a:p>
            <a:endParaRPr lang="en-US" dirty="0"/>
          </a:p>
          <a:p>
            <a:r>
              <a:rPr lang="en-US" dirty="0"/>
              <a:t>There is a parsimonious solution to nature.</a:t>
            </a: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8013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D4D731-5435-284A-9C82-866A0CCE75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605773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D4D731-5435-284A-9C82-866A0CCE75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419707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D4D731-5435-284A-9C82-866A0CCE75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311614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D4D731-5435-284A-9C82-866A0CCE75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008798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D4D731-5435-284A-9C82-866A0CCE75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485805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D4D731-5435-284A-9C82-866A0CCE75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311945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D4D731-5435-284A-9C82-866A0CCE75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259270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94197-89E8-2030-4FE5-7FD2AD81DD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21E753-2AFD-4A2C-BBDA-E380BD44B2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93C950-F267-716F-4681-00FAF0EABB3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22A272-E14D-91E2-EB99-1911F07D9C5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962340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069187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8D77B-40A0-C9E7-950C-59D2CD87AA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3C896A-6F42-C31A-C146-A88D6A70B2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DE1070-08E4-CAA9-B677-A6415AABB3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6E0F15-D53F-18A5-2ED9-C40E9EC5F30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096452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4D3F2-498E-1951-C22B-71743FA269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941038-604E-ABD1-47FB-A51EE85BB4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BCD57B-23F0-2C39-8863-D1468F5BB0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4F8181D-540B-3BBE-E382-BCFB73A363B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669394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DC802-5870-14FE-A995-AEEE34539E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350248-307E-9820-6C19-91B4F8ABA5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66F0C3-280B-291D-6FF8-1ED30F80706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2D374A-62B0-0123-0C4D-0D7FC709C0E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601457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B70E8-E8A3-628F-0CFC-C1359D33A3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5FB820-B77D-6A57-9856-F0AF52BFAD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74CA41-1F30-C3D4-EF30-CE88E2F6FC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01C2ED9-168A-2BE6-E954-2C420744262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9551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DFF647-B513-8985-D124-64E634D007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F50C6C-CC32-74BF-6DF9-0F5E02C5D7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18805E-07A4-EABE-064F-F83A89F23C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0FEC9AF-9433-3974-E122-9747BABEA03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604880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BB3A9-9E4D-1B45-B3D5-CA3715227F3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14A437C-6978-EF42-B683-287B0BCC68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2736A90-6A63-474E-AE00-47FF46C1C73E}"/>
              </a:ext>
            </a:extLst>
          </p:cNvPr>
          <p:cNvSpPr>
            <a:spLocks noGrp="1"/>
          </p:cNvSpPr>
          <p:nvPr>
            <p:ph type="dt" sz="half" idx="10"/>
          </p:nvPr>
        </p:nvSpPr>
        <p:spPr/>
        <p:txBody>
          <a:bodyPr/>
          <a:lstStyle/>
          <a:p>
            <a:fld id="{CB70D3E6-D921-5B44-AC8D-B7FDAFC8A532}" type="datetimeFigureOut">
              <a:rPr lang="en-US" smtClean="0"/>
              <a:t>1/8/26</a:t>
            </a:fld>
            <a:endParaRPr lang="en-US"/>
          </a:p>
        </p:txBody>
      </p:sp>
      <p:sp>
        <p:nvSpPr>
          <p:cNvPr id="5" name="Footer Placeholder 4">
            <a:extLst>
              <a:ext uri="{FF2B5EF4-FFF2-40B4-BE49-F238E27FC236}">
                <a16:creationId xmlns:a16="http://schemas.microsoft.com/office/drawing/2014/main" id="{1D9A6875-C7C8-8141-9B12-87599614E5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FF87BB-FFE9-4F4E-9787-48475824CC8E}"/>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14085953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67A8A-0845-AD47-90A8-18776E7495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685297E-D5E0-6745-91A9-52029EE302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79309D-6084-C74B-884A-230D6CFAC619}"/>
              </a:ext>
            </a:extLst>
          </p:cNvPr>
          <p:cNvSpPr>
            <a:spLocks noGrp="1"/>
          </p:cNvSpPr>
          <p:nvPr>
            <p:ph type="dt" sz="half" idx="10"/>
          </p:nvPr>
        </p:nvSpPr>
        <p:spPr/>
        <p:txBody>
          <a:bodyPr/>
          <a:lstStyle/>
          <a:p>
            <a:fld id="{CB70D3E6-D921-5B44-AC8D-B7FDAFC8A532}" type="datetimeFigureOut">
              <a:rPr lang="en-US" smtClean="0"/>
              <a:t>1/8/26</a:t>
            </a:fld>
            <a:endParaRPr lang="en-US"/>
          </a:p>
        </p:txBody>
      </p:sp>
      <p:sp>
        <p:nvSpPr>
          <p:cNvPr id="5" name="Footer Placeholder 4">
            <a:extLst>
              <a:ext uri="{FF2B5EF4-FFF2-40B4-BE49-F238E27FC236}">
                <a16:creationId xmlns:a16="http://schemas.microsoft.com/office/drawing/2014/main" id="{0F105DDE-4455-5940-ADF4-C579F78A20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064C6E-4C44-A641-B028-04035B812AA6}"/>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35766539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5E37A-D8BF-D64A-8216-7ABA6C58364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F406964-1DAB-F14D-8D48-DEDCBF19514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BED9634-1414-224C-B6B9-3F0D98D672C3}"/>
              </a:ext>
            </a:extLst>
          </p:cNvPr>
          <p:cNvSpPr>
            <a:spLocks noGrp="1"/>
          </p:cNvSpPr>
          <p:nvPr>
            <p:ph type="dt" sz="half" idx="10"/>
          </p:nvPr>
        </p:nvSpPr>
        <p:spPr/>
        <p:txBody>
          <a:bodyPr/>
          <a:lstStyle/>
          <a:p>
            <a:fld id="{CB70D3E6-D921-5B44-AC8D-B7FDAFC8A532}" type="datetimeFigureOut">
              <a:rPr lang="en-US" smtClean="0"/>
              <a:t>1/8/26</a:t>
            </a:fld>
            <a:endParaRPr lang="en-US"/>
          </a:p>
        </p:txBody>
      </p:sp>
      <p:sp>
        <p:nvSpPr>
          <p:cNvPr id="5" name="Footer Placeholder 4">
            <a:extLst>
              <a:ext uri="{FF2B5EF4-FFF2-40B4-BE49-F238E27FC236}">
                <a16:creationId xmlns:a16="http://schemas.microsoft.com/office/drawing/2014/main" id="{A8157A06-C042-C649-8823-09CD9E4923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B72125-B186-EA4F-87C1-D421E15E6F0E}"/>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26612503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A32C6-604D-5245-AF13-1117649C05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F3D95E-DB7F-8741-AA7E-E9FECF96C0F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A4FF041-1EE3-1840-9A00-F30BE067B99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1E2B0A9-40F9-DB4D-BDC1-10F58EBA8438}"/>
              </a:ext>
            </a:extLst>
          </p:cNvPr>
          <p:cNvSpPr>
            <a:spLocks noGrp="1"/>
          </p:cNvSpPr>
          <p:nvPr>
            <p:ph type="dt" sz="half" idx="10"/>
          </p:nvPr>
        </p:nvSpPr>
        <p:spPr/>
        <p:txBody>
          <a:bodyPr/>
          <a:lstStyle/>
          <a:p>
            <a:fld id="{CB70D3E6-D921-5B44-AC8D-B7FDAFC8A532}" type="datetimeFigureOut">
              <a:rPr lang="en-US" smtClean="0"/>
              <a:t>1/8/26</a:t>
            </a:fld>
            <a:endParaRPr lang="en-US"/>
          </a:p>
        </p:txBody>
      </p:sp>
      <p:sp>
        <p:nvSpPr>
          <p:cNvPr id="6" name="Footer Placeholder 5">
            <a:extLst>
              <a:ext uri="{FF2B5EF4-FFF2-40B4-BE49-F238E27FC236}">
                <a16:creationId xmlns:a16="http://schemas.microsoft.com/office/drawing/2014/main" id="{4D45749E-ED3B-3643-8D22-DA2D88FFDE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24183C9-D2C9-CE44-B58B-ACE8898D0D03}"/>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10645420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A45A6-44FE-3848-88E8-5552DDC45A9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EDC7C1F-E9B4-4E48-ACFC-DC65D661790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7CFE821-3558-AB4C-948F-6C6990D1473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74632-D045-5A44-BB14-E3D5737A296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8E5E05E-D502-E74B-91AF-BB193D328CC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B03287E-662E-F54F-9162-3F755DD60CA2}"/>
              </a:ext>
            </a:extLst>
          </p:cNvPr>
          <p:cNvSpPr>
            <a:spLocks noGrp="1"/>
          </p:cNvSpPr>
          <p:nvPr>
            <p:ph type="dt" sz="half" idx="10"/>
          </p:nvPr>
        </p:nvSpPr>
        <p:spPr/>
        <p:txBody>
          <a:bodyPr/>
          <a:lstStyle/>
          <a:p>
            <a:fld id="{CB70D3E6-D921-5B44-AC8D-B7FDAFC8A532}" type="datetimeFigureOut">
              <a:rPr lang="en-US" smtClean="0"/>
              <a:t>1/8/26</a:t>
            </a:fld>
            <a:endParaRPr lang="en-US"/>
          </a:p>
        </p:txBody>
      </p:sp>
      <p:sp>
        <p:nvSpPr>
          <p:cNvPr id="8" name="Footer Placeholder 7">
            <a:extLst>
              <a:ext uri="{FF2B5EF4-FFF2-40B4-BE49-F238E27FC236}">
                <a16:creationId xmlns:a16="http://schemas.microsoft.com/office/drawing/2014/main" id="{B68BB5FE-E651-1B4F-8E93-FD794E8A5E6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DAAD7C8-64AF-684B-98B6-D6D6714A29C1}"/>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10795722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DC2D9-851F-F94A-83EC-CAB57992066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F3BF4D5-34AD-5A43-853F-006AD601FD76}"/>
              </a:ext>
            </a:extLst>
          </p:cNvPr>
          <p:cNvSpPr>
            <a:spLocks noGrp="1"/>
          </p:cNvSpPr>
          <p:nvPr>
            <p:ph type="dt" sz="half" idx="10"/>
          </p:nvPr>
        </p:nvSpPr>
        <p:spPr/>
        <p:txBody>
          <a:bodyPr/>
          <a:lstStyle/>
          <a:p>
            <a:fld id="{CB70D3E6-D921-5B44-AC8D-B7FDAFC8A532}" type="datetimeFigureOut">
              <a:rPr lang="en-US" smtClean="0"/>
              <a:t>1/8/26</a:t>
            </a:fld>
            <a:endParaRPr lang="en-US"/>
          </a:p>
        </p:txBody>
      </p:sp>
      <p:sp>
        <p:nvSpPr>
          <p:cNvPr id="4" name="Footer Placeholder 3">
            <a:extLst>
              <a:ext uri="{FF2B5EF4-FFF2-40B4-BE49-F238E27FC236}">
                <a16:creationId xmlns:a16="http://schemas.microsoft.com/office/drawing/2014/main" id="{67670C52-9CA4-AB4F-957A-7AAD4E25932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A441625-0652-EB4F-8E04-6C9011365173}"/>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27553061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5592881-FA37-DD45-860A-EA6B38C3108A}"/>
              </a:ext>
            </a:extLst>
          </p:cNvPr>
          <p:cNvSpPr>
            <a:spLocks noGrp="1"/>
          </p:cNvSpPr>
          <p:nvPr>
            <p:ph type="dt" sz="half" idx="10"/>
          </p:nvPr>
        </p:nvSpPr>
        <p:spPr/>
        <p:txBody>
          <a:bodyPr/>
          <a:lstStyle/>
          <a:p>
            <a:fld id="{CB70D3E6-D921-5B44-AC8D-B7FDAFC8A532}" type="datetimeFigureOut">
              <a:rPr lang="en-US" smtClean="0"/>
              <a:t>1/8/26</a:t>
            </a:fld>
            <a:endParaRPr lang="en-US"/>
          </a:p>
        </p:txBody>
      </p:sp>
      <p:sp>
        <p:nvSpPr>
          <p:cNvPr id="3" name="Footer Placeholder 2">
            <a:extLst>
              <a:ext uri="{FF2B5EF4-FFF2-40B4-BE49-F238E27FC236}">
                <a16:creationId xmlns:a16="http://schemas.microsoft.com/office/drawing/2014/main" id="{A4652DC6-52F3-8040-8665-17D023390D4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E9CEF52-EC52-6C42-81BD-397B5CE038F7}"/>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29207346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60788-9DB9-6745-96CF-A7A1862275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0E3299F-D119-D449-BD57-1CE490CB51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A3BB0FB-61B4-DC45-9D1E-63F99E6ABC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F87701-43E6-A248-ABD9-E1C49D62242F}"/>
              </a:ext>
            </a:extLst>
          </p:cNvPr>
          <p:cNvSpPr>
            <a:spLocks noGrp="1"/>
          </p:cNvSpPr>
          <p:nvPr>
            <p:ph type="dt" sz="half" idx="10"/>
          </p:nvPr>
        </p:nvSpPr>
        <p:spPr/>
        <p:txBody>
          <a:bodyPr/>
          <a:lstStyle/>
          <a:p>
            <a:fld id="{CB70D3E6-D921-5B44-AC8D-B7FDAFC8A532}" type="datetimeFigureOut">
              <a:rPr lang="en-US" smtClean="0"/>
              <a:t>1/8/26</a:t>
            </a:fld>
            <a:endParaRPr lang="en-US"/>
          </a:p>
        </p:txBody>
      </p:sp>
      <p:sp>
        <p:nvSpPr>
          <p:cNvPr id="6" name="Footer Placeholder 5">
            <a:extLst>
              <a:ext uri="{FF2B5EF4-FFF2-40B4-BE49-F238E27FC236}">
                <a16:creationId xmlns:a16="http://schemas.microsoft.com/office/drawing/2014/main" id="{DFD6954C-9DFB-264A-A710-D12E71DB3A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188770-2503-8F4E-AFC6-6941CC59F7C1}"/>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32256891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3FF65-890A-1A47-B873-C56E2C7DF2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D05E9CE-538C-294A-A814-80A50548B20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33C7C9D-B309-CF46-90D8-B95DD6C2DC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97CA5D-F1C9-604D-83E1-2E60AE6E200D}"/>
              </a:ext>
            </a:extLst>
          </p:cNvPr>
          <p:cNvSpPr>
            <a:spLocks noGrp="1"/>
          </p:cNvSpPr>
          <p:nvPr>
            <p:ph type="dt" sz="half" idx="10"/>
          </p:nvPr>
        </p:nvSpPr>
        <p:spPr/>
        <p:txBody>
          <a:bodyPr/>
          <a:lstStyle/>
          <a:p>
            <a:fld id="{CB70D3E6-D921-5B44-AC8D-B7FDAFC8A532}" type="datetimeFigureOut">
              <a:rPr lang="en-US" smtClean="0"/>
              <a:t>1/8/26</a:t>
            </a:fld>
            <a:endParaRPr lang="en-US"/>
          </a:p>
        </p:txBody>
      </p:sp>
      <p:sp>
        <p:nvSpPr>
          <p:cNvPr id="6" name="Footer Placeholder 5">
            <a:extLst>
              <a:ext uri="{FF2B5EF4-FFF2-40B4-BE49-F238E27FC236}">
                <a16:creationId xmlns:a16="http://schemas.microsoft.com/office/drawing/2014/main" id="{BC9BE16D-FB3D-AA41-B06D-73A0FCDFBA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19839D-F44C-4B47-9DFE-D154851F5510}"/>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41161827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5DFD1-B5EF-8445-B336-8B2E596E207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086E7C-46AA-9440-8F1F-C1AD5E8EC23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762E40-F60A-404F-9DB3-AC863A0E0847}"/>
              </a:ext>
            </a:extLst>
          </p:cNvPr>
          <p:cNvSpPr>
            <a:spLocks noGrp="1"/>
          </p:cNvSpPr>
          <p:nvPr>
            <p:ph type="dt" sz="half" idx="10"/>
          </p:nvPr>
        </p:nvSpPr>
        <p:spPr/>
        <p:txBody>
          <a:bodyPr/>
          <a:lstStyle/>
          <a:p>
            <a:fld id="{CB70D3E6-D921-5B44-AC8D-B7FDAFC8A532}" type="datetimeFigureOut">
              <a:rPr lang="en-US" smtClean="0"/>
              <a:t>1/8/26</a:t>
            </a:fld>
            <a:endParaRPr lang="en-US"/>
          </a:p>
        </p:txBody>
      </p:sp>
      <p:sp>
        <p:nvSpPr>
          <p:cNvPr id="5" name="Footer Placeholder 4">
            <a:extLst>
              <a:ext uri="{FF2B5EF4-FFF2-40B4-BE49-F238E27FC236}">
                <a16:creationId xmlns:a16="http://schemas.microsoft.com/office/drawing/2014/main" id="{156ABF7D-A207-9243-8354-69D0FCFAAC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C5599E-5B81-624B-A60C-D22AF58B66FB}"/>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1721477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64BC040-CE85-6347-809B-760E676EF4C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07DD51C-FD4B-524F-8054-62599D261A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E9F735-3187-1341-AE2A-1316DEDA7CE8}"/>
              </a:ext>
            </a:extLst>
          </p:cNvPr>
          <p:cNvSpPr>
            <a:spLocks noGrp="1"/>
          </p:cNvSpPr>
          <p:nvPr>
            <p:ph type="dt" sz="half" idx="10"/>
          </p:nvPr>
        </p:nvSpPr>
        <p:spPr/>
        <p:txBody>
          <a:bodyPr/>
          <a:lstStyle/>
          <a:p>
            <a:fld id="{CB70D3E6-D921-5B44-AC8D-B7FDAFC8A532}" type="datetimeFigureOut">
              <a:rPr lang="en-US" smtClean="0"/>
              <a:t>1/8/26</a:t>
            </a:fld>
            <a:endParaRPr lang="en-US"/>
          </a:p>
        </p:txBody>
      </p:sp>
      <p:sp>
        <p:nvSpPr>
          <p:cNvPr id="5" name="Footer Placeholder 4">
            <a:extLst>
              <a:ext uri="{FF2B5EF4-FFF2-40B4-BE49-F238E27FC236}">
                <a16:creationId xmlns:a16="http://schemas.microsoft.com/office/drawing/2014/main" id="{D08F8F3D-1D9D-EF45-9F9C-E682715F66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FDF4D4-99B2-C24C-BCFF-B3AB3F96C740}"/>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20637274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C2668-EBEB-AE41-BF76-89062B014B13}"/>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C8C28A4C-0805-8E44-B54E-3B6F671F8D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93B74C2-6265-7F41-BB8F-D8A0A0C89A63}"/>
              </a:ext>
            </a:extLst>
          </p:cNvPr>
          <p:cNvSpPr>
            <a:spLocks noGrp="1"/>
          </p:cNvSpPr>
          <p:nvPr>
            <p:ph type="dt" sz="half" idx="10"/>
          </p:nvPr>
        </p:nvSpPr>
        <p:spPr/>
        <p:txBody>
          <a:bodyPr/>
          <a:lstStyle/>
          <a:p>
            <a:fld id="{B1CFC895-F8E0-4049-8BEE-E5499394E46C}" type="datetime1">
              <a:rPr lang="en-US" smtClean="0"/>
              <a:t>1/8/26</a:t>
            </a:fld>
            <a:endParaRPr lang="en-US"/>
          </a:p>
        </p:txBody>
      </p:sp>
      <p:sp>
        <p:nvSpPr>
          <p:cNvPr id="5" name="Footer Placeholder 4">
            <a:extLst>
              <a:ext uri="{FF2B5EF4-FFF2-40B4-BE49-F238E27FC236}">
                <a16:creationId xmlns:a16="http://schemas.microsoft.com/office/drawing/2014/main" id="{74C53590-4180-6C42-A6BF-707655C15A1D}"/>
              </a:ext>
            </a:extLst>
          </p:cNvPr>
          <p:cNvSpPr>
            <a:spLocks noGrp="1"/>
          </p:cNvSpPr>
          <p:nvPr>
            <p:ph type="ftr" sz="quarter" idx="11"/>
          </p:nvPr>
        </p:nvSpPr>
        <p:spPr/>
        <p:txBody>
          <a:bodyPr/>
          <a:lstStyle>
            <a:lvl1pPr>
              <a:defRPr/>
            </a:lvl1pPr>
          </a:lstStyle>
          <a:p>
            <a:r>
              <a:rPr lang="en-US"/>
              <a:t>J Mark Morris - Model of Nature - April 2019</a:t>
            </a:r>
          </a:p>
        </p:txBody>
      </p:sp>
      <p:sp>
        <p:nvSpPr>
          <p:cNvPr id="6" name="Slide Number Placeholder 5">
            <a:extLst>
              <a:ext uri="{FF2B5EF4-FFF2-40B4-BE49-F238E27FC236}">
                <a16:creationId xmlns:a16="http://schemas.microsoft.com/office/drawing/2014/main" id="{93A81401-8545-2D4E-A7FB-31AFC7A8DB71}"/>
              </a:ext>
            </a:extLst>
          </p:cNvPr>
          <p:cNvSpPr>
            <a:spLocks noGrp="1"/>
          </p:cNvSpPr>
          <p:nvPr>
            <p:ph type="sldNum" sz="quarter" idx="12"/>
          </p:nvPr>
        </p:nvSpPr>
        <p:spPr/>
        <p:txBody>
          <a:bodyPr/>
          <a:lstStyle/>
          <a:p>
            <a:fld id="{D73D4D4B-2FF7-BE46-958C-B004BD45EF6F}" type="slidenum">
              <a:rPr lang="en-US" smtClean="0"/>
              <a:t>‹#›</a:t>
            </a:fld>
            <a:endParaRPr lang="en-US"/>
          </a:p>
        </p:txBody>
      </p:sp>
    </p:spTree>
    <p:extLst>
      <p:ext uri="{BB962C8B-B14F-4D97-AF65-F5344CB8AC3E}">
        <p14:creationId xmlns:p14="http://schemas.microsoft.com/office/powerpoint/2010/main" val="33729169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560F9-C770-5C4C-9C93-102EC332DBA4}"/>
              </a:ext>
            </a:extLst>
          </p:cNvPr>
          <p:cNvSpPr>
            <a:spLocks noGrp="1"/>
          </p:cNvSpPr>
          <p:nvPr>
            <p:ph type="title"/>
          </p:nvPr>
        </p:nvSpPr>
        <p:spPr>
          <a:xfrm>
            <a:off x="838200" y="365125"/>
            <a:ext cx="10515600" cy="777875"/>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0D38EDA-56F1-1C40-B81E-28B921C4E99F}"/>
              </a:ext>
            </a:extLst>
          </p:cNvPr>
          <p:cNvSpPr>
            <a:spLocks noGrp="1"/>
          </p:cNvSpPr>
          <p:nvPr>
            <p:ph idx="1"/>
          </p:nvPr>
        </p:nvSpPr>
        <p:spPr>
          <a:xfrm>
            <a:off x="838200" y="1295400"/>
            <a:ext cx="10515600" cy="488156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AD42772-5D80-F641-A1BB-6048573C4E88}"/>
              </a:ext>
            </a:extLst>
          </p:cNvPr>
          <p:cNvSpPr>
            <a:spLocks noGrp="1"/>
          </p:cNvSpPr>
          <p:nvPr>
            <p:ph type="dt" sz="half" idx="10"/>
          </p:nvPr>
        </p:nvSpPr>
        <p:spPr/>
        <p:txBody>
          <a:bodyPr/>
          <a:lstStyle/>
          <a:p>
            <a:fld id="{A91F55E2-A889-F24B-B1FE-1E878178F308}" type="datetime1">
              <a:rPr lang="en-US" smtClean="0"/>
              <a:t>1/8/26</a:t>
            </a:fld>
            <a:endParaRPr lang="en-US"/>
          </a:p>
        </p:txBody>
      </p:sp>
      <p:sp>
        <p:nvSpPr>
          <p:cNvPr id="5" name="Footer Placeholder 4">
            <a:extLst>
              <a:ext uri="{FF2B5EF4-FFF2-40B4-BE49-F238E27FC236}">
                <a16:creationId xmlns:a16="http://schemas.microsoft.com/office/drawing/2014/main" id="{C68FC4AF-90CF-484C-B6C7-5CE1A016FB49}"/>
              </a:ext>
            </a:extLst>
          </p:cNvPr>
          <p:cNvSpPr>
            <a:spLocks noGrp="1"/>
          </p:cNvSpPr>
          <p:nvPr>
            <p:ph type="ftr" sz="quarter" idx="11"/>
          </p:nvPr>
        </p:nvSpPr>
        <p:spPr/>
        <p:txBody>
          <a:bodyPr/>
          <a:lstStyle/>
          <a:p>
            <a:r>
              <a:rPr lang="en-US"/>
              <a:t>J Mark Morris - Model of Nature - April 2019</a:t>
            </a:r>
          </a:p>
        </p:txBody>
      </p:sp>
      <p:sp>
        <p:nvSpPr>
          <p:cNvPr id="6" name="Slide Number Placeholder 5">
            <a:extLst>
              <a:ext uri="{FF2B5EF4-FFF2-40B4-BE49-F238E27FC236}">
                <a16:creationId xmlns:a16="http://schemas.microsoft.com/office/drawing/2014/main" id="{8169AF1E-33D8-3041-A601-1384C718A8B5}"/>
              </a:ext>
            </a:extLst>
          </p:cNvPr>
          <p:cNvSpPr>
            <a:spLocks noGrp="1"/>
          </p:cNvSpPr>
          <p:nvPr>
            <p:ph type="sldNum" sz="quarter" idx="12"/>
          </p:nvPr>
        </p:nvSpPr>
        <p:spPr/>
        <p:txBody>
          <a:bodyPr/>
          <a:lstStyle/>
          <a:p>
            <a:fld id="{D73D4D4B-2FF7-BE46-958C-B004BD45EF6F}" type="slidenum">
              <a:rPr lang="en-US" smtClean="0"/>
              <a:t>‹#›</a:t>
            </a:fld>
            <a:endParaRPr lang="en-US"/>
          </a:p>
        </p:txBody>
      </p:sp>
    </p:spTree>
    <p:extLst>
      <p:ext uri="{BB962C8B-B14F-4D97-AF65-F5344CB8AC3E}">
        <p14:creationId xmlns:p14="http://schemas.microsoft.com/office/powerpoint/2010/main" val="4971399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1822D-6D7A-1342-98EF-890C6F2DA174}"/>
              </a:ext>
            </a:extLst>
          </p:cNvPr>
          <p:cNvSpPr>
            <a:spLocks noGrp="1"/>
          </p:cNvSpPr>
          <p:nvPr>
            <p:ph type="title"/>
          </p:nvPr>
        </p:nvSpPr>
        <p:spPr>
          <a:xfrm>
            <a:off x="838200" y="365125"/>
            <a:ext cx="10515600" cy="777875"/>
          </a:xfrm>
        </p:spPr>
        <p:txBody>
          <a:bodyPr/>
          <a:lstStyle/>
          <a:p>
            <a:r>
              <a:rPr lang="en-US"/>
              <a:t>Click to edit Master title style</a:t>
            </a:r>
          </a:p>
        </p:txBody>
      </p:sp>
      <p:sp>
        <p:nvSpPr>
          <p:cNvPr id="3" name="Date Placeholder 2">
            <a:extLst>
              <a:ext uri="{FF2B5EF4-FFF2-40B4-BE49-F238E27FC236}">
                <a16:creationId xmlns:a16="http://schemas.microsoft.com/office/drawing/2014/main" id="{74CF19EA-9170-5B4B-814F-7425C8E22823}"/>
              </a:ext>
            </a:extLst>
          </p:cNvPr>
          <p:cNvSpPr>
            <a:spLocks noGrp="1"/>
          </p:cNvSpPr>
          <p:nvPr>
            <p:ph type="dt" sz="half" idx="10"/>
          </p:nvPr>
        </p:nvSpPr>
        <p:spPr/>
        <p:txBody>
          <a:bodyPr/>
          <a:lstStyle/>
          <a:p>
            <a:fld id="{C6E8461C-3391-334C-9885-001B32D724C4}" type="datetime1">
              <a:rPr lang="en-US" smtClean="0"/>
              <a:t>1/8/26</a:t>
            </a:fld>
            <a:endParaRPr lang="en-US"/>
          </a:p>
        </p:txBody>
      </p:sp>
      <p:sp>
        <p:nvSpPr>
          <p:cNvPr id="4" name="Footer Placeholder 3">
            <a:extLst>
              <a:ext uri="{FF2B5EF4-FFF2-40B4-BE49-F238E27FC236}">
                <a16:creationId xmlns:a16="http://schemas.microsoft.com/office/drawing/2014/main" id="{5882B1FB-ECDF-AD43-9020-0267ED91C04E}"/>
              </a:ext>
            </a:extLst>
          </p:cNvPr>
          <p:cNvSpPr>
            <a:spLocks noGrp="1"/>
          </p:cNvSpPr>
          <p:nvPr>
            <p:ph type="ftr" sz="quarter" idx="11"/>
          </p:nvPr>
        </p:nvSpPr>
        <p:spPr/>
        <p:txBody>
          <a:bodyPr/>
          <a:lstStyle>
            <a:lvl1pPr>
              <a:defRPr/>
            </a:lvl1pPr>
          </a:lstStyle>
          <a:p>
            <a:r>
              <a:rPr lang="en-US"/>
              <a:t>J Mark Morris - Model of Nature - April 2019</a:t>
            </a:r>
          </a:p>
        </p:txBody>
      </p:sp>
      <p:sp>
        <p:nvSpPr>
          <p:cNvPr id="5" name="Slide Number Placeholder 4">
            <a:extLst>
              <a:ext uri="{FF2B5EF4-FFF2-40B4-BE49-F238E27FC236}">
                <a16:creationId xmlns:a16="http://schemas.microsoft.com/office/drawing/2014/main" id="{D949C470-5AF0-5246-81E7-95EAEE5639EF}"/>
              </a:ext>
            </a:extLst>
          </p:cNvPr>
          <p:cNvSpPr>
            <a:spLocks noGrp="1"/>
          </p:cNvSpPr>
          <p:nvPr>
            <p:ph type="sldNum" sz="quarter" idx="12"/>
          </p:nvPr>
        </p:nvSpPr>
        <p:spPr/>
        <p:txBody>
          <a:bodyPr/>
          <a:lstStyle/>
          <a:p>
            <a:fld id="{D73D4D4B-2FF7-BE46-958C-B004BD45EF6F}" type="slidenum">
              <a:rPr lang="en-US" smtClean="0"/>
              <a:t>‹#›</a:t>
            </a:fld>
            <a:endParaRPr lang="en-US"/>
          </a:p>
        </p:txBody>
      </p:sp>
    </p:spTree>
    <p:extLst>
      <p:ext uri="{BB962C8B-B14F-4D97-AF65-F5344CB8AC3E}">
        <p14:creationId xmlns:p14="http://schemas.microsoft.com/office/powerpoint/2010/main" val="1963469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14B483-3334-204F-ADDF-2B9BC6A8D9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BFCC4CF-F19A-1848-8467-61B9807ACFA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128E2E-CB42-B64B-A2AC-B8713F8A0E1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70D3E6-D921-5B44-AC8D-B7FDAFC8A532}" type="datetimeFigureOut">
              <a:rPr lang="en-US" smtClean="0"/>
              <a:t>1/8/26</a:t>
            </a:fld>
            <a:endParaRPr lang="en-US"/>
          </a:p>
        </p:txBody>
      </p:sp>
      <p:sp>
        <p:nvSpPr>
          <p:cNvPr id="5" name="Footer Placeholder 4">
            <a:extLst>
              <a:ext uri="{FF2B5EF4-FFF2-40B4-BE49-F238E27FC236}">
                <a16:creationId xmlns:a16="http://schemas.microsoft.com/office/drawing/2014/main" id="{2AA830BA-8B9E-D54E-AA7F-1B6C247B3A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E3634F2-31DD-3F49-A362-988026E566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E7AC70-81D3-9F4C-9FBF-EEB91175D34A}" type="slidenum">
              <a:rPr lang="en-US" smtClean="0"/>
              <a:t>‹#›</a:t>
            </a:fld>
            <a:endParaRPr lang="en-US"/>
          </a:p>
        </p:txBody>
      </p:sp>
    </p:spTree>
    <p:extLst>
      <p:ext uri="{BB962C8B-B14F-4D97-AF65-F5344CB8AC3E}">
        <p14:creationId xmlns:p14="http://schemas.microsoft.com/office/powerpoint/2010/main" val="39566325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C79A1DB-155B-0846-9CED-8B75F56E0E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D69736F-08D5-7643-A656-ABAEB9457A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433D04-66F5-D74B-8EEA-459FDC00D1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Helvetica Neue" panose="02000503000000020004" pitchFamily="2" charset="0"/>
                <a:ea typeface="Helvetica Neue" panose="02000503000000020004" pitchFamily="2" charset="0"/>
                <a:cs typeface="Helvetica Neue" panose="02000503000000020004" pitchFamily="2" charset="0"/>
              </a:defRPr>
            </a:lvl1pPr>
          </a:lstStyle>
          <a:p>
            <a:fld id="{2005EE61-3907-C44D-8624-D47E09E871DB}" type="datetime1">
              <a:rPr lang="en-US" smtClean="0"/>
              <a:t>1/8/26</a:t>
            </a:fld>
            <a:endParaRPr lang="en-US"/>
          </a:p>
        </p:txBody>
      </p:sp>
      <p:sp>
        <p:nvSpPr>
          <p:cNvPr id="5" name="Footer Placeholder 4">
            <a:extLst>
              <a:ext uri="{FF2B5EF4-FFF2-40B4-BE49-F238E27FC236}">
                <a16:creationId xmlns:a16="http://schemas.microsoft.com/office/drawing/2014/main" id="{9FDE6E67-6F97-E149-8437-635D11E7ED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Helvetica Neue" panose="02000503000000020004" pitchFamily="2" charset="0"/>
                <a:ea typeface="Helvetica Neue" panose="02000503000000020004" pitchFamily="2" charset="0"/>
                <a:cs typeface="Helvetica Neue" panose="02000503000000020004" pitchFamily="2" charset="0"/>
              </a:defRPr>
            </a:lvl1pPr>
          </a:lstStyle>
          <a:p>
            <a:r>
              <a:rPr lang="en-US"/>
              <a:t>J Mark Morris - Model of Nature - April 2019</a:t>
            </a:r>
          </a:p>
        </p:txBody>
      </p:sp>
      <p:sp>
        <p:nvSpPr>
          <p:cNvPr id="6" name="Slide Number Placeholder 5">
            <a:extLst>
              <a:ext uri="{FF2B5EF4-FFF2-40B4-BE49-F238E27FC236}">
                <a16:creationId xmlns:a16="http://schemas.microsoft.com/office/drawing/2014/main" id="{D585CC1E-0AB1-F34A-83C6-0956BF9B4A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Helvetica Neue" panose="02000503000000020004" pitchFamily="2" charset="0"/>
                <a:ea typeface="Helvetica Neue" panose="02000503000000020004" pitchFamily="2" charset="0"/>
                <a:cs typeface="Helvetica Neue" panose="02000503000000020004" pitchFamily="2" charset="0"/>
              </a:defRPr>
            </a:lvl1pPr>
          </a:lstStyle>
          <a:p>
            <a:fld id="{D73D4D4B-2FF7-BE46-958C-B004BD45EF6F}" type="slidenum">
              <a:rPr lang="en-US" smtClean="0"/>
              <a:pPr/>
              <a:t>‹#›</a:t>
            </a:fld>
            <a:endParaRPr lang="en-US"/>
          </a:p>
        </p:txBody>
      </p:sp>
    </p:spTree>
    <p:extLst>
      <p:ext uri="{BB962C8B-B14F-4D97-AF65-F5344CB8AC3E}">
        <p14:creationId xmlns:p14="http://schemas.microsoft.com/office/powerpoint/2010/main" val="4188259015"/>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Lst>
  <p:hf sldNum="0" hdr="0" dt="0"/>
  <p:txStyles>
    <p:titleStyle>
      <a:lvl1pPr algn="l" defTabSz="914400" rtl="0" eaLnBrk="1" latinLnBrk="0" hangingPunct="1">
        <a:lnSpc>
          <a:spcPct val="90000"/>
        </a:lnSpc>
        <a:spcBef>
          <a:spcPct val="0"/>
        </a:spcBef>
        <a:buNone/>
        <a:defRPr sz="44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77ACA5-3691-8FEB-0266-8D47BBCCF4C6}"/>
              </a:ext>
            </a:extLst>
          </p:cNvPr>
          <p:cNvSpPr txBox="1"/>
          <p:nvPr/>
        </p:nvSpPr>
        <p:spPr>
          <a:xfrm>
            <a:off x="0" y="358254"/>
            <a:ext cx="12191999" cy="4067780"/>
          </a:xfrm>
          <a:prstGeom prst="rect">
            <a:avLst/>
          </a:prstGeom>
          <a:noFill/>
        </p:spPr>
        <p:txBody>
          <a:bodyPr wrap="square" rtlCol="0">
            <a:spAutoFit/>
          </a:bodyPr>
          <a:lstStyle/>
          <a:p>
            <a:pPr marL="0" marR="0" lvl="0" indent="0" algn="ctr" defTabSz="914400" rtl="0" eaLnBrk="1" fontAlgn="auto" latinLnBrk="0" hangingPunct="1">
              <a:lnSpc>
                <a:spcPts val="11000"/>
              </a:lnSpc>
              <a:spcBef>
                <a:spcPts val="0"/>
              </a:spcBef>
              <a:spcAft>
                <a:spcPts val="0"/>
              </a:spcAft>
              <a:buClrTx/>
              <a:buSzTx/>
              <a:buFontTx/>
              <a:buNone/>
              <a:tabLst/>
              <a:defRPr/>
            </a:pPr>
            <a:r>
              <a:rPr kumimoji="0" lang="en-US" sz="11500" u="none" strike="noStrike" kern="1200" cap="none" spc="0" normalizeH="0" baseline="0" noProof="0" dirty="0">
                <a:ln>
                  <a:noFill/>
                </a:ln>
                <a:solidFill>
                  <a:prstClr val="white"/>
                </a:solidFill>
                <a:effectLst/>
                <a:uLnTx/>
                <a:uFillTx/>
                <a:latin typeface="Helvetica Neue UltraLight" panose="02000206000000020004" pitchFamily="2" charset="0"/>
                <a:ea typeface="Helvetica Neue UltraLight" panose="02000206000000020004" pitchFamily="2" charset="0"/>
                <a:cs typeface="Helvetica Neue" panose="02000503000000020004" pitchFamily="2" charset="0"/>
              </a:rPr>
              <a:t>neoclassical.ai</a:t>
            </a:r>
          </a:p>
          <a:p>
            <a:pPr marL="0" marR="0" lvl="0" indent="0" algn="ctr" defTabSz="914400" rtl="0" eaLnBrk="1" fontAlgn="auto" latinLnBrk="0" hangingPunct="1">
              <a:lnSpc>
                <a:spcPts val="1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FF8AD8"/>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Fundamental Entities</a:t>
            </a:r>
          </a:p>
          <a:p>
            <a:pPr marL="0" marR="0" lvl="0" indent="0" algn="ctr" defTabSz="914400" rtl="0" eaLnBrk="1" fontAlgn="auto" latinLnBrk="0" hangingPunct="1">
              <a:lnSpc>
                <a:spcPts val="1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FFC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Point Potentials</a:t>
            </a:r>
          </a:p>
        </p:txBody>
      </p:sp>
    </p:spTree>
    <p:extLst>
      <p:ext uri="{BB962C8B-B14F-4D97-AF65-F5344CB8AC3E}">
        <p14:creationId xmlns:p14="http://schemas.microsoft.com/office/powerpoint/2010/main" val="36624257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D3BD9-EF0C-1E44-A158-923D0C7D4BB3}"/>
              </a:ext>
            </a:extLst>
          </p:cNvPr>
          <p:cNvSpPr>
            <a:spLocks noGrp="1"/>
          </p:cNvSpPr>
          <p:nvPr>
            <p:ph type="title"/>
          </p:nvPr>
        </p:nvSpPr>
        <p:spPr>
          <a:xfrm>
            <a:off x="2845864" y="279249"/>
            <a:ext cx="6201156" cy="777875"/>
          </a:xfrm>
        </p:spPr>
        <p:txBody>
          <a:bodyPr wrap="none">
            <a:normAutofit/>
          </a:bodyPr>
          <a:lstStyle/>
          <a:p>
            <a:pPr algn="ctr"/>
            <a:r>
              <a:rPr lang="en-US" sz="48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Fundamental Entities of Nature</a:t>
            </a:r>
          </a:p>
        </p:txBody>
      </p:sp>
      <p:sp>
        <p:nvSpPr>
          <p:cNvPr id="4" name="Footer Placeholder 3">
            <a:extLst>
              <a:ext uri="{FF2B5EF4-FFF2-40B4-BE49-F238E27FC236}">
                <a16:creationId xmlns:a16="http://schemas.microsoft.com/office/drawing/2014/main" id="{B46B4692-7F2F-6E4B-963F-EC452AE01AA9}"/>
              </a:ext>
            </a:extLst>
          </p:cNvPr>
          <p:cNvSpPr>
            <a:spLocks noGrp="1"/>
          </p:cNvSpPr>
          <p:nvPr>
            <p:ph type="ftr" sz="quarter" idx="11"/>
          </p:nvPr>
        </p:nvSpPr>
        <p:spPr>
          <a:xfrm>
            <a:off x="3589783" y="-693583"/>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Calibri" panose="020F0502020204030204"/>
                <a:ea typeface="+mn-ea"/>
                <a:cs typeface="+mn-cs"/>
              </a:rPr>
              <a:t>J Mark Morris - Model of Nature - May 2021</a:t>
            </a:r>
          </a:p>
        </p:txBody>
      </p:sp>
      <p:grpSp>
        <p:nvGrpSpPr>
          <p:cNvPr id="16" name="Group 15">
            <a:extLst>
              <a:ext uri="{FF2B5EF4-FFF2-40B4-BE49-F238E27FC236}">
                <a16:creationId xmlns:a16="http://schemas.microsoft.com/office/drawing/2014/main" id="{61C70F64-6EA5-EA05-3170-97F09DF5B97A}"/>
              </a:ext>
            </a:extLst>
          </p:cNvPr>
          <p:cNvGrpSpPr/>
          <p:nvPr/>
        </p:nvGrpSpPr>
        <p:grpSpPr>
          <a:xfrm>
            <a:off x="2934383" y="2533902"/>
            <a:ext cx="2985584" cy="3278251"/>
            <a:chOff x="2934383" y="2831497"/>
            <a:chExt cx="2985584" cy="3278251"/>
          </a:xfrm>
        </p:grpSpPr>
        <p:grpSp>
          <p:nvGrpSpPr>
            <p:cNvPr id="12" name="Group 11">
              <a:extLst>
                <a:ext uri="{FF2B5EF4-FFF2-40B4-BE49-F238E27FC236}">
                  <a16:creationId xmlns:a16="http://schemas.microsoft.com/office/drawing/2014/main" id="{45DB1E4A-5739-CC3A-5405-F5D36EF9F331}"/>
                </a:ext>
              </a:extLst>
            </p:cNvPr>
            <p:cNvGrpSpPr/>
            <p:nvPr/>
          </p:nvGrpSpPr>
          <p:grpSpPr>
            <a:xfrm>
              <a:off x="2934383" y="2831497"/>
              <a:ext cx="2985584" cy="3278251"/>
              <a:chOff x="2934383" y="2831497"/>
              <a:chExt cx="2985584" cy="3278251"/>
            </a:xfrm>
          </p:grpSpPr>
          <p:sp>
            <p:nvSpPr>
              <p:cNvPr id="6" name="Oval 5">
                <a:extLst>
                  <a:ext uri="{FF2B5EF4-FFF2-40B4-BE49-F238E27FC236}">
                    <a16:creationId xmlns:a16="http://schemas.microsoft.com/office/drawing/2014/main" id="{38985803-DA6E-8548-BD14-7743C8492FA0}"/>
                  </a:ext>
                </a:extLst>
              </p:cNvPr>
              <p:cNvSpPr/>
              <p:nvPr/>
            </p:nvSpPr>
            <p:spPr>
              <a:xfrm>
                <a:off x="2934383" y="2831497"/>
                <a:ext cx="2985584" cy="2869865"/>
              </a:xfrm>
              <a:prstGeom prst="ellipse">
                <a:avLst/>
              </a:prstGeom>
              <a:solidFill>
                <a:srgbClr val="0070C0"/>
              </a:solidFill>
              <a:ln>
                <a:noFill/>
              </a:ln>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7" name="Rectangle 6">
                <a:extLst>
                  <a:ext uri="{FF2B5EF4-FFF2-40B4-BE49-F238E27FC236}">
                    <a16:creationId xmlns:a16="http://schemas.microsoft.com/office/drawing/2014/main" id="{F2244FC9-B137-EB4E-A718-78190AE91366}"/>
                  </a:ext>
                </a:extLst>
              </p:cNvPr>
              <p:cNvSpPr/>
              <p:nvPr/>
            </p:nvSpPr>
            <p:spPr>
              <a:xfrm>
                <a:off x="3862217" y="5740416"/>
                <a:ext cx="1167307"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Electrino</a:t>
                </a:r>
              </a:p>
            </p:txBody>
          </p:sp>
        </p:grpSp>
        <p:sp>
          <p:nvSpPr>
            <p:cNvPr id="14" name="Minus 13">
              <a:extLst>
                <a:ext uri="{FF2B5EF4-FFF2-40B4-BE49-F238E27FC236}">
                  <a16:creationId xmlns:a16="http://schemas.microsoft.com/office/drawing/2014/main" id="{09ADC253-730C-264F-8155-E49642931ADA}"/>
                </a:ext>
              </a:extLst>
            </p:cNvPr>
            <p:cNvSpPr/>
            <p:nvPr/>
          </p:nvSpPr>
          <p:spPr>
            <a:xfrm>
              <a:off x="3795775" y="3635030"/>
              <a:ext cx="1262798" cy="1262798"/>
            </a:xfrm>
            <a:prstGeom prst="mathMinus">
              <a:avLst/>
            </a:prstGeom>
            <a:solidFill>
              <a:schemeClr val="bg1"/>
            </a:solid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grpSp>
      <p:grpSp>
        <p:nvGrpSpPr>
          <p:cNvPr id="17" name="Group 16">
            <a:extLst>
              <a:ext uri="{FF2B5EF4-FFF2-40B4-BE49-F238E27FC236}">
                <a16:creationId xmlns:a16="http://schemas.microsoft.com/office/drawing/2014/main" id="{99197762-1F6C-CC2A-552D-52828CD3C5D3}"/>
              </a:ext>
            </a:extLst>
          </p:cNvPr>
          <p:cNvGrpSpPr/>
          <p:nvPr/>
        </p:nvGrpSpPr>
        <p:grpSpPr>
          <a:xfrm>
            <a:off x="6360070" y="2533902"/>
            <a:ext cx="2985583" cy="3278251"/>
            <a:chOff x="6360070" y="2838812"/>
            <a:chExt cx="2985583" cy="3278251"/>
          </a:xfrm>
        </p:grpSpPr>
        <p:grpSp>
          <p:nvGrpSpPr>
            <p:cNvPr id="15" name="Group 14">
              <a:extLst>
                <a:ext uri="{FF2B5EF4-FFF2-40B4-BE49-F238E27FC236}">
                  <a16:creationId xmlns:a16="http://schemas.microsoft.com/office/drawing/2014/main" id="{FCBB86F0-7603-7410-74CD-64C8990BBE88}"/>
                </a:ext>
              </a:extLst>
            </p:cNvPr>
            <p:cNvGrpSpPr/>
            <p:nvPr/>
          </p:nvGrpSpPr>
          <p:grpSpPr>
            <a:xfrm>
              <a:off x="6360070" y="2838812"/>
              <a:ext cx="2985583" cy="3278251"/>
              <a:chOff x="6360070" y="2838812"/>
              <a:chExt cx="2985583" cy="3278251"/>
            </a:xfrm>
          </p:grpSpPr>
          <p:sp>
            <p:nvSpPr>
              <p:cNvPr id="5" name="Oval 4">
                <a:extLst>
                  <a:ext uri="{FF2B5EF4-FFF2-40B4-BE49-F238E27FC236}">
                    <a16:creationId xmlns:a16="http://schemas.microsoft.com/office/drawing/2014/main" id="{405A7150-905F-F24D-BF97-63899D0E98A3}"/>
                  </a:ext>
                </a:extLst>
              </p:cNvPr>
              <p:cNvSpPr/>
              <p:nvPr/>
            </p:nvSpPr>
            <p:spPr>
              <a:xfrm>
                <a:off x="6360070" y="2838812"/>
                <a:ext cx="2985583" cy="2869865"/>
              </a:xfrm>
              <a:prstGeom prst="ellipse">
                <a:avLst/>
              </a:prstGeom>
              <a:solidFill>
                <a:srgbClr val="FF0000"/>
              </a:solidFill>
              <a:ln>
                <a:noFill/>
              </a:ln>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8" name="Rectangle 7">
                <a:extLst>
                  <a:ext uri="{FF2B5EF4-FFF2-40B4-BE49-F238E27FC236}">
                    <a16:creationId xmlns:a16="http://schemas.microsoft.com/office/drawing/2014/main" id="{930F45C2-0FE5-F04C-B568-5F9239FE086D}"/>
                  </a:ext>
                </a:extLst>
              </p:cNvPr>
              <p:cNvSpPr/>
              <p:nvPr/>
            </p:nvSpPr>
            <p:spPr>
              <a:xfrm>
                <a:off x="7268919" y="5747731"/>
                <a:ext cx="117051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Positrino</a:t>
                </a:r>
              </a:p>
            </p:txBody>
          </p:sp>
        </p:grpSp>
        <p:sp>
          <p:nvSpPr>
            <p:cNvPr id="13" name="Plus 12">
              <a:extLst>
                <a:ext uri="{FF2B5EF4-FFF2-40B4-BE49-F238E27FC236}">
                  <a16:creationId xmlns:a16="http://schemas.microsoft.com/office/drawing/2014/main" id="{A2F97F06-5AE9-B844-8A28-B02FF48414FF}"/>
                </a:ext>
              </a:extLst>
            </p:cNvPr>
            <p:cNvSpPr/>
            <p:nvPr/>
          </p:nvSpPr>
          <p:spPr>
            <a:xfrm>
              <a:off x="7156370" y="3577253"/>
              <a:ext cx="1392983" cy="1392983"/>
            </a:xfrm>
            <a:prstGeom prst="mathPlus">
              <a:avLst/>
            </a:prstGeom>
            <a:solidFill>
              <a:schemeClr val="bg1"/>
            </a:solid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grpSp>
      <p:sp>
        <p:nvSpPr>
          <p:cNvPr id="33" name="Rectangle 32">
            <a:extLst>
              <a:ext uri="{FF2B5EF4-FFF2-40B4-BE49-F238E27FC236}">
                <a16:creationId xmlns:a16="http://schemas.microsoft.com/office/drawing/2014/main" id="{6FB04752-7BBD-3648-BE22-8D983884B555}"/>
              </a:ext>
            </a:extLst>
          </p:cNvPr>
          <p:cNvSpPr/>
          <p:nvPr/>
        </p:nvSpPr>
        <p:spPr>
          <a:xfrm>
            <a:off x="796924" y="1372790"/>
            <a:ext cx="10644261" cy="52322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C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1D Linear Time, 3D Euclidean Space, Point Potential Emitters</a:t>
            </a:r>
          </a:p>
        </p:txBody>
      </p:sp>
      <p:grpSp>
        <p:nvGrpSpPr>
          <p:cNvPr id="11" name="Group 10">
            <a:extLst>
              <a:ext uri="{FF2B5EF4-FFF2-40B4-BE49-F238E27FC236}">
                <a16:creationId xmlns:a16="http://schemas.microsoft.com/office/drawing/2014/main" id="{330CC259-8ECA-9504-DF84-043CB2F2838C}"/>
              </a:ext>
            </a:extLst>
          </p:cNvPr>
          <p:cNvGrpSpPr/>
          <p:nvPr/>
        </p:nvGrpSpPr>
        <p:grpSpPr>
          <a:xfrm>
            <a:off x="1035610" y="3622462"/>
            <a:ext cx="872354" cy="1101131"/>
            <a:chOff x="1035610" y="4601259"/>
            <a:chExt cx="872354" cy="1101131"/>
          </a:xfrm>
        </p:grpSpPr>
        <p:sp>
          <p:nvSpPr>
            <p:cNvPr id="32" name="Rectangle 31">
              <a:extLst>
                <a:ext uri="{FF2B5EF4-FFF2-40B4-BE49-F238E27FC236}">
                  <a16:creationId xmlns:a16="http://schemas.microsoft.com/office/drawing/2014/main" id="{90B4F778-AAF3-8441-A126-EF65BDDCA5EE}"/>
                </a:ext>
              </a:extLst>
            </p:cNvPr>
            <p:cNvSpPr/>
            <p:nvPr/>
          </p:nvSpPr>
          <p:spPr>
            <a:xfrm>
              <a:off x="1035610" y="4601259"/>
              <a:ext cx="872354" cy="92333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1D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Linear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Time</a:t>
              </a:r>
            </a:p>
          </p:txBody>
        </p:sp>
        <p:cxnSp>
          <p:nvCxnSpPr>
            <p:cNvPr id="24" name="Straight Arrow Connector 23">
              <a:extLst>
                <a:ext uri="{FF2B5EF4-FFF2-40B4-BE49-F238E27FC236}">
                  <a16:creationId xmlns:a16="http://schemas.microsoft.com/office/drawing/2014/main" id="{282275DC-2AB9-8842-B077-479BC4E05F88}"/>
                </a:ext>
              </a:extLst>
            </p:cNvPr>
            <p:cNvCxnSpPr>
              <a:cxnSpLocks/>
            </p:cNvCxnSpPr>
            <p:nvPr/>
          </p:nvCxnSpPr>
          <p:spPr>
            <a:xfrm flipV="1">
              <a:off x="1231394" y="5702387"/>
              <a:ext cx="480786" cy="3"/>
            </a:xfrm>
            <a:prstGeom prst="straightConnector1">
              <a:avLst/>
            </a:prstGeom>
            <a:ln w="12700">
              <a:solidFill>
                <a:schemeClr val="bg1"/>
              </a:solidFill>
              <a:prstDash val="sysDot"/>
              <a:headEnd type="oval"/>
              <a:tailEnd type="triangle"/>
            </a:ln>
          </p:spPr>
          <p:style>
            <a:lnRef idx="1">
              <a:schemeClr val="accent1"/>
            </a:lnRef>
            <a:fillRef idx="0">
              <a:schemeClr val="accent1"/>
            </a:fillRef>
            <a:effectRef idx="0">
              <a:schemeClr val="accent1"/>
            </a:effectRef>
            <a:fontRef idx="minor">
              <a:schemeClr val="tx1"/>
            </a:fontRef>
          </p:style>
        </p:cxnSp>
      </p:grpSp>
      <p:sp>
        <p:nvSpPr>
          <p:cNvPr id="25" name="Footer Placeholder 3">
            <a:extLst>
              <a:ext uri="{FF2B5EF4-FFF2-40B4-BE49-F238E27FC236}">
                <a16:creationId xmlns:a16="http://schemas.microsoft.com/office/drawing/2014/main" id="{246E4B47-B7AD-0745-91FA-AA77D12D888D}"/>
              </a:ext>
            </a:extLst>
          </p:cNvPr>
          <p:cNvSpPr txBox="1">
            <a:spLocks/>
          </p:cNvSpPr>
          <p:nvPr/>
        </p:nvSpPr>
        <p:spPr>
          <a:xfrm>
            <a:off x="9518999"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J Mark Morris</a:t>
            </a:r>
          </a:p>
        </p:txBody>
      </p:sp>
      <p:grpSp>
        <p:nvGrpSpPr>
          <p:cNvPr id="9" name="Group 8">
            <a:extLst>
              <a:ext uri="{FF2B5EF4-FFF2-40B4-BE49-F238E27FC236}">
                <a16:creationId xmlns:a16="http://schemas.microsoft.com/office/drawing/2014/main" id="{31017E8F-4F31-A516-F0AA-7D268180E96C}"/>
              </a:ext>
            </a:extLst>
          </p:cNvPr>
          <p:cNvGrpSpPr/>
          <p:nvPr/>
        </p:nvGrpSpPr>
        <p:grpSpPr>
          <a:xfrm>
            <a:off x="10311309" y="3224308"/>
            <a:ext cx="1265090" cy="1897439"/>
            <a:chOff x="839242" y="2412063"/>
            <a:chExt cx="1265090" cy="1897439"/>
          </a:xfrm>
        </p:grpSpPr>
        <p:grpSp>
          <p:nvGrpSpPr>
            <p:cNvPr id="20" name="Group 19">
              <a:extLst>
                <a:ext uri="{FF2B5EF4-FFF2-40B4-BE49-F238E27FC236}">
                  <a16:creationId xmlns:a16="http://schemas.microsoft.com/office/drawing/2014/main" id="{7B450B60-56DD-E447-B796-B112D6F74ECA}"/>
                </a:ext>
              </a:extLst>
            </p:cNvPr>
            <p:cNvGrpSpPr/>
            <p:nvPr/>
          </p:nvGrpSpPr>
          <p:grpSpPr>
            <a:xfrm>
              <a:off x="934089" y="3406958"/>
              <a:ext cx="1075397" cy="902544"/>
              <a:chOff x="5023953" y="4378355"/>
              <a:chExt cx="1303340" cy="1306404"/>
            </a:xfrm>
          </p:grpSpPr>
          <p:cxnSp>
            <p:nvCxnSpPr>
              <p:cNvPr id="23" name="Straight Arrow Connector 22">
                <a:extLst>
                  <a:ext uri="{FF2B5EF4-FFF2-40B4-BE49-F238E27FC236}">
                    <a16:creationId xmlns:a16="http://schemas.microsoft.com/office/drawing/2014/main" id="{CE1E4885-6E99-C949-A2D8-5B8C82D5957E}"/>
                  </a:ext>
                </a:extLst>
              </p:cNvPr>
              <p:cNvCxnSpPr>
                <a:cxnSpLocks/>
              </p:cNvCxnSpPr>
              <p:nvPr/>
            </p:nvCxnSpPr>
            <p:spPr>
              <a:xfrm flipV="1">
                <a:off x="5675623" y="4378355"/>
                <a:ext cx="0" cy="1306404"/>
              </a:xfrm>
              <a:prstGeom prst="straightConnector1">
                <a:avLst/>
              </a:prstGeom>
              <a:ln w="12700">
                <a:solidFill>
                  <a:schemeClr val="bg1"/>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371FBCDF-30F2-6749-9C7D-FE0A8D83337B}"/>
                  </a:ext>
                </a:extLst>
              </p:cNvPr>
              <p:cNvCxnSpPr>
                <a:cxnSpLocks/>
              </p:cNvCxnSpPr>
              <p:nvPr/>
            </p:nvCxnSpPr>
            <p:spPr>
              <a:xfrm rot="2700000" flipV="1">
                <a:off x="5675623" y="4379887"/>
                <a:ext cx="0" cy="1303340"/>
              </a:xfrm>
              <a:prstGeom prst="straightConnector1">
                <a:avLst/>
              </a:prstGeom>
              <a:ln w="12700">
                <a:solidFill>
                  <a:schemeClr val="bg1"/>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BF5810EE-ACDB-6544-9F58-5DEBD8E72D37}"/>
                  </a:ext>
                </a:extLst>
              </p:cNvPr>
              <p:cNvCxnSpPr>
                <a:cxnSpLocks/>
              </p:cNvCxnSpPr>
              <p:nvPr/>
            </p:nvCxnSpPr>
            <p:spPr>
              <a:xfrm flipV="1">
                <a:off x="5134645" y="5013629"/>
                <a:ext cx="1107790" cy="17928"/>
              </a:xfrm>
              <a:prstGeom prst="straightConnector1">
                <a:avLst/>
              </a:prstGeom>
              <a:ln w="12700">
                <a:solidFill>
                  <a:schemeClr val="bg1"/>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3" name="Rectangle 2">
              <a:extLst>
                <a:ext uri="{FF2B5EF4-FFF2-40B4-BE49-F238E27FC236}">
                  <a16:creationId xmlns:a16="http://schemas.microsoft.com/office/drawing/2014/main" id="{B3E4CD37-BCF3-72BF-F3B3-DAC45082593B}"/>
                </a:ext>
              </a:extLst>
            </p:cNvPr>
            <p:cNvSpPr/>
            <p:nvPr/>
          </p:nvSpPr>
          <p:spPr>
            <a:xfrm>
              <a:off x="839242" y="2412063"/>
              <a:ext cx="1265090" cy="92333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3D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Euclidean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Space</a:t>
              </a:r>
            </a:p>
          </p:txBody>
        </p:sp>
      </p:grpSp>
    </p:spTree>
    <p:extLst>
      <p:ext uri="{BB962C8B-B14F-4D97-AF65-F5344CB8AC3E}">
        <p14:creationId xmlns:p14="http://schemas.microsoft.com/office/powerpoint/2010/main" val="26293221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D3BD9-EF0C-1E44-A158-923D0C7D4BB3}"/>
              </a:ext>
            </a:extLst>
          </p:cNvPr>
          <p:cNvSpPr>
            <a:spLocks noGrp="1"/>
          </p:cNvSpPr>
          <p:nvPr>
            <p:ph type="title"/>
          </p:nvPr>
        </p:nvSpPr>
        <p:spPr>
          <a:xfrm>
            <a:off x="2845864" y="279249"/>
            <a:ext cx="6201156" cy="777875"/>
          </a:xfrm>
        </p:spPr>
        <p:txBody>
          <a:bodyPr wrap="none">
            <a:normAutofit/>
          </a:bodyPr>
          <a:lstStyle/>
          <a:p>
            <a:pPr algn="ctr"/>
            <a:r>
              <a:rPr lang="en-US" sz="48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Point Potential Magnitude</a:t>
            </a:r>
          </a:p>
        </p:txBody>
      </p:sp>
      <p:sp>
        <p:nvSpPr>
          <p:cNvPr id="4" name="Footer Placeholder 3">
            <a:extLst>
              <a:ext uri="{FF2B5EF4-FFF2-40B4-BE49-F238E27FC236}">
                <a16:creationId xmlns:a16="http://schemas.microsoft.com/office/drawing/2014/main" id="{B46B4692-7F2F-6E4B-963F-EC452AE01AA9}"/>
              </a:ext>
            </a:extLst>
          </p:cNvPr>
          <p:cNvSpPr>
            <a:spLocks noGrp="1"/>
          </p:cNvSpPr>
          <p:nvPr>
            <p:ph type="ftr" sz="quarter" idx="11"/>
          </p:nvPr>
        </p:nvSpPr>
        <p:spPr>
          <a:xfrm>
            <a:off x="3589783" y="-693583"/>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Calibri" panose="020F0502020204030204"/>
                <a:ea typeface="+mn-ea"/>
                <a:cs typeface="+mn-cs"/>
              </a:rPr>
              <a:t>J Mark Morris - Model of Nature - May 2021</a:t>
            </a:r>
          </a:p>
        </p:txBody>
      </p:sp>
      <p:grpSp>
        <p:nvGrpSpPr>
          <p:cNvPr id="16" name="Group 15">
            <a:extLst>
              <a:ext uri="{FF2B5EF4-FFF2-40B4-BE49-F238E27FC236}">
                <a16:creationId xmlns:a16="http://schemas.microsoft.com/office/drawing/2014/main" id="{61C70F64-6EA5-EA05-3170-97F09DF5B97A}"/>
              </a:ext>
            </a:extLst>
          </p:cNvPr>
          <p:cNvGrpSpPr/>
          <p:nvPr/>
        </p:nvGrpSpPr>
        <p:grpSpPr>
          <a:xfrm>
            <a:off x="2934383" y="2533902"/>
            <a:ext cx="2985584" cy="3278251"/>
            <a:chOff x="2934383" y="2831497"/>
            <a:chExt cx="2985584" cy="3278251"/>
          </a:xfrm>
        </p:grpSpPr>
        <p:grpSp>
          <p:nvGrpSpPr>
            <p:cNvPr id="12" name="Group 11">
              <a:extLst>
                <a:ext uri="{FF2B5EF4-FFF2-40B4-BE49-F238E27FC236}">
                  <a16:creationId xmlns:a16="http://schemas.microsoft.com/office/drawing/2014/main" id="{45DB1E4A-5739-CC3A-5405-F5D36EF9F331}"/>
                </a:ext>
              </a:extLst>
            </p:cNvPr>
            <p:cNvGrpSpPr/>
            <p:nvPr/>
          </p:nvGrpSpPr>
          <p:grpSpPr>
            <a:xfrm>
              <a:off x="2934383" y="2831497"/>
              <a:ext cx="2985584" cy="3278251"/>
              <a:chOff x="2934383" y="2831497"/>
              <a:chExt cx="2985584" cy="3278251"/>
            </a:xfrm>
          </p:grpSpPr>
          <p:sp>
            <p:nvSpPr>
              <p:cNvPr id="6" name="Oval 5">
                <a:extLst>
                  <a:ext uri="{FF2B5EF4-FFF2-40B4-BE49-F238E27FC236}">
                    <a16:creationId xmlns:a16="http://schemas.microsoft.com/office/drawing/2014/main" id="{38985803-DA6E-8548-BD14-7743C8492FA0}"/>
                  </a:ext>
                </a:extLst>
              </p:cNvPr>
              <p:cNvSpPr/>
              <p:nvPr/>
            </p:nvSpPr>
            <p:spPr>
              <a:xfrm>
                <a:off x="2934383" y="2831497"/>
                <a:ext cx="2985584" cy="2869865"/>
              </a:xfrm>
              <a:prstGeom prst="ellipse">
                <a:avLst/>
              </a:prstGeom>
              <a:solidFill>
                <a:srgbClr val="0070C0"/>
              </a:solidFill>
              <a:ln>
                <a:noFill/>
              </a:ln>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7" name="Rectangle 6">
                <a:extLst>
                  <a:ext uri="{FF2B5EF4-FFF2-40B4-BE49-F238E27FC236}">
                    <a16:creationId xmlns:a16="http://schemas.microsoft.com/office/drawing/2014/main" id="{F2244FC9-B137-EB4E-A718-78190AE91366}"/>
                  </a:ext>
                </a:extLst>
              </p:cNvPr>
              <p:cNvSpPr/>
              <p:nvPr/>
            </p:nvSpPr>
            <p:spPr>
              <a:xfrm>
                <a:off x="3862217" y="5740416"/>
                <a:ext cx="1167307"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Electrino</a:t>
                </a:r>
              </a:p>
            </p:txBody>
          </p:sp>
        </p:grpSp>
        <p:sp>
          <p:nvSpPr>
            <p:cNvPr id="14" name="Minus 13">
              <a:extLst>
                <a:ext uri="{FF2B5EF4-FFF2-40B4-BE49-F238E27FC236}">
                  <a16:creationId xmlns:a16="http://schemas.microsoft.com/office/drawing/2014/main" id="{09ADC253-730C-264F-8155-E49642931ADA}"/>
                </a:ext>
              </a:extLst>
            </p:cNvPr>
            <p:cNvSpPr/>
            <p:nvPr/>
          </p:nvSpPr>
          <p:spPr>
            <a:xfrm>
              <a:off x="3795775" y="3635030"/>
              <a:ext cx="1262798" cy="1262798"/>
            </a:xfrm>
            <a:prstGeom prst="mathMinus">
              <a:avLst/>
            </a:prstGeom>
            <a:solidFill>
              <a:schemeClr val="bg1"/>
            </a:solid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grpSp>
      <p:grpSp>
        <p:nvGrpSpPr>
          <p:cNvPr id="17" name="Group 16">
            <a:extLst>
              <a:ext uri="{FF2B5EF4-FFF2-40B4-BE49-F238E27FC236}">
                <a16:creationId xmlns:a16="http://schemas.microsoft.com/office/drawing/2014/main" id="{99197762-1F6C-CC2A-552D-52828CD3C5D3}"/>
              </a:ext>
            </a:extLst>
          </p:cNvPr>
          <p:cNvGrpSpPr/>
          <p:nvPr/>
        </p:nvGrpSpPr>
        <p:grpSpPr>
          <a:xfrm>
            <a:off x="6360070" y="2533902"/>
            <a:ext cx="2985583" cy="3278251"/>
            <a:chOff x="6360070" y="2838812"/>
            <a:chExt cx="2985583" cy="3278251"/>
          </a:xfrm>
        </p:grpSpPr>
        <p:grpSp>
          <p:nvGrpSpPr>
            <p:cNvPr id="15" name="Group 14">
              <a:extLst>
                <a:ext uri="{FF2B5EF4-FFF2-40B4-BE49-F238E27FC236}">
                  <a16:creationId xmlns:a16="http://schemas.microsoft.com/office/drawing/2014/main" id="{FCBB86F0-7603-7410-74CD-64C8990BBE88}"/>
                </a:ext>
              </a:extLst>
            </p:cNvPr>
            <p:cNvGrpSpPr/>
            <p:nvPr/>
          </p:nvGrpSpPr>
          <p:grpSpPr>
            <a:xfrm>
              <a:off x="6360070" y="2838812"/>
              <a:ext cx="2985583" cy="3278251"/>
              <a:chOff x="6360070" y="2838812"/>
              <a:chExt cx="2985583" cy="3278251"/>
            </a:xfrm>
          </p:grpSpPr>
          <p:sp>
            <p:nvSpPr>
              <p:cNvPr id="5" name="Oval 4">
                <a:extLst>
                  <a:ext uri="{FF2B5EF4-FFF2-40B4-BE49-F238E27FC236}">
                    <a16:creationId xmlns:a16="http://schemas.microsoft.com/office/drawing/2014/main" id="{405A7150-905F-F24D-BF97-63899D0E98A3}"/>
                  </a:ext>
                </a:extLst>
              </p:cNvPr>
              <p:cNvSpPr/>
              <p:nvPr/>
            </p:nvSpPr>
            <p:spPr>
              <a:xfrm>
                <a:off x="6360070" y="2838812"/>
                <a:ext cx="2985583" cy="2869865"/>
              </a:xfrm>
              <a:prstGeom prst="ellipse">
                <a:avLst/>
              </a:prstGeom>
              <a:solidFill>
                <a:srgbClr val="FF0000"/>
              </a:solidFill>
              <a:ln>
                <a:noFill/>
              </a:ln>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8" name="Rectangle 7">
                <a:extLst>
                  <a:ext uri="{FF2B5EF4-FFF2-40B4-BE49-F238E27FC236}">
                    <a16:creationId xmlns:a16="http://schemas.microsoft.com/office/drawing/2014/main" id="{930F45C2-0FE5-F04C-B568-5F9239FE086D}"/>
                  </a:ext>
                </a:extLst>
              </p:cNvPr>
              <p:cNvSpPr/>
              <p:nvPr/>
            </p:nvSpPr>
            <p:spPr>
              <a:xfrm>
                <a:off x="7268919" y="5747731"/>
                <a:ext cx="117051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Positrino</a:t>
                </a:r>
              </a:p>
            </p:txBody>
          </p:sp>
        </p:grpSp>
        <p:sp>
          <p:nvSpPr>
            <p:cNvPr id="13" name="Plus 12">
              <a:extLst>
                <a:ext uri="{FF2B5EF4-FFF2-40B4-BE49-F238E27FC236}">
                  <a16:creationId xmlns:a16="http://schemas.microsoft.com/office/drawing/2014/main" id="{A2F97F06-5AE9-B844-8A28-B02FF48414FF}"/>
                </a:ext>
              </a:extLst>
            </p:cNvPr>
            <p:cNvSpPr/>
            <p:nvPr/>
          </p:nvSpPr>
          <p:spPr>
            <a:xfrm>
              <a:off x="7156370" y="3577253"/>
              <a:ext cx="1392983" cy="1392983"/>
            </a:xfrm>
            <a:prstGeom prst="mathPlus">
              <a:avLst/>
            </a:prstGeom>
            <a:solidFill>
              <a:schemeClr val="bg1"/>
            </a:solid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grpSp>
      <p:sp>
        <p:nvSpPr>
          <p:cNvPr id="33" name="Rectangle 32">
            <a:extLst>
              <a:ext uri="{FF2B5EF4-FFF2-40B4-BE49-F238E27FC236}">
                <a16:creationId xmlns:a16="http://schemas.microsoft.com/office/drawing/2014/main" id="{6FB04752-7BBD-3648-BE22-8D983884B555}"/>
              </a:ext>
            </a:extLst>
          </p:cNvPr>
          <p:cNvSpPr/>
          <p:nvPr/>
        </p:nvSpPr>
        <p:spPr>
          <a:xfrm>
            <a:off x="3138118" y="1372790"/>
            <a:ext cx="5961890" cy="52322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1"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Equal and Opposite with |q| = |e/6|</a:t>
            </a:r>
            <a:endParaRPr kumimoji="0" lang="en-US" sz="2800" b="1" i="0" u="none" strike="noStrike" kern="1200" cap="none" spc="0" normalizeH="0" baseline="0" noProof="0" dirty="0">
              <a:ln>
                <a:noFill/>
              </a:ln>
              <a:solidFill>
                <a:srgbClr val="FFC000"/>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grpSp>
        <p:nvGrpSpPr>
          <p:cNvPr id="11" name="Group 10">
            <a:extLst>
              <a:ext uri="{FF2B5EF4-FFF2-40B4-BE49-F238E27FC236}">
                <a16:creationId xmlns:a16="http://schemas.microsoft.com/office/drawing/2014/main" id="{330CC259-8ECA-9504-DF84-043CB2F2838C}"/>
              </a:ext>
            </a:extLst>
          </p:cNvPr>
          <p:cNvGrpSpPr/>
          <p:nvPr/>
        </p:nvGrpSpPr>
        <p:grpSpPr>
          <a:xfrm>
            <a:off x="1035610" y="3622462"/>
            <a:ext cx="872354" cy="1101131"/>
            <a:chOff x="1035610" y="4601259"/>
            <a:chExt cx="872354" cy="1101131"/>
          </a:xfrm>
        </p:grpSpPr>
        <p:sp>
          <p:nvSpPr>
            <p:cNvPr id="32" name="Rectangle 31">
              <a:extLst>
                <a:ext uri="{FF2B5EF4-FFF2-40B4-BE49-F238E27FC236}">
                  <a16:creationId xmlns:a16="http://schemas.microsoft.com/office/drawing/2014/main" id="{90B4F778-AAF3-8441-A126-EF65BDDCA5EE}"/>
                </a:ext>
              </a:extLst>
            </p:cNvPr>
            <p:cNvSpPr/>
            <p:nvPr/>
          </p:nvSpPr>
          <p:spPr>
            <a:xfrm>
              <a:off x="1035610" y="4601259"/>
              <a:ext cx="872354" cy="92333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1D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Linear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Time</a:t>
              </a:r>
            </a:p>
          </p:txBody>
        </p:sp>
        <p:cxnSp>
          <p:nvCxnSpPr>
            <p:cNvPr id="24" name="Straight Arrow Connector 23">
              <a:extLst>
                <a:ext uri="{FF2B5EF4-FFF2-40B4-BE49-F238E27FC236}">
                  <a16:creationId xmlns:a16="http://schemas.microsoft.com/office/drawing/2014/main" id="{282275DC-2AB9-8842-B077-479BC4E05F88}"/>
                </a:ext>
              </a:extLst>
            </p:cNvPr>
            <p:cNvCxnSpPr>
              <a:cxnSpLocks/>
            </p:cNvCxnSpPr>
            <p:nvPr/>
          </p:nvCxnSpPr>
          <p:spPr>
            <a:xfrm flipV="1">
              <a:off x="1231394" y="5702387"/>
              <a:ext cx="480786" cy="3"/>
            </a:xfrm>
            <a:prstGeom prst="straightConnector1">
              <a:avLst/>
            </a:prstGeom>
            <a:ln w="12700">
              <a:solidFill>
                <a:schemeClr val="bg1"/>
              </a:solidFill>
              <a:prstDash val="sysDot"/>
              <a:headEnd type="oval"/>
              <a:tailEnd type="triangle"/>
            </a:ln>
          </p:spPr>
          <p:style>
            <a:lnRef idx="1">
              <a:schemeClr val="accent1"/>
            </a:lnRef>
            <a:fillRef idx="0">
              <a:schemeClr val="accent1"/>
            </a:fillRef>
            <a:effectRef idx="0">
              <a:schemeClr val="accent1"/>
            </a:effectRef>
            <a:fontRef idx="minor">
              <a:schemeClr val="tx1"/>
            </a:fontRef>
          </p:style>
        </p:cxnSp>
      </p:grpSp>
      <p:sp>
        <p:nvSpPr>
          <p:cNvPr id="25" name="Footer Placeholder 3">
            <a:extLst>
              <a:ext uri="{FF2B5EF4-FFF2-40B4-BE49-F238E27FC236}">
                <a16:creationId xmlns:a16="http://schemas.microsoft.com/office/drawing/2014/main" id="{246E4B47-B7AD-0745-91FA-AA77D12D888D}"/>
              </a:ext>
            </a:extLst>
          </p:cNvPr>
          <p:cNvSpPr txBox="1">
            <a:spLocks/>
          </p:cNvSpPr>
          <p:nvPr/>
        </p:nvSpPr>
        <p:spPr>
          <a:xfrm>
            <a:off x="9214069" y="6344564"/>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J Mark Morris</a:t>
            </a: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pSp>
        <p:nvGrpSpPr>
          <p:cNvPr id="9" name="Group 8">
            <a:extLst>
              <a:ext uri="{FF2B5EF4-FFF2-40B4-BE49-F238E27FC236}">
                <a16:creationId xmlns:a16="http://schemas.microsoft.com/office/drawing/2014/main" id="{31017E8F-4F31-A516-F0AA-7D268180E96C}"/>
              </a:ext>
            </a:extLst>
          </p:cNvPr>
          <p:cNvGrpSpPr/>
          <p:nvPr/>
        </p:nvGrpSpPr>
        <p:grpSpPr>
          <a:xfrm>
            <a:off x="10311309" y="3224308"/>
            <a:ext cx="1265090" cy="1897439"/>
            <a:chOff x="839242" y="2412063"/>
            <a:chExt cx="1265090" cy="1897439"/>
          </a:xfrm>
        </p:grpSpPr>
        <p:grpSp>
          <p:nvGrpSpPr>
            <p:cNvPr id="20" name="Group 19">
              <a:extLst>
                <a:ext uri="{FF2B5EF4-FFF2-40B4-BE49-F238E27FC236}">
                  <a16:creationId xmlns:a16="http://schemas.microsoft.com/office/drawing/2014/main" id="{7B450B60-56DD-E447-B796-B112D6F74ECA}"/>
                </a:ext>
              </a:extLst>
            </p:cNvPr>
            <p:cNvGrpSpPr/>
            <p:nvPr/>
          </p:nvGrpSpPr>
          <p:grpSpPr>
            <a:xfrm>
              <a:off x="934089" y="3406958"/>
              <a:ext cx="1075397" cy="902544"/>
              <a:chOff x="5023953" y="4378355"/>
              <a:chExt cx="1303340" cy="1306404"/>
            </a:xfrm>
          </p:grpSpPr>
          <p:cxnSp>
            <p:nvCxnSpPr>
              <p:cNvPr id="23" name="Straight Arrow Connector 22">
                <a:extLst>
                  <a:ext uri="{FF2B5EF4-FFF2-40B4-BE49-F238E27FC236}">
                    <a16:creationId xmlns:a16="http://schemas.microsoft.com/office/drawing/2014/main" id="{CE1E4885-6E99-C949-A2D8-5B8C82D5957E}"/>
                  </a:ext>
                </a:extLst>
              </p:cNvPr>
              <p:cNvCxnSpPr>
                <a:cxnSpLocks/>
              </p:cNvCxnSpPr>
              <p:nvPr/>
            </p:nvCxnSpPr>
            <p:spPr>
              <a:xfrm flipV="1">
                <a:off x="5675623" y="4378355"/>
                <a:ext cx="0" cy="1306404"/>
              </a:xfrm>
              <a:prstGeom prst="straightConnector1">
                <a:avLst/>
              </a:prstGeom>
              <a:ln w="12700">
                <a:solidFill>
                  <a:schemeClr val="bg1"/>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371FBCDF-30F2-6749-9C7D-FE0A8D83337B}"/>
                  </a:ext>
                </a:extLst>
              </p:cNvPr>
              <p:cNvCxnSpPr>
                <a:cxnSpLocks/>
              </p:cNvCxnSpPr>
              <p:nvPr/>
            </p:nvCxnSpPr>
            <p:spPr>
              <a:xfrm rot="2700000" flipV="1">
                <a:off x="5675623" y="4379887"/>
                <a:ext cx="0" cy="1303340"/>
              </a:xfrm>
              <a:prstGeom prst="straightConnector1">
                <a:avLst/>
              </a:prstGeom>
              <a:ln w="12700">
                <a:solidFill>
                  <a:schemeClr val="bg1"/>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BF5810EE-ACDB-6544-9F58-5DEBD8E72D37}"/>
                  </a:ext>
                </a:extLst>
              </p:cNvPr>
              <p:cNvCxnSpPr>
                <a:cxnSpLocks/>
              </p:cNvCxnSpPr>
              <p:nvPr/>
            </p:nvCxnSpPr>
            <p:spPr>
              <a:xfrm flipV="1">
                <a:off x="5134645" y="5013629"/>
                <a:ext cx="1107790" cy="17928"/>
              </a:xfrm>
              <a:prstGeom prst="straightConnector1">
                <a:avLst/>
              </a:prstGeom>
              <a:ln w="12700">
                <a:solidFill>
                  <a:schemeClr val="bg1"/>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3" name="Rectangle 2">
              <a:extLst>
                <a:ext uri="{FF2B5EF4-FFF2-40B4-BE49-F238E27FC236}">
                  <a16:creationId xmlns:a16="http://schemas.microsoft.com/office/drawing/2014/main" id="{B3E4CD37-BCF3-72BF-F3B3-DAC45082593B}"/>
                </a:ext>
              </a:extLst>
            </p:cNvPr>
            <p:cNvSpPr/>
            <p:nvPr/>
          </p:nvSpPr>
          <p:spPr>
            <a:xfrm>
              <a:off x="839242" y="2412063"/>
              <a:ext cx="1265090" cy="92333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3D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Euclidean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Space</a:t>
              </a:r>
            </a:p>
          </p:txBody>
        </p:sp>
      </p:grpSp>
    </p:spTree>
    <p:extLst>
      <p:ext uri="{BB962C8B-B14F-4D97-AF65-F5344CB8AC3E}">
        <p14:creationId xmlns:p14="http://schemas.microsoft.com/office/powerpoint/2010/main" val="35524494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D3BD9-EF0C-1E44-A158-923D0C7D4BB3}"/>
              </a:ext>
            </a:extLst>
          </p:cNvPr>
          <p:cNvSpPr>
            <a:spLocks noGrp="1"/>
          </p:cNvSpPr>
          <p:nvPr>
            <p:ph type="title"/>
          </p:nvPr>
        </p:nvSpPr>
        <p:spPr>
          <a:xfrm>
            <a:off x="2845864" y="279249"/>
            <a:ext cx="6201156" cy="777875"/>
          </a:xfrm>
        </p:spPr>
        <p:txBody>
          <a:bodyPr wrap="none">
            <a:normAutofit/>
          </a:bodyPr>
          <a:lstStyle/>
          <a:p>
            <a:pPr algn="ctr"/>
            <a:r>
              <a:rPr lang="en-US" sz="48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Point Potentials are Immutable</a:t>
            </a:r>
          </a:p>
        </p:txBody>
      </p:sp>
      <p:sp>
        <p:nvSpPr>
          <p:cNvPr id="4" name="Footer Placeholder 3">
            <a:extLst>
              <a:ext uri="{FF2B5EF4-FFF2-40B4-BE49-F238E27FC236}">
                <a16:creationId xmlns:a16="http://schemas.microsoft.com/office/drawing/2014/main" id="{B46B4692-7F2F-6E4B-963F-EC452AE01AA9}"/>
              </a:ext>
            </a:extLst>
          </p:cNvPr>
          <p:cNvSpPr>
            <a:spLocks noGrp="1"/>
          </p:cNvSpPr>
          <p:nvPr>
            <p:ph type="ftr" sz="quarter" idx="11"/>
          </p:nvPr>
        </p:nvSpPr>
        <p:spPr>
          <a:xfrm>
            <a:off x="3589783" y="-693583"/>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Calibri" panose="020F0502020204030204"/>
                <a:ea typeface="+mn-ea"/>
                <a:cs typeface="+mn-cs"/>
              </a:rPr>
              <a:t>J Mark Morris - Model of Nature - May 2021</a:t>
            </a:r>
          </a:p>
        </p:txBody>
      </p:sp>
      <p:grpSp>
        <p:nvGrpSpPr>
          <p:cNvPr id="16" name="Group 15">
            <a:extLst>
              <a:ext uri="{FF2B5EF4-FFF2-40B4-BE49-F238E27FC236}">
                <a16:creationId xmlns:a16="http://schemas.microsoft.com/office/drawing/2014/main" id="{61C70F64-6EA5-EA05-3170-97F09DF5B97A}"/>
              </a:ext>
            </a:extLst>
          </p:cNvPr>
          <p:cNvGrpSpPr/>
          <p:nvPr/>
        </p:nvGrpSpPr>
        <p:grpSpPr>
          <a:xfrm>
            <a:off x="2934383" y="2533902"/>
            <a:ext cx="2985584" cy="3278251"/>
            <a:chOff x="2934383" y="2831497"/>
            <a:chExt cx="2985584" cy="3278251"/>
          </a:xfrm>
        </p:grpSpPr>
        <p:grpSp>
          <p:nvGrpSpPr>
            <p:cNvPr id="12" name="Group 11">
              <a:extLst>
                <a:ext uri="{FF2B5EF4-FFF2-40B4-BE49-F238E27FC236}">
                  <a16:creationId xmlns:a16="http://schemas.microsoft.com/office/drawing/2014/main" id="{45DB1E4A-5739-CC3A-5405-F5D36EF9F331}"/>
                </a:ext>
              </a:extLst>
            </p:cNvPr>
            <p:cNvGrpSpPr/>
            <p:nvPr/>
          </p:nvGrpSpPr>
          <p:grpSpPr>
            <a:xfrm>
              <a:off x="2934383" y="2831497"/>
              <a:ext cx="2985584" cy="3278251"/>
              <a:chOff x="2934383" y="2831497"/>
              <a:chExt cx="2985584" cy="3278251"/>
            </a:xfrm>
          </p:grpSpPr>
          <p:sp>
            <p:nvSpPr>
              <p:cNvPr id="6" name="Oval 5">
                <a:extLst>
                  <a:ext uri="{FF2B5EF4-FFF2-40B4-BE49-F238E27FC236}">
                    <a16:creationId xmlns:a16="http://schemas.microsoft.com/office/drawing/2014/main" id="{38985803-DA6E-8548-BD14-7743C8492FA0}"/>
                  </a:ext>
                </a:extLst>
              </p:cNvPr>
              <p:cNvSpPr/>
              <p:nvPr/>
            </p:nvSpPr>
            <p:spPr>
              <a:xfrm>
                <a:off x="2934383" y="2831497"/>
                <a:ext cx="2985584" cy="2869865"/>
              </a:xfrm>
              <a:prstGeom prst="ellipse">
                <a:avLst/>
              </a:prstGeom>
              <a:solidFill>
                <a:srgbClr val="0070C0"/>
              </a:solidFill>
              <a:ln>
                <a:noFill/>
              </a:ln>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7" name="Rectangle 6">
                <a:extLst>
                  <a:ext uri="{FF2B5EF4-FFF2-40B4-BE49-F238E27FC236}">
                    <a16:creationId xmlns:a16="http://schemas.microsoft.com/office/drawing/2014/main" id="{F2244FC9-B137-EB4E-A718-78190AE91366}"/>
                  </a:ext>
                </a:extLst>
              </p:cNvPr>
              <p:cNvSpPr/>
              <p:nvPr/>
            </p:nvSpPr>
            <p:spPr>
              <a:xfrm>
                <a:off x="3862217" y="5740416"/>
                <a:ext cx="1167307"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Electrino</a:t>
                </a:r>
              </a:p>
            </p:txBody>
          </p:sp>
        </p:grpSp>
        <p:sp>
          <p:nvSpPr>
            <p:cNvPr id="14" name="Minus 13">
              <a:extLst>
                <a:ext uri="{FF2B5EF4-FFF2-40B4-BE49-F238E27FC236}">
                  <a16:creationId xmlns:a16="http://schemas.microsoft.com/office/drawing/2014/main" id="{09ADC253-730C-264F-8155-E49642931ADA}"/>
                </a:ext>
              </a:extLst>
            </p:cNvPr>
            <p:cNvSpPr/>
            <p:nvPr/>
          </p:nvSpPr>
          <p:spPr>
            <a:xfrm>
              <a:off x="3795775" y="3635030"/>
              <a:ext cx="1262798" cy="1262798"/>
            </a:xfrm>
            <a:prstGeom prst="mathMinus">
              <a:avLst/>
            </a:prstGeom>
            <a:solidFill>
              <a:schemeClr val="bg1"/>
            </a:solid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grpSp>
      <p:grpSp>
        <p:nvGrpSpPr>
          <p:cNvPr id="17" name="Group 16">
            <a:extLst>
              <a:ext uri="{FF2B5EF4-FFF2-40B4-BE49-F238E27FC236}">
                <a16:creationId xmlns:a16="http://schemas.microsoft.com/office/drawing/2014/main" id="{99197762-1F6C-CC2A-552D-52828CD3C5D3}"/>
              </a:ext>
            </a:extLst>
          </p:cNvPr>
          <p:cNvGrpSpPr/>
          <p:nvPr/>
        </p:nvGrpSpPr>
        <p:grpSpPr>
          <a:xfrm>
            <a:off x="6360070" y="2533902"/>
            <a:ext cx="2985583" cy="3278251"/>
            <a:chOff x="6360070" y="2838812"/>
            <a:chExt cx="2985583" cy="3278251"/>
          </a:xfrm>
        </p:grpSpPr>
        <p:grpSp>
          <p:nvGrpSpPr>
            <p:cNvPr id="15" name="Group 14">
              <a:extLst>
                <a:ext uri="{FF2B5EF4-FFF2-40B4-BE49-F238E27FC236}">
                  <a16:creationId xmlns:a16="http://schemas.microsoft.com/office/drawing/2014/main" id="{FCBB86F0-7603-7410-74CD-64C8990BBE88}"/>
                </a:ext>
              </a:extLst>
            </p:cNvPr>
            <p:cNvGrpSpPr/>
            <p:nvPr/>
          </p:nvGrpSpPr>
          <p:grpSpPr>
            <a:xfrm>
              <a:off x="6360070" y="2838812"/>
              <a:ext cx="2985583" cy="3278251"/>
              <a:chOff x="6360070" y="2838812"/>
              <a:chExt cx="2985583" cy="3278251"/>
            </a:xfrm>
          </p:grpSpPr>
          <p:sp>
            <p:nvSpPr>
              <p:cNvPr id="5" name="Oval 4">
                <a:extLst>
                  <a:ext uri="{FF2B5EF4-FFF2-40B4-BE49-F238E27FC236}">
                    <a16:creationId xmlns:a16="http://schemas.microsoft.com/office/drawing/2014/main" id="{405A7150-905F-F24D-BF97-63899D0E98A3}"/>
                  </a:ext>
                </a:extLst>
              </p:cNvPr>
              <p:cNvSpPr/>
              <p:nvPr/>
            </p:nvSpPr>
            <p:spPr>
              <a:xfrm>
                <a:off x="6360070" y="2838812"/>
                <a:ext cx="2985583" cy="2869865"/>
              </a:xfrm>
              <a:prstGeom prst="ellipse">
                <a:avLst/>
              </a:prstGeom>
              <a:solidFill>
                <a:srgbClr val="FF0000"/>
              </a:solidFill>
              <a:ln>
                <a:noFill/>
              </a:ln>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8" name="Rectangle 7">
                <a:extLst>
                  <a:ext uri="{FF2B5EF4-FFF2-40B4-BE49-F238E27FC236}">
                    <a16:creationId xmlns:a16="http://schemas.microsoft.com/office/drawing/2014/main" id="{930F45C2-0FE5-F04C-B568-5F9239FE086D}"/>
                  </a:ext>
                </a:extLst>
              </p:cNvPr>
              <p:cNvSpPr/>
              <p:nvPr/>
            </p:nvSpPr>
            <p:spPr>
              <a:xfrm>
                <a:off x="7268919" y="5747731"/>
                <a:ext cx="117051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Positrino</a:t>
                </a:r>
              </a:p>
            </p:txBody>
          </p:sp>
        </p:grpSp>
        <p:sp>
          <p:nvSpPr>
            <p:cNvPr id="13" name="Plus 12">
              <a:extLst>
                <a:ext uri="{FF2B5EF4-FFF2-40B4-BE49-F238E27FC236}">
                  <a16:creationId xmlns:a16="http://schemas.microsoft.com/office/drawing/2014/main" id="{A2F97F06-5AE9-B844-8A28-B02FF48414FF}"/>
                </a:ext>
              </a:extLst>
            </p:cNvPr>
            <p:cNvSpPr/>
            <p:nvPr/>
          </p:nvSpPr>
          <p:spPr>
            <a:xfrm>
              <a:off x="7156370" y="3577253"/>
              <a:ext cx="1392983" cy="1392983"/>
            </a:xfrm>
            <a:prstGeom prst="mathPlus">
              <a:avLst/>
            </a:prstGeom>
            <a:solidFill>
              <a:schemeClr val="bg1"/>
            </a:solid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grpSp>
      <p:sp>
        <p:nvSpPr>
          <p:cNvPr id="33" name="Rectangle 32">
            <a:extLst>
              <a:ext uri="{FF2B5EF4-FFF2-40B4-BE49-F238E27FC236}">
                <a16:creationId xmlns:a16="http://schemas.microsoft.com/office/drawing/2014/main" id="{6FB04752-7BBD-3648-BE22-8D983884B555}"/>
              </a:ext>
            </a:extLst>
          </p:cNvPr>
          <p:cNvSpPr/>
          <p:nvPr/>
        </p:nvSpPr>
        <p:spPr>
          <a:xfrm>
            <a:off x="3623032" y="1372790"/>
            <a:ext cx="4992072" cy="52322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1"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No known origin or demise. </a:t>
            </a:r>
            <a:endParaRPr kumimoji="0" lang="en-US" sz="2800" b="1" i="0" u="none" strike="noStrike" kern="1200" cap="none" spc="0" normalizeH="0" baseline="0" noProof="0" dirty="0">
              <a:ln>
                <a:noFill/>
              </a:ln>
              <a:solidFill>
                <a:srgbClr val="FFC000"/>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grpSp>
        <p:nvGrpSpPr>
          <p:cNvPr id="11" name="Group 10">
            <a:extLst>
              <a:ext uri="{FF2B5EF4-FFF2-40B4-BE49-F238E27FC236}">
                <a16:creationId xmlns:a16="http://schemas.microsoft.com/office/drawing/2014/main" id="{330CC259-8ECA-9504-DF84-043CB2F2838C}"/>
              </a:ext>
            </a:extLst>
          </p:cNvPr>
          <p:cNvGrpSpPr/>
          <p:nvPr/>
        </p:nvGrpSpPr>
        <p:grpSpPr>
          <a:xfrm>
            <a:off x="1035610" y="3622462"/>
            <a:ext cx="872354" cy="1101131"/>
            <a:chOff x="1035610" y="4601259"/>
            <a:chExt cx="872354" cy="1101131"/>
          </a:xfrm>
        </p:grpSpPr>
        <p:sp>
          <p:nvSpPr>
            <p:cNvPr id="32" name="Rectangle 31">
              <a:extLst>
                <a:ext uri="{FF2B5EF4-FFF2-40B4-BE49-F238E27FC236}">
                  <a16:creationId xmlns:a16="http://schemas.microsoft.com/office/drawing/2014/main" id="{90B4F778-AAF3-8441-A126-EF65BDDCA5EE}"/>
                </a:ext>
              </a:extLst>
            </p:cNvPr>
            <p:cNvSpPr/>
            <p:nvPr/>
          </p:nvSpPr>
          <p:spPr>
            <a:xfrm>
              <a:off x="1035610" y="4601259"/>
              <a:ext cx="872354" cy="92333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1D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Linear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Time</a:t>
              </a:r>
            </a:p>
          </p:txBody>
        </p:sp>
        <p:cxnSp>
          <p:nvCxnSpPr>
            <p:cNvPr id="24" name="Straight Arrow Connector 23">
              <a:extLst>
                <a:ext uri="{FF2B5EF4-FFF2-40B4-BE49-F238E27FC236}">
                  <a16:creationId xmlns:a16="http://schemas.microsoft.com/office/drawing/2014/main" id="{282275DC-2AB9-8842-B077-479BC4E05F88}"/>
                </a:ext>
              </a:extLst>
            </p:cNvPr>
            <p:cNvCxnSpPr>
              <a:cxnSpLocks/>
            </p:cNvCxnSpPr>
            <p:nvPr/>
          </p:nvCxnSpPr>
          <p:spPr>
            <a:xfrm flipV="1">
              <a:off x="1231394" y="5702387"/>
              <a:ext cx="480786" cy="3"/>
            </a:xfrm>
            <a:prstGeom prst="straightConnector1">
              <a:avLst/>
            </a:prstGeom>
            <a:ln w="12700">
              <a:solidFill>
                <a:schemeClr val="bg1"/>
              </a:solidFill>
              <a:prstDash val="sysDot"/>
              <a:headEnd type="oval"/>
              <a:tailEnd type="triangle"/>
            </a:ln>
          </p:spPr>
          <p:style>
            <a:lnRef idx="1">
              <a:schemeClr val="accent1"/>
            </a:lnRef>
            <a:fillRef idx="0">
              <a:schemeClr val="accent1"/>
            </a:fillRef>
            <a:effectRef idx="0">
              <a:schemeClr val="accent1"/>
            </a:effectRef>
            <a:fontRef idx="minor">
              <a:schemeClr val="tx1"/>
            </a:fontRef>
          </p:style>
        </p:cxnSp>
      </p:grpSp>
      <p:sp>
        <p:nvSpPr>
          <p:cNvPr id="25" name="Footer Placeholder 3">
            <a:extLst>
              <a:ext uri="{FF2B5EF4-FFF2-40B4-BE49-F238E27FC236}">
                <a16:creationId xmlns:a16="http://schemas.microsoft.com/office/drawing/2014/main" id="{246E4B47-B7AD-0745-91FA-AA77D12D888D}"/>
              </a:ext>
            </a:extLst>
          </p:cNvPr>
          <p:cNvSpPr txBox="1">
            <a:spLocks/>
          </p:cNvSpPr>
          <p:nvPr/>
        </p:nvSpPr>
        <p:spPr>
          <a:xfrm>
            <a:off x="9214069" y="6344564"/>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J Mark Morris</a:t>
            </a: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pSp>
        <p:nvGrpSpPr>
          <p:cNvPr id="9" name="Group 8">
            <a:extLst>
              <a:ext uri="{FF2B5EF4-FFF2-40B4-BE49-F238E27FC236}">
                <a16:creationId xmlns:a16="http://schemas.microsoft.com/office/drawing/2014/main" id="{31017E8F-4F31-A516-F0AA-7D268180E96C}"/>
              </a:ext>
            </a:extLst>
          </p:cNvPr>
          <p:cNvGrpSpPr/>
          <p:nvPr/>
        </p:nvGrpSpPr>
        <p:grpSpPr>
          <a:xfrm>
            <a:off x="10311309" y="3224308"/>
            <a:ext cx="1265090" cy="1897439"/>
            <a:chOff x="839242" y="2412063"/>
            <a:chExt cx="1265090" cy="1897439"/>
          </a:xfrm>
        </p:grpSpPr>
        <p:grpSp>
          <p:nvGrpSpPr>
            <p:cNvPr id="20" name="Group 19">
              <a:extLst>
                <a:ext uri="{FF2B5EF4-FFF2-40B4-BE49-F238E27FC236}">
                  <a16:creationId xmlns:a16="http://schemas.microsoft.com/office/drawing/2014/main" id="{7B450B60-56DD-E447-B796-B112D6F74ECA}"/>
                </a:ext>
              </a:extLst>
            </p:cNvPr>
            <p:cNvGrpSpPr/>
            <p:nvPr/>
          </p:nvGrpSpPr>
          <p:grpSpPr>
            <a:xfrm>
              <a:off x="934089" y="3406958"/>
              <a:ext cx="1075397" cy="902544"/>
              <a:chOff x="5023953" y="4378355"/>
              <a:chExt cx="1303340" cy="1306404"/>
            </a:xfrm>
          </p:grpSpPr>
          <p:cxnSp>
            <p:nvCxnSpPr>
              <p:cNvPr id="23" name="Straight Arrow Connector 22">
                <a:extLst>
                  <a:ext uri="{FF2B5EF4-FFF2-40B4-BE49-F238E27FC236}">
                    <a16:creationId xmlns:a16="http://schemas.microsoft.com/office/drawing/2014/main" id="{CE1E4885-6E99-C949-A2D8-5B8C82D5957E}"/>
                  </a:ext>
                </a:extLst>
              </p:cNvPr>
              <p:cNvCxnSpPr>
                <a:cxnSpLocks/>
              </p:cNvCxnSpPr>
              <p:nvPr/>
            </p:nvCxnSpPr>
            <p:spPr>
              <a:xfrm flipV="1">
                <a:off x="5675623" y="4378355"/>
                <a:ext cx="0" cy="1306404"/>
              </a:xfrm>
              <a:prstGeom prst="straightConnector1">
                <a:avLst/>
              </a:prstGeom>
              <a:ln w="12700">
                <a:solidFill>
                  <a:schemeClr val="bg1"/>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371FBCDF-30F2-6749-9C7D-FE0A8D83337B}"/>
                  </a:ext>
                </a:extLst>
              </p:cNvPr>
              <p:cNvCxnSpPr>
                <a:cxnSpLocks/>
              </p:cNvCxnSpPr>
              <p:nvPr/>
            </p:nvCxnSpPr>
            <p:spPr>
              <a:xfrm rot="2700000" flipV="1">
                <a:off x="5675623" y="4379887"/>
                <a:ext cx="0" cy="1303340"/>
              </a:xfrm>
              <a:prstGeom prst="straightConnector1">
                <a:avLst/>
              </a:prstGeom>
              <a:ln w="12700">
                <a:solidFill>
                  <a:schemeClr val="bg1"/>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BF5810EE-ACDB-6544-9F58-5DEBD8E72D37}"/>
                  </a:ext>
                </a:extLst>
              </p:cNvPr>
              <p:cNvCxnSpPr>
                <a:cxnSpLocks/>
              </p:cNvCxnSpPr>
              <p:nvPr/>
            </p:nvCxnSpPr>
            <p:spPr>
              <a:xfrm flipV="1">
                <a:off x="5134645" y="5013629"/>
                <a:ext cx="1107790" cy="17928"/>
              </a:xfrm>
              <a:prstGeom prst="straightConnector1">
                <a:avLst/>
              </a:prstGeom>
              <a:ln w="12700">
                <a:solidFill>
                  <a:schemeClr val="bg1"/>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3" name="Rectangle 2">
              <a:extLst>
                <a:ext uri="{FF2B5EF4-FFF2-40B4-BE49-F238E27FC236}">
                  <a16:creationId xmlns:a16="http://schemas.microsoft.com/office/drawing/2014/main" id="{B3E4CD37-BCF3-72BF-F3B3-DAC45082593B}"/>
                </a:ext>
              </a:extLst>
            </p:cNvPr>
            <p:cNvSpPr/>
            <p:nvPr/>
          </p:nvSpPr>
          <p:spPr>
            <a:xfrm>
              <a:off x="839242" y="2412063"/>
              <a:ext cx="1265090" cy="92333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3D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Euclidean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Space</a:t>
              </a:r>
            </a:p>
          </p:txBody>
        </p:sp>
      </p:grpSp>
      <p:sp>
        <p:nvSpPr>
          <p:cNvPr id="10" name="Rectangle 9">
            <a:extLst>
              <a:ext uri="{FF2B5EF4-FFF2-40B4-BE49-F238E27FC236}">
                <a16:creationId xmlns:a16="http://schemas.microsoft.com/office/drawing/2014/main" id="{92D7FC57-9DDC-21AE-9917-F7C426BFA952}"/>
              </a:ext>
            </a:extLst>
          </p:cNvPr>
          <p:cNvSpPr/>
          <p:nvPr/>
        </p:nvSpPr>
        <p:spPr>
          <a:xfrm>
            <a:off x="2733526" y="6157794"/>
            <a:ext cx="6771084" cy="369332"/>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Pair Production and Annihilation are Not Necessary in the Model</a:t>
            </a:r>
            <a:endParaRPr kumimoji="0" lang="en-US" i="1"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7688245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D3BD9-EF0C-1E44-A158-923D0C7D4BB3}"/>
              </a:ext>
            </a:extLst>
          </p:cNvPr>
          <p:cNvSpPr>
            <a:spLocks noGrp="1"/>
          </p:cNvSpPr>
          <p:nvPr>
            <p:ph type="title"/>
          </p:nvPr>
        </p:nvSpPr>
        <p:spPr>
          <a:xfrm>
            <a:off x="2845864" y="279249"/>
            <a:ext cx="6201156" cy="777875"/>
          </a:xfrm>
        </p:spPr>
        <p:txBody>
          <a:bodyPr wrap="none">
            <a:normAutofit/>
          </a:bodyPr>
          <a:lstStyle/>
          <a:p>
            <a:pPr algn="ctr"/>
            <a:r>
              <a:rPr lang="en-US" sz="48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Point Potential Energy</a:t>
            </a:r>
          </a:p>
        </p:txBody>
      </p:sp>
      <p:sp>
        <p:nvSpPr>
          <p:cNvPr id="4" name="Footer Placeholder 3">
            <a:extLst>
              <a:ext uri="{FF2B5EF4-FFF2-40B4-BE49-F238E27FC236}">
                <a16:creationId xmlns:a16="http://schemas.microsoft.com/office/drawing/2014/main" id="{B46B4692-7F2F-6E4B-963F-EC452AE01AA9}"/>
              </a:ext>
            </a:extLst>
          </p:cNvPr>
          <p:cNvSpPr>
            <a:spLocks noGrp="1"/>
          </p:cNvSpPr>
          <p:nvPr>
            <p:ph type="ftr" sz="quarter" idx="11"/>
          </p:nvPr>
        </p:nvSpPr>
        <p:spPr>
          <a:xfrm>
            <a:off x="3589783" y="-693583"/>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Calibri" panose="020F0502020204030204"/>
                <a:ea typeface="+mn-ea"/>
                <a:cs typeface="+mn-cs"/>
              </a:rPr>
              <a:t>J Mark Morris - Model of Nature - May 2021</a:t>
            </a:r>
          </a:p>
        </p:txBody>
      </p:sp>
      <p:grpSp>
        <p:nvGrpSpPr>
          <p:cNvPr id="16" name="Group 15">
            <a:extLst>
              <a:ext uri="{FF2B5EF4-FFF2-40B4-BE49-F238E27FC236}">
                <a16:creationId xmlns:a16="http://schemas.microsoft.com/office/drawing/2014/main" id="{61C70F64-6EA5-EA05-3170-97F09DF5B97A}"/>
              </a:ext>
            </a:extLst>
          </p:cNvPr>
          <p:cNvGrpSpPr/>
          <p:nvPr/>
        </p:nvGrpSpPr>
        <p:grpSpPr>
          <a:xfrm>
            <a:off x="2934383" y="2533902"/>
            <a:ext cx="2985584" cy="3278251"/>
            <a:chOff x="2934383" y="2831497"/>
            <a:chExt cx="2985584" cy="3278251"/>
          </a:xfrm>
        </p:grpSpPr>
        <p:grpSp>
          <p:nvGrpSpPr>
            <p:cNvPr id="12" name="Group 11">
              <a:extLst>
                <a:ext uri="{FF2B5EF4-FFF2-40B4-BE49-F238E27FC236}">
                  <a16:creationId xmlns:a16="http://schemas.microsoft.com/office/drawing/2014/main" id="{45DB1E4A-5739-CC3A-5405-F5D36EF9F331}"/>
                </a:ext>
              </a:extLst>
            </p:cNvPr>
            <p:cNvGrpSpPr/>
            <p:nvPr/>
          </p:nvGrpSpPr>
          <p:grpSpPr>
            <a:xfrm>
              <a:off x="2934383" y="2831497"/>
              <a:ext cx="2985584" cy="3278251"/>
              <a:chOff x="2934383" y="2831497"/>
              <a:chExt cx="2985584" cy="3278251"/>
            </a:xfrm>
          </p:grpSpPr>
          <p:sp>
            <p:nvSpPr>
              <p:cNvPr id="6" name="Oval 5">
                <a:extLst>
                  <a:ext uri="{FF2B5EF4-FFF2-40B4-BE49-F238E27FC236}">
                    <a16:creationId xmlns:a16="http://schemas.microsoft.com/office/drawing/2014/main" id="{38985803-DA6E-8548-BD14-7743C8492FA0}"/>
                  </a:ext>
                </a:extLst>
              </p:cNvPr>
              <p:cNvSpPr/>
              <p:nvPr/>
            </p:nvSpPr>
            <p:spPr>
              <a:xfrm>
                <a:off x="2934383" y="2831497"/>
                <a:ext cx="2985584" cy="2869865"/>
              </a:xfrm>
              <a:prstGeom prst="ellipse">
                <a:avLst/>
              </a:prstGeom>
              <a:solidFill>
                <a:srgbClr val="0070C0"/>
              </a:solidFill>
              <a:ln>
                <a:noFill/>
              </a:ln>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7" name="Rectangle 6">
                <a:extLst>
                  <a:ext uri="{FF2B5EF4-FFF2-40B4-BE49-F238E27FC236}">
                    <a16:creationId xmlns:a16="http://schemas.microsoft.com/office/drawing/2014/main" id="{F2244FC9-B137-EB4E-A718-78190AE91366}"/>
                  </a:ext>
                </a:extLst>
              </p:cNvPr>
              <p:cNvSpPr/>
              <p:nvPr/>
            </p:nvSpPr>
            <p:spPr>
              <a:xfrm>
                <a:off x="3862217" y="5740416"/>
                <a:ext cx="1167307"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Electrino</a:t>
                </a:r>
              </a:p>
            </p:txBody>
          </p:sp>
        </p:grpSp>
        <p:sp>
          <p:nvSpPr>
            <p:cNvPr id="14" name="Minus 13">
              <a:extLst>
                <a:ext uri="{FF2B5EF4-FFF2-40B4-BE49-F238E27FC236}">
                  <a16:creationId xmlns:a16="http://schemas.microsoft.com/office/drawing/2014/main" id="{09ADC253-730C-264F-8155-E49642931ADA}"/>
                </a:ext>
              </a:extLst>
            </p:cNvPr>
            <p:cNvSpPr/>
            <p:nvPr/>
          </p:nvSpPr>
          <p:spPr>
            <a:xfrm>
              <a:off x="3795775" y="3635030"/>
              <a:ext cx="1262798" cy="1262798"/>
            </a:xfrm>
            <a:prstGeom prst="mathMinus">
              <a:avLst/>
            </a:prstGeom>
            <a:solidFill>
              <a:schemeClr val="bg1"/>
            </a:solid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grpSp>
      <p:grpSp>
        <p:nvGrpSpPr>
          <p:cNvPr id="17" name="Group 16">
            <a:extLst>
              <a:ext uri="{FF2B5EF4-FFF2-40B4-BE49-F238E27FC236}">
                <a16:creationId xmlns:a16="http://schemas.microsoft.com/office/drawing/2014/main" id="{99197762-1F6C-CC2A-552D-52828CD3C5D3}"/>
              </a:ext>
            </a:extLst>
          </p:cNvPr>
          <p:cNvGrpSpPr/>
          <p:nvPr/>
        </p:nvGrpSpPr>
        <p:grpSpPr>
          <a:xfrm>
            <a:off x="6360070" y="2533902"/>
            <a:ext cx="2985583" cy="3278251"/>
            <a:chOff x="6360070" y="2838812"/>
            <a:chExt cx="2985583" cy="3278251"/>
          </a:xfrm>
        </p:grpSpPr>
        <p:grpSp>
          <p:nvGrpSpPr>
            <p:cNvPr id="15" name="Group 14">
              <a:extLst>
                <a:ext uri="{FF2B5EF4-FFF2-40B4-BE49-F238E27FC236}">
                  <a16:creationId xmlns:a16="http://schemas.microsoft.com/office/drawing/2014/main" id="{FCBB86F0-7603-7410-74CD-64C8990BBE88}"/>
                </a:ext>
              </a:extLst>
            </p:cNvPr>
            <p:cNvGrpSpPr/>
            <p:nvPr/>
          </p:nvGrpSpPr>
          <p:grpSpPr>
            <a:xfrm>
              <a:off x="6360070" y="2838812"/>
              <a:ext cx="2985583" cy="3278251"/>
              <a:chOff x="6360070" y="2838812"/>
              <a:chExt cx="2985583" cy="3278251"/>
            </a:xfrm>
          </p:grpSpPr>
          <p:sp>
            <p:nvSpPr>
              <p:cNvPr id="5" name="Oval 4">
                <a:extLst>
                  <a:ext uri="{FF2B5EF4-FFF2-40B4-BE49-F238E27FC236}">
                    <a16:creationId xmlns:a16="http://schemas.microsoft.com/office/drawing/2014/main" id="{405A7150-905F-F24D-BF97-63899D0E98A3}"/>
                  </a:ext>
                </a:extLst>
              </p:cNvPr>
              <p:cNvSpPr/>
              <p:nvPr/>
            </p:nvSpPr>
            <p:spPr>
              <a:xfrm>
                <a:off x="6360070" y="2838812"/>
                <a:ext cx="2985583" cy="2869865"/>
              </a:xfrm>
              <a:prstGeom prst="ellipse">
                <a:avLst/>
              </a:prstGeom>
              <a:solidFill>
                <a:srgbClr val="FF0000"/>
              </a:solidFill>
              <a:ln>
                <a:noFill/>
              </a:ln>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8" name="Rectangle 7">
                <a:extLst>
                  <a:ext uri="{FF2B5EF4-FFF2-40B4-BE49-F238E27FC236}">
                    <a16:creationId xmlns:a16="http://schemas.microsoft.com/office/drawing/2014/main" id="{930F45C2-0FE5-F04C-B568-5F9239FE086D}"/>
                  </a:ext>
                </a:extLst>
              </p:cNvPr>
              <p:cNvSpPr/>
              <p:nvPr/>
            </p:nvSpPr>
            <p:spPr>
              <a:xfrm>
                <a:off x="7268919" y="5747731"/>
                <a:ext cx="117051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Positrino</a:t>
                </a:r>
              </a:p>
            </p:txBody>
          </p:sp>
        </p:grpSp>
        <p:sp>
          <p:nvSpPr>
            <p:cNvPr id="13" name="Plus 12">
              <a:extLst>
                <a:ext uri="{FF2B5EF4-FFF2-40B4-BE49-F238E27FC236}">
                  <a16:creationId xmlns:a16="http://schemas.microsoft.com/office/drawing/2014/main" id="{A2F97F06-5AE9-B844-8A28-B02FF48414FF}"/>
                </a:ext>
              </a:extLst>
            </p:cNvPr>
            <p:cNvSpPr/>
            <p:nvPr/>
          </p:nvSpPr>
          <p:spPr>
            <a:xfrm>
              <a:off x="7156370" y="3577253"/>
              <a:ext cx="1392983" cy="1392983"/>
            </a:xfrm>
            <a:prstGeom prst="mathPlus">
              <a:avLst/>
            </a:prstGeom>
            <a:solidFill>
              <a:schemeClr val="bg1"/>
            </a:solid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grpSp>
      <p:sp>
        <p:nvSpPr>
          <p:cNvPr id="33" name="Rectangle 32">
            <a:extLst>
              <a:ext uri="{FF2B5EF4-FFF2-40B4-BE49-F238E27FC236}">
                <a16:creationId xmlns:a16="http://schemas.microsoft.com/office/drawing/2014/main" id="{6FB04752-7BBD-3648-BE22-8D983884B555}"/>
              </a:ext>
            </a:extLst>
          </p:cNvPr>
          <p:cNvSpPr/>
          <p:nvPr/>
        </p:nvSpPr>
        <p:spPr>
          <a:xfrm>
            <a:off x="408092" y="1372790"/>
            <a:ext cx="11421973" cy="954107"/>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1"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Point Potentials are Constant Rate Emitters of Potential.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C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Action of Potential Emissions on Point Potentials Changes Energy.</a:t>
            </a:r>
          </a:p>
        </p:txBody>
      </p:sp>
      <p:grpSp>
        <p:nvGrpSpPr>
          <p:cNvPr id="11" name="Group 10">
            <a:extLst>
              <a:ext uri="{FF2B5EF4-FFF2-40B4-BE49-F238E27FC236}">
                <a16:creationId xmlns:a16="http://schemas.microsoft.com/office/drawing/2014/main" id="{330CC259-8ECA-9504-DF84-043CB2F2838C}"/>
              </a:ext>
            </a:extLst>
          </p:cNvPr>
          <p:cNvGrpSpPr/>
          <p:nvPr/>
        </p:nvGrpSpPr>
        <p:grpSpPr>
          <a:xfrm>
            <a:off x="1035610" y="3622462"/>
            <a:ext cx="872354" cy="1101131"/>
            <a:chOff x="1035610" y="4601259"/>
            <a:chExt cx="872354" cy="1101131"/>
          </a:xfrm>
        </p:grpSpPr>
        <p:sp>
          <p:nvSpPr>
            <p:cNvPr id="32" name="Rectangle 31">
              <a:extLst>
                <a:ext uri="{FF2B5EF4-FFF2-40B4-BE49-F238E27FC236}">
                  <a16:creationId xmlns:a16="http://schemas.microsoft.com/office/drawing/2014/main" id="{90B4F778-AAF3-8441-A126-EF65BDDCA5EE}"/>
                </a:ext>
              </a:extLst>
            </p:cNvPr>
            <p:cNvSpPr/>
            <p:nvPr/>
          </p:nvSpPr>
          <p:spPr>
            <a:xfrm>
              <a:off x="1035610" y="4601259"/>
              <a:ext cx="872354" cy="92333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1D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Linear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Time</a:t>
              </a:r>
            </a:p>
          </p:txBody>
        </p:sp>
        <p:cxnSp>
          <p:nvCxnSpPr>
            <p:cNvPr id="24" name="Straight Arrow Connector 23">
              <a:extLst>
                <a:ext uri="{FF2B5EF4-FFF2-40B4-BE49-F238E27FC236}">
                  <a16:creationId xmlns:a16="http://schemas.microsoft.com/office/drawing/2014/main" id="{282275DC-2AB9-8842-B077-479BC4E05F88}"/>
                </a:ext>
              </a:extLst>
            </p:cNvPr>
            <p:cNvCxnSpPr>
              <a:cxnSpLocks/>
            </p:cNvCxnSpPr>
            <p:nvPr/>
          </p:nvCxnSpPr>
          <p:spPr>
            <a:xfrm flipV="1">
              <a:off x="1231394" y="5702387"/>
              <a:ext cx="480786" cy="3"/>
            </a:xfrm>
            <a:prstGeom prst="straightConnector1">
              <a:avLst/>
            </a:prstGeom>
            <a:ln w="12700">
              <a:solidFill>
                <a:schemeClr val="bg1"/>
              </a:solidFill>
              <a:prstDash val="sysDot"/>
              <a:headEnd type="oval"/>
              <a:tailEnd type="triangle"/>
            </a:ln>
          </p:spPr>
          <p:style>
            <a:lnRef idx="1">
              <a:schemeClr val="accent1"/>
            </a:lnRef>
            <a:fillRef idx="0">
              <a:schemeClr val="accent1"/>
            </a:fillRef>
            <a:effectRef idx="0">
              <a:schemeClr val="accent1"/>
            </a:effectRef>
            <a:fontRef idx="minor">
              <a:schemeClr val="tx1"/>
            </a:fontRef>
          </p:style>
        </p:cxnSp>
      </p:grpSp>
      <p:sp>
        <p:nvSpPr>
          <p:cNvPr id="25" name="Footer Placeholder 3">
            <a:extLst>
              <a:ext uri="{FF2B5EF4-FFF2-40B4-BE49-F238E27FC236}">
                <a16:creationId xmlns:a16="http://schemas.microsoft.com/office/drawing/2014/main" id="{246E4B47-B7AD-0745-91FA-AA77D12D888D}"/>
              </a:ext>
            </a:extLst>
          </p:cNvPr>
          <p:cNvSpPr txBox="1">
            <a:spLocks/>
          </p:cNvSpPr>
          <p:nvPr/>
        </p:nvSpPr>
        <p:spPr>
          <a:xfrm>
            <a:off x="9214069" y="6344564"/>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J Mark Morris</a:t>
            </a: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pSp>
        <p:nvGrpSpPr>
          <p:cNvPr id="9" name="Group 8">
            <a:extLst>
              <a:ext uri="{FF2B5EF4-FFF2-40B4-BE49-F238E27FC236}">
                <a16:creationId xmlns:a16="http://schemas.microsoft.com/office/drawing/2014/main" id="{31017E8F-4F31-A516-F0AA-7D268180E96C}"/>
              </a:ext>
            </a:extLst>
          </p:cNvPr>
          <p:cNvGrpSpPr/>
          <p:nvPr/>
        </p:nvGrpSpPr>
        <p:grpSpPr>
          <a:xfrm>
            <a:off x="10311309" y="3224308"/>
            <a:ext cx="1265090" cy="1897439"/>
            <a:chOff x="839242" y="2412063"/>
            <a:chExt cx="1265090" cy="1897439"/>
          </a:xfrm>
        </p:grpSpPr>
        <p:grpSp>
          <p:nvGrpSpPr>
            <p:cNvPr id="20" name="Group 19">
              <a:extLst>
                <a:ext uri="{FF2B5EF4-FFF2-40B4-BE49-F238E27FC236}">
                  <a16:creationId xmlns:a16="http://schemas.microsoft.com/office/drawing/2014/main" id="{7B450B60-56DD-E447-B796-B112D6F74ECA}"/>
                </a:ext>
              </a:extLst>
            </p:cNvPr>
            <p:cNvGrpSpPr/>
            <p:nvPr/>
          </p:nvGrpSpPr>
          <p:grpSpPr>
            <a:xfrm>
              <a:off x="934089" y="3406958"/>
              <a:ext cx="1075397" cy="902544"/>
              <a:chOff x="5023953" y="4378355"/>
              <a:chExt cx="1303340" cy="1306404"/>
            </a:xfrm>
          </p:grpSpPr>
          <p:cxnSp>
            <p:nvCxnSpPr>
              <p:cNvPr id="23" name="Straight Arrow Connector 22">
                <a:extLst>
                  <a:ext uri="{FF2B5EF4-FFF2-40B4-BE49-F238E27FC236}">
                    <a16:creationId xmlns:a16="http://schemas.microsoft.com/office/drawing/2014/main" id="{CE1E4885-6E99-C949-A2D8-5B8C82D5957E}"/>
                  </a:ext>
                </a:extLst>
              </p:cNvPr>
              <p:cNvCxnSpPr>
                <a:cxnSpLocks/>
              </p:cNvCxnSpPr>
              <p:nvPr/>
            </p:nvCxnSpPr>
            <p:spPr>
              <a:xfrm flipV="1">
                <a:off x="5675623" y="4378355"/>
                <a:ext cx="0" cy="1306404"/>
              </a:xfrm>
              <a:prstGeom prst="straightConnector1">
                <a:avLst/>
              </a:prstGeom>
              <a:ln w="12700">
                <a:solidFill>
                  <a:schemeClr val="bg1"/>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371FBCDF-30F2-6749-9C7D-FE0A8D83337B}"/>
                  </a:ext>
                </a:extLst>
              </p:cNvPr>
              <p:cNvCxnSpPr>
                <a:cxnSpLocks/>
              </p:cNvCxnSpPr>
              <p:nvPr/>
            </p:nvCxnSpPr>
            <p:spPr>
              <a:xfrm rot="2700000" flipV="1">
                <a:off x="5675623" y="4379887"/>
                <a:ext cx="0" cy="1303340"/>
              </a:xfrm>
              <a:prstGeom prst="straightConnector1">
                <a:avLst/>
              </a:prstGeom>
              <a:ln w="12700">
                <a:solidFill>
                  <a:schemeClr val="bg1"/>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BF5810EE-ACDB-6544-9F58-5DEBD8E72D37}"/>
                  </a:ext>
                </a:extLst>
              </p:cNvPr>
              <p:cNvCxnSpPr>
                <a:cxnSpLocks/>
              </p:cNvCxnSpPr>
              <p:nvPr/>
            </p:nvCxnSpPr>
            <p:spPr>
              <a:xfrm flipV="1">
                <a:off x="5134645" y="5013629"/>
                <a:ext cx="1107790" cy="17928"/>
              </a:xfrm>
              <a:prstGeom prst="straightConnector1">
                <a:avLst/>
              </a:prstGeom>
              <a:ln w="12700">
                <a:solidFill>
                  <a:schemeClr val="bg1"/>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3" name="Rectangle 2">
              <a:extLst>
                <a:ext uri="{FF2B5EF4-FFF2-40B4-BE49-F238E27FC236}">
                  <a16:creationId xmlns:a16="http://schemas.microsoft.com/office/drawing/2014/main" id="{B3E4CD37-BCF3-72BF-F3B3-DAC45082593B}"/>
                </a:ext>
              </a:extLst>
            </p:cNvPr>
            <p:cNvSpPr/>
            <p:nvPr/>
          </p:nvSpPr>
          <p:spPr>
            <a:xfrm>
              <a:off x="839242" y="2412063"/>
              <a:ext cx="1265090" cy="92333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3D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Euclidean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Space</a:t>
              </a:r>
            </a:p>
          </p:txBody>
        </p:sp>
      </p:grpSp>
    </p:spTree>
    <p:extLst>
      <p:ext uri="{BB962C8B-B14F-4D97-AF65-F5344CB8AC3E}">
        <p14:creationId xmlns:p14="http://schemas.microsoft.com/office/powerpoint/2010/main" val="10168107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D3BD9-EF0C-1E44-A158-923D0C7D4BB3}"/>
              </a:ext>
            </a:extLst>
          </p:cNvPr>
          <p:cNvSpPr>
            <a:spLocks noGrp="1"/>
          </p:cNvSpPr>
          <p:nvPr>
            <p:ph type="title"/>
          </p:nvPr>
        </p:nvSpPr>
        <p:spPr>
          <a:xfrm>
            <a:off x="2995422" y="324846"/>
            <a:ext cx="6201156" cy="777875"/>
          </a:xfrm>
        </p:spPr>
        <p:txBody>
          <a:bodyPr wrap="none">
            <a:normAutofit/>
          </a:bodyPr>
          <a:lstStyle/>
          <a:p>
            <a:pPr algn="ctr"/>
            <a:r>
              <a:rPr lang="en-US" sz="48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Large Scale Point Potential Observables</a:t>
            </a:r>
          </a:p>
        </p:txBody>
      </p:sp>
      <p:sp>
        <p:nvSpPr>
          <p:cNvPr id="4" name="Footer Placeholder 3">
            <a:extLst>
              <a:ext uri="{FF2B5EF4-FFF2-40B4-BE49-F238E27FC236}">
                <a16:creationId xmlns:a16="http://schemas.microsoft.com/office/drawing/2014/main" id="{B46B4692-7F2F-6E4B-963F-EC452AE01AA9}"/>
              </a:ext>
            </a:extLst>
          </p:cNvPr>
          <p:cNvSpPr>
            <a:spLocks noGrp="1"/>
          </p:cNvSpPr>
          <p:nvPr>
            <p:ph type="ftr" sz="quarter" idx="11"/>
          </p:nvPr>
        </p:nvSpPr>
        <p:spPr>
          <a:xfrm>
            <a:off x="3589783" y="-693583"/>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Calibri" panose="020F0502020204030204"/>
                <a:ea typeface="+mn-ea"/>
                <a:cs typeface="+mn-cs"/>
              </a:rPr>
              <a:t>J Mark Morris - Model of Nature - May 2021</a:t>
            </a:r>
          </a:p>
        </p:txBody>
      </p:sp>
      <p:grpSp>
        <p:nvGrpSpPr>
          <p:cNvPr id="16" name="Group 15">
            <a:extLst>
              <a:ext uri="{FF2B5EF4-FFF2-40B4-BE49-F238E27FC236}">
                <a16:creationId xmlns:a16="http://schemas.microsoft.com/office/drawing/2014/main" id="{61C70F64-6EA5-EA05-3170-97F09DF5B97A}"/>
              </a:ext>
            </a:extLst>
          </p:cNvPr>
          <p:cNvGrpSpPr/>
          <p:nvPr/>
        </p:nvGrpSpPr>
        <p:grpSpPr>
          <a:xfrm>
            <a:off x="2934383" y="2533902"/>
            <a:ext cx="2985584" cy="3278251"/>
            <a:chOff x="2934383" y="2831497"/>
            <a:chExt cx="2985584" cy="3278251"/>
          </a:xfrm>
        </p:grpSpPr>
        <p:grpSp>
          <p:nvGrpSpPr>
            <p:cNvPr id="12" name="Group 11">
              <a:extLst>
                <a:ext uri="{FF2B5EF4-FFF2-40B4-BE49-F238E27FC236}">
                  <a16:creationId xmlns:a16="http://schemas.microsoft.com/office/drawing/2014/main" id="{45DB1E4A-5739-CC3A-5405-F5D36EF9F331}"/>
                </a:ext>
              </a:extLst>
            </p:cNvPr>
            <p:cNvGrpSpPr/>
            <p:nvPr/>
          </p:nvGrpSpPr>
          <p:grpSpPr>
            <a:xfrm>
              <a:off x="2934383" y="2831497"/>
              <a:ext cx="2985584" cy="3278251"/>
              <a:chOff x="2934383" y="2831497"/>
              <a:chExt cx="2985584" cy="3278251"/>
            </a:xfrm>
          </p:grpSpPr>
          <p:sp>
            <p:nvSpPr>
              <p:cNvPr id="6" name="Oval 5">
                <a:extLst>
                  <a:ext uri="{FF2B5EF4-FFF2-40B4-BE49-F238E27FC236}">
                    <a16:creationId xmlns:a16="http://schemas.microsoft.com/office/drawing/2014/main" id="{38985803-DA6E-8548-BD14-7743C8492FA0}"/>
                  </a:ext>
                </a:extLst>
              </p:cNvPr>
              <p:cNvSpPr/>
              <p:nvPr/>
            </p:nvSpPr>
            <p:spPr>
              <a:xfrm>
                <a:off x="2934383" y="2831497"/>
                <a:ext cx="2985584" cy="2869865"/>
              </a:xfrm>
              <a:prstGeom prst="ellipse">
                <a:avLst/>
              </a:prstGeom>
              <a:solidFill>
                <a:srgbClr val="0070C0"/>
              </a:solidFill>
              <a:ln>
                <a:noFill/>
              </a:ln>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7" name="Rectangle 6">
                <a:extLst>
                  <a:ext uri="{FF2B5EF4-FFF2-40B4-BE49-F238E27FC236}">
                    <a16:creationId xmlns:a16="http://schemas.microsoft.com/office/drawing/2014/main" id="{F2244FC9-B137-EB4E-A718-78190AE91366}"/>
                  </a:ext>
                </a:extLst>
              </p:cNvPr>
              <p:cNvSpPr/>
              <p:nvPr/>
            </p:nvSpPr>
            <p:spPr>
              <a:xfrm>
                <a:off x="3862217" y="5740416"/>
                <a:ext cx="1167307"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Electrino</a:t>
                </a:r>
              </a:p>
            </p:txBody>
          </p:sp>
        </p:grpSp>
        <p:sp>
          <p:nvSpPr>
            <p:cNvPr id="14" name="Minus 13">
              <a:extLst>
                <a:ext uri="{FF2B5EF4-FFF2-40B4-BE49-F238E27FC236}">
                  <a16:creationId xmlns:a16="http://schemas.microsoft.com/office/drawing/2014/main" id="{09ADC253-730C-264F-8155-E49642931ADA}"/>
                </a:ext>
              </a:extLst>
            </p:cNvPr>
            <p:cNvSpPr/>
            <p:nvPr/>
          </p:nvSpPr>
          <p:spPr>
            <a:xfrm>
              <a:off x="3795775" y="3635030"/>
              <a:ext cx="1262798" cy="1262798"/>
            </a:xfrm>
            <a:prstGeom prst="mathMinus">
              <a:avLst/>
            </a:prstGeom>
            <a:solidFill>
              <a:schemeClr val="bg1"/>
            </a:solid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grpSp>
      <p:grpSp>
        <p:nvGrpSpPr>
          <p:cNvPr id="17" name="Group 16">
            <a:extLst>
              <a:ext uri="{FF2B5EF4-FFF2-40B4-BE49-F238E27FC236}">
                <a16:creationId xmlns:a16="http://schemas.microsoft.com/office/drawing/2014/main" id="{99197762-1F6C-CC2A-552D-52828CD3C5D3}"/>
              </a:ext>
            </a:extLst>
          </p:cNvPr>
          <p:cNvGrpSpPr/>
          <p:nvPr/>
        </p:nvGrpSpPr>
        <p:grpSpPr>
          <a:xfrm>
            <a:off x="6360070" y="2533902"/>
            <a:ext cx="2985583" cy="3278251"/>
            <a:chOff x="6360070" y="2838812"/>
            <a:chExt cx="2985583" cy="3278251"/>
          </a:xfrm>
        </p:grpSpPr>
        <p:grpSp>
          <p:nvGrpSpPr>
            <p:cNvPr id="15" name="Group 14">
              <a:extLst>
                <a:ext uri="{FF2B5EF4-FFF2-40B4-BE49-F238E27FC236}">
                  <a16:creationId xmlns:a16="http://schemas.microsoft.com/office/drawing/2014/main" id="{FCBB86F0-7603-7410-74CD-64C8990BBE88}"/>
                </a:ext>
              </a:extLst>
            </p:cNvPr>
            <p:cNvGrpSpPr/>
            <p:nvPr/>
          </p:nvGrpSpPr>
          <p:grpSpPr>
            <a:xfrm>
              <a:off x="6360070" y="2838812"/>
              <a:ext cx="2985583" cy="3278251"/>
              <a:chOff x="6360070" y="2838812"/>
              <a:chExt cx="2985583" cy="3278251"/>
            </a:xfrm>
          </p:grpSpPr>
          <p:sp>
            <p:nvSpPr>
              <p:cNvPr id="5" name="Oval 4">
                <a:extLst>
                  <a:ext uri="{FF2B5EF4-FFF2-40B4-BE49-F238E27FC236}">
                    <a16:creationId xmlns:a16="http://schemas.microsoft.com/office/drawing/2014/main" id="{405A7150-905F-F24D-BF97-63899D0E98A3}"/>
                  </a:ext>
                </a:extLst>
              </p:cNvPr>
              <p:cNvSpPr/>
              <p:nvPr/>
            </p:nvSpPr>
            <p:spPr>
              <a:xfrm>
                <a:off x="6360070" y="2838812"/>
                <a:ext cx="2985583" cy="2869865"/>
              </a:xfrm>
              <a:prstGeom prst="ellipse">
                <a:avLst/>
              </a:prstGeom>
              <a:solidFill>
                <a:srgbClr val="FF0000"/>
              </a:solidFill>
              <a:ln>
                <a:noFill/>
              </a:ln>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8" name="Rectangle 7">
                <a:extLst>
                  <a:ext uri="{FF2B5EF4-FFF2-40B4-BE49-F238E27FC236}">
                    <a16:creationId xmlns:a16="http://schemas.microsoft.com/office/drawing/2014/main" id="{930F45C2-0FE5-F04C-B568-5F9239FE086D}"/>
                  </a:ext>
                </a:extLst>
              </p:cNvPr>
              <p:cNvSpPr/>
              <p:nvPr/>
            </p:nvSpPr>
            <p:spPr>
              <a:xfrm>
                <a:off x="7268919" y="5747731"/>
                <a:ext cx="117051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Positrino</a:t>
                </a:r>
              </a:p>
            </p:txBody>
          </p:sp>
        </p:grpSp>
        <p:sp>
          <p:nvSpPr>
            <p:cNvPr id="13" name="Plus 12">
              <a:extLst>
                <a:ext uri="{FF2B5EF4-FFF2-40B4-BE49-F238E27FC236}">
                  <a16:creationId xmlns:a16="http://schemas.microsoft.com/office/drawing/2014/main" id="{A2F97F06-5AE9-B844-8A28-B02FF48414FF}"/>
                </a:ext>
              </a:extLst>
            </p:cNvPr>
            <p:cNvSpPr/>
            <p:nvPr/>
          </p:nvSpPr>
          <p:spPr>
            <a:xfrm>
              <a:off x="7156370" y="3577253"/>
              <a:ext cx="1392983" cy="1392983"/>
            </a:xfrm>
            <a:prstGeom prst="mathPlus">
              <a:avLst/>
            </a:prstGeom>
            <a:solidFill>
              <a:schemeClr val="bg1"/>
            </a:solid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grpSp>
      <p:sp>
        <p:nvSpPr>
          <p:cNvPr id="33" name="Rectangle 32">
            <a:extLst>
              <a:ext uri="{FF2B5EF4-FFF2-40B4-BE49-F238E27FC236}">
                <a16:creationId xmlns:a16="http://schemas.microsoft.com/office/drawing/2014/main" id="{6FB04752-7BBD-3648-BE22-8D983884B555}"/>
              </a:ext>
            </a:extLst>
          </p:cNvPr>
          <p:cNvSpPr/>
          <p:nvPr/>
        </p:nvSpPr>
        <p:spPr>
          <a:xfrm>
            <a:off x="4376901" y="1372790"/>
            <a:ext cx="3484352" cy="954107"/>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1"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Population Density.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C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Energy Density.</a:t>
            </a:r>
          </a:p>
        </p:txBody>
      </p:sp>
      <p:grpSp>
        <p:nvGrpSpPr>
          <p:cNvPr id="11" name="Group 10">
            <a:extLst>
              <a:ext uri="{FF2B5EF4-FFF2-40B4-BE49-F238E27FC236}">
                <a16:creationId xmlns:a16="http://schemas.microsoft.com/office/drawing/2014/main" id="{330CC259-8ECA-9504-DF84-043CB2F2838C}"/>
              </a:ext>
            </a:extLst>
          </p:cNvPr>
          <p:cNvGrpSpPr/>
          <p:nvPr/>
        </p:nvGrpSpPr>
        <p:grpSpPr>
          <a:xfrm>
            <a:off x="1035610" y="3622462"/>
            <a:ext cx="872354" cy="1101131"/>
            <a:chOff x="1035610" y="4601259"/>
            <a:chExt cx="872354" cy="1101131"/>
          </a:xfrm>
        </p:grpSpPr>
        <p:sp>
          <p:nvSpPr>
            <p:cNvPr id="32" name="Rectangle 31">
              <a:extLst>
                <a:ext uri="{FF2B5EF4-FFF2-40B4-BE49-F238E27FC236}">
                  <a16:creationId xmlns:a16="http://schemas.microsoft.com/office/drawing/2014/main" id="{90B4F778-AAF3-8441-A126-EF65BDDCA5EE}"/>
                </a:ext>
              </a:extLst>
            </p:cNvPr>
            <p:cNvSpPr/>
            <p:nvPr/>
          </p:nvSpPr>
          <p:spPr>
            <a:xfrm>
              <a:off x="1035610" y="4601259"/>
              <a:ext cx="872354" cy="92333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1D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Linear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Time</a:t>
              </a:r>
            </a:p>
          </p:txBody>
        </p:sp>
        <p:cxnSp>
          <p:nvCxnSpPr>
            <p:cNvPr id="24" name="Straight Arrow Connector 23">
              <a:extLst>
                <a:ext uri="{FF2B5EF4-FFF2-40B4-BE49-F238E27FC236}">
                  <a16:creationId xmlns:a16="http://schemas.microsoft.com/office/drawing/2014/main" id="{282275DC-2AB9-8842-B077-479BC4E05F88}"/>
                </a:ext>
              </a:extLst>
            </p:cNvPr>
            <p:cNvCxnSpPr>
              <a:cxnSpLocks/>
            </p:cNvCxnSpPr>
            <p:nvPr/>
          </p:nvCxnSpPr>
          <p:spPr>
            <a:xfrm flipV="1">
              <a:off x="1231394" y="5702387"/>
              <a:ext cx="480786" cy="3"/>
            </a:xfrm>
            <a:prstGeom prst="straightConnector1">
              <a:avLst/>
            </a:prstGeom>
            <a:ln w="12700">
              <a:solidFill>
                <a:schemeClr val="bg1"/>
              </a:solidFill>
              <a:prstDash val="sysDot"/>
              <a:headEnd type="oval"/>
              <a:tailEnd type="triangle"/>
            </a:ln>
          </p:spPr>
          <p:style>
            <a:lnRef idx="1">
              <a:schemeClr val="accent1"/>
            </a:lnRef>
            <a:fillRef idx="0">
              <a:schemeClr val="accent1"/>
            </a:fillRef>
            <a:effectRef idx="0">
              <a:schemeClr val="accent1"/>
            </a:effectRef>
            <a:fontRef idx="minor">
              <a:schemeClr val="tx1"/>
            </a:fontRef>
          </p:style>
        </p:cxnSp>
      </p:grpSp>
      <p:sp>
        <p:nvSpPr>
          <p:cNvPr id="25" name="Footer Placeholder 3">
            <a:extLst>
              <a:ext uri="{FF2B5EF4-FFF2-40B4-BE49-F238E27FC236}">
                <a16:creationId xmlns:a16="http://schemas.microsoft.com/office/drawing/2014/main" id="{246E4B47-B7AD-0745-91FA-AA77D12D888D}"/>
              </a:ext>
            </a:extLst>
          </p:cNvPr>
          <p:cNvSpPr txBox="1">
            <a:spLocks/>
          </p:cNvSpPr>
          <p:nvPr/>
        </p:nvSpPr>
        <p:spPr>
          <a:xfrm>
            <a:off x="9214069" y="6344564"/>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J Mark Morris</a:t>
            </a: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pSp>
        <p:nvGrpSpPr>
          <p:cNvPr id="9" name="Group 8">
            <a:extLst>
              <a:ext uri="{FF2B5EF4-FFF2-40B4-BE49-F238E27FC236}">
                <a16:creationId xmlns:a16="http://schemas.microsoft.com/office/drawing/2014/main" id="{31017E8F-4F31-A516-F0AA-7D268180E96C}"/>
              </a:ext>
            </a:extLst>
          </p:cNvPr>
          <p:cNvGrpSpPr/>
          <p:nvPr/>
        </p:nvGrpSpPr>
        <p:grpSpPr>
          <a:xfrm>
            <a:off x="10311309" y="3224308"/>
            <a:ext cx="1265090" cy="1897439"/>
            <a:chOff x="839242" y="2412063"/>
            <a:chExt cx="1265090" cy="1897439"/>
          </a:xfrm>
        </p:grpSpPr>
        <p:grpSp>
          <p:nvGrpSpPr>
            <p:cNvPr id="20" name="Group 19">
              <a:extLst>
                <a:ext uri="{FF2B5EF4-FFF2-40B4-BE49-F238E27FC236}">
                  <a16:creationId xmlns:a16="http://schemas.microsoft.com/office/drawing/2014/main" id="{7B450B60-56DD-E447-B796-B112D6F74ECA}"/>
                </a:ext>
              </a:extLst>
            </p:cNvPr>
            <p:cNvGrpSpPr/>
            <p:nvPr/>
          </p:nvGrpSpPr>
          <p:grpSpPr>
            <a:xfrm>
              <a:off x="934089" y="3406958"/>
              <a:ext cx="1075397" cy="902544"/>
              <a:chOff x="5023953" y="4378355"/>
              <a:chExt cx="1303340" cy="1306404"/>
            </a:xfrm>
          </p:grpSpPr>
          <p:cxnSp>
            <p:nvCxnSpPr>
              <p:cNvPr id="23" name="Straight Arrow Connector 22">
                <a:extLst>
                  <a:ext uri="{FF2B5EF4-FFF2-40B4-BE49-F238E27FC236}">
                    <a16:creationId xmlns:a16="http://schemas.microsoft.com/office/drawing/2014/main" id="{CE1E4885-6E99-C949-A2D8-5B8C82D5957E}"/>
                  </a:ext>
                </a:extLst>
              </p:cNvPr>
              <p:cNvCxnSpPr>
                <a:cxnSpLocks/>
              </p:cNvCxnSpPr>
              <p:nvPr/>
            </p:nvCxnSpPr>
            <p:spPr>
              <a:xfrm flipV="1">
                <a:off x="5675623" y="4378355"/>
                <a:ext cx="0" cy="1306404"/>
              </a:xfrm>
              <a:prstGeom prst="straightConnector1">
                <a:avLst/>
              </a:prstGeom>
              <a:ln w="12700">
                <a:solidFill>
                  <a:schemeClr val="bg1"/>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371FBCDF-30F2-6749-9C7D-FE0A8D83337B}"/>
                  </a:ext>
                </a:extLst>
              </p:cNvPr>
              <p:cNvCxnSpPr>
                <a:cxnSpLocks/>
              </p:cNvCxnSpPr>
              <p:nvPr/>
            </p:nvCxnSpPr>
            <p:spPr>
              <a:xfrm rot="2700000" flipV="1">
                <a:off x="5675623" y="4379887"/>
                <a:ext cx="0" cy="1303340"/>
              </a:xfrm>
              <a:prstGeom prst="straightConnector1">
                <a:avLst/>
              </a:prstGeom>
              <a:ln w="12700">
                <a:solidFill>
                  <a:schemeClr val="bg1"/>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BF5810EE-ACDB-6544-9F58-5DEBD8E72D37}"/>
                  </a:ext>
                </a:extLst>
              </p:cNvPr>
              <p:cNvCxnSpPr>
                <a:cxnSpLocks/>
              </p:cNvCxnSpPr>
              <p:nvPr/>
            </p:nvCxnSpPr>
            <p:spPr>
              <a:xfrm flipV="1">
                <a:off x="5134645" y="5013629"/>
                <a:ext cx="1107790" cy="17928"/>
              </a:xfrm>
              <a:prstGeom prst="straightConnector1">
                <a:avLst/>
              </a:prstGeom>
              <a:ln w="12700">
                <a:solidFill>
                  <a:schemeClr val="bg1"/>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3" name="Rectangle 2">
              <a:extLst>
                <a:ext uri="{FF2B5EF4-FFF2-40B4-BE49-F238E27FC236}">
                  <a16:creationId xmlns:a16="http://schemas.microsoft.com/office/drawing/2014/main" id="{B3E4CD37-BCF3-72BF-F3B3-DAC45082593B}"/>
                </a:ext>
              </a:extLst>
            </p:cNvPr>
            <p:cNvSpPr/>
            <p:nvPr/>
          </p:nvSpPr>
          <p:spPr>
            <a:xfrm>
              <a:off x="839242" y="2412063"/>
              <a:ext cx="1265090" cy="92333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3D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Euclidean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Space</a:t>
              </a:r>
            </a:p>
          </p:txBody>
        </p:sp>
      </p:grpSp>
    </p:spTree>
    <p:extLst>
      <p:ext uri="{BB962C8B-B14F-4D97-AF65-F5344CB8AC3E}">
        <p14:creationId xmlns:p14="http://schemas.microsoft.com/office/powerpoint/2010/main" val="38836874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D3BD9-EF0C-1E44-A158-923D0C7D4BB3}"/>
              </a:ext>
            </a:extLst>
          </p:cNvPr>
          <p:cNvSpPr>
            <a:spLocks noGrp="1"/>
          </p:cNvSpPr>
          <p:nvPr>
            <p:ph type="title"/>
          </p:nvPr>
        </p:nvSpPr>
        <p:spPr>
          <a:xfrm>
            <a:off x="2845864" y="279249"/>
            <a:ext cx="6201156" cy="777875"/>
          </a:xfrm>
        </p:spPr>
        <p:txBody>
          <a:bodyPr wrap="none">
            <a:normAutofit/>
          </a:bodyPr>
          <a:lstStyle/>
          <a:p>
            <a:pPr algn="ctr"/>
            <a:r>
              <a:rPr lang="en-US" sz="48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Constant Rate Point Potential Emitters</a:t>
            </a:r>
          </a:p>
        </p:txBody>
      </p:sp>
      <p:grpSp>
        <p:nvGrpSpPr>
          <p:cNvPr id="16" name="Group 15">
            <a:extLst>
              <a:ext uri="{FF2B5EF4-FFF2-40B4-BE49-F238E27FC236}">
                <a16:creationId xmlns:a16="http://schemas.microsoft.com/office/drawing/2014/main" id="{61C70F64-6EA5-EA05-3170-97F09DF5B97A}"/>
              </a:ext>
            </a:extLst>
          </p:cNvPr>
          <p:cNvGrpSpPr/>
          <p:nvPr/>
        </p:nvGrpSpPr>
        <p:grpSpPr>
          <a:xfrm>
            <a:off x="2934383" y="2533902"/>
            <a:ext cx="2985584" cy="3278251"/>
            <a:chOff x="2934383" y="2831497"/>
            <a:chExt cx="2985584" cy="3278251"/>
          </a:xfrm>
        </p:grpSpPr>
        <p:grpSp>
          <p:nvGrpSpPr>
            <p:cNvPr id="12" name="Group 11">
              <a:extLst>
                <a:ext uri="{FF2B5EF4-FFF2-40B4-BE49-F238E27FC236}">
                  <a16:creationId xmlns:a16="http://schemas.microsoft.com/office/drawing/2014/main" id="{45DB1E4A-5739-CC3A-5405-F5D36EF9F331}"/>
                </a:ext>
              </a:extLst>
            </p:cNvPr>
            <p:cNvGrpSpPr/>
            <p:nvPr/>
          </p:nvGrpSpPr>
          <p:grpSpPr>
            <a:xfrm>
              <a:off x="2934383" y="2831497"/>
              <a:ext cx="2985584" cy="3278251"/>
              <a:chOff x="2934383" y="2831497"/>
              <a:chExt cx="2985584" cy="3278251"/>
            </a:xfrm>
          </p:grpSpPr>
          <p:sp>
            <p:nvSpPr>
              <p:cNvPr id="6" name="Oval 5">
                <a:extLst>
                  <a:ext uri="{FF2B5EF4-FFF2-40B4-BE49-F238E27FC236}">
                    <a16:creationId xmlns:a16="http://schemas.microsoft.com/office/drawing/2014/main" id="{38985803-DA6E-8548-BD14-7743C8492FA0}"/>
                  </a:ext>
                </a:extLst>
              </p:cNvPr>
              <p:cNvSpPr/>
              <p:nvPr/>
            </p:nvSpPr>
            <p:spPr>
              <a:xfrm>
                <a:off x="2934383" y="2831497"/>
                <a:ext cx="2985584" cy="2869865"/>
              </a:xfrm>
              <a:prstGeom prst="ellipse">
                <a:avLst/>
              </a:prstGeom>
              <a:solidFill>
                <a:srgbClr val="0070C0"/>
              </a:solidFill>
              <a:ln>
                <a:noFill/>
              </a:ln>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7" name="Rectangle 6">
                <a:extLst>
                  <a:ext uri="{FF2B5EF4-FFF2-40B4-BE49-F238E27FC236}">
                    <a16:creationId xmlns:a16="http://schemas.microsoft.com/office/drawing/2014/main" id="{F2244FC9-B137-EB4E-A718-78190AE91366}"/>
                  </a:ext>
                </a:extLst>
              </p:cNvPr>
              <p:cNvSpPr/>
              <p:nvPr/>
            </p:nvSpPr>
            <p:spPr>
              <a:xfrm>
                <a:off x="3862217" y="5740416"/>
                <a:ext cx="1167307"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Electrino</a:t>
                </a:r>
              </a:p>
            </p:txBody>
          </p:sp>
        </p:grpSp>
        <p:sp>
          <p:nvSpPr>
            <p:cNvPr id="14" name="Minus 13">
              <a:extLst>
                <a:ext uri="{FF2B5EF4-FFF2-40B4-BE49-F238E27FC236}">
                  <a16:creationId xmlns:a16="http://schemas.microsoft.com/office/drawing/2014/main" id="{09ADC253-730C-264F-8155-E49642931ADA}"/>
                </a:ext>
              </a:extLst>
            </p:cNvPr>
            <p:cNvSpPr/>
            <p:nvPr/>
          </p:nvSpPr>
          <p:spPr>
            <a:xfrm>
              <a:off x="3795775" y="3635030"/>
              <a:ext cx="1262798" cy="1262798"/>
            </a:xfrm>
            <a:prstGeom prst="mathMinus">
              <a:avLst/>
            </a:prstGeom>
            <a:solidFill>
              <a:schemeClr val="bg1"/>
            </a:solid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grpSp>
      <p:grpSp>
        <p:nvGrpSpPr>
          <p:cNvPr id="17" name="Group 16">
            <a:extLst>
              <a:ext uri="{FF2B5EF4-FFF2-40B4-BE49-F238E27FC236}">
                <a16:creationId xmlns:a16="http://schemas.microsoft.com/office/drawing/2014/main" id="{99197762-1F6C-CC2A-552D-52828CD3C5D3}"/>
              </a:ext>
            </a:extLst>
          </p:cNvPr>
          <p:cNvGrpSpPr/>
          <p:nvPr/>
        </p:nvGrpSpPr>
        <p:grpSpPr>
          <a:xfrm>
            <a:off x="6360070" y="2533902"/>
            <a:ext cx="2985583" cy="3278251"/>
            <a:chOff x="6360070" y="2838812"/>
            <a:chExt cx="2985583" cy="3278251"/>
          </a:xfrm>
        </p:grpSpPr>
        <p:grpSp>
          <p:nvGrpSpPr>
            <p:cNvPr id="15" name="Group 14">
              <a:extLst>
                <a:ext uri="{FF2B5EF4-FFF2-40B4-BE49-F238E27FC236}">
                  <a16:creationId xmlns:a16="http://schemas.microsoft.com/office/drawing/2014/main" id="{FCBB86F0-7603-7410-74CD-64C8990BBE88}"/>
                </a:ext>
              </a:extLst>
            </p:cNvPr>
            <p:cNvGrpSpPr/>
            <p:nvPr/>
          </p:nvGrpSpPr>
          <p:grpSpPr>
            <a:xfrm>
              <a:off x="6360070" y="2838812"/>
              <a:ext cx="2985583" cy="3278251"/>
              <a:chOff x="6360070" y="2838812"/>
              <a:chExt cx="2985583" cy="3278251"/>
            </a:xfrm>
          </p:grpSpPr>
          <p:sp>
            <p:nvSpPr>
              <p:cNvPr id="5" name="Oval 4">
                <a:extLst>
                  <a:ext uri="{FF2B5EF4-FFF2-40B4-BE49-F238E27FC236}">
                    <a16:creationId xmlns:a16="http://schemas.microsoft.com/office/drawing/2014/main" id="{405A7150-905F-F24D-BF97-63899D0E98A3}"/>
                  </a:ext>
                </a:extLst>
              </p:cNvPr>
              <p:cNvSpPr/>
              <p:nvPr/>
            </p:nvSpPr>
            <p:spPr>
              <a:xfrm>
                <a:off x="6360070" y="2838812"/>
                <a:ext cx="2985583" cy="2869865"/>
              </a:xfrm>
              <a:prstGeom prst="ellipse">
                <a:avLst/>
              </a:prstGeom>
              <a:solidFill>
                <a:srgbClr val="FF0000"/>
              </a:solidFill>
              <a:ln>
                <a:noFill/>
              </a:ln>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8" name="Rectangle 7">
                <a:extLst>
                  <a:ext uri="{FF2B5EF4-FFF2-40B4-BE49-F238E27FC236}">
                    <a16:creationId xmlns:a16="http://schemas.microsoft.com/office/drawing/2014/main" id="{930F45C2-0FE5-F04C-B568-5F9239FE086D}"/>
                  </a:ext>
                </a:extLst>
              </p:cNvPr>
              <p:cNvSpPr/>
              <p:nvPr/>
            </p:nvSpPr>
            <p:spPr>
              <a:xfrm>
                <a:off x="7268919" y="5747731"/>
                <a:ext cx="117051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Positrino</a:t>
                </a:r>
              </a:p>
            </p:txBody>
          </p:sp>
        </p:grpSp>
        <p:sp>
          <p:nvSpPr>
            <p:cNvPr id="13" name="Plus 12">
              <a:extLst>
                <a:ext uri="{FF2B5EF4-FFF2-40B4-BE49-F238E27FC236}">
                  <a16:creationId xmlns:a16="http://schemas.microsoft.com/office/drawing/2014/main" id="{A2F97F06-5AE9-B844-8A28-B02FF48414FF}"/>
                </a:ext>
              </a:extLst>
            </p:cNvPr>
            <p:cNvSpPr/>
            <p:nvPr/>
          </p:nvSpPr>
          <p:spPr>
            <a:xfrm>
              <a:off x="7156370" y="3577253"/>
              <a:ext cx="1392983" cy="1392983"/>
            </a:xfrm>
            <a:prstGeom prst="mathPlus">
              <a:avLst/>
            </a:prstGeom>
            <a:solidFill>
              <a:schemeClr val="bg1"/>
            </a:solid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grpSp>
      <p:grpSp>
        <p:nvGrpSpPr>
          <p:cNvPr id="11" name="Group 10">
            <a:extLst>
              <a:ext uri="{FF2B5EF4-FFF2-40B4-BE49-F238E27FC236}">
                <a16:creationId xmlns:a16="http://schemas.microsoft.com/office/drawing/2014/main" id="{330CC259-8ECA-9504-DF84-043CB2F2838C}"/>
              </a:ext>
            </a:extLst>
          </p:cNvPr>
          <p:cNvGrpSpPr/>
          <p:nvPr/>
        </p:nvGrpSpPr>
        <p:grpSpPr>
          <a:xfrm>
            <a:off x="1035610" y="3622462"/>
            <a:ext cx="872354" cy="1101131"/>
            <a:chOff x="1035610" y="4601259"/>
            <a:chExt cx="872354" cy="1101131"/>
          </a:xfrm>
        </p:grpSpPr>
        <p:sp>
          <p:nvSpPr>
            <p:cNvPr id="32" name="Rectangle 31">
              <a:extLst>
                <a:ext uri="{FF2B5EF4-FFF2-40B4-BE49-F238E27FC236}">
                  <a16:creationId xmlns:a16="http://schemas.microsoft.com/office/drawing/2014/main" id="{90B4F778-AAF3-8441-A126-EF65BDDCA5EE}"/>
                </a:ext>
              </a:extLst>
            </p:cNvPr>
            <p:cNvSpPr/>
            <p:nvPr/>
          </p:nvSpPr>
          <p:spPr>
            <a:xfrm>
              <a:off x="1035610" y="4601259"/>
              <a:ext cx="872354" cy="92333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1D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Linear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Time</a:t>
              </a:r>
            </a:p>
          </p:txBody>
        </p:sp>
        <p:cxnSp>
          <p:nvCxnSpPr>
            <p:cNvPr id="24" name="Straight Arrow Connector 23">
              <a:extLst>
                <a:ext uri="{FF2B5EF4-FFF2-40B4-BE49-F238E27FC236}">
                  <a16:creationId xmlns:a16="http://schemas.microsoft.com/office/drawing/2014/main" id="{282275DC-2AB9-8842-B077-479BC4E05F88}"/>
                </a:ext>
              </a:extLst>
            </p:cNvPr>
            <p:cNvCxnSpPr>
              <a:cxnSpLocks/>
            </p:cNvCxnSpPr>
            <p:nvPr/>
          </p:nvCxnSpPr>
          <p:spPr>
            <a:xfrm flipV="1">
              <a:off x="1231394" y="5702387"/>
              <a:ext cx="480786" cy="3"/>
            </a:xfrm>
            <a:prstGeom prst="straightConnector1">
              <a:avLst/>
            </a:prstGeom>
            <a:ln w="12700">
              <a:solidFill>
                <a:schemeClr val="bg1"/>
              </a:solidFill>
              <a:prstDash val="sysDot"/>
              <a:headEnd type="oval"/>
              <a:tailEnd type="triangle"/>
            </a:ln>
          </p:spPr>
          <p:style>
            <a:lnRef idx="1">
              <a:schemeClr val="accent1"/>
            </a:lnRef>
            <a:fillRef idx="0">
              <a:schemeClr val="accent1"/>
            </a:fillRef>
            <a:effectRef idx="0">
              <a:schemeClr val="accent1"/>
            </a:effectRef>
            <a:fontRef idx="minor">
              <a:schemeClr val="tx1"/>
            </a:fontRef>
          </p:style>
        </p:cxnSp>
      </p:grpSp>
      <p:sp>
        <p:nvSpPr>
          <p:cNvPr id="25" name="Footer Placeholder 3">
            <a:extLst>
              <a:ext uri="{FF2B5EF4-FFF2-40B4-BE49-F238E27FC236}">
                <a16:creationId xmlns:a16="http://schemas.microsoft.com/office/drawing/2014/main" id="{246E4B47-B7AD-0745-91FA-AA77D12D888D}"/>
              </a:ext>
            </a:extLst>
          </p:cNvPr>
          <p:cNvSpPr txBox="1">
            <a:spLocks/>
          </p:cNvSpPr>
          <p:nvPr/>
        </p:nvSpPr>
        <p:spPr>
          <a:xfrm>
            <a:off x="9214069" y="6344564"/>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J Mark Morris</a:t>
            </a: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pSp>
        <p:nvGrpSpPr>
          <p:cNvPr id="9" name="Group 8">
            <a:extLst>
              <a:ext uri="{FF2B5EF4-FFF2-40B4-BE49-F238E27FC236}">
                <a16:creationId xmlns:a16="http://schemas.microsoft.com/office/drawing/2014/main" id="{31017E8F-4F31-A516-F0AA-7D268180E96C}"/>
              </a:ext>
            </a:extLst>
          </p:cNvPr>
          <p:cNvGrpSpPr/>
          <p:nvPr/>
        </p:nvGrpSpPr>
        <p:grpSpPr>
          <a:xfrm>
            <a:off x="10311309" y="3224308"/>
            <a:ext cx="1265090" cy="1897439"/>
            <a:chOff x="839242" y="2412063"/>
            <a:chExt cx="1265090" cy="1897439"/>
          </a:xfrm>
        </p:grpSpPr>
        <p:grpSp>
          <p:nvGrpSpPr>
            <p:cNvPr id="20" name="Group 19">
              <a:extLst>
                <a:ext uri="{FF2B5EF4-FFF2-40B4-BE49-F238E27FC236}">
                  <a16:creationId xmlns:a16="http://schemas.microsoft.com/office/drawing/2014/main" id="{7B450B60-56DD-E447-B796-B112D6F74ECA}"/>
                </a:ext>
              </a:extLst>
            </p:cNvPr>
            <p:cNvGrpSpPr/>
            <p:nvPr/>
          </p:nvGrpSpPr>
          <p:grpSpPr>
            <a:xfrm>
              <a:off x="934089" y="3406958"/>
              <a:ext cx="1075397" cy="902544"/>
              <a:chOff x="5023953" y="4378355"/>
              <a:chExt cx="1303340" cy="1306404"/>
            </a:xfrm>
          </p:grpSpPr>
          <p:cxnSp>
            <p:nvCxnSpPr>
              <p:cNvPr id="23" name="Straight Arrow Connector 22">
                <a:extLst>
                  <a:ext uri="{FF2B5EF4-FFF2-40B4-BE49-F238E27FC236}">
                    <a16:creationId xmlns:a16="http://schemas.microsoft.com/office/drawing/2014/main" id="{CE1E4885-6E99-C949-A2D8-5B8C82D5957E}"/>
                  </a:ext>
                </a:extLst>
              </p:cNvPr>
              <p:cNvCxnSpPr>
                <a:cxnSpLocks/>
              </p:cNvCxnSpPr>
              <p:nvPr/>
            </p:nvCxnSpPr>
            <p:spPr>
              <a:xfrm flipV="1">
                <a:off x="5675623" y="4378355"/>
                <a:ext cx="0" cy="1306404"/>
              </a:xfrm>
              <a:prstGeom prst="straightConnector1">
                <a:avLst/>
              </a:prstGeom>
              <a:ln w="12700">
                <a:solidFill>
                  <a:schemeClr val="bg1"/>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371FBCDF-30F2-6749-9C7D-FE0A8D83337B}"/>
                  </a:ext>
                </a:extLst>
              </p:cNvPr>
              <p:cNvCxnSpPr>
                <a:cxnSpLocks/>
              </p:cNvCxnSpPr>
              <p:nvPr/>
            </p:nvCxnSpPr>
            <p:spPr>
              <a:xfrm rot="2700000" flipV="1">
                <a:off x="5675623" y="4379887"/>
                <a:ext cx="0" cy="1303340"/>
              </a:xfrm>
              <a:prstGeom prst="straightConnector1">
                <a:avLst/>
              </a:prstGeom>
              <a:ln w="12700">
                <a:solidFill>
                  <a:schemeClr val="bg1"/>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BF5810EE-ACDB-6544-9F58-5DEBD8E72D37}"/>
                  </a:ext>
                </a:extLst>
              </p:cNvPr>
              <p:cNvCxnSpPr>
                <a:cxnSpLocks/>
              </p:cNvCxnSpPr>
              <p:nvPr/>
            </p:nvCxnSpPr>
            <p:spPr>
              <a:xfrm flipV="1">
                <a:off x="5134645" y="5013629"/>
                <a:ext cx="1107790" cy="17928"/>
              </a:xfrm>
              <a:prstGeom prst="straightConnector1">
                <a:avLst/>
              </a:prstGeom>
              <a:ln w="12700">
                <a:solidFill>
                  <a:schemeClr val="bg1"/>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3" name="Rectangle 2">
              <a:extLst>
                <a:ext uri="{FF2B5EF4-FFF2-40B4-BE49-F238E27FC236}">
                  <a16:creationId xmlns:a16="http://schemas.microsoft.com/office/drawing/2014/main" id="{B3E4CD37-BCF3-72BF-F3B3-DAC45082593B}"/>
                </a:ext>
              </a:extLst>
            </p:cNvPr>
            <p:cNvSpPr/>
            <p:nvPr/>
          </p:nvSpPr>
          <p:spPr>
            <a:xfrm>
              <a:off x="839242" y="2412063"/>
              <a:ext cx="1265090" cy="92333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3D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Euclidean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Space</a:t>
              </a:r>
            </a:p>
          </p:txBody>
        </p:sp>
      </p:grpSp>
      <p:graphicFrame>
        <p:nvGraphicFramePr>
          <p:cNvPr id="4" name="Table 3">
            <a:extLst>
              <a:ext uri="{FF2B5EF4-FFF2-40B4-BE49-F238E27FC236}">
                <a16:creationId xmlns:a16="http://schemas.microsoft.com/office/drawing/2014/main" id="{7707D154-8E32-2921-5D12-B70ACEF66B1A}"/>
              </a:ext>
            </a:extLst>
          </p:cNvPr>
          <p:cNvGraphicFramePr>
            <a:graphicFrameLocks noGrp="1"/>
          </p:cNvGraphicFramePr>
          <p:nvPr>
            <p:extLst>
              <p:ext uri="{D42A27DB-BD31-4B8C-83A1-F6EECF244321}">
                <p14:modId xmlns:p14="http://schemas.microsoft.com/office/powerpoint/2010/main" val="3248151803"/>
              </p:ext>
            </p:extLst>
          </p:nvPr>
        </p:nvGraphicFramePr>
        <p:xfrm>
          <a:off x="3139979" y="1174108"/>
          <a:ext cx="5912041" cy="1112520"/>
        </p:xfrm>
        <a:graphic>
          <a:graphicData uri="http://schemas.openxmlformats.org/drawingml/2006/table">
            <a:tbl>
              <a:tblPr firstRow="1" bandRow="1">
                <a:tableStyleId>{5C22544A-7EE6-4342-B048-85BDC9FD1C3A}</a:tableStyleId>
              </a:tblPr>
              <a:tblGrid>
                <a:gridCol w="2424684">
                  <a:extLst>
                    <a:ext uri="{9D8B030D-6E8A-4147-A177-3AD203B41FA5}">
                      <a16:colId xmlns:a16="http://schemas.microsoft.com/office/drawing/2014/main" val="458263716"/>
                    </a:ext>
                  </a:extLst>
                </a:gridCol>
                <a:gridCol w="1861757">
                  <a:extLst>
                    <a:ext uri="{9D8B030D-6E8A-4147-A177-3AD203B41FA5}">
                      <a16:colId xmlns:a16="http://schemas.microsoft.com/office/drawing/2014/main" val="2551242871"/>
                    </a:ext>
                  </a:extLst>
                </a:gridCol>
                <a:gridCol w="1625600">
                  <a:extLst>
                    <a:ext uri="{9D8B030D-6E8A-4147-A177-3AD203B41FA5}">
                      <a16:colId xmlns:a16="http://schemas.microsoft.com/office/drawing/2014/main" val="1660022195"/>
                    </a:ext>
                  </a:extLst>
                </a:gridCol>
              </a:tblGrid>
              <a:tr h="370840">
                <a:tc>
                  <a:txBody>
                    <a:bodyPr/>
                    <a:lstStyle/>
                    <a:p>
                      <a:pPr algn="ctr"/>
                      <a:r>
                        <a:rPr lang="en-US" dirty="0">
                          <a:solidFill>
                            <a:srgbClr val="FFC000"/>
                          </a:solidFill>
                        </a:rPr>
                        <a:t>Intersecting magnitude</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r>
                        <a:rPr lang="en-US" dirty="0">
                          <a:solidFill>
                            <a:schemeClr val="bg1"/>
                          </a:solidFill>
                        </a:rPr>
                        <a:t>At emission, r = 0</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r>
                        <a:rPr lang="en-US" dirty="0">
                          <a:solidFill>
                            <a:schemeClr val="bg1"/>
                          </a:solidFill>
                        </a:rPr>
                        <a:t>r &gt; 0</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551843901"/>
                  </a:ext>
                </a:extLst>
              </a:tr>
              <a:tr h="370840">
                <a:tc>
                  <a:txBody>
                    <a:bodyPr/>
                    <a:lstStyle/>
                    <a:p>
                      <a:pPr algn="ctr"/>
                      <a:r>
                        <a:rPr lang="en-US" dirty="0">
                          <a:solidFill>
                            <a:schemeClr val="bg1"/>
                          </a:solidFill>
                        </a:rPr>
                        <a:t>v = 0</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r>
                        <a:rPr lang="en-US" b="1" dirty="0">
                          <a:solidFill>
                            <a:srgbClr val="FFC000"/>
                          </a:solidFill>
                        </a:rPr>
                        <a:t>|q|</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r>
                        <a:rPr lang="en-US" b="1" dirty="0">
                          <a:solidFill>
                            <a:srgbClr val="FFC000"/>
                          </a:solidFill>
                        </a:rPr>
                        <a:t>|q|/(4 pi r</a:t>
                      </a:r>
                      <a:r>
                        <a:rPr lang="en-US" b="1" baseline="30000" dirty="0">
                          <a:solidFill>
                            <a:srgbClr val="FFC000"/>
                          </a:solidFill>
                        </a:rPr>
                        <a:t>2</a:t>
                      </a:r>
                      <a:r>
                        <a:rPr lang="en-US" b="1" baseline="0" dirty="0">
                          <a:solidFill>
                            <a:srgbClr val="FFC000"/>
                          </a:solidFill>
                        </a:rPr>
                        <a:t>)</a:t>
                      </a:r>
                      <a:endParaRPr lang="en-US" b="1" baseline="30000" dirty="0">
                        <a:solidFill>
                          <a:srgbClr val="FFC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558312125"/>
                  </a:ext>
                </a:extLst>
              </a:tr>
              <a:tr h="370840">
                <a:tc>
                  <a:txBody>
                    <a:bodyPr/>
                    <a:lstStyle/>
                    <a:p>
                      <a:pPr algn="ctr"/>
                      <a:r>
                        <a:rPr lang="en-US" dirty="0">
                          <a:solidFill>
                            <a:schemeClr val="bg1"/>
                          </a:solidFill>
                        </a:rPr>
                        <a:t>v &gt; 0</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r>
                        <a:rPr lang="en-US" b="1" dirty="0">
                          <a:solidFill>
                            <a:srgbClr val="FFC000"/>
                          </a:solidFill>
                        </a:rPr>
                        <a:t>|q|/v</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solidFill>
                            <a:srgbClr val="FFC000"/>
                          </a:solidFill>
                        </a:rPr>
                        <a:t>|q|/(v 4 pi r</a:t>
                      </a:r>
                      <a:r>
                        <a:rPr lang="en-US" b="1" baseline="30000" dirty="0">
                          <a:solidFill>
                            <a:srgbClr val="FFC000"/>
                          </a:solidFill>
                        </a:rPr>
                        <a:t>2</a:t>
                      </a:r>
                      <a:r>
                        <a:rPr lang="en-US" b="1" baseline="0" dirty="0">
                          <a:solidFill>
                            <a:srgbClr val="FFC000"/>
                          </a:solidFill>
                        </a:rPr>
                        <a:t>)</a:t>
                      </a:r>
                      <a:endParaRPr lang="en-US" b="1" baseline="30000" dirty="0">
                        <a:solidFill>
                          <a:srgbClr val="FFC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912571088"/>
                  </a:ext>
                </a:extLst>
              </a:tr>
            </a:tbl>
          </a:graphicData>
        </a:graphic>
      </p:graphicFrame>
    </p:spTree>
    <p:extLst>
      <p:ext uri="{BB962C8B-B14F-4D97-AF65-F5344CB8AC3E}">
        <p14:creationId xmlns:p14="http://schemas.microsoft.com/office/powerpoint/2010/main" val="15903532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D3BD9-EF0C-1E44-A158-923D0C7D4BB3}"/>
              </a:ext>
            </a:extLst>
          </p:cNvPr>
          <p:cNvSpPr>
            <a:spLocks noGrp="1"/>
          </p:cNvSpPr>
          <p:nvPr>
            <p:ph type="title"/>
          </p:nvPr>
        </p:nvSpPr>
        <p:spPr>
          <a:xfrm>
            <a:off x="2845864" y="279249"/>
            <a:ext cx="6201156" cy="777875"/>
          </a:xfrm>
        </p:spPr>
        <p:txBody>
          <a:bodyPr wrap="none">
            <a:normAutofit/>
          </a:bodyPr>
          <a:lstStyle/>
          <a:p>
            <a:pPr algn="ctr"/>
            <a:r>
              <a:rPr lang="en-US" sz="48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Point Potential Have No Speed Limit</a:t>
            </a:r>
          </a:p>
        </p:txBody>
      </p:sp>
      <p:grpSp>
        <p:nvGrpSpPr>
          <p:cNvPr id="16" name="Group 15">
            <a:extLst>
              <a:ext uri="{FF2B5EF4-FFF2-40B4-BE49-F238E27FC236}">
                <a16:creationId xmlns:a16="http://schemas.microsoft.com/office/drawing/2014/main" id="{61C70F64-6EA5-EA05-3170-97F09DF5B97A}"/>
              </a:ext>
            </a:extLst>
          </p:cNvPr>
          <p:cNvGrpSpPr/>
          <p:nvPr/>
        </p:nvGrpSpPr>
        <p:grpSpPr>
          <a:xfrm>
            <a:off x="2934383" y="2533902"/>
            <a:ext cx="2985584" cy="3278251"/>
            <a:chOff x="2934383" y="2831497"/>
            <a:chExt cx="2985584" cy="3278251"/>
          </a:xfrm>
        </p:grpSpPr>
        <p:grpSp>
          <p:nvGrpSpPr>
            <p:cNvPr id="12" name="Group 11">
              <a:extLst>
                <a:ext uri="{FF2B5EF4-FFF2-40B4-BE49-F238E27FC236}">
                  <a16:creationId xmlns:a16="http://schemas.microsoft.com/office/drawing/2014/main" id="{45DB1E4A-5739-CC3A-5405-F5D36EF9F331}"/>
                </a:ext>
              </a:extLst>
            </p:cNvPr>
            <p:cNvGrpSpPr/>
            <p:nvPr/>
          </p:nvGrpSpPr>
          <p:grpSpPr>
            <a:xfrm>
              <a:off x="2934383" y="2831497"/>
              <a:ext cx="2985584" cy="3278251"/>
              <a:chOff x="2934383" y="2831497"/>
              <a:chExt cx="2985584" cy="3278251"/>
            </a:xfrm>
          </p:grpSpPr>
          <p:sp>
            <p:nvSpPr>
              <p:cNvPr id="6" name="Oval 5">
                <a:extLst>
                  <a:ext uri="{FF2B5EF4-FFF2-40B4-BE49-F238E27FC236}">
                    <a16:creationId xmlns:a16="http://schemas.microsoft.com/office/drawing/2014/main" id="{38985803-DA6E-8548-BD14-7743C8492FA0}"/>
                  </a:ext>
                </a:extLst>
              </p:cNvPr>
              <p:cNvSpPr/>
              <p:nvPr/>
            </p:nvSpPr>
            <p:spPr>
              <a:xfrm>
                <a:off x="2934383" y="2831497"/>
                <a:ext cx="2985584" cy="2869865"/>
              </a:xfrm>
              <a:prstGeom prst="ellipse">
                <a:avLst/>
              </a:prstGeom>
              <a:solidFill>
                <a:srgbClr val="0070C0"/>
              </a:solidFill>
              <a:ln>
                <a:noFill/>
              </a:ln>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7" name="Rectangle 6">
                <a:extLst>
                  <a:ext uri="{FF2B5EF4-FFF2-40B4-BE49-F238E27FC236}">
                    <a16:creationId xmlns:a16="http://schemas.microsoft.com/office/drawing/2014/main" id="{F2244FC9-B137-EB4E-A718-78190AE91366}"/>
                  </a:ext>
                </a:extLst>
              </p:cNvPr>
              <p:cNvSpPr/>
              <p:nvPr/>
            </p:nvSpPr>
            <p:spPr>
              <a:xfrm>
                <a:off x="3862217" y="5740416"/>
                <a:ext cx="1167307"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Electrino</a:t>
                </a:r>
              </a:p>
            </p:txBody>
          </p:sp>
        </p:grpSp>
        <p:sp>
          <p:nvSpPr>
            <p:cNvPr id="14" name="Minus 13">
              <a:extLst>
                <a:ext uri="{FF2B5EF4-FFF2-40B4-BE49-F238E27FC236}">
                  <a16:creationId xmlns:a16="http://schemas.microsoft.com/office/drawing/2014/main" id="{09ADC253-730C-264F-8155-E49642931ADA}"/>
                </a:ext>
              </a:extLst>
            </p:cNvPr>
            <p:cNvSpPr/>
            <p:nvPr/>
          </p:nvSpPr>
          <p:spPr>
            <a:xfrm>
              <a:off x="3795775" y="3635030"/>
              <a:ext cx="1262798" cy="1262798"/>
            </a:xfrm>
            <a:prstGeom prst="mathMinus">
              <a:avLst/>
            </a:prstGeom>
            <a:solidFill>
              <a:schemeClr val="bg1"/>
            </a:solid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grpSp>
      <p:grpSp>
        <p:nvGrpSpPr>
          <p:cNvPr id="17" name="Group 16">
            <a:extLst>
              <a:ext uri="{FF2B5EF4-FFF2-40B4-BE49-F238E27FC236}">
                <a16:creationId xmlns:a16="http://schemas.microsoft.com/office/drawing/2014/main" id="{99197762-1F6C-CC2A-552D-52828CD3C5D3}"/>
              </a:ext>
            </a:extLst>
          </p:cNvPr>
          <p:cNvGrpSpPr/>
          <p:nvPr/>
        </p:nvGrpSpPr>
        <p:grpSpPr>
          <a:xfrm>
            <a:off x="6360070" y="2533902"/>
            <a:ext cx="2985583" cy="3278251"/>
            <a:chOff x="6360070" y="2838812"/>
            <a:chExt cx="2985583" cy="3278251"/>
          </a:xfrm>
        </p:grpSpPr>
        <p:grpSp>
          <p:nvGrpSpPr>
            <p:cNvPr id="15" name="Group 14">
              <a:extLst>
                <a:ext uri="{FF2B5EF4-FFF2-40B4-BE49-F238E27FC236}">
                  <a16:creationId xmlns:a16="http://schemas.microsoft.com/office/drawing/2014/main" id="{FCBB86F0-7603-7410-74CD-64C8990BBE88}"/>
                </a:ext>
              </a:extLst>
            </p:cNvPr>
            <p:cNvGrpSpPr/>
            <p:nvPr/>
          </p:nvGrpSpPr>
          <p:grpSpPr>
            <a:xfrm>
              <a:off x="6360070" y="2838812"/>
              <a:ext cx="2985583" cy="3278251"/>
              <a:chOff x="6360070" y="2838812"/>
              <a:chExt cx="2985583" cy="3278251"/>
            </a:xfrm>
          </p:grpSpPr>
          <p:sp>
            <p:nvSpPr>
              <p:cNvPr id="5" name="Oval 4">
                <a:extLst>
                  <a:ext uri="{FF2B5EF4-FFF2-40B4-BE49-F238E27FC236}">
                    <a16:creationId xmlns:a16="http://schemas.microsoft.com/office/drawing/2014/main" id="{405A7150-905F-F24D-BF97-63899D0E98A3}"/>
                  </a:ext>
                </a:extLst>
              </p:cNvPr>
              <p:cNvSpPr/>
              <p:nvPr/>
            </p:nvSpPr>
            <p:spPr>
              <a:xfrm>
                <a:off x="6360070" y="2838812"/>
                <a:ext cx="2985583" cy="2869865"/>
              </a:xfrm>
              <a:prstGeom prst="ellipse">
                <a:avLst/>
              </a:prstGeom>
              <a:solidFill>
                <a:srgbClr val="FF0000"/>
              </a:solidFill>
              <a:ln>
                <a:noFill/>
              </a:ln>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8" name="Rectangle 7">
                <a:extLst>
                  <a:ext uri="{FF2B5EF4-FFF2-40B4-BE49-F238E27FC236}">
                    <a16:creationId xmlns:a16="http://schemas.microsoft.com/office/drawing/2014/main" id="{930F45C2-0FE5-F04C-B568-5F9239FE086D}"/>
                  </a:ext>
                </a:extLst>
              </p:cNvPr>
              <p:cNvSpPr/>
              <p:nvPr/>
            </p:nvSpPr>
            <p:spPr>
              <a:xfrm>
                <a:off x="7268919" y="5747731"/>
                <a:ext cx="117051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Positrino</a:t>
                </a:r>
              </a:p>
            </p:txBody>
          </p:sp>
        </p:grpSp>
        <p:sp>
          <p:nvSpPr>
            <p:cNvPr id="13" name="Plus 12">
              <a:extLst>
                <a:ext uri="{FF2B5EF4-FFF2-40B4-BE49-F238E27FC236}">
                  <a16:creationId xmlns:a16="http://schemas.microsoft.com/office/drawing/2014/main" id="{A2F97F06-5AE9-B844-8A28-B02FF48414FF}"/>
                </a:ext>
              </a:extLst>
            </p:cNvPr>
            <p:cNvSpPr/>
            <p:nvPr/>
          </p:nvSpPr>
          <p:spPr>
            <a:xfrm>
              <a:off x="7156370" y="3577253"/>
              <a:ext cx="1392983" cy="1392983"/>
            </a:xfrm>
            <a:prstGeom prst="mathPlus">
              <a:avLst/>
            </a:prstGeom>
            <a:solidFill>
              <a:schemeClr val="bg1"/>
            </a:solid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grpSp>
      <p:sp>
        <p:nvSpPr>
          <p:cNvPr id="33" name="Rectangle 32">
            <a:extLst>
              <a:ext uri="{FF2B5EF4-FFF2-40B4-BE49-F238E27FC236}">
                <a16:creationId xmlns:a16="http://schemas.microsoft.com/office/drawing/2014/main" id="{6FB04752-7BBD-3648-BE22-8D983884B555}"/>
              </a:ext>
            </a:extLst>
          </p:cNvPr>
          <p:cNvSpPr/>
          <p:nvPr/>
        </p:nvSpPr>
        <p:spPr>
          <a:xfrm>
            <a:off x="1054309" y="1050303"/>
            <a:ext cx="10083402" cy="52322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C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However, speed limits may arise in </a:t>
            </a:r>
            <a:r>
              <a:rPr kumimoji="0" lang="en-US" sz="2800" b="1" i="0" u="none" strike="noStrike" kern="1200" cap="none" spc="0" normalizeH="0" baseline="0" noProof="0" dirty="0" err="1">
                <a:ln>
                  <a:noFill/>
                </a:ln>
                <a:solidFill>
                  <a:srgbClr val="FFC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emergen</a:t>
            </a:r>
            <a:r>
              <a:rPr lang="en-US" sz="2800" b="1"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t assemblies.</a:t>
            </a:r>
            <a:endParaRPr kumimoji="0" lang="en-US" sz="2800" b="1" i="0" u="none" strike="noStrike" kern="1200" cap="none" spc="0" normalizeH="0" baseline="0" noProof="0" dirty="0">
              <a:ln>
                <a:noFill/>
              </a:ln>
              <a:solidFill>
                <a:srgbClr val="FFC000"/>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grpSp>
        <p:nvGrpSpPr>
          <p:cNvPr id="11" name="Group 10">
            <a:extLst>
              <a:ext uri="{FF2B5EF4-FFF2-40B4-BE49-F238E27FC236}">
                <a16:creationId xmlns:a16="http://schemas.microsoft.com/office/drawing/2014/main" id="{330CC259-8ECA-9504-DF84-043CB2F2838C}"/>
              </a:ext>
            </a:extLst>
          </p:cNvPr>
          <p:cNvGrpSpPr/>
          <p:nvPr/>
        </p:nvGrpSpPr>
        <p:grpSpPr>
          <a:xfrm>
            <a:off x="1035610" y="3622462"/>
            <a:ext cx="872354" cy="1101131"/>
            <a:chOff x="1035610" y="4601259"/>
            <a:chExt cx="872354" cy="1101131"/>
          </a:xfrm>
        </p:grpSpPr>
        <p:sp>
          <p:nvSpPr>
            <p:cNvPr id="32" name="Rectangle 31">
              <a:extLst>
                <a:ext uri="{FF2B5EF4-FFF2-40B4-BE49-F238E27FC236}">
                  <a16:creationId xmlns:a16="http://schemas.microsoft.com/office/drawing/2014/main" id="{90B4F778-AAF3-8441-A126-EF65BDDCA5EE}"/>
                </a:ext>
              </a:extLst>
            </p:cNvPr>
            <p:cNvSpPr/>
            <p:nvPr/>
          </p:nvSpPr>
          <p:spPr>
            <a:xfrm>
              <a:off x="1035610" y="4601259"/>
              <a:ext cx="872354" cy="92333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1D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Linear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Time</a:t>
              </a:r>
            </a:p>
          </p:txBody>
        </p:sp>
        <p:cxnSp>
          <p:nvCxnSpPr>
            <p:cNvPr id="24" name="Straight Arrow Connector 23">
              <a:extLst>
                <a:ext uri="{FF2B5EF4-FFF2-40B4-BE49-F238E27FC236}">
                  <a16:creationId xmlns:a16="http://schemas.microsoft.com/office/drawing/2014/main" id="{282275DC-2AB9-8842-B077-479BC4E05F88}"/>
                </a:ext>
              </a:extLst>
            </p:cNvPr>
            <p:cNvCxnSpPr>
              <a:cxnSpLocks/>
            </p:cNvCxnSpPr>
            <p:nvPr/>
          </p:nvCxnSpPr>
          <p:spPr>
            <a:xfrm flipV="1">
              <a:off x="1231394" y="5702387"/>
              <a:ext cx="480786" cy="3"/>
            </a:xfrm>
            <a:prstGeom prst="straightConnector1">
              <a:avLst/>
            </a:prstGeom>
            <a:ln w="12700">
              <a:solidFill>
                <a:schemeClr val="bg1"/>
              </a:solidFill>
              <a:prstDash val="sysDot"/>
              <a:headEnd type="oval"/>
              <a:tailEnd type="triangle"/>
            </a:ln>
          </p:spPr>
          <p:style>
            <a:lnRef idx="1">
              <a:schemeClr val="accent1"/>
            </a:lnRef>
            <a:fillRef idx="0">
              <a:schemeClr val="accent1"/>
            </a:fillRef>
            <a:effectRef idx="0">
              <a:schemeClr val="accent1"/>
            </a:effectRef>
            <a:fontRef idx="minor">
              <a:schemeClr val="tx1"/>
            </a:fontRef>
          </p:style>
        </p:cxnSp>
      </p:grpSp>
      <p:sp>
        <p:nvSpPr>
          <p:cNvPr id="25" name="Footer Placeholder 3">
            <a:extLst>
              <a:ext uri="{FF2B5EF4-FFF2-40B4-BE49-F238E27FC236}">
                <a16:creationId xmlns:a16="http://schemas.microsoft.com/office/drawing/2014/main" id="{246E4B47-B7AD-0745-91FA-AA77D12D888D}"/>
              </a:ext>
            </a:extLst>
          </p:cNvPr>
          <p:cNvSpPr txBox="1">
            <a:spLocks/>
          </p:cNvSpPr>
          <p:nvPr/>
        </p:nvSpPr>
        <p:spPr>
          <a:xfrm>
            <a:off x="9214069" y="6344564"/>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J Mark Morris</a:t>
            </a: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pSp>
        <p:nvGrpSpPr>
          <p:cNvPr id="9" name="Group 8">
            <a:extLst>
              <a:ext uri="{FF2B5EF4-FFF2-40B4-BE49-F238E27FC236}">
                <a16:creationId xmlns:a16="http://schemas.microsoft.com/office/drawing/2014/main" id="{31017E8F-4F31-A516-F0AA-7D268180E96C}"/>
              </a:ext>
            </a:extLst>
          </p:cNvPr>
          <p:cNvGrpSpPr/>
          <p:nvPr/>
        </p:nvGrpSpPr>
        <p:grpSpPr>
          <a:xfrm>
            <a:off x="10311309" y="3224308"/>
            <a:ext cx="1265090" cy="1897439"/>
            <a:chOff x="839242" y="2412063"/>
            <a:chExt cx="1265090" cy="1897439"/>
          </a:xfrm>
        </p:grpSpPr>
        <p:grpSp>
          <p:nvGrpSpPr>
            <p:cNvPr id="20" name="Group 19">
              <a:extLst>
                <a:ext uri="{FF2B5EF4-FFF2-40B4-BE49-F238E27FC236}">
                  <a16:creationId xmlns:a16="http://schemas.microsoft.com/office/drawing/2014/main" id="{7B450B60-56DD-E447-B796-B112D6F74ECA}"/>
                </a:ext>
              </a:extLst>
            </p:cNvPr>
            <p:cNvGrpSpPr/>
            <p:nvPr/>
          </p:nvGrpSpPr>
          <p:grpSpPr>
            <a:xfrm>
              <a:off x="934089" y="3406958"/>
              <a:ext cx="1075397" cy="902544"/>
              <a:chOff x="5023953" y="4378355"/>
              <a:chExt cx="1303340" cy="1306404"/>
            </a:xfrm>
          </p:grpSpPr>
          <p:cxnSp>
            <p:nvCxnSpPr>
              <p:cNvPr id="23" name="Straight Arrow Connector 22">
                <a:extLst>
                  <a:ext uri="{FF2B5EF4-FFF2-40B4-BE49-F238E27FC236}">
                    <a16:creationId xmlns:a16="http://schemas.microsoft.com/office/drawing/2014/main" id="{CE1E4885-6E99-C949-A2D8-5B8C82D5957E}"/>
                  </a:ext>
                </a:extLst>
              </p:cNvPr>
              <p:cNvCxnSpPr>
                <a:cxnSpLocks/>
              </p:cNvCxnSpPr>
              <p:nvPr/>
            </p:nvCxnSpPr>
            <p:spPr>
              <a:xfrm flipV="1">
                <a:off x="5675623" y="4378355"/>
                <a:ext cx="0" cy="1306404"/>
              </a:xfrm>
              <a:prstGeom prst="straightConnector1">
                <a:avLst/>
              </a:prstGeom>
              <a:ln w="12700">
                <a:solidFill>
                  <a:schemeClr val="bg1"/>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371FBCDF-30F2-6749-9C7D-FE0A8D83337B}"/>
                  </a:ext>
                </a:extLst>
              </p:cNvPr>
              <p:cNvCxnSpPr>
                <a:cxnSpLocks/>
              </p:cNvCxnSpPr>
              <p:nvPr/>
            </p:nvCxnSpPr>
            <p:spPr>
              <a:xfrm rot="2700000" flipV="1">
                <a:off x="5675623" y="4379887"/>
                <a:ext cx="0" cy="1303340"/>
              </a:xfrm>
              <a:prstGeom prst="straightConnector1">
                <a:avLst/>
              </a:prstGeom>
              <a:ln w="12700">
                <a:solidFill>
                  <a:schemeClr val="bg1"/>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BF5810EE-ACDB-6544-9F58-5DEBD8E72D37}"/>
                  </a:ext>
                </a:extLst>
              </p:cNvPr>
              <p:cNvCxnSpPr>
                <a:cxnSpLocks/>
              </p:cNvCxnSpPr>
              <p:nvPr/>
            </p:nvCxnSpPr>
            <p:spPr>
              <a:xfrm flipV="1">
                <a:off x="5134645" y="5013629"/>
                <a:ext cx="1107790" cy="17928"/>
              </a:xfrm>
              <a:prstGeom prst="straightConnector1">
                <a:avLst/>
              </a:prstGeom>
              <a:ln w="12700">
                <a:solidFill>
                  <a:schemeClr val="bg1"/>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3" name="Rectangle 2">
              <a:extLst>
                <a:ext uri="{FF2B5EF4-FFF2-40B4-BE49-F238E27FC236}">
                  <a16:creationId xmlns:a16="http://schemas.microsoft.com/office/drawing/2014/main" id="{B3E4CD37-BCF3-72BF-F3B3-DAC45082593B}"/>
                </a:ext>
              </a:extLst>
            </p:cNvPr>
            <p:cNvSpPr/>
            <p:nvPr/>
          </p:nvSpPr>
          <p:spPr>
            <a:xfrm>
              <a:off x="839242" y="2412063"/>
              <a:ext cx="1265090" cy="92333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3D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Euclidean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Space</a:t>
              </a:r>
            </a:p>
          </p:txBody>
        </p:sp>
      </p:grpSp>
    </p:spTree>
    <p:extLst>
      <p:ext uri="{BB962C8B-B14F-4D97-AF65-F5344CB8AC3E}">
        <p14:creationId xmlns:p14="http://schemas.microsoft.com/office/powerpoint/2010/main" val="4981974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6523CFA3-354C-6364-10BC-40DB888FCA07}"/>
            </a:ext>
          </a:extLst>
        </p:cNvPr>
        <p:cNvGrpSpPr/>
        <p:nvPr/>
      </p:nvGrpSpPr>
      <p:grpSpPr>
        <a:xfrm>
          <a:off x="0" y="0"/>
          <a:ext cx="0" cy="0"/>
          <a:chOff x="0" y="0"/>
          <a:chExt cx="0" cy="0"/>
        </a:xfrm>
      </p:grpSpPr>
      <p:sp>
        <p:nvSpPr>
          <p:cNvPr id="5" name="Footer Placeholder 3">
            <a:extLst>
              <a:ext uri="{FF2B5EF4-FFF2-40B4-BE49-F238E27FC236}">
                <a16:creationId xmlns:a16="http://schemas.microsoft.com/office/drawing/2014/main" id="{3F45CE82-C844-2CCA-4C12-B7D645D177D4}"/>
              </a:ext>
            </a:extLst>
          </p:cNvPr>
          <p:cNvSpPr txBox="1">
            <a:spLocks/>
          </p:cNvSpPr>
          <p:nvPr/>
        </p:nvSpPr>
        <p:spPr>
          <a:xfrm>
            <a:off x="10924248" y="6388602"/>
            <a:ext cx="114226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a:t>
            </a:r>
          </a:p>
        </p:txBody>
      </p:sp>
      <p:sp>
        <p:nvSpPr>
          <p:cNvPr id="2" name="TextBox 1">
            <a:extLst>
              <a:ext uri="{FF2B5EF4-FFF2-40B4-BE49-F238E27FC236}">
                <a16:creationId xmlns:a16="http://schemas.microsoft.com/office/drawing/2014/main" id="{ECC31941-494B-CB33-F627-6BE70A2153F3}"/>
              </a:ext>
            </a:extLst>
          </p:cNvPr>
          <p:cNvSpPr txBox="1"/>
          <p:nvPr/>
        </p:nvSpPr>
        <p:spPr>
          <a:xfrm>
            <a:off x="293364" y="837509"/>
            <a:ext cx="11465670" cy="4247317"/>
          </a:xfrm>
          <a:prstGeom prst="rect">
            <a:avLst/>
          </a:prstGeom>
          <a:noFill/>
        </p:spPr>
        <p:txBody>
          <a:bodyPr wrap="square" rtlCol="0">
            <a:spAutoFit/>
          </a:bodyPr>
          <a:lstStyle/>
          <a:p>
            <a:pPr algn="l"/>
            <a:r>
              <a:rPr lang="en-US" b="0" i="0" u="none" strike="noStrike">
                <a:solidFill>
                  <a:schemeClr val="bg1"/>
                </a:solidFill>
                <a:effectLst/>
                <a:latin typeface="HelveticaNeue-UltraLightItalic" panose="02000503000000020004" pitchFamily="2" charset="0"/>
              </a:rPr>
              <a:t>PP are truly a point with constant rate emission. dq/dt = constant</a:t>
            </a:r>
          </a:p>
          <a:p>
            <a:pPr algn="l"/>
            <a:r>
              <a:rPr lang="en-US" b="0" i="0" u="none" strike="noStrike">
                <a:solidFill>
                  <a:schemeClr val="bg1"/>
                </a:solidFill>
                <a:effectLst/>
                <a:latin typeface="HelveticaNeue-UltraLightItalic" panose="02000503000000020004" pitchFamily="2" charset="0"/>
              </a:rPr>
              <a:t>show intersection of a potential sphere results in action</a:t>
            </a:r>
          </a:p>
          <a:p>
            <a:pPr algn="l"/>
            <a:r>
              <a:rPr lang="en-US" b="0" i="0" u="none" strike="noStrike">
                <a:solidFill>
                  <a:schemeClr val="bg1"/>
                </a:solidFill>
                <a:effectLst/>
                <a:latin typeface="HelveticaNeue-UltraLightItalic" panose="02000503000000020004" pitchFamily="2" charset="0"/>
              </a:rPr>
              <a:t>show how the receiving point potential has infinite solutions along the line defined by emission and reception</a:t>
            </a:r>
          </a:p>
          <a:p>
            <a:r>
              <a:rPr lang="en-US" b="0" i="0" u="none" strike="noStrike">
                <a:solidFill>
                  <a:schemeClr val="bg1"/>
                </a:solidFill>
                <a:effectLst/>
                <a:latin typeface="HelveticaNeue-UltraLightItalic" panose="02000503000000020004" pitchFamily="2" charset="0"/>
              </a:rPr>
              <a:t>towards the partner if the partner is opposite, or away from the partner if the partner is a like potential</a:t>
            </a:r>
          </a:p>
          <a:p>
            <a:pPr algn="l"/>
            <a:endParaRPr lang="en-US" b="0" i="0" u="none" strike="noStrike">
              <a:solidFill>
                <a:schemeClr val="bg1"/>
              </a:solidFill>
              <a:effectLst/>
              <a:latin typeface="HelveticaNeue-UltraLightItalic" panose="02000503000000020004" pitchFamily="2" charset="0"/>
            </a:endParaRPr>
          </a:p>
          <a:p>
            <a:pPr algn="l"/>
            <a:r>
              <a:rPr lang="en-US" b="0" i="0" u="none" strike="noStrike">
                <a:solidFill>
                  <a:schemeClr val="bg1"/>
                </a:solidFill>
                <a:effectLst/>
                <a:latin typeface="HelveticaNeue-UltraLightItalic" panose="02000503000000020004" pitchFamily="2" charset="0"/>
              </a:rPr>
              <a:t>if v-emitter=0 then emission magnitude = |q| -- then q-received = q-transmitted/r.  </a:t>
            </a:r>
          </a:p>
          <a:p>
            <a:pPr algn="l"/>
            <a:endParaRPr lang="en-US" b="0" i="0" u="none" strike="noStrike">
              <a:solidFill>
                <a:schemeClr val="bg1"/>
              </a:solidFill>
              <a:effectLst/>
              <a:latin typeface="HelveticaNeue-UltraLightItalic" panose="02000503000000020004" pitchFamily="2" charset="0"/>
            </a:endParaRPr>
          </a:p>
          <a:p>
            <a:pPr algn="l"/>
            <a:r>
              <a:rPr lang="en-US" b="0" i="0" u="none" strike="noStrike">
                <a:solidFill>
                  <a:schemeClr val="bg1"/>
                </a:solidFill>
                <a:effectLst/>
                <a:latin typeface="HelveticaNeue-UltraLightItalic" panose="02000503000000020004" pitchFamily="2" charset="0"/>
              </a:rPr>
              <a:t>regardless of v-emitter, it may be convenient to imagine a v-emitter = 0 and actual q to simplify the calculations.</a:t>
            </a:r>
          </a:p>
          <a:p>
            <a:pPr algn="l"/>
            <a:endParaRPr lang="en-US" b="0" i="0" u="none" strike="noStrike">
              <a:solidFill>
                <a:schemeClr val="bg1"/>
              </a:solidFill>
              <a:effectLst/>
              <a:latin typeface="HelveticaNeue-UltraLightItalic" panose="02000503000000020004" pitchFamily="2" charset="0"/>
            </a:endParaRPr>
          </a:p>
          <a:p>
            <a:pPr algn="l"/>
            <a:r>
              <a:rPr lang="en-US" b="0" i="0" u="none" strike="noStrike">
                <a:solidFill>
                  <a:schemeClr val="bg1"/>
                </a:solidFill>
                <a:effectLst/>
                <a:latin typeface="HelveticaNeue-UltraLightItalic" panose="02000503000000020004" pitchFamily="2" charset="0"/>
              </a:rPr>
              <a:t>also, how does v-receiver play in to this.  </a:t>
            </a:r>
          </a:p>
          <a:p>
            <a:pPr algn="l"/>
            <a:r>
              <a:rPr lang="en-US" b="0" i="0" u="none" strike="noStrike">
                <a:solidFill>
                  <a:schemeClr val="bg1"/>
                </a:solidFill>
                <a:effectLst/>
                <a:latin typeface="HelveticaNeue-UltraLightItalic" panose="02000503000000020004" pitchFamily="2" charset="0"/>
              </a:rPr>
              <a:t>v-receiver = 0, no impact</a:t>
            </a:r>
          </a:p>
          <a:p>
            <a:pPr algn="l"/>
            <a:r>
              <a:rPr lang="en-US" b="0" i="0" u="none" strike="noStrike">
                <a:solidFill>
                  <a:schemeClr val="bg1"/>
                </a:solidFill>
                <a:effectLst/>
                <a:latin typeface="HelveticaNeue-UltraLightItalic" panose="02000503000000020004" pitchFamily="2" charset="0"/>
              </a:rPr>
              <a:t>for portion of v-receiver on a geodesic ?</a:t>
            </a:r>
          </a:p>
          <a:p>
            <a:pPr algn="l"/>
            <a:r>
              <a:rPr lang="en-US" b="0" i="0" u="none" strike="noStrike">
                <a:solidFill>
                  <a:schemeClr val="bg1"/>
                </a:solidFill>
                <a:effectLst/>
                <a:latin typeface="HelveticaNeue-UltraLightItalic" panose="02000503000000020004" pitchFamily="2" charset="0"/>
              </a:rPr>
              <a:t>for portion of v-receiver on the line to emission then calculation is different</a:t>
            </a:r>
          </a:p>
          <a:p>
            <a:pPr algn="l"/>
            <a:r>
              <a:rPr lang="en-US" b="0" i="0" u="none" strike="noStrike">
                <a:solidFill>
                  <a:schemeClr val="bg1"/>
                </a:solidFill>
                <a:effectLst/>
                <a:latin typeface="HelveticaNeue-UltraLightItalic" panose="02000503000000020004" pitchFamily="2" charset="0"/>
              </a:rPr>
              <a:t>how does gradient of potential factor in to action?</a:t>
            </a:r>
          </a:p>
          <a:p>
            <a:pPr algn="l"/>
            <a:r>
              <a:rPr lang="en-US" b="0" i="0" u="none" strike="noStrike">
                <a:solidFill>
                  <a:schemeClr val="bg1"/>
                </a:solidFill>
                <a:effectLst/>
                <a:latin typeface="HelveticaNeue-UltraLightItalic" panose="02000503000000020004" pitchFamily="2" charset="0"/>
              </a:rPr>
              <a:t>it is more work to move away from an opposite emitter, and towards a like emitter and vice versa.</a:t>
            </a:r>
          </a:p>
        </p:txBody>
      </p:sp>
      <p:sp>
        <p:nvSpPr>
          <p:cNvPr id="8" name="TextBox 7">
            <a:extLst>
              <a:ext uri="{FF2B5EF4-FFF2-40B4-BE49-F238E27FC236}">
                <a16:creationId xmlns:a16="http://schemas.microsoft.com/office/drawing/2014/main" id="{9C9E08D3-A836-13F3-ABBA-84160A212EDC}"/>
              </a:ext>
            </a:extLst>
          </p:cNvPr>
          <p:cNvSpPr txBox="1"/>
          <p:nvPr/>
        </p:nvSpPr>
        <p:spPr>
          <a:xfrm>
            <a:off x="486437" y="104273"/>
            <a:ext cx="11580073"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More things to explain slowly in the slides above </a:t>
            </a:r>
          </a:p>
        </p:txBody>
      </p:sp>
    </p:spTree>
    <p:extLst>
      <p:ext uri="{BB962C8B-B14F-4D97-AF65-F5344CB8AC3E}">
        <p14:creationId xmlns:p14="http://schemas.microsoft.com/office/powerpoint/2010/main" val="30423298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668F77D6-DFDA-5A46-8DF1-47F6A167C2B1}"/>
              </a:ext>
            </a:extLst>
          </p:cNvPr>
          <p:cNvSpPr txBox="1">
            <a:spLocks/>
          </p:cNvSpPr>
          <p:nvPr/>
        </p:nvSpPr>
        <p:spPr>
          <a:xfrm>
            <a:off x="10924248" y="6388602"/>
            <a:ext cx="114226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a:t>
            </a:r>
          </a:p>
        </p:txBody>
      </p:sp>
      <p:sp>
        <p:nvSpPr>
          <p:cNvPr id="2" name="TextBox 1">
            <a:extLst>
              <a:ext uri="{FF2B5EF4-FFF2-40B4-BE49-F238E27FC236}">
                <a16:creationId xmlns:a16="http://schemas.microsoft.com/office/drawing/2014/main" id="{DDEA4115-15F8-921F-AB6F-6FB061DB5DDD}"/>
              </a:ext>
            </a:extLst>
          </p:cNvPr>
          <p:cNvSpPr txBox="1"/>
          <p:nvPr/>
        </p:nvSpPr>
        <p:spPr>
          <a:xfrm>
            <a:off x="512273" y="1228397"/>
            <a:ext cx="11465670" cy="4649863"/>
          </a:xfrm>
          <a:prstGeom prst="rect">
            <a:avLst/>
          </a:prstGeom>
          <a:noFill/>
        </p:spPr>
        <p:txBody>
          <a:bodyPr wrap="square" rtlCol="0">
            <a:spAutoFit/>
          </a:bodyPr>
          <a:lstStyle/>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A unit potential is described by (sign, time, position, velocity) (-/+ </a:t>
            </a:r>
            <a:r>
              <a:rPr kumimoji="0" lang="el-GR" sz="2000" b="0" i="1"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δ</a:t>
            </a:r>
            <a:r>
              <a:rPr kumimoji="0" lang="en-US" sz="2000" b="0" i="1"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 t, s, s’)</a:t>
            </a:r>
            <a:endParaRPr kumimoji="0" lang="en-US" sz="20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Like unit potentials repel. </a:t>
            </a: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O</a:t>
            </a:r>
            <a:r>
              <a:rPr kumimoji="0" lang="en-US" sz="2000" b="0" i="0" u="none" strike="noStrike" kern="1200" cap="none" spc="0" normalizeH="0" baseline="0" noProof="0" dirty="0" err="1">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pposite</a:t>
            </a:r>
            <a:r>
              <a:rPr kumimoji="0" lang="en-US" sz="20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 unit potentials attract. </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The sum of all unit potential in the universe is zero.</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The path of a unit potential is presumed to span all time to t=now.</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Point potentials are acted upon by the local superposition of all coincident Dirac spheres. </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A point potential with v &lt; @ is inside its emitted Dirac potential spheres.</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A point potential with v &gt; @ is outside its emitted Dirac potential spheres.</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Once a unit potential velocity crosses @ then self-action occurs.</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Vector velocity orientation and magnitude of both the emitter and receiver are directly related to computing the action when crossing a Dirac sphere. </a:t>
            </a:r>
          </a:p>
        </p:txBody>
      </p:sp>
      <p:sp>
        <p:nvSpPr>
          <p:cNvPr id="8" name="TextBox 7">
            <a:extLst>
              <a:ext uri="{FF2B5EF4-FFF2-40B4-BE49-F238E27FC236}">
                <a16:creationId xmlns:a16="http://schemas.microsoft.com/office/drawing/2014/main" id="{60D7070F-73F6-024C-A784-AA2DE3B8E022}"/>
              </a:ext>
            </a:extLst>
          </p:cNvPr>
          <p:cNvSpPr txBox="1"/>
          <p:nvPr/>
        </p:nvSpPr>
        <p:spPr>
          <a:xfrm>
            <a:off x="512272" y="321582"/>
            <a:ext cx="11580073"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Foundation for a Dynamical </a:t>
            </a:r>
            <a:r>
              <a:rPr lang="en-US" sz="28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G</a:t>
            </a:r>
            <a:r>
              <a:rPr kumimoji="0" lang="en-US" sz="2800" b="1" i="0" u="none" strike="noStrike" kern="1200" cap="none" spc="0" normalizeH="0" baseline="0" noProof="0" dirty="0" err="1">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eometry</a:t>
            </a:r>
            <a:r>
              <a:rPr kumimoji="0" lang="en-US" sz="2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 of Nature and the Universe </a:t>
            </a:r>
          </a:p>
        </p:txBody>
      </p:sp>
    </p:spTree>
    <p:extLst>
      <p:ext uri="{BB962C8B-B14F-4D97-AF65-F5344CB8AC3E}">
        <p14:creationId xmlns:p14="http://schemas.microsoft.com/office/powerpoint/2010/main" val="328739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A8AA5BC-4F7A-4226-8F99-6D824B226A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E5445C6-DD42-4979-86FF-03730E8C6D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734" y="321733"/>
            <a:ext cx="11573488" cy="6214534"/>
          </a:xfrm>
          <a:prstGeom prst="rect">
            <a:avLst/>
          </a:prstGeom>
          <a:solidFill>
            <a:schemeClr val="bg1">
              <a:lumMod val="75000"/>
              <a:lumOff val="25000"/>
            </a:schemeClr>
          </a:solidFill>
          <a:ln w="127000" cap="sq" cmpd="thinThick">
            <a:solidFill>
              <a:schemeClr val="bg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10B119-EC53-BA46-BAA3-CB758CDEDAF5}"/>
              </a:ext>
            </a:extLst>
          </p:cNvPr>
          <p:cNvSpPr>
            <a:spLocks noGrp="1"/>
          </p:cNvSpPr>
          <p:nvPr>
            <p:ph type="ctrTitle"/>
          </p:nvPr>
        </p:nvSpPr>
        <p:spPr>
          <a:xfrm>
            <a:off x="1524000" y="1122362"/>
            <a:ext cx="9144000" cy="2840037"/>
          </a:xfrm>
        </p:spPr>
        <p:txBody>
          <a:bodyPr>
            <a:normAutofit/>
          </a:bodyPr>
          <a:lstStyle/>
          <a:p>
            <a:r>
              <a:rPr lang="en-US" sz="5800" dirty="0"/>
              <a:t>Thank You</a:t>
            </a:r>
          </a:p>
        </p:txBody>
      </p:sp>
      <p:sp>
        <p:nvSpPr>
          <p:cNvPr id="3" name="Subtitle 2">
            <a:extLst>
              <a:ext uri="{FF2B5EF4-FFF2-40B4-BE49-F238E27FC236}">
                <a16:creationId xmlns:a16="http://schemas.microsoft.com/office/drawing/2014/main" id="{44E6BC0E-0DB7-C346-A0CC-E3CB36C29A54}"/>
              </a:ext>
            </a:extLst>
          </p:cNvPr>
          <p:cNvSpPr>
            <a:spLocks noGrp="1"/>
          </p:cNvSpPr>
          <p:nvPr>
            <p:ph type="subTitle" idx="1"/>
          </p:nvPr>
        </p:nvSpPr>
        <p:spPr>
          <a:xfrm>
            <a:off x="1524000" y="4256436"/>
            <a:ext cx="9144000" cy="1600818"/>
          </a:xfrm>
        </p:spPr>
        <p:txBody>
          <a:bodyPr>
            <a:normAutofit/>
          </a:bodyPr>
          <a:lstStyle/>
          <a:p>
            <a:r>
              <a:rPr lang="en-US" dirty="0"/>
              <a:t>Questions?</a:t>
            </a:r>
          </a:p>
        </p:txBody>
      </p:sp>
      <p:cxnSp>
        <p:nvCxnSpPr>
          <p:cNvPr id="13" name="Straight Connector 12">
            <a:extLst>
              <a:ext uri="{FF2B5EF4-FFF2-40B4-BE49-F238E27FC236}">
                <a16:creationId xmlns:a16="http://schemas.microsoft.com/office/drawing/2014/main" id="{45000665-DFC7-417E-8FD7-516A0F15C9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4400" y="4109417"/>
            <a:ext cx="2743200" cy="0"/>
          </a:xfrm>
          <a:prstGeom prst="line">
            <a:avLst/>
          </a:prstGeom>
          <a:ln w="12700">
            <a:solidFill>
              <a:schemeClr val="tx1">
                <a:lumMod val="85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9E726E67-7B90-B642-8D26-6DDF890C4785}"/>
              </a:ext>
            </a:extLst>
          </p:cNvPr>
          <p:cNvSpPr>
            <a:spLocks noGrp="1"/>
          </p:cNvSpPr>
          <p:nvPr>
            <p:ph type="ftr" sz="quarter" idx="11"/>
          </p:nvPr>
        </p:nvSpPr>
        <p:spPr>
          <a:xfrm>
            <a:off x="4038600" y="6159710"/>
            <a:ext cx="4114800" cy="365125"/>
          </a:xfrm>
        </p:spPr>
        <p:txBody>
          <a:bodyP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 - Model of Nature</a:t>
            </a:r>
          </a:p>
        </p:txBody>
      </p:sp>
    </p:spTree>
    <p:extLst>
      <p:ext uri="{BB962C8B-B14F-4D97-AF65-F5344CB8AC3E}">
        <p14:creationId xmlns:p14="http://schemas.microsoft.com/office/powerpoint/2010/main" val="3747833275"/>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84A2A9E9-70D3-76F3-62DA-B8A646AE36F7}"/>
            </a:ext>
          </a:extLst>
        </p:cNvPr>
        <p:cNvGrpSpPr/>
        <p:nvPr/>
      </p:nvGrpSpPr>
      <p:grpSpPr>
        <a:xfrm>
          <a:off x="0" y="0"/>
          <a:ext cx="0" cy="0"/>
          <a:chOff x="0" y="0"/>
          <a:chExt cx="0" cy="0"/>
        </a:xfrm>
      </p:grpSpPr>
      <p:sp>
        <p:nvSpPr>
          <p:cNvPr id="5" name="Footer Placeholder 3">
            <a:extLst>
              <a:ext uri="{FF2B5EF4-FFF2-40B4-BE49-F238E27FC236}">
                <a16:creationId xmlns:a16="http://schemas.microsoft.com/office/drawing/2014/main" id="{14825113-EAFD-FBE0-8FFF-ADE632AC7301}"/>
              </a:ext>
            </a:extLst>
          </p:cNvPr>
          <p:cNvSpPr txBox="1">
            <a:spLocks/>
          </p:cNvSpPr>
          <p:nvPr/>
        </p:nvSpPr>
        <p:spPr>
          <a:xfrm>
            <a:off x="10924248" y="6388602"/>
            <a:ext cx="114226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a:t>
            </a:r>
          </a:p>
        </p:txBody>
      </p:sp>
      <p:sp>
        <p:nvSpPr>
          <p:cNvPr id="8" name="TextBox 7">
            <a:extLst>
              <a:ext uri="{FF2B5EF4-FFF2-40B4-BE49-F238E27FC236}">
                <a16:creationId xmlns:a16="http://schemas.microsoft.com/office/drawing/2014/main" id="{238E18F6-C9DC-76A4-6BE8-0F4D215C824E}"/>
              </a:ext>
            </a:extLst>
          </p:cNvPr>
          <p:cNvSpPr txBox="1"/>
          <p:nvPr/>
        </p:nvSpPr>
        <p:spPr>
          <a:xfrm>
            <a:off x="0" y="0"/>
            <a:ext cx="12192000" cy="6986528"/>
          </a:xfrm>
          <a:prstGeom prst="rect">
            <a:avLst/>
          </a:prstGeom>
          <a:noFill/>
        </p:spPr>
        <p:txBody>
          <a:bodyPr wrap="square">
            <a:spAutoFit/>
          </a:bodyPr>
          <a:lstStyle/>
          <a:p>
            <a:r>
              <a:rPr lang="en-US" sz="160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idea of point charges as fundamental building blocks of nature has played a significant role in the history of particle physics. </a:t>
            </a:r>
          </a:p>
          <a:p>
            <a:endParaRPr lang="en-US" sz="160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a:p>
            <a:r>
              <a:rPr lang="en-US" sz="160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This concept emerged with the development of atomic and subatomic theories, particularly in the late 19th and early 20th centuries.</a:t>
            </a:r>
          </a:p>
          <a:p>
            <a:pPr marL="742950" lvl="1" indent="-285750">
              <a:buFont typeface="Arial" panose="020B0604020202020204" pitchFamily="34" charset="0"/>
              <a:buChar char="•"/>
            </a:pPr>
            <a:r>
              <a:rPr lang="en-US" sz="160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 "point charge" is an idealized model, representing an electric charge concentrated at a single point in time and space. </a:t>
            </a:r>
          </a:p>
          <a:p>
            <a:pPr marL="742950" lvl="1" indent="-285750">
              <a:buFont typeface="Arial" panose="020B0604020202020204" pitchFamily="34" charset="0"/>
              <a:buChar char="•"/>
            </a:pPr>
            <a:r>
              <a:rPr lang="en-US" sz="160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Prior to the discovery of the internal structure of the atom, early theories proposed that positive and negative charges could account for the observed electrical properties of matter.</a:t>
            </a:r>
          </a:p>
          <a:p>
            <a:endParaRPr lang="en-US" sz="160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a:p>
            <a:r>
              <a:rPr lang="en-US" sz="160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Proton and Electron Identification:</a:t>
            </a:r>
          </a:p>
          <a:p>
            <a:pPr marL="742950" lvl="1" indent="-285750">
              <a:buFont typeface="Arial" panose="020B0604020202020204" pitchFamily="34" charset="0"/>
              <a:buChar char="•"/>
            </a:pPr>
            <a:r>
              <a:rPr lang="en-US" sz="160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J.J. Thomson discovered the electron in 1897 and it carried a fundamental negative charge (−e)</a:t>
            </a:r>
          </a:p>
          <a:p>
            <a:pPr marL="742950" lvl="1" indent="-285750">
              <a:buFont typeface="Arial" panose="020B0604020202020204" pitchFamily="34" charset="0"/>
              <a:buChar char="•"/>
            </a:pPr>
            <a:r>
              <a:rPr lang="en-US" sz="160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Ernest Rutherford demonstrated in 1911 the existence of a dense, positively charged nucleus.</a:t>
            </a:r>
          </a:p>
          <a:p>
            <a:pPr marL="742950" lvl="1" indent="-285750">
              <a:buFont typeface="Arial" panose="020B0604020202020204" pitchFamily="34" charset="0"/>
              <a:buChar char="•"/>
            </a:pPr>
            <a:r>
              <a:rPr lang="en-US" sz="160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Rutherford’s result lead to the identification of the proton as a fundamental carrier of positive charge (+e).</a:t>
            </a:r>
          </a:p>
          <a:p>
            <a:pPr marL="742950" lvl="1" indent="-285750">
              <a:buFont typeface="Arial" panose="020B0604020202020204" pitchFamily="34" charset="0"/>
              <a:buChar char="•"/>
            </a:pPr>
            <a:r>
              <a:rPr lang="en-US" sz="160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early models of the atom, such as the Rutherford model, conceptualized the electron and proton as point charges. </a:t>
            </a:r>
          </a:p>
          <a:p>
            <a:pPr marL="742950" lvl="1" indent="-285750">
              <a:buFont typeface="Arial" panose="020B0604020202020204" pitchFamily="34" charset="0"/>
              <a:buChar char="•"/>
            </a:pPr>
            <a:r>
              <a:rPr lang="en-US" sz="160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Point charges were thought to define the atom's structure and behavior.</a:t>
            </a:r>
          </a:p>
          <a:p>
            <a:endParaRPr lang="en-US" sz="160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a:p>
            <a:r>
              <a:rPr lang="en-US" sz="160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Theoretical Framework:</a:t>
            </a:r>
          </a:p>
          <a:p>
            <a:pPr marL="742950" lvl="1" indent="-285750">
              <a:buFont typeface="Arial" panose="020B0604020202020204" pitchFamily="34" charset="0"/>
              <a:buChar char="•"/>
            </a:pPr>
            <a:r>
              <a:rPr lang="en-US" sz="160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proton and electron were initially regarded as indivisible charged point particles with no internal structure.</a:t>
            </a:r>
          </a:p>
          <a:p>
            <a:pPr marL="742950" lvl="1" indent="-285750">
              <a:buFont typeface="Arial" panose="020B0604020202020204" pitchFamily="34" charset="0"/>
              <a:buChar char="•"/>
            </a:pPr>
            <a:r>
              <a:rPr lang="en-US" sz="160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Their point-like nature was essential in early quantum mechanical formulations.</a:t>
            </a:r>
          </a:p>
          <a:p>
            <a:pPr marL="742950" lvl="1" indent="-285750">
              <a:buFont typeface="Arial" panose="020B0604020202020204" pitchFamily="34" charset="0"/>
              <a:buChar char="•"/>
            </a:pPr>
            <a:r>
              <a:rPr lang="en-US" sz="160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Bohr atomic model (1913) used point charges, describing electrons in discrete orbits around a nucleus of protons.</a:t>
            </a:r>
          </a:p>
          <a:p>
            <a:br>
              <a:rPr lang="en-US" sz="1600">
                <a:solidFill>
                  <a:schemeClr val="bg1"/>
                </a:solidFill>
                <a:latin typeface="Helvetica Neue" panose="02000503000000020004" pitchFamily="2" charset="0"/>
                <a:ea typeface="Helvetica Neue" panose="02000503000000020004" pitchFamily="2" charset="0"/>
                <a:cs typeface="Helvetica Neue" panose="02000503000000020004" pitchFamily="2" charset="0"/>
              </a:rPr>
            </a:br>
            <a:r>
              <a:rPr lang="en-US" sz="160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Transition to Modern Understanding (Quantum Theory)</a:t>
            </a:r>
          </a:p>
          <a:p>
            <a:pPr marL="742950" lvl="1" indent="-285750">
              <a:buFont typeface="Arial" panose="020B0604020202020204" pitchFamily="34" charset="0"/>
              <a:buChar char="•"/>
            </a:pPr>
            <a:r>
              <a:rPr lang="en-US" sz="160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Experiments in inelastic scattering in the 1960s, revealed that protons have an internal structure of quarks bound by gluons. </a:t>
            </a:r>
          </a:p>
          <a:p>
            <a:pPr marL="742950" lvl="1" indent="-285750">
              <a:buFont typeface="Arial" panose="020B0604020202020204" pitchFamily="34" charset="0"/>
              <a:buChar char="•"/>
            </a:pPr>
            <a:r>
              <a:rPr lang="en-US" sz="160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Thus the proton could not be a point charge since it had internal structure.</a:t>
            </a:r>
          </a:p>
          <a:p>
            <a:pPr marL="742950" lvl="1" indent="-285750">
              <a:buFont typeface="Arial" panose="020B0604020202020204" pitchFamily="34" charset="0"/>
              <a:buChar char="•"/>
            </a:pPr>
            <a:r>
              <a:rPr lang="en-US" sz="160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electron remains a point-like particle with no internal structure, consistent with the Standard Model of particle physics. </a:t>
            </a:r>
          </a:p>
          <a:p>
            <a:pPr marL="742950" lvl="1" indent="-285750">
              <a:buFont typeface="Arial" panose="020B0604020202020204" pitchFamily="34" charset="0"/>
              <a:buChar char="•"/>
            </a:pPr>
            <a:r>
              <a:rPr lang="en-US" sz="160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Though the point charge model was useful, it had theoretical issues, i.e., the infinite self-energy in classical electrodynamics. </a:t>
            </a:r>
          </a:p>
          <a:p>
            <a:pPr marL="742950" lvl="1" indent="-285750">
              <a:buFont typeface="Arial" panose="020B0604020202020204" pitchFamily="34" charset="0"/>
              <a:buChar char="•"/>
            </a:pPr>
            <a:r>
              <a:rPr lang="en-US" sz="160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Quantum field theory (QFT) addresses these infinities through renormalization.</a:t>
            </a:r>
          </a:p>
          <a:p>
            <a:endParaRPr lang="en-US" sz="160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a:p>
            <a:r>
              <a:rPr lang="en-US" sz="160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h/t chatgpt</a:t>
            </a:r>
          </a:p>
        </p:txBody>
      </p:sp>
      <p:sp>
        <p:nvSpPr>
          <p:cNvPr id="3" name="TextBox 2">
            <a:extLst>
              <a:ext uri="{FF2B5EF4-FFF2-40B4-BE49-F238E27FC236}">
                <a16:creationId xmlns:a16="http://schemas.microsoft.com/office/drawing/2014/main" id="{70E214BE-6576-6BE4-953B-56C5AEBEDB96}"/>
              </a:ext>
            </a:extLst>
          </p:cNvPr>
          <p:cNvSpPr txBox="1"/>
          <p:nvPr/>
        </p:nvSpPr>
        <p:spPr>
          <a:xfrm>
            <a:off x="5111016" y="-798897"/>
            <a:ext cx="1697901" cy="584775"/>
          </a:xfrm>
          <a:prstGeom prst="rect">
            <a:avLst/>
          </a:prstGeom>
          <a:noFill/>
        </p:spPr>
        <p:txBody>
          <a:bodyPr wrap="none" rtlCol="0">
            <a:spAutoFit/>
          </a:bodyPr>
          <a:lstStyle/>
          <a:p>
            <a:r>
              <a:rPr lang="en-US" sz="3200" b="1">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SCRIPT</a:t>
            </a:r>
          </a:p>
        </p:txBody>
      </p:sp>
    </p:spTree>
    <p:extLst>
      <p:ext uri="{BB962C8B-B14F-4D97-AF65-F5344CB8AC3E}">
        <p14:creationId xmlns:p14="http://schemas.microsoft.com/office/powerpoint/2010/main" val="27964032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F038DB4A-3170-80D2-BE14-C60EBAC46D3F}"/>
            </a:ext>
          </a:extLst>
        </p:cNvPr>
        <p:cNvGrpSpPr/>
        <p:nvPr/>
      </p:nvGrpSpPr>
      <p:grpSpPr>
        <a:xfrm>
          <a:off x="0" y="0"/>
          <a:ext cx="0" cy="0"/>
          <a:chOff x="0" y="0"/>
          <a:chExt cx="0" cy="0"/>
        </a:xfrm>
      </p:grpSpPr>
      <p:sp>
        <p:nvSpPr>
          <p:cNvPr id="5" name="Footer Placeholder 3">
            <a:extLst>
              <a:ext uri="{FF2B5EF4-FFF2-40B4-BE49-F238E27FC236}">
                <a16:creationId xmlns:a16="http://schemas.microsoft.com/office/drawing/2014/main" id="{D62E685F-2B63-085A-D318-954A749F457F}"/>
              </a:ext>
            </a:extLst>
          </p:cNvPr>
          <p:cNvSpPr txBox="1">
            <a:spLocks/>
          </p:cNvSpPr>
          <p:nvPr/>
        </p:nvSpPr>
        <p:spPr>
          <a:xfrm>
            <a:off x="10924248" y="6388602"/>
            <a:ext cx="114226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a:t>
            </a:r>
          </a:p>
        </p:txBody>
      </p:sp>
      <p:sp>
        <p:nvSpPr>
          <p:cNvPr id="3" name="TextBox 2">
            <a:extLst>
              <a:ext uri="{FF2B5EF4-FFF2-40B4-BE49-F238E27FC236}">
                <a16:creationId xmlns:a16="http://schemas.microsoft.com/office/drawing/2014/main" id="{DFF01D0D-C6C7-24BE-AE84-C46583D09214}"/>
              </a:ext>
            </a:extLst>
          </p:cNvPr>
          <p:cNvSpPr txBox="1"/>
          <p:nvPr/>
        </p:nvSpPr>
        <p:spPr>
          <a:xfrm>
            <a:off x="-3143984" y="3773103"/>
            <a:ext cx="2601994" cy="584775"/>
          </a:xfrm>
          <a:prstGeom prst="rect">
            <a:avLst/>
          </a:prstGeom>
          <a:noFill/>
        </p:spPr>
        <p:txBody>
          <a:bodyPr wrap="none" rtlCol="0">
            <a:spAutoFit/>
          </a:bodyPr>
          <a:lstStyle/>
          <a:p>
            <a:r>
              <a:rPr lang="en-US" sz="3200" b="1">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h/t ChatGPT</a:t>
            </a:r>
          </a:p>
        </p:txBody>
      </p:sp>
      <p:pic>
        <p:nvPicPr>
          <p:cNvPr id="2" name="Picture 1">
            <a:extLst>
              <a:ext uri="{FF2B5EF4-FFF2-40B4-BE49-F238E27FC236}">
                <a16:creationId xmlns:a16="http://schemas.microsoft.com/office/drawing/2014/main" id="{E6D33851-4BCD-E082-9760-FDEE86AC64F7}"/>
              </a:ext>
            </a:extLst>
          </p:cNvPr>
          <p:cNvPicPr>
            <a:picLocks noChangeAspect="1"/>
          </p:cNvPicPr>
          <p:nvPr/>
        </p:nvPicPr>
        <p:blipFill>
          <a:blip r:embed="rId3"/>
          <a:stretch>
            <a:fillRect/>
          </a:stretch>
        </p:blipFill>
        <p:spPr>
          <a:xfrm>
            <a:off x="0" y="0"/>
            <a:ext cx="6748474" cy="6858000"/>
          </a:xfrm>
          <a:prstGeom prst="rect">
            <a:avLst/>
          </a:prstGeom>
        </p:spPr>
      </p:pic>
      <p:sp>
        <p:nvSpPr>
          <p:cNvPr id="6" name="TextBox 5">
            <a:extLst>
              <a:ext uri="{FF2B5EF4-FFF2-40B4-BE49-F238E27FC236}">
                <a16:creationId xmlns:a16="http://schemas.microsoft.com/office/drawing/2014/main" id="{14CD8DA9-9F93-D6DC-D0B2-2A553602794A}"/>
              </a:ext>
            </a:extLst>
          </p:cNvPr>
          <p:cNvSpPr txBox="1"/>
          <p:nvPr/>
        </p:nvSpPr>
        <p:spPr>
          <a:xfrm>
            <a:off x="6748474" y="1536174"/>
            <a:ext cx="5443526" cy="3785652"/>
          </a:xfrm>
          <a:prstGeom prst="rect">
            <a:avLst/>
          </a:prstGeom>
          <a:noFill/>
        </p:spPr>
        <p:txBody>
          <a:bodyPr wrap="square">
            <a:spAutoFit/>
          </a:bodyPr>
          <a:lstStyle/>
          <a:p>
            <a:r>
              <a:rPr lang="en-US" sz="160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Point charges are confusing and incompletely modeled.</a:t>
            </a:r>
          </a:p>
          <a:p>
            <a:r>
              <a:rPr lang="en-US" sz="160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Instead, consider a point object which</a:t>
            </a:r>
          </a:p>
          <a:p>
            <a:pPr marL="285750" indent="-285750">
              <a:buFont typeface="Arial" panose="020B0604020202020204" pitchFamily="34" charset="0"/>
              <a:buChar char="•"/>
            </a:pPr>
            <a:r>
              <a:rPr lang="en-US" sz="160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emit potential at a constant rate</a:t>
            </a:r>
          </a:p>
          <a:p>
            <a:pPr marL="285750" indent="-285750">
              <a:buFont typeface="Arial" panose="020B0604020202020204" pitchFamily="34" charset="0"/>
              <a:buChar char="•"/>
            </a:pPr>
            <a:r>
              <a:rPr lang="en-US" sz="160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act in response to received potential (superposition)</a:t>
            </a:r>
          </a:p>
          <a:p>
            <a:pPr marL="285750" indent="-285750">
              <a:buFont typeface="Arial" panose="020B0604020202020204" pitchFamily="34" charset="0"/>
              <a:buChar char="•"/>
            </a:pPr>
            <a:r>
              <a:rPr lang="en-US" sz="160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are modeled as a Dirac delta at r=0 and q/r otherwise.</a:t>
            </a:r>
          </a:p>
          <a:p>
            <a:endParaRPr lang="en-US" sz="160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a:p>
            <a:r>
              <a:rPr lang="en-US" sz="160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There are multiple ways the old concerns don’t matter.</a:t>
            </a:r>
          </a:p>
          <a:p>
            <a:pPr marL="285750" indent="-285750">
              <a:buFont typeface="Arial" panose="020B0604020202020204" pitchFamily="34" charset="0"/>
              <a:buChar char="•"/>
            </a:pPr>
            <a:r>
              <a:rPr lang="en-US" sz="160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there is only one case where the 1/r path is followed and that is the spiraling binary, which has a limit.</a:t>
            </a:r>
          </a:p>
          <a:p>
            <a:pPr marL="285750" indent="-285750">
              <a:buFont typeface="Arial" panose="020B0604020202020204" pitchFamily="34" charset="0"/>
              <a:buChar char="•"/>
            </a:pPr>
            <a:r>
              <a:rPr lang="en-US" sz="160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point potentials move through potential fields at ease</a:t>
            </a:r>
          </a:p>
          <a:p>
            <a:pPr marL="285750" indent="-285750">
              <a:buFont typeface="Arial" panose="020B0604020202020204" pitchFamily="34" charset="0"/>
              <a:buChar char="•"/>
            </a:pPr>
            <a:r>
              <a:rPr lang="en-US" sz="160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everything is superposition, relax</a:t>
            </a:r>
          </a:p>
          <a:p>
            <a:pPr marL="285750" indent="-285750">
              <a:buFont typeface="Arial" panose="020B0604020202020204" pitchFamily="34" charset="0"/>
              <a:buChar char="•"/>
            </a:pPr>
            <a:endParaRPr lang="en-US" sz="160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a:p>
            <a:pPr marL="285750" indent="-285750">
              <a:buFont typeface="Arial" panose="020B0604020202020204" pitchFamily="34" charset="0"/>
              <a:buChar char="•"/>
            </a:pPr>
            <a:endParaRPr lang="en-US" sz="160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a:p>
            <a:r>
              <a:rPr lang="en-US" sz="160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self energy issues are a result of an ontology too far from base nature.</a:t>
            </a:r>
          </a:p>
        </p:txBody>
      </p:sp>
    </p:spTree>
    <p:extLst>
      <p:ext uri="{BB962C8B-B14F-4D97-AF65-F5344CB8AC3E}">
        <p14:creationId xmlns:p14="http://schemas.microsoft.com/office/powerpoint/2010/main" val="37048544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73430D88-1A63-8AAD-B38F-D98DC73DC464}"/>
            </a:ext>
          </a:extLst>
        </p:cNvPr>
        <p:cNvGrpSpPr/>
        <p:nvPr/>
      </p:nvGrpSpPr>
      <p:grpSpPr>
        <a:xfrm>
          <a:off x="0" y="0"/>
          <a:ext cx="0" cy="0"/>
          <a:chOff x="0" y="0"/>
          <a:chExt cx="0" cy="0"/>
        </a:xfrm>
      </p:grpSpPr>
      <p:sp>
        <p:nvSpPr>
          <p:cNvPr id="5" name="Footer Placeholder 3">
            <a:extLst>
              <a:ext uri="{FF2B5EF4-FFF2-40B4-BE49-F238E27FC236}">
                <a16:creationId xmlns:a16="http://schemas.microsoft.com/office/drawing/2014/main" id="{753C8DBD-DDA9-7032-AAC2-D2AAC26F477E}"/>
              </a:ext>
            </a:extLst>
          </p:cNvPr>
          <p:cNvSpPr txBox="1">
            <a:spLocks/>
          </p:cNvSpPr>
          <p:nvPr/>
        </p:nvSpPr>
        <p:spPr>
          <a:xfrm>
            <a:off x="10924248" y="6388602"/>
            <a:ext cx="114226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a:t>
            </a:r>
          </a:p>
        </p:txBody>
      </p:sp>
      <p:sp>
        <p:nvSpPr>
          <p:cNvPr id="3" name="TextBox 2">
            <a:extLst>
              <a:ext uri="{FF2B5EF4-FFF2-40B4-BE49-F238E27FC236}">
                <a16:creationId xmlns:a16="http://schemas.microsoft.com/office/drawing/2014/main" id="{ACFFDE0A-9B7D-C2B6-E32F-AE01C2F4D5B5}"/>
              </a:ext>
            </a:extLst>
          </p:cNvPr>
          <p:cNvSpPr txBox="1"/>
          <p:nvPr/>
        </p:nvSpPr>
        <p:spPr>
          <a:xfrm>
            <a:off x="-2700896" y="128970"/>
            <a:ext cx="2601994" cy="584775"/>
          </a:xfrm>
          <a:prstGeom prst="rect">
            <a:avLst/>
          </a:prstGeom>
          <a:noFill/>
        </p:spPr>
        <p:txBody>
          <a:bodyPr wrap="none" rtlCol="0">
            <a:spAutoFit/>
          </a:bodyPr>
          <a:lstStyle/>
          <a:p>
            <a:r>
              <a:rPr lang="en-US" sz="3200" b="1">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h/t ChatGPT</a:t>
            </a:r>
          </a:p>
        </p:txBody>
      </p:sp>
      <p:pic>
        <p:nvPicPr>
          <p:cNvPr id="4" name="Picture 3">
            <a:extLst>
              <a:ext uri="{FF2B5EF4-FFF2-40B4-BE49-F238E27FC236}">
                <a16:creationId xmlns:a16="http://schemas.microsoft.com/office/drawing/2014/main" id="{5CC8194B-30FC-BE15-3BC4-92A1EB9B3341}"/>
              </a:ext>
            </a:extLst>
          </p:cNvPr>
          <p:cNvPicPr>
            <a:picLocks noChangeAspect="1"/>
          </p:cNvPicPr>
          <p:nvPr/>
        </p:nvPicPr>
        <p:blipFill>
          <a:blip r:embed="rId3"/>
          <a:stretch>
            <a:fillRect/>
          </a:stretch>
        </p:blipFill>
        <p:spPr>
          <a:xfrm>
            <a:off x="0" y="0"/>
            <a:ext cx="5365852" cy="6858000"/>
          </a:xfrm>
          <a:prstGeom prst="rect">
            <a:avLst/>
          </a:prstGeom>
        </p:spPr>
      </p:pic>
      <p:sp>
        <p:nvSpPr>
          <p:cNvPr id="6" name="TextBox 5">
            <a:extLst>
              <a:ext uri="{FF2B5EF4-FFF2-40B4-BE49-F238E27FC236}">
                <a16:creationId xmlns:a16="http://schemas.microsoft.com/office/drawing/2014/main" id="{EDE5D03E-88C5-20A2-A1A5-70FB67273DD7}"/>
              </a:ext>
            </a:extLst>
          </p:cNvPr>
          <p:cNvSpPr txBox="1"/>
          <p:nvPr/>
        </p:nvSpPr>
        <p:spPr>
          <a:xfrm>
            <a:off x="5966734" y="283414"/>
            <a:ext cx="5655276" cy="5940088"/>
          </a:xfrm>
          <a:prstGeom prst="rect">
            <a:avLst/>
          </a:prstGeom>
          <a:noFill/>
        </p:spPr>
        <p:txBody>
          <a:bodyPr wrap="square" rtlCol="0">
            <a:spAutoFit/>
          </a:bodyPr>
          <a:lstStyle/>
          <a:p>
            <a:r>
              <a:rPr lang="en-US" sz="200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Seriously?</a:t>
            </a:r>
          </a:p>
          <a:p>
            <a:endParaRPr lang="en-US" sz="2000">
              <a:solidFill>
                <a:srgbClr val="FFC000"/>
              </a:solidFill>
              <a:latin typeface="Helvetica Neue" panose="02000503000000020004" pitchFamily="2" charset="0"/>
              <a:ea typeface="Helvetica Neue" panose="02000503000000020004" pitchFamily="2" charset="0"/>
              <a:cs typeface="Helvetica Neue" panose="02000503000000020004" pitchFamily="2" charset="0"/>
            </a:endParaRPr>
          </a:p>
          <a:p>
            <a:r>
              <a:rPr lang="en-US" sz="200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They gave up because of this issue?</a:t>
            </a:r>
          </a:p>
          <a:p>
            <a:endParaRPr lang="en-US" sz="2000">
              <a:solidFill>
                <a:srgbClr val="FFC000"/>
              </a:solidFill>
              <a:latin typeface="Helvetica Neue" panose="02000503000000020004" pitchFamily="2" charset="0"/>
              <a:ea typeface="Helvetica Neue" panose="02000503000000020004" pitchFamily="2" charset="0"/>
              <a:cs typeface="Helvetica Neue" panose="02000503000000020004" pitchFamily="2" charset="0"/>
            </a:endParaRPr>
          </a:p>
          <a:p>
            <a:r>
              <a:rPr lang="en-US" sz="200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And they had superposition?</a:t>
            </a:r>
          </a:p>
          <a:p>
            <a:endParaRPr lang="en-US" sz="2000">
              <a:solidFill>
                <a:srgbClr val="FFC000"/>
              </a:solidFill>
              <a:latin typeface="Helvetica Neue" panose="02000503000000020004" pitchFamily="2" charset="0"/>
              <a:ea typeface="Helvetica Neue" panose="02000503000000020004" pitchFamily="2" charset="0"/>
              <a:cs typeface="Helvetica Neue" panose="02000503000000020004" pitchFamily="2" charset="0"/>
            </a:endParaRPr>
          </a:p>
          <a:p>
            <a:r>
              <a:rPr lang="en-US" sz="200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And they knew about frequencies.</a:t>
            </a:r>
          </a:p>
          <a:p>
            <a:endParaRPr lang="en-US" sz="2000">
              <a:solidFill>
                <a:srgbClr val="FFC000"/>
              </a:solidFill>
              <a:latin typeface="Helvetica Neue" panose="02000503000000020004" pitchFamily="2" charset="0"/>
              <a:ea typeface="Helvetica Neue" panose="02000503000000020004" pitchFamily="2" charset="0"/>
              <a:cs typeface="Helvetica Neue" panose="02000503000000020004" pitchFamily="2" charset="0"/>
            </a:endParaRPr>
          </a:p>
          <a:p>
            <a:r>
              <a:rPr lang="en-US" sz="200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And had already considered orbits.</a:t>
            </a:r>
          </a:p>
          <a:p>
            <a:endParaRPr lang="en-US" sz="2000">
              <a:solidFill>
                <a:srgbClr val="FFC000"/>
              </a:solidFill>
              <a:latin typeface="Helvetica Neue" panose="02000503000000020004" pitchFamily="2" charset="0"/>
              <a:ea typeface="Helvetica Neue" panose="02000503000000020004" pitchFamily="2" charset="0"/>
              <a:cs typeface="Helvetica Neue" panose="02000503000000020004" pitchFamily="2" charset="0"/>
            </a:endParaRPr>
          </a:p>
          <a:p>
            <a:r>
              <a:rPr lang="en-US" sz="200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And knew about path history for point charges.</a:t>
            </a:r>
          </a:p>
          <a:p>
            <a:endParaRPr lang="en-US" sz="2000">
              <a:solidFill>
                <a:srgbClr val="FFC000"/>
              </a:solidFill>
              <a:latin typeface="Helvetica Neue" panose="02000503000000020004" pitchFamily="2" charset="0"/>
              <a:ea typeface="Helvetica Neue" panose="02000503000000020004" pitchFamily="2" charset="0"/>
              <a:cs typeface="Helvetica Neue" panose="02000503000000020004" pitchFamily="2" charset="0"/>
            </a:endParaRPr>
          </a:p>
          <a:p>
            <a:r>
              <a:rPr lang="en-US" sz="200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It boggles my mind how major challenges and paradox are considered as perplexing oddities to be ignored and yet we put on the blinders and use proxies like renormalization in the theories.</a:t>
            </a:r>
          </a:p>
          <a:p>
            <a:endParaRPr lang="en-US" sz="2000">
              <a:solidFill>
                <a:srgbClr val="FFC000"/>
              </a:solidFill>
              <a:latin typeface="Helvetica Neue" panose="02000503000000020004" pitchFamily="2" charset="0"/>
              <a:ea typeface="Helvetica Neue" panose="02000503000000020004" pitchFamily="2" charset="0"/>
              <a:cs typeface="Helvetica Neue" panose="02000503000000020004" pitchFamily="2" charset="0"/>
            </a:endParaRPr>
          </a:p>
          <a:p>
            <a:r>
              <a:rPr lang="en-US" sz="200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Are you kidding me?</a:t>
            </a:r>
          </a:p>
        </p:txBody>
      </p:sp>
      <p:pic>
        <p:nvPicPr>
          <p:cNvPr id="2" name="Picture 1">
            <a:extLst>
              <a:ext uri="{FF2B5EF4-FFF2-40B4-BE49-F238E27FC236}">
                <a16:creationId xmlns:a16="http://schemas.microsoft.com/office/drawing/2014/main" id="{433D4A9F-6D3A-A53F-5EBF-4E3AB3133871}"/>
              </a:ext>
            </a:extLst>
          </p:cNvPr>
          <p:cNvPicPr>
            <a:picLocks noChangeAspect="1"/>
          </p:cNvPicPr>
          <p:nvPr/>
        </p:nvPicPr>
        <p:blipFill>
          <a:blip r:embed="rId4"/>
          <a:stretch>
            <a:fillRect/>
          </a:stretch>
        </p:blipFill>
        <p:spPr>
          <a:xfrm>
            <a:off x="-384498" y="-6979826"/>
            <a:ext cx="5975942" cy="6858000"/>
          </a:xfrm>
          <a:prstGeom prst="rect">
            <a:avLst/>
          </a:prstGeom>
        </p:spPr>
      </p:pic>
      <p:pic>
        <p:nvPicPr>
          <p:cNvPr id="7" name="Picture 6">
            <a:extLst>
              <a:ext uri="{FF2B5EF4-FFF2-40B4-BE49-F238E27FC236}">
                <a16:creationId xmlns:a16="http://schemas.microsoft.com/office/drawing/2014/main" id="{AC32DE47-0DF1-DFA4-F0BF-74CC7FB64625}"/>
              </a:ext>
            </a:extLst>
          </p:cNvPr>
          <p:cNvPicPr>
            <a:picLocks noChangeAspect="1"/>
          </p:cNvPicPr>
          <p:nvPr/>
        </p:nvPicPr>
        <p:blipFill>
          <a:blip r:embed="rId5"/>
          <a:stretch>
            <a:fillRect/>
          </a:stretch>
        </p:blipFill>
        <p:spPr>
          <a:xfrm>
            <a:off x="5591444" y="-6979826"/>
            <a:ext cx="6475066" cy="6858000"/>
          </a:xfrm>
          <a:prstGeom prst="rect">
            <a:avLst/>
          </a:prstGeom>
        </p:spPr>
      </p:pic>
    </p:spTree>
    <p:extLst>
      <p:ext uri="{BB962C8B-B14F-4D97-AF65-F5344CB8AC3E}">
        <p14:creationId xmlns:p14="http://schemas.microsoft.com/office/powerpoint/2010/main" val="22668399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350FC2F0-7016-191E-C62B-2F1043B51523}"/>
            </a:ext>
          </a:extLst>
        </p:cNvPr>
        <p:cNvGrpSpPr/>
        <p:nvPr/>
      </p:nvGrpSpPr>
      <p:grpSpPr>
        <a:xfrm>
          <a:off x="0" y="0"/>
          <a:ext cx="0" cy="0"/>
          <a:chOff x="0" y="0"/>
          <a:chExt cx="0" cy="0"/>
        </a:xfrm>
      </p:grpSpPr>
      <p:sp>
        <p:nvSpPr>
          <p:cNvPr id="5" name="Footer Placeholder 3">
            <a:extLst>
              <a:ext uri="{FF2B5EF4-FFF2-40B4-BE49-F238E27FC236}">
                <a16:creationId xmlns:a16="http://schemas.microsoft.com/office/drawing/2014/main" id="{358ED6BC-E906-5E1F-C9E2-F43798AED530}"/>
              </a:ext>
            </a:extLst>
          </p:cNvPr>
          <p:cNvSpPr txBox="1">
            <a:spLocks/>
          </p:cNvSpPr>
          <p:nvPr/>
        </p:nvSpPr>
        <p:spPr>
          <a:xfrm>
            <a:off x="10924248" y="6388602"/>
            <a:ext cx="114226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a:t>
            </a:r>
          </a:p>
        </p:txBody>
      </p:sp>
      <p:sp>
        <p:nvSpPr>
          <p:cNvPr id="2" name="TextBox 1">
            <a:extLst>
              <a:ext uri="{FF2B5EF4-FFF2-40B4-BE49-F238E27FC236}">
                <a16:creationId xmlns:a16="http://schemas.microsoft.com/office/drawing/2014/main" id="{132FD10F-4787-35B9-3723-FC903514578F}"/>
              </a:ext>
            </a:extLst>
          </p:cNvPr>
          <p:cNvSpPr txBox="1"/>
          <p:nvPr/>
        </p:nvSpPr>
        <p:spPr>
          <a:xfrm>
            <a:off x="512272" y="902394"/>
            <a:ext cx="11465670" cy="1631216"/>
          </a:xfrm>
          <a:prstGeom prst="rect">
            <a:avLst/>
          </a:prstGeom>
          <a:noFill/>
        </p:spPr>
        <p:txBody>
          <a:bodyPr wrap="square" rtlCol="0">
            <a:spAutoFit/>
          </a:bodyPr>
          <a:lstStyle/>
          <a:p>
            <a:pPr marL="285750" marR="0" lvl="0" indent="-285750" algn="l" defTabSz="914400" rtl="0" eaLnBrk="1" fontAlgn="auto" latinLnBrk="0" hangingPunct="1">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Use grad, div, curl to make fundamental obserations about the emissions of point potentials.</a:t>
            </a:r>
          </a:p>
          <a:p>
            <a:pPr marL="285750" marR="0" lvl="0" indent="-285750" algn="l" defTabSz="914400" rtl="0" eaLnBrk="1" fontAlgn="auto" latinLnBrk="0" hangingPunct="1">
              <a:spcBef>
                <a:spcPts val="0"/>
              </a:spcBef>
              <a:spcAft>
                <a:spcPts val="0"/>
              </a:spcAft>
              <a:buClrTx/>
              <a:buSzTx/>
              <a:buFont typeface="Arial" panose="020B0604020202020204" pitchFamily="34" charset="0"/>
              <a:buChar char="•"/>
              <a:tabLst/>
              <a:defRPr/>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Use systems of up to two point potentials</a:t>
            </a:r>
          </a:p>
          <a:p>
            <a:pPr marL="285750" marR="0" lvl="0" indent="-285750" algn="l" defTabSz="914400" rtl="0" eaLnBrk="1" fontAlgn="auto" latinLnBrk="0" hangingPunct="1">
              <a:spcBef>
                <a:spcPts val="0"/>
              </a:spcBef>
              <a:spcAft>
                <a:spcPts val="0"/>
              </a:spcAft>
              <a:buClrTx/>
              <a:buSzTx/>
              <a:buFont typeface="Arial" panose="020B0604020202020204" pitchFamily="34" charset="0"/>
              <a:buChar char="•"/>
              <a:tabLst/>
              <a:defRPr/>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Can any of these be proven geometrically?</a:t>
            </a:r>
          </a:p>
          <a:p>
            <a:pPr marL="285750" marR="0" lvl="0" indent="-285750" algn="l" defTabSz="914400" rtl="0" eaLnBrk="1" fontAlgn="auto" latinLnBrk="0" hangingPunct="1">
              <a:spcBef>
                <a:spcPts val="0"/>
              </a:spcBef>
              <a:spcAft>
                <a:spcPts val="0"/>
              </a:spcAft>
              <a:buClrTx/>
              <a:buSzTx/>
              <a:buFont typeface="Arial" panose="020B0604020202020204" pitchFamily="34" charset="0"/>
              <a:buChar char="•"/>
              <a:tabLst/>
              <a:defRPr/>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Compare to Maxwell in Del form.</a:t>
            </a:r>
          </a:p>
          <a:p>
            <a:pPr marL="285750" marR="0" lvl="0" indent="-285750" algn="l" defTabSz="914400" rtl="0" eaLnBrk="1" fontAlgn="auto" latinLnBrk="0" hangingPunct="1">
              <a:spcBef>
                <a:spcPts val="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8" name="TextBox 7">
            <a:extLst>
              <a:ext uri="{FF2B5EF4-FFF2-40B4-BE49-F238E27FC236}">
                <a16:creationId xmlns:a16="http://schemas.microsoft.com/office/drawing/2014/main" id="{66D94C86-9437-C0D1-B6E9-EE6E69B9F6C8}"/>
              </a:ext>
            </a:extLst>
          </p:cNvPr>
          <p:cNvSpPr txBox="1"/>
          <p:nvPr/>
        </p:nvSpPr>
        <p:spPr>
          <a:xfrm>
            <a:off x="512272" y="321582"/>
            <a:ext cx="11580073"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Examining the Potential Field of 0, 1, or 2 Point Potentials </a:t>
            </a:r>
          </a:p>
        </p:txBody>
      </p:sp>
      <p:graphicFrame>
        <p:nvGraphicFramePr>
          <p:cNvPr id="3" name="Table 2">
            <a:extLst>
              <a:ext uri="{FF2B5EF4-FFF2-40B4-BE49-F238E27FC236}">
                <a16:creationId xmlns:a16="http://schemas.microsoft.com/office/drawing/2014/main" id="{00BA6015-2262-3C7A-725A-2DB70D52AD3C}"/>
              </a:ext>
            </a:extLst>
          </p:cNvPr>
          <p:cNvGraphicFramePr>
            <a:graphicFrameLocks noGrp="1"/>
          </p:cNvGraphicFramePr>
          <p:nvPr>
            <p:extLst>
              <p:ext uri="{D42A27DB-BD31-4B8C-83A1-F6EECF244321}">
                <p14:modId xmlns:p14="http://schemas.microsoft.com/office/powerpoint/2010/main" val="15347663"/>
              </p:ext>
            </p:extLst>
          </p:nvPr>
        </p:nvGraphicFramePr>
        <p:xfrm>
          <a:off x="496136" y="2808006"/>
          <a:ext cx="11199727" cy="3032769"/>
        </p:xfrm>
        <a:graphic>
          <a:graphicData uri="http://schemas.openxmlformats.org/drawingml/2006/table">
            <a:tbl>
              <a:tblPr firstRow="1" bandRow="1">
                <a:tableStyleId>{5C22544A-7EE6-4342-B048-85BDC9FD1C3A}</a:tableStyleId>
              </a:tblPr>
              <a:tblGrid>
                <a:gridCol w="1825139">
                  <a:extLst>
                    <a:ext uri="{9D8B030D-6E8A-4147-A177-3AD203B41FA5}">
                      <a16:colId xmlns:a16="http://schemas.microsoft.com/office/drawing/2014/main" val="3215995319"/>
                    </a:ext>
                  </a:extLst>
                </a:gridCol>
                <a:gridCol w="724218">
                  <a:extLst>
                    <a:ext uri="{9D8B030D-6E8A-4147-A177-3AD203B41FA5}">
                      <a16:colId xmlns:a16="http://schemas.microsoft.com/office/drawing/2014/main" val="2078492112"/>
                    </a:ext>
                  </a:extLst>
                </a:gridCol>
                <a:gridCol w="626872">
                  <a:extLst>
                    <a:ext uri="{9D8B030D-6E8A-4147-A177-3AD203B41FA5}">
                      <a16:colId xmlns:a16="http://schemas.microsoft.com/office/drawing/2014/main" val="1858572401"/>
                    </a:ext>
                  </a:extLst>
                </a:gridCol>
                <a:gridCol w="1452563">
                  <a:extLst>
                    <a:ext uri="{9D8B030D-6E8A-4147-A177-3AD203B41FA5}">
                      <a16:colId xmlns:a16="http://schemas.microsoft.com/office/drawing/2014/main" val="1326786380"/>
                    </a:ext>
                  </a:extLst>
                </a:gridCol>
                <a:gridCol w="1154113">
                  <a:extLst>
                    <a:ext uri="{9D8B030D-6E8A-4147-A177-3AD203B41FA5}">
                      <a16:colId xmlns:a16="http://schemas.microsoft.com/office/drawing/2014/main" val="918904619"/>
                    </a:ext>
                  </a:extLst>
                </a:gridCol>
                <a:gridCol w="724218">
                  <a:extLst>
                    <a:ext uri="{9D8B030D-6E8A-4147-A177-3AD203B41FA5}">
                      <a16:colId xmlns:a16="http://schemas.microsoft.com/office/drawing/2014/main" val="2078907028"/>
                    </a:ext>
                  </a:extLst>
                </a:gridCol>
                <a:gridCol w="1465580">
                  <a:extLst>
                    <a:ext uri="{9D8B030D-6E8A-4147-A177-3AD203B41FA5}">
                      <a16:colId xmlns:a16="http://schemas.microsoft.com/office/drawing/2014/main" val="2505089680"/>
                    </a:ext>
                  </a:extLst>
                </a:gridCol>
                <a:gridCol w="1167130">
                  <a:extLst>
                    <a:ext uri="{9D8B030D-6E8A-4147-A177-3AD203B41FA5}">
                      <a16:colId xmlns:a16="http://schemas.microsoft.com/office/drawing/2014/main" val="3084425507"/>
                    </a:ext>
                  </a:extLst>
                </a:gridCol>
                <a:gridCol w="2059894">
                  <a:extLst>
                    <a:ext uri="{9D8B030D-6E8A-4147-A177-3AD203B41FA5}">
                      <a16:colId xmlns:a16="http://schemas.microsoft.com/office/drawing/2014/main" val="1198364657"/>
                    </a:ext>
                  </a:extLst>
                </a:gridCol>
              </a:tblGrid>
              <a:tr h="680729">
                <a:tc>
                  <a:txBody>
                    <a:bodyPr/>
                    <a:lstStyle/>
                    <a:p>
                      <a:r>
                        <a:rPr lang="en-US" sz="160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Region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4">
                  <a:txBody>
                    <a:bodyPr/>
                    <a:lstStyle/>
                    <a:p>
                      <a:r>
                        <a:rPr lang="en-US" sz="160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No point potentials</a:t>
                      </a:r>
                      <a:br>
                        <a:rPr lang="en-US" sz="1600">
                          <a:solidFill>
                            <a:schemeClr val="tx1"/>
                          </a:solidFill>
                          <a:latin typeface="Helvetica Neue" panose="02000503000000020004" pitchFamily="2" charset="0"/>
                          <a:ea typeface="Helvetica Neue" panose="02000503000000020004" pitchFamily="2" charset="0"/>
                          <a:cs typeface="Helvetica Neue" panose="02000503000000020004" pitchFamily="2" charset="0"/>
                        </a:rPr>
                      </a:br>
                      <a:r>
                        <a:rPr lang="en-US" sz="160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(does it match superposition?)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latin typeface="Helvetica Neue" panose="02000503000000020004" pitchFamily="2" charset="0"/>
                        <a:ea typeface="Helvetica Neue" panose="02000503000000020004" pitchFamily="2" charset="0"/>
                        <a:cs typeface="Helvetica Neue" panose="02000503000000020004"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latin typeface="Helvetica Neue" panose="02000503000000020004" pitchFamily="2" charset="0"/>
                        <a:ea typeface="Helvetica Neue" panose="02000503000000020004" pitchFamily="2" charset="0"/>
                        <a:cs typeface="Helvetica Neue" panose="02000503000000020004"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latin typeface="Helvetica Neue" panose="02000503000000020004" pitchFamily="2" charset="0"/>
                        <a:ea typeface="Helvetica Neue" panose="02000503000000020004" pitchFamily="2" charset="0"/>
                        <a:cs typeface="Helvetica Neue" panose="02000503000000020004"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r>
                        <a:rPr lang="en-US" sz="160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One moving point potential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latin typeface="Helvetica Neue" panose="02000503000000020004" pitchFamily="2" charset="0"/>
                        <a:ea typeface="Helvetica Neue" panose="02000503000000020004" pitchFamily="2" charset="0"/>
                        <a:cs typeface="Helvetica Neue" panose="02000503000000020004"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latin typeface="Helvetica Neue" panose="02000503000000020004" pitchFamily="2" charset="0"/>
                        <a:ea typeface="Helvetica Neue" panose="02000503000000020004" pitchFamily="2" charset="0"/>
                        <a:cs typeface="Helvetica Neue" panose="02000503000000020004"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A pair of opposite or same point potentials.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02720088"/>
                  </a:ext>
                </a:extLst>
              </a:tr>
              <a:tr h="680729">
                <a:tc>
                  <a:txBody>
                    <a:bodyPr/>
                    <a:lstStyle/>
                    <a:p>
                      <a:r>
                        <a:rPr lang="en-US" sz="160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External Moving Point Potentials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None</a:t>
                      </a:r>
                    </a:p>
                    <a:p>
                      <a:endParaRPr lang="en-US" sz="1600">
                        <a:solidFill>
                          <a:schemeClr val="tx1"/>
                        </a:solidFill>
                        <a:latin typeface="Helvetica Neue" panose="02000503000000020004" pitchFamily="2" charset="0"/>
                        <a:ea typeface="Helvetica Neue" panose="02000503000000020004" pitchFamily="2" charset="0"/>
                        <a:cs typeface="Helvetica Neue" panose="02000503000000020004"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Two opposite</a:t>
                      </a:r>
                    </a:p>
                    <a:p>
                      <a:endParaRPr lang="en-US" sz="1600">
                        <a:solidFill>
                          <a:schemeClr val="tx1"/>
                        </a:solidFill>
                        <a:latin typeface="Helvetica Neue" panose="02000503000000020004" pitchFamily="2" charset="0"/>
                        <a:ea typeface="Helvetica Neue" panose="02000503000000020004" pitchFamily="2" charset="0"/>
                        <a:cs typeface="Helvetica Neue" panose="02000503000000020004"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Two same</a:t>
                      </a:r>
                    </a:p>
                    <a:p>
                      <a:endParaRPr lang="en-US" sz="1600">
                        <a:solidFill>
                          <a:schemeClr val="tx1"/>
                        </a:solidFill>
                        <a:latin typeface="Helvetica Neue" panose="02000503000000020004" pitchFamily="2" charset="0"/>
                        <a:ea typeface="Helvetica Neue" panose="02000503000000020004" pitchFamily="2" charset="0"/>
                        <a:cs typeface="Helvetica Neue" panose="02000503000000020004"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None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One opposite</a:t>
                      </a:r>
                    </a:p>
                    <a:p>
                      <a:endParaRPr lang="en-US" sz="1600">
                        <a:solidFill>
                          <a:schemeClr val="tx1"/>
                        </a:solidFill>
                        <a:latin typeface="Helvetica Neue" panose="02000503000000020004" pitchFamily="2" charset="0"/>
                        <a:ea typeface="Helvetica Neue" panose="02000503000000020004" pitchFamily="2" charset="0"/>
                        <a:cs typeface="Helvetica Neue" panose="02000503000000020004"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One same</a:t>
                      </a:r>
                    </a:p>
                    <a:p>
                      <a:endParaRPr lang="en-US" sz="1600">
                        <a:solidFill>
                          <a:schemeClr val="tx1"/>
                        </a:solidFill>
                        <a:latin typeface="Helvetica Neue" panose="02000503000000020004" pitchFamily="2" charset="0"/>
                        <a:ea typeface="Helvetica Neue" panose="02000503000000020004" pitchFamily="2" charset="0"/>
                        <a:cs typeface="Helvetica Neue" panose="02000503000000020004"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None</a:t>
                      </a:r>
                    </a:p>
                    <a:p>
                      <a:endParaRPr lang="en-US" sz="1600">
                        <a:solidFill>
                          <a:schemeClr val="tx1"/>
                        </a:solidFill>
                        <a:latin typeface="Helvetica Neue" panose="02000503000000020004" pitchFamily="2" charset="0"/>
                        <a:ea typeface="Helvetica Neue" panose="02000503000000020004" pitchFamily="2" charset="0"/>
                        <a:cs typeface="Helvetica Neue" panose="02000503000000020004"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72284323"/>
                  </a:ext>
                </a:extLst>
              </a:tr>
              <a:tr h="370840">
                <a:tc>
                  <a:txBody>
                    <a:bodyPr/>
                    <a:lstStyle/>
                    <a:p>
                      <a:r>
                        <a:rPr lang="en-US" sz="160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Gradient of Potential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None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r>
                        <a:rPr lang="en-US" sz="160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Based on path of emitters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sz="1600">
                        <a:solidFill>
                          <a:schemeClr val="tx1"/>
                        </a:solidFill>
                        <a:latin typeface="Helvetica Neue" panose="02000503000000020004" pitchFamily="2" charset="0"/>
                        <a:ea typeface="Helvetica Neue" panose="02000503000000020004" pitchFamily="2" charset="0"/>
                        <a:cs typeface="Helvetica Neue" panose="02000503000000020004"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sz="1600">
                        <a:solidFill>
                          <a:schemeClr val="tx1"/>
                        </a:solidFill>
                        <a:latin typeface="Helvetica Neue" panose="02000503000000020004" pitchFamily="2" charset="0"/>
                        <a:ea typeface="Helvetica Neue" panose="02000503000000020004" pitchFamily="2" charset="0"/>
                        <a:cs typeface="Helvetica Neue" panose="02000503000000020004"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600">
                        <a:solidFill>
                          <a:schemeClr val="tx1"/>
                        </a:solidFill>
                        <a:latin typeface="Helvetica Neue" panose="02000503000000020004" pitchFamily="2" charset="0"/>
                        <a:ea typeface="Helvetica Neue" panose="02000503000000020004" pitchFamily="2" charset="0"/>
                        <a:cs typeface="Helvetica Neue" panose="02000503000000020004"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600">
                        <a:solidFill>
                          <a:schemeClr val="tx1"/>
                        </a:solidFill>
                        <a:latin typeface="Helvetica Neue" panose="02000503000000020004" pitchFamily="2" charset="0"/>
                        <a:ea typeface="Helvetica Neue" panose="02000503000000020004" pitchFamily="2" charset="0"/>
                        <a:cs typeface="Helvetica Neue" panose="02000503000000020004"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600">
                        <a:solidFill>
                          <a:schemeClr val="tx1"/>
                        </a:solidFill>
                        <a:latin typeface="Helvetica Neue" panose="02000503000000020004" pitchFamily="2" charset="0"/>
                        <a:ea typeface="Helvetica Neue" panose="02000503000000020004" pitchFamily="2" charset="0"/>
                        <a:cs typeface="Helvetica Neue" panose="02000503000000020004"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600">
                        <a:solidFill>
                          <a:schemeClr val="tx1"/>
                        </a:solidFill>
                        <a:latin typeface="Helvetica Neue" panose="02000503000000020004" pitchFamily="2" charset="0"/>
                        <a:ea typeface="Helvetica Neue" panose="02000503000000020004" pitchFamily="2" charset="0"/>
                        <a:cs typeface="Helvetica Neue" panose="02000503000000020004"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10215886"/>
                  </a:ext>
                </a:extLst>
              </a:tr>
              <a:tr h="370840">
                <a:tc>
                  <a:txBody>
                    <a:bodyPr/>
                    <a:lstStyle/>
                    <a:p>
                      <a:r>
                        <a:rPr lang="en-US" sz="160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Divergence of Potential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zero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zero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zero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zero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zero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 q</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 q</a:t>
                      </a:r>
                    </a:p>
                    <a:p>
                      <a:endParaRPr lang="en-US" sz="1600">
                        <a:solidFill>
                          <a:schemeClr val="tx1"/>
                        </a:solidFill>
                        <a:latin typeface="Helvetica Neue" panose="02000503000000020004" pitchFamily="2" charset="0"/>
                        <a:ea typeface="Helvetica Neue" panose="02000503000000020004" pitchFamily="2" charset="0"/>
                        <a:cs typeface="Helvetica Neue" panose="02000503000000020004"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zero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64039919"/>
                  </a:ext>
                </a:extLst>
              </a:tr>
              <a:tr h="370840">
                <a:tc>
                  <a:txBody>
                    <a:bodyPr/>
                    <a:lstStyle/>
                    <a:p>
                      <a:r>
                        <a:rPr lang="en-US" sz="160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Curl of Potential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zero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600">
                        <a:solidFill>
                          <a:schemeClr val="tx1"/>
                        </a:solidFill>
                        <a:latin typeface="Helvetica Neue" panose="02000503000000020004" pitchFamily="2" charset="0"/>
                        <a:ea typeface="Helvetica Neue" panose="02000503000000020004" pitchFamily="2" charset="0"/>
                        <a:cs typeface="Helvetica Neue" panose="02000503000000020004"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600">
                        <a:solidFill>
                          <a:schemeClr val="tx1"/>
                        </a:solidFill>
                        <a:latin typeface="Helvetica Neue" panose="02000503000000020004" pitchFamily="2" charset="0"/>
                        <a:ea typeface="Helvetica Neue" panose="02000503000000020004" pitchFamily="2" charset="0"/>
                        <a:cs typeface="Helvetica Neue" panose="02000503000000020004"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600">
                        <a:solidFill>
                          <a:schemeClr val="tx1"/>
                        </a:solidFill>
                        <a:latin typeface="Helvetica Neue" panose="02000503000000020004" pitchFamily="2" charset="0"/>
                        <a:ea typeface="Helvetica Neue" panose="02000503000000020004" pitchFamily="2" charset="0"/>
                        <a:cs typeface="Helvetica Neue" panose="02000503000000020004"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600">
                        <a:solidFill>
                          <a:schemeClr val="tx1"/>
                        </a:solidFill>
                        <a:latin typeface="Helvetica Neue" panose="02000503000000020004" pitchFamily="2" charset="0"/>
                        <a:ea typeface="Helvetica Neue" panose="02000503000000020004" pitchFamily="2" charset="0"/>
                        <a:cs typeface="Helvetica Neue" panose="02000503000000020004"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600">
                        <a:solidFill>
                          <a:schemeClr val="tx1"/>
                        </a:solidFill>
                        <a:latin typeface="Helvetica Neue" panose="02000503000000020004" pitchFamily="2" charset="0"/>
                        <a:ea typeface="Helvetica Neue" panose="02000503000000020004" pitchFamily="2" charset="0"/>
                        <a:cs typeface="Helvetica Neue" panose="02000503000000020004"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600">
                        <a:solidFill>
                          <a:schemeClr val="tx1"/>
                        </a:solidFill>
                        <a:latin typeface="Helvetica Neue" panose="02000503000000020004" pitchFamily="2" charset="0"/>
                        <a:ea typeface="Helvetica Neue" panose="02000503000000020004" pitchFamily="2" charset="0"/>
                        <a:cs typeface="Helvetica Neue" panose="02000503000000020004"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600">
                        <a:solidFill>
                          <a:schemeClr val="tx1"/>
                        </a:solidFill>
                        <a:latin typeface="Helvetica Neue" panose="02000503000000020004" pitchFamily="2" charset="0"/>
                        <a:ea typeface="Helvetica Neue" panose="02000503000000020004" pitchFamily="2" charset="0"/>
                        <a:cs typeface="Helvetica Neue" panose="02000503000000020004"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64217278"/>
                  </a:ext>
                </a:extLst>
              </a:tr>
            </a:tbl>
          </a:graphicData>
        </a:graphic>
      </p:graphicFrame>
    </p:spTree>
    <p:extLst>
      <p:ext uri="{BB962C8B-B14F-4D97-AF65-F5344CB8AC3E}">
        <p14:creationId xmlns:p14="http://schemas.microsoft.com/office/powerpoint/2010/main" val="3612604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F573E457-A142-08D1-C31E-927AF5AE3629}"/>
            </a:ext>
          </a:extLst>
        </p:cNvPr>
        <p:cNvGrpSpPr/>
        <p:nvPr/>
      </p:nvGrpSpPr>
      <p:grpSpPr>
        <a:xfrm>
          <a:off x="0" y="0"/>
          <a:ext cx="0" cy="0"/>
          <a:chOff x="0" y="0"/>
          <a:chExt cx="0" cy="0"/>
        </a:xfrm>
      </p:grpSpPr>
      <p:sp>
        <p:nvSpPr>
          <p:cNvPr id="5" name="Footer Placeholder 3">
            <a:extLst>
              <a:ext uri="{FF2B5EF4-FFF2-40B4-BE49-F238E27FC236}">
                <a16:creationId xmlns:a16="http://schemas.microsoft.com/office/drawing/2014/main" id="{9FF2EC26-4FA7-CD4D-A98C-D391C12B8103}"/>
              </a:ext>
            </a:extLst>
          </p:cNvPr>
          <p:cNvSpPr txBox="1">
            <a:spLocks/>
          </p:cNvSpPr>
          <p:nvPr/>
        </p:nvSpPr>
        <p:spPr>
          <a:xfrm>
            <a:off x="10924248" y="6388602"/>
            <a:ext cx="114226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a:t>
            </a:r>
          </a:p>
        </p:txBody>
      </p:sp>
      <p:sp>
        <p:nvSpPr>
          <p:cNvPr id="2" name="TextBox 1">
            <a:extLst>
              <a:ext uri="{FF2B5EF4-FFF2-40B4-BE49-F238E27FC236}">
                <a16:creationId xmlns:a16="http://schemas.microsoft.com/office/drawing/2014/main" id="{FBE17777-0A2B-F30C-DD0D-BF1820C52F7C}"/>
              </a:ext>
            </a:extLst>
          </p:cNvPr>
          <p:cNvSpPr txBox="1"/>
          <p:nvPr/>
        </p:nvSpPr>
        <p:spPr>
          <a:xfrm>
            <a:off x="512273" y="1228397"/>
            <a:ext cx="11465670" cy="494879"/>
          </a:xfrm>
          <a:prstGeom prst="rect">
            <a:avLst/>
          </a:prstGeom>
          <a:noFill/>
        </p:spPr>
        <p:txBody>
          <a:bodyPr wrap="square" rtlCol="0">
            <a:spAutoFit/>
          </a:bodyPr>
          <a:lstStyle/>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x</a:t>
            </a:r>
          </a:p>
        </p:txBody>
      </p:sp>
      <p:sp>
        <p:nvSpPr>
          <p:cNvPr id="8" name="TextBox 7">
            <a:extLst>
              <a:ext uri="{FF2B5EF4-FFF2-40B4-BE49-F238E27FC236}">
                <a16:creationId xmlns:a16="http://schemas.microsoft.com/office/drawing/2014/main" id="{AB6E0C0A-10A7-21A6-4D2C-6E707FB1D55D}"/>
              </a:ext>
            </a:extLst>
          </p:cNvPr>
          <p:cNvSpPr txBox="1"/>
          <p:nvPr/>
        </p:nvSpPr>
        <p:spPr>
          <a:xfrm>
            <a:off x="512272" y="321582"/>
            <a:ext cx="11580073"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Template </a:t>
            </a:r>
          </a:p>
        </p:txBody>
      </p:sp>
    </p:spTree>
    <p:extLst>
      <p:ext uri="{BB962C8B-B14F-4D97-AF65-F5344CB8AC3E}">
        <p14:creationId xmlns:p14="http://schemas.microsoft.com/office/powerpoint/2010/main" val="24456805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wrap="none">
        <a:spAutoFit/>
      </a:bodyPr>
      <a:lstStyle>
        <a:defPPr algn="l">
          <a:defRPr sz="2400" dirty="0" smtClean="0">
            <a:latin typeface="Helvetica Neue" panose="02000503000000020004" pitchFamily="2" charset="0"/>
            <a:ea typeface="Helvetica Neue" panose="02000503000000020004" pitchFamily="2" charset="0"/>
            <a:cs typeface="Helvetica Neue" panose="02000503000000020004" pitchFamily="2" charset="0"/>
          </a:defRPr>
        </a:defPPr>
      </a:lstStyle>
    </a:spDef>
    <a:txDef>
      <a:spPr>
        <a:noFill/>
      </a:spPr>
      <a:bodyPr wrap="none" rtlCol="0">
        <a:spAutoFit/>
      </a:bodyPr>
      <a:lstStyle>
        <a:defPPr algn="l">
          <a:defRPr dirty="0" smtClean="0">
            <a:latin typeface="Helvetica Neue" panose="02000503000000020004" pitchFamily="2" charset="0"/>
            <a:ea typeface="Helvetica Neue" panose="02000503000000020004" pitchFamily="2" charset="0"/>
            <a:cs typeface="Helvetica Neue" panose="02000503000000020004" pitchFamily="2"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8091</TotalTime>
  <Words>1416</Words>
  <Application>Microsoft Macintosh PowerPoint</Application>
  <PresentationFormat>Widescreen</PresentationFormat>
  <Paragraphs>248</Paragraphs>
  <Slides>16</Slides>
  <Notes>15</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16</vt:i4>
      </vt:variant>
    </vt:vector>
  </HeadingPairs>
  <TitlesOfParts>
    <vt:vector size="25" baseType="lpstr">
      <vt:lpstr>Arial</vt:lpstr>
      <vt:lpstr>Calibri</vt:lpstr>
      <vt:lpstr>Calibri Light</vt:lpstr>
      <vt:lpstr>Helvetica Neue</vt:lpstr>
      <vt:lpstr>Helvetica Neue Condensed Black</vt:lpstr>
      <vt:lpstr>Helvetica Neue UltraLight</vt:lpstr>
      <vt:lpstr>HelveticaNeue-UltraLightItalic</vt:lpstr>
      <vt:lpstr>Office Theme</vt:lpstr>
      <vt:lpstr>2_Office Theme</vt:lpstr>
      <vt:lpstr>PowerPoint Presentation</vt:lpstr>
      <vt:lpstr>The Fundamental Entities of Nature</vt:lpstr>
      <vt:lpstr>Point Potential Magnitude</vt:lpstr>
      <vt:lpstr>Point Potentials are Immutable</vt:lpstr>
      <vt:lpstr>Point Potential Energy</vt:lpstr>
      <vt:lpstr>Large Scale Point Potential Observables</vt:lpstr>
      <vt:lpstr>Constant Rate Point Potential Emitters</vt:lpstr>
      <vt:lpstr>Point Potential Have No Speed Limit</vt:lpstr>
      <vt:lpstr>PowerPoint Presentation</vt:lpstr>
      <vt:lpstr>PowerPoint Presentation</vt:lpstr>
      <vt:lpstr>Thank You</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Mark Morris</dc:creator>
  <cp:lastModifiedBy>Mark Morris</cp:lastModifiedBy>
  <cp:revision>381</cp:revision>
  <cp:lastPrinted>2022-09-07T12:10:19Z</cp:lastPrinted>
  <dcterms:created xsi:type="dcterms:W3CDTF">2022-02-05T18:41:13Z</dcterms:created>
  <dcterms:modified xsi:type="dcterms:W3CDTF">2026-01-08T22:24:09Z</dcterms:modified>
</cp:coreProperties>
</file>