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notesMasterIdLst>
    <p:notesMasterId r:id="rId41"/>
  </p:notesMasterIdLst>
  <p:sldIdLst>
    <p:sldId id="807" r:id="rId4"/>
    <p:sldId id="809" r:id="rId5"/>
    <p:sldId id="273" r:id="rId6"/>
    <p:sldId id="274" r:id="rId7"/>
    <p:sldId id="258" r:id="rId8"/>
    <p:sldId id="259" r:id="rId9"/>
    <p:sldId id="256" r:id="rId10"/>
    <p:sldId id="257" r:id="rId11"/>
    <p:sldId id="265" r:id="rId12"/>
    <p:sldId id="260" r:id="rId13"/>
    <p:sldId id="261" r:id="rId14"/>
    <p:sldId id="263" r:id="rId15"/>
    <p:sldId id="266" r:id="rId16"/>
    <p:sldId id="267" r:id="rId17"/>
    <p:sldId id="268" r:id="rId18"/>
    <p:sldId id="269" r:id="rId19"/>
    <p:sldId id="270" r:id="rId20"/>
    <p:sldId id="271" r:id="rId21"/>
    <p:sldId id="272" r:id="rId22"/>
    <p:sldId id="275" r:id="rId23"/>
    <p:sldId id="276" r:id="rId24"/>
    <p:sldId id="277" r:id="rId25"/>
    <p:sldId id="278" r:id="rId26"/>
    <p:sldId id="279" r:id="rId27"/>
    <p:sldId id="280" r:id="rId28"/>
    <p:sldId id="281" r:id="rId29"/>
    <p:sldId id="282" r:id="rId30"/>
    <p:sldId id="283" r:id="rId31"/>
    <p:sldId id="284" r:id="rId32"/>
    <p:sldId id="808" r:id="rId33"/>
    <p:sldId id="285" r:id="rId34"/>
    <p:sldId id="286" r:id="rId35"/>
    <p:sldId id="287" r:id="rId36"/>
    <p:sldId id="291" r:id="rId37"/>
    <p:sldId id="292" r:id="rId38"/>
    <p:sldId id="264" r:id="rId39"/>
    <p:sldId id="38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266"/>
    <p:restoredTop sz="78493"/>
  </p:normalViewPr>
  <p:slideViewPr>
    <p:cSldViewPr snapToGrid="0">
      <p:cViewPr varScale="1">
        <p:scale>
          <a:sx n="98" d="100"/>
          <a:sy n="98" d="100"/>
        </p:scale>
        <p:origin x="2312"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4901E-6232-0241-B6AA-FE2CE7FAB201}" type="datetimeFigureOut">
              <a:rPr lang="en-US" smtClean="0"/>
              <a:t>7/23/24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E13F9-3F98-D444-973B-C818DAE4830D}" type="slidenum">
              <a:rPr lang="en-US" smtClean="0"/>
              <a:t>‹#›</a:t>
            </a:fld>
            <a:endParaRPr lang="en-US"/>
          </a:p>
        </p:txBody>
      </p:sp>
    </p:spTree>
    <p:extLst>
      <p:ext uri="{BB962C8B-B14F-4D97-AF65-F5344CB8AC3E}">
        <p14:creationId xmlns:p14="http://schemas.microsoft.com/office/powerpoint/2010/main" val="405841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92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Mark</a:t>
            </a:r>
          </a:p>
        </p:txBody>
      </p:sp>
      <p:sp>
        <p:nvSpPr>
          <p:cNvPr id="4" name="Slide Number Placeholder 3"/>
          <p:cNvSpPr>
            <a:spLocks noGrp="1"/>
          </p:cNvSpPr>
          <p:nvPr>
            <p:ph type="sldNum" sz="quarter" idx="5"/>
          </p:nvPr>
        </p:nvSpPr>
        <p:spPr/>
        <p:txBody>
          <a:bodyPr/>
          <a:lstStyle/>
          <a:p>
            <a:fld id="{787E13F9-3F98-D444-973B-C818DAE4830D}" type="slidenum">
              <a:rPr lang="en-US" smtClean="0"/>
              <a:t>3</a:t>
            </a:fld>
            <a:endParaRPr lang="en-US"/>
          </a:p>
        </p:txBody>
      </p:sp>
    </p:spTree>
    <p:extLst>
      <p:ext uri="{BB962C8B-B14F-4D97-AF65-F5344CB8AC3E}">
        <p14:creationId xmlns:p14="http://schemas.microsoft.com/office/powerpoint/2010/main" val="721888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I have many issues with this report and the recommendations. and I see it as a tragic effort at the end of the GR/QM era.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Pollyanna theme throughout doesn't recognize the poor return on investment for their funding. It is also evident that the "leadership" in the field squeezes the pay of the people in academia while trying to maximize "progress". Whatever "progress" is optimized for at the moment.</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report is oblivious to this well-known dissatisfactory issue for many people in various stages of advancement in physics related fields. This should be a central issue in the report. The field should rise above predatory compensation. Why is this not discussed?</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bottom line is that no one is being honest about the ROI. It sucks. This has resulted in adaptive </a:t>
            </a:r>
            <a:r>
              <a:rPr lang="en-US" sz="3200" b="0" i="0" u="none" strike="noStrike" dirty="0" err="1">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behaviour</a:t>
            </a: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 which disadvantages the people in the field. The field needs to take the L and figure out what happened.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scientific method does not offer anything but laissez-faire platitudes about self-correction. The scientific method does not have any proactive detection for a crisis in the ontology that may have occurred long ago.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Was there a missed opportunity during the classical to quantum transition? How many geometric point charge systems can you imagine? How many were falsified? Model #00000000001 where -q = electron, +q = proton was falsified. Ok, so what? That is your clue.</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p:cNvSpPr>
            <a:spLocks noGrp="1"/>
          </p:cNvSpPr>
          <p:nvPr>
            <p:ph type="sldNum" sz="quarter" idx="5"/>
          </p:nvPr>
        </p:nvSpPr>
        <p:spPr/>
        <p:txBody>
          <a:bodyPr/>
          <a:lstStyle/>
          <a:p>
            <a:fld id="{787E13F9-3F98-D444-973B-C818DAE4830D}" type="slidenum">
              <a:rPr lang="en-US" smtClean="0"/>
              <a:t>4</a:t>
            </a:fld>
            <a:endParaRPr lang="en-US"/>
          </a:p>
        </p:txBody>
      </p:sp>
    </p:spTree>
    <p:extLst>
      <p:ext uri="{BB962C8B-B14F-4D97-AF65-F5344CB8AC3E}">
        <p14:creationId xmlns:p14="http://schemas.microsoft.com/office/powerpoint/2010/main" val="3834930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7</a:t>
            </a:fld>
            <a:endParaRPr lang="en-US"/>
          </a:p>
        </p:txBody>
      </p:sp>
    </p:spTree>
    <p:extLst>
      <p:ext uri="{BB962C8B-B14F-4D97-AF65-F5344CB8AC3E}">
        <p14:creationId xmlns:p14="http://schemas.microsoft.com/office/powerpoint/2010/main" val="2093685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13</a:t>
            </a:fld>
            <a:endParaRPr lang="en-US"/>
          </a:p>
        </p:txBody>
      </p:sp>
    </p:spTree>
    <p:extLst>
      <p:ext uri="{BB962C8B-B14F-4D97-AF65-F5344CB8AC3E}">
        <p14:creationId xmlns:p14="http://schemas.microsoft.com/office/powerpoint/2010/main" val="400008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gluon</a:t>
            </a:r>
          </a:p>
          <a:p>
            <a:r>
              <a:rPr lang="en-US" dirty="0"/>
              <a:t>show proton components with animations</a:t>
            </a:r>
          </a:p>
        </p:txBody>
      </p:sp>
      <p:sp>
        <p:nvSpPr>
          <p:cNvPr id="4" name="Slide Number Placeholder 3"/>
          <p:cNvSpPr>
            <a:spLocks noGrp="1"/>
          </p:cNvSpPr>
          <p:nvPr>
            <p:ph type="sldNum" sz="quarter" idx="5"/>
          </p:nvPr>
        </p:nvSpPr>
        <p:spPr/>
        <p:txBody>
          <a:bodyPr/>
          <a:lstStyle/>
          <a:p>
            <a:fld id="{787E13F9-3F98-D444-973B-C818DAE4830D}" type="slidenum">
              <a:rPr lang="en-US" smtClean="0"/>
              <a:t>22</a:t>
            </a:fld>
            <a:endParaRPr lang="en-US"/>
          </a:p>
        </p:txBody>
      </p:sp>
    </p:spTree>
    <p:extLst>
      <p:ext uri="{BB962C8B-B14F-4D97-AF65-F5344CB8AC3E}">
        <p14:creationId xmlns:p14="http://schemas.microsoft.com/office/powerpoint/2010/main" val="981595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place to discuss the photon and it’s lifecycle</a:t>
            </a:r>
          </a:p>
        </p:txBody>
      </p:sp>
      <p:sp>
        <p:nvSpPr>
          <p:cNvPr id="4" name="Slide Number Placeholder 3"/>
          <p:cNvSpPr>
            <a:spLocks noGrp="1"/>
          </p:cNvSpPr>
          <p:nvPr>
            <p:ph type="sldNum" sz="quarter" idx="5"/>
          </p:nvPr>
        </p:nvSpPr>
        <p:spPr/>
        <p:txBody>
          <a:bodyPr/>
          <a:lstStyle/>
          <a:p>
            <a:fld id="{787E13F9-3F98-D444-973B-C818DAE4830D}" type="slidenum">
              <a:rPr lang="en-US" smtClean="0"/>
              <a:t>25</a:t>
            </a:fld>
            <a:endParaRPr lang="en-US"/>
          </a:p>
        </p:txBody>
      </p:sp>
    </p:spTree>
    <p:extLst>
      <p:ext uri="{BB962C8B-B14F-4D97-AF65-F5344CB8AC3E}">
        <p14:creationId xmlns:p14="http://schemas.microsoft.com/office/powerpoint/2010/main" val="3633553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29</a:t>
            </a:fld>
            <a:endParaRPr lang="en-US"/>
          </a:p>
        </p:txBody>
      </p:sp>
    </p:spTree>
    <p:extLst>
      <p:ext uri="{BB962C8B-B14F-4D97-AF65-F5344CB8AC3E}">
        <p14:creationId xmlns:p14="http://schemas.microsoft.com/office/powerpoint/2010/main" val="416449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30</a:t>
            </a:fld>
            <a:endParaRPr lang="en-US"/>
          </a:p>
        </p:txBody>
      </p:sp>
    </p:spTree>
    <p:extLst>
      <p:ext uri="{BB962C8B-B14F-4D97-AF65-F5344CB8AC3E}">
        <p14:creationId xmlns:p14="http://schemas.microsoft.com/office/powerpoint/2010/main" val="3740793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takes advantage of low cost labor from people with a passion for science</a:t>
            </a:r>
          </a:p>
        </p:txBody>
      </p:sp>
      <p:sp>
        <p:nvSpPr>
          <p:cNvPr id="4" name="Slide Number Placeholder 3"/>
          <p:cNvSpPr>
            <a:spLocks noGrp="1"/>
          </p:cNvSpPr>
          <p:nvPr>
            <p:ph type="sldNum" sz="quarter" idx="5"/>
          </p:nvPr>
        </p:nvSpPr>
        <p:spPr/>
        <p:txBody>
          <a:bodyPr/>
          <a:lstStyle/>
          <a:p>
            <a:fld id="{787E13F9-3F98-D444-973B-C818DAE4830D}" type="slidenum">
              <a:rPr lang="en-US" smtClean="0"/>
              <a:t>33</a:t>
            </a:fld>
            <a:endParaRPr lang="en-US"/>
          </a:p>
        </p:txBody>
      </p:sp>
    </p:spTree>
    <p:extLst>
      <p:ext uri="{BB962C8B-B14F-4D97-AF65-F5344CB8AC3E}">
        <p14:creationId xmlns:p14="http://schemas.microsoft.com/office/powerpoint/2010/main" val="3843080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36</a:t>
            </a:fld>
            <a:endParaRPr lang="en-US"/>
          </a:p>
        </p:txBody>
      </p:sp>
    </p:spTree>
    <p:extLst>
      <p:ext uri="{BB962C8B-B14F-4D97-AF65-F5344CB8AC3E}">
        <p14:creationId xmlns:p14="http://schemas.microsoft.com/office/powerpoint/2010/main" val="319877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1A72-76F9-E3D8-6DFA-6D705C4229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8CDD6E-63D5-DB8A-919B-1C19D3727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47EA6D-CD8C-E490-1AB5-175260B62557}"/>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B9D835B9-8AA0-A51F-9A44-A8EA9FABB7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AE5EC-0FC1-7D7F-0E0E-41564FA7182B}"/>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790384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AABD-1C65-5D30-EB11-54305D6F3D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246D2-3569-CC01-2955-3DCC63D75C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D69D-C9A4-0608-9BAA-B5B36ECE2E6E}"/>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30277EA9-A5AB-C49D-7927-D011EBC36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1C1EB-22BE-4AC7-AD89-9483EB1840C6}"/>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3235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F77EA-CD78-A790-2980-9623826264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900D6C-1CB4-9B8C-B7F9-6D3BBC3EA7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663ECC-F676-4344-305F-CE3F9D5BFC36}"/>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8B652609-8D16-31E9-99A4-BC1318F6F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81694-4636-BD64-7199-47ADDFD302C8}"/>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260475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BD61-0950-C1B9-054C-7788E7BB5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30B6A4-0197-85C9-3D8A-191B97C47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36DAE2-DE78-3B75-7FBA-A1F4A78F92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E83798-0AB5-7108-5795-245EB2D6C930}"/>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6" name="Footer Placeholder 5">
            <a:extLst>
              <a:ext uri="{FF2B5EF4-FFF2-40B4-BE49-F238E27FC236}">
                <a16:creationId xmlns:a16="http://schemas.microsoft.com/office/drawing/2014/main" id="{168B50AC-31AD-604A-00C5-4B7557DFA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DA505-955E-EEDD-8468-186801AD1E0A}"/>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800302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7228-1F57-6C37-971F-DBF7059056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916B1F-BCE4-5DC9-A351-A28C27AFF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9D729-8C03-C8DB-4467-8D62C82C30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3AEA30-FC8D-E3B4-7BEA-CE96D2F791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C700A4-68CB-B912-F048-E4925C0D41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B496D2-9AC7-79E2-1AF2-83A74F7235E3}"/>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8" name="Footer Placeholder 7">
            <a:extLst>
              <a:ext uri="{FF2B5EF4-FFF2-40B4-BE49-F238E27FC236}">
                <a16:creationId xmlns:a16="http://schemas.microsoft.com/office/drawing/2014/main" id="{D7E32F3E-AF14-7F2E-3099-58646629AC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58C2E8-9076-EF23-308A-4030E641AA03}"/>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947403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720EF-8ED8-E593-05EB-41098EB86A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005737-1B5D-C5EB-5F12-9D9F98F70E0B}"/>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4" name="Footer Placeholder 3">
            <a:extLst>
              <a:ext uri="{FF2B5EF4-FFF2-40B4-BE49-F238E27FC236}">
                <a16:creationId xmlns:a16="http://schemas.microsoft.com/office/drawing/2014/main" id="{A472D352-69EE-9FDF-C319-60148AFB2C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35852F-AA9A-F529-D12D-A416F8FEB96C}"/>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001776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1C529D-0CB8-C161-6B99-D8EA988EB30F}"/>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3" name="Footer Placeholder 2">
            <a:extLst>
              <a:ext uri="{FF2B5EF4-FFF2-40B4-BE49-F238E27FC236}">
                <a16:creationId xmlns:a16="http://schemas.microsoft.com/office/drawing/2014/main" id="{DA66404A-9585-D65C-66F4-FF860CAEAE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DB132-504D-EDD9-6B12-5D5AF79B937A}"/>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432503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1688-0385-0F29-643C-4C8A17BF4E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41DEC0-76C2-8DA2-D226-918CC7AFE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2D6B4A-48A6-CAD8-251C-C326D967E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44AF0A-ACEC-3415-83AF-37F9001C53A4}"/>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6" name="Footer Placeholder 5">
            <a:extLst>
              <a:ext uri="{FF2B5EF4-FFF2-40B4-BE49-F238E27FC236}">
                <a16:creationId xmlns:a16="http://schemas.microsoft.com/office/drawing/2014/main" id="{6EA8A5CC-A6C7-9DE8-ACFA-7C864D3F9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70BD69-D8C2-C621-5A38-116F4282AB8C}"/>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423278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A8B1-0FCF-D396-46E4-685D091459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BCA09-2341-5700-9EFC-C57D0DD93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25B022-506C-3BEC-BA71-D37F235C2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B1C81-E553-ADDE-AA66-B10D0EE89CA8}"/>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6" name="Footer Placeholder 5">
            <a:extLst>
              <a:ext uri="{FF2B5EF4-FFF2-40B4-BE49-F238E27FC236}">
                <a16:creationId xmlns:a16="http://schemas.microsoft.com/office/drawing/2014/main" id="{1632EE26-12B9-BB46-248F-945F96895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44AC99-3EF4-E30A-F688-F56CA092D48F}"/>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501956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F9344-4A5B-33F8-C866-A07A56B6FF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803CD-F5DA-86F5-80D0-C90276525B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BD09F-B9B0-E81A-1B64-DEB24D96F8E9}"/>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503A89E1-6A93-44E5-71CA-7288ADD56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2BD3D-B897-D0DE-D6FC-C6724DFF4A96}"/>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255387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58626E-24BE-B013-CF39-A8E575F989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5F0436-0FB0-C33D-4EB1-51B9F95925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AF6B3-FCA4-6C7B-9BB9-DFF58BF29551}"/>
              </a:ext>
            </a:extLst>
          </p:cNvPr>
          <p:cNvSpPr>
            <a:spLocks noGrp="1"/>
          </p:cNvSpPr>
          <p:nvPr>
            <p:ph type="dt" sz="half" idx="10"/>
          </p:nvPr>
        </p:nvSpPr>
        <p:spPr/>
        <p:txBody>
          <a:body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E2EF3407-2DFD-A6AE-90F9-227BB8DFF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FE792-EC5D-332F-2D3B-9F0009363FB5}"/>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903217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1194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576961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100421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0449045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632984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426376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278349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0469333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42911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76830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266109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7/23/24</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415895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7/23/24</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7294416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7/23/24</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304603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FD791-1688-C7C5-AF19-4D69F906A0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A18983-5A4C-7B90-D1F5-8F7B14AC92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1F3E96-3C27-E39E-BEC9-2B4F67E853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0A814-29DE-BF46-B7CC-A4F0B3D337BD}" type="datetimeFigureOut">
              <a:rPr lang="en-US" smtClean="0"/>
              <a:t>7/23/24</a:t>
            </a:fld>
            <a:endParaRPr lang="en-US"/>
          </a:p>
        </p:txBody>
      </p:sp>
      <p:sp>
        <p:nvSpPr>
          <p:cNvPr id="5" name="Footer Placeholder 4">
            <a:extLst>
              <a:ext uri="{FF2B5EF4-FFF2-40B4-BE49-F238E27FC236}">
                <a16:creationId xmlns:a16="http://schemas.microsoft.com/office/drawing/2014/main" id="{88EB39FD-49DF-0F89-7A90-AE22AFF13F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186721-EBE5-4C9A-D00F-23FD6F8FE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2B209F-027A-9345-9E10-1531C0FD4DE3}" type="slidenum">
              <a:rPr lang="en-US" smtClean="0"/>
              <a:t>‹#›</a:t>
            </a:fld>
            <a:endParaRPr lang="en-US"/>
          </a:p>
        </p:txBody>
      </p:sp>
    </p:spTree>
    <p:extLst>
      <p:ext uri="{BB962C8B-B14F-4D97-AF65-F5344CB8AC3E}">
        <p14:creationId xmlns:p14="http://schemas.microsoft.com/office/powerpoint/2010/main" val="138609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7/23/24</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3382448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7/23/24</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11610604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358254"/>
            <a:ext cx="12191999" cy="4067780"/>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Physics Critique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Particle Physics </a:t>
            </a: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Funding Prioritization</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pic>
        <p:nvPicPr>
          <p:cNvPr id="1028" name="Picture 4" descr="Image">
            <a:extLst>
              <a:ext uri="{FF2B5EF4-FFF2-40B4-BE49-F238E27FC236}">
                <a16:creationId xmlns:a16="http://schemas.microsoft.com/office/drawing/2014/main" id="{DCFB067B-9E71-CA41-0109-1B5CDA9152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2992" y="4351985"/>
            <a:ext cx="2506015" cy="2506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93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358254"/>
            <a:ext cx="12191999" cy="5350183"/>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Physics Critique 1</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P5</a:t>
            </a: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Report of the 2023 Particle Physics Project Prioritization Panel</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103950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5112AB-30BA-ED0D-D786-02F4CBFBB0C9}"/>
              </a:ext>
            </a:extLst>
          </p:cNvPr>
          <p:cNvSpPr>
            <a:spLocks noGrp="1"/>
          </p:cNvSpPr>
          <p:nvPr>
            <p:ph idx="1"/>
          </p:nvPr>
        </p:nvSpPr>
        <p:spPr>
          <a:xfrm>
            <a:off x="1647614" y="284832"/>
            <a:ext cx="9101666" cy="4351338"/>
          </a:xfrm>
        </p:spPr>
        <p:txBody>
          <a:bodyPr>
            <a:normAutofit fontScale="92500"/>
          </a:bodyPr>
          <a:lstStyle/>
          <a:p>
            <a:r>
              <a:rPr lang="en-US" dirty="0"/>
              <a:t>Welcome to the Emergent Nature channel.</a:t>
            </a:r>
          </a:p>
          <a:p>
            <a:r>
              <a:rPr lang="en-US" dirty="0"/>
              <a:t>Here we discover and learn how nature and the universe emerge from minimal ingredients.</a:t>
            </a:r>
          </a:p>
          <a:p>
            <a:pPr lvl="1"/>
            <a:r>
              <a:rPr lang="en-US" dirty="0"/>
              <a:t>The missed opportunity 125 years ago circa 1900</a:t>
            </a:r>
          </a:p>
          <a:p>
            <a:pPr lvl="1"/>
            <a:r>
              <a:rPr lang="en-US" dirty="0"/>
              <a:t>The new architectural hypothesis and mapping to the current GR/QM/LCDM era.</a:t>
            </a:r>
          </a:p>
          <a:p>
            <a:pPr lvl="1"/>
            <a:r>
              <a:rPr lang="en-US" dirty="0"/>
              <a:t>A new sensible narrative</a:t>
            </a:r>
          </a:p>
          <a:p>
            <a:r>
              <a:rPr lang="en-US" dirty="0"/>
              <a:t>For those of you who are participating in the “You Can Solve Nature and the Universe” series, this video will contain spoilers that reveal portions of the architecture that you could very well discover yourself with a few clues.</a:t>
            </a:r>
          </a:p>
        </p:txBody>
      </p:sp>
      <p:pic>
        <p:nvPicPr>
          <p:cNvPr id="4" name="Picture 3">
            <a:extLst>
              <a:ext uri="{FF2B5EF4-FFF2-40B4-BE49-F238E27FC236}">
                <a16:creationId xmlns:a16="http://schemas.microsoft.com/office/drawing/2014/main" id="{1E96DD63-DC32-DE09-B19F-0C34DCDA031E}"/>
              </a:ext>
            </a:extLst>
          </p:cNvPr>
          <p:cNvPicPr>
            <a:picLocks noChangeAspect="1"/>
          </p:cNvPicPr>
          <p:nvPr/>
        </p:nvPicPr>
        <p:blipFill>
          <a:blip r:embed="rId3"/>
          <a:stretch>
            <a:fillRect/>
          </a:stretch>
        </p:blipFill>
        <p:spPr>
          <a:xfrm>
            <a:off x="7541337" y="4636170"/>
            <a:ext cx="4476043" cy="2120231"/>
          </a:xfrm>
          <a:prstGeom prst="rect">
            <a:avLst/>
          </a:prstGeom>
        </p:spPr>
      </p:pic>
    </p:spTree>
    <p:extLst>
      <p:ext uri="{BB962C8B-B14F-4D97-AF65-F5344CB8AC3E}">
        <p14:creationId xmlns:p14="http://schemas.microsoft.com/office/powerpoint/2010/main" val="1743592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5D26B-0742-B351-4B77-2BEEEA59733A}"/>
              </a:ext>
            </a:extLst>
          </p:cNvPr>
          <p:cNvSpPr>
            <a:spLocks noGrp="1"/>
          </p:cNvSpPr>
          <p:nvPr>
            <p:ph type="title"/>
          </p:nvPr>
        </p:nvSpPr>
        <p:spPr/>
        <p:txBody>
          <a:bodyPr/>
          <a:lstStyle/>
          <a:p>
            <a:r>
              <a:rPr lang="en-US" dirty="0"/>
              <a:t>This video</a:t>
            </a:r>
          </a:p>
        </p:txBody>
      </p:sp>
      <p:sp>
        <p:nvSpPr>
          <p:cNvPr id="3" name="Content Placeholder 2">
            <a:extLst>
              <a:ext uri="{FF2B5EF4-FFF2-40B4-BE49-F238E27FC236}">
                <a16:creationId xmlns:a16="http://schemas.microsoft.com/office/drawing/2014/main" id="{70C0CB43-D04E-B256-E65C-5CCE9F4FC8BC}"/>
              </a:ext>
            </a:extLst>
          </p:cNvPr>
          <p:cNvSpPr>
            <a:spLocks noGrp="1"/>
          </p:cNvSpPr>
          <p:nvPr>
            <p:ph idx="1"/>
          </p:nvPr>
        </p:nvSpPr>
        <p:spPr/>
        <p:txBody>
          <a:bodyPr/>
          <a:lstStyle/>
          <a:p>
            <a:r>
              <a:rPr lang="en-US" dirty="0"/>
              <a:t>In this video I’ll discuss and review a recent report from the physics and cosmology communities that aims to align and justify their strategic vision with their future U.S. Budget </a:t>
            </a:r>
            <a:r>
              <a:rPr lang="en-US"/>
              <a:t>funding levels.</a:t>
            </a:r>
            <a:endParaRPr lang="en-US" dirty="0"/>
          </a:p>
          <a:p>
            <a:r>
              <a:rPr lang="en-US" dirty="0"/>
              <a:t>I’ll do my best to explain three perspectives.</a:t>
            </a:r>
          </a:p>
          <a:p>
            <a:pPr marL="914400" lvl="1" indent="-457200">
              <a:buFont typeface="+mj-lt"/>
              <a:buAutoNum type="arabicPeriod"/>
            </a:pPr>
            <a:r>
              <a:rPr lang="en-US" dirty="0"/>
              <a:t>my understanding of the consensus community view</a:t>
            </a:r>
          </a:p>
          <a:p>
            <a:pPr marL="914400" lvl="1" indent="-457200">
              <a:buFont typeface="+mj-lt"/>
              <a:buAutoNum type="arabicPeriod"/>
            </a:pPr>
            <a:r>
              <a:rPr lang="en-US" dirty="0"/>
              <a:t>the view from concerned professionals in the field and critics of the field</a:t>
            </a:r>
          </a:p>
          <a:p>
            <a:pPr marL="914400" lvl="1" indent="-457200">
              <a:buFont typeface="+mj-lt"/>
              <a:buAutoNum type="arabicPeriod"/>
            </a:pPr>
            <a:r>
              <a:rPr lang="en-US" dirty="0"/>
              <a:t>the view from the next era in physics and cosmology, looking backward</a:t>
            </a:r>
          </a:p>
          <a:p>
            <a:endParaRPr lang="en-US" dirty="0"/>
          </a:p>
          <a:p>
            <a:endParaRPr lang="en-US" dirty="0"/>
          </a:p>
        </p:txBody>
      </p:sp>
    </p:spTree>
    <p:extLst>
      <p:ext uri="{BB962C8B-B14F-4D97-AF65-F5344CB8AC3E}">
        <p14:creationId xmlns:p14="http://schemas.microsoft.com/office/powerpoint/2010/main" val="283091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DBBFBB-5C08-4564-3ED7-821DCDE9AF07}"/>
              </a:ext>
            </a:extLst>
          </p:cNvPr>
          <p:cNvPicPr>
            <a:picLocks noChangeAspect="1"/>
          </p:cNvPicPr>
          <p:nvPr/>
        </p:nvPicPr>
        <p:blipFill>
          <a:blip r:embed="rId2"/>
          <a:stretch>
            <a:fillRect/>
          </a:stretch>
        </p:blipFill>
        <p:spPr>
          <a:xfrm>
            <a:off x="265091" y="970641"/>
            <a:ext cx="7772400" cy="5148538"/>
          </a:xfrm>
          <a:prstGeom prst="rect">
            <a:avLst/>
          </a:prstGeom>
        </p:spPr>
      </p:pic>
    </p:spTree>
    <p:extLst>
      <p:ext uri="{BB962C8B-B14F-4D97-AF65-F5344CB8AC3E}">
        <p14:creationId xmlns:p14="http://schemas.microsoft.com/office/powerpoint/2010/main" val="3497859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DD6855-A6D3-9BE4-39F6-D52BFC1E892E}"/>
              </a:ext>
            </a:extLst>
          </p:cNvPr>
          <p:cNvPicPr>
            <a:picLocks noChangeAspect="1"/>
          </p:cNvPicPr>
          <p:nvPr/>
        </p:nvPicPr>
        <p:blipFill>
          <a:blip r:embed="rId2"/>
          <a:stretch>
            <a:fillRect/>
          </a:stretch>
        </p:blipFill>
        <p:spPr>
          <a:xfrm>
            <a:off x="329485" y="365450"/>
            <a:ext cx="7772400" cy="6127099"/>
          </a:xfrm>
          <a:prstGeom prst="rect">
            <a:avLst/>
          </a:prstGeom>
        </p:spPr>
      </p:pic>
    </p:spTree>
    <p:extLst>
      <p:ext uri="{BB962C8B-B14F-4D97-AF65-F5344CB8AC3E}">
        <p14:creationId xmlns:p14="http://schemas.microsoft.com/office/powerpoint/2010/main" val="30825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7A017B-98BB-5C03-DEC6-C3734B399656}"/>
              </a:ext>
            </a:extLst>
          </p:cNvPr>
          <p:cNvPicPr>
            <a:picLocks noChangeAspect="1"/>
          </p:cNvPicPr>
          <p:nvPr/>
        </p:nvPicPr>
        <p:blipFill>
          <a:blip r:embed="rId3"/>
          <a:stretch>
            <a:fillRect/>
          </a:stretch>
        </p:blipFill>
        <p:spPr>
          <a:xfrm>
            <a:off x="417937" y="1120166"/>
            <a:ext cx="8306381" cy="4669140"/>
          </a:xfrm>
          <a:prstGeom prst="rect">
            <a:avLst/>
          </a:prstGeom>
          <a:ln>
            <a:solidFill>
              <a:schemeClr val="bg1">
                <a:lumMod val="50000"/>
              </a:schemeClr>
            </a:solidFill>
          </a:ln>
        </p:spPr>
      </p:pic>
      <p:sp>
        <p:nvSpPr>
          <p:cNvPr id="6" name="TextBox 5">
            <a:extLst>
              <a:ext uri="{FF2B5EF4-FFF2-40B4-BE49-F238E27FC236}">
                <a16:creationId xmlns:a16="http://schemas.microsoft.com/office/drawing/2014/main" id="{4CB11C42-B132-1729-986B-DBCC2845FC5B}"/>
              </a:ext>
            </a:extLst>
          </p:cNvPr>
          <p:cNvSpPr txBox="1"/>
          <p:nvPr/>
        </p:nvSpPr>
        <p:spPr>
          <a:xfrm>
            <a:off x="417937" y="411604"/>
            <a:ext cx="10164847" cy="5847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budget for the Department of Energy’s Office of Science, which includes funding for high energy physics, rose by 8% to $8.10 billion for fiscal year 2023.” (AIP via Bai). See chart below for HEP portion.</a:t>
            </a:r>
          </a:p>
        </p:txBody>
      </p:sp>
      <p:sp>
        <p:nvSpPr>
          <p:cNvPr id="7" name="TextBox 6">
            <a:extLst>
              <a:ext uri="{FF2B5EF4-FFF2-40B4-BE49-F238E27FC236}">
                <a16:creationId xmlns:a16="http://schemas.microsoft.com/office/drawing/2014/main" id="{A14786CC-7BAB-A965-848E-E454B01C03A1}"/>
              </a:ext>
            </a:extLst>
          </p:cNvPr>
          <p:cNvSpPr txBox="1"/>
          <p:nvPr/>
        </p:nvSpPr>
        <p:spPr>
          <a:xfrm>
            <a:off x="417937" y="5983399"/>
            <a:ext cx="10498149" cy="58477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Prediction: The high technology industry will be a major source of funding for research and development that leverages point charge theory. The ROI will be large and the timelines shorter and more predictable.</a:t>
            </a:r>
          </a:p>
        </p:txBody>
      </p:sp>
      <p:sp>
        <p:nvSpPr>
          <p:cNvPr id="11" name="TextBox 10">
            <a:extLst>
              <a:ext uri="{FF2B5EF4-FFF2-40B4-BE49-F238E27FC236}">
                <a16:creationId xmlns:a16="http://schemas.microsoft.com/office/drawing/2014/main" id="{8368AA80-7E10-384E-A6F8-24316CE0B771}"/>
              </a:ext>
            </a:extLst>
          </p:cNvPr>
          <p:cNvSpPr txBox="1"/>
          <p:nvPr/>
        </p:nvSpPr>
        <p:spPr>
          <a:xfrm>
            <a:off x="1675237" y="5568297"/>
            <a:ext cx="9144000" cy="276999"/>
          </a:xfrm>
          <a:prstGeom prst="rect">
            <a:avLst/>
          </a:prstGeom>
          <a:noFill/>
        </p:spPr>
        <p:txBody>
          <a:bodyPr wrap="square">
            <a:spAutoFit/>
          </a:bodyPr>
          <a:lstStyle/>
          <a:p>
            <a:r>
              <a:rPr lang="en-US" sz="1200" dirty="0">
                <a:solidFill>
                  <a:schemeClr val="bg1">
                    <a:lumMod val="50000"/>
                  </a:schemeClr>
                </a:solidFill>
              </a:rPr>
              <a:t>https://</a:t>
            </a:r>
            <a:r>
              <a:rPr lang="en-US" sz="1200" dirty="0" err="1">
                <a:solidFill>
                  <a:schemeClr val="bg1">
                    <a:lumMod val="50000"/>
                  </a:schemeClr>
                </a:solidFill>
              </a:rPr>
              <a:t>science.osti.gov</a:t>
            </a:r>
            <a:r>
              <a:rPr lang="en-US" sz="1200" dirty="0">
                <a:solidFill>
                  <a:schemeClr val="bg1">
                    <a:lumMod val="50000"/>
                  </a:schemeClr>
                </a:solidFill>
              </a:rPr>
              <a:t>/-/media/hep/</a:t>
            </a:r>
            <a:r>
              <a:rPr lang="en-US" sz="1200" dirty="0" err="1">
                <a:solidFill>
                  <a:schemeClr val="bg1">
                    <a:lumMod val="50000"/>
                  </a:schemeClr>
                </a:solidFill>
              </a:rPr>
              <a:t>hepap</a:t>
            </a:r>
            <a:r>
              <a:rPr lang="en-US" sz="1200" dirty="0">
                <a:solidFill>
                  <a:schemeClr val="bg1">
                    <a:lumMod val="50000"/>
                  </a:schemeClr>
                </a:solidFill>
              </a:rPr>
              <a:t>/pdf/Meetings/2023/P5-HEPAPv2.pdf</a:t>
            </a:r>
          </a:p>
        </p:txBody>
      </p:sp>
    </p:spTree>
    <p:extLst>
      <p:ext uri="{BB962C8B-B14F-4D97-AF65-F5344CB8AC3E}">
        <p14:creationId xmlns:p14="http://schemas.microsoft.com/office/powerpoint/2010/main" val="357575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E800851-658C-E559-6877-C278A8662148}"/>
              </a:ext>
            </a:extLst>
          </p:cNvPr>
          <p:cNvGrpSpPr/>
          <p:nvPr/>
        </p:nvGrpSpPr>
        <p:grpSpPr>
          <a:xfrm>
            <a:off x="484633" y="866088"/>
            <a:ext cx="7772400" cy="4961306"/>
            <a:chOff x="367039" y="832221"/>
            <a:chExt cx="7772400" cy="4961306"/>
          </a:xfrm>
        </p:grpSpPr>
        <p:grpSp>
          <p:nvGrpSpPr>
            <p:cNvPr id="5" name="Group 4">
              <a:extLst>
                <a:ext uri="{FF2B5EF4-FFF2-40B4-BE49-F238E27FC236}">
                  <a16:creationId xmlns:a16="http://schemas.microsoft.com/office/drawing/2014/main" id="{2386F958-0F3F-40FB-D48E-67A5DAC2CF12}"/>
                </a:ext>
              </a:extLst>
            </p:cNvPr>
            <p:cNvGrpSpPr/>
            <p:nvPr/>
          </p:nvGrpSpPr>
          <p:grpSpPr>
            <a:xfrm>
              <a:off x="367039" y="832221"/>
              <a:ext cx="7772400" cy="4872470"/>
              <a:chOff x="2049256" y="992765"/>
              <a:chExt cx="7772400" cy="4872470"/>
            </a:xfrm>
          </p:grpSpPr>
          <p:pic>
            <p:nvPicPr>
              <p:cNvPr id="2" name="Picture 1">
                <a:extLst>
                  <a:ext uri="{FF2B5EF4-FFF2-40B4-BE49-F238E27FC236}">
                    <a16:creationId xmlns:a16="http://schemas.microsoft.com/office/drawing/2014/main" id="{1EB2D272-D779-3A47-DB4F-CC99DEB30B45}"/>
                  </a:ext>
                </a:extLst>
              </p:cNvPr>
              <p:cNvPicPr>
                <a:picLocks noChangeAspect="1"/>
              </p:cNvPicPr>
              <p:nvPr/>
            </p:nvPicPr>
            <p:blipFill>
              <a:blip r:embed="rId2"/>
              <a:stretch>
                <a:fillRect/>
              </a:stretch>
            </p:blipFill>
            <p:spPr>
              <a:xfrm>
                <a:off x="2049256" y="1996804"/>
                <a:ext cx="7772400" cy="3729932"/>
              </a:xfrm>
              <a:prstGeom prst="rect">
                <a:avLst/>
              </a:prstGeom>
            </p:spPr>
          </p:pic>
          <p:pic>
            <p:nvPicPr>
              <p:cNvPr id="3" name="Picture 2">
                <a:extLst>
                  <a:ext uri="{FF2B5EF4-FFF2-40B4-BE49-F238E27FC236}">
                    <a16:creationId xmlns:a16="http://schemas.microsoft.com/office/drawing/2014/main" id="{85C69476-5CEB-CE97-19CB-DD39D6ED68F0}"/>
                  </a:ext>
                </a:extLst>
              </p:cNvPr>
              <p:cNvPicPr>
                <a:picLocks noChangeAspect="1"/>
              </p:cNvPicPr>
              <p:nvPr/>
            </p:nvPicPr>
            <p:blipFill>
              <a:blip r:embed="rId3"/>
              <a:stretch>
                <a:fillRect/>
              </a:stretch>
            </p:blipFill>
            <p:spPr>
              <a:xfrm>
                <a:off x="2049256" y="992765"/>
                <a:ext cx="7772400" cy="1083456"/>
              </a:xfrm>
              <a:prstGeom prst="rect">
                <a:avLst/>
              </a:prstGeom>
            </p:spPr>
          </p:pic>
          <p:sp>
            <p:nvSpPr>
              <p:cNvPr id="4" name="TextBox 3">
                <a:extLst>
                  <a:ext uri="{FF2B5EF4-FFF2-40B4-BE49-F238E27FC236}">
                    <a16:creationId xmlns:a16="http://schemas.microsoft.com/office/drawing/2014/main" id="{BB17BB9E-59ED-7547-DA8A-B6A1847DE8DD}"/>
                  </a:ext>
                </a:extLst>
              </p:cNvPr>
              <p:cNvSpPr txBox="1"/>
              <p:nvPr/>
            </p:nvSpPr>
            <p:spPr>
              <a:xfrm>
                <a:off x="2049256" y="5588236"/>
                <a:ext cx="7415831" cy="276999"/>
              </a:xfrm>
              <a:prstGeom prst="rect">
                <a:avLst/>
              </a:prstGeom>
              <a:noFill/>
            </p:spPr>
            <p:txBody>
              <a:bodyPr wrap="square">
                <a:spAutoFit/>
              </a:bodyPr>
              <a:lstStyle/>
              <a:p>
                <a:r>
                  <a:rPr lang="en-US" sz="1200" dirty="0">
                    <a:solidFill>
                      <a:schemeClr val="bg1">
                        <a:lumMod val="50000"/>
                      </a:schemeClr>
                    </a:solidFill>
                  </a:rPr>
                  <a:t>https://</a:t>
                </a:r>
                <a:r>
                  <a:rPr lang="en-US" sz="1200" dirty="0" err="1">
                    <a:solidFill>
                      <a:schemeClr val="bg1">
                        <a:lumMod val="50000"/>
                      </a:schemeClr>
                    </a:solidFill>
                  </a:rPr>
                  <a:t>science.osti.gov</a:t>
                </a:r>
                <a:r>
                  <a:rPr lang="en-US" sz="1200" dirty="0">
                    <a:solidFill>
                      <a:schemeClr val="bg1">
                        <a:lumMod val="50000"/>
                      </a:schemeClr>
                    </a:solidFill>
                  </a:rPr>
                  <a:t>/-/media/hep/</a:t>
                </a:r>
                <a:r>
                  <a:rPr lang="en-US" sz="1200" dirty="0" err="1">
                    <a:solidFill>
                      <a:schemeClr val="bg1">
                        <a:lumMod val="50000"/>
                      </a:schemeClr>
                    </a:solidFill>
                  </a:rPr>
                  <a:t>hepap</a:t>
                </a:r>
                <a:r>
                  <a:rPr lang="en-US" sz="1200" dirty="0">
                    <a:solidFill>
                      <a:schemeClr val="bg1">
                        <a:lumMod val="50000"/>
                      </a:schemeClr>
                    </a:solidFill>
                  </a:rPr>
                  <a:t>/pdf/Meetings/2023/P5-HEPAPv2.pdf</a:t>
                </a:r>
              </a:p>
            </p:txBody>
          </p:sp>
        </p:grpSp>
        <p:sp>
          <p:nvSpPr>
            <p:cNvPr id="6" name="Rectangle 5">
              <a:extLst>
                <a:ext uri="{FF2B5EF4-FFF2-40B4-BE49-F238E27FC236}">
                  <a16:creationId xmlns:a16="http://schemas.microsoft.com/office/drawing/2014/main" id="{22E19AC3-3D8A-0C27-B30C-81CE3C6649FC}"/>
                </a:ext>
              </a:extLst>
            </p:cNvPr>
            <p:cNvSpPr/>
            <p:nvPr/>
          </p:nvSpPr>
          <p:spPr>
            <a:xfrm>
              <a:off x="367039" y="832221"/>
              <a:ext cx="7772400" cy="496130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hevron 6">
            <a:extLst>
              <a:ext uri="{FF2B5EF4-FFF2-40B4-BE49-F238E27FC236}">
                <a16:creationId xmlns:a16="http://schemas.microsoft.com/office/drawing/2014/main" id="{9A219DB9-9DD4-5C18-2B3C-F8DE74FF9F9E}"/>
              </a:ext>
            </a:extLst>
          </p:cNvPr>
          <p:cNvSpPr/>
          <p:nvPr/>
        </p:nvSpPr>
        <p:spPr>
          <a:xfrm rot="10800000" flipH="1">
            <a:off x="0" y="4406893"/>
            <a:ext cx="484632" cy="484632"/>
          </a:xfrm>
          <a:prstGeom prst="chevron">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76000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0EEC45-44A1-2458-D00A-D67C6A1EB3B8}"/>
              </a:ext>
            </a:extLst>
          </p:cNvPr>
          <p:cNvPicPr>
            <a:picLocks noChangeAspect="1"/>
          </p:cNvPicPr>
          <p:nvPr/>
        </p:nvPicPr>
        <p:blipFill>
          <a:blip r:embed="rId2"/>
          <a:stretch>
            <a:fillRect/>
          </a:stretch>
        </p:blipFill>
        <p:spPr>
          <a:xfrm>
            <a:off x="252211" y="3034356"/>
            <a:ext cx="8530122" cy="3495233"/>
          </a:xfrm>
          <a:prstGeom prst="rect">
            <a:avLst/>
          </a:prstGeom>
        </p:spPr>
      </p:pic>
    </p:spTree>
    <p:extLst>
      <p:ext uri="{BB962C8B-B14F-4D97-AF65-F5344CB8AC3E}">
        <p14:creationId xmlns:p14="http://schemas.microsoft.com/office/powerpoint/2010/main" val="3425357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2BC6D2-590D-7F38-9632-C303141B0C73}"/>
              </a:ext>
            </a:extLst>
          </p:cNvPr>
          <p:cNvPicPr>
            <a:picLocks noChangeAspect="1"/>
          </p:cNvPicPr>
          <p:nvPr/>
        </p:nvPicPr>
        <p:blipFill>
          <a:blip r:embed="rId2"/>
          <a:stretch>
            <a:fillRect/>
          </a:stretch>
        </p:blipFill>
        <p:spPr>
          <a:xfrm>
            <a:off x="187817" y="894492"/>
            <a:ext cx="7772400" cy="5764474"/>
          </a:xfrm>
          <a:prstGeom prst="rect">
            <a:avLst/>
          </a:prstGeom>
        </p:spPr>
      </p:pic>
    </p:spTree>
    <p:extLst>
      <p:ext uri="{BB962C8B-B14F-4D97-AF65-F5344CB8AC3E}">
        <p14:creationId xmlns:p14="http://schemas.microsoft.com/office/powerpoint/2010/main" val="387412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A5D6BF-2A2B-10FB-A49B-108A0F4E055A}"/>
              </a:ext>
            </a:extLst>
          </p:cNvPr>
          <p:cNvPicPr>
            <a:picLocks noChangeAspect="1"/>
          </p:cNvPicPr>
          <p:nvPr/>
        </p:nvPicPr>
        <p:blipFill>
          <a:blip r:embed="rId2"/>
          <a:stretch>
            <a:fillRect/>
          </a:stretch>
        </p:blipFill>
        <p:spPr>
          <a:xfrm>
            <a:off x="213575" y="947696"/>
            <a:ext cx="7772400" cy="4756546"/>
          </a:xfrm>
          <a:prstGeom prst="rect">
            <a:avLst/>
          </a:prstGeom>
        </p:spPr>
      </p:pic>
    </p:spTree>
    <p:extLst>
      <p:ext uri="{BB962C8B-B14F-4D97-AF65-F5344CB8AC3E}">
        <p14:creationId xmlns:p14="http://schemas.microsoft.com/office/powerpoint/2010/main" val="1015915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43B256-7EBD-1527-5516-121EB71E0EA0}"/>
              </a:ext>
            </a:extLst>
          </p:cNvPr>
          <p:cNvPicPr>
            <a:picLocks noChangeAspect="1"/>
          </p:cNvPicPr>
          <p:nvPr/>
        </p:nvPicPr>
        <p:blipFill rotWithShape="1">
          <a:blip r:embed="rId2"/>
          <a:srcRect b="24216"/>
          <a:stretch/>
        </p:blipFill>
        <p:spPr>
          <a:xfrm>
            <a:off x="226453" y="1127108"/>
            <a:ext cx="7772400" cy="4603784"/>
          </a:xfrm>
          <a:prstGeom prst="rect">
            <a:avLst/>
          </a:prstGeom>
        </p:spPr>
      </p:pic>
    </p:spTree>
    <p:extLst>
      <p:ext uri="{BB962C8B-B14F-4D97-AF65-F5344CB8AC3E}">
        <p14:creationId xmlns:p14="http://schemas.microsoft.com/office/powerpoint/2010/main" val="1517250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42C642-CEA3-83F9-696E-A304F60DF88B}"/>
              </a:ext>
            </a:extLst>
          </p:cNvPr>
          <p:cNvPicPr>
            <a:picLocks noChangeAspect="1"/>
          </p:cNvPicPr>
          <p:nvPr/>
        </p:nvPicPr>
        <p:blipFill>
          <a:blip r:embed="rId3"/>
          <a:stretch>
            <a:fillRect/>
          </a:stretch>
        </p:blipFill>
        <p:spPr>
          <a:xfrm>
            <a:off x="213575" y="1533774"/>
            <a:ext cx="7772400" cy="3970756"/>
          </a:xfrm>
          <a:prstGeom prst="rect">
            <a:avLst/>
          </a:prstGeom>
        </p:spPr>
      </p:pic>
    </p:spTree>
    <p:extLst>
      <p:ext uri="{BB962C8B-B14F-4D97-AF65-F5344CB8AC3E}">
        <p14:creationId xmlns:p14="http://schemas.microsoft.com/office/powerpoint/2010/main" val="354460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366A62-D462-74C9-E97C-1C7B7649406F}"/>
              </a:ext>
            </a:extLst>
          </p:cNvPr>
          <p:cNvPicPr>
            <a:picLocks noChangeAspect="1"/>
          </p:cNvPicPr>
          <p:nvPr/>
        </p:nvPicPr>
        <p:blipFill>
          <a:blip r:embed="rId2"/>
          <a:stretch>
            <a:fillRect/>
          </a:stretch>
        </p:blipFill>
        <p:spPr>
          <a:xfrm>
            <a:off x="252210" y="3888190"/>
            <a:ext cx="11583475" cy="2585238"/>
          </a:xfrm>
          <a:prstGeom prst="rect">
            <a:avLst/>
          </a:prstGeom>
        </p:spPr>
      </p:pic>
    </p:spTree>
    <p:extLst>
      <p:ext uri="{BB962C8B-B14F-4D97-AF65-F5344CB8AC3E}">
        <p14:creationId xmlns:p14="http://schemas.microsoft.com/office/powerpoint/2010/main" val="1448565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25076-C9E2-DA01-D96E-3DD974A2B6C8}"/>
              </a:ext>
            </a:extLst>
          </p:cNvPr>
          <p:cNvPicPr>
            <a:picLocks noChangeAspect="1"/>
          </p:cNvPicPr>
          <p:nvPr/>
        </p:nvPicPr>
        <p:blipFill rotWithShape="1">
          <a:blip r:embed="rId2"/>
          <a:srcRect t="4205" b="2810"/>
          <a:stretch/>
        </p:blipFill>
        <p:spPr>
          <a:xfrm>
            <a:off x="186650" y="3795461"/>
            <a:ext cx="11818700" cy="2528065"/>
          </a:xfrm>
          <a:prstGeom prst="rect">
            <a:avLst/>
          </a:prstGeom>
        </p:spPr>
      </p:pic>
      <p:sp>
        <p:nvSpPr>
          <p:cNvPr id="3" name="Rectangle 2">
            <a:extLst>
              <a:ext uri="{FF2B5EF4-FFF2-40B4-BE49-F238E27FC236}">
                <a16:creationId xmlns:a16="http://schemas.microsoft.com/office/drawing/2014/main" id="{EBEEF8A6-341B-F7B1-33E1-12A7280EB0C5}"/>
              </a:ext>
            </a:extLst>
          </p:cNvPr>
          <p:cNvSpPr/>
          <p:nvPr/>
        </p:nvSpPr>
        <p:spPr>
          <a:xfrm>
            <a:off x="8937938" y="5988676"/>
            <a:ext cx="2884868" cy="6825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687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B06199-2295-E75C-0D7D-5491D1A7E0BC}"/>
              </a:ext>
            </a:extLst>
          </p:cNvPr>
          <p:cNvPicPr>
            <a:picLocks noChangeAspect="1"/>
          </p:cNvPicPr>
          <p:nvPr/>
        </p:nvPicPr>
        <p:blipFill>
          <a:blip r:embed="rId2"/>
          <a:stretch>
            <a:fillRect/>
          </a:stretch>
        </p:blipFill>
        <p:spPr>
          <a:xfrm>
            <a:off x="239869" y="2855787"/>
            <a:ext cx="11712262" cy="3745903"/>
          </a:xfrm>
          <a:prstGeom prst="rect">
            <a:avLst/>
          </a:prstGeom>
        </p:spPr>
      </p:pic>
    </p:spTree>
    <p:extLst>
      <p:ext uri="{BB962C8B-B14F-4D97-AF65-F5344CB8AC3E}">
        <p14:creationId xmlns:p14="http://schemas.microsoft.com/office/powerpoint/2010/main" val="423359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04882-8FEB-5F45-4E77-50AC4E193043}"/>
              </a:ext>
            </a:extLst>
          </p:cNvPr>
          <p:cNvPicPr>
            <a:picLocks noChangeAspect="1"/>
          </p:cNvPicPr>
          <p:nvPr/>
        </p:nvPicPr>
        <p:blipFill>
          <a:blip r:embed="rId2"/>
          <a:stretch>
            <a:fillRect/>
          </a:stretch>
        </p:blipFill>
        <p:spPr>
          <a:xfrm>
            <a:off x="255068" y="3429000"/>
            <a:ext cx="11681864" cy="3052292"/>
          </a:xfrm>
          <a:prstGeom prst="rect">
            <a:avLst/>
          </a:prstGeom>
        </p:spPr>
      </p:pic>
    </p:spTree>
    <p:extLst>
      <p:ext uri="{BB962C8B-B14F-4D97-AF65-F5344CB8AC3E}">
        <p14:creationId xmlns:p14="http://schemas.microsoft.com/office/powerpoint/2010/main" val="2019152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9E51F3-2E7A-E52E-0AFC-DED93AA60E7B}"/>
              </a:ext>
            </a:extLst>
          </p:cNvPr>
          <p:cNvPicPr>
            <a:picLocks noChangeAspect="1"/>
          </p:cNvPicPr>
          <p:nvPr/>
        </p:nvPicPr>
        <p:blipFill>
          <a:blip r:embed="rId2"/>
          <a:stretch>
            <a:fillRect/>
          </a:stretch>
        </p:blipFill>
        <p:spPr>
          <a:xfrm>
            <a:off x="213574" y="866484"/>
            <a:ext cx="7772400" cy="5125032"/>
          </a:xfrm>
          <a:prstGeom prst="rect">
            <a:avLst/>
          </a:prstGeom>
        </p:spPr>
      </p:pic>
    </p:spTree>
    <p:extLst>
      <p:ext uri="{BB962C8B-B14F-4D97-AF65-F5344CB8AC3E}">
        <p14:creationId xmlns:p14="http://schemas.microsoft.com/office/powerpoint/2010/main" val="644879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47175D-AE7A-A958-9951-34B61E60372C}"/>
              </a:ext>
            </a:extLst>
          </p:cNvPr>
          <p:cNvPicPr>
            <a:picLocks noChangeAspect="1"/>
          </p:cNvPicPr>
          <p:nvPr/>
        </p:nvPicPr>
        <p:blipFill>
          <a:blip r:embed="rId2"/>
          <a:stretch>
            <a:fillRect/>
          </a:stretch>
        </p:blipFill>
        <p:spPr>
          <a:xfrm>
            <a:off x="316823" y="3509493"/>
            <a:ext cx="11558353" cy="2983127"/>
          </a:xfrm>
          <a:prstGeom prst="rect">
            <a:avLst/>
          </a:prstGeom>
        </p:spPr>
      </p:pic>
    </p:spTree>
    <p:extLst>
      <p:ext uri="{BB962C8B-B14F-4D97-AF65-F5344CB8AC3E}">
        <p14:creationId xmlns:p14="http://schemas.microsoft.com/office/powerpoint/2010/main" val="495637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C3B5413-E502-AB47-7176-23C1FFF4D925}"/>
              </a:ext>
            </a:extLst>
          </p:cNvPr>
          <p:cNvPicPr>
            <a:picLocks noChangeAspect="1"/>
          </p:cNvPicPr>
          <p:nvPr/>
        </p:nvPicPr>
        <p:blipFill>
          <a:blip r:embed="rId2"/>
          <a:stretch>
            <a:fillRect/>
          </a:stretch>
        </p:blipFill>
        <p:spPr>
          <a:xfrm>
            <a:off x="316606" y="3429000"/>
            <a:ext cx="11570594" cy="2947794"/>
          </a:xfrm>
          <a:prstGeom prst="rect">
            <a:avLst/>
          </a:prstGeom>
        </p:spPr>
      </p:pic>
    </p:spTree>
    <p:extLst>
      <p:ext uri="{BB962C8B-B14F-4D97-AF65-F5344CB8AC3E}">
        <p14:creationId xmlns:p14="http://schemas.microsoft.com/office/powerpoint/2010/main" val="1335271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5E1DF9-ED1D-6FF0-ECFE-F8567BD8FD04}"/>
              </a:ext>
            </a:extLst>
          </p:cNvPr>
          <p:cNvPicPr>
            <a:picLocks noChangeAspect="1"/>
          </p:cNvPicPr>
          <p:nvPr/>
        </p:nvPicPr>
        <p:blipFill>
          <a:blip r:embed="rId2"/>
          <a:stretch>
            <a:fillRect/>
          </a:stretch>
        </p:blipFill>
        <p:spPr>
          <a:xfrm>
            <a:off x="252210" y="2421528"/>
            <a:ext cx="9206225" cy="4095182"/>
          </a:xfrm>
          <a:prstGeom prst="rect">
            <a:avLst/>
          </a:prstGeom>
        </p:spPr>
      </p:pic>
    </p:spTree>
    <p:extLst>
      <p:ext uri="{BB962C8B-B14F-4D97-AF65-F5344CB8AC3E}">
        <p14:creationId xmlns:p14="http://schemas.microsoft.com/office/powerpoint/2010/main" val="2237116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F7E0B1-8D96-BEED-50FE-67EA9DD914E2}"/>
              </a:ext>
            </a:extLst>
          </p:cNvPr>
          <p:cNvPicPr>
            <a:picLocks noChangeAspect="1"/>
          </p:cNvPicPr>
          <p:nvPr/>
        </p:nvPicPr>
        <p:blipFill>
          <a:blip r:embed="rId3"/>
          <a:stretch>
            <a:fillRect/>
          </a:stretch>
        </p:blipFill>
        <p:spPr>
          <a:xfrm>
            <a:off x="127000" y="326018"/>
            <a:ext cx="7772400" cy="2893474"/>
          </a:xfrm>
          <a:prstGeom prst="rect">
            <a:avLst/>
          </a:prstGeom>
        </p:spPr>
      </p:pic>
      <p:pic>
        <p:nvPicPr>
          <p:cNvPr id="3" name="Picture 2">
            <a:extLst>
              <a:ext uri="{FF2B5EF4-FFF2-40B4-BE49-F238E27FC236}">
                <a16:creationId xmlns:a16="http://schemas.microsoft.com/office/drawing/2014/main" id="{6264BC8C-0DA2-0EA9-503E-60341B8F24B8}"/>
              </a:ext>
            </a:extLst>
          </p:cNvPr>
          <p:cNvPicPr>
            <a:picLocks noChangeAspect="1"/>
          </p:cNvPicPr>
          <p:nvPr/>
        </p:nvPicPr>
        <p:blipFill>
          <a:blip r:embed="rId4"/>
          <a:stretch>
            <a:fillRect/>
          </a:stretch>
        </p:blipFill>
        <p:spPr>
          <a:xfrm>
            <a:off x="127000" y="3076244"/>
            <a:ext cx="7772400" cy="3455154"/>
          </a:xfrm>
          <a:prstGeom prst="rect">
            <a:avLst/>
          </a:prstGeom>
        </p:spPr>
      </p:pic>
    </p:spTree>
    <p:extLst>
      <p:ext uri="{BB962C8B-B14F-4D97-AF65-F5344CB8AC3E}">
        <p14:creationId xmlns:p14="http://schemas.microsoft.com/office/powerpoint/2010/main" val="2549850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4679E0-4A4B-69D9-BC1F-5398170D1CF7}"/>
              </a:ext>
            </a:extLst>
          </p:cNvPr>
          <p:cNvPicPr>
            <a:picLocks noChangeAspect="1"/>
          </p:cNvPicPr>
          <p:nvPr/>
        </p:nvPicPr>
        <p:blipFill>
          <a:blip r:embed="rId2"/>
          <a:stretch>
            <a:fillRect/>
          </a:stretch>
        </p:blipFill>
        <p:spPr>
          <a:xfrm>
            <a:off x="136301" y="1187104"/>
            <a:ext cx="7772400" cy="4715612"/>
          </a:xfrm>
          <a:prstGeom prst="rect">
            <a:avLst/>
          </a:prstGeom>
        </p:spPr>
      </p:pic>
    </p:spTree>
    <p:extLst>
      <p:ext uri="{BB962C8B-B14F-4D97-AF65-F5344CB8AC3E}">
        <p14:creationId xmlns:p14="http://schemas.microsoft.com/office/powerpoint/2010/main" val="2886458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379BDC-FE03-3CB8-26A8-AD458ED3818F}"/>
              </a:ext>
            </a:extLst>
          </p:cNvPr>
          <p:cNvPicPr>
            <a:picLocks noChangeAspect="1"/>
          </p:cNvPicPr>
          <p:nvPr/>
        </p:nvPicPr>
        <p:blipFill>
          <a:blip r:embed="rId2"/>
          <a:stretch>
            <a:fillRect/>
          </a:stretch>
        </p:blipFill>
        <p:spPr>
          <a:xfrm>
            <a:off x="303725" y="3323790"/>
            <a:ext cx="11416049" cy="3222192"/>
          </a:xfrm>
          <a:prstGeom prst="rect">
            <a:avLst/>
          </a:prstGeom>
        </p:spPr>
      </p:pic>
    </p:spTree>
    <p:extLst>
      <p:ext uri="{BB962C8B-B14F-4D97-AF65-F5344CB8AC3E}">
        <p14:creationId xmlns:p14="http://schemas.microsoft.com/office/powerpoint/2010/main" val="3257021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0FB836-7413-E6FC-B351-75D5876CD94B}"/>
              </a:ext>
            </a:extLst>
          </p:cNvPr>
          <p:cNvPicPr>
            <a:picLocks noChangeAspect="1"/>
          </p:cNvPicPr>
          <p:nvPr/>
        </p:nvPicPr>
        <p:blipFill>
          <a:blip r:embed="rId3"/>
          <a:stretch>
            <a:fillRect/>
          </a:stretch>
        </p:blipFill>
        <p:spPr>
          <a:xfrm>
            <a:off x="310702" y="3225777"/>
            <a:ext cx="11570595" cy="3327557"/>
          </a:xfrm>
          <a:prstGeom prst="rect">
            <a:avLst/>
          </a:prstGeom>
        </p:spPr>
      </p:pic>
    </p:spTree>
    <p:extLst>
      <p:ext uri="{BB962C8B-B14F-4D97-AF65-F5344CB8AC3E}">
        <p14:creationId xmlns:p14="http://schemas.microsoft.com/office/powerpoint/2010/main" val="1054849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9FFFB3-84A3-0067-E14C-51990CA2423F}"/>
              </a:ext>
            </a:extLst>
          </p:cNvPr>
          <p:cNvPicPr>
            <a:picLocks noChangeAspect="1"/>
          </p:cNvPicPr>
          <p:nvPr/>
        </p:nvPicPr>
        <p:blipFill>
          <a:blip r:embed="rId2"/>
          <a:stretch>
            <a:fillRect/>
          </a:stretch>
        </p:blipFill>
        <p:spPr>
          <a:xfrm>
            <a:off x="265090" y="3675532"/>
            <a:ext cx="11686503" cy="2782980"/>
          </a:xfrm>
          <a:prstGeom prst="rect">
            <a:avLst/>
          </a:prstGeom>
        </p:spPr>
      </p:pic>
    </p:spTree>
    <p:extLst>
      <p:ext uri="{BB962C8B-B14F-4D97-AF65-F5344CB8AC3E}">
        <p14:creationId xmlns:p14="http://schemas.microsoft.com/office/powerpoint/2010/main" val="994258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AF66B4-E72E-F9D1-5DDB-97526673E8F1}"/>
              </a:ext>
            </a:extLst>
          </p:cNvPr>
          <p:cNvPicPr>
            <a:picLocks noChangeAspect="1"/>
          </p:cNvPicPr>
          <p:nvPr/>
        </p:nvPicPr>
        <p:blipFill>
          <a:blip r:embed="rId2"/>
          <a:stretch>
            <a:fillRect/>
          </a:stretch>
        </p:blipFill>
        <p:spPr>
          <a:xfrm>
            <a:off x="162058" y="3222947"/>
            <a:ext cx="11673625" cy="3404378"/>
          </a:xfrm>
          <a:prstGeom prst="rect">
            <a:avLst/>
          </a:prstGeom>
        </p:spPr>
      </p:pic>
    </p:spTree>
    <p:extLst>
      <p:ext uri="{BB962C8B-B14F-4D97-AF65-F5344CB8AC3E}">
        <p14:creationId xmlns:p14="http://schemas.microsoft.com/office/powerpoint/2010/main" val="321261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FCC28D-4942-991B-AFE4-0CEB71D53648}"/>
              </a:ext>
            </a:extLst>
          </p:cNvPr>
          <p:cNvPicPr>
            <a:picLocks noChangeAspect="1"/>
          </p:cNvPicPr>
          <p:nvPr/>
        </p:nvPicPr>
        <p:blipFill>
          <a:blip r:embed="rId2"/>
          <a:stretch>
            <a:fillRect/>
          </a:stretch>
        </p:blipFill>
        <p:spPr>
          <a:xfrm>
            <a:off x="200696" y="215153"/>
            <a:ext cx="7772400" cy="6427694"/>
          </a:xfrm>
          <a:prstGeom prst="rect">
            <a:avLst/>
          </a:prstGeom>
        </p:spPr>
      </p:pic>
    </p:spTree>
    <p:extLst>
      <p:ext uri="{BB962C8B-B14F-4D97-AF65-F5344CB8AC3E}">
        <p14:creationId xmlns:p14="http://schemas.microsoft.com/office/powerpoint/2010/main" val="956127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FA1EB7-D4BA-B686-A0AC-1EFC08891CD0}"/>
              </a:ext>
            </a:extLst>
          </p:cNvPr>
          <p:cNvPicPr>
            <a:picLocks noChangeAspect="1"/>
          </p:cNvPicPr>
          <p:nvPr/>
        </p:nvPicPr>
        <p:blipFill rotWithShape="1">
          <a:blip r:embed="rId3"/>
          <a:srcRect t="2915"/>
          <a:stretch/>
        </p:blipFill>
        <p:spPr>
          <a:xfrm>
            <a:off x="187817" y="4241561"/>
            <a:ext cx="11596352" cy="2552540"/>
          </a:xfrm>
          <a:prstGeom prst="rect">
            <a:avLst/>
          </a:prstGeom>
        </p:spPr>
      </p:pic>
    </p:spTree>
    <p:extLst>
      <p:ext uri="{BB962C8B-B14F-4D97-AF65-F5344CB8AC3E}">
        <p14:creationId xmlns:p14="http://schemas.microsoft.com/office/powerpoint/2010/main" val="1295880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FA1EB7-D4BA-B686-A0AC-1EFC08891CD0}"/>
              </a:ext>
            </a:extLst>
          </p:cNvPr>
          <p:cNvPicPr>
            <a:picLocks noChangeAspect="1"/>
          </p:cNvPicPr>
          <p:nvPr/>
        </p:nvPicPr>
        <p:blipFill rotWithShape="1">
          <a:blip r:embed="rId3"/>
          <a:srcRect t="2915"/>
          <a:stretch/>
        </p:blipFill>
        <p:spPr>
          <a:xfrm>
            <a:off x="187817" y="4241561"/>
            <a:ext cx="11596352" cy="2552540"/>
          </a:xfrm>
          <a:prstGeom prst="rect">
            <a:avLst/>
          </a:prstGeom>
        </p:spPr>
      </p:pic>
      <p:sp>
        <p:nvSpPr>
          <p:cNvPr id="4" name="TextBox 3">
            <a:extLst>
              <a:ext uri="{FF2B5EF4-FFF2-40B4-BE49-F238E27FC236}">
                <a16:creationId xmlns:a16="http://schemas.microsoft.com/office/drawing/2014/main" id="{57FE1661-8A34-6970-E15E-6E496412782C}"/>
              </a:ext>
            </a:extLst>
          </p:cNvPr>
          <p:cNvSpPr txBox="1"/>
          <p:nvPr/>
        </p:nvSpPr>
        <p:spPr>
          <a:xfrm>
            <a:off x="305872" y="307796"/>
            <a:ext cx="6352506" cy="3354765"/>
          </a:xfrm>
          <a:prstGeom prst="rect">
            <a:avLst/>
          </a:prstGeom>
          <a:noFill/>
        </p:spPr>
        <p:txBody>
          <a:bodyPr wrap="square">
            <a:spAutoFit/>
          </a:bodyPr>
          <a:lstStyle/>
          <a:p>
            <a:pPr algn="r"/>
            <a: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“It’s great if a field throws off </a:t>
            </a:r>
            <a:b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a: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new tangential technologies.  However, if the field doesn’t make satisfactory progress on its main goals, offshoot technologies do not make the field successful.” </a:t>
            </a:r>
            <a:b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a:r>
              <a:rPr lang="en-US" sz="2000" dirty="0">
                <a:solidFill>
                  <a:schemeClr val="bg1">
                    <a:lumMod val="50000"/>
                  </a:schemeClr>
                </a:solidFill>
                <a:latin typeface="Helvetica Neue" panose="02000503000000020004" pitchFamily="2" charset="0"/>
                <a:ea typeface="Helvetica Neue" panose="02000503000000020004" pitchFamily="2" charset="0"/>
                <a:cs typeface="Helvetica Neue" panose="02000503000000020004" pitchFamily="2" charset="0"/>
              </a:rPr>
              <a:t>J Mark Morris</a:t>
            </a:r>
            <a:endParaRPr lang="en-US" sz="3200" dirty="0">
              <a:solidFill>
                <a:schemeClr val="bg1">
                  <a:lumMod val="50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409946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27A19C-1930-A4F6-2E2F-5A324925723E}"/>
              </a:ext>
            </a:extLst>
          </p:cNvPr>
          <p:cNvPicPr>
            <a:picLocks noChangeAspect="1"/>
          </p:cNvPicPr>
          <p:nvPr/>
        </p:nvPicPr>
        <p:blipFill>
          <a:blip r:embed="rId2"/>
          <a:stretch>
            <a:fillRect/>
          </a:stretch>
        </p:blipFill>
        <p:spPr>
          <a:xfrm>
            <a:off x="0" y="0"/>
            <a:ext cx="7531821" cy="6858000"/>
          </a:xfrm>
          <a:prstGeom prst="rect">
            <a:avLst/>
          </a:prstGeom>
        </p:spPr>
      </p:pic>
    </p:spTree>
    <p:extLst>
      <p:ext uri="{BB962C8B-B14F-4D97-AF65-F5344CB8AC3E}">
        <p14:creationId xmlns:p14="http://schemas.microsoft.com/office/powerpoint/2010/main" val="2932773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100B1E-39EC-19B1-AFDE-A528294FB698}"/>
              </a:ext>
            </a:extLst>
          </p:cNvPr>
          <p:cNvPicPr>
            <a:picLocks noChangeAspect="1"/>
          </p:cNvPicPr>
          <p:nvPr/>
        </p:nvPicPr>
        <p:blipFill>
          <a:blip r:embed="rId2"/>
          <a:stretch>
            <a:fillRect/>
          </a:stretch>
        </p:blipFill>
        <p:spPr>
          <a:xfrm>
            <a:off x="277967" y="3080011"/>
            <a:ext cx="11454685" cy="3685912"/>
          </a:xfrm>
          <a:prstGeom prst="rect">
            <a:avLst/>
          </a:prstGeom>
        </p:spPr>
      </p:pic>
    </p:spTree>
    <p:extLst>
      <p:ext uri="{BB962C8B-B14F-4D97-AF65-F5344CB8AC3E}">
        <p14:creationId xmlns:p14="http://schemas.microsoft.com/office/powerpoint/2010/main" val="1577537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CA153B-1B13-418C-F24A-20CBD7258A9E}"/>
              </a:ext>
            </a:extLst>
          </p:cNvPr>
          <p:cNvPicPr>
            <a:picLocks noChangeAspect="1"/>
          </p:cNvPicPr>
          <p:nvPr/>
        </p:nvPicPr>
        <p:blipFill>
          <a:blip r:embed="rId3"/>
          <a:stretch>
            <a:fillRect/>
          </a:stretch>
        </p:blipFill>
        <p:spPr>
          <a:xfrm>
            <a:off x="149180" y="705570"/>
            <a:ext cx="7772400" cy="5446860"/>
          </a:xfrm>
          <a:prstGeom prst="rect">
            <a:avLst/>
          </a:prstGeom>
        </p:spPr>
      </p:pic>
    </p:spTree>
    <p:extLst>
      <p:ext uri="{BB962C8B-B14F-4D97-AF65-F5344CB8AC3E}">
        <p14:creationId xmlns:p14="http://schemas.microsoft.com/office/powerpoint/2010/main" val="3365143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D4ABB4-5A32-BA17-1493-866F897CEB37}"/>
              </a:ext>
            </a:extLst>
          </p:cNvPr>
          <p:cNvPicPr>
            <a:picLocks noChangeAspect="1"/>
          </p:cNvPicPr>
          <p:nvPr/>
        </p:nvPicPr>
        <p:blipFill>
          <a:blip r:embed="rId2"/>
          <a:stretch>
            <a:fillRect/>
          </a:stretch>
        </p:blipFill>
        <p:spPr>
          <a:xfrm>
            <a:off x="187817" y="1325744"/>
            <a:ext cx="7772400" cy="4206512"/>
          </a:xfrm>
          <a:prstGeom prst="rect">
            <a:avLst/>
          </a:prstGeom>
        </p:spPr>
      </p:pic>
    </p:spTree>
    <p:extLst>
      <p:ext uri="{BB962C8B-B14F-4D97-AF65-F5344CB8AC3E}">
        <p14:creationId xmlns:p14="http://schemas.microsoft.com/office/powerpoint/2010/main" val="2048943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0ABC1C-E458-CF6F-50D6-34E7C9897925}"/>
              </a:ext>
            </a:extLst>
          </p:cNvPr>
          <p:cNvPicPr>
            <a:picLocks noChangeAspect="1"/>
          </p:cNvPicPr>
          <p:nvPr/>
        </p:nvPicPr>
        <p:blipFill>
          <a:blip r:embed="rId2"/>
          <a:stretch>
            <a:fillRect/>
          </a:stretch>
        </p:blipFill>
        <p:spPr>
          <a:xfrm>
            <a:off x="187815" y="2832080"/>
            <a:ext cx="9672608" cy="3697509"/>
          </a:xfrm>
          <a:prstGeom prst="rect">
            <a:avLst/>
          </a:prstGeom>
        </p:spPr>
      </p:pic>
    </p:spTree>
    <p:extLst>
      <p:ext uri="{BB962C8B-B14F-4D97-AF65-F5344CB8AC3E}">
        <p14:creationId xmlns:p14="http://schemas.microsoft.com/office/powerpoint/2010/main" val="2662269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BDDD8E-7AA9-8E08-0E04-D160FABB3A45}"/>
              </a:ext>
            </a:extLst>
          </p:cNvPr>
          <p:cNvSpPr>
            <a:spLocks noGrp="1"/>
          </p:cNvSpPr>
          <p:nvPr>
            <p:ph type="title"/>
          </p:nvPr>
        </p:nvSpPr>
        <p:spPr>
          <a:xfrm>
            <a:off x="181494" y="18255"/>
            <a:ext cx="10515600" cy="1325563"/>
          </a:xfrm>
        </p:spPr>
        <p:txBody>
          <a:bodyPr>
            <a:normAutofit/>
          </a:bodyPr>
          <a:lstStyle/>
          <a:p>
            <a:r>
              <a:rPr lang="en-US" sz="5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Recap and Recommendations</a:t>
            </a:r>
          </a:p>
        </p:txBody>
      </p:sp>
      <p:sp>
        <p:nvSpPr>
          <p:cNvPr id="5" name="Content Placeholder 4">
            <a:extLst>
              <a:ext uri="{FF2B5EF4-FFF2-40B4-BE49-F238E27FC236}">
                <a16:creationId xmlns:a16="http://schemas.microsoft.com/office/drawing/2014/main" id="{2B5558D5-3FCE-93AA-B339-4050C5A8CACE}"/>
              </a:ext>
            </a:extLst>
          </p:cNvPr>
          <p:cNvSpPr>
            <a:spLocks noGrp="1"/>
          </p:cNvSpPr>
          <p:nvPr>
            <p:ph idx="1"/>
          </p:nvPr>
        </p:nvSpPr>
        <p:spPr>
          <a:xfrm>
            <a:off x="181494" y="1205346"/>
            <a:ext cx="11737570" cy="5195454"/>
          </a:xfrm>
        </p:spPr>
        <p:txBody>
          <a:bodyPr>
            <a:normAutofit fontScale="92500"/>
          </a:bodyPr>
          <a:lstStyle/>
          <a:p>
            <a:r>
              <a:rPr lang="en-US" sz="3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fields of particle physics and cosmology require a tear down and a rebuild from the new foundation of the point charge era.</a:t>
            </a:r>
          </a:p>
          <a:p>
            <a:r>
              <a:rPr lang="en-US" sz="3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transitional period will be difficult for many people in the field. </a:t>
            </a:r>
          </a:p>
          <a:p>
            <a:r>
              <a:rPr lang="en-US" sz="3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good news:</a:t>
            </a:r>
          </a:p>
          <a:p>
            <a:pPr lvl="1"/>
            <a:r>
              <a:rPr lang="en-US" sz="2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fields will be a lot more productive going forward</a:t>
            </a:r>
          </a:p>
          <a:p>
            <a:pPr lvl="1"/>
            <a:r>
              <a:rPr lang="en-US" sz="2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future pathway for research and technology will be abundantly clear.</a:t>
            </a:r>
          </a:p>
          <a:p>
            <a:pPr lvl="1"/>
            <a:r>
              <a:rPr lang="en-US" sz="2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Fundamental research will require a shift of resources into simulation.</a:t>
            </a:r>
          </a:p>
          <a:p>
            <a:pPr lvl="1"/>
            <a:r>
              <a:rPr lang="en-US" sz="2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Existing physical facilities and experiments may have some use in test and verification. However, this will need to be assessed. There may be far less expensive paths forward.</a:t>
            </a:r>
          </a:p>
          <a:p>
            <a:pPr lvl="1"/>
            <a:r>
              <a:rPr lang="en-US" sz="2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Technology investors will offer lucrative R&amp;D positions to people who quickly become experts in the point charge model of nature.</a:t>
            </a:r>
          </a:p>
        </p:txBody>
      </p:sp>
    </p:spTree>
    <p:extLst>
      <p:ext uri="{BB962C8B-B14F-4D97-AF65-F5344CB8AC3E}">
        <p14:creationId xmlns:p14="http://schemas.microsoft.com/office/powerpoint/2010/main" val="3510031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73290</TotalTime>
  <Words>995</Words>
  <Application>Microsoft Macintosh PowerPoint</Application>
  <PresentationFormat>Widescreen</PresentationFormat>
  <Paragraphs>73</Paragraphs>
  <Slides>37</Slides>
  <Notes>12</Notes>
  <HiddenSlides>0</HiddenSlides>
  <MMClips>2</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37</vt:i4>
      </vt:variant>
    </vt:vector>
  </HeadingPairs>
  <TitlesOfParts>
    <vt:vector size="47" baseType="lpstr">
      <vt:lpstr>Aptos</vt:lpstr>
      <vt:lpstr>Aptos Display</vt:lpstr>
      <vt:lpstr>Arial</vt:lpstr>
      <vt:lpstr>Calibri</vt:lpstr>
      <vt:lpstr>Calibri Light</vt:lpstr>
      <vt:lpstr>Helvetica Neue</vt:lpstr>
      <vt:lpstr>Helvetica Neue Condensed Black</vt:lpstr>
      <vt:lpstr>Office Theme</vt:lpstr>
      <vt:lpstr>1_Office Theme</vt:lpstr>
      <vt:lpstr>2_Office Theme</vt:lpstr>
      <vt:lpstr>PowerPoint Presentation</vt:lpstr>
      <vt:lpstr>PowerPoint Presentation</vt:lpstr>
      <vt:lpstr>PowerPoint Presentation</vt:lpstr>
      <vt:lpstr>This video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and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31</cp:revision>
  <dcterms:created xsi:type="dcterms:W3CDTF">2023-12-14T21:22:27Z</dcterms:created>
  <dcterms:modified xsi:type="dcterms:W3CDTF">2024-07-23T16:14:25Z</dcterms:modified>
</cp:coreProperties>
</file>