
<file path=[Content_Types].xml><?xml version="1.0" encoding="utf-8"?>
<Types xmlns="http://schemas.openxmlformats.org/package/2006/content-types">
  <Default Extension="gif" ContentType="image/gif"/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15"/>
  </p:notesMasterIdLst>
  <p:sldIdLst>
    <p:sldId id="838" r:id="rId3"/>
    <p:sldId id="825" r:id="rId4"/>
    <p:sldId id="824" r:id="rId5"/>
    <p:sldId id="831" r:id="rId6"/>
    <p:sldId id="835" r:id="rId7"/>
    <p:sldId id="832" r:id="rId8"/>
    <p:sldId id="833" r:id="rId9"/>
    <p:sldId id="834" r:id="rId10"/>
    <p:sldId id="828" r:id="rId11"/>
    <p:sldId id="827" r:id="rId12"/>
    <p:sldId id="829" r:id="rId13"/>
    <p:sldId id="38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E79"/>
    <a:srgbClr val="FF85FF"/>
    <a:srgbClr val="FF8A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74"/>
    <p:restoredTop sz="84326"/>
  </p:normalViewPr>
  <p:slideViewPr>
    <p:cSldViewPr snapToGrid="0" snapToObjects="1">
      <p:cViewPr varScale="1">
        <p:scale>
          <a:sx n="152" d="100"/>
          <a:sy n="152" d="100"/>
        </p:scale>
        <p:origin x="1448" y="1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DA440-6FDE-5E41-BA40-A3C0E02BAB9F}" type="datetimeFigureOut">
              <a:rPr lang="en-US" smtClean="0"/>
              <a:t>10/14/24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C398A3-AF21-A342-B6A8-6929C36BB1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8699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Hi. Welcome to this episode of Emergent Nature. </a:t>
            </a:r>
          </a:p>
          <a:p>
            <a:endParaRPr lang="en-US" dirty="0"/>
          </a:p>
          <a:p>
            <a:r>
              <a:rPr lang="en-US" dirty="0"/>
              <a:t>My name is J Mark Morris. I go by Mark.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C398A3-AF21-A342-B6A8-6929C36BB1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013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C398A3-AF21-A342-B6A8-6929C36BB1B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7747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C398A3-AF21-A342-B6A8-6929C36BB1B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4369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C398A3-AF21-A342-B6A8-6929C36BB1B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2420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C398A3-AF21-A342-B6A8-6929C36BB1B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7056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C398A3-AF21-A342-B6A8-6929C36BB1B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4928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C398A3-AF21-A342-B6A8-6929C36BB1B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4823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C398A3-AF21-A342-B6A8-6929C36BB1B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9217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C398A3-AF21-A342-B6A8-6929C36BB1B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383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C398A3-AF21-A342-B6A8-6929C36BB1B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3722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C398A3-AF21-A342-B6A8-6929C36BB1B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1632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BB3A9-9E4D-1B45-B3D5-CA3715227F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4A437C-6978-EF42-B683-287B0BCC68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736A90-6A63-474E-AE00-47FF46C1C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0D3E6-D921-5B44-AC8D-B7FDAFC8A532}" type="datetimeFigureOut">
              <a:rPr lang="en-US" smtClean="0"/>
              <a:t>10/14/24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9A6875-C7C8-8141-9B12-87599614E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FF87BB-FFE9-4F4E-9787-48475824C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7AC70-81D3-9F4C-9FBF-EEB91175D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5953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67A8A-0845-AD47-90A8-18776E749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85297E-D5E0-6745-91A9-52029EE302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79309D-6084-C74B-884A-230D6CFAC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0D3E6-D921-5B44-AC8D-B7FDAFC8A532}" type="datetimeFigureOut">
              <a:rPr lang="en-US" smtClean="0"/>
              <a:t>10/14/24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105DDE-4455-5940-ADF4-C579F78A2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064C6E-4C44-A641-B028-04035B812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7AC70-81D3-9F4C-9FBF-EEB91175D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653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5E37A-D8BF-D64A-8216-7ABA6C583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406964-1DAB-F14D-8D48-DEDCBF1951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ED9634-1414-224C-B6B9-3F0D98D67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0D3E6-D921-5B44-AC8D-B7FDAFC8A532}" type="datetimeFigureOut">
              <a:rPr lang="en-US" smtClean="0"/>
              <a:t>10/14/24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57A06-C042-C649-8823-09CD9E492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B72125-B186-EA4F-87C1-D421E15E6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7AC70-81D3-9F4C-9FBF-EEB91175D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250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A32C6-604D-5245-AF13-1117649C0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F3D95E-DB7F-8741-AA7E-E9FECF96C0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4FF041-1EE3-1840-9A00-F30BE067B9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E2B0A9-40F9-DB4D-BDC1-10F58EBA8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0D3E6-D921-5B44-AC8D-B7FDAFC8A532}" type="datetimeFigureOut">
              <a:rPr lang="en-US" smtClean="0"/>
              <a:t>10/14/24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45749E-ED3B-3643-8D22-DA2D88FFD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4183C9-D2C9-CE44-B58B-ACE8898D0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7AC70-81D3-9F4C-9FBF-EEB91175D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5420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A45A6-44FE-3848-88E8-5552DDC45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DC7C1F-E9B4-4E48-ACFC-DC65D66179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CFE821-3558-AB4C-948F-6C6990D147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74632-D045-5A44-BB14-E3D5737A29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E5E05E-D502-E74B-91AF-BB193D328C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03287E-662E-F54F-9162-3F755DD6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0D3E6-D921-5B44-AC8D-B7FDAFC8A532}" type="datetimeFigureOut">
              <a:rPr lang="en-US" smtClean="0"/>
              <a:t>10/14/24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8BB5FE-E651-1B4F-8E93-FD794E8A5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AAD7C8-64AF-684B-98B6-D6D6714A2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7AC70-81D3-9F4C-9FBF-EEB91175D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572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DC2D9-851F-F94A-83EC-CAB579920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3BF4D5-34AD-5A43-853F-006AD601F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0D3E6-D921-5B44-AC8D-B7FDAFC8A532}" type="datetimeFigureOut">
              <a:rPr lang="en-US" smtClean="0"/>
              <a:t>10/14/24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670C52-9CA4-AB4F-957A-7AAD4E259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441625-0652-EB4F-8E04-6C9011365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7AC70-81D3-9F4C-9FBF-EEB91175D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306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592881-FA37-DD45-860A-EA6B38C31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0D3E6-D921-5B44-AC8D-B7FDAFC8A532}" type="datetimeFigureOut">
              <a:rPr lang="en-US" smtClean="0"/>
              <a:t>10/14/24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652DC6-52F3-8040-8665-17D023390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9CEF52-EC52-6C42-81BD-397B5CE03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7AC70-81D3-9F4C-9FBF-EEB91175D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734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0788-9DB9-6745-96CF-A7A186227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E3299F-D119-D449-BD57-1CE490CB51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3BB0FB-61B4-DC45-9D1E-63F99E6ABC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F87701-43E6-A248-ABD9-E1C49D622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0D3E6-D921-5B44-AC8D-B7FDAFC8A532}" type="datetimeFigureOut">
              <a:rPr lang="en-US" smtClean="0"/>
              <a:t>10/14/24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D6954C-9DFB-264A-A710-D12E71DB3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188770-2503-8F4E-AFC6-6941CC59F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7AC70-81D3-9F4C-9FBF-EEB91175D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6891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3FF65-890A-1A47-B873-C56E2C7D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05E9CE-538C-294A-A814-80A50548B2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3C7C9D-B309-CF46-90D8-B95DD6C2DC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97CA5D-F1C9-604D-83E1-2E60AE6E2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0D3E6-D921-5B44-AC8D-B7FDAFC8A532}" type="datetimeFigureOut">
              <a:rPr lang="en-US" smtClean="0"/>
              <a:t>10/14/24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9BE16D-FB3D-AA41-B06D-73A0FCDFB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19839D-F44C-4B47-9DFE-D154851F5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7AC70-81D3-9F4C-9FBF-EEB91175D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1827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5DFD1-B5EF-8445-B336-8B2E596E2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086E7C-46AA-9440-8F1F-C1AD5E8EC2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762E40-F60A-404F-9DB3-AC863A0E0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0D3E6-D921-5B44-AC8D-B7FDAFC8A532}" type="datetimeFigureOut">
              <a:rPr lang="en-US" smtClean="0"/>
              <a:t>10/14/24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6ABF7D-A207-9243-8354-69D0FCFAA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5599E-5B81-624B-A60C-D22AF58B6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7AC70-81D3-9F4C-9FBF-EEB91175D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4774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4BC040-CE85-6347-809B-760E676EF4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7DD51C-FD4B-524F-8054-62599D261A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E9F735-3187-1341-AE2A-1316DEDA7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0D3E6-D921-5B44-AC8D-B7FDAFC8A532}" type="datetimeFigureOut">
              <a:rPr lang="en-US" smtClean="0"/>
              <a:t>10/14/24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8F8F3D-1D9D-EF45-9F9C-E682715F6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FDF4D4-99B2-C24C-BCFF-B3AB3F96C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7AC70-81D3-9F4C-9FBF-EEB91175D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7274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C2668-EBEB-AE41-BF76-89062B014B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C28A4C-0805-8E44-B54E-3B6F671F8D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3B74C2-6265-7F41-BB8F-D8A0A0C89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FC895-F8E0-4049-8BEE-E5499394E46C}" type="datetime1">
              <a:rPr lang="en-US" smtClean="0"/>
              <a:t>10/14/24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C53590-4180-6C42-A6BF-707655C15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J Mark Morris - Model of Nature - April 2019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A81401-8545-2D4E-A7FB-31AFC7A8D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D4D4B-2FF7-BE46-958C-B004BD45EF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2403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560F9-C770-5C4C-9C93-102EC332D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D38EDA-56F1-1C40-B81E-28B921C4E9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5400"/>
            <a:ext cx="10515600" cy="4881563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42772-5D80-F641-A1BB-6048573C4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F55E2-A889-F24B-B1FE-1E878178F308}" type="datetime1">
              <a:rPr lang="en-US" smtClean="0"/>
              <a:t>10/14/24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8FC4AF-90CF-484C-B6C7-5CE1A016F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 Mark Morris - Model of Nature - April 2019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69AF1E-33D8-3041-A601-1384C718A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D4D4B-2FF7-BE46-958C-B004BD45EF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218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1822D-6D7A-1342-98EF-890C6F2DA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CF19EA-9170-5B4B-814F-7425C8E22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8461C-3391-334C-9885-001B32D724C4}" type="datetime1">
              <a:rPr lang="en-US" smtClean="0"/>
              <a:t>10/14/24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82B1FB-ECDF-AD43-9020-0267ED91C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J Mark Morris - Model of Nature - April 2019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49C470-5AF0-5246-81E7-95EAEE563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D4D4B-2FF7-BE46-958C-B004BD45EF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443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14B483-3334-204F-ADDF-2B9BC6A8D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FCC4CF-F19A-1848-8467-61B9807ACF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128E2E-CB42-B64B-A2AC-B8713F8A0E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70D3E6-D921-5B44-AC8D-B7FDAFC8A532}" type="datetimeFigureOut">
              <a:rPr lang="en-US" smtClean="0"/>
              <a:t>10/14/24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A830BA-8B9E-D54E-AA7F-1B6C247B3A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3634F2-31DD-3F49-A362-988026E566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E7AC70-81D3-9F4C-9FBF-EEB91175D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6325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79A1DB-155B-0846-9CED-8B75F56E0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69736F-08D5-7643-A656-ABAEB9457A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433D04-66F5-D74B-8EEA-459FDC00D1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fld id="{2005EE61-3907-C44D-8624-D47E09E871DB}" type="datetime1">
              <a:rPr lang="en-US" smtClean="0"/>
              <a:t>10/14/24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DE6E67-6F97-E149-8437-635D11E7ED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US"/>
              <a:t>J Mark Morris - Model of Nature - April 2019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85CC1E-0AB1-F34A-83C6-0956BF9B4A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fld id="{D73D4D4B-2FF7-BE46-958C-B004BD45EF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5073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D77ACA5-3691-8FEB-0266-8D47BBCCF4C6}"/>
              </a:ext>
            </a:extLst>
          </p:cNvPr>
          <p:cNvSpPr txBox="1"/>
          <p:nvPr/>
        </p:nvSpPr>
        <p:spPr>
          <a:xfrm>
            <a:off x="0" y="695739"/>
            <a:ext cx="12191999" cy="40806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 UltraLight" panose="02000206000000020004" pitchFamily="2" charset="0"/>
                <a:ea typeface="Helvetica Neue UltraLight" panose="02000206000000020004" pitchFamily="2" charset="0"/>
                <a:cs typeface="Helvetica Neue" panose="02000503000000020004" pitchFamily="2" charset="0"/>
              </a:rPr>
              <a:t>neoclassical.ai</a:t>
            </a:r>
          </a:p>
          <a:p>
            <a:pPr marL="0" marR="0" lvl="0" indent="0" algn="ctr" defTabSz="914400" rtl="0" eaLnBrk="1" fontAlgn="auto" latinLnBrk="0" hangingPunct="1">
              <a:lnSpc>
                <a:spcPts val="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6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elvetica Neue Condensed Black" panose="02000503000000020004" pitchFamily="2" charset="0"/>
                <a:ea typeface="Helvetica Neue Condensed Black" panose="02000503000000020004" pitchFamily="2" charset="0"/>
                <a:cs typeface="Helvetica Neue Condensed Black" panose="02000503000000020004" pitchFamily="2" charset="0"/>
              </a:rPr>
              <a:t>The Game of Life</a:t>
            </a:r>
          </a:p>
          <a:p>
            <a:pPr marL="0" marR="0" lvl="0" indent="0" algn="ctr" defTabSz="914400" rtl="0" eaLnBrk="1" fontAlgn="auto" latinLnBrk="0" hangingPunct="1">
              <a:lnSpc>
                <a:spcPts val="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6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Helvetica Neue Condensed Black" panose="02000503000000020004" pitchFamily="2" charset="0"/>
                <a:ea typeface="Helvetica Neue Condensed Black" panose="02000503000000020004" pitchFamily="2" charset="0"/>
                <a:cs typeface="Helvetica Neue Condensed Black" panose="02000503000000020004" pitchFamily="2" charset="0"/>
              </a:rPr>
              <a:t>Conway and Nature</a:t>
            </a:r>
          </a:p>
        </p:txBody>
      </p:sp>
      <p:pic>
        <p:nvPicPr>
          <p:cNvPr id="4" name="Audio 4.m4a">
            <a:hlinkClick r:id="" action="ppaction://media"/>
            <a:extLst>
              <a:ext uri="{FF2B5EF4-FFF2-40B4-BE49-F238E27FC236}">
                <a16:creationId xmlns:a16="http://schemas.microsoft.com/office/drawing/2014/main" id="{517B54EF-D7B1-E948-D130-5B2C54B785C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3379536" y="7453964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055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8485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A0A47216-4DD3-BF6C-D7BA-1ED8C0A723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6920" y="892862"/>
            <a:ext cx="7798160" cy="50689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F575926-AC14-8579-99B8-E4C7F3E6DD16}"/>
              </a:ext>
            </a:extLst>
          </p:cNvPr>
          <p:cNvSpPr txBox="1"/>
          <p:nvPr/>
        </p:nvSpPr>
        <p:spPr>
          <a:xfrm>
            <a:off x="3047246" y="6466752"/>
            <a:ext cx="60975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i="1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src</a:t>
            </a:r>
            <a:r>
              <a:rPr lang="en-US" sz="1400" i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: quanta and </a:t>
            </a:r>
            <a:r>
              <a:rPr lang="en-US" sz="1400" i="1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wikipedia</a:t>
            </a:r>
            <a:endParaRPr lang="en-US" sz="1400" i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A3292E-AA0C-30C1-CC58-7578C10E4DC0}"/>
              </a:ext>
            </a:extLst>
          </p:cNvPr>
          <p:cNvSpPr txBox="1"/>
          <p:nvPr/>
        </p:nvSpPr>
        <p:spPr>
          <a:xfrm>
            <a:off x="1477170" y="6065438"/>
            <a:ext cx="92376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John Horton Conway FRS (26 December 1937 – 11 April 2020)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5D9A62-426A-2A73-030F-D602B5E700E6}"/>
              </a:ext>
            </a:extLst>
          </p:cNvPr>
          <p:cNvSpPr txBox="1"/>
          <p:nvPr/>
        </p:nvSpPr>
        <p:spPr>
          <a:xfrm>
            <a:off x="116186" y="292152"/>
            <a:ext cx="119596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Game of Life is a cellular automaton devised by the British mathematician John Horton Conway in 1970.</a:t>
            </a:r>
          </a:p>
        </p:txBody>
      </p:sp>
    </p:spTree>
    <p:extLst>
      <p:ext uri="{BB962C8B-B14F-4D97-AF65-F5344CB8AC3E}">
        <p14:creationId xmlns:p14="http://schemas.microsoft.com/office/powerpoint/2010/main" val="13785180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DE75655-EC5B-156B-0B2A-3C6FAE97F54B}"/>
              </a:ext>
            </a:extLst>
          </p:cNvPr>
          <p:cNvSpPr txBox="1"/>
          <p:nvPr/>
        </p:nvSpPr>
        <p:spPr>
          <a:xfrm>
            <a:off x="116237" y="4095418"/>
            <a:ext cx="12075763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FF7E79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Conway’s Game of Life Universe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Classically, the Game of Life plays out in an infinite, two-dimensional orthogonal grid of square cells.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Each cell is in one of two possible states, live or dead.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One meta player interacts by creating an initial configuration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Time moves forward only in discrete time steps.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evolution is determined by the initial grid state, requiring no further input.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Meta player(s) may passively observe the initial configuration and how the grid evolves. </a:t>
            </a:r>
          </a:p>
          <a:p>
            <a:endParaRPr lang="en-US" sz="20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US" sz="1600" i="1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src</a:t>
            </a:r>
            <a:r>
              <a:rPr lang="en-US" sz="1600" i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: </a:t>
            </a:r>
            <a:r>
              <a:rPr lang="en-US" sz="1600" i="1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wikipedia</a:t>
            </a:r>
            <a:r>
              <a:rPr lang="en-US" sz="1600" i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, edited by JMM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0F17CF3-5DAE-68C3-B4A1-B9A23BA0C178}"/>
              </a:ext>
            </a:extLst>
          </p:cNvPr>
          <p:cNvSpPr txBox="1"/>
          <p:nvPr/>
        </p:nvSpPr>
        <p:spPr>
          <a:xfrm>
            <a:off x="895685" y="1142305"/>
            <a:ext cx="1328979" cy="369332"/>
          </a:xfrm>
          <a:prstGeom prst="rect">
            <a:avLst/>
          </a:prstGeom>
          <a:noFill/>
        </p:spPr>
        <p:txBody>
          <a:bodyPr wrap="square" anchor="t" anchorCtr="1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Grid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490AF9A-CF7B-6EE5-B158-291EC97AFE80}"/>
              </a:ext>
            </a:extLst>
          </p:cNvPr>
          <p:cNvSpPr txBox="1"/>
          <p:nvPr/>
        </p:nvSpPr>
        <p:spPr>
          <a:xfrm>
            <a:off x="3546004" y="1142305"/>
            <a:ext cx="2005310" cy="369332"/>
          </a:xfrm>
          <a:prstGeom prst="rect">
            <a:avLst/>
          </a:prstGeom>
          <a:noFill/>
        </p:spPr>
        <p:txBody>
          <a:bodyPr wrap="square" anchor="t" anchorCtr="1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Initial State — 0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B9BE6F2-135F-A584-3597-DDE885A88477}"/>
              </a:ext>
            </a:extLst>
          </p:cNvPr>
          <p:cNvSpPr txBox="1"/>
          <p:nvPr/>
        </p:nvSpPr>
        <p:spPr>
          <a:xfrm>
            <a:off x="6666974" y="1142305"/>
            <a:ext cx="1735155" cy="369332"/>
          </a:xfrm>
          <a:prstGeom prst="rect">
            <a:avLst/>
          </a:prstGeom>
          <a:noFill/>
        </p:spPr>
        <p:txBody>
          <a:bodyPr wrap="square" anchor="t" anchorCtr="1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Evolution — 1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E15B9FC-E53D-0C4F-E42E-E16037254E23}"/>
              </a:ext>
            </a:extLst>
          </p:cNvPr>
          <p:cNvSpPr txBox="1"/>
          <p:nvPr/>
        </p:nvSpPr>
        <p:spPr>
          <a:xfrm>
            <a:off x="9639844" y="1142305"/>
            <a:ext cx="1735155" cy="369332"/>
          </a:xfrm>
          <a:prstGeom prst="rect">
            <a:avLst/>
          </a:prstGeom>
          <a:noFill/>
        </p:spPr>
        <p:txBody>
          <a:bodyPr wrap="square" anchor="t" anchorCtr="1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Evolution — N</a:t>
            </a:r>
            <a:endParaRPr lang="en-US" dirty="0"/>
          </a:p>
        </p:txBody>
      </p:sp>
      <p:sp>
        <p:nvSpPr>
          <p:cNvPr id="20" name="Right Brace 19">
            <a:extLst>
              <a:ext uri="{FF2B5EF4-FFF2-40B4-BE49-F238E27FC236}">
                <a16:creationId xmlns:a16="http://schemas.microsoft.com/office/drawing/2014/main" id="{DFBB8D77-17CA-9E25-40F6-2187680AE78A}"/>
              </a:ext>
            </a:extLst>
          </p:cNvPr>
          <p:cNvSpPr/>
          <p:nvPr/>
        </p:nvSpPr>
        <p:spPr>
          <a:xfrm rot="16200000">
            <a:off x="2838947" y="-1604187"/>
            <a:ext cx="433953" cy="5176760"/>
          </a:xfrm>
          <a:prstGeom prst="rightBrace">
            <a:avLst>
              <a:gd name="adj1" fmla="val 40476"/>
              <a:gd name="adj2" fmla="val 50000"/>
            </a:avLst>
          </a:prstGeom>
          <a:noFill/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ight Brace 20">
            <a:extLst>
              <a:ext uri="{FF2B5EF4-FFF2-40B4-BE49-F238E27FC236}">
                <a16:creationId xmlns:a16="http://schemas.microsoft.com/office/drawing/2014/main" id="{2D7CB152-358A-F906-7CC4-816981C01F31}"/>
              </a:ext>
            </a:extLst>
          </p:cNvPr>
          <p:cNvSpPr/>
          <p:nvPr/>
        </p:nvSpPr>
        <p:spPr>
          <a:xfrm rot="16200000">
            <a:off x="8461864" y="-1940033"/>
            <a:ext cx="433953" cy="5848449"/>
          </a:xfrm>
          <a:prstGeom prst="rightBrace">
            <a:avLst>
              <a:gd name="adj1" fmla="val 40476"/>
              <a:gd name="adj2" fmla="val 50000"/>
            </a:avLst>
          </a:prstGeom>
          <a:noFill/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621EF82-06E4-D0AB-36F9-2B82B8A93A17}"/>
              </a:ext>
            </a:extLst>
          </p:cNvPr>
          <p:cNvSpPr txBox="1"/>
          <p:nvPr/>
        </p:nvSpPr>
        <p:spPr>
          <a:xfrm>
            <a:off x="2145562" y="206115"/>
            <a:ext cx="183750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FF7E79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Universe</a:t>
            </a:r>
            <a:endParaRPr lang="en-US" sz="2800" dirty="0">
              <a:solidFill>
                <a:srgbClr val="FF7E79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65BDD8E-11A5-06FA-7BEC-37DFC9619EEC}"/>
              </a:ext>
            </a:extLst>
          </p:cNvPr>
          <p:cNvSpPr txBox="1"/>
          <p:nvPr/>
        </p:nvSpPr>
        <p:spPr>
          <a:xfrm>
            <a:off x="7761114" y="206115"/>
            <a:ext cx="183750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Rules</a:t>
            </a:r>
            <a:endParaRPr lang="en-US" sz="2800" dirty="0"/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E461E574-21DE-F62F-FD55-44CF49BD28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453786"/>
              </p:ext>
            </p:extLst>
          </p:nvPr>
        </p:nvGraphicFramePr>
        <p:xfrm>
          <a:off x="467544" y="1668186"/>
          <a:ext cx="219129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215">
                  <a:extLst>
                    <a:ext uri="{9D8B030D-6E8A-4147-A177-3AD203B41FA5}">
                      <a16:colId xmlns:a16="http://schemas.microsoft.com/office/drawing/2014/main" val="2426797006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1991145301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2978980914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2296274480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975676106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1116194281"/>
                    </a:ext>
                  </a:extLst>
                </a:gridCol>
              </a:tblGrid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2212022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9138261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652794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0234374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416940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3724334"/>
                  </a:ext>
                </a:extLst>
              </a:tr>
            </a:tbl>
          </a:graphicData>
        </a:graphic>
      </p:graphicFrame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B2D322BC-6A05-B6A0-1070-9E14098BF8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0836523"/>
              </p:ext>
            </p:extLst>
          </p:nvPr>
        </p:nvGraphicFramePr>
        <p:xfrm>
          <a:off x="3448954" y="1668186"/>
          <a:ext cx="219129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215">
                  <a:extLst>
                    <a:ext uri="{9D8B030D-6E8A-4147-A177-3AD203B41FA5}">
                      <a16:colId xmlns:a16="http://schemas.microsoft.com/office/drawing/2014/main" val="2426797006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1991145301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2978980914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2296274480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975676106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1116194281"/>
                    </a:ext>
                  </a:extLst>
                </a:gridCol>
              </a:tblGrid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2212022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9138261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652794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0234374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416940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3724334"/>
                  </a:ext>
                </a:extLst>
              </a:tr>
            </a:tbl>
          </a:graphicData>
        </a:graphic>
      </p:graphicFrame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4A429455-F4CA-68DB-F8FF-EB7B26486D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7030359"/>
              </p:ext>
            </p:extLst>
          </p:nvPr>
        </p:nvGraphicFramePr>
        <p:xfrm>
          <a:off x="6430364" y="1668186"/>
          <a:ext cx="219129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215">
                  <a:extLst>
                    <a:ext uri="{9D8B030D-6E8A-4147-A177-3AD203B41FA5}">
                      <a16:colId xmlns:a16="http://schemas.microsoft.com/office/drawing/2014/main" val="2426797006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1991145301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2978980914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2296274480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975676106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1116194281"/>
                    </a:ext>
                  </a:extLst>
                </a:gridCol>
              </a:tblGrid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2212022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9138261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652794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0234374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416940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3724334"/>
                  </a:ext>
                </a:extLst>
              </a:tr>
            </a:tbl>
          </a:graphicData>
        </a:graphic>
      </p:graphicFrame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7D179225-8F42-A947-6220-5620259122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1632342"/>
              </p:ext>
            </p:extLst>
          </p:nvPr>
        </p:nvGraphicFramePr>
        <p:xfrm>
          <a:off x="9411775" y="1668186"/>
          <a:ext cx="219129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215">
                  <a:extLst>
                    <a:ext uri="{9D8B030D-6E8A-4147-A177-3AD203B41FA5}">
                      <a16:colId xmlns:a16="http://schemas.microsoft.com/office/drawing/2014/main" val="2426797006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1991145301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2978980914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2296274480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975676106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1116194281"/>
                    </a:ext>
                  </a:extLst>
                </a:gridCol>
              </a:tblGrid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2212022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9138261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652794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0234374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416940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37243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62306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D0F17CF3-5DAE-68C3-B4A1-B9A23BA0C178}"/>
              </a:ext>
            </a:extLst>
          </p:cNvPr>
          <p:cNvSpPr txBox="1"/>
          <p:nvPr/>
        </p:nvSpPr>
        <p:spPr>
          <a:xfrm>
            <a:off x="895685" y="1142305"/>
            <a:ext cx="1328979" cy="369332"/>
          </a:xfrm>
          <a:prstGeom prst="rect">
            <a:avLst/>
          </a:prstGeom>
          <a:noFill/>
        </p:spPr>
        <p:txBody>
          <a:bodyPr wrap="square" anchor="t" anchorCtr="1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Grid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490AF9A-CF7B-6EE5-B158-291EC97AFE80}"/>
              </a:ext>
            </a:extLst>
          </p:cNvPr>
          <p:cNvSpPr txBox="1"/>
          <p:nvPr/>
        </p:nvSpPr>
        <p:spPr>
          <a:xfrm>
            <a:off x="3546004" y="1142305"/>
            <a:ext cx="2005310" cy="369332"/>
          </a:xfrm>
          <a:prstGeom prst="rect">
            <a:avLst/>
          </a:prstGeom>
          <a:noFill/>
        </p:spPr>
        <p:txBody>
          <a:bodyPr wrap="square" anchor="t" anchorCtr="1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Initial State — 0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B9BE6F2-135F-A584-3597-DDE885A88477}"/>
              </a:ext>
            </a:extLst>
          </p:cNvPr>
          <p:cNvSpPr txBox="1"/>
          <p:nvPr/>
        </p:nvSpPr>
        <p:spPr>
          <a:xfrm>
            <a:off x="6666974" y="1142305"/>
            <a:ext cx="1735155" cy="369332"/>
          </a:xfrm>
          <a:prstGeom prst="rect">
            <a:avLst/>
          </a:prstGeom>
          <a:noFill/>
        </p:spPr>
        <p:txBody>
          <a:bodyPr wrap="square" anchor="t" anchorCtr="1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Evolution — 1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E15B9FC-E53D-0C4F-E42E-E16037254E23}"/>
              </a:ext>
            </a:extLst>
          </p:cNvPr>
          <p:cNvSpPr txBox="1"/>
          <p:nvPr/>
        </p:nvSpPr>
        <p:spPr>
          <a:xfrm>
            <a:off x="9639844" y="1142305"/>
            <a:ext cx="1735155" cy="369332"/>
          </a:xfrm>
          <a:prstGeom prst="rect">
            <a:avLst/>
          </a:prstGeom>
          <a:noFill/>
        </p:spPr>
        <p:txBody>
          <a:bodyPr wrap="square" anchor="t" anchorCtr="1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Evolution — 2</a:t>
            </a:r>
            <a:endParaRPr lang="en-US" dirty="0"/>
          </a:p>
        </p:txBody>
      </p:sp>
      <p:sp>
        <p:nvSpPr>
          <p:cNvPr id="20" name="Right Brace 19">
            <a:extLst>
              <a:ext uri="{FF2B5EF4-FFF2-40B4-BE49-F238E27FC236}">
                <a16:creationId xmlns:a16="http://schemas.microsoft.com/office/drawing/2014/main" id="{DFBB8D77-17CA-9E25-40F6-2187680AE78A}"/>
              </a:ext>
            </a:extLst>
          </p:cNvPr>
          <p:cNvSpPr/>
          <p:nvPr/>
        </p:nvSpPr>
        <p:spPr>
          <a:xfrm rot="16200000">
            <a:off x="2838947" y="-1604187"/>
            <a:ext cx="433953" cy="5176760"/>
          </a:xfrm>
          <a:prstGeom prst="rightBrace">
            <a:avLst>
              <a:gd name="adj1" fmla="val 40476"/>
              <a:gd name="adj2" fmla="val 50000"/>
            </a:avLst>
          </a:prstGeom>
          <a:noFill/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ight Brace 20">
            <a:extLst>
              <a:ext uri="{FF2B5EF4-FFF2-40B4-BE49-F238E27FC236}">
                <a16:creationId xmlns:a16="http://schemas.microsoft.com/office/drawing/2014/main" id="{2D7CB152-358A-F906-7CC4-816981C01F31}"/>
              </a:ext>
            </a:extLst>
          </p:cNvPr>
          <p:cNvSpPr/>
          <p:nvPr/>
        </p:nvSpPr>
        <p:spPr>
          <a:xfrm rot="16200000">
            <a:off x="8461864" y="-1940033"/>
            <a:ext cx="433953" cy="5848449"/>
          </a:xfrm>
          <a:prstGeom prst="rightBrace">
            <a:avLst>
              <a:gd name="adj1" fmla="val 40476"/>
              <a:gd name="adj2" fmla="val 50000"/>
            </a:avLst>
          </a:prstGeom>
          <a:noFill/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621EF82-06E4-D0AB-36F9-2B82B8A93A17}"/>
              </a:ext>
            </a:extLst>
          </p:cNvPr>
          <p:cNvSpPr txBox="1"/>
          <p:nvPr/>
        </p:nvSpPr>
        <p:spPr>
          <a:xfrm>
            <a:off x="2145562" y="206115"/>
            <a:ext cx="183750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Universe</a:t>
            </a:r>
            <a:endParaRPr lang="en-US" sz="28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65BDD8E-11A5-06FA-7BEC-37DFC9619EEC}"/>
              </a:ext>
            </a:extLst>
          </p:cNvPr>
          <p:cNvSpPr txBox="1"/>
          <p:nvPr/>
        </p:nvSpPr>
        <p:spPr>
          <a:xfrm>
            <a:off x="7761114" y="206115"/>
            <a:ext cx="183750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FF7E79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Rules</a:t>
            </a:r>
            <a:endParaRPr lang="en-US" sz="2800" dirty="0">
              <a:solidFill>
                <a:srgbClr val="FF7E79"/>
              </a:solidFill>
            </a:endParaRPr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E461E574-21DE-F62F-FD55-44CF49BD28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6430394"/>
              </p:ext>
            </p:extLst>
          </p:nvPr>
        </p:nvGraphicFramePr>
        <p:xfrm>
          <a:off x="467544" y="1668186"/>
          <a:ext cx="219129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215">
                  <a:extLst>
                    <a:ext uri="{9D8B030D-6E8A-4147-A177-3AD203B41FA5}">
                      <a16:colId xmlns:a16="http://schemas.microsoft.com/office/drawing/2014/main" val="2426797006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1991145301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2978980914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2296274480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975676106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1116194281"/>
                    </a:ext>
                  </a:extLst>
                </a:gridCol>
              </a:tblGrid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2212022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9138261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652794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0234374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416940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3724334"/>
                  </a:ext>
                </a:extLst>
              </a:tr>
            </a:tbl>
          </a:graphicData>
        </a:graphic>
      </p:graphicFrame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B2D322BC-6A05-B6A0-1070-9E14098BF8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7239611"/>
              </p:ext>
            </p:extLst>
          </p:nvPr>
        </p:nvGraphicFramePr>
        <p:xfrm>
          <a:off x="3448954" y="1668186"/>
          <a:ext cx="219129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215">
                  <a:extLst>
                    <a:ext uri="{9D8B030D-6E8A-4147-A177-3AD203B41FA5}">
                      <a16:colId xmlns:a16="http://schemas.microsoft.com/office/drawing/2014/main" val="2426797006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1991145301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2978980914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2296274480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975676106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1116194281"/>
                    </a:ext>
                  </a:extLst>
                </a:gridCol>
              </a:tblGrid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2212022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9138261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652794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0234374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416940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3724334"/>
                  </a:ext>
                </a:extLst>
              </a:tr>
            </a:tbl>
          </a:graphicData>
        </a:graphic>
      </p:graphicFrame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4A429455-F4CA-68DB-F8FF-EB7B26486D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1284283"/>
              </p:ext>
            </p:extLst>
          </p:nvPr>
        </p:nvGraphicFramePr>
        <p:xfrm>
          <a:off x="6430364" y="1668186"/>
          <a:ext cx="219129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215">
                  <a:extLst>
                    <a:ext uri="{9D8B030D-6E8A-4147-A177-3AD203B41FA5}">
                      <a16:colId xmlns:a16="http://schemas.microsoft.com/office/drawing/2014/main" val="2426797006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1991145301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2978980914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2296274480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975676106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1116194281"/>
                    </a:ext>
                  </a:extLst>
                </a:gridCol>
              </a:tblGrid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2212022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9138261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652794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0234374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416940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3724334"/>
                  </a:ext>
                </a:extLst>
              </a:tr>
            </a:tbl>
          </a:graphicData>
        </a:graphic>
      </p:graphicFrame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7D179225-8F42-A947-6220-5620259122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2586607"/>
              </p:ext>
            </p:extLst>
          </p:nvPr>
        </p:nvGraphicFramePr>
        <p:xfrm>
          <a:off x="9411775" y="1668186"/>
          <a:ext cx="219129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215">
                  <a:extLst>
                    <a:ext uri="{9D8B030D-6E8A-4147-A177-3AD203B41FA5}">
                      <a16:colId xmlns:a16="http://schemas.microsoft.com/office/drawing/2014/main" val="2426797006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1991145301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2978980914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2296274480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975676106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1116194281"/>
                    </a:ext>
                  </a:extLst>
                </a:gridCol>
              </a:tblGrid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2212022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9138261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652794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0234374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416940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3724334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88DA696C-503A-5149-B213-C4F454ECADB9}"/>
              </a:ext>
            </a:extLst>
          </p:cNvPr>
          <p:cNvSpPr txBox="1"/>
          <p:nvPr/>
        </p:nvSpPr>
        <p:spPr>
          <a:xfrm>
            <a:off x="318432" y="3945962"/>
            <a:ext cx="1178761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FF7E79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Conway’s Game of </a:t>
            </a:r>
            <a:r>
              <a:rPr lang="en-US" sz="2000" b="1" dirty="0" err="1">
                <a:solidFill>
                  <a:srgbClr val="FF7E79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LIfe</a:t>
            </a:r>
            <a:r>
              <a:rPr lang="en-US" sz="2000" b="1" dirty="0">
                <a:solidFill>
                  <a:srgbClr val="FF7E79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Rules</a:t>
            </a:r>
            <a:r>
              <a:rPr lang="en-US" sz="2000" dirty="0">
                <a:solidFill>
                  <a:srgbClr val="FF7E79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Every cell interacts with its eight surrounding neighbors.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At each time step, the following transitions occur: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Any live cell with fewer than two live neighbors dies, as if by underpopulation.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Any live cell with two or three live neighbors lives on to the next evolution step.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Any live cell with more than three live neighbors dies, as if by overpopulation.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Any dead cell with exactly three live neighbors becomes a live cell, as if by reproduction.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first evolution step is created by applying the rules to every cell in the initial grid.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rules are applied each time step to create a new evolution step.                     </a:t>
            </a:r>
            <a:r>
              <a:rPr lang="en-US" sz="1100" i="1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src</a:t>
            </a:r>
            <a:r>
              <a:rPr lang="en-US" sz="1100" i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: </a:t>
            </a:r>
            <a:r>
              <a:rPr lang="en-US" sz="1100" i="1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wikipedia</a:t>
            </a:r>
            <a:r>
              <a:rPr lang="en-US" sz="1100" i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, edited by JMM</a:t>
            </a:r>
          </a:p>
        </p:txBody>
      </p:sp>
    </p:spTree>
    <p:extLst>
      <p:ext uri="{BB962C8B-B14F-4D97-AF65-F5344CB8AC3E}">
        <p14:creationId xmlns:p14="http://schemas.microsoft.com/office/powerpoint/2010/main" val="6438812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2CFDF-36BB-E543-1E37-9381DCC16964}"/>
              </a:ext>
            </a:extLst>
          </p:cNvPr>
          <p:cNvSpPr txBox="1">
            <a:spLocks/>
          </p:cNvSpPr>
          <p:nvPr/>
        </p:nvSpPr>
        <p:spPr>
          <a:xfrm>
            <a:off x="781820" y="239533"/>
            <a:ext cx="11597488" cy="808355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Conway’s Cell Life State Diagram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38736C2-3AA7-DB7B-E13D-7DAD0186ED80}"/>
              </a:ext>
            </a:extLst>
          </p:cNvPr>
          <p:cNvSpPr/>
          <p:nvPr/>
        </p:nvSpPr>
        <p:spPr>
          <a:xfrm>
            <a:off x="3572358" y="2767876"/>
            <a:ext cx="1836549" cy="183654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dead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4FFCBBA-13D0-D0A1-682D-08E2B2279C74}"/>
              </a:ext>
            </a:extLst>
          </p:cNvPr>
          <p:cNvSpPr/>
          <p:nvPr/>
        </p:nvSpPr>
        <p:spPr>
          <a:xfrm>
            <a:off x="6723680" y="2767876"/>
            <a:ext cx="1836549" cy="1836549"/>
          </a:xfrm>
          <a:prstGeom prst="ellipse">
            <a:avLst/>
          </a:prstGeom>
          <a:solidFill>
            <a:srgbClr val="00B050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live</a:t>
            </a:r>
          </a:p>
        </p:txBody>
      </p:sp>
      <p:cxnSp>
        <p:nvCxnSpPr>
          <p:cNvPr id="7" name="Curved Connector 6">
            <a:extLst>
              <a:ext uri="{FF2B5EF4-FFF2-40B4-BE49-F238E27FC236}">
                <a16:creationId xmlns:a16="http://schemas.microsoft.com/office/drawing/2014/main" id="{03DA57CF-1706-A086-E895-1718D7409256}"/>
              </a:ext>
            </a:extLst>
          </p:cNvPr>
          <p:cNvCxnSpPr>
            <a:stCxn id="4" idx="6"/>
            <a:endCxn id="5" idx="2"/>
          </p:cNvCxnSpPr>
          <p:nvPr/>
        </p:nvCxnSpPr>
        <p:spPr>
          <a:xfrm>
            <a:off x="5408907" y="3686151"/>
            <a:ext cx="1314773" cy="12700"/>
          </a:xfrm>
          <a:prstGeom prst="curvedConnector3">
            <a:avLst/>
          </a:prstGeom>
          <a:ln w="3810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8238624-30ED-1198-413F-C71F57FC674C}"/>
              </a:ext>
            </a:extLst>
          </p:cNvPr>
          <p:cNvSpPr txBox="1"/>
          <p:nvPr/>
        </p:nvSpPr>
        <p:spPr>
          <a:xfrm>
            <a:off x="5836494" y="3240811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{3}</a:t>
            </a:r>
          </a:p>
        </p:txBody>
      </p:sp>
      <p:cxnSp>
        <p:nvCxnSpPr>
          <p:cNvPr id="9" name="Curved Connector 8">
            <a:extLst>
              <a:ext uri="{FF2B5EF4-FFF2-40B4-BE49-F238E27FC236}">
                <a16:creationId xmlns:a16="http://schemas.microsoft.com/office/drawing/2014/main" id="{391675E3-C28C-12CA-2757-5CBDAD4C7C10}"/>
              </a:ext>
            </a:extLst>
          </p:cNvPr>
          <p:cNvCxnSpPr>
            <a:cxnSpLocks/>
            <a:stCxn id="4" idx="0"/>
            <a:endCxn id="4" idx="2"/>
          </p:cNvCxnSpPr>
          <p:nvPr/>
        </p:nvCxnSpPr>
        <p:spPr>
          <a:xfrm rot="16200000" flipH="1" flipV="1">
            <a:off x="3572358" y="2767875"/>
            <a:ext cx="918275" cy="918275"/>
          </a:xfrm>
          <a:prstGeom prst="curvedConnector4">
            <a:avLst>
              <a:gd name="adj1" fmla="val -55275"/>
              <a:gd name="adj2" fmla="val 157806"/>
            </a:avLst>
          </a:prstGeom>
          <a:ln w="3810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A9C3E77B-B5C7-37C5-F4C1-A1A598206616}"/>
              </a:ext>
            </a:extLst>
          </p:cNvPr>
          <p:cNvSpPr txBox="1"/>
          <p:nvPr/>
        </p:nvSpPr>
        <p:spPr>
          <a:xfrm>
            <a:off x="2741954" y="1816485"/>
            <a:ext cx="1941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{0,1,2,  4,5,6,7,8}</a:t>
            </a:r>
          </a:p>
        </p:txBody>
      </p:sp>
      <p:cxnSp>
        <p:nvCxnSpPr>
          <p:cNvPr id="17" name="Curved Connector 16">
            <a:extLst>
              <a:ext uri="{FF2B5EF4-FFF2-40B4-BE49-F238E27FC236}">
                <a16:creationId xmlns:a16="http://schemas.microsoft.com/office/drawing/2014/main" id="{A5E417F2-8F45-8AEE-F41B-6456BB1A856A}"/>
              </a:ext>
            </a:extLst>
          </p:cNvPr>
          <p:cNvCxnSpPr>
            <a:cxnSpLocks/>
            <a:stCxn id="5" idx="6"/>
            <a:endCxn id="5" idx="0"/>
          </p:cNvCxnSpPr>
          <p:nvPr/>
        </p:nvCxnSpPr>
        <p:spPr>
          <a:xfrm flipH="1" flipV="1">
            <a:off x="7641955" y="2767876"/>
            <a:ext cx="918274" cy="918275"/>
          </a:xfrm>
          <a:prstGeom prst="curvedConnector4">
            <a:avLst>
              <a:gd name="adj1" fmla="val -60338"/>
              <a:gd name="adj2" fmla="val 156119"/>
            </a:avLst>
          </a:prstGeom>
          <a:ln w="3810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32EF65E9-C59D-C013-FD1F-F9B46CEF7DEF}"/>
              </a:ext>
            </a:extLst>
          </p:cNvPr>
          <p:cNvSpPr txBox="1"/>
          <p:nvPr/>
        </p:nvSpPr>
        <p:spPr>
          <a:xfrm>
            <a:off x="8032042" y="1816485"/>
            <a:ext cx="659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{2,3}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A885F1A-176E-3370-E320-9DE0254807F1}"/>
              </a:ext>
            </a:extLst>
          </p:cNvPr>
          <p:cNvSpPr txBox="1"/>
          <p:nvPr/>
        </p:nvSpPr>
        <p:spPr>
          <a:xfrm>
            <a:off x="5296222" y="5440780"/>
            <a:ext cx="19366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{0,1,  4,5,6,7,8}</a:t>
            </a:r>
            <a:endParaRPr lang="en-US" dirty="0"/>
          </a:p>
        </p:txBody>
      </p:sp>
      <p:cxnSp>
        <p:nvCxnSpPr>
          <p:cNvPr id="25" name="Curved Connector 24">
            <a:extLst>
              <a:ext uri="{FF2B5EF4-FFF2-40B4-BE49-F238E27FC236}">
                <a16:creationId xmlns:a16="http://schemas.microsoft.com/office/drawing/2014/main" id="{FFCA6C91-3897-0483-DEC6-E3EF6F2587A3}"/>
              </a:ext>
            </a:extLst>
          </p:cNvPr>
          <p:cNvCxnSpPr>
            <a:cxnSpLocks/>
            <a:stCxn id="5" idx="4"/>
            <a:endCxn id="4" idx="4"/>
          </p:cNvCxnSpPr>
          <p:nvPr/>
        </p:nvCxnSpPr>
        <p:spPr>
          <a:xfrm rot="5400000">
            <a:off x="6066294" y="3028764"/>
            <a:ext cx="12700" cy="3151322"/>
          </a:xfrm>
          <a:prstGeom prst="curvedConnector3">
            <a:avLst>
              <a:gd name="adj1" fmla="val 5949150"/>
            </a:avLst>
          </a:prstGeom>
          <a:ln w="3810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92174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D0F17CF3-5DAE-68C3-B4A1-B9A23BA0C178}"/>
              </a:ext>
            </a:extLst>
          </p:cNvPr>
          <p:cNvSpPr txBox="1"/>
          <p:nvPr/>
        </p:nvSpPr>
        <p:spPr>
          <a:xfrm>
            <a:off x="926682" y="716105"/>
            <a:ext cx="1328979" cy="369332"/>
          </a:xfrm>
          <a:prstGeom prst="rect">
            <a:avLst/>
          </a:prstGeom>
          <a:noFill/>
        </p:spPr>
        <p:txBody>
          <a:bodyPr wrap="square" anchor="t" anchorCtr="1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Grid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490AF9A-CF7B-6EE5-B158-291EC97AFE80}"/>
              </a:ext>
            </a:extLst>
          </p:cNvPr>
          <p:cNvSpPr txBox="1"/>
          <p:nvPr/>
        </p:nvSpPr>
        <p:spPr>
          <a:xfrm>
            <a:off x="3577001" y="716105"/>
            <a:ext cx="2005310" cy="369332"/>
          </a:xfrm>
          <a:prstGeom prst="rect">
            <a:avLst/>
          </a:prstGeom>
          <a:noFill/>
        </p:spPr>
        <p:txBody>
          <a:bodyPr wrap="square" anchor="t" anchorCtr="1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Initial State — 0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B9BE6F2-135F-A584-3597-DDE885A88477}"/>
              </a:ext>
            </a:extLst>
          </p:cNvPr>
          <p:cNvSpPr txBox="1"/>
          <p:nvPr/>
        </p:nvSpPr>
        <p:spPr>
          <a:xfrm>
            <a:off x="6697971" y="716105"/>
            <a:ext cx="1735155" cy="369332"/>
          </a:xfrm>
          <a:prstGeom prst="rect">
            <a:avLst/>
          </a:prstGeom>
          <a:noFill/>
        </p:spPr>
        <p:txBody>
          <a:bodyPr wrap="square" anchor="t" anchorCtr="1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Evolution — 1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E15B9FC-E53D-0C4F-E42E-E16037254E23}"/>
              </a:ext>
            </a:extLst>
          </p:cNvPr>
          <p:cNvSpPr txBox="1"/>
          <p:nvPr/>
        </p:nvSpPr>
        <p:spPr>
          <a:xfrm>
            <a:off x="9670841" y="716105"/>
            <a:ext cx="1735155" cy="369332"/>
          </a:xfrm>
          <a:prstGeom prst="rect">
            <a:avLst/>
          </a:prstGeom>
          <a:noFill/>
        </p:spPr>
        <p:txBody>
          <a:bodyPr wrap="square" anchor="t" anchorCtr="1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Evolution — 2</a:t>
            </a:r>
            <a:endParaRPr lang="en-US" dirty="0"/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E461E574-21DE-F62F-FD55-44CF49BD28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417243"/>
              </p:ext>
            </p:extLst>
          </p:nvPr>
        </p:nvGraphicFramePr>
        <p:xfrm>
          <a:off x="498541" y="1241986"/>
          <a:ext cx="219129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215">
                  <a:extLst>
                    <a:ext uri="{9D8B030D-6E8A-4147-A177-3AD203B41FA5}">
                      <a16:colId xmlns:a16="http://schemas.microsoft.com/office/drawing/2014/main" val="2426797006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1991145301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2978980914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2296274480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975676106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1116194281"/>
                    </a:ext>
                  </a:extLst>
                </a:gridCol>
              </a:tblGrid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2212022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9138261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652794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0234374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416940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3724334"/>
                  </a:ext>
                </a:extLst>
              </a:tr>
            </a:tbl>
          </a:graphicData>
        </a:graphic>
      </p:graphicFrame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B2D322BC-6A05-B6A0-1070-9E14098BF8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6284365"/>
              </p:ext>
            </p:extLst>
          </p:nvPr>
        </p:nvGraphicFramePr>
        <p:xfrm>
          <a:off x="3479951" y="1241986"/>
          <a:ext cx="219129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215">
                  <a:extLst>
                    <a:ext uri="{9D8B030D-6E8A-4147-A177-3AD203B41FA5}">
                      <a16:colId xmlns:a16="http://schemas.microsoft.com/office/drawing/2014/main" val="2426797006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1991145301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2978980914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2296274480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975676106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1116194281"/>
                    </a:ext>
                  </a:extLst>
                </a:gridCol>
              </a:tblGrid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2212022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9138261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652794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0234374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416940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3724334"/>
                  </a:ext>
                </a:extLst>
              </a:tr>
            </a:tbl>
          </a:graphicData>
        </a:graphic>
      </p:graphicFrame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4A429455-F4CA-68DB-F8FF-EB7B26486D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4342575"/>
              </p:ext>
            </p:extLst>
          </p:nvPr>
        </p:nvGraphicFramePr>
        <p:xfrm>
          <a:off x="6461361" y="1241986"/>
          <a:ext cx="219129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215">
                  <a:extLst>
                    <a:ext uri="{9D8B030D-6E8A-4147-A177-3AD203B41FA5}">
                      <a16:colId xmlns:a16="http://schemas.microsoft.com/office/drawing/2014/main" val="2426797006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1991145301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2978980914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2296274480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975676106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1116194281"/>
                    </a:ext>
                  </a:extLst>
                </a:gridCol>
              </a:tblGrid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2212022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9138261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652794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0234374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416940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3724334"/>
                  </a:ext>
                </a:extLst>
              </a:tr>
            </a:tbl>
          </a:graphicData>
        </a:graphic>
      </p:graphicFrame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7D179225-8F42-A947-6220-5620259122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4912289"/>
              </p:ext>
            </p:extLst>
          </p:nvPr>
        </p:nvGraphicFramePr>
        <p:xfrm>
          <a:off x="9442772" y="1241986"/>
          <a:ext cx="219129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215">
                  <a:extLst>
                    <a:ext uri="{9D8B030D-6E8A-4147-A177-3AD203B41FA5}">
                      <a16:colId xmlns:a16="http://schemas.microsoft.com/office/drawing/2014/main" val="2426797006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1991145301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2978980914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2296274480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975676106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1116194281"/>
                    </a:ext>
                  </a:extLst>
                </a:gridCol>
              </a:tblGrid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2212022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9138261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652794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0234374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416940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372433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016218A3-1733-B54F-FA1D-B323DC34C519}"/>
              </a:ext>
            </a:extLst>
          </p:cNvPr>
          <p:cNvSpPr txBox="1"/>
          <p:nvPr/>
        </p:nvSpPr>
        <p:spPr>
          <a:xfrm>
            <a:off x="453985" y="3813183"/>
            <a:ext cx="2281467" cy="646331"/>
          </a:xfrm>
          <a:prstGeom prst="rect">
            <a:avLst/>
          </a:prstGeom>
          <a:noFill/>
        </p:spPr>
        <p:txBody>
          <a:bodyPr wrap="square" anchor="t" anchorCtr="1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Evolution — 3</a:t>
            </a:r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F4ED75-9810-99A4-5449-496FBFEC936C}"/>
              </a:ext>
            </a:extLst>
          </p:cNvPr>
          <p:cNvSpPr txBox="1"/>
          <p:nvPr/>
        </p:nvSpPr>
        <p:spPr>
          <a:xfrm>
            <a:off x="3577001" y="3813183"/>
            <a:ext cx="2005310" cy="369332"/>
          </a:xfrm>
          <a:prstGeom prst="rect">
            <a:avLst/>
          </a:prstGeom>
          <a:noFill/>
        </p:spPr>
        <p:txBody>
          <a:bodyPr wrap="square" anchor="t" anchorCtr="1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Evolution — 4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89D0A0-6D5B-8017-2EA3-794E7264E469}"/>
              </a:ext>
            </a:extLst>
          </p:cNvPr>
          <p:cNvSpPr txBox="1"/>
          <p:nvPr/>
        </p:nvSpPr>
        <p:spPr>
          <a:xfrm>
            <a:off x="6697971" y="3813183"/>
            <a:ext cx="1735155" cy="369332"/>
          </a:xfrm>
          <a:prstGeom prst="rect">
            <a:avLst/>
          </a:prstGeom>
          <a:noFill/>
        </p:spPr>
        <p:txBody>
          <a:bodyPr wrap="square" anchor="t" anchorCtr="1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Evolution — 5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4008D6-F6E1-2BB2-BA71-2E7980335B51}"/>
              </a:ext>
            </a:extLst>
          </p:cNvPr>
          <p:cNvSpPr txBox="1"/>
          <p:nvPr/>
        </p:nvSpPr>
        <p:spPr>
          <a:xfrm>
            <a:off x="9670841" y="3813183"/>
            <a:ext cx="1735155" cy="369332"/>
          </a:xfrm>
          <a:prstGeom prst="rect">
            <a:avLst/>
          </a:prstGeom>
          <a:noFill/>
        </p:spPr>
        <p:txBody>
          <a:bodyPr wrap="square" anchor="t" anchorCtr="1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Evolution — 6</a:t>
            </a:r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47A1EB2-2CB2-DD09-3A52-041D3A54DA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9568475"/>
              </p:ext>
            </p:extLst>
          </p:nvPr>
        </p:nvGraphicFramePr>
        <p:xfrm>
          <a:off x="498541" y="4339064"/>
          <a:ext cx="219129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215">
                  <a:extLst>
                    <a:ext uri="{9D8B030D-6E8A-4147-A177-3AD203B41FA5}">
                      <a16:colId xmlns:a16="http://schemas.microsoft.com/office/drawing/2014/main" val="2426797006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1991145301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2978980914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2296274480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975676106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1116194281"/>
                    </a:ext>
                  </a:extLst>
                </a:gridCol>
              </a:tblGrid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2212022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9138261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652794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0234374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416940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3724334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629FACE-297E-0FDC-DDE2-591943F6E4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7753739"/>
              </p:ext>
            </p:extLst>
          </p:nvPr>
        </p:nvGraphicFramePr>
        <p:xfrm>
          <a:off x="3479951" y="4339064"/>
          <a:ext cx="219129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215">
                  <a:extLst>
                    <a:ext uri="{9D8B030D-6E8A-4147-A177-3AD203B41FA5}">
                      <a16:colId xmlns:a16="http://schemas.microsoft.com/office/drawing/2014/main" val="2426797006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1991145301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2978980914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2296274480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975676106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1116194281"/>
                    </a:ext>
                  </a:extLst>
                </a:gridCol>
              </a:tblGrid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2212022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9138261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652794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0234374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416940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3724334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6DCB1FD-B231-7646-7B31-4C3BA3BC34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4334661"/>
              </p:ext>
            </p:extLst>
          </p:nvPr>
        </p:nvGraphicFramePr>
        <p:xfrm>
          <a:off x="6461361" y="4339064"/>
          <a:ext cx="219129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215">
                  <a:extLst>
                    <a:ext uri="{9D8B030D-6E8A-4147-A177-3AD203B41FA5}">
                      <a16:colId xmlns:a16="http://schemas.microsoft.com/office/drawing/2014/main" val="2426797006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1991145301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2978980914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2296274480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975676106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1116194281"/>
                    </a:ext>
                  </a:extLst>
                </a:gridCol>
              </a:tblGrid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2212022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9138261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652794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0234374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416940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3724334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C60706AB-0665-CB46-5EF0-0845EC459E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7165922"/>
              </p:ext>
            </p:extLst>
          </p:nvPr>
        </p:nvGraphicFramePr>
        <p:xfrm>
          <a:off x="9442772" y="4339064"/>
          <a:ext cx="219129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215">
                  <a:extLst>
                    <a:ext uri="{9D8B030D-6E8A-4147-A177-3AD203B41FA5}">
                      <a16:colId xmlns:a16="http://schemas.microsoft.com/office/drawing/2014/main" val="2426797006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1991145301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2978980914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2296274480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975676106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1116194281"/>
                    </a:ext>
                  </a:extLst>
                </a:gridCol>
              </a:tblGrid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2212022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9138261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652794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0234374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416940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3724334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39ADE562-0E39-D80E-FDE8-E66393A03390}"/>
              </a:ext>
            </a:extLst>
          </p:cNvPr>
          <p:cNvSpPr txBox="1"/>
          <p:nvPr/>
        </p:nvSpPr>
        <p:spPr>
          <a:xfrm>
            <a:off x="4466701" y="37905"/>
            <a:ext cx="309884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Glider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8302295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39ADE562-0E39-D80E-FDE8-E66393A03390}"/>
              </a:ext>
            </a:extLst>
          </p:cNvPr>
          <p:cNvSpPr txBox="1"/>
          <p:nvPr/>
        </p:nvSpPr>
        <p:spPr>
          <a:xfrm>
            <a:off x="2265942" y="340123"/>
            <a:ext cx="74282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Aspects of Conway’s Game of Life</a:t>
            </a:r>
            <a:endParaRPr lang="en-US" sz="2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A3FA09-983D-1B2B-DCDD-7C91DBC7E633}"/>
              </a:ext>
            </a:extLst>
          </p:cNvPr>
          <p:cNvSpPr txBox="1"/>
          <p:nvPr/>
        </p:nvSpPr>
        <p:spPr>
          <a:xfrm>
            <a:off x="202194" y="1683209"/>
            <a:ext cx="11787611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Consider each glider as an </a:t>
            </a:r>
            <a:r>
              <a:rPr lang="en-US" sz="2400" b="1" i="1" dirty="0">
                <a:solidFill>
                  <a:srgbClr val="FF7E79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assembly</a:t>
            </a:r>
            <a:r>
              <a:rPr lang="en-US" sz="24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of live cells.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glider assembly appears to live on, moving upon an infinite empty grid.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Yet the cells in each glider are ephemeral with brief lifetimes of a few time steps.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</a:t>
            </a:r>
            <a:r>
              <a:rPr lang="en-US" sz="2400" b="1" i="1" dirty="0">
                <a:solidFill>
                  <a:srgbClr val="FF7E79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assembly</a:t>
            </a:r>
            <a:r>
              <a:rPr lang="en-US" sz="24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of cells self replicates, via an ever-changing set of cells.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Individual cells have provenance only during their lifetime.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i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In Conway’s life, </a:t>
            </a:r>
            <a:r>
              <a:rPr lang="en-US" sz="2400" b="1" i="1" dirty="0">
                <a:solidFill>
                  <a:srgbClr val="FF7E79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provenance</a:t>
            </a:r>
            <a:r>
              <a:rPr lang="en-US" sz="2400" i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means a life exists in one and only one cell for their lifetime, whether it is one tick, many ticks, or forever.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i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Let’s label the cells with the evolution step in which they were born...</a:t>
            </a:r>
            <a:endParaRPr lang="en-US" sz="1200" i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1551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D0F17CF3-5DAE-68C3-B4A1-B9A23BA0C178}"/>
              </a:ext>
            </a:extLst>
          </p:cNvPr>
          <p:cNvSpPr txBox="1"/>
          <p:nvPr/>
        </p:nvSpPr>
        <p:spPr>
          <a:xfrm>
            <a:off x="926682" y="716105"/>
            <a:ext cx="1328979" cy="369332"/>
          </a:xfrm>
          <a:prstGeom prst="rect">
            <a:avLst/>
          </a:prstGeom>
          <a:noFill/>
        </p:spPr>
        <p:txBody>
          <a:bodyPr wrap="square" anchor="t" anchorCtr="1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Grid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490AF9A-CF7B-6EE5-B158-291EC97AFE80}"/>
              </a:ext>
            </a:extLst>
          </p:cNvPr>
          <p:cNvSpPr txBox="1"/>
          <p:nvPr/>
        </p:nvSpPr>
        <p:spPr>
          <a:xfrm>
            <a:off x="3577001" y="716105"/>
            <a:ext cx="2005310" cy="369332"/>
          </a:xfrm>
          <a:prstGeom prst="rect">
            <a:avLst/>
          </a:prstGeom>
          <a:noFill/>
        </p:spPr>
        <p:txBody>
          <a:bodyPr wrap="square" anchor="t" anchorCtr="1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Initial State — 0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B9BE6F2-135F-A584-3597-DDE885A88477}"/>
              </a:ext>
            </a:extLst>
          </p:cNvPr>
          <p:cNvSpPr txBox="1"/>
          <p:nvPr/>
        </p:nvSpPr>
        <p:spPr>
          <a:xfrm>
            <a:off x="6697971" y="716105"/>
            <a:ext cx="1735155" cy="369332"/>
          </a:xfrm>
          <a:prstGeom prst="rect">
            <a:avLst/>
          </a:prstGeom>
          <a:noFill/>
        </p:spPr>
        <p:txBody>
          <a:bodyPr wrap="square" anchor="t" anchorCtr="1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Evolution — 1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E15B9FC-E53D-0C4F-E42E-E16037254E23}"/>
              </a:ext>
            </a:extLst>
          </p:cNvPr>
          <p:cNvSpPr txBox="1"/>
          <p:nvPr/>
        </p:nvSpPr>
        <p:spPr>
          <a:xfrm>
            <a:off x="9670841" y="716105"/>
            <a:ext cx="1735155" cy="369332"/>
          </a:xfrm>
          <a:prstGeom prst="rect">
            <a:avLst/>
          </a:prstGeom>
          <a:noFill/>
        </p:spPr>
        <p:txBody>
          <a:bodyPr wrap="square" anchor="t" anchorCtr="1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Evolution — 2</a:t>
            </a:r>
            <a:endParaRPr lang="en-US" dirty="0"/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E461E574-21DE-F62F-FD55-44CF49BD2887}"/>
              </a:ext>
            </a:extLst>
          </p:cNvPr>
          <p:cNvGraphicFramePr>
            <a:graphicFrameLocks noGrp="1"/>
          </p:cNvGraphicFramePr>
          <p:nvPr/>
        </p:nvGraphicFramePr>
        <p:xfrm>
          <a:off x="498541" y="1241986"/>
          <a:ext cx="219129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215">
                  <a:extLst>
                    <a:ext uri="{9D8B030D-6E8A-4147-A177-3AD203B41FA5}">
                      <a16:colId xmlns:a16="http://schemas.microsoft.com/office/drawing/2014/main" val="2426797006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1991145301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2978980914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2296274480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975676106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1116194281"/>
                    </a:ext>
                  </a:extLst>
                </a:gridCol>
              </a:tblGrid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2212022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9138261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652794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0234374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416940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3724334"/>
                  </a:ext>
                </a:extLst>
              </a:tr>
            </a:tbl>
          </a:graphicData>
        </a:graphic>
      </p:graphicFrame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B2D322BC-6A05-B6A0-1070-9E14098BF8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7818694"/>
              </p:ext>
            </p:extLst>
          </p:nvPr>
        </p:nvGraphicFramePr>
        <p:xfrm>
          <a:off x="3479951" y="1241986"/>
          <a:ext cx="219129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215">
                  <a:extLst>
                    <a:ext uri="{9D8B030D-6E8A-4147-A177-3AD203B41FA5}">
                      <a16:colId xmlns:a16="http://schemas.microsoft.com/office/drawing/2014/main" val="2426797006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1991145301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2978980914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2296274480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975676106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1116194281"/>
                    </a:ext>
                  </a:extLst>
                </a:gridCol>
              </a:tblGrid>
              <a:tr h="228768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2212022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9138261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652794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0234374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416940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3724334"/>
                  </a:ext>
                </a:extLst>
              </a:tr>
            </a:tbl>
          </a:graphicData>
        </a:graphic>
      </p:graphicFrame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4A429455-F4CA-68DB-F8FF-EB7B26486D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7775919"/>
              </p:ext>
            </p:extLst>
          </p:nvPr>
        </p:nvGraphicFramePr>
        <p:xfrm>
          <a:off x="6461361" y="1241986"/>
          <a:ext cx="219129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215">
                  <a:extLst>
                    <a:ext uri="{9D8B030D-6E8A-4147-A177-3AD203B41FA5}">
                      <a16:colId xmlns:a16="http://schemas.microsoft.com/office/drawing/2014/main" val="2426797006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1991145301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2978980914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2296274480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975676106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1116194281"/>
                    </a:ext>
                  </a:extLst>
                </a:gridCol>
              </a:tblGrid>
              <a:tr h="228768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2212022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9138261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652794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0234374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416940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3724334"/>
                  </a:ext>
                </a:extLst>
              </a:tr>
            </a:tbl>
          </a:graphicData>
        </a:graphic>
      </p:graphicFrame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7D179225-8F42-A947-6220-5620259122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7909396"/>
              </p:ext>
            </p:extLst>
          </p:nvPr>
        </p:nvGraphicFramePr>
        <p:xfrm>
          <a:off x="9442772" y="1241986"/>
          <a:ext cx="219129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215">
                  <a:extLst>
                    <a:ext uri="{9D8B030D-6E8A-4147-A177-3AD203B41FA5}">
                      <a16:colId xmlns:a16="http://schemas.microsoft.com/office/drawing/2014/main" val="2426797006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1991145301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2978980914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2296274480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975676106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1116194281"/>
                    </a:ext>
                  </a:extLst>
                </a:gridCol>
              </a:tblGrid>
              <a:tr h="228768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2212022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9138261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652794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0234374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416940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372433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016218A3-1733-B54F-FA1D-B323DC34C519}"/>
              </a:ext>
            </a:extLst>
          </p:cNvPr>
          <p:cNvSpPr txBox="1"/>
          <p:nvPr/>
        </p:nvSpPr>
        <p:spPr>
          <a:xfrm>
            <a:off x="453985" y="3813183"/>
            <a:ext cx="2281467" cy="646331"/>
          </a:xfrm>
          <a:prstGeom prst="rect">
            <a:avLst/>
          </a:prstGeom>
          <a:noFill/>
        </p:spPr>
        <p:txBody>
          <a:bodyPr wrap="square" anchor="t" anchorCtr="1">
            <a:spAutoFit/>
          </a:bodyPr>
          <a:lstStyle/>
          <a:p>
            <a:pPr algn="ctr"/>
            <a:r>
              <a:rPr lang="en-US" sz="18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Evolution — 3</a:t>
            </a:r>
            <a:endParaRPr lang="en-US" dirty="0"/>
          </a:p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F4ED75-9810-99A4-5449-496FBFEC936C}"/>
              </a:ext>
            </a:extLst>
          </p:cNvPr>
          <p:cNvSpPr txBox="1"/>
          <p:nvPr/>
        </p:nvSpPr>
        <p:spPr>
          <a:xfrm>
            <a:off x="3577001" y="3813183"/>
            <a:ext cx="2005310" cy="369332"/>
          </a:xfrm>
          <a:prstGeom prst="rect">
            <a:avLst/>
          </a:prstGeom>
          <a:noFill/>
        </p:spPr>
        <p:txBody>
          <a:bodyPr wrap="square" anchor="t" anchorCtr="1">
            <a:spAutoFit/>
          </a:bodyPr>
          <a:lstStyle/>
          <a:p>
            <a:pPr algn="ctr"/>
            <a:r>
              <a:rPr lang="en-US" sz="18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Evolution — 4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89D0A0-6D5B-8017-2EA3-794E7264E469}"/>
              </a:ext>
            </a:extLst>
          </p:cNvPr>
          <p:cNvSpPr txBox="1"/>
          <p:nvPr/>
        </p:nvSpPr>
        <p:spPr>
          <a:xfrm>
            <a:off x="6697971" y="3813183"/>
            <a:ext cx="1735155" cy="369332"/>
          </a:xfrm>
          <a:prstGeom prst="rect">
            <a:avLst/>
          </a:prstGeom>
          <a:noFill/>
        </p:spPr>
        <p:txBody>
          <a:bodyPr wrap="square" anchor="t" anchorCtr="1">
            <a:spAutoFit/>
          </a:bodyPr>
          <a:lstStyle/>
          <a:p>
            <a:pPr algn="ctr"/>
            <a:r>
              <a:rPr lang="en-US" sz="18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Evolution — 5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4008D6-F6E1-2BB2-BA71-2E7980335B51}"/>
              </a:ext>
            </a:extLst>
          </p:cNvPr>
          <p:cNvSpPr txBox="1"/>
          <p:nvPr/>
        </p:nvSpPr>
        <p:spPr>
          <a:xfrm>
            <a:off x="9670841" y="3813183"/>
            <a:ext cx="1735155" cy="369332"/>
          </a:xfrm>
          <a:prstGeom prst="rect">
            <a:avLst/>
          </a:prstGeom>
          <a:noFill/>
        </p:spPr>
        <p:txBody>
          <a:bodyPr wrap="square" anchor="t" anchorCtr="1">
            <a:spAutoFit/>
          </a:bodyPr>
          <a:lstStyle/>
          <a:p>
            <a:pPr algn="ctr"/>
            <a:r>
              <a:rPr lang="en-US" sz="18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Evolution — 6</a:t>
            </a:r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47A1EB2-2CB2-DD09-3A52-041D3A54DA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8305270"/>
              </p:ext>
            </p:extLst>
          </p:nvPr>
        </p:nvGraphicFramePr>
        <p:xfrm>
          <a:off x="498541" y="4339064"/>
          <a:ext cx="219129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215">
                  <a:extLst>
                    <a:ext uri="{9D8B030D-6E8A-4147-A177-3AD203B41FA5}">
                      <a16:colId xmlns:a16="http://schemas.microsoft.com/office/drawing/2014/main" val="2426797006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1991145301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2978980914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2296274480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975676106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1116194281"/>
                    </a:ext>
                  </a:extLst>
                </a:gridCol>
              </a:tblGrid>
              <a:tr h="228768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2212022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9138261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652794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0234374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416940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3724334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629FACE-297E-0FDC-DDE2-591943F6E4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6908759"/>
              </p:ext>
            </p:extLst>
          </p:nvPr>
        </p:nvGraphicFramePr>
        <p:xfrm>
          <a:off x="3479951" y="4339064"/>
          <a:ext cx="219129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215">
                  <a:extLst>
                    <a:ext uri="{9D8B030D-6E8A-4147-A177-3AD203B41FA5}">
                      <a16:colId xmlns:a16="http://schemas.microsoft.com/office/drawing/2014/main" val="2426797006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1991145301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2978980914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2296274480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975676106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1116194281"/>
                    </a:ext>
                  </a:extLst>
                </a:gridCol>
              </a:tblGrid>
              <a:tr h="228768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2212022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9138261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652794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0234374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416940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3724334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6DCB1FD-B231-7646-7B31-4C3BA3BC34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3670675"/>
              </p:ext>
            </p:extLst>
          </p:nvPr>
        </p:nvGraphicFramePr>
        <p:xfrm>
          <a:off x="6461361" y="4339064"/>
          <a:ext cx="219129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215">
                  <a:extLst>
                    <a:ext uri="{9D8B030D-6E8A-4147-A177-3AD203B41FA5}">
                      <a16:colId xmlns:a16="http://schemas.microsoft.com/office/drawing/2014/main" val="2426797006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1991145301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2978980914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2296274480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975676106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1116194281"/>
                    </a:ext>
                  </a:extLst>
                </a:gridCol>
              </a:tblGrid>
              <a:tr h="228768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2212022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9138261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652794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0234374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416940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3724334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C60706AB-0665-CB46-5EF0-0845EC459E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7072405"/>
              </p:ext>
            </p:extLst>
          </p:nvPr>
        </p:nvGraphicFramePr>
        <p:xfrm>
          <a:off x="9442772" y="4339064"/>
          <a:ext cx="219129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215">
                  <a:extLst>
                    <a:ext uri="{9D8B030D-6E8A-4147-A177-3AD203B41FA5}">
                      <a16:colId xmlns:a16="http://schemas.microsoft.com/office/drawing/2014/main" val="2426797006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1991145301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2978980914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2296274480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975676106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1116194281"/>
                    </a:ext>
                  </a:extLst>
                </a:gridCol>
              </a:tblGrid>
              <a:tr h="228768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2212022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9138261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652794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0234374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416940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3724334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39ADE562-0E39-D80E-FDE8-E66393A03390}"/>
              </a:ext>
            </a:extLst>
          </p:cNvPr>
          <p:cNvSpPr txBox="1"/>
          <p:nvPr/>
        </p:nvSpPr>
        <p:spPr>
          <a:xfrm>
            <a:off x="1942332" y="36336"/>
            <a:ext cx="848339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Glider with Evolutionary Step Lineage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7874524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34408CB6-F8DA-2819-40C2-45FD6D205D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1880" y="1043628"/>
            <a:ext cx="5769573" cy="41540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8BB8015-F790-F752-FD42-D4B6F2878CFF}"/>
              </a:ext>
            </a:extLst>
          </p:cNvPr>
          <p:cNvSpPr txBox="1"/>
          <p:nvPr/>
        </p:nvSpPr>
        <p:spPr>
          <a:xfrm>
            <a:off x="2903150" y="5279201"/>
            <a:ext cx="625895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 Gosper's glider gun creating gliders</a:t>
            </a:r>
          </a:p>
          <a:p>
            <a:pPr algn="r"/>
            <a:endParaRPr lang="en-US" sz="1600" i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US" sz="1600" i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Wikipedia</a:t>
            </a:r>
            <a:endParaRPr lang="en-US" sz="2800" i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61267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8BB8015-F790-F752-FD42-D4B6F2878CFF}"/>
              </a:ext>
            </a:extLst>
          </p:cNvPr>
          <p:cNvSpPr txBox="1"/>
          <p:nvPr/>
        </p:nvSpPr>
        <p:spPr>
          <a:xfrm>
            <a:off x="2298068" y="377385"/>
            <a:ext cx="758076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Game of Life on the surface of a toroidal trefoil knot</a:t>
            </a:r>
            <a:br>
              <a:rPr lang="en-US" sz="2000" i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US" sz="1600" i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Wikipedia</a:t>
            </a:r>
            <a:endParaRPr lang="en-US" sz="3200" i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5122" name="Picture 2" descr="Game of Life on the surface of a trefoil knot">
            <a:extLst>
              <a:ext uri="{FF2B5EF4-FFF2-40B4-BE49-F238E27FC236}">
                <a16:creationId xmlns:a16="http://schemas.microsoft.com/office/drawing/2014/main" id="{C5755AF4-F99E-7903-694B-A19EAD207D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1137" y="1271329"/>
            <a:ext cx="5694630" cy="5045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36057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2CFDF-36BB-E543-1E37-9381DCC16964}"/>
              </a:ext>
            </a:extLst>
          </p:cNvPr>
          <p:cNvSpPr txBox="1">
            <a:spLocks/>
          </p:cNvSpPr>
          <p:nvPr/>
        </p:nvSpPr>
        <p:spPr>
          <a:xfrm>
            <a:off x="316871" y="106045"/>
            <a:ext cx="11597488" cy="808355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Life Differential : </a:t>
            </a:r>
            <a:r>
              <a:rPr lang="en-US" sz="5400" b="1" i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Conway v. Nature</a:t>
            </a:r>
          </a:p>
        </p:txBody>
      </p:sp>
      <p:graphicFrame>
        <p:nvGraphicFramePr>
          <p:cNvPr id="3" name="Content Placeholder 3">
            <a:extLst>
              <a:ext uri="{FF2B5EF4-FFF2-40B4-BE49-F238E27FC236}">
                <a16:creationId xmlns:a16="http://schemas.microsoft.com/office/drawing/2014/main" id="{26383BE7-F26D-0AD2-8225-3B8198ED790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19360400"/>
              </p:ext>
            </p:extLst>
          </p:nvPr>
        </p:nvGraphicFramePr>
        <p:xfrm>
          <a:off x="292489" y="936539"/>
          <a:ext cx="11621869" cy="5753429"/>
        </p:xfrm>
        <a:graphic>
          <a:graphicData uri="http://schemas.openxmlformats.org/drawingml/2006/table">
            <a:tbl>
              <a:tblPr firstRow="1" bandRow="1">
                <a:tableStyleId>{125E5076-3810-47DD-B79F-674D7AD40C01}</a:tableStyleId>
              </a:tblPr>
              <a:tblGrid>
                <a:gridCol w="2143115">
                  <a:extLst>
                    <a:ext uri="{9D8B030D-6E8A-4147-A177-3AD203B41FA5}">
                      <a16:colId xmlns:a16="http://schemas.microsoft.com/office/drawing/2014/main" val="116762248"/>
                    </a:ext>
                  </a:extLst>
                </a:gridCol>
                <a:gridCol w="4626069">
                  <a:extLst>
                    <a:ext uri="{9D8B030D-6E8A-4147-A177-3AD203B41FA5}">
                      <a16:colId xmlns:a16="http://schemas.microsoft.com/office/drawing/2014/main" val="1211009920"/>
                    </a:ext>
                  </a:extLst>
                </a:gridCol>
                <a:gridCol w="4852685">
                  <a:extLst>
                    <a:ext uri="{9D8B030D-6E8A-4147-A177-3AD203B41FA5}">
                      <a16:colId xmlns:a16="http://schemas.microsoft.com/office/drawing/2014/main" val="1871164787"/>
                    </a:ext>
                  </a:extLst>
                </a:gridCol>
              </a:tblGrid>
              <a:tr h="39678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Aspect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Conway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Nature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6145992"/>
                  </a:ext>
                </a:extLst>
              </a:tr>
              <a:tr h="396788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Spatial Domain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2D cellular grid of states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Continuous 3D Euclidean space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5001177"/>
                  </a:ext>
                </a:extLst>
              </a:tr>
              <a:tr h="396788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Temporal Domain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Forward moving discrete time steps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Forward moving continuous linear 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0278766"/>
                  </a:ext>
                </a:extLst>
              </a:tr>
              <a:tr h="991971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Origin story and initial conditions.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A meta player initiates the life by establishing an initial pattern to launch the game.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Point potentials are indestructible and have no origin or death rule. There are no known initial conditions of the universe.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5755239"/>
                  </a:ext>
                </a:extLst>
              </a:tr>
              <a:tr h="694379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Evolution and Emergence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Discrete evolution and emergence from stepwise evolution rules.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Continuous evolution and emergence from continuous evolution laws of action.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9791324"/>
                  </a:ext>
                </a:extLst>
              </a:tr>
              <a:tr h="1587153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Evolution Equation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Discrete state transition of entire grid based upon a ruleset about local (neighboring) population.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All point potentials maintain a relationship between each other and themselves.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Action depends on location (</a:t>
                      </a:r>
                      <a:r>
                        <a:rPr lang="en-US" sz="1800" dirty="0" err="1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x,y,z,t</a:t>
                      </a:r>
                      <a:r>
                        <a:rPr lang="en-US" sz="1800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) and velocity for both emitter and receiver.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Net action is determined by superposition.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438559"/>
                  </a:ext>
                </a:extLst>
              </a:tr>
              <a:tr h="1289562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Provenance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From a cell perspective there is birth, ongoing life, and death.</a:t>
                      </a:r>
                    </a:p>
                    <a:p>
                      <a:r>
                        <a:rPr lang="en-US" sz="1800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From an assembly perspective there can be ongoing ”life”.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Each point potential follows a continuous path through Euclidean time and space. 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The path history includes the path inside assemblies and through reactions.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03173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90716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A8AA5BC-4F7A-4226-8F99-6D824B226A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E5445C6-DD42-4979-86FF-03730E8C6D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734" y="321733"/>
            <a:ext cx="11573488" cy="6214534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127000" cap="sq" cmpd="thinThick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10B119-EC53-BA46-BAA3-CB758CDEDA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840037"/>
          </a:xfrm>
        </p:spPr>
        <p:txBody>
          <a:bodyPr>
            <a:normAutofit/>
          </a:bodyPr>
          <a:lstStyle/>
          <a:p>
            <a:r>
              <a:rPr lang="en-US" sz="5800" dirty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E6BC0E-0DB7-C346-A0CC-E3CB36C29A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56436"/>
            <a:ext cx="9144000" cy="1600818"/>
          </a:xfrm>
        </p:spPr>
        <p:txBody>
          <a:bodyPr>
            <a:normAutofit/>
          </a:bodyPr>
          <a:lstStyle/>
          <a:p>
            <a:r>
              <a:rPr lang="en-US" dirty="0"/>
              <a:t>Questions?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5000665-DFC7-417E-8FD7-516A0F15C9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4400" y="4109417"/>
            <a:ext cx="2743200" cy="0"/>
          </a:xfrm>
          <a:prstGeom prst="line">
            <a:avLst/>
          </a:prstGeom>
          <a:ln w="12700">
            <a:solidFill>
              <a:schemeClr val="tx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726E67-7B90-B642-8D26-6DDF890C4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159710"/>
            <a:ext cx="4114800" cy="365125"/>
          </a:xfr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J Mark Morris - Model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of Nature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78332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wrap="none">
        <a:spAutoFit/>
      </a:bodyPr>
      <a:lstStyle>
        <a:defPPr algn="l">
          <a:defRPr sz="2400" dirty="0" smtClean="0">
            <a:latin typeface="Helvetica Neue" panose="02000503000000020004" pitchFamily="2" charset="0"/>
            <a:ea typeface="Helvetica Neue" panose="02000503000000020004" pitchFamily="2" charset="0"/>
            <a:cs typeface="Helvetica Neue" panose="02000503000000020004" pitchFamily="2" charset="0"/>
          </a:defRPr>
        </a:defPPr>
      </a:lstStyle>
    </a:spDef>
    <a:txDef>
      <a:spPr>
        <a:noFill/>
      </a:spPr>
      <a:bodyPr wrap="none" rtlCol="0">
        <a:spAutoFit/>
      </a:bodyPr>
      <a:lstStyle>
        <a:defPPr algn="l">
          <a:defRPr dirty="0" smtClean="0">
            <a:latin typeface="Helvetica Neue" panose="02000503000000020004" pitchFamily="2" charset="0"/>
            <a:ea typeface="Helvetica Neue" panose="02000503000000020004" pitchFamily="2" charset="0"/>
            <a:cs typeface="Helvetica Neue" panose="02000503000000020004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21096</TotalTime>
  <Words>801</Words>
  <Application>Microsoft Macintosh PowerPoint</Application>
  <PresentationFormat>Widescreen</PresentationFormat>
  <Paragraphs>153</Paragraphs>
  <Slides>12</Slides>
  <Notes>11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Calibri</vt:lpstr>
      <vt:lpstr>Calibri Light</vt:lpstr>
      <vt:lpstr>Helvetica Neue</vt:lpstr>
      <vt:lpstr>Helvetica Neue Condensed Black</vt:lpstr>
      <vt:lpstr>Helvetica Neue UltraLight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Mark Morris</dc:creator>
  <cp:lastModifiedBy>Mark Morris</cp:lastModifiedBy>
  <cp:revision>361</cp:revision>
  <cp:lastPrinted>2022-09-07T12:10:19Z</cp:lastPrinted>
  <dcterms:created xsi:type="dcterms:W3CDTF">2022-02-05T18:41:13Z</dcterms:created>
  <dcterms:modified xsi:type="dcterms:W3CDTF">2024-10-14T17:50:58Z</dcterms:modified>
</cp:coreProperties>
</file>