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1.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5" r:id="rId1"/>
    <p:sldMasterId id="2147483667" r:id="rId2"/>
  </p:sldMasterIdLst>
  <p:notesMasterIdLst>
    <p:notesMasterId r:id="rId32"/>
  </p:notesMasterIdLst>
  <p:sldIdLst>
    <p:sldId id="807" r:id="rId3"/>
    <p:sldId id="842" r:id="rId4"/>
    <p:sldId id="698" r:id="rId5"/>
    <p:sldId id="837" r:id="rId6"/>
    <p:sldId id="743" r:id="rId7"/>
    <p:sldId id="785" r:id="rId8"/>
    <p:sldId id="841" r:id="rId9"/>
    <p:sldId id="765" r:id="rId10"/>
    <p:sldId id="808" r:id="rId11"/>
    <p:sldId id="838" r:id="rId12"/>
    <p:sldId id="777" r:id="rId13"/>
    <p:sldId id="814" r:id="rId14"/>
    <p:sldId id="817" r:id="rId15"/>
    <p:sldId id="839" r:id="rId16"/>
    <p:sldId id="840" r:id="rId17"/>
    <p:sldId id="843" r:id="rId18"/>
    <p:sldId id="844" r:id="rId19"/>
    <p:sldId id="845" r:id="rId20"/>
    <p:sldId id="846" r:id="rId21"/>
    <p:sldId id="850" r:id="rId22"/>
    <p:sldId id="857" r:id="rId23"/>
    <p:sldId id="851" r:id="rId24"/>
    <p:sldId id="847" r:id="rId25"/>
    <p:sldId id="848" r:id="rId26"/>
    <p:sldId id="624" r:id="rId27"/>
    <p:sldId id="610" r:id="rId28"/>
    <p:sldId id="613" r:id="rId29"/>
    <p:sldId id="806" r:id="rId30"/>
    <p:sldId id="858"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ark Morris" initials="MM" lastIdx="1" clrIdx="0">
    <p:extLst>
      <p:ext uri="{19B8F6BF-5375-455C-9EA6-DF929625EA0E}">
        <p15:presenceInfo xmlns:p15="http://schemas.microsoft.com/office/powerpoint/2012/main" userId="e0501bf2facbc5eb"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BFBFB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vertBarState="minimized" horzBarState="maximized">
    <p:restoredLeft sz="34371"/>
    <p:restoredTop sz="97379"/>
  </p:normalViewPr>
  <p:slideViewPr>
    <p:cSldViewPr snapToGrid="0" snapToObjects="1">
      <p:cViewPr varScale="1">
        <p:scale>
          <a:sx n="127" d="100"/>
          <a:sy n="127" d="100"/>
        </p:scale>
        <p:origin x="1528" y="192"/>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commentAuthors" Target="commentAuthor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viewProps" Target="viewProps.xml"/><Relationship Id="rId8" Type="http://schemas.openxmlformats.org/officeDocument/2006/relationships/slide" Target="slides/slide6.xml"/><Relationship Id="rId3"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7505754-C48E-DF4E-9B84-E7B6A3B19E2D}" type="datetimeFigureOut">
              <a:rPr lang="en-US" smtClean="0"/>
              <a:t>7/3/26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BB0362E-5C5C-984E-ABC7-C52ED959C05D}" type="slidenum">
              <a:rPr lang="en-US" smtClean="0"/>
              <a:t>‹#›</a:t>
            </a:fld>
            <a:endParaRPr lang="en-US"/>
          </a:p>
        </p:txBody>
      </p:sp>
    </p:spTree>
    <p:extLst>
      <p:ext uri="{BB962C8B-B14F-4D97-AF65-F5344CB8AC3E}">
        <p14:creationId xmlns:p14="http://schemas.microsoft.com/office/powerpoint/2010/main" val="7450992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C398A3-AF21-A342-B6A8-6929C36BB1B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8013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C398A3-AF21-A342-B6A8-6929C36BB1B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003837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8D4D731-5435-284A-9C82-866A0CCE75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584803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8D4D731-5435-284A-9C82-866A0CCE75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118772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C398A3-AF21-A342-B6A8-6929C36BB1B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98891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C398A3-AF21-A342-B6A8-6929C36BB1B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96250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C398A3-AF21-A342-B6A8-6929C36BB1B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430666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BB0362E-5C5C-984E-ABC7-C52ED959C05D}" type="slidenum">
              <a:rPr lang="en-US" smtClean="0"/>
              <a:t>12</a:t>
            </a:fld>
            <a:endParaRPr lang="en-US"/>
          </a:p>
        </p:txBody>
      </p:sp>
    </p:spTree>
    <p:extLst>
      <p:ext uri="{BB962C8B-B14F-4D97-AF65-F5344CB8AC3E}">
        <p14:creationId xmlns:p14="http://schemas.microsoft.com/office/powerpoint/2010/main" val="30943587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BB0362E-5C5C-984E-ABC7-C52ED959C05D}" type="slidenum">
              <a:rPr lang="en-US" smtClean="0"/>
              <a:t>21</a:t>
            </a:fld>
            <a:endParaRPr lang="en-US"/>
          </a:p>
        </p:txBody>
      </p:sp>
    </p:spTree>
    <p:extLst>
      <p:ext uri="{BB962C8B-B14F-4D97-AF65-F5344CB8AC3E}">
        <p14:creationId xmlns:p14="http://schemas.microsoft.com/office/powerpoint/2010/main" val="12605901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C398A3-AF21-A342-B6A8-6929C36BB1B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80136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B0362E-5C5C-984E-ABC7-C52ED959C05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833213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D6AC4F-7A0F-A943-A37C-CBCA0E32BFE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6A297DA-E85E-0C4F-99BF-0A156C60B78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9D6CA89-2D26-3A41-89B1-50126474275B}"/>
              </a:ext>
            </a:extLst>
          </p:cNvPr>
          <p:cNvSpPr>
            <a:spLocks noGrp="1"/>
          </p:cNvSpPr>
          <p:nvPr>
            <p:ph type="dt" sz="half" idx="10"/>
          </p:nvPr>
        </p:nvSpPr>
        <p:spPr/>
        <p:txBody>
          <a:bodyPr/>
          <a:lstStyle/>
          <a:p>
            <a:fld id="{E3E42ED2-DF18-DB41-BB39-D7AA7F2F2082}" type="datetimeFigureOut">
              <a:rPr lang="en-US" smtClean="0"/>
              <a:t>7/3/26</a:t>
            </a:fld>
            <a:endParaRPr lang="en-US"/>
          </a:p>
        </p:txBody>
      </p:sp>
      <p:sp>
        <p:nvSpPr>
          <p:cNvPr id="5" name="Footer Placeholder 4">
            <a:extLst>
              <a:ext uri="{FF2B5EF4-FFF2-40B4-BE49-F238E27FC236}">
                <a16:creationId xmlns:a16="http://schemas.microsoft.com/office/drawing/2014/main" id="{83BAD168-D168-924A-82CE-07F9D6F7CD2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1D38C6D-1145-FE40-A5F3-AA76BBFA8003}"/>
              </a:ext>
            </a:extLst>
          </p:cNvPr>
          <p:cNvSpPr>
            <a:spLocks noGrp="1"/>
          </p:cNvSpPr>
          <p:nvPr>
            <p:ph type="sldNum" sz="quarter" idx="12"/>
          </p:nvPr>
        </p:nvSpPr>
        <p:spPr/>
        <p:txBody>
          <a:bodyPr/>
          <a:lstStyle/>
          <a:p>
            <a:fld id="{B1D4A510-E3A4-8144-9597-B0C6EECC9215}" type="slidenum">
              <a:rPr lang="en-US" smtClean="0"/>
              <a:t>‹#›</a:t>
            </a:fld>
            <a:endParaRPr lang="en-US"/>
          </a:p>
        </p:txBody>
      </p:sp>
    </p:spTree>
    <p:extLst>
      <p:ext uri="{BB962C8B-B14F-4D97-AF65-F5344CB8AC3E}">
        <p14:creationId xmlns:p14="http://schemas.microsoft.com/office/powerpoint/2010/main" val="777614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104DC4-2DA1-B348-A4DF-75DC7F91C20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D0539A7-F958-5045-8004-AB9AE1A96DB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BD4E59F-8028-6640-B7CD-712A00A55C6E}"/>
              </a:ext>
            </a:extLst>
          </p:cNvPr>
          <p:cNvSpPr>
            <a:spLocks noGrp="1"/>
          </p:cNvSpPr>
          <p:nvPr>
            <p:ph type="dt" sz="half" idx="10"/>
          </p:nvPr>
        </p:nvSpPr>
        <p:spPr/>
        <p:txBody>
          <a:bodyPr/>
          <a:lstStyle/>
          <a:p>
            <a:fld id="{E3E42ED2-DF18-DB41-BB39-D7AA7F2F2082}" type="datetimeFigureOut">
              <a:rPr lang="en-US" smtClean="0"/>
              <a:t>7/3/26</a:t>
            </a:fld>
            <a:endParaRPr lang="en-US"/>
          </a:p>
        </p:txBody>
      </p:sp>
      <p:sp>
        <p:nvSpPr>
          <p:cNvPr id="5" name="Footer Placeholder 4">
            <a:extLst>
              <a:ext uri="{FF2B5EF4-FFF2-40B4-BE49-F238E27FC236}">
                <a16:creationId xmlns:a16="http://schemas.microsoft.com/office/drawing/2014/main" id="{2635207B-575E-EB46-9167-DC8B9A1A77D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0325824-8924-0F4E-BA06-D6714EF01903}"/>
              </a:ext>
            </a:extLst>
          </p:cNvPr>
          <p:cNvSpPr>
            <a:spLocks noGrp="1"/>
          </p:cNvSpPr>
          <p:nvPr>
            <p:ph type="sldNum" sz="quarter" idx="12"/>
          </p:nvPr>
        </p:nvSpPr>
        <p:spPr/>
        <p:txBody>
          <a:bodyPr/>
          <a:lstStyle/>
          <a:p>
            <a:fld id="{B1D4A510-E3A4-8144-9597-B0C6EECC9215}" type="slidenum">
              <a:rPr lang="en-US" smtClean="0"/>
              <a:t>‹#›</a:t>
            </a:fld>
            <a:endParaRPr lang="en-US"/>
          </a:p>
        </p:txBody>
      </p:sp>
    </p:spTree>
    <p:extLst>
      <p:ext uri="{BB962C8B-B14F-4D97-AF65-F5344CB8AC3E}">
        <p14:creationId xmlns:p14="http://schemas.microsoft.com/office/powerpoint/2010/main" val="18264834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AC153B-5FCE-B74A-A920-BCEF1F63DC1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3B97D35-0983-3A42-B252-8AD80D9BF1C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C21E38F-3C0D-E140-A6E9-29E4DFD584A3}"/>
              </a:ext>
            </a:extLst>
          </p:cNvPr>
          <p:cNvSpPr>
            <a:spLocks noGrp="1"/>
          </p:cNvSpPr>
          <p:nvPr>
            <p:ph type="dt" sz="half" idx="10"/>
          </p:nvPr>
        </p:nvSpPr>
        <p:spPr/>
        <p:txBody>
          <a:bodyPr/>
          <a:lstStyle/>
          <a:p>
            <a:fld id="{E3E42ED2-DF18-DB41-BB39-D7AA7F2F2082}" type="datetimeFigureOut">
              <a:rPr lang="en-US" smtClean="0"/>
              <a:t>7/3/26</a:t>
            </a:fld>
            <a:endParaRPr lang="en-US"/>
          </a:p>
        </p:txBody>
      </p:sp>
      <p:sp>
        <p:nvSpPr>
          <p:cNvPr id="5" name="Footer Placeholder 4">
            <a:extLst>
              <a:ext uri="{FF2B5EF4-FFF2-40B4-BE49-F238E27FC236}">
                <a16:creationId xmlns:a16="http://schemas.microsoft.com/office/drawing/2014/main" id="{C931BD2A-DB13-B24A-BBFC-927CE896132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AA7F839-BEAD-4046-84B9-B65359FFF199}"/>
              </a:ext>
            </a:extLst>
          </p:cNvPr>
          <p:cNvSpPr>
            <a:spLocks noGrp="1"/>
          </p:cNvSpPr>
          <p:nvPr>
            <p:ph type="sldNum" sz="quarter" idx="12"/>
          </p:nvPr>
        </p:nvSpPr>
        <p:spPr/>
        <p:txBody>
          <a:bodyPr/>
          <a:lstStyle/>
          <a:p>
            <a:fld id="{B1D4A510-E3A4-8144-9597-B0C6EECC9215}" type="slidenum">
              <a:rPr lang="en-US" smtClean="0"/>
              <a:t>‹#›</a:t>
            </a:fld>
            <a:endParaRPr lang="en-US"/>
          </a:p>
        </p:txBody>
      </p:sp>
    </p:spTree>
    <p:extLst>
      <p:ext uri="{BB962C8B-B14F-4D97-AF65-F5344CB8AC3E}">
        <p14:creationId xmlns:p14="http://schemas.microsoft.com/office/powerpoint/2010/main" val="23260498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6CC177-DB72-3842-8FEB-9F3714731AA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73F9017-D4AC-4443-9CD1-2655A6BD26A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D78D979-597B-B94B-BB54-1E681A7ECD3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6A3BD60-7139-A04D-9B93-01CBEFB009F1}"/>
              </a:ext>
            </a:extLst>
          </p:cNvPr>
          <p:cNvSpPr>
            <a:spLocks noGrp="1"/>
          </p:cNvSpPr>
          <p:nvPr>
            <p:ph type="dt" sz="half" idx="10"/>
          </p:nvPr>
        </p:nvSpPr>
        <p:spPr/>
        <p:txBody>
          <a:bodyPr/>
          <a:lstStyle/>
          <a:p>
            <a:fld id="{E3E42ED2-DF18-DB41-BB39-D7AA7F2F2082}" type="datetimeFigureOut">
              <a:rPr lang="en-US" smtClean="0"/>
              <a:t>7/3/26</a:t>
            </a:fld>
            <a:endParaRPr lang="en-US"/>
          </a:p>
        </p:txBody>
      </p:sp>
      <p:sp>
        <p:nvSpPr>
          <p:cNvPr id="6" name="Footer Placeholder 5">
            <a:extLst>
              <a:ext uri="{FF2B5EF4-FFF2-40B4-BE49-F238E27FC236}">
                <a16:creationId xmlns:a16="http://schemas.microsoft.com/office/drawing/2014/main" id="{17B9F3AA-F8ED-E14B-85E0-12F62683C4A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17C5392-4C49-3D4E-A960-85F3FF79B15C}"/>
              </a:ext>
            </a:extLst>
          </p:cNvPr>
          <p:cNvSpPr>
            <a:spLocks noGrp="1"/>
          </p:cNvSpPr>
          <p:nvPr>
            <p:ph type="sldNum" sz="quarter" idx="12"/>
          </p:nvPr>
        </p:nvSpPr>
        <p:spPr/>
        <p:txBody>
          <a:bodyPr/>
          <a:lstStyle/>
          <a:p>
            <a:fld id="{B1D4A510-E3A4-8144-9597-B0C6EECC9215}" type="slidenum">
              <a:rPr lang="en-US" smtClean="0"/>
              <a:t>‹#›</a:t>
            </a:fld>
            <a:endParaRPr lang="en-US"/>
          </a:p>
        </p:txBody>
      </p:sp>
    </p:spTree>
    <p:extLst>
      <p:ext uri="{BB962C8B-B14F-4D97-AF65-F5344CB8AC3E}">
        <p14:creationId xmlns:p14="http://schemas.microsoft.com/office/powerpoint/2010/main" val="38837382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6C7FD0-5120-0C4E-9ED8-2E64DC8B93E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1ECB33E-1A4C-E646-937B-3065B793BDD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8E4967C-4E8D-224B-B99B-5A8BFB4A646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2B943C8-A2E5-9D40-B765-79FA0F4A92E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F450570-0F93-F641-B441-AF42A2D4E41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71A5EAD-E92B-9048-B9C8-92222381FEFA}"/>
              </a:ext>
            </a:extLst>
          </p:cNvPr>
          <p:cNvSpPr>
            <a:spLocks noGrp="1"/>
          </p:cNvSpPr>
          <p:nvPr>
            <p:ph type="dt" sz="half" idx="10"/>
          </p:nvPr>
        </p:nvSpPr>
        <p:spPr/>
        <p:txBody>
          <a:bodyPr/>
          <a:lstStyle/>
          <a:p>
            <a:fld id="{E3E42ED2-DF18-DB41-BB39-D7AA7F2F2082}" type="datetimeFigureOut">
              <a:rPr lang="en-US" smtClean="0"/>
              <a:t>7/3/26</a:t>
            </a:fld>
            <a:endParaRPr lang="en-US"/>
          </a:p>
        </p:txBody>
      </p:sp>
      <p:sp>
        <p:nvSpPr>
          <p:cNvPr id="8" name="Footer Placeholder 7">
            <a:extLst>
              <a:ext uri="{FF2B5EF4-FFF2-40B4-BE49-F238E27FC236}">
                <a16:creationId xmlns:a16="http://schemas.microsoft.com/office/drawing/2014/main" id="{21BD3873-3B3E-ED46-AB43-A96EABCE285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0982CEE-B54E-EB49-A16C-7BD03BE41C56}"/>
              </a:ext>
            </a:extLst>
          </p:cNvPr>
          <p:cNvSpPr>
            <a:spLocks noGrp="1"/>
          </p:cNvSpPr>
          <p:nvPr>
            <p:ph type="sldNum" sz="quarter" idx="12"/>
          </p:nvPr>
        </p:nvSpPr>
        <p:spPr/>
        <p:txBody>
          <a:bodyPr/>
          <a:lstStyle/>
          <a:p>
            <a:fld id="{B1D4A510-E3A4-8144-9597-B0C6EECC9215}" type="slidenum">
              <a:rPr lang="en-US" smtClean="0"/>
              <a:t>‹#›</a:t>
            </a:fld>
            <a:endParaRPr lang="en-US"/>
          </a:p>
        </p:txBody>
      </p:sp>
    </p:spTree>
    <p:extLst>
      <p:ext uri="{BB962C8B-B14F-4D97-AF65-F5344CB8AC3E}">
        <p14:creationId xmlns:p14="http://schemas.microsoft.com/office/powerpoint/2010/main" val="7198619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A6FC62-6751-0643-9250-97D2B5E359B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E19D249-AD5C-E04F-9713-314E504E7AD0}"/>
              </a:ext>
            </a:extLst>
          </p:cNvPr>
          <p:cNvSpPr>
            <a:spLocks noGrp="1"/>
          </p:cNvSpPr>
          <p:nvPr>
            <p:ph type="dt" sz="half" idx="10"/>
          </p:nvPr>
        </p:nvSpPr>
        <p:spPr/>
        <p:txBody>
          <a:bodyPr/>
          <a:lstStyle/>
          <a:p>
            <a:fld id="{E3E42ED2-DF18-DB41-BB39-D7AA7F2F2082}" type="datetimeFigureOut">
              <a:rPr lang="en-US" smtClean="0"/>
              <a:t>7/3/26</a:t>
            </a:fld>
            <a:endParaRPr lang="en-US"/>
          </a:p>
        </p:txBody>
      </p:sp>
      <p:sp>
        <p:nvSpPr>
          <p:cNvPr id="4" name="Footer Placeholder 3">
            <a:extLst>
              <a:ext uri="{FF2B5EF4-FFF2-40B4-BE49-F238E27FC236}">
                <a16:creationId xmlns:a16="http://schemas.microsoft.com/office/drawing/2014/main" id="{69FAE547-A907-884B-BE81-EF89D3D64AD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B72ED8E-C4AB-F14B-8929-F9E030329E5E}"/>
              </a:ext>
            </a:extLst>
          </p:cNvPr>
          <p:cNvSpPr>
            <a:spLocks noGrp="1"/>
          </p:cNvSpPr>
          <p:nvPr>
            <p:ph type="sldNum" sz="quarter" idx="12"/>
          </p:nvPr>
        </p:nvSpPr>
        <p:spPr/>
        <p:txBody>
          <a:bodyPr/>
          <a:lstStyle/>
          <a:p>
            <a:fld id="{B1D4A510-E3A4-8144-9597-B0C6EECC9215}" type="slidenum">
              <a:rPr lang="en-US" smtClean="0"/>
              <a:t>‹#›</a:t>
            </a:fld>
            <a:endParaRPr lang="en-US"/>
          </a:p>
        </p:txBody>
      </p:sp>
    </p:spTree>
    <p:extLst>
      <p:ext uri="{BB962C8B-B14F-4D97-AF65-F5344CB8AC3E}">
        <p14:creationId xmlns:p14="http://schemas.microsoft.com/office/powerpoint/2010/main" val="33245387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574BB6F-7B9B-964D-886B-D85350A3C9D9}"/>
              </a:ext>
            </a:extLst>
          </p:cNvPr>
          <p:cNvSpPr>
            <a:spLocks noGrp="1"/>
          </p:cNvSpPr>
          <p:nvPr>
            <p:ph type="dt" sz="half" idx="10"/>
          </p:nvPr>
        </p:nvSpPr>
        <p:spPr/>
        <p:txBody>
          <a:bodyPr/>
          <a:lstStyle/>
          <a:p>
            <a:fld id="{E3E42ED2-DF18-DB41-BB39-D7AA7F2F2082}" type="datetimeFigureOut">
              <a:rPr lang="en-US" smtClean="0"/>
              <a:t>7/3/26</a:t>
            </a:fld>
            <a:endParaRPr lang="en-US"/>
          </a:p>
        </p:txBody>
      </p:sp>
      <p:sp>
        <p:nvSpPr>
          <p:cNvPr id="3" name="Footer Placeholder 2">
            <a:extLst>
              <a:ext uri="{FF2B5EF4-FFF2-40B4-BE49-F238E27FC236}">
                <a16:creationId xmlns:a16="http://schemas.microsoft.com/office/drawing/2014/main" id="{7B12AF3E-955F-E044-BADD-4B3F3346973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0694269-793F-EC42-A5AD-E4EDD73AAD10}"/>
              </a:ext>
            </a:extLst>
          </p:cNvPr>
          <p:cNvSpPr>
            <a:spLocks noGrp="1"/>
          </p:cNvSpPr>
          <p:nvPr>
            <p:ph type="sldNum" sz="quarter" idx="12"/>
          </p:nvPr>
        </p:nvSpPr>
        <p:spPr/>
        <p:txBody>
          <a:bodyPr/>
          <a:lstStyle/>
          <a:p>
            <a:fld id="{B1D4A510-E3A4-8144-9597-B0C6EECC9215}" type="slidenum">
              <a:rPr lang="en-US" smtClean="0"/>
              <a:t>‹#›</a:t>
            </a:fld>
            <a:endParaRPr lang="en-US"/>
          </a:p>
        </p:txBody>
      </p:sp>
    </p:spTree>
    <p:extLst>
      <p:ext uri="{BB962C8B-B14F-4D97-AF65-F5344CB8AC3E}">
        <p14:creationId xmlns:p14="http://schemas.microsoft.com/office/powerpoint/2010/main" val="23137035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2D5B24-7F29-EB4C-8550-397A4EF22BB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12BE189-5B1A-7048-AE10-17298DF6DCA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B40FD4A-1397-2F45-A4D7-06ABB587632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1F62886-2AD3-CD44-9D2F-203200117585}"/>
              </a:ext>
            </a:extLst>
          </p:cNvPr>
          <p:cNvSpPr>
            <a:spLocks noGrp="1"/>
          </p:cNvSpPr>
          <p:nvPr>
            <p:ph type="dt" sz="half" idx="10"/>
          </p:nvPr>
        </p:nvSpPr>
        <p:spPr/>
        <p:txBody>
          <a:bodyPr/>
          <a:lstStyle/>
          <a:p>
            <a:fld id="{E3E42ED2-DF18-DB41-BB39-D7AA7F2F2082}" type="datetimeFigureOut">
              <a:rPr lang="en-US" smtClean="0"/>
              <a:t>7/3/26</a:t>
            </a:fld>
            <a:endParaRPr lang="en-US"/>
          </a:p>
        </p:txBody>
      </p:sp>
      <p:sp>
        <p:nvSpPr>
          <p:cNvPr id="6" name="Footer Placeholder 5">
            <a:extLst>
              <a:ext uri="{FF2B5EF4-FFF2-40B4-BE49-F238E27FC236}">
                <a16:creationId xmlns:a16="http://schemas.microsoft.com/office/drawing/2014/main" id="{545F0679-BAA2-4A4A-A43D-4712441F014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9F063EA-2E55-AB41-AAC6-3B06B0A425BD}"/>
              </a:ext>
            </a:extLst>
          </p:cNvPr>
          <p:cNvSpPr>
            <a:spLocks noGrp="1"/>
          </p:cNvSpPr>
          <p:nvPr>
            <p:ph type="sldNum" sz="quarter" idx="12"/>
          </p:nvPr>
        </p:nvSpPr>
        <p:spPr/>
        <p:txBody>
          <a:bodyPr/>
          <a:lstStyle/>
          <a:p>
            <a:fld id="{B1D4A510-E3A4-8144-9597-B0C6EECC9215}" type="slidenum">
              <a:rPr lang="en-US" smtClean="0"/>
              <a:t>‹#›</a:t>
            </a:fld>
            <a:endParaRPr lang="en-US"/>
          </a:p>
        </p:txBody>
      </p:sp>
    </p:spTree>
    <p:extLst>
      <p:ext uri="{BB962C8B-B14F-4D97-AF65-F5344CB8AC3E}">
        <p14:creationId xmlns:p14="http://schemas.microsoft.com/office/powerpoint/2010/main" val="9951370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FBCBE6-8654-C64C-A30A-1F235AC1235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1F834EB-69C2-AA42-98DA-7B4340442C4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1F0A069-EA0A-1644-B57A-5EAE0C27D7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C095D40-9D00-D947-957C-66E69B00B713}"/>
              </a:ext>
            </a:extLst>
          </p:cNvPr>
          <p:cNvSpPr>
            <a:spLocks noGrp="1"/>
          </p:cNvSpPr>
          <p:nvPr>
            <p:ph type="dt" sz="half" idx="10"/>
          </p:nvPr>
        </p:nvSpPr>
        <p:spPr/>
        <p:txBody>
          <a:bodyPr/>
          <a:lstStyle/>
          <a:p>
            <a:fld id="{E3E42ED2-DF18-DB41-BB39-D7AA7F2F2082}" type="datetimeFigureOut">
              <a:rPr lang="en-US" smtClean="0"/>
              <a:t>7/3/26</a:t>
            </a:fld>
            <a:endParaRPr lang="en-US"/>
          </a:p>
        </p:txBody>
      </p:sp>
      <p:sp>
        <p:nvSpPr>
          <p:cNvPr id="6" name="Footer Placeholder 5">
            <a:extLst>
              <a:ext uri="{FF2B5EF4-FFF2-40B4-BE49-F238E27FC236}">
                <a16:creationId xmlns:a16="http://schemas.microsoft.com/office/drawing/2014/main" id="{5D6C0489-A2A3-BD45-A96A-DD5F4DAED30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5B4D875-A92C-C04E-8A5E-F2BC5682816A}"/>
              </a:ext>
            </a:extLst>
          </p:cNvPr>
          <p:cNvSpPr>
            <a:spLocks noGrp="1"/>
          </p:cNvSpPr>
          <p:nvPr>
            <p:ph type="sldNum" sz="quarter" idx="12"/>
          </p:nvPr>
        </p:nvSpPr>
        <p:spPr/>
        <p:txBody>
          <a:bodyPr/>
          <a:lstStyle/>
          <a:p>
            <a:fld id="{B1D4A510-E3A4-8144-9597-B0C6EECC9215}" type="slidenum">
              <a:rPr lang="en-US" smtClean="0"/>
              <a:t>‹#›</a:t>
            </a:fld>
            <a:endParaRPr lang="en-US"/>
          </a:p>
        </p:txBody>
      </p:sp>
    </p:spTree>
    <p:extLst>
      <p:ext uri="{BB962C8B-B14F-4D97-AF65-F5344CB8AC3E}">
        <p14:creationId xmlns:p14="http://schemas.microsoft.com/office/powerpoint/2010/main" val="23505618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09C65C-399B-6E41-B6BD-80F186188A5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2F25FAD-24BB-2D45-A8F1-E9A895511DF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6CE0D81-B122-544D-8ACE-546BF4911DB7}"/>
              </a:ext>
            </a:extLst>
          </p:cNvPr>
          <p:cNvSpPr>
            <a:spLocks noGrp="1"/>
          </p:cNvSpPr>
          <p:nvPr>
            <p:ph type="dt" sz="half" idx="10"/>
          </p:nvPr>
        </p:nvSpPr>
        <p:spPr/>
        <p:txBody>
          <a:bodyPr/>
          <a:lstStyle/>
          <a:p>
            <a:fld id="{E3E42ED2-DF18-DB41-BB39-D7AA7F2F2082}" type="datetimeFigureOut">
              <a:rPr lang="en-US" smtClean="0"/>
              <a:t>7/3/26</a:t>
            </a:fld>
            <a:endParaRPr lang="en-US"/>
          </a:p>
        </p:txBody>
      </p:sp>
      <p:sp>
        <p:nvSpPr>
          <p:cNvPr id="5" name="Footer Placeholder 4">
            <a:extLst>
              <a:ext uri="{FF2B5EF4-FFF2-40B4-BE49-F238E27FC236}">
                <a16:creationId xmlns:a16="http://schemas.microsoft.com/office/drawing/2014/main" id="{9374E702-5864-8141-AF11-25FF6E46C8B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8F83AE1-F5D3-DF4B-8CC4-896B37D8A188}"/>
              </a:ext>
            </a:extLst>
          </p:cNvPr>
          <p:cNvSpPr>
            <a:spLocks noGrp="1"/>
          </p:cNvSpPr>
          <p:nvPr>
            <p:ph type="sldNum" sz="quarter" idx="12"/>
          </p:nvPr>
        </p:nvSpPr>
        <p:spPr/>
        <p:txBody>
          <a:bodyPr/>
          <a:lstStyle/>
          <a:p>
            <a:fld id="{B1D4A510-E3A4-8144-9597-B0C6EECC9215}" type="slidenum">
              <a:rPr lang="en-US" smtClean="0"/>
              <a:t>‹#›</a:t>
            </a:fld>
            <a:endParaRPr lang="en-US"/>
          </a:p>
        </p:txBody>
      </p:sp>
    </p:spTree>
    <p:extLst>
      <p:ext uri="{BB962C8B-B14F-4D97-AF65-F5344CB8AC3E}">
        <p14:creationId xmlns:p14="http://schemas.microsoft.com/office/powerpoint/2010/main" val="20909279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E62BFE7-4426-2841-9026-40331CF4D86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EAFECEF-DF15-7A4D-BABF-0E2EA14CC5F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D24D43-6AD7-3A4D-9528-F70FC789D52D}"/>
              </a:ext>
            </a:extLst>
          </p:cNvPr>
          <p:cNvSpPr>
            <a:spLocks noGrp="1"/>
          </p:cNvSpPr>
          <p:nvPr>
            <p:ph type="dt" sz="half" idx="10"/>
          </p:nvPr>
        </p:nvSpPr>
        <p:spPr/>
        <p:txBody>
          <a:bodyPr/>
          <a:lstStyle/>
          <a:p>
            <a:fld id="{E3E42ED2-DF18-DB41-BB39-D7AA7F2F2082}" type="datetimeFigureOut">
              <a:rPr lang="en-US" smtClean="0"/>
              <a:t>7/3/26</a:t>
            </a:fld>
            <a:endParaRPr lang="en-US"/>
          </a:p>
        </p:txBody>
      </p:sp>
      <p:sp>
        <p:nvSpPr>
          <p:cNvPr id="5" name="Footer Placeholder 4">
            <a:extLst>
              <a:ext uri="{FF2B5EF4-FFF2-40B4-BE49-F238E27FC236}">
                <a16:creationId xmlns:a16="http://schemas.microsoft.com/office/drawing/2014/main" id="{80DD42A1-B626-9246-BFA2-70780398A2C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8E7DCD8-6D3F-824E-8311-38CE4EC55708}"/>
              </a:ext>
            </a:extLst>
          </p:cNvPr>
          <p:cNvSpPr>
            <a:spLocks noGrp="1"/>
          </p:cNvSpPr>
          <p:nvPr>
            <p:ph type="sldNum" sz="quarter" idx="12"/>
          </p:nvPr>
        </p:nvSpPr>
        <p:spPr/>
        <p:txBody>
          <a:bodyPr/>
          <a:lstStyle/>
          <a:p>
            <a:fld id="{B1D4A510-E3A4-8144-9597-B0C6EECC9215}" type="slidenum">
              <a:rPr lang="en-US" smtClean="0"/>
              <a:t>‹#›</a:t>
            </a:fld>
            <a:endParaRPr lang="en-US"/>
          </a:p>
        </p:txBody>
      </p:sp>
    </p:spTree>
    <p:extLst>
      <p:ext uri="{BB962C8B-B14F-4D97-AF65-F5344CB8AC3E}">
        <p14:creationId xmlns:p14="http://schemas.microsoft.com/office/powerpoint/2010/main" val="361350200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FC2668-EBEB-AE41-BF76-89062B014B13}"/>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C8C28A4C-0805-8E44-B54E-3B6F671F8D0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93B74C2-6265-7F41-BB8F-D8A0A0C89A63}"/>
              </a:ext>
            </a:extLst>
          </p:cNvPr>
          <p:cNvSpPr>
            <a:spLocks noGrp="1"/>
          </p:cNvSpPr>
          <p:nvPr>
            <p:ph type="dt" sz="half" idx="10"/>
          </p:nvPr>
        </p:nvSpPr>
        <p:spPr/>
        <p:txBody>
          <a:bodyPr/>
          <a:lstStyle/>
          <a:p>
            <a:fld id="{B1CFC895-F8E0-4049-8BEE-E5499394E46C}" type="datetime1">
              <a:rPr lang="en-US" smtClean="0"/>
              <a:t>7/3/26</a:t>
            </a:fld>
            <a:endParaRPr lang="en-US"/>
          </a:p>
        </p:txBody>
      </p:sp>
      <p:sp>
        <p:nvSpPr>
          <p:cNvPr id="5" name="Footer Placeholder 4">
            <a:extLst>
              <a:ext uri="{FF2B5EF4-FFF2-40B4-BE49-F238E27FC236}">
                <a16:creationId xmlns:a16="http://schemas.microsoft.com/office/drawing/2014/main" id="{74C53590-4180-6C42-A6BF-707655C15A1D}"/>
              </a:ext>
            </a:extLst>
          </p:cNvPr>
          <p:cNvSpPr>
            <a:spLocks noGrp="1"/>
          </p:cNvSpPr>
          <p:nvPr>
            <p:ph type="ftr" sz="quarter" idx="11"/>
          </p:nvPr>
        </p:nvSpPr>
        <p:spPr/>
        <p:txBody>
          <a:bodyPr/>
          <a:lstStyle>
            <a:lvl1pPr>
              <a:defRPr/>
            </a:lvl1pPr>
          </a:lstStyle>
          <a:p>
            <a:r>
              <a:rPr lang="en-US"/>
              <a:t>J Mark Morris - Model of Nature - April 2019</a:t>
            </a:r>
          </a:p>
        </p:txBody>
      </p:sp>
      <p:sp>
        <p:nvSpPr>
          <p:cNvPr id="6" name="Slide Number Placeholder 5">
            <a:extLst>
              <a:ext uri="{FF2B5EF4-FFF2-40B4-BE49-F238E27FC236}">
                <a16:creationId xmlns:a16="http://schemas.microsoft.com/office/drawing/2014/main" id="{93A81401-8545-2D4E-A7FB-31AFC7A8DB71}"/>
              </a:ext>
            </a:extLst>
          </p:cNvPr>
          <p:cNvSpPr>
            <a:spLocks noGrp="1"/>
          </p:cNvSpPr>
          <p:nvPr>
            <p:ph type="sldNum" sz="quarter" idx="12"/>
          </p:nvPr>
        </p:nvSpPr>
        <p:spPr/>
        <p:txBody>
          <a:bodyPr/>
          <a:lstStyle/>
          <a:p>
            <a:fld id="{D73D4D4B-2FF7-BE46-958C-B004BD45EF6F}" type="slidenum">
              <a:rPr lang="en-US" smtClean="0"/>
              <a:t>‹#›</a:t>
            </a:fld>
            <a:endParaRPr lang="en-US"/>
          </a:p>
        </p:txBody>
      </p:sp>
    </p:spTree>
    <p:extLst>
      <p:ext uri="{BB962C8B-B14F-4D97-AF65-F5344CB8AC3E}">
        <p14:creationId xmlns:p14="http://schemas.microsoft.com/office/powerpoint/2010/main" val="350965664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F560F9-C770-5C4C-9C93-102EC332DBA4}"/>
              </a:ext>
            </a:extLst>
          </p:cNvPr>
          <p:cNvSpPr>
            <a:spLocks noGrp="1"/>
          </p:cNvSpPr>
          <p:nvPr>
            <p:ph type="title"/>
          </p:nvPr>
        </p:nvSpPr>
        <p:spPr>
          <a:xfrm>
            <a:off x="838200" y="365125"/>
            <a:ext cx="10515600" cy="777875"/>
          </a:xfr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80D38EDA-56F1-1C40-B81E-28B921C4E99F}"/>
              </a:ext>
            </a:extLst>
          </p:cNvPr>
          <p:cNvSpPr>
            <a:spLocks noGrp="1"/>
          </p:cNvSpPr>
          <p:nvPr>
            <p:ph idx="1"/>
          </p:nvPr>
        </p:nvSpPr>
        <p:spPr>
          <a:xfrm>
            <a:off x="838200" y="1295400"/>
            <a:ext cx="10515600" cy="4881563"/>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AD42772-5D80-F641-A1BB-6048573C4E88}"/>
              </a:ext>
            </a:extLst>
          </p:cNvPr>
          <p:cNvSpPr>
            <a:spLocks noGrp="1"/>
          </p:cNvSpPr>
          <p:nvPr>
            <p:ph type="dt" sz="half" idx="10"/>
          </p:nvPr>
        </p:nvSpPr>
        <p:spPr/>
        <p:txBody>
          <a:bodyPr/>
          <a:lstStyle/>
          <a:p>
            <a:fld id="{A91F55E2-A889-F24B-B1FE-1E878178F308}" type="datetime1">
              <a:rPr lang="en-US" smtClean="0"/>
              <a:t>7/3/26</a:t>
            </a:fld>
            <a:endParaRPr lang="en-US"/>
          </a:p>
        </p:txBody>
      </p:sp>
      <p:sp>
        <p:nvSpPr>
          <p:cNvPr id="5" name="Footer Placeholder 4">
            <a:extLst>
              <a:ext uri="{FF2B5EF4-FFF2-40B4-BE49-F238E27FC236}">
                <a16:creationId xmlns:a16="http://schemas.microsoft.com/office/drawing/2014/main" id="{C68FC4AF-90CF-484C-B6C7-5CE1A016FB49}"/>
              </a:ext>
            </a:extLst>
          </p:cNvPr>
          <p:cNvSpPr>
            <a:spLocks noGrp="1"/>
          </p:cNvSpPr>
          <p:nvPr>
            <p:ph type="ftr" sz="quarter" idx="11"/>
          </p:nvPr>
        </p:nvSpPr>
        <p:spPr/>
        <p:txBody>
          <a:bodyPr/>
          <a:lstStyle/>
          <a:p>
            <a:r>
              <a:rPr lang="en-US"/>
              <a:t>J Mark Morris - Model of Nature - April 2019</a:t>
            </a:r>
          </a:p>
        </p:txBody>
      </p:sp>
      <p:sp>
        <p:nvSpPr>
          <p:cNvPr id="6" name="Slide Number Placeholder 5">
            <a:extLst>
              <a:ext uri="{FF2B5EF4-FFF2-40B4-BE49-F238E27FC236}">
                <a16:creationId xmlns:a16="http://schemas.microsoft.com/office/drawing/2014/main" id="{8169AF1E-33D8-3041-A601-1384C718A8B5}"/>
              </a:ext>
            </a:extLst>
          </p:cNvPr>
          <p:cNvSpPr>
            <a:spLocks noGrp="1"/>
          </p:cNvSpPr>
          <p:nvPr>
            <p:ph type="sldNum" sz="quarter" idx="12"/>
          </p:nvPr>
        </p:nvSpPr>
        <p:spPr/>
        <p:txBody>
          <a:bodyPr/>
          <a:lstStyle/>
          <a:p>
            <a:fld id="{D73D4D4B-2FF7-BE46-958C-B004BD45EF6F}" type="slidenum">
              <a:rPr lang="en-US" smtClean="0"/>
              <a:t>‹#›</a:t>
            </a:fld>
            <a:endParaRPr lang="en-US"/>
          </a:p>
        </p:txBody>
      </p:sp>
    </p:spTree>
    <p:extLst>
      <p:ext uri="{BB962C8B-B14F-4D97-AF65-F5344CB8AC3E}">
        <p14:creationId xmlns:p14="http://schemas.microsoft.com/office/powerpoint/2010/main" val="408390149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21822D-6D7A-1342-98EF-890C6F2DA174}"/>
              </a:ext>
            </a:extLst>
          </p:cNvPr>
          <p:cNvSpPr>
            <a:spLocks noGrp="1"/>
          </p:cNvSpPr>
          <p:nvPr>
            <p:ph type="title"/>
          </p:nvPr>
        </p:nvSpPr>
        <p:spPr>
          <a:xfrm>
            <a:off x="838200" y="365125"/>
            <a:ext cx="10515600" cy="777875"/>
          </a:xfrm>
        </p:spPr>
        <p:txBody>
          <a:bodyPr/>
          <a:lstStyle/>
          <a:p>
            <a:r>
              <a:rPr lang="en-US"/>
              <a:t>Click to edit Master title style</a:t>
            </a:r>
          </a:p>
        </p:txBody>
      </p:sp>
      <p:sp>
        <p:nvSpPr>
          <p:cNvPr id="3" name="Date Placeholder 2">
            <a:extLst>
              <a:ext uri="{FF2B5EF4-FFF2-40B4-BE49-F238E27FC236}">
                <a16:creationId xmlns:a16="http://schemas.microsoft.com/office/drawing/2014/main" id="{74CF19EA-9170-5B4B-814F-7425C8E22823}"/>
              </a:ext>
            </a:extLst>
          </p:cNvPr>
          <p:cNvSpPr>
            <a:spLocks noGrp="1"/>
          </p:cNvSpPr>
          <p:nvPr>
            <p:ph type="dt" sz="half" idx="10"/>
          </p:nvPr>
        </p:nvSpPr>
        <p:spPr/>
        <p:txBody>
          <a:bodyPr/>
          <a:lstStyle/>
          <a:p>
            <a:fld id="{C6E8461C-3391-334C-9885-001B32D724C4}" type="datetime1">
              <a:rPr lang="en-US" smtClean="0"/>
              <a:t>7/3/26</a:t>
            </a:fld>
            <a:endParaRPr lang="en-US"/>
          </a:p>
        </p:txBody>
      </p:sp>
      <p:sp>
        <p:nvSpPr>
          <p:cNvPr id="4" name="Footer Placeholder 3">
            <a:extLst>
              <a:ext uri="{FF2B5EF4-FFF2-40B4-BE49-F238E27FC236}">
                <a16:creationId xmlns:a16="http://schemas.microsoft.com/office/drawing/2014/main" id="{5882B1FB-ECDF-AD43-9020-0267ED91C04E}"/>
              </a:ext>
            </a:extLst>
          </p:cNvPr>
          <p:cNvSpPr>
            <a:spLocks noGrp="1"/>
          </p:cNvSpPr>
          <p:nvPr>
            <p:ph type="ftr" sz="quarter" idx="11"/>
          </p:nvPr>
        </p:nvSpPr>
        <p:spPr/>
        <p:txBody>
          <a:bodyPr/>
          <a:lstStyle>
            <a:lvl1pPr>
              <a:defRPr/>
            </a:lvl1pPr>
          </a:lstStyle>
          <a:p>
            <a:r>
              <a:rPr lang="en-US"/>
              <a:t>J Mark Morris - Model of Nature - April 2019</a:t>
            </a:r>
          </a:p>
        </p:txBody>
      </p:sp>
      <p:sp>
        <p:nvSpPr>
          <p:cNvPr id="5" name="Slide Number Placeholder 4">
            <a:extLst>
              <a:ext uri="{FF2B5EF4-FFF2-40B4-BE49-F238E27FC236}">
                <a16:creationId xmlns:a16="http://schemas.microsoft.com/office/drawing/2014/main" id="{D949C470-5AF0-5246-81E7-95EAEE5639EF}"/>
              </a:ext>
            </a:extLst>
          </p:cNvPr>
          <p:cNvSpPr>
            <a:spLocks noGrp="1"/>
          </p:cNvSpPr>
          <p:nvPr>
            <p:ph type="sldNum" sz="quarter" idx="12"/>
          </p:nvPr>
        </p:nvSpPr>
        <p:spPr/>
        <p:txBody>
          <a:bodyPr/>
          <a:lstStyle/>
          <a:p>
            <a:fld id="{D73D4D4B-2FF7-BE46-958C-B004BD45EF6F}" type="slidenum">
              <a:rPr lang="en-US" smtClean="0"/>
              <a:t>‹#›</a:t>
            </a:fld>
            <a:endParaRPr lang="en-US"/>
          </a:p>
        </p:txBody>
      </p:sp>
    </p:spTree>
    <p:extLst>
      <p:ext uri="{BB962C8B-B14F-4D97-AF65-F5344CB8AC3E}">
        <p14:creationId xmlns:p14="http://schemas.microsoft.com/office/powerpoint/2010/main" val="26351307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7D8D635-033D-CA45-AECF-FEC145E57AD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B899257-A465-2C4D-9918-BC8C54895EF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94DCD3B-E2F2-854E-BB00-D5B0BB2A985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3E42ED2-DF18-DB41-BB39-D7AA7F2F2082}" type="datetimeFigureOut">
              <a:rPr lang="en-US" smtClean="0"/>
              <a:t>7/3/26</a:t>
            </a:fld>
            <a:endParaRPr lang="en-US"/>
          </a:p>
        </p:txBody>
      </p:sp>
      <p:sp>
        <p:nvSpPr>
          <p:cNvPr id="5" name="Footer Placeholder 4">
            <a:extLst>
              <a:ext uri="{FF2B5EF4-FFF2-40B4-BE49-F238E27FC236}">
                <a16:creationId xmlns:a16="http://schemas.microsoft.com/office/drawing/2014/main" id="{EFE405ED-7212-D349-B4CE-23AE6F2BE73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1D46886-3E69-B540-9366-21DA707D68E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1D4A510-E3A4-8144-9597-B0C6EECC9215}" type="slidenum">
              <a:rPr lang="en-US" smtClean="0"/>
              <a:t>‹#›</a:t>
            </a:fld>
            <a:endParaRPr lang="en-US"/>
          </a:p>
        </p:txBody>
      </p:sp>
    </p:spTree>
    <p:extLst>
      <p:ext uri="{BB962C8B-B14F-4D97-AF65-F5344CB8AC3E}">
        <p14:creationId xmlns:p14="http://schemas.microsoft.com/office/powerpoint/2010/main" val="2475318414"/>
      </p:ext>
    </p:extLst>
  </p:cSld>
  <p:clrMap bg1="lt1" tx1="dk1" bg2="lt2" tx2="dk2" accent1="accent1" accent2="accent2" accent3="accent3" accent4="accent4" accent5="accent5" accent6="accent6" hlink="hlink" folHlink="folHlink"/>
  <p:sldLayoutIdLst>
    <p:sldLayoutId id="2147483656" r:id="rId1"/>
    <p:sldLayoutId id="2147483657" r:id="rId2"/>
    <p:sldLayoutId id="2147483658" r:id="rId3"/>
    <p:sldLayoutId id="2147483659" r:id="rId4"/>
    <p:sldLayoutId id="2147483660" r:id="rId5"/>
    <p:sldLayoutId id="2147483661" r:id="rId6"/>
    <p:sldLayoutId id="2147483662" r:id="rId7"/>
    <p:sldLayoutId id="2147483663" r:id="rId8"/>
    <p:sldLayoutId id="2147483664" r:id="rId9"/>
    <p:sldLayoutId id="2147483665" r:id="rId10"/>
    <p:sldLayoutId id="2147483666"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C79A1DB-155B-0846-9CED-8B75F56E0E5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FD69736F-08D5-7643-A656-ABAEB9457A7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0433D04-66F5-D74B-8EEA-459FDC00D1E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Helvetica Neue" panose="02000503000000020004" pitchFamily="2" charset="0"/>
                <a:ea typeface="Helvetica Neue" panose="02000503000000020004" pitchFamily="2" charset="0"/>
                <a:cs typeface="Helvetica Neue" panose="02000503000000020004" pitchFamily="2" charset="0"/>
              </a:defRPr>
            </a:lvl1pPr>
          </a:lstStyle>
          <a:p>
            <a:fld id="{2005EE61-3907-C44D-8624-D47E09E871DB}" type="datetime1">
              <a:rPr lang="en-US" smtClean="0"/>
              <a:t>7/3/26</a:t>
            </a:fld>
            <a:endParaRPr lang="en-US"/>
          </a:p>
        </p:txBody>
      </p:sp>
      <p:sp>
        <p:nvSpPr>
          <p:cNvPr id="5" name="Footer Placeholder 4">
            <a:extLst>
              <a:ext uri="{FF2B5EF4-FFF2-40B4-BE49-F238E27FC236}">
                <a16:creationId xmlns:a16="http://schemas.microsoft.com/office/drawing/2014/main" id="{9FDE6E67-6F97-E149-8437-635D11E7ED4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Helvetica Neue" panose="02000503000000020004" pitchFamily="2" charset="0"/>
                <a:ea typeface="Helvetica Neue" panose="02000503000000020004" pitchFamily="2" charset="0"/>
                <a:cs typeface="Helvetica Neue" panose="02000503000000020004" pitchFamily="2" charset="0"/>
              </a:defRPr>
            </a:lvl1pPr>
          </a:lstStyle>
          <a:p>
            <a:r>
              <a:rPr lang="en-US"/>
              <a:t>J Mark Morris - Model of Nature - April 2019</a:t>
            </a:r>
          </a:p>
        </p:txBody>
      </p:sp>
      <p:sp>
        <p:nvSpPr>
          <p:cNvPr id="6" name="Slide Number Placeholder 5">
            <a:extLst>
              <a:ext uri="{FF2B5EF4-FFF2-40B4-BE49-F238E27FC236}">
                <a16:creationId xmlns:a16="http://schemas.microsoft.com/office/drawing/2014/main" id="{D585CC1E-0AB1-F34A-83C6-0956BF9B4AF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Helvetica Neue" panose="02000503000000020004" pitchFamily="2" charset="0"/>
                <a:ea typeface="Helvetica Neue" panose="02000503000000020004" pitchFamily="2" charset="0"/>
                <a:cs typeface="Helvetica Neue" panose="02000503000000020004" pitchFamily="2" charset="0"/>
              </a:defRPr>
            </a:lvl1pPr>
          </a:lstStyle>
          <a:p>
            <a:fld id="{D73D4D4B-2FF7-BE46-958C-B004BD45EF6F}" type="slidenum">
              <a:rPr lang="en-US" smtClean="0"/>
              <a:pPr/>
              <a:t>‹#›</a:t>
            </a:fld>
            <a:endParaRPr lang="en-US"/>
          </a:p>
        </p:txBody>
      </p:sp>
    </p:spTree>
    <p:extLst>
      <p:ext uri="{BB962C8B-B14F-4D97-AF65-F5344CB8AC3E}">
        <p14:creationId xmlns:p14="http://schemas.microsoft.com/office/powerpoint/2010/main" val="2050205452"/>
      </p:ext>
    </p:extLst>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Lst>
  <p:hf sldNum="0" hdr="0" dt="0"/>
  <p:txStyles>
    <p:titleStyle>
      <a:lvl1pPr algn="l" defTabSz="914400" rtl="0" eaLnBrk="1" latinLnBrk="0" hangingPunct="1">
        <a:lnSpc>
          <a:spcPct val="90000"/>
        </a:lnSpc>
        <a:spcBef>
          <a:spcPct val="0"/>
        </a:spcBef>
        <a:buNone/>
        <a:defRPr sz="4400" kern="120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6.xml"/><Relationship Id="rId1" Type="http://schemas.openxmlformats.org/officeDocument/2006/relationships/tags" Target="../tags/tag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3" Type="http://schemas.openxmlformats.org/officeDocument/2006/relationships/image" Target="../media/image7.tiff"/><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D77ACA5-3691-8FEB-0266-8D47BBCCF4C6}"/>
              </a:ext>
            </a:extLst>
          </p:cNvPr>
          <p:cNvSpPr txBox="1"/>
          <p:nvPr/>
        </p:nvSpPr>
        <p:spPr>
          <a:xfrm>
            <a:off x="0" y="186247"/>
            <a:ext cx="12191999" cy="156966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600" b="1" i="0" u="none" strike="noStrike" kern="1200" cap="none" spc="0" normalizeH="0" baseline="0" noProof="0" dirty="0">
                <a:ln>
                  <a:noFill/>
                </a:ln>
                <a:solidFill>
                  <a:srgbClr val="FFC000"/>
                </a:solidFill>
                <a:effectLst/>
                <a:uLnTx/>
                <a:uFillTx/>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t>Noether Cores</a:t>
            </a:r>
          </a:p>
        </p:txBody>
      </p:sp>
    </p:spTree>
    <p:extLst>
      <p:ext uri="{BB962C8B-B14F-4D97-AF65-F5344CB8AC3E}">
        <p14:creationId xmlns:p14="http://schemas.microsoft.com/office/powerpoint/2010/main" val="234893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p:cNvGrpSpPr/>
        <p:nvPr/>
      </p:nvGrpSpPr>
      <p:grpSpPr>
        <a:xfrm>
          <a:off x="0" y="0"/>
          <a:ext cx="0" cy="0"/>
          <a:chOff x="0" y="0"/>
          <a:chExt cx="0" cy="0"/>
        </a:xfrm>
      </p:grpSpPr>
      <p:sp>
        <p:nvSpPr>
          <p:cNvPr id="112" name="Rectangle 111">
            <a:extLst>
              <a:ext uri="{FF2B5EF4-FFF2-40B4-BE49-F238E27FC236}">
                <a16:creationId xmlns:a16="http://schemas.microsoft.com/office/drawing/2014/main" id="{4D9217BE-F0DF-0043-9A68-69C8B7088BF0}"/>
              </a:ext>
            </a:extLst>
          </p:cNvPr>
          <p:cNvSpPr/>
          <p:nvPr/>
        </p:nvSpPr>
        <p:spPr>
          <a:xfrm>
            <a:off x="0" y="136937"/>
            <a:ext cx="12192000" cy="584775"/>
          </a:xfrm>
          <a:prstGeom prst="rect">
            <a:avLst/>
          </a:prstGeom>
          <a:solidFill>
            <a:srgbClr val="7030A0"/>
          </a:solidFill>
          <a:ln>
            <a:noFill/>
          </a:ln>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3200" b="1" dirty="0">
                <a:solidFill>
                  <a:prstClr val="white"/>
                </a:solidFill>
                <a:latin typeface="Helvetica Neue" panose="02000503000000020004" pitchFamily="2" charset="0"/>
                <a:ea typeface="Helvetica Neue" panose="02000503000000020004" pitchFamily="2" charset="0"/>
                <a:cs typeface="Helvetica Neue" panose="02000503000000020004" pitchFamily="2" charset="0"/>
              </a:rPr>
              <a:t>Binary Capture</a:t>
            </a:r>
            <a:endParaRPr kumimoji="0" lang="en-US" sz="32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177" name="TextBox 176">
            <a:extLst>
              <a:ext uri="{FF2B5EF4-FFF2-40B4-BE49-F238E27FC236}">
                <a16:creationId xmlns:a16="http://schemas.microsoft.com/office/drawing/2014/main" id="{CF706161-146F-363E-C3E1-CC4034884EA9}"/>
              </a:ext>
            </a:extLst>
          </p:cNvPr>
          <p:cNvSpPr txBox="1"/>
          <p:nvPr/>
        </p:nvSpPr>
        <p:spPr>
          <a:xfrm>
            <a:off x="126453" y="670082"/>
            <a:ext cx="12065547" cy="1477328"/>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b="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Let’s say a binary axis can not be transited by the orbital of a captured binary.</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prstClr val="white"/>
                </a:solidFill>
                <a:latin typeface="Helvetica Neue" panose="02000503000000020004" pitchFamily="2" charset="0"/>
                <a:ea typeface="Helvetica Neue" panose="02000503000000020004" pitchFamily="2" charset="0"/>
                <a:cs typeface="Helvetica Neue" panose="02000503000000020004" pitchFamily="2" charset="0"/>
              </a:rPr>
              <a:t>At high energy, binaries can capture each other, i.e., each of their orbital axis pierce the orbit of the other.</a:t>
            </a:r>
            <a:endParaRPr kumimoji="0" lang="en-US" b="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b="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When di-binaries form, there may be certain environments where they are semi stable assemblies.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b="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Tri binary assemblies are very stable. They are the nucleus of all standard model particles including spacetime.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b="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When outer binaries decay, the resulting di-binary and binary assemblies are not stable and are highly reactive. </a:t>
            </a:r>
          </a:p>
        </p:txBody>
      </p:sp>
      <p:cxnSp>
        <p:nvCxnSpPr>
          <p:cNvPr id="92" name="Straight Connector 91">
            <a:extLst>
              <a:ext uri="{FF2B5EF4-FFF2-40B4-BE49-F238E27FC236}">
                <a16:creationId xmlns:a16="http://schemas.microsoft.com/office/drawing/2014/main" id="{3FE0242A-08DF-980D-F565-9BC7D4C8BC4E}"/>
              </a:ext>
            </a:extLst>
          </p:cNvPr>
          <p:cNvCxnSpPr>
            <a:cxnSpLocks/>
          </p:cNvCxnSpPr>
          <p:nvPr/>
        </p:nvCxnSpPr>
        <p:spPr>
          <a:xfrm>
            <a:off x="6017396" y="2266925"/>
            <a:ext cx="0" cy="891142"/>
          </a:xfrm>
          <a:prstGeom prst="line">
            <a:avLst/>
          </a:prstGeom>
          <a:ln>
            <a:solidFill>
              <a:schemeClr val="bg1"/>
            </a:solidFill>
            <a:prstDash val="dashDot"/>
          </a:ln>
        </p:spPr>
        <p:style>
          <a:lnRef idx="1">
            <a:schemeClr val="accent1"/>
          </a:lnRef>
          <a:fillRef idx="0">
            <a:schemeClr val="accent1"/>
          </a:fillRef>
          <a:effectRef idx="0">
            <a:schemeClr val="accent1"/>
          </a:effectRef>
          <a:fontRef idx="minor">
            <a:schemeClr val="tx1"/>
          </a:fontRef>
        </p:style>
      </p:cxnSp>
      <p:sp>
        <p:nvSpPr>
          <p:cNvPr id="194" name="Oval 193">
            <a:extLst>
              <a:ext uri="{FF2B5EF4-FFF2-40B4-BE49-F238E27FC236}">
                <a16:creationId xmlns:a16="http://schemas.microsoft.com/office/drawing/2014/main" id="{E6B7701F-38F5-E709-397C-98DBAA043E08}"/>
              </a:ext>
            </a:extLst>
          </p:cNvPr>
          <p:cNvSpPr>
            <a:spLocks noChangeAspect="1"/>
          </p:cNvSpPr>
          <p:nvPr/>
        </p:nvSpPr>
        <p:spPr>
          <a:xfrm flipH="1">
            <a:off x="5940357" y="2108052"/>
            <a:ext cx="154079" cy="154079"/>
          </a:xfrm>
          <a:prstGeom prst="ellipse">
            <a:avLst/>
          </a:prstGeom>
          <a:solidFill>
            <a:schemeClr val="bg1"/>
          </a:solidFill>
          <a:ln>
            <a:noFill/>
          </a:ln>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205" name="Oval 204">
            <a:extLst>
              <a:ext uri="{FF2B5EF4-FFF2-40B4-BE49-F238E27FC236}">
                <a16:creationId xmlns:a16="http://schemas.microsoft.com/office/drawing/2014/main" id="{81219D62-4289-176F-8E08-04F806AB525F}"/>
              </a:ext>
            </a:extLst>
          </p:cNvPr>
          <p:cNvSpPr>
            <a:spLocks noChangeAspect="1"/>
          </p:cNvSpPr>
          <p:nvPr/>
        </p:nvSpPr>
        <p:spPr>
          <a:xfrm flipH="1">
            <a:off x="5940357" y="6553663"/>
            <a:ext cx="154079" cy="154079"/>
          </a:xfrm>
          <a:prstGeom prst="ellipse">
            <a:avLst/>
          </a:prstGeom>
          <a:solidFill>
            <a:schemeClr val="bg1"/>
          </a:solidFill>
          <a:ln>
            <a:noFill/>
          </a:ln>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cxnSp>
        <p:nvCxnSpPr>
          <p:cNvPr id="49" name="Straight Connector 48">
            <a:extLst>
              <a:ext uri="{FF2B5EF4-FFF2-40B4-BE49-F238E27FC236}">
                <a16:creationId xmlns:a16="http://schemas.microsoft.com/office/drawing/2014/main" id="{4E2B42AA-FE86-6B0D-8686-E619B2563ABB}"/>
              </a:ext>
            </a:extLst>
          </p:cNvPr>
          <p:cNvCxnSpPr>
            <a:cxnSpLocks/>
          </p:cNvCxnSpPr>
          <p:nvPr/>
        </p:nvCxnSpPr>
        <p:spPr>
          <a:xfrm>
            <a:off x="6017396" y="5748867"/>
            <a:ext cx="0" cy="804796"/>
          </a:xfrm>
          <a:prstGeom prst="line">
            <a:avLst/>
          </a:prstGeom>
          <a:ln>
            <a:solidFill>
              <a:schemeClr val="bg1"/>
            </a:solidFill>
            <a:prstDash val="dashDot"/>
          </a:ln>
        </p:spPr>
        <p:style>
          <a:lnRef idx="1">
            <a:schemeClr val="accent1"/>
          </a:lnRef>
          <a:fillRef idx="0">
            <a:schemeClr val="accent1"/>
          </a:fillRef>
          <a:effectRef idx="0">
            <a:schemeClr val="accent1"/>
          </a:effectRef>
          <a:fontRef idx="minor">
            <a:schemeClr val="tx1"/>
          </a:fontRef>
        </p:style>
      </p:cxnSp>
      <p:sp>
        <p:nvSpPr>
          <p:cNvPr id="79" name="Oval 78">
            <a:extLst>
              <a:ext uri="{FF2B5EF4-FFF2-40B4-BE49-F238E27FC236}">
                <a16:creationId xmlns:a16="http://schemas.microsoft.com/office/drawing/2014/main" id="{DCC97071-9D67-DC48-AD13-C0A25508CBD8}"/>
              </a:ext>
            </a:extLst>
          </p:cNvPr>
          <p:cNvSpPr/>
          <p:nvPr/>
        </p:nvSpPr>
        <p:spPr>
          <a:xfrm rot="5400000">
            <a:off x="4976354" y="-1418534"/>
            <a:ext cx="2043985" cy="11743786"/>
          </a:xfrm>
          <a:prstGeom prst="ellipse">
            <a:avLst/>
          </a:prstGeom>
          <a:no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9" name="Oval 88">
            <a:extLst>
              <a:ext uri="{FF2B5EF4-FFF2-40B4-BE49-F238E27FC236}">
                <a16:creationId xmlns:a16="http://schemas.microsoft.com/office/drawing/2014/main" id="{942F0346-DB25-A44F-8938-8FB3746D7D80}"/>
              </a:ext>
            </a:extLst>
          </p:cNvPr>
          <p:cNvSpPr>
            <a:spLocks noChangeAspect="1"/>
          </p:cNvSpPr>
          <p:nvPr/>
        </p:nvSpPr>
        <p:spPr>
          <a:xfrm flipH="1">
            <a:off x="1513969" y="3726220"/>
            <a:ext cx="154079" cy="154079"/>
          </a:xfrm>
          <a:prstGeom prst="ellipse">
            <a:avLst/>
          </a:prstGeom>
          <a:solidFill>
            <a:srgbClr val="FF0000"/>
          </a:solidFill>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cxnSp>
        <p:nvCxnSpPr>
          <p:cNvPr id="106" name="Straight Arrow Connector 105">
            <a:extLst>
              <a:ext uri="{FF2B5EF4-FFF2-40B4-BE49-F238E27FC236}">
                <a16:creationId xmlns:a16="http://schemas.microsoft.com/office/drawing/2014/main" id="{B011BF8B-9B3B-194E-860A-C437CC99C7A7}"/>
              </a:ext>
            </a:extLst>
          </p:cNvPr>
          <p:cNvCxnSpPr>
            <a:cxnSpLocks/>
          </p:cNvCxnSpPr>
          <p:nvPr/>
        </p:nvCxnSpPr>
        <p:spPr>
          <a:xfrm rot="5100000">
            <a:off x="1508032" y="3589672"/>
            <a:ext cx="35405" cy="182880"/>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grpSp>
        <p:nvGrpSpPr>
          <p:cNvPr id="10" name="Group 9">
            <a:extLst>
              <a:ext uri="{FF2B5EF4-FFF2-40B4-BE49-F238E27FC236}">
                <a16:creationId xmlns:a16="http://schemas.microsoft.com/office/drawing/2014/main" id="{B691BD1B-0C71-2652-AD52-47998D06C232}"/>
              </a:ext>
            </a:extLst>
          </p:cNvPr>
          <p:cNvGrpSpPr/>
          <p:nvPr/>
        </p:nvGrpSpPr>
        <p:grpSpPr>
          <a:xfrm>
            <a:off x="10182838" y="5053760"/>
            <a:ext cx="201597" cy="232311"/>
            <a:chOff x="10182838" y="4393360"/>
            <a:chExt cx="201597" cy="232311"/>
          </a:xfrm>
        </p:grpSpPr>
        <p:sp>
          <p:nvSpPr>
            <p:cNvPr id="88" name="Oval 87">
              <a:extLst>
                <a:ext uri="{FF2B5EF4-FFF2-40B4-BE49-F238E27FC236}">
                  <a16:creationId xmlns:a16="http://schemas.microsoft.com/office/drawing/2014/main" id="{5E822E41-836D-6B4A-859F-FD430E027DC8}"/>
                </a:ext>
              </a:extLst>
            </p:cNvPr>
            <p:cNvSpPr>
              <a:spLocks noChangeAspect="1"/>
            </p:cNvSpPr>
            <p:nvPr/>
          </p:nvSpPr>
          <p:spPr>
            <a:xfrm flipH="1">
              <a:off x="10182838" y="4393360"/>
              <a:ext cx="154079" cy="154079"/>
            </a:xfrm>
            <a:prstGeom prst="ellipse">
              <a:avLst/>
            </a:prstGeom>
            <a:solidFill>
              <a:srgbClr val="0070C0"/>
            </a:solidFill>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cxnSp>
          <p:nvCxnSpPr>
            <p:cNvPr id="107" name="Straight Arrow Connector 106">
              <a:extLst>
                <a:ext uri="{FF2B5EF4-FFF2-40B4-BE49-F238E27FC236}">
                  <a16:creationId xmlns:a16="http://schemas.microsoft.com/office/drawing/2014/main" id="{1FEAF416-CED6-C54A-A22B-8A4184554071}"/>
                </a:ext>
              </a:extLst>
            </p:cNvPr>
            <p:cNvCxnSpPr>
              <a:cxnSpLocks/>
            </p:cNvCxnSpPr>
            <p:nvPr/>
          </p:nvCxnSpPr>
          <p:spPr>
            <a:xfrm rot="5400000" flipH="1" flipV="1">
              <a:off x="10269748" y="4510985"/>
              <a:ext cx="46493" cy="182880"/>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grpSp>
      <p:cxnSp>
        <p:nvCxnSpPr>
          <p:cNvPr id="75" name="Straight Connector 74">
            <a:extLst>
              <a:ext uri="{FF2B5EF4-FFF2-40B4-BE49-F238E27FC236}">
                <a16:creationId xmlns:a16="http://schemas.microsoft.com/office/drawing/2014/main" id="{86BA35E8-F55F-2668-671C-5DA98F573EA3}"/>
              </a:ext>
            </a:extLst>
          </p:cNvPr>
          <p:cNvCxnSpPr>
            <a:cxnSpLocks/>
          </p:cNvCxnSpPr>
          <p:nvPr/>
        </p:nvCxnSpPr>
        <p:spPr>
          <a:xfrm flipH="1">
            <a:off x="6168222" y="3623842"/>
            <a:ext cx="90603" cy="277579"/>
          </a:xfrm>
          <a:prstGeom prst="line">
            <a:avLst/>
          </a:prstGeom>
          <a:ln>
            <a:solidFill>
              <a:schemeClr val="bg1"/>
            </a:solidFill>
            <a:prstDash val="dashDot"/>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D0556B34-06E7-FDA8-495E-EB40BFC8A215}"/>
              </a:ext>
            </a:extLst>
          </p:cNvPr>
          <p:cNvCxnSpPr>
            <a:cxnSpLocks/>
          </p:cNvCxnSpPr>
          <p:nvPr/>
        </p:nvCxnSpPr>
        <p:spPr>
          <a:xfrm rot="1084618">
            <a:off x="5760386" y="4974200"/>
            <a:ext cx="0" cy="353397"/>
          </a:xfrm>
          <a:prstGeom prst="line">
            <a:avLst/>
          </a:prstGeom>
          <a:ln>
            <a:solidFill>
              <a:schemeClr val="bg1"/>
            </a:solidFill>
            <a:prstDash val="dashDot"/>
          </a:ln>
        </p:spPr>
        <p:style>
          <a:lnRef idx="1">
            <a:schemeClr val="accent1"/>
          </a:lnRef>
          <a:fillRef idx="0">
            <a:schemeClr val="accent1"/>
          </a:fillRef>
          <a:effectRef idx="0">
            <a:schemeClr val="accent1"/>
          </a:effectRef>
          <a:fontRef idx="minor">
            <a:schemeClr val="tx1"/>
          </a:fontRef>
        </p:style>
      </p:cxnSp>
      <p:sp>
        <p:nvSpPr>
          <p:cNvPr id="90" name="Oval 89">
            <a:extLst>
              <a:ext uri="{FF2B5EF4-FFF2-40B4-BE49-F238E27FC236}">
                <a16:creationId xmlns:a16="http://schemas.microsoft.com/office/drawing/2014/main" id="{463D8A50-BA55-4BA5-8F77-72FAC042FA19}"/>
              </a:ext>
            </a:extLst>
          </p:cNvPr>
          <p:cNvSpPr/>
          <p:nvPr/>
        </p:nvSpPr>
        <p:spPr>
          <a:xfrm rot="6484618">
            <a:off x="5536018" y="2188260"/>
            <a:ext cx="897541" cy="4503199"/>
          </a:xfrm>
          <a:prstGeom prst="ellipse">
            <a:avLst/>
          </a:prstGeom>
          <a:no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cxnSp>
        <p:nvCxnSpPr>
          <p:cNvPr id="123" name="Straight Connector 122">
            <a:extLst>
              <a:ext uri="{FF2B5EF4-FFF2-40B4-BE49-F238E27FC236}">
                <a16:creationId xmlns:a16="http://schemas.microsoft.com/office/drawing/2014/main" id="{77517358-66D6-909D-B148-8A53B4C43CFF}"/>
              </a:ext>
            </a:extLst>
          </p:cNvPr>
          <p:cNvCxnSpPr>
            <a:cxnSpLocks/>
          </p:cNvCxnSpPr>
          <p:nvPr/>
        </p:nvCxnSpPr>
        <p:spPr>
          <a:xfrm rot="19589315">
            <a:off x="5867674" y="4150948"/>
            <a:ext cx="0" cy="125496"/>
          </a:xfrm>
          <a:prstGeom prst="line">
            <a:avLst/>
          </a:prstGeom>
          <a:ln>
            <a:solidFill>
              <a:schemeClr val="bg1"/>
            </a:solidFill>
            <a:prstDash val="dashDot"/>
          </a:ln>
        </p:spPr>
        <p:style>
          <a:lnRef idx="1">
            <a:schemeClr val="accent1"/>
          </a:lnRef>
          <a:fillRef idx="0">
            <a:schemeClr val="accent1"/>
          </a:fillRef>
          <a:effectRef idx="0">
            <a:schemeClr val="accent1"/>
          </a:effectRef>
          <a:fontRef idx="minor">
            <a:schemeClr val="tx1"/>
          </a:fontRef>
        </p:style>
      </p:cxnSp>
      <p:cxnSp>
        <p:nvCxnSpPr>
          <p:cNvPr id="128" name="Straight Connector 127">
            <a:extLst>
              <a:ext uri="{FF2B5EF4-FFF2-40B4-BE49-F238E27FC236}">
                <a16:creationId xmlns:a16="http://schemas.microsoft.com/office/drawing/2014/main" id="{E5ABB798-9816-DC3C-B09B-87220060F0F2}"/>
              </a:ext>
            </a:extLst>
          </p:cNvPr>
          <p:cNvCxnSpPr>
            <a:cxnSpLocks/>
          </p:cNvCxnSpPr>
          <p:nvPr/>
        </p:nvCxnSpPr>
        <p:spPr>
          <a:xfrm rot="19589315">
            <a:off x="6135041" y="4560800"/>
            <a:ext cx="0" cy="113337"/>
          </a:xfrm>
          <a:prstGeom prst="line">
            <a:avLst/>
          </a:prstGeom>
          <a:ln>
            <a:solidFill>
              <a:schemeClr val="bg1"/>
            </a:solidFill>
            <a:prstDash val="dashDot"/>
          </a:ln>
        </p:spPr>
        <p:style>
          <a:lnRef idx="1">
            <a:schemeClr val="accent1"/>
          </a:lnRef>
          <a:fillRef idx="0">
            <a:schemeClr val="accent1"/>
          </a:fillRef>
          <a:effectRef idx="0">
            <a:schemeClr val="accent1"/>
          </a:effectRef>
          <a:fontRef idx="minor">
            <a:schemeClr val="tx1"/>
          </a:fontRef>
        </p:style>
      </p:cxnSp>
      <p:sp>
        <p:nvSpPr>
          <p:cNvPr id="129" name="Oval 128">
            <a:extLst>
              <a:ext uri="{FF2B5EF4-FFF2-40B4-BE49-F238E27FC236}">
                <a16:creationId xmlns:a16="http://schemas.microsoft.com/office/drawing/2014/main" id="{7BC6D58B-888D-2259-AAD2-733AF8590239}"/>
              </a:ext>
            </a:extLst>
          </p:cNvPr>
          <p:cNvSpPr/>
          <p:nvPr/>
        </p:nvSpPr>
        <p:spPr>
          <a:xfrm rot="3389315">
            <a:off x="5857958" y="3995030"/>
            <a:ext cx="287847" cy="847667"/>
          </a:xfrm>
          <a:prstGeom prst="ellipse">
            <a:avLst/>
          </a:prstGeom>
          <a:no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35" name="Oval 134">
            <a:extLst>
              <a:ext uri="{FF2B5EF4-FFF2-40B4-BE49-F238E27FC236}">
                <a16:creationId xmlns:a16="http://schemas.microsoft.com/office/drawing/2014/main" id="{F493495A-2B26-4E85-24CA-F93040968695}"/>
              </a:ext>
            </a:extLst>
          </p:cNvPr>
          <p:cNvSpPr>
            <a:spLocks noChangeAspect="1"/>
          </p:cNvSpPr>
          <p:nvPr/>
        </p:nvSpPr>
        <p:spPr>
          <a:xfrm flipH="1">
            <a:off x="7148016" y="4340474"/>
            <a:ext cx="154079" cy="154079"/>
          </a:xfrm>
          <a:prstGeom prst="ellipse">
            <a:avLst/>
          </a:prstGeom>
          <a:solidFill>
            <a:srgbClr val="0070C0"/>
          </a:solidFill>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cxnSp>
        <p:nvCxnSpPr>
          <p:cNvPr id="136" name="Straight Arrow Connector 135">
            <a:extLst>
              <a:ext uri="{FF2B5EF4-FFF2-40B4-BE49-F238E27FC236}">
                <a16:creationId xmlns:a16="http://schemas.microsoft.com/office/drawing/2014/main" id="{79519A63-1B18-F0A5-19D2-CC40B88D3095}"/>
              </a:ext>
            </a:extLst>
          </p:cNvPr>
          <p:cNvCxnSpPr>
            <a:cxnSpLocks/>
          </p:cNvCxnSpPr>
          <p:nvPr/>
        </p:nvCxnSpPr>
        <p:spPr>
          <a:xfrm flipH="1" flipV="1">
            <a:off x="7205123" y="4250688"/>
            <a:ext cx="136743" cy="65812"/>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sp>
        <p:nvSpPr>
          <p:cNvPr id="137" name="Oval 136">
            <a:extLst>
              <a:ext uri="{FF2B5EF4-FFF2-40B4-BE49-F238E27FC236}">
                <a16:creationId xmlns:a16="http://schemas.microsoft.com/office/drawing/2014/main" id="{A6BCBBD9-4C68-E58D-B48F-F4470C10C0E4}"/>
              </a:ext>
            </a:extLst>
          </p:cNvPr>
          <p:cNvSpPr>
            <a:spLocks noChangeAspect="1"/>
          </p:cNvSpPr>
          <p:nvPr/>
        </p:nvSpPr>
        <p:spPr>
          <a:xfrm flipH="1">
            <a:off x="4512454" y="4293759"/>
            <a:ext cx="154079" cy="154079"/>
          </a:xfrm>
          <a:prstGeom prst="ellipse">
            <a:avLst/>
          </a:prstGeom>
          <a:solidFill>
            <a:srgbClr val="FF0000"/>
          </a:solidFill>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cxnSp>
        <p:nvCxnSpPr>
          <p:cNvPr id="138" name="Straight Arrow Connector 137">
            <a:extLst>
              <a:ext uri="{FF2B5EF4-FFF2-40B4-BE49-F238E27FC236}">
                <a16:creationId xmlns:a16="http://schemas.microsoft.com/office/drawing/2014/main" id="{E0DDDD78-97E5-74A8-6ACD-A658AFA670EF}"/>
              </a:ext>
            </a:extLst>
          </p:cNvPr>
          <p:cNvCxnSpPr>
            <a:cxnSpLocks/>
          </p:cNvCxnSpPr>
          <p:nvPr/>
        </p:nvCxnSpPr>
        <p:spPr>
          <a:xfrm>
            <a:off x="4482354" y="4448151"/>
            <a:ext cx="136342" cy="83313"/>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sp>
        <p:nvSpPr>
          <p:cNvPr id="139" name="Oval 138">
            <a:extLst>
              <a:ext uri="{FF2B5EF4-FFF2-40B4-BE49-F238E27FC236}">
                <a16:creationId xmlns:a16="http://schemas.microsoft.com/office/drawing/2014/main" id="{179B8960-EB84-C3D5-DD9A-3DE74A40C28E}"/>
              </a:ext>
            </a:extLst>
          </p:cNvPr>
          <p:cNvSpPr>
            <a:spLocks noChangeAspect="1"/>
          </p:cNvSpPr>
          <p:nvPr/>
        </p:nvSpPr>
        <p:spPr>
          <a:xfrm flipH="1">
            <a:off x="5628940" y="4417513"/>
            <a:ext cx="154079" cy="154079"/>
          </a:xfrm>
          <a:prstGeom prst="ellipse">
            <a:avLst/>
          </a:prstGeom>
          <a:solidFill>
            <a:srgbClr val="0070C0"/>
          </a:solidFill>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cxnSp>
        <p:nvCxnSpPr>
          <p:cNvPr id="140" name="Straight Arrow Connector 139">
            <a:extLst>
              <a:ext uri="{FF2B5EF4-FFF2-40B4-BE49-F238E27FC236}">
                <a16:creationId xmlns:a16="http://schemas.microsoft.com/office/drawing/2014/main" id="{6A774548-1FAB-CA59-90E2-4D36F7DEDA64}"/>
              </a:ext>
            </a:extLst>
          </p:cNvPr>
          <p:cNvCxnSpPr>
            <a:cxnSpLocks/>
          </p:cNvCxnSpPr>
          <p:nvPr/>
        </p:nvCxnSpPr>
        <p:spPr>
          <a:xfrm flipH="1">
            <a:off x="5569038" y="4366809"/>
            <a:ext cx="55833" cy="159332"/>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sp>
        <p:nvSpPr>
          <p:cNvPr id="141" name="Oval 140">
            <a:extLst>
              <a:ext uri="{FF2B5EF4-FFF2-40B4-BE49-F238E27FC236}">
                <a16:creationId xmlns:a16="http://schemas.microsoft.com/office/drawing/2014/main" id="{FCFBE2B9-5375-F9D6-DC26-28B8C38A30FA}"/>
              </a:ext>
            </a:extLst>
          </p:cNvPr>
          <p:cNvSpPr>
            <a:spLocks noChangeAspect="1"/>
          </p:cNvSpPr>
          <p:nvPr/>
        </p:nvSpPr>
        <p:spPr>
          <a:xfrm flipH="1">
            <a:off x="6220941" y="4278401"/>
            <a:ext cx="154079" cy="154079"/>
          </a:xfrm>
          <a:prstGeom prst="ellipse">
            <a:avLst/>
          </a:prstGeom>
          <a:solidFill>
            <a:srgbClr val="FF0000"/>
          </a:solidFill>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cxnSp>
        <p:nvCxnSpPr>
          <p:cNvPr id="142" name="Straight Arrow Connector 141">
            <a:extLst>
              <a:ext uri="{FF2B5EF4-FFF2-40B4-BE49-F238E27FC236}">
                <a16:creationId xmlns:a16="http://schemas.microsoft.com/office/drawing/2014/main" id="{36C4A668-F8F0-37A6-A499-F9EAB439CEC5}"/>
              </a:ext>
            </a:extLst>
          </p:cNvPr>
          <p:cNvCxnSpPr>
            <a:cxnSpLocks/>
          </p:cNvCxnSpPr>
          <p:nvPr/>
        </p:nvCxnSpPr>
        <p:spPr>
          <a:xfrm flipV="1">
            <a:off x="6408983" y="4293759"/>
            <a:ext cx="41235" cy="146100"/>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sp>
        <p:nvSpPr>
          <p:cNvPr id="143" name="Oval 142">
            <a:extLst>
              <a:ext uri="{FF2B5EF4-FFF2-40B4-BE49-F238E27FC236}">
                <a16:creationId xmlns:a16="http://schemas.microsoft.com/office/drawing/2014/main" id="{76D91214-D6F4-E6A1-23E5-E0A9CDEB85BB}"/>
              </a:ext>
            </a:extLst>
          </p:cNvPr>
          <p:cNvSpPr>
            <a:spLocks noChangeAspect="1"/>
          </p:cNvSpPr>
          <p:nvPr/>
        </p:nvSpPr>
        <p:spPr>
          <a:xfrm flipH="1">
            <a:off x="5628517" y="5206385"/>
            <a:ext cx="154079" cy="154079"/>
          </a:xfrm>
          <a:prstGeom prst="ellipse">
            <a:avLst/>
          </a:prstGeom>
          <a:solidFill>
            <a:schemeClr val="bg1"/>
          </a:solidFill>
          <a:ln>
            <a:noFill/>
          </a:ln>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144" name="Oval 143">
            <a:extLst>
              <a:ext uri="{FF2B5EF4-FFF2-40B4-BE49-F238E27FC236}">
                <a16:creationId xmlns:a16="http://schemas.microsoft.com/office/drawing/2014/main" id="{FD9CF885-906A-AE2F-B1CF-6E037188E3C1}"/>
              </a:ext>
            </a:extLst>
          </p:cNvPr>
          <p:cNvSpPr>
            <a:spLocks noChangeAspect="1"/>
          </p:cNvSpPr>
          <p:nvPr/>
        </p:nvSpPr>
        <p:spPr>
          <a:xfrm flipH="1">
            <a:off x="6193658" y="3513048"/>
            <a:ext cx="154079" cy="154079"/>
          </a:xfrm>
          <a:prstGeom prst="ellipse">
            <a:avLst/>
          </a:prstGeom>
          <a:solidFill>
            <a:schemeClr val="bg1"/>
          </a:solidFill>
          <a:ln>
            <a:noFill/>
          </a:ln>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145" name="Oval 144">
            <a:extLst>
              <a:ext uri="{FF2B5EF4-FFF2-40B4-BE49-F238E27FC236}">
                <a16:creationId xmlns:a16="http://schemas.microsoft.com/office/drawing/2014/main" id="{B46CBF79-8FEB-E768-1ED0-F2BECF0CCE61}"/>
              </a:ext>
            </a:extLst>
          </p:cNvPr>
          <p:cNvSpPr>
            <a:spLocks noChangeAspect="1"/>
          </p:cNvSpPr>
          <p:nvPr/>
        </p:nvSpPr>
        <p:spPr>
          <a:xfrm flipH="1">
            <a:off x="6129631" y="4642537"/>
            <a:ext cx="154079" cy="154079"/>
          </a:xfrm>
          <a:prstGeom prst="ellipse">
            <a:avLst/>
          </a:prstGeom>
          <a:solidFill>
            <a:schemeClr val="bg1"/>
          </a:solidFill>
          <a:ln>
            <a:noFill/>
          </a:ln>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146" name="Oval 145">
            <a:extLst>
              <a:ext uri="{FF2B5EF4-FFF2-40B4-BE49-F238E27FC236}">
                <a16:creationId xmlns:a16="http://schemas.microsoft.com/office/drawing/2014/main" id="{E29105DC-7279-9A43-FAC8-0876C02BBA15}"/>
              </a:ext>
            </a:extLst>
          </p:cNvPr>
          <p:cNvSpPr>
            <a:spLocks noChangeAspect="1"/>
          </p:cNvSpPr>
          <p:nvPr/>
        </p:nvSpPr>
        <p:spPr>
          <a:xfrm flipH="1">
            <a:off x="5712370" y="4009129"/>
            <a:ext cx="154079" cy="154079"/>
          </a:xfrm>
          <a:prstGeom prst="ellipse">
            <a:avLst/>
          </a:prstGeom>
          <a:solidFill>
            <a:schemeClr val="bg1"/>
          </a:solidFill>
          <a:ln>
            <a:noFill/>
          </a:ln>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Tree>
    <p:extLst>
      <p:ext uri="{BB962C8B-B14F-4D97-AF65-F5344CB8AC3E}">
        <p14:creationId xmlns:p14="http://schemas.microsoft.com/office/powerpoint/2010/main" val="10962226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B9F2801-314B-3743-8406-886D110B2060}"/>
              </a:ext>
            </a:extLst>
          </p:cNvPr>
          <p:cNvSpPr>
            <a:spLocks noGrp="1"/>
          </p:cNvSpPr>
          <p:nvPr>
            <p:ph type="title"/>
          </p:nvPr>
        </p:nvSpPr>
        <p:spPr>
          <a:xfrm>
            <a:off x="838200" y="187318"/>
            <a:ext cx="10515600" cy="777875"/>
          </a:xfrm>
        </p:spPr>
        <p:txBody>
          <a:bodyPr>
            <a:normAutofit/>
          </a:bodyPr>
          <a:lstStyle/>
          <a:p>
            <a:pPr algn="ctr"/>
            <a:r>
              <a:rPr lang="en-US"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Noether Core Generations</a:t>
            </a:r>
          </a:p>
        </p:txBody>
      </p:sp>
      <p:sp>
        <p:nvSpPr>
          <p:cNvPr id="4" name="Footer Placeholder 3">
            <a:extLst>
              <a:ext uri="{FF2B5EF4-FFF2-40B4-BE49-F238E27FC236}">
                <a16:creationId xmlns:a16="http://schemas.microsoft.com/office/drawing/2014/main" id="{9D9787B4-78F2-E94F-B4AF-51DD5B0F66AA}"/>
              </a:ext>
            </a:extLst>
          </p:cNvPr>
          <p:cNvSpPr>
            <a:spLocks noGrp="1"/>
          </p:cNvSpPr>
          <p:nvPr>
            <p:ph type="ftr" sz="quarter" idx="11"/>
          </p:nvPr>
        </p:nvSpPr>
        <p:spPr>
          <a:xfrm>
            <a:off x="8973049" y="6435181"/>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rPr>
              <a:t>J Mark Morris</a:t>
            </a:r>
          </a:p>
        </p:txBody>
      </p:sp>
      <p:sp>
        <p:nvSpPr>
          <p:cNvPr id="27" name="Oval 26">
            <a:extLst>
              <a:ext uri="{FF2B5EF4-FFF2-40B4-BE49-F238E27FC236}">
                <a16:creationId xmlns:a16="http://schemas.microsoft.com/office/drawing/2014/main" id="{177B3BCB-D82C-E84C-9991-CE693E895CA7}"/>
              </a:ext>
            </a:extLst>
          </p:cNvPr>
          <p:cNvSpPr>
            <a:spLocks noChangeAspect="1"/>
          </p:cNvSpPr>
          <p:nvPr/>
        </p:nvSpPr>
        <p:spPr>
          <a:xfrm rot="1800000">
            <a:off x="1946592" y="2936342"/>
            <a:ext cx="457200" cy="457200"/>
          </a:xfrm>
          <a:prstGeom prst="ellipse">
            <a:avLst/>
          </a:prstGeom>
          <a:noFill/>
          <a:ln w="762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8" name="Oval 27">
            <a:extLst>
              <a:ext uri="{FF2B5EF4-FFF2-40B4-BE49-F238E27FC236}">
                <a16:creationId xmlns:a16="http://schemas.microsoft.com/office/drawing/2014/main" id="{5D9E1FD4-330D-3B4F-A764-B00628290EBE}"/>
              </a:ext>
            </a:extLst>
          </p:cNvPr>
          <p:cNvSpPr>
            <a:spLocks noChangeAspect="1"/>
          </p:cNvSpPr>
          <p:nvPr/>
        </p:nvSpPr>
        <p:spPr>
          <a:xfrm rot="1800000">
            <a:off x="1032192" y="2021942"/>
            <a:ext cx="2286000" cy="2286000"/>
          </a:xfrm>
          <a:prstGeom prst="ellipse">
            <a:avLst/>
          </a:prstGeom>
          <a:noFill/>
          <a:ln w="762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0" name="Oval 29">
            <a:extLst>
              <a:ext uri="{FF2B5EF4-FFF2-40B4-BE49-F238E27FC236}">
                <a16:creationId xmlns:a16="http://schemas.microsoft.com/office/drawing/2014/main" id="{29D26BB5-DDB3-0A45-B9F6-FD176EE0C297}"/>
              </a:ext>
            </a:extLst>
          </p:cNvPr>
          <p:cNvSpPr>
            <a:spLocks noChangeAspect="1"/>
          </p:cNvSpPr>
          <p:nvPr/>
        </p:nvSpPr>
        <p:spPr>
          <a:xfrm rot="1800000">
            <a:off x="1489392" y="2479142"/>
            <a:ext cx="1371600" cy="1371600"/>
          </a:xfrm>
          <a:prstGeom prst="ellipse">
            <a:avLst/>
          </a:prstGeom>
          <a:noFill/>
          <a:ln w="762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4" name="Oval 33">
            <a:extLst>
              <a:ext uri="{FF2B5EF4-FFF2-40B4-BE49-F238E27FC236}">
                <a16:creationId xmlns:a16="http://schemas.microsoft.com/office/drawing/2014/main" id="{1B4CC914-0A26-D941-9BC5-A962E3AE8773}"/>
              </a:ext>
            </a:extLst>
          </p:cNvPr>
          <p:cNvSpPr>
            <a:spLocks noChangeAspect="1"/>
          </p:cNvSpPr>
          <p:nvPr/>
        </p:nvSpPr>
        <p:spPr>
          <a:xfrm rot="1800000" flipH="1">
            <a:off x="1840052" y="2899154"/>
            <a:ext cx="304800" cy="304800"/>
          </a:xfrm>
          <a:prstGeom prst="ellipse">
            <a:avLst/>
          </a:prstGeom>
          <a:noFill/>
          <a:ln>
            <a:solidFill>
              <a:schemeClr val="bg1">
                <a:lumMod val="85000"/>
              </a:schemeClr>
            </a:solidFill>
          </a:ln>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35" name="Oval 34">
            <a:extLst>
              <a:ext uri="{FF2B5EF4-FFF2-40B4-BE49-F238E27FC236}">
                <a16:creationId xmlns:a16="http://schemas.microsoft.com/office/drawing/2014/main" id="{7CF8744D-9519-A84A-B262-7C7B66B8C3FF}"/>
              </a:ext>
            </a:extLst>
          </p:cNvPr>
          <p:cNvSpPr>
            <a:spLocks noChangeAspect="1"/>
          </p:cNvSpPr>
          <p:nvPr/>
        </p:nvSpPr>
        <p:spPr>
          <a:xfrm rot="1800000" flipH="1">
            <a:off x="2211883" y="3118894"/>
            <a:ext cx="304800" cy="304800"/>
          </a:xfrm>
          <a:prstGeom prst="ellipse">
            <a:avLst/>
          </a:prstGeom>
          <a:noFill/>
          <a:ln>
            <a:solidFill>
              <a:schemeClr val="bg1">
                <a:lumMod val="85000"/>
              </a:schemeClr>
            </a:solidFill>
          </a:ln>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42" name="Oval 41">
            <a:extLst>
              <a:ext uri="{FF2B5EF4-FFF2-40B4-BE49-F238E27FC236}">
                <a16:creationId xmlns:a16="http://schemas.microsoft.com/office/drawing/2014/main" id="{AE8BA4C5-756E-F648-B325-5D0219BBCC32}"/>
              </a:ext>
            </a:extLst>
          </p:cNvPr>
          <p:cNvSpPr>
            <a:spLocks noChangeAspect="1"/>
          </p:cNvSpPr>
          <p:nvPr/>
        </p:nvSpPr>
        <p:spPr>
          <a:xfrm rot="16200000" flipH="1">
            <a:off x="2024918" y="1870055"/>
            <a:ext cx="304800" cy="304800"/>
          </a:xfrm>
          <a:prstGeom prst="ellipse">
            <a:avLst/>
          </a:prstGeom>
          <a:noFill/>
          <a:ln>
            <a:solidFill>
              <a:schemeClr val="bg1">
                <a:lumMod val="85000"/>
              </a:schemeClr>
            </a:solidFill>
          </a:ln>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43" name="Oval 42">
            <a:extLst>
              <a:ext uri="{FF2B5EF4-FFF2-40B4-BE49-F238E27FC236}">
                <a16:creationId xmlns:a16="http://schemas.microsoft.com/office/drawing/2014/main" id="{170CF0D0-8D8D-C44A-A5BA-D5BB45ADF6D4}"/>
              </a:ext>
            </a:extLst>
          </p:cNvPr>
          <p:cNvSpPr>
            <a:spLocks noChangeAspect="1"/>
          </p:cNvSpPr>
          <p:nvPr/>
        </p:nvSpPr>
        <p:spPr>
          <a:xfrm rot="19800000" flipH="1">
            <a:off x="1432206" y="3353990"/>
            <a:ext cx="304800" cy="304800"/>
          </a:xfrm>
          <a:prstGeom prst="ellipse">
            <a:avLst/>
          </a:prstGeom>
          <a:noFill/>
          <a:ln>
            <a:solidFill>
              <a:schemeClr val="bg1">
                <a:lumMod val="85000"/>
              </a:schemeClr>
            </a:solidFill>
          </a:ln>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44" name="Oval 43">
            <a:extLst>
              <a:ext uri="{FF2B5EF4-FFF2-40B4-BE49-F238E27FC236}">
                <a16:creationId xmlns:a16="http://schemas.microsoft.com/office/drawing/2014/main" id="{E35B4EAA-23B1-F943-99C4-9F0DE0400B46}"/>
              </a:ext>
            </a:extLst>
          </p:cNvPr>
          <p:cNvSpPr>
            <a:spLocks noChangeAspect="1"/>
          </p:cNvSpPr>
          <p:nvPr/>
        </p:nvSpPr>
        <p:spPr>
          <a:xfrm rot="19800000" flipH="1">
            <a:off x="2614583" y="2670507"/>
            <a:ext cx="304800" cy="304800"/>
          </a:xfrm>
          <a:prstGeom prst="ellipse">
            <a:avLst/>
          </a:prstGeom>
          <a:noFill/>
          <a:ln>
            <a:solidFill>
              <a:schemeClr val="bg1">
                <a:lumMod val="85000"/>
              </a:schemeClr>
            </a:solidFill>
          </a:ln>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45" name="Oval 44">
            <a:extLst>
              <a:ext uri="{FF2B5EF4-FFF2-40B4-BE49-F238E27FC236}">
                <a16:creationId xmlns:a16="http://schemas.microsoft.com/office/drawing/2014/main" id="{FBABADE8-45C0-1447-9E16-E4BB1F37C97B}"/>
              </a:ext>
            </a:extLst>
          </p:cNvPr>
          <p:cNvSpPr>
            <a:spLocks noChangeAspect="1"/>
          </p:cNvSpPr>
          <p:nvPr/>
        </p:nvSpPr>
        <p:spPr>
          <a:xfrm rot="16200000" flipH="1">
            <a:off x="2026636" y="4148344"/>
            <a:ext cx="304800" cy="304800"/>
          </a:xfrm>
          <a:prstGeom prst="ellipse">
            <a:avLst/>
          </a:prstGeom>
          <a:noFill/>
          <a:ln>
            <a:solidFill>
              <a:schemeClr val="bg1">
                <a:lumMod val="85000"/>
              </a:schemeClr>
            </a:solidFill>
          </a:ln>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169" name="Oval 168">
            <a:extLst>
              <a:ext uri="{FF2B5EF4-FFF2-40B4-BE49-F238E27FC236}">
                <a16:creationId xmlns:a16="http://schemas.microsoft.com/office/drawing/2014/main" id="{C4CD84E3-1A59-D840-979B-2DDC531F736E}"/>
              </a:ext>
            </a:extLst>
          </p:cNvPr>
          <p:cNvSpPr>
            <a:spLocks noChangeAspect="1"/>
          </p:cNvSpPr>
          <p:nvPr/>
        </p:nvSpPr>
        <p:spPr>
          <a:xfrm flipH="1">
            <a:off x="1433133" y="3352436"/>
            <a:ext cx="304800" cy="304800"/>
          </a:xfrm>
          <a:prstGeom prst="ellipse">
            <a:avLst/>
          </a:prstGeom>
          <a:solidFill>
            <a:srgbClr val="0070C0"/>
          </a:solidFill>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70" name="Oval 169">
            <a:extLst>
              <a:ext uri="{FF2B5EF4-FFF2-40B4-BE49-F238E27FC236}">
                <a16:creationId xmlns:a16="http://schemas.microsoft.com/office/drawing/2014/main" id="{0C516E1C-C061-A941-B08D-1F3D314C814C}"/>
              </a:ext>
            </a:extLst>
          </p:cNvPr>
          <p:cNvSpPr>
            <a:spLocks noChangeAspect="1"/>
          </p:cNvSpPr>
          <p:nvPr/>
        </p:nvSpPr>
        <p:spPr>
          <a:xfrm flipH="1">
            <a:off x="2616059" y="2669712"/>
            <a:ext cx="304800" cy="304800"/>
          </a:xfrm>
          <a:prstGeom prst="ellipse">
            <a:avLst/>
          </a:prstGeom>
          <a:solidFill>
            <a:srgbClr val="FF0000"/>
          </a:solidFill>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71" name="Oval 170">
            <a:extLst>
              <a:ext uri="{FF2B5EF4-FFF2-40B4-BE49-F238E27FC236}">
                <a16:creationId xmlns:a16="http://schemas.microsoft.com/office/drawing/2014/main" id="{38A006FF-6837-4E46-A95F-6757B6B88BB7}"/>
              </a:ext>
            </a:extLst>
          </p:cNvPr>
          <p:cNvSpPr>
            <a:spLocks noChangeAspect="1"/>
          </p:cNvSpPr>
          <p:nvPr/>
        </p:nvSpPr>
        <p:spPr>
          <a:xfrm flipH="1">
            <a:off x="2024922" y="4146521"/>
            <a:ext cx="304800" cy="304800"/>
          </a:xfrm>
          <a:prstGeom prst="ellipse">
            <a:avLst/>
          </a:prstGeom>
          <a:solidFill>
            <a:srgbClr val="0070C0"/>
          </a:solidFill>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72" name="Oval 171">
            <a:extLst>
              <a:ext uri="{FF2B5EF4-FFF2-40B4-BE49-F238E27FC236}">
                <a16:creationId xmlns:a16="http://schemas.microsoft.com/office/drawing/2014/main" id="{3F2BF1D0-7B45-6E45-9749-4C89397883E2}"/>
              </a:ext>
            </a:extLst>
          </p:cNvPr>
          <p:cNvSpPr>
            <a:spLocks noChangeAspect="1"/>
          </p:cNvSpPr>
          <p:nvPr/>
        </p:nvSpPr>
        <p:spPr>
          <a:xfrm flipH="1">
            <a:off x="2214421" y="3118238"/>
            <a:ext cx="304800" cy="304800"/>
          </a:xfrm>
          <a:prstGeom prst="ellipse">
            <a:avLst/>
          </a:prstGeom>
          <a:solidFill>
            <a:srgbClr val="FF0000"/>
          </a:solidFill>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73" name="Oval 172">
            <a:extLst>
              <a:ext uri="{FF2B5EF4-FFF2-40B4-BE49-F238E27FC236}">
                <a16:creationId xmlns:a16="http://schemas.microsoft.com/office/drawing/2014/main" id="{5C4A8CAF-6093-DA4D-8E1D-F5DFBD78E1BA}"/>
              </a:ext>
            </a:extLst>
          </p:cNvPr>
          <p:cNvSpPr>
            <a:spLocks noChangeAspect="1"/>
          </p:cNvSpPr>
          <p:nvPr/>
        </p:nvSpPr>
        <p:spPr>
          <a:xfrm flipH="1">
            <a:off x="1841406" y="2896350"/>
            <a:ext cx="304800" cy="304800"/>
          </a:xfrm>
          <a:prstGeom prst="ellipse">
            <a:avLst/>
          </a:prstGeom>
          <a:solidFill>
            <a:srgbClr val="0070C0"/>
          </a:solidFill>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74" name="Oval 173">
            <a:extLst>
              <a:ext uri="{FF2B5EF4-FFF2-40B4-BE49-F238E27FC236}">
                <a16:creationId xmlns:a16="http://schemas.microsoft.com/office/drawing/2014/main" id="{059086E5-7989-BF4D-B184-9D5A6516B050}"/>
              </a:ext>
            </a:extLst>
          </p:cNvPr>
          <p:cNvSpPr>
            <a:spLocks noChangeAspect="1"/>
          </p:cNvSpPr>
          <p:nvPr/>
        </p:nvSpPr>
        <p:spPr>
          <a:xfrm flipH="1">
            <a:off x="2024979" y="1871396"/>
            <a:ext cx="304800" cy="304800"/>
          </a:xfrm>
          <a:prstGeom prst="ellipse">
            <a:avLst/>
          </a:prstGeom>
          <a:solidFill>
            <a:srgbClr val="FF0000"/>
          </a:solidFill>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54" name="TextBox 53">
            <a:extLst>
              <a:ext uri="{FF2B5EF4-FFF2-40B4-BE49-F238E27FC236}">
                <a16:creationId xmlns:a16="http://schemas.microsoft.com/office/drawing/2014/main" id="{14A5B4A5-C392-E442-818D-FB711E90577C}"/>
              </a:ext>
            </a:extLst>
          </p:cNvPr>
          <p:cNvSpPr txBox="1"/>
          <p:nvPr/>
        </p:nvSpPr>
        <p:spPr>
          <a:xfrm>
            <a:off x="-7005731" y="948690"/>
            <a:ext cx="6196338" cy="59093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sng"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Structure Architecture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6 : Total immutable point potentials</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3 : electrinos at -e/6</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3 : positrinos at +e/6</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0 : Personality point potentials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1 : Generation I Noether energy core</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Provides 3 dimensions of stability/containment</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Implements SU(3) and the strong force</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Spin determines chirality of the </a:t>
            </a:r>
            <a:r>
              <a:rPr kumimoji="0" lang="en-US" sz="1800" b="1"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structure</a:t>
            </a:r>
            <a:endPar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3 : orbiting electrino : </a:t>
            </a:r>
            <a:r>
              <a:rPr kumimoji="0" lang="en-US" sz="1800" b="0" i="0" u="none" strike="noStrike" kern="1200" cap="none" spc="0" normalizeH="0" baseline="0" noProof="0" dirty="0" err="1">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positrino</a:t>
            </a:r>
            <a:r>
              <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 binaries</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binaries coupled at different energy scales</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binaries tend to orthogonal at v &lt;&lt; c.</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Structure become increasingly oblate with velocity.</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Gen II and Gen III binary energy shielding</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Transacts energy in h-bar units</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Conserves angular momentum in 3D</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Auto synchronizes binary energy (</a:t>
            </a:r>
            <a:r>
              <a:rPr kumimoji="0" lang="en-US" sz="1800" b="0" i="1"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Koide?</a:t>
            </a:r>
            <a:r>
              <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Implements stretchy ruler, variable clock</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Is an ideal black body</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An essential emergent building block for the universe.</a:t>
            </a:r>
          </a:p>
          <a:p>
            <a:pPr marL="1200150" marR="0" lvl="2"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55" name="TextBox 54">
            <a:extLst>
              <a:ext uri="{FF2B5EF4-FFF2-40B4-BE49-F238E27FC236}">
                <a16:creationId xmlns:a16="http://schemas.microsoft.com/office/drawing/2014/main" id="{177A867C-241B-7045-A629-A217BBE571A3}"/>
              </a:ext>
            </a:extLst>
          </p:cNvPr>
          <p:cNvSpPr txBox="1"/>
          <p:nvPr/>
        </p:nvSpPr>
        <p:spPr>
          <a:xfrm>
            <a:off x="294853" y="6165876"/>
            <a:ext cx="2674130" cy="538609"/>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 </a:t>
            </a:r>
            <a:r>
              <a:rPr kumimoji="0" lang="en-US" sz="1100" b="0" i="1"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2D representations of coupled binaries</a:t>
            </a:r>
            <a:br>
              <a:rPr kumimoji="0" lang="en-US" sz="1100" b="0" i="1"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br>
            <a:r>
              <a:rPr kumimoji="0" lang="en-US" sz="1100" b="0" i="1"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different energy scales.</a:t>
            </a:r>
          </a:p>
        </p:txBody>
      </p:sp>
      <p:sp>
        <p:nvSpPr>
          <p:cNvPr id="66" name="Oval 65">
            <a:extLst>
              <a:ext uri="{FF2B5EF4-FFF2-40B4-BE49-F238E27FC236}">
                <a16:creationId xmlns:a16="http://schemas.microsoft.com/office/drawing/2014/main" id="{60DC97CA-4933-5144-AD0E-4B9259B3D059}"/>
              </a:ext>
            </a:extLst>
          </p:cNvPr>
          <p:cNvSpPr>
            <a:spLocks noChangeAspect="1"/>
          </p:cNvSpPr>
          <p:nvPr/>
        </p:nvSpPr>
        <p:spPr>
          <a:xfrm rot="1800000">
            <a:off x="5835663" y="2942256"/>
            <a:ext cx="457200" cy="457200"/>
          </a:xfrm>
          <a:prstGeom prst="ellipse">
            <a:avLst/>
          </a:prstGeom>
          <a:noFill/>
          <a:ln w="762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9" name="Oval 68">
            <a:extLst>
              <a:ext uri="{FF2B5EF4-FFF2-40B4-BE49-F238E27FC236}">
                <a16:creationId xmlns:a16="http://schemas.microsoft.com/office/drawing/2014/main" id="{90A0E22D-2796-7E44-8E4C-206675AE475C}"/>
              </a:ext>
            </a:extLst>
          </p:cNvPr>
          <p:cNvSpPr>
            <a:spLocks noChangeAspect="1"/>
          </p:cNvSpPr>
          <p:nvPr/>
        </p:nvSpPr>
        <p:spPr>
          <a:xfrm rot="1800000">
            <a:off x="5378463" y="2485056"/>
            <a:ext cx="1371600" cy="1371600"/>
          </a:xfrm>
          <a:prstGeom prst="ellipse">
            <a:avLst/>
          </a:prstGeom>
          <a:noFill/>
          <a:ln w="762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3" name="Oval 72">
            <a:extLst>
              <a:ext uri="{FF2B5EF4-FFF2-40B4-BE49-F238E27FC236}">
                <a16:creationId xmlns:a16="http://schemas.microsoft.com/office/drawing/2014/main" id="{D297BF16-9C15-2040-BCC8-A5BFEB1B52F4}"/>
              </a:ext>
            </a:extLst>
          </p:cNvPr>
          <p:cNvSpPr>
            <a:spLocks noChangeAspect="1"/>
          </p:cNvSpPr>
          <p:nvPr/>
        </p:nvSpPr>
        <p:spPr>
          <a:xfrm rot="1800000" flipH="1">
            <a:off x="5729123" y="2905068"/>
            <a:ext cx="304800" cy="304800"/>
          </a:xfrm>
          <a:prstGeom prst="ellipse">
            <a:avLst/>
          </a:prstGeom>
          <a:noFill/>
          <a:ln>
            <a:solidFill>
              <a:schemeClr val="bg1">
                <a:lumMod val="85000"/>
              </a:schemeClr>
            </a:solidFill>
          </a:ln>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74" name="Oval 73">
            <a:extLst>
              <a:ext uri="{FF2B5EF4-FFF2-40B4-BE49-F238E27FC236}">
                <a16:creationId xmlns:a16="http://schemas.microsoft.com/office/drawing/2014/main" id="{5C6E120B-5A78-B549-B413-C7DCB46D1339}"/>
              </a:ext>
            </a:extLst>
          </p:cNvPr>
          <p:cNvSpPr>
            <a:spLocks noChangeAspect="1"/>
          </p:cNvSpPr>
          <p:nvPr/>
        </p:nvSpPr>
        <p:spPr>
          <a:xfrm rot="1800000" flipH="1">
            <a:off x="6100954" y="3124808"/>
            <a:ext cx="304800" cy="304800"/>
          </a:xfrm>
          <a:prstGeom prst="ellipse">
            <a:avLst/>
          </a:prstGeom>
          <a:noFill/>
          <a:ln>
            <a:solidFill>
              <a:schemeClr val="bg1">
                <a:lumMod val="85000"/>
              </a:schemeClr>
            </a:solidFill>
          </a:ln>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82" name="Oval 81">
            <a:extLst>
              <a:ext uri="{FF2B5EF4-FFF2-40B4-BE49-F238E27FC236}">
                <a16:creationId xmlns:a16="http://schemas.microsoft.com/office/drawing/2014/main" id="{A9EDA037-A611-D14A-BC2B-24742816B594}"/>
              </a:ext>
            </a:extLst>
          </p:cNvPr>
          <p:cNvSpPr>
            <a:spLocks noChangeAspect="1"/>
          </p:cNvSpPr>
          <p:nvPr/>
        </p:nvSpPr>
        <p:spPr>
          <a:xfrm rot="19800000" flipH="1">
            <a:off x="5321277" y="3359904"/>
            <a:ext cx="304800" cy="304800"/>
          </a:xfrm>
          <a:prstGeom prst="ellipse">
            <a:avLst/>
          </a:prstGeom>
          <a:noFill/>
          <a:ln>
            <a:solidFill>
              <a:schemeClr val="bg1">
                <a:lumMod val="85000"/>
              </a:schemeClr>
            </a:solidFill>
          </a:ln>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83" name="Oval 82">
            <a:extLst>
              <a:ext uri="{FF2B5EF4-FFF2-40B4-BE49-F238E27FC236}">
                <a16:creationId xmlns:a16="http://schemas.microsoft.com/office/drawing/2014/main" id="{6D4762A5-D4FE-8A47-9050-4DE853FC9ACF}"/>
              </a:ext>
            </a:extLst>
          </p:cNvPr>
          <p:cNvSpPr>
            <a:spLocks noChangeAspect="1"/>
          </p:cNvSpPr>
          <p:nvPr/>
        </p:nvSpPr>
        <p:spPr>
          <a:xfrm rot="19800000" flipH="1">
            <a:off x="6503654" y="2676421"/>
            <a:ext cx="304800" cy="304800"/>
          </a:xfrm>
          <a:prstGeom prst="ellipse">
            <a:avLst/>
          </a:prstGeom>
          <a:noFill/>
          <a:ln>
            <a:solidFill>
              <a:schemeClr val="bg1">
                <a:lumMod val="85000"/>
              </a:schemeClr>
            </a:solidFill>
          </a:ln>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58" name="Oval 57">
            <a:extLst>
              <a:ext uri="{FF2B5EF4-FFF2-40B4-BE49-F238E27FC236}">
                <a16:creationId xmlns:a16="http://schemas.microsoft.com/office/drawing/2014/main" id="{396D9099-B529-CC40-BE9B-1299522B0CE1}"/>
              </a:ext>
            </a:extLst>
          </p:cNvPr>
          <p:cNvSpPr>
            <a:spLocks noChangeAspect="1"/>
          </p:cNvSpPr>
          <p:nvPr/>
        </p:nvSpPr>
        <p:spPr>
          <a:xfrm flipH="1">
            <a:off x="5322204" y="3358350"/>
            <a:ext cx="304800" cy="304800"/>
          </a:xfrm>
          <a:prstGeom prst="ellipse">
            <a:avLst/>
          </a:prstGeom>
          <a:solidFill>
            <a:srgbClr val="0070C0"/>
          </a:solidFill>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59" name="Oval 58">
            <a:extLst>
              <a:ext uri="{FF2B5EF4-FFF2-40B4-BE49-F238E27FC236}">
                <a16:creationId xmlns:a16="http://schemas.microsoft.com/office/drawing/2014/main" id="{40A0AABC-4D11-FA48-9610-E094E1CA7C3D}"/>
              </a:ext>
            </a:extLst>
          </p:cNvPr>
          <p:cNvSpPr>
            <a:spLocks noChangeAspect="1"/>
          </p:cNvSpPr>
          <p:nvPr/>
        </p:nvSpPr>
        <p:spPr>
          <a:xfrm flipH="1">
            <a:off x="6505130" y="2675626"/>
            <a:ext cx="304800" cy="304800"/>
          </a:xfrm>
          <a:prstGeom prst="ellipse">
            <a:avLst/>
          </a:prstGeom>
          <a:solidFill>
            <a:srgbClr val="FF0000"/>
          </a:solidFill>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61" name="Oval 60">
            <a:extLst>
              <a:ext uri="{FF2B5EF4-FFF2-40B4-BE49-F238E27FC236}">
                <a16:creationId xmlns:a16="http://schemas.microsoft.com/office/drawing/2014/main" id="{AAB9E695-8AAE-F24E-B2F1-5E2D840198FB}"/>
              </a:ext>
            </a:extLst>
          </p:cNvPr>
          <p:cNvSpPr>
            <a:spLocks noChangeAspect="1"/>
          </p:cNvSpPr>
          <p:nvPr/>
        </p:nvSpPr>
        <p:spPr>
          <a:xfrm flipH="1">
            <a:off x="6103492" y="3124152"/>
            <a:ext cx="304800" cy="304800"/>
          </a:xfrm>
          <a:prstGeom prst="ellipse">
            <a:avLst/>
          </a:prstGeom>
          <a:solidFill>
            <a:srgbClr val="FF0000"/>
          </a:solidFill>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62" name="Oval 61">
            <a:extLst>
              <a:ext uri="{FF2B5EF4-FFF2-40B4-BE49-F238E27FC236}">
                <a16:creationId xmlns:a16="http://schemas.microsoft.com/office/drawing/2014/main" id="{D319CADC-88BE-C34C-87F0-64FDEF3C07E5}"/>
              </a:ext>
            </a:extLst>
          </p:cNvPr>
          <p:cNvSpPr>
            <a:spLocks noChangeAspect="1"/>
          </p:cNvSpPr>
          <p:nvPr/>
        </p:nvSpPr>
        <p:spPr>
          <a:xfrm flipH="1">
            <a:off x="5730477" y="2902264"/>
            <a:ext cx="304800" cy="304800"/>
          </a:xfrm>
          <a:prstGeom prst="ellipse">
            <a:avLst/>
          </a:prstGeom>
          <a:solidFill>
            <a:srgbClr val="0070C0"/>
          </a:solidFill>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graphicFrame>
        <p:nvGraphicFramePr>
          <p:cNvPr id="11" name="Table 11">
            <a:extLst>
              <a:ext uri="{FF2B5EF4-FFF2-40B4-BE49-F238E27FC236}">
                <a16:creationId xmlns:a16="http://schemas.microsoft.com/office/drawing/2014/main" id="{77D181D9-7730-5244-9AEB-0B44475E0600}"/>
              </a:ext>
            </a:extLst>
          </p:cNvPr>
          <p:cNvGraphicFramePr>
            <a:graphicFrameLocks noGrp="1"/>
          </p:cNvGraphicFramePr>
          <p:nvPr>
            <p:extLst>
              <p:ext uri="{D42A27DB-BD31-4B8C-83A1-F6EECF244321}">
                <p14:modId xmlns:p14="http://schemas.microsoft.com/office/powerpoint/2010/main" val="812640237"/>
              </p:ext>
            </p:extLst>
          </p:nvPr>
        </p:nvGraphicFramePr>
        <p:xfrm>
          <a:off x="3997981" y="4160656"/>
          <a:ext cx="4132564" cy="2377440"/>
        </p:xfrm>
        <a:graphic>
          <a:graphicData uri="http://schemas.openxmlformats.org/drawingml/2006/table">
            <a:tbl>
              <a:tblPr firstRow="1" bandRow="1">
                <a:tableStyleId>{073A0DAA-6AF3-43AB-8588-CEC1D06C72B9}</a:tableStyleId>
              </a:tblPr>
              <a:tblGrid>
                <a:gridCol w="1438593">
                  <a:extLst>
                    <a:ext uri="{9D8B030D-6E8A-4147-A177-3AD203B41FA5}">
                      <a16:colId xmlns:a16="http://schemas.microsoft.com/office/drawing/2014/main" val="1628065868"/>
                    </a:ext>
                  </a:extLst>
                </a:gridCol>
                <a:gridCol w="955992">
                  <a:extLst>
                    <a:ext uri="{9D8B030D-6E8A-4147-A177-3AD203B41FA5}">
                      <a16:colId xmlns:a16="http://schemas.microsoft.com/office/drawing/2014/main" val="3333418016"/>
                    </a:ext>
                  </a:extLst>
                </a:gridCol>
                <a:gridCol w="1041718">
                  <a:extLst>
                    <a:ext uri="{9D8B030D-6E8A-4147-A177-3AD203B41FA5}">
                      <a16:colId xmlns:a16="http://schemas.microsoft.com/office/drawing/2014/main" val="2983966065"/>
                    </a:ext>
                  </a:extLst>
                </a:gridCol>
                <a:gridCol w="696261">
                  <a:extLst>
                    <a:ext uri="{9D8B030D-6E8A-4147-A177-3AD203B41FA5}">
                      <a16:colId xmlns:a16="http://schemas.microsoft.com/office/drawing/2014/main" val="4282305198"/>
                    </a:ext>
                  </a:extLst>
                </a:gridCol>
              </a:tblGrid>
              <a:tr h="205869">
                <a:tc>
                  <a:txBody>
                    <a:bodyPr/>
                    <a:lstStyle/>
                    <a:p>
                      <a:r>
                        <a:rPr lang="en-US" sz="2000" dirty="0"/>
                        <a:t>Binary</a:t>
                      </a:r>
                      <a:endParaRPr lang="en-US" sz="2000" dirty="0">
                        <a:latin typeface="Helvetica Neue" panose="02000503000000020004" pitchFamily="2" charset="0"/>
                        <a:ea typeface="Helvetica Neue" panose="02000503000000020004" pitchFamily="2" charset="0"/>
                        <a:cs typeface="Helvetica Neue" panose="02000503000000020004" pitchFamily="2"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dirty="0"/>
                        <a:t>I</a:t>
                      </a:r>
                      <a:endParaRPr lang="en-US" sz="2000" dirty="0">
                        <a:latin typeface="Helvetica Neue" panose="02000503000000020004" pitchFamily="2" charset="0"/>
                        <a:ea typeface="Helvetica Neue" panose="02000503000000020004" pitchFamily="2" charset="0"/>
                        <a:cs typeface="Helvetica Neue" panose="02000503000000020004" pitchFamily="2"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dirty="0"/>
                        <a:t>II</a:t>
                      </a:r>
                      <a:endParaRPr lang="en-US" sz="2000" dirty="0">
                        <a:latin typeface="Helvetica Neue" panose="02000503000000020004" pitchFamily="2" charset="0"/>
                        <a:ea typeface="Helvetica Neue" panose="02000503000000020004" pitchFamily="2" charset="0"/>
                        <a:cs typeface="Helvetica Neue" panose="02000503000000020004" pitchFamily="2"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dirty="0"/>
                        <a:t>III</a:t>
                      </a:r>
                      <a:endParaRPr lang="en-US" sz="2000" dirty="0">
                        <a:latin typeface="Helvetica Neue" panose="02000503000000020004" pitchFamily="2" charset="0"/>
                        <a:ea typeface="Helvetica Neue" panose="02000503000000020004" pitchFamily="2" charset="0"/>
                        <a:cs typeface="Helvetica Neue" panose="02000503000000020004" pitchFamily="2" charset="0"/>
                      </a:endParaRPr>
                    </a:p>
                  </a:txBody>
                  <a:tcPr/>
                </a:tc>
                <a:extLst>
                  <a:ext uri="{0D108BD9-81ED-4DB2-BD59-A6C34878D82A}">
                    <a16:rowId xmlns:a16="http://schemas.microsoft.com/office/drawing/2014/main" val="185280997"/>
                  </a:ext>
                </a:extLst>
              </a:tr>
              <a:tr h="20586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t>Energy</a:t>
                      </a:r>
                      <a:endParaRPr lang="en-US" sz="2000" dirty="0">
                        <a:latin typeface="Helvetica Neue" panose="02000503000000020004" pitchFamily="2" charset="0"/>
                        <a:ea typeface="Helvetica Neue" panose="02000503000000020004" pitchFamily="2" charset="0"/>
                        <a:cs typeface="Helvetica Neue" panose="02000503000000020004" pitchFamily="2"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dirty="0"/>
                        <a:t>E</a:t>
                      </a:r>
                      <a:r>
                        <a:rPr lang="en-US" sz="2000" baseline="-25000" dirty="0"/>
                        <a:t>I </a:t>
                      </a:r>
                      <a:r>
                        <a:rPr lang="en-US" sz="2000" dirty="0"/>
                        <a:t>&lt;&lt; E</a:t>
                      </a:r>
                      <a:r>
                        <a:rPr lang="en-US" sz="2000" baseline="-25000" dirty="0"/>
                        <a:t>II</a:t>
                      </a:r>
                      <a:endParaRPr lang="en-US" sz="2000" baseline="-25000" dirty="0">
                        <a:latin typeface="Helvetica Neue" panose="02000503000000020004" pitchFamily="2" charset="0"/>
                        <a:ea typeface="Helvetica Neue" panose="02000503000000020004" pitchFamily="2" charset="0"/>
                        <a:cs typeface="Helvetica Neue" panose="02000503000000020004" pitchFamily="2"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dirty="0"/>
                        <a:t>E</a:t>
                      </a:r>
                      <a:r>
                        <a:rPr lang="en-US" sz="2000" baseline="-25000" dirty="0"/>
                        <a:t>II </a:t>
                      </a:r>
                      <a:r>
                        <a:rPr lang="en-US" sz="2000" dirty="0"/>
                        <a:t>&lt;&lt; E</a:t>
                      </a:r>
                      <a:r>
                        <a:rPr lang="en-US" sz="2000" baseline="-25000" dirty="0"/>
                        <a:t>III</a:t>
                      </a:r>
                      <a:endParaRPr lang="en-US" sz="2000" baseline="-25000" dirty="0">
                        <a:latin typeface="Helvetica Neue" panose="02000503000000020004" pitchFamily="2" charset="0"/>
                        <a:ea typeface="Helvetica Neue" panose="02000503000000020004" pitchFamily="2" charset="0"/>
                        <a:cs typeface="Helvetica Neue" panose="02000503000000020004" pitchFamily="2"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dirty="0"/>
                        <a:t>E</a:t>
                      </a:r>
                      <a:r>
                        <a:rPr lang="en-US" sz="2000" baseline="-25000" dirty="0"/>
                        <a:t>III</a:t>
                      </a:r>
                      <a:endParaRPr lang="en-US" sz="2000" baseline="-25000" dirty="0">
                        <a:latin typeface="Helvetica Neue" panose="02000503000000020004" pitchFamily="2" charset="0"/>
                        <a:ea typeface="Helvetica Neue" panose="02000503000000020004" pitchFamily="2" charset="0"/>
                        <a:cs typeface="Helvetica Neue" panose="02000503000000020004" pitchFamily="2" charset="0"/>
                      </a:endParaRPr>
                    </a:p>
                  </a:txBody>
                  <a:tcPr/>
                </a:tc>
                <a:extLst>
                  <a:ext uri="{0D108BD9-81ED-4DB2-BD59-A6C34878D82A}">
                    <a16:rowId xmlns:a16="http://schemas.microsoft.com/office/drawing/2014/main" val="1411836262"/>
                  </a:ext>
                </a:extLst>
              </a:tr>
              <a:tr h="20586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t>Frequency</a:t>
                      </a:r>
                      <a:endParaRPr lang="en-US" sz="2000" dirty="0">
                        <a:latin typeface="Helvetica Neue" panose="02000503000000020004" pitchFamily="2" charset="0"/>
                        <a:ea typeface="Helvetica Neue" panose="02000503000000020004" pitchFamily="2" charset="0"/>
                        <a:cs typeface="Helvetica Neue" panose="02000503000000020004" pitchFamily="2"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dirty="0" err="1"/>
                        <a:t>f</a:t>
                      </a:r>
                      <a:r>
                        <a:rPr lang="en-US" sz="2000" baseline="-25000" dirty="0" err="1"/>
                        <a:t>I</a:t>
                      </a:r>
                      <a:r>
                        <a:rPr lang="en-US" sz="2000" baseline="-25000" dirty="0"/>
                        <a:t> </a:t>
                      </a:r>
                      <a:r>
                        <a:rPr lang="en-US" sz="2000" dirty="0"/>
                        <a:t>&lt;&lt; </a:t>
                      </a:r>
                      <a:r>
                        <a:rPr lang="en-US" sz="2000" dirty="0" err="1"/>
                        <a:t>f</a:t>
                      </a:r>
                      <a:r>
                        <a:rPr lang="en-US" sz="2000" baseline="-25000" dirty="0" err="1"/>
                        <a:t>II</a:t>
                      </a:r>
                      <a:endParaRPr lang="en-US" sz="2000" baseline="-250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dirty="0" err="1"/>
                        <a:t>f</a:t>
                      </a:r>
                      <a:r>
                        <a:rPr lang="en-US" sz="2000" baseline="-25000" dirty="0" err="1"/>
                        <a:t>II</a:t>
                      </a:r>
                      <a:r>
                        <a:rPr lang="en-US" sz="2000" baseline="-25000" dirty="0"/>
                        <a:t> </a:t>
                      </a:r>
                      <a:r>
                        <a:rPr lang="en-US" sz="2000" dirty="0"/>
                        <a:t>&lt;&lt; </a:t>
                      </a:r>
                      <a:r>
                        <a:rPr lang="en-US" sz="2000" dirty="0" err="1"/>
                        <a:t>f</a:t>
                      </a:r>
                      <a:r>
                        <a:rPr lang="en-US" sz="2000" baseline="-25000" dirty="0" err="1"/>
                        <a:t>III</a:t>
                      </a:r>
                      <a:endParaRPr lang="en-US" sz="2000" baseline="-25000" dirty="0">
                        <a:latin typeface="Helvetica Neue" panose="02000503000000020004" pitchFamily="2" charset="0"/>
                        <a:ea typeface="Helvetica Neue" panose="02000503000000020004" pitchFamily="2" charset="0"/>
                        <a:cs typeface="Helvetica Neue" panose="02000503000000020004" pitchFamily="2"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dirty="0" err="1"/>
                        <a:t>f</a:t>
                      </a:r>
                      <a:r>
                        <a:rPr lang="en-US" sz="2000" baseline="-25000" dirty="0" err="1"/>
                        <a:t>III</a:t>
                      </a:r>
                      <a:endParaRPr lang="en-US" sz="2000" baseline="-25000" dirty="0">
                        <a:latin typeface="Helvetica Neue" panose="02000503000000020004" pitchFamily="2" charset="0"/>
                        <a:ea typeface="Helvetica Neue" panose="02000503000000020004" pitchFamily="2" charset="0"/>
                        <a:cs typeface="Helvetica Neue" panose="02000503000000020004" pitchFamily="2" charset="0"/>
                      </a:endParaRPr>
                    </a:p>
                  </a:txBody>
                  <a:tcPr/>
                </a:tc>
                <a:extLst>
                  <a:ext uri="{0D108BD9-81ED-4DB2-BD59-A6C34878D82A}">
                    <a16:rowId xmlns:a16="http://schemas.microsoft.com/office/drawing/2014/main" val="3951172800"/>
                  </a:ext>
                </a:extLst>
              </a:tr>
              <a:tr h="20586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t>Radius</a:t>
                      </a:r>
                      <a:endParaRPr lang="en-US" sz="2000" dirty="0">
                        <a:latin typeface="Helvetica Neue" panose="02000503000000020004" pitchFamily="2" charset="0"/>
                        <a:ea typeface="Helvetica Neue" panose="02000503000000020004" pitchFamily="2" charset="0"/>
                        <a:cs typeface="Helvetica Neue" panose="02000503000000020004" pitchFamily="2"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dirty="0" err="1"/>
                        <a:t>r</a:t>
                      </a:r>
                      <a:r>
                        <a:rPr lang="en-US" sz="2000" baseline="-25000" dirty="0" err="1"/>
                        <a:t>I</a:t>
                      </a:r>
                      <a:r>
                        <a:rPr lang="en-US" sz="2000" baseline="-25000" dirty="0"/>
                        <a:t> </a:t>
                      </a:r>
                      <a:r>
                        <a:rPr lang="en-US" sz="2000" dirty="0"/>
                        <a:t>&gt;&gt; </a:t>
                      </a:r>
                      <a:r>
                        <a:rPr lang="en-US" sz="2000" dirty="0" err="1"/>
                        <a:t>r</a:t>
                      </a:r>
                      <a:r>
                        <a:rPr lang="en-US" sz="2000" baseline="-25000" dirty="0" err="1"/>
                        <a:t>II</a:t>
                      </a:r>
                      <a:endParaRPr lang="en-US" sz="2000" baseline="-25000" dirty="0">
                        <a:latin typeface="Helvetica Neue" panose="02000503000000020004" pitchFamily="2" charset="0"/>
                        <a:ea typeface="Helvetica Neue" panose="02000503000000020004" pitchFamily="2" charset="0"/>
                        <a:cs typeface="Helvetica Neue" panose="02000503000000020004" pitchFamily="2"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dirty="0" err="1"/>
                        <a:t>r</a:t>
                      </a:r>
                      <a:r>
                        <a:rPr lang="en-US" sz="2000" baseline="-25000" dirty="0" err="1"/>
                        <a:t>II</a:t>
                      </a:r>
                      <a:r>
                        <a:rPr lang="en-US" sz="2000" baseline="-25000" dirty="0"/>
                        <a:t> </a:t>
                      </a:r>
                      <a:r>
                        <a:rPr lang="en-US" sz="2000" dirty="0"/>
                        <a:t>&gt;&gt; </a:t>
                      </a:r>
                      <a:r>
                        <a:rPr lang="en-US" sz="2000" dirty="0" err="1"/>
                        <a:t>r</a:t>
                      </a:r>
                      <a:r>
                        <a:rPr lang="en-US" sz="2000" baseline="-25000" dirty="0" err="1"/>
                        <a:t>III</a:t>
                      </a:r>
                      <a:endParaRPr lang="en-US" sz="2000" baseline="-25000" dirty="0">
                        <a:latin typeface="Helvetica Neue" panose="02000503000000020004" pitchFamily="2" charset="0"/>
                        <a:ea typeface="Helvetica Neue" panose="02000503000000020004" pitchFamily="2" charset="0"/>
                        <a:cs typeface="Helvetica Neue" panose="02000503000000020004" pitchFamily="2"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dirty="0" err="1"/>
                        <a:t>r</a:t>
                      </a:r>
                      <a:r>
                        <a:rPr lang="en-US" sz="2000" baseline="-25000" dirty="0" err="1"/>
                        <a:t>III</a:t>
                      </a:r>
                      <a:endParaRPr lang="en-US" sz="2000" baseline="-25000" dirty="0">
                        <a:latin typeface="Helvetica Neue" panose="02000503000000020004" pitchFamily="2" charset="0"/>
                        <a:ea typeface="Helvetica Neue" panose="02000503000000020004" pitchFamily="2" charset="0"/>
                        <a:cs typeface="Helvetica Neue" panose="02000503000000020004" pitchFamily="2" charset="0"/>
                      </a:endParaRPr>
                    </a:p>
                  </a:txBody>
                  <a:tcPr/>
                </a:tc>
                <a:extLst>
                  <a:ext uri="{0D108BD9-81ED-4DB2-BD59-A6C34878D82A}">
                    <a16:rowId xmlns:a16="http://schemas.microsoft.com/office/drawing/2014/main" val="2227550592"/>
                  </a:ext>
                </a:extLst>
              </a:tr>
              <a:tr h="20586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latin typeface="Helvetica Neue" panose="02000503000000020004" pitchFamily="2" charset="0"/>
                          <a:ea typeface="Helvetica Neue" panose="02000503000000020004" pitchFamily="2" charset="0"/>
                          <a:cs typeface="Helvetica Neue" panose="02000503000000020004" pitchFamily="2" charset="0"/>
                        </a:rPr>
                        <a:t>KE</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aseline="-25000" dirty="0">
                          <a:latin typeface="Helvetica Neue" panose="02000503000000020004" pitchFamily="2" charset="0"/>
                          <a:ea typeface="Helvetica Neue" panose="02000503000000020004" pitchFamily="2" charset="0"/>
                          <a:cs typeface="Helvetica Neue" panose="02000503000000020004" pitchFamily="2" charset="0"/>
                        </a:rPr>
                        <a:t>L</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aseline="-25000" dirty="0">
                          <a:latin typeface="Helvetica Neue" panose="02000503000000020004" pitchFamily="2" charset="0"/>
                          <a:ea typeface="Helvetica Neue" panose="02000503000000020004" pitchFamily="2" charset="0"/>
                          <a:cs typeface="Helvetica Neue" panose="02000503000000020004" pitchFamily="2" charset="0"/>
                        </a:rPr>
                        <a:t>M</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aseline="-25000" dirty="0">
                          <a:latin typeface="Helvetica Neue" panose="02000503000000020004" pitchFamily="2" charset="0"/>
                          <a:ea typeface="Helvetica Neue" panose="02000503000000020004" pitchFamily="2" charset="0"/>
                          <a:cs typeface="Helvetica Neue" panose="02000503000000020004" pitchFamily="2" charset="0"/>
                        </a:rPr>
                        <a:t>H</a:t>
                      </a:r>
                    </a:p>
                  </a:txBody>
                  <a:tcPr/>
                </a:tc>
                <a:extLst>
                  <a:ext uri="{0D108BD9-81ED-4DB2-BD59-A6C34878D82A}">
                    <a16:rowId xmlns:a16="http://schemas.microsoft.com/office/drawing/2014/main" val="2543742667"/>
                  </a:ext>
                </a:extLst>
              </a:tr>
              <a:tr h="20586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latin typeface="Helvetica Neue" panose="02000503000000020004" pitchFamily="2" charset="0"/>
                          <a:ea typeface="Helvetica Neue" panose="02000503000000020004" pitchFamily="2" charset="0"/>
                          <a:cs typeface="Helvetica Neue" panose="02000503000000020004" pitchFamily="2" charset="0"/>
                        </a:rPr>
                        <a:t>PE</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aseline="-25000" dirty="0">
                          <a:latin typeface="Helvetica Neue" panose="02000503000000020004" pitchFamily="2" charset="0"/>
                          <a:ea typeface="Helvetica Neue" panose="02000503000000020004" pitchFamily="2" charset="0"/>
                          <a:cs typeface="Helvetica Neue" panose="02000503000000020004" pitchFamily="2" charset="0"/>
                        </a:rPr>
                        <a:t>H</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aseline="-25000" dirty="0">
                          <a:latin typeface="Helvetica Neue" panose="02000503000000020004" pitchFamily="2" charset="0"/>
                          <a:ea typeface="Helvetica Neue" panose="02000503000000020004" pitchFamily="2" charset="0"/>
                          <a:cs typeface="Helvetica Neue" panose="02000503000000020004" pitchFamily="2" charset="0"/>
                        </a:rPr>
                        <a:t>M</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aseline="-25000" dirty="0">
                          <a:latin typeface="Helvetica Neue" panose="02000503000000020004" pitchFamily="2" charset="0"/>
                          <a:ea typeface="Helvetica Neue" panose="02000503000000020004" pitchFamily="2" charset="0"/>
                          <a:cs typeface="Helvetica Neue" panose="02000503000000020004" pitchFamily="2" charset="0"/>
                        </a:rPr>
                        <a:t>L</a:t>
                      </a:r>
                    </a:p>
                  </a:txBody>
                  <a:tcPr/>
                </a:tc>
                <a:extLst>
                  <a:ext uri="{0D108BD9-81ED-4DB2-BD59-A6C34878D82A}">
                    <a16:rowId xmlns:a16="http://schemas.microsoft.com/office/drawing/2014/main" val="2995610343"/>
                  </a:ext>
                </a:extLst>
              </a:tr>
            </a:tbl>
          </a:graphicData>
        </a:graphic>
      </p:graphicFrame>
      <p:sp>
        <p:nvSpPr>
          <p:cNvPr id="79" name="Oval 78">
            <a:extLst>
              <a:ext uri="{FF2B5EF4-FFF2-40B4-BE49-F238E27FC236}">
                <a16:creationId xmlns:a16="http://schemas.microsoft.com/office/drawing/2014/main" id="{15B31D96-2778-435B-756B-68583CFBB131}"/>
              </a:ext>
            </a:extLst>
          </p:cNvPr>
          <p:cNvSpPr>
            <a:spLocks noChangeAspect="1"/>
          </p:cNvSpPr>
          <p:nvPr/>
        </p:nvSpPr>
        <p:spPr>
          <a:xfrm rot="1800000">
            <a:off x="9865028" y="2941910"/>
            <a:ext cx="457200" cy="457200"/>
          </a:xfrm>
          <a:prstGeom prst="ellipse">
            <a:avLst/>
          </a:prstGeom>
          <a:noFill/>
          <a:ln w="762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6" name="Oval 85">
            <a:extLst>
              <a:ext uri="{FF2B5EF4-FFF2-40B4-BE49-F238E27FC236}">
                <a16:creationId xmlns:a16="http://schemas.microsoft.com/office/drawing/2014/main" id="{9BE8D9EA-A13C-B196-1949-E66A81BF2006}"/>
              </a:ext>
            </a:extLst>
          </p:cNvPr>
          <p:cNvSpPr>
            <a:spLocks noChangeAspect="1"/>
          </p:cNvSpPr>
          <p:nvPr/>
        </p:nvSpPr>
        <p:spPr>
          <a:xfrm rot="1800000" flipH="1">
            <a:off x="9758488" y="2904722"/>
            <a:ext cx="304800" cy="304800"/>
          </a:xfrm>
          <a:prstGeom prst="ellipse">
            <a:avLst/>
          </a:prstGeom>
          <a:noFill/>
          <a:ln>
            <a:solidFill>
              <a:schemeClr val="bg1">
                <a:lumMod val="85000"/>
              </a:schemeClr>
            </a:solidFill>
          </a:ln>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87" name="Oval 86">
            <a:extLst>
              <a:ext uri="{FF2B5EF4-FFF2-40B4-BE49-F238E27FC236}">
                <a16:creationId xmlns:a16="http://schemas.microsoft.com/office/drawing/2014/main" id="{8D1BCF79-E853-9416-C28A-6708CC928E0C}"/>
              </a:ext>
            </a:extLst>
          </p:cNvPr>
          <p:cNvSpPr>
            <a:spLocks noChangeAspect="1"/>
          </p:cNvSpPr>
          <p:nvPr/>
        </p:nvSpPr>
        <p:spPr>
          <a:xfrm rot="1800000" flipH="1">
            <a:off x="10130319" y="3124462"/>
            <a:ext cx="304800" cy="304800"/>
          </a:xfrm>
          <a:prstGeom prst="ellipse">
            <a:avLst/>
          </a:prstGeom>
          <a:noFill/>
          <a:ln>
            <a:solidFill>
              <a:schemeClr val="bg1">
                <a:lumMod val="85000"/>
              </a:schemeClr>
            </a:solidFill>
          </a:ln>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75" name="Oval 74">
            <a:extLst>
              <a:ext uri="{FF2B5EF4-FFF2-40B4-BE49-F238E27FC236}">
                <a16:creationId xmlns:a16="http://schemas.microsoft.com/office/drawing/2014/main" id="{C5B87A85-A0F0-EC90-F2B2-11781931796B}"/>
              </a:ext>
            </a:extLst>
          </p:cNvPr>
          <p:cNvSpPr>
            <a:spLocks noChangeAspect="1"/>
          </p:cNvSpPr>
          <p:nvPr/>
        </p:nvSpPr>
        <p:spPr>
          <a:xfrm flipH="1">
            <a:off x="10132857" y="3123806"/>
            <a:ext cx="304800" cy="304800"/>
          </a:xfrm>
          <a:prstGeom prst="ellipse">
            <a:avLst/>
          </a:prstGeom>
          <a:solidFill>
            <a:srgbClr val="FF0000"/>
          </a:solidFill>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76" name="Oval 75">
            <a:extLst>
              <a:ext uri="{FF2B5EF4-FFF2-40B4-BE49-F238E27FC236}">
                <a16:creationId xmlns:a16="http://schemas.microsoft.com/office/drawing/2014/main" id="{E0C248B0-0741-46E3-B654-774D78B62993}"/>
              </a:ext>
            </a:extLst>
          </p:cNvPr>
          <p:cNvSpPr>
            <a:spLocks noChangeAspect="1"/>
          </p:cNvSpPr>
          <p:nvPr/>
        </p:nvSpPr>
        <p:spPr>
          <a:xfrm flipH="1">
            <a:off x="9759842" y="2901918"/>
            <a:ext cx="304800" cy="304800"/>
          </a:xfrm>
          <a:prstGeom prst="ellipse">
            <a:avLst/>
          </a:prstGeom>
          <a:solidFill>
            <a:srgbClr val="0070C0"/>
          </a:solidFill>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2" name="TextBox 11">
            <a:extLst>
              <a:ext uri="{FF2B5EF4-FFF2-40B4-BE49-F238E27FC236}">
                <a16:creationId xmlns:a16="http://schemas.microsoft.com/office/drawing/2014/main" id="{E1E8861D-786C-7C40-88AC-F034E46925B4}"/>
              </a:ext>
            </a:extLst>
          </p:cNvPr>
          <p:cNvSpPr txBox="1"/>
          <p:nvPr/>
        </p:nvSpPr>
        <p:spPr>
          <a:xfrm>
            <a:off x="4840806" y="1387463"/>
            <a:ext cx="2497800"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Generation II Fermion Core</a:t>
            </a:r>
          </a:p>
        </p:txBody>
      </p:sp>
      <p:sp>
        <p:nvSpPr>
          <p:cNvPr id="93" name="TextBox 92">
            <a:extLst>
              <a:ext uri="{FF2B5EF4-FFF2-40B4-BE49-F238E27FC236}">
                <a16:creationId xmlns:a16="http://schemas.microsoft.com/office/drawing/2014/main" id="{8AD09EC1-9170-324B-81C1-8F206DFB0A03}"/>
              </a:ext>
            </a:extLst>
          </p:cNvPr>
          <p:cNvSpPr txBox="1"/>
          <p:nvPr/>
        </p:nvSpPr>
        <p:spPr>
          <a:xfrm>
            <a:off x="6266316" y="2193409"/>
            <a:ext cx="30480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II</a:t>
            </a:r>
          </a:p>
        </p:txBody>
      </p:sp>
      <p:sp>
        <p:nvSpPr>
          <p:cNvPr id="94" name="TextBox 93">
            <a:extLst>
              <a:ext uri="{FF2B5EF4-FFF2-40B4-BE49-F238E27FC236}">
                <a16:creationId xmlns:a16="http://schemas.microsoft.com/office/drawing/2014/main" id="{9E55F970-1CC8-204C-B3C6-9050D4F9C6C0}"/>
              </a:ext>
            </a:extLst>
          </p:cNvPr>
          <p:cNvSpPr txBox="1"/>
          <p:nvPr/>
        </p:nvSpPr>
        <p:spPr>
          <a:xfrm>
            <a:off x="5943880" y="2579868"/>
            <a:ext cx="444662"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III</a:t>
            </a:r>
          </a:p>
        </p:txBody>
      </p:sp>
      <p:sp>
        <p:nvSpPr>
          <p:cNvPr id="8" name="TextBox 7">
            <a:extLst>
              <a:ext uri="{FF2B5EF4-FFF2-40B4-BE49-F238E27FC236}">
                <a16:creationId xmlns:a16="http://schemas.microsoft.com/office/drawing/2014/main" id="{5E4D2F58-3062-A8C1-C241-A3FB682778BC}"/>
              </a:ext>
            </a:extLst>
          </p:cNvPr>
          <p:cNvSpPr txBox="1"/>
          <p:nvPr/>
        </p:nvSpPr>
        <p:spPr>
          <a:xfrm>
            <a:off x="8839016" y="1387463"/>
            <a:ext cx="2550698"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Generation III Fermion Core</a:t>
            </a:r>
          </a:p>
        </p:txBody>
      </p:sp>
      <p:sp>
        <p:nvSpPr>
          <p:cNvPr id="14" name="TextBox 13">
            <a:extLst>
              <a:ext uri="{FF2B5EF4-FFF2-40B4-BE49-F238E27FC236}">
                <a16:creationId xmlns:a16="http://schemas.microsoft.com/office/drawing/2014/main" id="{FB183F00-9B3D-EB10-7013-CBD28154666B}"/>
              </a:ext>
            </a:extLst>
          </p:cNvPr>
          <p:cNvSpPr txBox="1"/>
          <p:nvPr/>
        </p:nvSpPr>
        <p:spPr>
          <a:xfrm>
            <a:off x="10121195" y="2642903"/>
            <a:ext cx="444662"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III</a:t>
            </a:r>
          </a:p>
        </p:txBody>
      </p:sp>
      <p:sp>
        <p:nvSpPr>
          <p:cNvPr id="16" name="TextBox 15">
            <a:extLst>
              <a:ext uri="{FF2B5EF4-FFF2-40B4-BE49-F238E27FC236}">
                <a16:creationId xmlns:a16="http://schemas.microsoft.com/office/drawing/2014/main" id="{20F4ECD7-87AF-7261-E6F5-884B06BC0D6E}"/>
              </a:ext>
            </a:extLst>
          </p:cNvPr>
          <p:cNvSpPr txBox="1"/>
          <p:nvPr/>
        </p:nvSpPr>
        <p:spPr>
          <a:xfrm>
            <a:off x="991971" y="1387463"/>
            <a:ext cx="2444900"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Generation I Fermion Core</a:t>
            </a:r>
          </a:p>
        </p:txBody>
      </p:sp>
      <p:sp>
        <p:nvSpPr>
          <p:cNvPr id="17" name="TextBox 16">
            <a:extLst>
              <a:ext uri="{FF2B5EF4-FFF2-40B4-BE49-F238E27FC236}">
                <a16:creationId xmlns:a16="http://schemas.microsoft.com/office/drawing/2014/main" id="{AF12CB76-0957-DA64-F826-154A6FA05F30}"/>
              </a:ext>
            </a:extLst>
          </p:cNvPr>
          <p:cNvSpPr txBox="1"/>
          <p:nvPr/>
        </p:nvSpPr>
        <p:spPr>
          <a:xfrm>
            <a:off x="2735783" y="1858373"/>
            <a:ext cx="248388"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I</a:t>
            </a:r>
          </a:p>
        </p:txBody>
      </p:sp>
      <p:sp>
        <p:nvSpPr>
          <p:cNvPr id="18" name="TextBox 17">
            <a:extLst>
              <a:ext uri="{FF2B5EF4-FFF2-40B4-BE49-F238E27FC236}">
                <a16:creationId xmlns:a16="http://schemas.microsoft.com/office/drawing/2014/main" id="{6C0B8542-C95E-6DAE-DB71-A729869913AF}"/>
              </a:ext>
            </a:extLst>
          </p:cNvPr>
          <p:cNvSpPr txBox="1"/>
          <p:nvPr/>
        </p:nvSpPr>
        <p:spPr>
          <a:xfrm>
            <a:off x="2483733" y="2231479"/>
            <a:ext cx="30480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II</a:t>
            </a:r>
          </a:p>
        </p:txBody>
      </p:sp>
      <p:sp>
        <p:nvSpPr>
          <p:cNvPr id="19" name="TextBox 18">
            <a:extLst>
              <a:ext uri="{FF2B5EF4-FFF2-40B4-BE49-F238E27FC236}">
                <a16:creationId xmlns:a16="http://schemas.microsoft.com/office/drawing/2014/main" id="{5F1ED0DE-4DED-197B-A210-7F76433733A9}"/>
              </a:ext>
            </a:extLst>
          </p:cNvPr>
          <p:cNvSpPr txBox="1"/>
          <p:nvPr/>
        </p:nvSpPr>
        <p:spPr>
          <a:xfrm>
            <a:off x="2161297" y="2617938"/>
            <a:ext cx="444662"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III</a:t>
            </a:r>
          </a:p>
        </p:txBody>
      </p:sp>
    </p:spTree>
    <p:extLst>
      <p:ext uri="{BB962C8B-B14F-4D97-AF65-F5344CB8AC3E}">
        <p14:creationId xmlns:p14="http://schemas.microsoft.com/office/powerpoint/2010/main" val="13926203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p:cNvGrpSpPr/>
        <p:nvPr/>
      </p:nvGrpSpPr>
      <p:grpSpPr>
        <a:xfrm>
          <a:off x="0" y="0"/>
          <a:ext cx="0" cy="0"/>
          <a:chOff x="0" y="0"/>
          <a:chExt cx="0" cy="0"/>
        </a:xfrm>
      </p:grpSpPr>
      <p:sp>
        <p:nvSpPr>
          <p:cNvPr id="882" name="Arc 881">
            <a:extLst>
              <a:ext uri="{FF2B5EF4-FFF2-40B4-BE49-F238E27FC236}">
                <a16:creationId xmlns:a16="http://schemas.microsoft.com/office/drawing/2014/main" id="{FC15BCD7-61F1-F280-B291-6D3C7FB4ADD0}"/>
              </a:ext>
            </a:extLst>
          </p:cNvPr>
          <p:cNvSpPr/>
          <p:nvPr/>
        </p:nvSpPr>
        <p:spPr>
          <a:xfrm>
            <a:off x="1012393" y="1983959"/>
            <a:ext cx="99680" cy="99680"/>
          </a:xfrm>
          <a:prstGeom prst="arc">
            <a:avLst>
              <a:gd name="adj1" fmla="val 16980644"/>
              <a:gd name="adj2" fmla="val 5405383"/>
            </a:avLst>
          </a:prstGeom>
          <a:ln w="12700" cap="flat">
            <a:gradFill>
              <a:gsLst>
                <a:gs pos="0">
                  <a:schemeClr val="bg1"/>
                </a:gs>
                <a:gs pos="91000">
                  <a:srgbClr val="0070C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83" name="Arc 882">
            <a:extLst>
              <a:ext uri="{FF2B5EF4-FFF2-40B4-BE49-F238E27FC236}">
                <a16:creationId xmlns:a16="http://schemas.microsoft.com/office/drawing/2014/main" id="{C409198E-9FF1-9934-214B-CB1AE9BF1CA6}"/>
              </a:ext>
            </a:extLst>
          </p:cNvPr>
          <p:cNvSpPr/>
          <p:nvPr/>
        </p:nvSpPr>
        <p:spPr>
          <a:xfrm rot="10800000">
            <a:off x="1012393" y="1983959"/>
            <a:ext cx="99680" cy="99680"/>
          </a:xfrm>
          <a:prstGeom prst="arc">
            <a:avLst>
              <a:gd name="adj1" fmla="val 17194449"/>
              <a:gd name="adj2" fmla="val 5405383"/>
            </a:avLst>
          </a:prstGeom>
          <a:ln w="12700" cap="flat">
            <a:gradFill>
              <a:gsLst>
                <a:gs pos="0">
                  <a:schemeClr val="bg1"/>
                </a:gs>
                <a:gs pos="86000">
                  <a:srgbClr val="FF000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80" name="Arc 879">
            <a:extLst>
              <a:ext uri="{FF2B5EF4-FFF2-40B4-BE49-F238E27FC236}">
                <a16:creationId xmlns:a16="http://schemas.microsoft.com/office/drawing/2014/main" id="{4F3C1EC7-6A00-1E0E-5587-84A4B83927BD}"/>
              </a:ext>
            </a:extLst>
          </p:cNvPr>
          <p:cNvSpPr/>
          <p:nvPr/>
        </p:nvSpPr>
        <p:spPr>
          <a:xfrm rot="14400000">
            <a:off x="991719" y="1963285"/>
            <a:ext cx="141029" cy="141029"/>
          </a:xfrm>
          <a:prstGeom prst="arc">
            <a:avLst>
              <a:gd name="adj1" fmla="val 16980644"/>
              <a:gd name="adj2" fmla="val 5405383"/>
            </a:avLst>
          </a:prstGeom>
          <a:ln w="12700" cap="flat">
            <a:gradFill>
              <a:gsLst>
                <a:gs pos="0">
                  <a:schemeClr val="bg1"/>
                </a:gs>
                <a:gs pos="91000">
                  <a:srgbClr val="0070C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81" name="Arc 880">
            <a:extLst>
              <a:ext uri="{FF2B5EF4-FFF2-40B4-BE49-F238E27FC236}">
                <a16:creationId xmlns:a16="http://schemas.microsoft.com/office/drawing/2014/main" id="{1ADBB78A-3E70-4A44-59BC-3AB4D23B434B}"/>
              </a:ext>
            </a:extLst>
          </p:cNvPr>
          <p:cNvSpPr/>
          <p:nvPr/>
        </p:nvSpPr>
        <p:spPr>
          <a:xfrm rot="3600000">
            <a:off x="991719" y="1963285"/>
            <a:ext cx="141029" cy="141029"/>
          </a:xfrm>
          <a:prstGeom prst="arc">
            <a:avLst>
              <a:gd name="adj1" fmla="val 17194449"/>
              <a:gd name="adj2" fmla="val 5405383"/>
            </a:avLst>
          </a:prstGeom>
          <a:ln w="12700" cap="flat">
            <a:gradFill>
              <a:gsLst>
                <a:gs pos="0">
                  <a:schemeClr val="bg1"/>
                </a:gs>
                <a:gs pos="86000">
                  <a:srgbClr val="FF000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78" name="Arc 877">
            <a:extLst>
              <a:ext uri="{FF2B5EF4-FFF2-40B4-BE49-F238E27FC236}">
                <a16:creationId xmlns:a16="http://schemas.microsoft.com/office/drawing/2014/main" id="{06F449CB-794E-5ADB-7CF6-72C5F8B76E92}"/>
              </a:ext>
            </a:extLst>
          </p:cNvPr>
          <p:cNvSpPr/>
          <p:nvPr/>
        </p:nvSpPr>
        <p:spPr>
          <a:xfrm rot="7200000">
            <a:off x="970793" y="1942358"/>
            <a:ext cx="182880" cy="182880"/>
          </a:xfrm>
          <a:prstGeom prst="arc">
            <a:avLst>
              <a:gd name="adj1" fmla="val 16980644"/>
              <a:gd name="adj2" fmla="val 5405383"/>
            </a:avLst>
          </a:prstGeom>
          <a:ln w="12700" cap="flat">
            <a:gradFill>
              <a:gsLst>
                <a:gs pos="0">
                  <a:schemeClr val="bg1"/>
                </a:gs>
                <a:gs pos="91000">
                  <a:srgbClr val="0070C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79" name="Arc 878">
            <a:extLst>
              <a:ext uri="{FF2B5EF4-FFF2-40B4-BE49-F238E27FC236}">
                <a16:creationId xmlns:a16="http://schemas.microsoft.com/office/drawing/2014/main" id="{B36B7510-1BFA-36CB-A0DD-1FA558F7B120}"/>
              </a:ext>
            </a:extLst>
          </p:cNvPr>
          <p:cNvSpPr/>
          <p:nvPr/>
        </p:nvSpPr>
        <p:spPr>
          <a:xfrm rot="18000000">
            <a:off x="970793" y="1942358"/>
            <a:ext cx="182880" cy="182880"/>
          </a:xfrm>
          <a:prstGeom prst="arc">
            <a:avLst>
              <a:gd name="adj1" fmla="val 17194449"/>
              <a:gd name="adj2" fmla="val 5405383"/>
            </a:avLst>
          </a:prstGeom>
          <a:ln w="12700" cap="flat">
            <a:gradFill>
              <a:gsLst>
                <a:gs pos="0">
                  <a:schemeClr val="bg1"/>
                </a:gs>
                <a:gs pos="86000">
                  <a:srgbClr val="FF000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Title 4">
            <a:extLst>
              <a:ext uri="{FF2B5EF4-FFF2-40B4-BE49-F238E27FC236}">
                <a16:creationId xmlns:a16="http://schemas.microsoft.com/office/drawing/2014/main" id="{7C5ACA46-7BDC-F97A-021D-407AA155B145}"/>
              </a:ext>
            </a:extLst>
          </p:cNvPr>
          <p:cNvSpPr txBox="1">
            <a:spLocks/>
          </p:cNvSpPr>
          <p:nvPr/>
        </p:nvSpPr>
        <p:spPr>
          <a:xfrm>
            <a:off x="724738" y="278398"/>
            <a:ext cx="10854481" cy="989620"/>
          </a:xfrm>
          <a:prstGeom prst="rect">
            <a:avLst/>
          </a:prstGeom>
          <a:noFill/>
          <a:ln>
            <a:noFill/>
          </a:ln>
        </p:spPr>
        <p:txBody>
          <a:bodyPr anchor="ctr">
            <a:normAutofit fontScale="8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4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Tri Binaries Scale and are “Cloaked”</a:t>
            </a:r>
          </a:p>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4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(Superposition, Frequency, Emission = q/v)</a:t>
            </a:r>
          </a:p>
        </p:txBody>
      </p:sp>
      <p:sp>
        <p:nvSpPr>
          <p:cNvPr id="13" name="Arc 12">
            <a:extLst>
              <a:ext uri="{FF2B5EF4-FFF2-40B4-BE49-F238E27FC236}">
                <a16:creationId xmlns:a16="http://schemas.microsoft.com/office/drawing/2014/main" id="{20AF1D60-E2A9-92E9-F7B7-3978E3A4D1DA}"/>
              </a:ext>
            </a:extLst>
          </p:cNvPr>
          <p:cNvSpPr/>
          <p:nvPr/>
        </p:nvSpPr>
        <p:spPr>
          <a:xfrm>
            <a:off x="3413558" y="1859361"/>
            <a:ext cx="348882" cy="348882"/>
          </a:xfrm>
          <a:prstGeom prst="arc">
            <a:avLst>
              <a:gd name="adj1" fmla="val 16980644"/>
              <a:gd name="adj2" fmla="val 5405383"/>
            </a:avLst>
          </a:prstGeom>
          <a:ln w="12700" cap="flat">
            <a:gradFill>
              <a:gsLst>
                <a:gs pos="0">
                  <a:schemeClr val="bg1"/>
                </a:gs>
                <a:gs pos="91000">
                  <a:srgbClr val="0070C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Arc 13">
            <a:extLst>
              <a:ext uri="{FF2B5EF4-FFF2-40B4-BE49-F238E27FC236}">
                <a16:creationId xmlns:a16="http://schemas.microsoft.com/office/drawing/2014/main" id="{1EE8DFE3-9774-B3E7-F4E6-55E47877ECA6}"/>
              </a:ext>
            </a:extLst>
          </p:cNvPr>
          <p:cNvSpPr/>
          <p:nvPr/>
        </p:nvSpPr>
        <p:spPr>
          <a:xfrm rot="10800000">
            <a:off x="3413558" y="1859361"/>
            <a:ext cx="348882" cy="348882"/>
          </a:xfrm>
          <a:prstGeom prst="arc">
            <a:avLst>
              <a:gd name="adj1" fmla="val 17194449"/>
              <a:gd name="adj2" fmla="val 5405383"/>
            </a:avLst>
          </a:prstGeom>
          <a:ln w="12700" cap="flat">
            <a:gradFill>
              <a:gsLst>
                <a:gs pos="0">
                  <a:schemeClr val="bg1"/>
                </a:gs>
                <a:gs pos="86000">
                  <a:srgbClr val="FF000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Arc 10">
            <a:extLst>
              <a:ext uri="{FF2B5EF4-FFF2-40B4-BE49-F238E27FC236}">
                <a16:creationId xmlns:a16="http://schemas.microsoft.com/office/drawing/2014/main" id="{7049C8F0-28D5-3E07-9D82-9670E04BEDC1}"/>
              </a:ext>
            </a:extLst>
          </p:cNvPr>
          <p:cNvSpPr/>
          <p:nvPr/>
        </p:nvSpPr>
        <p:spPr>
          <a:xfrm rot="14400000">
            <a:off x="3341198" y="1787001"/>
            <a:ext cx="493603" cy="493603"/>
          </a:xfrm>
          <a:prstGeom prst="arc">
            <a:avLst>
              <a:gd name="adj1" fmla="val 16980644"/>
              <a:gd name="adj2" fmla="val 5405383"/>
            </a:avLst>
          </a:prstGeom>
          <a:ln w="12700" cap="flat">
            <a:gradFill>
              <a:gsLst>
                <a:gs pos="0">
                  <a:schemeClr val="bg1"/>
                </a:gs>
                <a:gs pos="91000">
                  <a:srgbClr val="0070C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Arc 11">
            <a:extLst>
              <a:ext uri="{FF2B5EF4-FFF2-40B4-BE49-F238E27FC236}">
                <a16:creationId xmlns:a16="http://schemas.microsoft.com/office/drawing/2014/main" id="{349A0666-017B-F5D7-43B2-D11023AC7C26}"/>
              </a:ext>
            </a:extLst>
          </p:cNvPr>
          <p:cNvSpPr/>
          <p:nvPr/>
        </p:nvSpPr>
        <p:spPr>
          <a:xfrm rot="3600000">
            <a:off x="3341198" y="1787001"/>
            <a:ext cx="493603" cy="493603"/>
          </a:xfrm>
          <a:prstGeom prst="arc">
            <a:avLst>
              <a:gd name="adj1" fmla="val 17194449"/>
              <a:gd name="adj2" fmla="val 5405383"/>
            </a:avLst>
          </a:prstGeom>
          <a:ln w="12700" cap="flat">
            <a:gradFill>
              <a:gsLst>
                <a:gs pos="0">
                  <a:schemeClr val="bg1"/>
                </a:gs>
                <a:gs pos="86000">
                  <a:srgbClr val="FF000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Arc 8">
            <a:extLst>
              <a:ext uri="{FF2B5EF4-FFF2-40B4-BE49-F238E27FC236}">
                <a16:creationId xmlns:a16="http://schemas.microsoft.com/office/drawing/2014/main" id="{A7C07429-12D5-433B-A3D2-07C905013D6D}"/>
              </a:ext>
            </a:extLst>
          </p:cNvPr>
          <p:cNvSpPr/>
          <p:nvPr/>
        </p:nvSpPr>
        <p:spPr>
          <a:xfrm rot="7200000">
            <a:off x="3267958" y="1713758"/>
            <a:ext cx="640080" cy="640080"/>
          </a:xfrm>
          <a:prstGeom prst="arc">
            <a:avLst>
              <a:gd name="adj1" fmla="val 16980644"/>
              <a:gd name="adj2" fmla="val 5405383"/>
            </a:avLst>
          </a:prstGeom>
          <a:ln w="12700" cap="flat">
            <a:gradFill>
              <a:gsLst>
                <a:gs pos="0">
                  <a:schemeClr val="bg1"/>
                </a:gs>
                <a:gs pos="91000">
                  <a:srgbClr val="0070C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Arc 9">
            <a:extLst>
              <a:ext uri="{FF2B5EF4-FFF2-40B4-BE49-F238E27FC236}">
                <a16:creationId xmlns:a16="http://schemas.microsoft.com/office/drawing/2014/main" id="{66051411-8C85-E2D9-1E91-7F0E5813AB0C}"/>
              </a:ext>
            </a:extLst>
          </p:cNvPr>
          <p:cNvSpPr/>
          <p:nvPr/>
        </p:nvSpPr>
        <p:spPr>
          <a:xfrm rot="18000000">
            <a:off x="3267958" y="1713758"/>
            <a:ext cx="640080" cy="640080"/>
          </a:xfrm>
          <a:prstGeom prst="arc">
            <a:avLst>
              <a:gd name="adj1" fmla="val 17194449"/>
              <a:gd name="adj2" fmla="val 5405383"/>
            </a:avLst>
          </a:prstGeom>
          <a:ln w="12700" cap="flat">
            <a:gradFill>
              <a:gsLst>
                <a:gs pos="0">
                  <a:schemeClr val="bg1"/>
                </a:gs>
                <a:gs pos="86000">
                  <a:srgbClr val="FF000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Arc 22">
            <a:extLst>
              <a:ext uri="{FF2B5EF4-FFF2-40B4-BE49-F238E27FC236}">
                <a16:creationId xmlns:a16="http://schemas.microsoft.com/office/drawing/2014/main" id="{DC076570-F758-AD57-F467-DBF409D6EA66}"/>
              </a:ext>
            </a:extLst>
          </p:cNvPr>
          <p:cNvSpPr/>
          <p:nvPr/>
        </p:nvSpPr>
        <p:spPr>
          <a:xfrm>
            <a:off x="1309746" y="1959039"/>
            <a:ext cx="149521" cy="149521"/>
          </a:xfrm>
          <a:prstGeom prst="arc">
            <a:avLst>
              <a:gd name="adj1" fmla="val 16980644"/>
              <a:gd name="adj2" fmla="val 5405383"/>
            </a:avLst>
          </a:prstGeom>
          <a:ln w="12700" cap="flat">
            <a:gradFill>
              <a:gsLst>
                <a:gs pos="0">
                  <a:schemeClr val="bg1"/>
                </a:gs>
                <a:gs pos="91000">
                  <a:srgbClr val="0070C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Arc 23">
            <a:extLst>
              <a:ext uri="{FF2B5EF4-FFF2-40B4-BE49-F238E27FC236}">
                <a16:creationId xmlns:a16="http://schemas.microsoft.com/office/drawing/2014/main" id="{38015C71-F26F-E649-2892-5AD30311C9BB}"/>
              </a:ext>
            </a:extLst>
          </p:cNvPr>
          <p:cNvSpPr/>
          <p:nvPr/>
        </p:nvSpPr>
        <p:spPr>
          <a:xfrm rot="10800000">
            <a:off x="1309746" y="1959039"/>
            <a:ext cx="149521" cy="149521"/>
          </a:xfrm>
          <a:prstGeom prst="arc">
            <a:avLst>
              <a:gd name="adj1" fmla="val 17194449"/>
              <a:gd name="adj2" fmla="val 5405383"/>
            </a:avLst>
          </a:prstGeom>
          <a:ln w="12700" cap="flat">
            <a:gradFill>
              <a:gsLst>
                <a:gs pos="0">
                  <a:schemeClr val="bg1"/>
                </a:gs>
                <a:gs pos="86000">
                  <a:srgbClr val="FF000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Arc 20">
            <a:extLst>
              <a:ext uri="{FF2B5EF4-FFF2-40B4-BE49-F238E27FC236}">
                <a16:creationId xmlns:a16="http://schemas.microsoft.com/office/drawing/2014/main" id="{16F0EF73-DD83-530D-E45F-77029AF124FA}"/>
              </a:ext>
            </a:extLst>
          </p:cNvPr>
          <p:cNvSpPr/>
          <p:nvPr/>
        </p:nvSpPr>
        <p:spPr>
          <a:xfrm rot="14400000">
            <a:off x="1278734" y="1928028"/>
            <a:ext cx="211544" cy="211544"/>
          </a:xfrm>
          <a:prstGeom prst="arc">
            <a:avLst>
              <a:gd name="adj1" fmla="val 16980644"/>
              <a:gd name="adj2" fmla="val 5405383"/>
            </a:avLst>
          </a:prstGeom>
          <a:ln w="12700" cap="flat">
            <a:gradFill>
              <a:gsLst>
                <a:gs pos="0">
                  <a:schemeClr val="bg1"/>
                </a:gs>
                <a:gs pos="91000">
                  <a:srgbClr val="0070C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Arc 21">
            <a:extLst>
              <a:ext uri="{FF2B5EF4-FFF2-40B4-BE49-F238E27FC236}">
                <a16:creationId xmlns:a16="http://schemas.microsoft.com/office/drawing/2014/main" id="{16CDEC78-0238-7556-F8CE-FCA1F5523779}"/>
              </a:ext>
            </a:extLst>
          </p:cNvPr>
          <p:cNvSpPr/>
          <p:nvPr/>
        </p:nvSpPr>
        <p:spPr>
          <a:xfrm rot="3600000">
            <a:off x="1278734" y="1928028"/>
            <a:ext cx="211544" cy="211544"/>
          </a:xfrm>
          <a:prstGeom prst="arc">
            <a:avLst>
              <a:gd name="adj1" fmla="val 17194449"/>
              <a:gd name="adj2" fmla="val 5405383"/>
            </a:avLst>
          </a:prstGeom>
          <a:ln w="12700" cap="flat">
            <a:gradFill>
              <a:gsLst>
                <a:gs pos="0">
                  <a:schemeClr val="bg1"/>
                </a:gs>
                <a:gs pos="86000">
                  <a:srgbClr val="FF000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Arc 18">
            <a:extLst>
              <a:ext uri="{FF2B5EF4-FFF2-40B4-BE49-F238E27FC236}">
                <a16:creationId xmlns:a16="http://schemas.microsoft.com/office/drawing/2014/main" id="{A1031EC1-4722-AF6A-E19E-DDD837130F83}"/>
              </a:ext>
            </a:extLst>
          </p:cNvPr>
          <p:cNvSpPr/>
          <p:nvPr/>
        </p:nvSpPr>
        <p:spPr>
          <a:xfrm rot="7200000">
            <a:off x="1247346" y="1896638"/>
            <a:ext cx="274320" cy="274320"/>
          </a:xfrm>
          <a:prstGeom prst="arc">
            <a:avLst>
              <a:gd name="adj1" fmla="val 16980644"/>
              <a:gd name="adj2" fmla="val 5405383"/>
            </a:avLst>
          </a:prstGeom>
          <a:ln w="12700" cap="flat">
            <a:gradFill>
              <a:gsLst>
                <a:gs pos="0">
                  <a:schemeClr val="bg1"/>
                </a:gs>
                <a:gs pos="91000">
                  <a:srgbClr val="0070C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Arc 19">
            <a:extLst>
              <a:ext uri="{FF2B5EF4-FFF2-40B4-BE49-F238E27FC236}">
                <a16:creationId xmlns:a16="http://schemas.microsoft.com/office/drawing/2014/main" id="{83D229D3-5C8C-9697-70B9-5000E3D56681}"/>
              </a:ext>
            </a:extLst>
          </p:cNvPr>
          <p:cNvSpPr/>
          <p:nvPr/>
        </p:nvSpPr>
        <p:spPr>
          <a:xfrm rot="18000000">
            <a:off x="1247346" y="1896638"/>
            <a:ext cx="274320" cy="274320"/>
          </a:xfrm>
          <a:prstGeom prst="arc">
            <a:avLst>
              <a:gd name="adj1" fmla="val 17194449"/>
              <a:gd name="adj2" fmla="val 5405383"/>
            </a:avLst>
          </a:prstGeom>
          <a:ln w="12700" cap="flat">
            <a:gradFill>
              <a:gsLst>
                <a:gs pos="0">
                  <a:schemeClr val="bg1"/>
                </a:gs>
                <a:gs pos="86000">
                  <a:srgbClr val="FF000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3" name="Arc 32">
            <a:extLst>
              <a:ext uri="{FF2B5EF4-FFF2-40B4-BE49-F238E27FC236}">
                <a16:creationId xmlns:a16="http://schemas.microsoft.com/office/drawing/2014/main" id="{004DFF05-27B5-CF27-A278-96C25BA0EE39}"/>
              </a:ext>
            </a:extLst>
          </p:cNvPr>
          <p:cNvSpPr/>
          <p:nvPr/>
        </p:nvSpPr>
        <p:spPr>
          <a:xfrm>
            <a:off x="1698539" y="1934120"/>
            <a:ext cx="199361" cy="199361"/>
          </a:xfrm>
          <a:prstGeom prst="arc">
            <a:avLst>
              <a:gd name="adj1" fmla="val 16980644"/>
              <a:gd name="adj2" fmla="val 5405383"/>
            </a:avLst>
          </a:prstGeom>
          <a:ln w="12700" cap="flat">
            <a:gradFill>
              <a:gsLst>
                <a:gs pos="0">
                  <a:schemeClr val="bg1"/>
                </a:gs>
                <a:gs pos="91000">
                  <a:srgbClr val="0070C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4" name="Arc 33">
            <a:extLst>
              <a:ext uri="{FF2B5EF4-FFF2-40B4-BE49-F238E27FC236}">
                <a16:creationId xmlns:a16="http://schemas.microsoft.com/office/drawing/2014/main" id="{03221FF9-3140-1477-132D-D8658354A551}"/>
              </a:ext>
            </a:extLst>
          </p:cNvPr>
          <p:cNvSpPr/>
          <p:nvPr/>
        </p:nvSpPr>
        <p:spPr>
          <a:xfrm rot="10800000">
            <a:off x="1698539" y="1934120"/>
            <a:ext cx="199361" cy="199361"/>
          </a:xfrm>
          <a:prstGeom prst="arc">
            <a:avLst>
              <a:gd name="adj1" fmla="val 17194449"/>
              <a:gd name="adj2" fmla="val 5405383"/>
            </a:avLst>
          </a:prstGeom>
          <a:ln w="12700" cap="flat">
            <a:gradFill>
              <a:gsLst>
                <a:gs pos="0">
                  <a:schemeClr val="bg1"/>
                </a:gs>
                <a:gs pos="86000">
                  <a:srgbClr val="FF000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 name="Arc 30">
            <a:extLst>
              <a:ext uri="{FF2B5EF4-FFF2-40B4-BE49-F238E27FC236}">
                <a16:creationId xmlns:a16="http://schemas.microsoft.com/office/drawing/2014/main" id="{3604387D-448C-E5F6-9015-5522773A904A}"/>
              </a:ext>
            </a:extLst>
          </p:cNvPr>
          <p:cNvSpPr/>
          <p:nvPr/>
        </p:nvSpPr>
        <p:spPr>
          <a:xfrm rot="14400000">
            <a:off x="1657190" y="1892771"/>
            <a:ext cx="282059" cy="282059"/>
          </a:xfrm>
          <a:prstGeom prst="arc">
            <a:avLst>
              <a:gd name="adj1" fmla="val 16980644"/>
              <a:gd name="adj2" fmla="val 5405383"/>
            </a:avLst>
          </a:prstGeom>
          <a:ln w="12700" cap="flat">
            <a:gradFill>
              <a:gsLst>
                <a:gs pos="0">
                  <a:schemeClr val="bg1"/>
                </a:gs>
                <a:gs pos="91000">
                  <a:srgbClr val="0070C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2" name="Arc 31">
            <a:extLst>
              <a:ext uri="{FF2B5EF4-FFF2-40B4-BE49-F238E27FC236}">
                <a16:creationId xmlns:a16="http://schemas.microsoft.com/office/drawing/2014/main" id="{E7D37BFE-A1EE-BFE7-8B4E-6040F5C4036D}"/>
              </a:ext>
            </a:extLst>
          </p:cNvPr>
          <p:cNvSpPr/>
          <p:nvPr/>
        </p:nvSpPr>
        <p:spPr>
          <a:xfrm rot="3600000">
            <a:off x="1657190" y="1892771"/>
            <a:ext cx="282059" cy="282059"/>
          </a:xfrm>
          <a:prstGeom prst="arc">
            <a:avLst>
              <a:gd name="adj1" fmla="val 17194449"/>
              <a:gd name="adj2" fmla="val 5405383"/>
            </a:avLst>
          </a:prstGeom>
          <a:ln w="12700" cap="flat">
            <a:gradFill>
              <a:gsLst>
                <a:gs pos="0">
                  <a:schemeClr val="bg1"/>
                </a:gs>
                <a:gs pos="86000">
                  <a:srgbClr val="FF000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 name="Arc 28">
            <a:extLst>
              <a:ext uri="{FF2B5EF4-FFF2-40B4-BE49-F238E27FC236}">
                <a16:creationId xmlns:a16="http://schemas.microsoft.com/office/drawing/2014/main" id="{B2E14F30-C459-EF7E-93D2-950CD4356948}"/>
              </a:ext>
            </a:extLst>
          </p:cNvPr>
          <p:cNvSpPr/>
          <p:nvPr/>
        </p:nvSpPr>
        <p:spPr>
          <a:xfrm rot="7200000">
            <a:off x="1615339" y="1850918"/>
            <a:ext cx="365760" cy="365760"/>
          </a:xfrm>
          <a:prstGeom prst="arc">
            <a:avLst>
              <a:gd name="adj1" fmla="val 16980644"/>
              <a:gd name="adj2" fmla="val 5405383"/>
            </a:avLst>
          </a:prstGeom>
          <a:ln w="12700" cap="flat">
            <a:gradFill>
              <a:gsLst>
                <a:gs pos="0">
                  <a:schemeClr val="bg1"/>
                </a:gs>
                <a:gs pos="91000">
                  <a:srgbClr val="0070C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 name="Arc 29">
            <a:extLst>
              <a:ext uri="{FF2B5EF4-FFF2-40B4-BE49-F238E27FC236}">
                <a16:creationId xmlns:a16="http://schemas.microsoft.com/office/drawing/2014/main" id="{8E3DDEE3-514E-5A9B-A776-CC33BF746A31}"/>
              </a:ext>
            </a:extLst>
          </p:cNvPr>
          <p:cNvSpPr/>
          <p:nvPr/>
        </p:nvSpPr>
        <p:spPr>
          <a:xfrm rot="18000000">
            <a:off x="1615339" y="1850918"/>
            <a:ext cx="365760" cy="365760"/>
          </a:xfrm>
          <a:prstGeom prst="arc">
            <a:avLst>
              <a:gd name="adj1" fmla="val 17194449"/>
              <a:gd name="adj2" fmla="val 5405383"/>
            </a:avLst>
          </a:prstGeom>
          <a:ln w="12700" cap="flat">
            <a:gradFill>
              <a:gsLst>
                <a:gs pos="0">
                  <a:schemeClr val="bg1"/>
                </a:gs>
                <a:gs pos="86000">
                  <a:srgbClr val="FF000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3" name="Arc 42">
            <a:extLst>
              <a:ext uri="{FF2B5EF4-FFF2-40B4-BE49-F238E27FC236}">
                <a16:creationId xmlns:a16="http://schemas.microsoft.com/office/drawing/2014/main" id="{55C02498-066D-36C2-615D-C788EA992A92}"/>
              </a:ext>
            </a:extLst>
          </p:cNvPr>
          <p:cNvSpPr/>
          <p:nvPr/>
        </p:nvSpPr>
        <p:spPr>
          <a:xfrm>
            <a:off x="2178772" y="1909200"/>
            <a:ext cx="249201" cy="249201"/>
          </a:xfrm>
          <a:prstGeom prst="arc">
            <a:avLst>
              <a:gd name="adj1" fmla="val 16980644"/>
              <a:gd name="adj2" fmla="val 5405383"/>
            </a:avLst>
          </a:prstGeom>
          <a:ln w="12700" cap="flat">
            <a:gradFill>
              <a:gsLst>
                <a:gs pos="0">
                  <a:schemeClr val="bg1"/>
                </a:gs>
                <a:gs pos="91000">
                  <a:srgbClr val="0070C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4" name="Arc 43">
            <a:extLst>
              <a:ext uri="{FF2B5EF4-FFF2-40B4-BE49-F238E27FC236}">
                <a16:creationId xmlns:a16="http://schemas.microsoft.com/office/drawing/2014/main" id="{C510E530-0022-D8DA-9EC8-52DF9D5F8146}"/>
              </a:ext>
            </a:extLst>
          </p:cNvPr>
          <p:cNvSpPr/>
          <p:nvPr/>
        </p:nvSpPr>
        <p:spPr>
          <a:xfrm rot="10800000">
            <a:off x="2178772" y="1909200"/>
            <a:ext cx="249201" cy="249201"/>
          </a:xfrm>
          <a:prstGeom prst="arc">
            <a:avLst>
              <a:gd name="adj1" fmla="val 17194449"/>
              <a:gd name="adj2" fmla="val 5405383"/>
            </a:avLst>
          </a:prstGeom>
          <a:ln w="12700" cap="flat">
            <a:gradFill>
              <a:gsLst>
                <a:gs pos="0">
                  <a:schemeClr val="bg1"/>
                </a:gs>
                <a:gs pos="86000">
                  <a:srgbClr val="FF000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1" name="Arc 40">
            <a:extLst>
              <a:ext uri="{FF2B5EF4-FFF2-40B4-BE49-F238E27FC236}">
                <a16:creationId xmlns:a16="http://schemas.microsoft.com/office/drawing/2014/main" id="{A8C5A661-F163-5216-998B-DC376C8C17A0}"/>
              </a:ext>
            </a:extLst>
          </p:cNvPr>
          <p:cNvSpPr/>
          <p:nvPr/>
        </p:nvSpPr>
        <p:spPr>
          <a:xfrm rot="14400000">
            <a:off x="2127086" y="1857514"/>
            <a:ext cx="352573" cy="352573"/>
          </a:xfrm>
          <a:prstGeom prst="arc">
            <a:avLst>
              <a:gd name="adj1" fmla="val 16980644"/>
              <a:gd name="adj2" fmla="val 5405383"/>
            </a:avLst>
          </a:prstGeom>
          <a:ln w="12700" cap="flat">
            <a:gradFill>
              <a:gsLst>
                <a:gs pos="0">
                  <a:schemeClr val="bg1"/>
                </a:gs>
                <a:gs pos="91000">
                  <a:srgbClr val="0070C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2" name="Arc 41">
            <a:extLst>
              <a:ext uri="{FF2B5EF4-FFF2-40B4-BE49-F238E27FC236}">
                <a16:creationId xmlns:a16="http://schemas.microsoft.com/office/drawing/2014/main" id="{E327469A-DC1C-B06B-BBDB-37C85EE67940}"/>
              </a:ext>
            </a:extLst>
          </p:cNvPr>
          <p:cNvSpPr/>
          <p:nvPr/>
        </p:nvSpPr>
        <p:spPr>
          <a:xfrm rot="3600000">
            <a:off x="2127086" y="1857514"/>
            <a:ext cx="352573" cy="352573"/>
          </a:xfrm>
          <a:prstGeom prst="arc">
            <a:avLst>
              <a:gd name="adj1" fmla="val 17194449"/>
              <a:gd name="adj2" fmla="val 5405383"/>
            </a:avLst>
          </a:prstGeom>
          <a:ln w="12700" cap="flat">
            <a:gradFill>
              <a:gsLst>
                <a:gs pos="0">
                  <a:schemeClr val="bg1"/>
                </a:gs>
                <a:gs pos="86000">
                  <a:srgbClr val="FF000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 name="Arc 38">
            <a:extLst>
              <a:ext uri="{FF2B5EF4-FFF2-40B4-BE49-F238E27FC236}">
                <a16:creationId xmlns:a16="http://schemas.microsoft.com/office/drawing/2014/main" id="{FD1D82EA-71C3-96C6-0E2E-3A7733467ED4}"/>
              </a:ext>
            </a:extLst>
          </p:cNvPr>
          <p:cNvSpPr/>
          <p:nvPr/>
        </p:nvSpPr>
        <p:spPr>
          <a:xfrm rot="7200000">
            <a:off x="2074772" y="1805198"/>
            <a:ext cx="457200" cy="457200"/>
          </a:xfrm>
          <a:prstGeom prst="arc">
            <a:avLst>
              <a:gd name="adj1" fmla="val 16980644"/>
              <a:gd name="adj2" fmla="val 5405383"/>
            </a:avLst>
          </a:prstGeom>
          <a:ln w="12700" cap="flat">
            <a:gradFill>
              <a:gsLst>
                <a:gs pos="0">
                  <a:schemeClr val="bg1"/>
                </a:gs>
                <a:gs pos="91000">
                  <a:srgbClr val="0070C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 name="Arc 39">
            <a:extLst>
              <a:ext uri="{FF2B5EF4-FFF2-40B4-BE49-F238E27FC236}">
                <a16:creationId xmlns:a16="http://schemas.microsoft.com/office/drawing/2014/main" id="{00889E94-6AD8-1B92-89B0-50C2EA7A3206}"/>
              </a:ext>
            </a:extLst>
          </p:cNvPr>
          <p:cNvSpPr/>
          <p:nvPr/>
        </p:nvSpPr>
        <p:spPr>
          <a:xfrm rot="18000000">
            <a:off x="2074772" y="1805198"/>
            <a:ext cx="457200" cy="457200"/>
          </a:xfrm>
          <a:prstGeom prst="arc">
            <a:avLst>
              <a:gd name="adj1" fmla="val 17194449"/>
              <a:gd name="adj2" fmla="val 5405383"/>
            </a:avLst>
          </a:prstGeom>
          <a:ln w="12700" cap="flat">
            <a:gradFill>
              <a:gsLst>
                <a:gs pos="0">
                  <a:schemeClr val="bg1"/>
                </a:gs>
                <a:gs pos="86000">
                  <a:srgbClr val="FF000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3" name="Arc 52">
            <a:extLst>
              <a:ext uri="{FF2B5EF4-FFF2-40B4-BE49-F238E27FC236}">
                <a16:creationId xmlns:a16="http://schemas.microsoft.com/office/drawing/2014/main" id="{2BFCACC8-2194-B033-02B2-34D9934F9051}"/>
              </a:ext>
            </a:extLst>
          </p:cNvPr>
          <p:cNvSpPr/>
          <p:nvPr/>
        </p:nvSpPr>
        <p:spPr>
          <a:xfrm>
            <a:off x="2750445" y="1884281"/>
            <a:ext cx="299041" cy="299041"/>
          </a:xfrm>
          <a:prstGeom prst="arc">
            <a:avLst>
              <a:gd name="adj1" fmla="val 16980644"/>
              <a:gd name="adj2" fmla="val 5405383"/>
            </a:avLst>
          </a:prstGeom>
          <a:ln w="12700" cap="flat">
            <a:gradFill>
              <a:gsLst>
                <a:gs pos="0">
                  <a:schemeClr val="bg1"/>
                </a:gs>
                <a:gs pos="91000">
                  <a:srgbClr val="0070C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4" name="Arc 53">
            <a:extLst>
              <a:ext uri="{FF2B5EF4-FFF2-40B4-BE49-F238E27FC236}">
                <a16:creationId xmlns:a16="http://schemas.microsoft.com/office/drawing/2014/main" id="{CC812B6D-9F86-D5E6-C47B-1FEFA28F90AE}"/>
              </a:ext>
            </a:extLst>
          </p:cNvPr>
          <p:cNvSpPr/>
          <p:nvPr/>
        </p:nvSpPr>
        <p:spPr>
          <a:xfrm rot="10800000">
            <a:off x="2750445" y="1884281"/>
            <a:ext cx="299041" cy="299041"/>
          </a:xfrm>
          <a:prstGeom prst="arc">
            <a:avLst>
              <a:gd name="adj1" fmla="val 17194449"/>
              <a:gd name="adj2" fmla="val 5405383"/>
            </a:avLst>
          </a:prstGeom>
          <a:ln w="12700" cap="flat">
            <a:gradFill>
              <a:gsLst>
                <a:gs pos="0">
                  <a:schemeClr val="bg1"/>
                </a:gs>
                <a:gs pos="86000">
                  <a:srgbClr val="FF000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1" name="Arc 50">
            <a:extLst>
              <a:ext uri="{FF2B5EF4-FFF2-40B4-BE49-F238E27FC236}">
                <a16:creationId xmlns:a16="http://schemas.microsoft.com/office/drawing/2014/main" id="{4489DB90-53CC-4F5E-469E-A2FAC10E5983}"/>
              </a:ext>
            </a:extLst>
          </p:cNvPr>
          <p:cNvSpPr/>
          <p:nvPr/>
        </p:nvSpPr>
        <p:spPr>
          <a:xfrm rot="14400000">
            <a:off x="2688422" y="1822258"/>
            <a:ext cx="423088" cy="423088"/>
          </a:xfrm>
          <a:prstGeom prst="arc">
            <a:avLst>
              <a:gd name="adj1" fmla="val 16980644"/>
              <a:gd name="adj2" fmla="val 5405383"/>
            </a:avLst>
          </a:prstGeom>
          <a:ln w="12700" cap="flat">
            <a:gradFill>
              <a:gsLst>
                <a:gs pos="0">
                  <a:schemeClr val="bg1"/>
                </a:gs>
                <a:gs pos="91000">
                  <a:srgbClr val="0070C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2" name="Arc 51">
            <a:extLst>
              <a:ext uri="{FF2B5EF4-FFF2-40B4-BE49-F238E27FC236}">
                <a16:creationId xmlns:a16="http://schemas.microsoft.com/office/drawing/2014/main" id="{5617BA55-E203-B765-5854-24BC2E912FB6}"/>
              </a:ext>
            </a:extLst>
          </p:cNvPr>
          <p:cNvSpPr/>
          <p:nvPr/>
        </p:nvSpPr>
        <p:spPr>
          <a:xfrm rot="3600000">
            <a:off x="2688422" y="1822258"/>
            <a:ext cx="423088" cy="423088"/>
          </a:xfrm>
          <a:prstGeom prst="arc">
            <a:avLst>
              <a:gd name="adj1" fmla="val 17194449"/>
              <a:gd name="adj2" fmla="val 5405383"/>
            </a:avLst>
          </a:prstGeom>
          <a:ln w="12700" cap="flat">
            <a:gradFill>
              <a:gsLst>
                <a:gs pos="0">
                  <a:schemeClr val="bg1"/>
                </a:gs>
                <a:gs pos="86000">
                  <a:srgbClr val="FF000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9" name="Arc 48">
            <a:extLst>
              <a:ext uri="{FF2B5EF4-FFF2-40B4-BE49-F238E27FC236}">
                <a16:creationId xmlns:a16="http://schemas.microsoft.com/office/drawing/2014/main" id="{8EC54BFC-7044-2AFA-943B-953ADD30A45F}"/>
              </a:ext>
            </a:extLst>
          </p:cNvPr>
          <p:cNvSpPr/>
          <p:nvPr/>
        </p:nvSpPr>
        <p:spPr>
          <a:xfrm rot="7200000">
            <a:off x="2625645" y="1759478"/>
            <a:ext cx="548640" cy="548640"/>
          </a:xfrm>
          <a:prstGeom prst="arc">
            <a:avLst>
              <a:gd name="adj1" fmla="val 16980644"/>
              <a:gd name="adj2" fmla="val 5405383"/>
            </a:avLst>
          </a:prstGeom>
          <a:ln w="12700" cap="flat">
            <a:gradFill>
              <a:gsLst>
                <a:gs pos="0">
                  <a:schemeClr val="bg1"/>
                </a:gs>
                <a:gs pos="91000">
                  <a:srgbClr val="0070C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0" name="Arc 49">
            <a:extLst>
              <a:ext uri="{FF2B5EF4-FFF2-40B4-BE49-F238E27FC236}">
                <a16:creationId xmlns:a16="http://schemas.microsoft.com/office/drawing/2014/main" id="{A5B44A5A-486C-A508-F475-1C34DA727A04}"/>
              </a:ext>
            </a:extLst>
          </p:cNvPr>
          <p:cNvSpPr/>
          <p:nvPr/>
        </p:nvSpPr>
        <p:spPr>
          <a:xfrm rot="18000000">
            <a:off x="2625645" y="1759478"/>
            <a:ext cx="548640" cy="548640"/>
          </a:xfrm>
          <a:prstGeom prst="arc">
            <a:avLst>
              <a:gd name="adj1" fmla="val 17194449"/>
              <a:gd name="adj2" fmla="val 5405383"/>
            </a:avLst>
          </a:prstGeom>
          <a:ln w="12700" cap="flat">
            <a:gradFill>
              <a:gsLst>
                <a:gs pos="0">
                  <a:schemeClr val="bg1"/>
                </a:gs>
                <a:gs pos="86000">
                  <a:srgbClr val="FF000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3" name="Arc 62">
            <a:extLst>
              <a:ext uri="{FF2B5EF4-FFF2-40B4-BE49-F238E27FC236}">
                <a16:creationId xmlns:a16="http://schemas.microsoft.com/office/drawing/2014/main" id="{DA570CE9-D1A4-8587-F0C8-BA1467A8D526}"/>
              </a:ext>
            </a:extLst>
          </p:cNvPr>
          <p:cNvSpPr/>
          <p:nvPr/>
        </p:nvSpPr>
        <p:spPr>
          <a:xfrm>
            <a:off x="4168111" y="1834442"/>
            <a:ext cx="398722" cy="398722"/>
          </a:xfrm>
          <a:prstGeom prst="arc">
            <a:avLst>
              <a:gd name="adj1" fmla="val 16980644"/>
              <a:gd name="adj2" fmla="val 5405383"/>
            </a:avLst>
          </a:prstGeom>
          <a:ln w="12700" cap="flat">
            <a:gradFill>
              <a:gsLst>
                <a:gs pos="0">
                  <a:schemeClr val="bg1"/>
                </a:gs>
                <a:gs pos="91000">
                  <a:srgbClr val="0070C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89" name="Arc 988">
            <a:extLst>
              <a:ext uri="{FF2B5EF4-FFF2-40B4-BE49-F238E27FC236}">
                <a16:creationId xmlns:a16="http://schemas.microsoft.com/office/drawing/2014/main" id="{36871A95-8292-38BE-3C56-B5414C6A701A}"/>
              </a:ext>
            </a:extLst>
          </p:cNvPr>
          <p:cNvSpPr/>
          <p:nvPr/>
        </p:nvSpPr>
        <p:spPr>
          <a:xfrm rot="10800000">
            <a:off x="4168111" y="1834442"/>
            <a:ext cx="398722" cy="398722"/>
          </a:xfrm>
          <a:prstGeom prst="arc">
            <a:avLst>
              <a:gd name="adj1" fmla="val 17194449"/>
              <a:gd name="adj2" fmla="val 5405383"/>
            </a:avLst>
          </a:prstGeom>
          <a:ln w="12700" cap="flat">
            <a:gradFill>
              <a:gsLst>
                <a:gs pos="0">
                  <a:schemeClr val="bg1"/>
                </a:gs>
                <a:gs pos="86000">
                  <a:srgbClr val="FF000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1" name="Arc 60">
            <a:extLst>
              <a:ext uri="{FF2B5EF4-FFF2-40B4-BE49-F238E27FC236}">
                <a16:creationId xmlns:a16="http://schemas.microsoft.com/office/drawing/2014/main" id="{778CD6A6-C6B4-2299-4434-BD61F6377550}"/>
              </a:ext>
            </a:extLst>
          </p:cNvPr>
          <p:cNvSpPr/>
          <p:nvPr/>
        </p:nvSpPr>
        <p:spPr>
          <a:xfrm rot="14400000">
            <a:off x="4085413" y="1751744"/>
            <a:ext cx="564117" cy="564117"/>
          </a:xfrm>
          <a:prstGeom prst="arc">
            <a:avLst>
              <a:gd name="adj1" fmla="val 16980644"/>
              <a:gd name="adj2" fmla="val 5405383"/>
            </a:avLst>
          </a:prstGeom>
          <a:ln w="12700" cap="flat">
            <a:gradFill>
              <a:gsLst>
                <a:gs pos="0">
                  <a:schemeClr val="bg1"/>
                </a:gs>
                <a:gs pos="91000">
                  <a:srgbClr val="0070C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2" name="Arc 61">
            <a:extLst>
              <a:ext uri="{FF2B5EF4-FFF2-40B4-BE49-F238E27FC236}">
                <a16:creationId xmlns:a16="http://schemas.microsoft.com/office/drawing/2014/main" id="{92F2F074-749F-7874-5DDE-1447672B3314}"/>
              </a:ext>
            </a:extLst>
          </p:cNvPr>
          <p:cNvSpPr/>
          <p:nvPr/>
        </p:nvSpPr>
        <p:spPr>
          <a:xfrm rot="3600000">
            <a:off x="4085413" y="1751744"/>
            <a:ext cx="564117" cy="564117"/>
          </a:xfrm>
          <a:prstGeom prst="arc">
            <a:avLst>
              <a:gd name="adj1" fmla="val 17194449"/>
              <a:gd name="adj2" fmla="val 5405383"/>
            </a:avLst>
          </a:prstGeom>
          <a:ln w="12700" cap="flat">
            <a:gradFill>
              <a:gsLst>
                <a:gs pos="0">
                  <a:schemeClr val="bg1"/>
                </a:gs>
                <a:gs pos="86000">
                  <a:srgbClr val="FF000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9" name="Arc 58">
            <a:extLst>
              <a:ext uri="{FF2B5EF4-FFF2-40B4-BE49-F238E27FC236}">
                <a16:creationId xmlns:a16="http://schemas.microsoft.com/office/drawing/2014/main" id="{3A9CD413-1857-E8BF-5D77-0E1456960D9F}"/>
              </a:ext>
            </a:extLst>
          </p:cNvPr>
          <p:cNvSpPr/>
          <p:nvPr/>
        </p:nvSpPr>
        <p:spPr>
          <a:xfrm rot="7200000">
            <a:off x="4001711" y="1668038"/>
            <a:ext cx="731520" cy="731520"/>
          </a:xfrm>
          <a:prstGeom prst="arc">
            <a:avLst>
              <a:gd name="adj1" fmla="val 16980644"/>
              <a:gd name="adj2" fmla="val 5405383"/>
            </a:avLst>
          </a:prstGeom>
          <a:ln w="12700" cap="rnd">
            <a:gradFill>
              <a:gsLst>
                <a:gs pos="0">
                  <a:schemeClr val="bg1"/>
                </a:gs>
                <a:gs pos="91000">
                  <a:srgbClr val="0070C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0" name="Arc 59">
            <a:extLst>
              <a:ext uri="{FF2B5EF4-FFF2-40B4-BE49-F238E27FC236}">
                <a16:creationId xmlns:a16="http://schemas.microsoft.com/office/drawing/2014/main" id="{4EDE69B6-B2F9-E7D6-B0D8-824DEEC80E52}"/>
              </a:ext>
            </a:extLst>
          </p:cNvPr>
          <p:cNvSpPr/>
          <p:nvPr/>
        </p:nvSpPr>
        <p:spPr>
          <a:xfrm rot="18000000">
            <a:off x="4001711" y="1668038"/>
            <a:ext cx="731520" cy="731520"/>
          </a:xfrm>
          <a:prstGeom prst="arc">
            <a:avLst>
              <a:gd name="adj1" fmla="val 17194449"/>
              <a:gd name="adj2" fmla="val 5405383"/>
            </a:avLst>
          </a:prstGeom>
          <a:ln w="12700" cap="rnd">
            <a:gradFill>
              <a:gsLst>
                <a:gs pos="0">
                  <a:schemeClr val="bg1"/>
                </a:gs>
                <a:gs pos="86000">
                  <a:srgbClr val="FF000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98" name="Arc 997">
            <a:extLst>
              <a:ext uri="{FF2B5EF4-FFF2-40B4-BE49-F238E27FC236}">
                <a16:creationId xmlns:a16="http://schemas.microsoft.com/office/drawing/2014/main" id="{78649D63-2ECB-4C9E-4544-7A96B5E8DB9A}"/>
              </a:ext>
            </a:extLst>
          </p:cNvPr>
          <p:cNvSpPr/>
          <p:nvPr/>
        </p:nvSpPr>
        <p:spPr>
          <a:xfrm>
            <a:off x="5014104" y="1809522"/>
            <a:ext cx="448562" cy="448562"/>
          </a:xfrm>
          <a:prstGeom prst="arc">
            <a:avLst>
              <a:gd name="adj1" fmla="val 16980644"/>
              <a:gd name="adj2" fmla="val 5405383"/>
            </a:avLst>
          </a:prstGeom>
          <a:ln w="12700" cap="rnd">
            <a:gradFill>
              <a:gsLst>
                <a:gs pos="0">
                  <a:schemeClr val="bg1"/>
                </a:gs>
                <a:gs pos="91000">
                  <a:srgbClr val="0070C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99" name="Arc 998">
            <a:extLst>
              <a:ext uri="{FF2B5EF4-FFF2-40B4-BE49-F238E27FC236}">
                <a16:creationId xmlns:a16="http://schemas.microsoft.com/office/drawing/2014/main" id="{895B6E9E-69D8-915A-8F50-8BE06BE3177D}"/>
              </a:ext>
            </a:extLst>
          </p:cNvPr>
          <p:cNvSpPr/>
          <p:nvPr/>
        </p:nvSpPr>
        <p:spPr>
          <a:xfrm rot="10800000">
            <a:off x="5014104" y="1809522"/>
            <a:ext cx="448562" cy="448562"/>
          </a:xfrm>
          <a:prstGeom prst="arc">
            <a:avLst>
              <a:gd name="adj1" fmla="val 17194449"/>
              <a:gd name="adj2" fmla="val 5405383"/>
            </a:avLst>
          </a:prstGeom>
          <a:ln w="12700" cap="rnd">
            <a:gradFill>
              <a:gsLst>
                <a:gs pos="0">
                  <a:schemeClr val="bg1"/>
                </a:gs>
                <a:gs pos="86000">
                  <a:srgbClr val="FF000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96" name="Arc 995">
            <a:extLst>
              <a:ext uri="{FF2B5EF4-FFF2-40B4-BE49-F238E27FC236}">
                <a16:creationId xmlns:a16="http://schemas.microsoft.com/office/drawing/2014/main" id="{F83541B4-8918-3EB9-2951-02C7B5354430}"/>
              </a:ext>
            </a:extLst>
          </p:cNvPr>
          <p:cNvSpPr/>
          <p:nvPr/>
        </p:nvSpPr>
        <p:spPr>
          <a:xfrm rot="14400000">
            <a:off x="4921069" y="1716487"/>
            <a:ext cx="634632" cy="634632"/>
          </a:xfrm>
          <a:prstGeom prst="arc">
            <a:avLst>
              <a:gd name="adj1" fmla="val 16980644"/>
              <a:gd name="adj2" fmla="val 5405383"/>
            </a:avLst>
          </a:prstGeom>
          <a:ln w="12700" cap="rnd">
            <a:gradFill>
              <a:gsLst>
                <a:gs pos="0">
                  <a:schemeClr val="bg1"/>
                </a:gs>
                <a:gs pos="91000">
                  <a:srgbClr val="0070C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97" name="Arc 996">
            <a:extLst>
              <a:ext uri="{FF2B5EF4-FFF2-40B4-BE49-F238E27FC236}">
                <a16:creationId xmlns:a16="http://schemas.microsoft.com/office/drawing/2014/main" id="{956E4016-D593-6C37-3A2C-197A5B2DEFE6}"/>
              </a:ext>
            </a:extLst>
          </p:cNvPr>
          <p:cNvSpPr/>
          <p:nvPr/>
        </p:nvSpPr>
        <p:spPr>
          <a:xfrm rot="3600000">
            <a:off x="4921069" y="1716487"/>
            <a:ext cx="634632" cy="634632"/>
          </a:xfrm>
          <a:prstGeom prst="arc">
            <a:avLst>
              <a:gd name="adj1" fmla="val 17194449"/>
              <a:gd name="adj2" fmla="val 5405383"/>
            </a:avLst>
          </a:prstGeom>
          <a:ln w="12700" cap="rnd">
            <a:gradFill>
              <a:gsLst>
                <a:gs pos="0">
                  <a:schemeClr val="bg1"/>
                </a:gs>
                <a:gs pos="86000">
                  <a:srgbClr val="FF000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94" name="Arc 993">
            <a:extLst>
              <a:ext uri="{FF2B5EF4-FFF2-40B4-BE49-F238E27FC236}">
                <a16:creationId xmlns:a16="http://schemas.microsoft.com/office/drawing/2014/main" id="{0E5789AA-2FCF-40B9-1B0D-A98846D54031}"/>
              </a:ext>
            </a:extLst>
          </p:cNvPr>
          <p:cNvSpPr/>
          <p:nvPr/>
        </p:nvSpPr>
        <p:spPr>
          <a:xfrm rot="7200000">
            <a:off x="4826904" y="1622318"/>
            <a:ext cx="822960" cy="822960"/>
          </a:xfrm>
          <a:prstGeom prst="arc">
            <a:avLst>
              <a:gd name="adj1" fmla="val 16980644"/>
              <a:gd name="adj2" fmla="val 5405383"/>
            </a:avLst>
          </a:prstGeom>
          <a:ln w="12700" cap="rnd">
            <a:gradFill>
              <a:gsLst>
                <a:gs pos="0">
                  <a:schemeClr val="bg1"/>
                </a:gs>
                <a:gs pos="91000">
                  <a:srgbClr val="0070C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95" name="Arc 994">
            <a:extLst>
              <a:ext uri="{FF2B5EF4-FFF2-40B4-BE49-F238E27FC236}">
                <a16:creationId xmlns:a16="http://schemas.microsoft.com/office/drawing/2014/main" id="{7769ECA1-C383-65FE-8E1B-63AF76DA67C9}"/>
              </a:ext>
            </a:extLst>
          </p:cNvPr>
          <p:cNvSpPr/>
          <p:nvPr/>
        </p:nvSpPr>
        <p:spPr>
          <a:xfrm rot="18000000">
            <a:off x="4826904" y="1622318"/>
            <a:ext cx="822960" cy="822960"/>
          </a:xfrm>
          <a:prstGeom prst="arc">
            <a:avLst>
              <a:gd name="adj1" fmla="val 17194449"/>
              <a:gd name="adj2" fmla="val 5405383"/>
            </a:avLst>
          </a:prstGeom>
          <a:ln w="12700" cap="rnd">
            <a:gradFill>
              <a:gsLst>
                <a:gs pos="0">
                  <a:schemeClr val="bg1"/>
                </a:gs>
                <a:gs pos="86000">
                  <a:srgbClr val="FF000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08" name="Arc 1007">
            <a:extLst>
              <a:ext uri="{FF2B5EF4-FFF2-40B4-BE49-F238E27FC236}">
                <a16:creationId xmlns:a16="http://schemas.microsoft.com/office/drawing/2014/main" id="{978B6393-8023-3F86-C8F1-D641BA898172}"/>
              </a:ext>
            </a:extLst>
          </p:cNvPr>
          <p:cNvSpPr/>
          <p:nvPr/>
        </p:nvSpPr>
        <p:spPr>
          <a:xfrm>
            <a:off x="5951537" y="1784603"/>
            <a:ext cx="498402" cy="498402"/>
          </a:xfrm>
          <a:prstGeom prst="arc">
            <a:avLst>
              <a:gd name="adj1" fmla="val 16980644"/>
              <a:gd name="adj2" fmla="val 5405383"/>
            </a:avLst>
          </a:prstGeom>
          <a:ln w="12700" cap="rnd">
            <a:gradFill>
              <a:gsLst>
                <a:gs pos="0">
                  <a:schemeClr val="bg1"/>
                </a:gs>
                <a:gs pos="91000">
                  <a:srgbClr val="0070C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09" name="Arc 1008">
            <a:extLst>
              <a:ext uri="{FF2B5EF4-FFF2-40B4-BE49-F238E27FC236}">
                <a16:creationId xmlns:a16="http://schemas.microsoft.com/office/drawing/2014/main" id="{4B4C9990-53D9-3DC7-4998-3169BD5D070E}"/>
              </a:ext>
            </a:extLst>
          </p:cNvPr>
          <p:cNvSpPr/>
          <p:nvPr/>
        </p:nvSpPr>
        <p:spPr>
          <a:xfrm rot="10800000">
            <a:off x="5951537" y="1784603"/>
            <a:ext cx="498402" cy="498402"/>
          </a:xfrm>
          <a:prstGeom prst="arc">
            <a:avLst>
              <a:gd name="adj1" fmla="val 17194449"/>
              <a:gd name="adj2" fmla="val 5405383"/>
            </a:avLst>
          </a:prstGeom>
          <a:ln w="12700" cap="rnd">
            <a:gradFill>
              <a:gsLst>
                <a:gs pos="0">
                  <a:schemeClr val="bg1"/>
                </a:gs>
                <a:gs pos="86000">
                  <a:srgbClr val="FF000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06" name="Arc 1005">
            <a:extLst>
              <a:ext uri="{FF2B5EF4-FFF2-40B4-BE49-F238E27FC236}">
                <a16:creationId xmlns:a16="http://schemas.microsoft.com/office/drawing/2014/main" id="{C91FE4D5-2B5E-CB6B-D0B1-DD4AA7530FE3}"/>
              </a:ext>
            </a:extLst>
          </p:cNvPr>
          <p:cNvSpPr/>
          <p:nvPr/>
        </p:nvSpPr>
        <p:spPr>
          <a:xfrm rot="14400000">
            <a:off x="5848165" y="1681231"/>
            <a:ext cx="705147" cy="705147"/>
          </a:xfrm>
          <a:prstGeom prst="arc">
            <a:avLst>
              <a:gd name="adj1" fmla="val 16980644"/>
              <a:gd name="adj2" fmla="val 5405383"/>
            </a:avLst>
          </a:prstGeom>
          <a:ln w="12700" cap="rnd">
            <a:gradFill>
              <a:gsLst>
                <a:gs pos="0">
                  <a:schemeClr val="bg1"/>
                </a:gs>
                <a:gs pos="91000">
                  <a:srgbClr val="0070C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07" name="Arc 1006">
            <a:extLst>
              <a:ext uri="{FF2B5EF4-FFF2-40B4-BE49-F238E27FC236}">
                <a16:creationId xmlns:a16="http://schemas.microsoft.com/office/drawing/2014/main" id="{91F03B8D-8180-8BA3-3E84-E5428E8991D4}"/>
              </a:ext>
            </a:extLst>
          </p:cNvPr>
          <p:cNvSpPr/>
          <p:nvPr/>
        </p:nvSpPr>
        <p:spPr>
          <a:xfrm rot="3600000">
            <a:off x="5848165" y="1681231"/>
            <a:ext cx="705147" cy="705147"/>
          </a:xfrm>
          <a:prstGeom prst="arc">
            <a:avLst>
              <a:gd name="adj1" fmla="val 17194449"/>
              <a:gd name="adj2" fmla="val 5405383"/>
            </a:avLst>
          </a:prstGeom>
          <a:ln w="12700" cap="rnd">
            <a:gradFill>
              <a:gsLst>
                <a:gs pos="0">
                  <a:schemeClr val="bg1"/>
                </a:gs>
                <a:gs pos="86000">
                  <a:srgbClr val="FF000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04" name="Arc 1003">
            <a:extLst>
              <a:ext uri="{FF2B5EF4-FFF2-40B4-BE49-F238E27FC236}">
                <a16:creationId xmlns:a16="http://schemas.microsoft.com/office/drawing/2014/main" id="{5FAE1C5D-0B15-8BAA-B445-493CF3066964}"/>
              </a:ext>
            </a:extLst>
          </p:cNvPr>
          <p:cNvSpPr/>
          <p:nvPr/>
        </p:nvSpPr>
        <p:spPr>
          <a:xfrm rot="7200000">
            <a:off x="5743537" y="1576598"/>
            <a:ext cx="914400" cy="914400"/>
          </a:xfrm>
          <a:prstGeom prst="arc">
            <a:avLst>
              <a:gd name="adj1" fmla="val 16980644"/>
              <a:gd name="adj2" fmla="val 5405383"/>
            </a:avLst>
          </a:prstGeom>
          <a:ln w="12700" cap="rnd">
            <a:gradFill>
              <a:gsLst>
                <a:gs pos="0">
                  <a:schemeClr val="bg1"/>
                </a:gs>
                <a:gs pos="91000">
                  <a:srgbClr val="0070C0"/>
                </a:gs>
              </a:gsLst>
              <a:lin ang="5400000" scaled="1"/>
            </a:gradFill>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05" name="Arc 1004">
            <a:extLst>
              <a:ext uri="{FF2B5EF4-FFF2-40B4-BE49-F238E27FC236}">
                <a16:creationId xmlns:a16="http://schemas.microsoft.com/office/drawing/2014/main" id="{A8867B60-8ACC-A21A-3B1B-7C895252D6CD}"/>
              </a:ext>
            </a:extLst>
          </p:cNvPr>
          <p:cNvSpPr/>
          <p:nvPr/>
        </p:nvSpPr>
        <p:spPr>
          <a:xfrm rot="18000000">
            <a:off x="5743537" y="1576598"/>
            <a:ext cx="914400" cy="914400"/>
          </a:xfrm>
          <a:prstGeom prst="arc">
            <a:avLst>
              <a:gd name="adj1" fmla="val 17194449"/>
              <a:gd name="adj2" fmla="val 5405383"/>
            </a:avLst>
          </a:prstGeom>
          <a:ln w="12700" cap="rnd">
            <a:gradFill>
              <a:gsLst>
                <a:gs pos="0">
                  <a:schemeClr val="bg1"/>
                </a:gs>
                <a:gs pos="86000">
                  <a:srgbClr val="FF0000"/>
                </a:gs>
              </a:gsLst>
              <a:lin ang="5400000" scaled="1"/>
            </a:gradFill>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18" name="Arc 1017">
            <a:extLst>
              <a:ext uri="{FF2B5EF4-FFF2-40B4-BE49-F238E27FC236}">
                <a16:creationId xmlns:a16="http://schemas.microsoft.com/office/drawing/2014/main" id="{1DF4F090-A72F-4A70-249C-F734DE682730}"/>
              </a:ext>
            </a:extLst>
          </p:cNvPr>
          <p:cNvSpPr/>
          <p:nvPr/>
        </p:nvSpPr>
        <p:spPr>
          <a:xfrm>
            <a:off x="6980410" y="1759683"/>
            <a:ext cx="548243" cy="548243"/>
          </a:xfrm>
          <a:prstGeom prst="arc">
            <a:avLst>
              <a:gd name="adj1" fmla="val 16980644"/>
              <a:gd name="adj2" fmla="val 5405383"/>
            </a:avLst>
          </a:prstGeom>
          <a:ln w="12700" cap="rnd">
            <a:gradFill>
              <a:gsLst>
                <a:gs pos="0">
                  <a:schemeClr val="bg1"/>
                </a:gs>
                <a:gs pos="91000">
                  <a:srgbClr val="0070C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19" name="Arc 1018">
            <a:extLst>
              <a:ext uri="{FF2B5EF4-FFF2-40B4-BE49-F238E27FC236}">
                <a16:creationId xmlns:a16="http://schemas.microsoft.com/office/drawing/2014/main" id="{0E4FAD39-4518-87CF-74D3-A8A2EE69D1FF}"/>
              </a:ext>
            </a:extLst>
          </p:cNvPr>
          <p:cNvSpPr/>
          <p:nvPr/>
        </p:nvSpPr>
        <p:spPr>
          <a:xfrm rot="10800000">
            <a:off x="6980410" y="1759683"/>
            <a:ext cx="548243" cy="548243"/>
          </a:xfrm>
          <a:prstGeom prst="arc">
            <a:avLst>
              <a:gd name="adj1" fmla="val 17194449"/>
              <a:gd name="adj2" fmla="val 5405383"/>
            </a:avLst>
          </a:prstGeom>
          <a:ln w="12700" cap="rnd">
            <a:gradFill>
              <a:gsLst>
                <a:gs pos="0">
                  <a:schemeClr val="bg1"/>
                </a:gs>
                <a:gs pos="86000">
                  <a:srgbClr val="FF000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16" name="Arc 1015">
            <a:extLst>
              <a:ext uri="{FF2B5EF4-FFF2-40B4-BE49-F238E27FC236}">
                <a16:creationId xmlns:a16="http://schemas.microsoft.com/office/drawing/2014/main" id="{B7DA9341-9C04-2070-792C-47B2E7E1270B}"/>
              </a:ext>
            </a:extLst>
          </p:cNvPr>
          <p:cNvSpPr/>
          <p:nvPr/>
        </p:nvSpPr>
        <p:spPr>
          <a:xfrm rot="14400000">
            <a:off x="6866701" y="1645974"/>
            <a:ext cx="775661" cy="775661"/>
          </a:xfrm>
          <a:prstGeom prst="arc">
            <a:avLst>
              <a:gd name="adj1" fmla="val 16980644"/>
              <a:gd name="adj2" fmla="val 5405383"/>
            </a:avLst>
          </a:prstGeom>
          <a:ln w="12700" cap="rnd">
            <a:gradFill>
              <a:gsLst>
                <a:gs pos="0">
                  <a:schemeClr val="bg1"/>
                </a:gs>
                <a:gs pos="91000">
                  <a:srgbClr val="0070C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17" name="Arc 1016">
            <a:extLst>
              <a:ext uri="{FF2B5EF4-FFF2-40B4-BE49-F238E27FC236}">
                <a16:creationId xmlns:a16="http://schemas.microsoft.com/office/drawing/2014/main" id="{ED83C225-FD47-EDD2-A919-C8649C49F1C7}"/>
              </a:ext>
            </a:extLst>
          </p:cNvPr>
          <p:cNvSpPr/>
          <p:nvPr/>
        </p:nvSpPr>
        <p:spPr>
          <a:xfrm rot="3600000">
            <a:off x="6866701" y="1645974"/>
            <a:ext cx="775661" cy="775661"/>
          </a:xfrm>
          <a:prstGeom prst="arc">
            <a:avLst>
              <a:gd name="adj1" fmla="val 17194449"/>
              <a:gd name="adj2" fmla="val 5405383"/>
            </a:avLst>
          </a:prstGeom>
          <a:ln w="12700" cap="rnd">
            <a:gradFill>
              <a:gsLst>
                <a:gs pos="0">
                  <a:schemeClr val="bg1"/>
                </a:gs>
                <a:gs pos="86000">
                  <a:srgbClr val="FF0000"/>
                </a:gs>
              </a:gsLst>
              <a:lin ang="5400000" scaled="1"/>
            </a:gradFill>
            <a:headEnd w="sm" len="sm"/>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14" name="Arc 1013">
            <a:extLst>
              <a:ext uri="{FF2B5EF4-FFF2-40B4-BE49-F238E27FC236}">
                <a16:creationId xmlns:a16="http://schemas.microsoft.com/office/drawing/2014/main" id="{DF50CBCA-7FB9-A69A-68C4-F20FFB5F1892}"/>
              </a:ext>
            </a:extLst>
          </p:cNvPr>
          <p:cNvSpPr/>
          <p:nvPr/>
        </p:nvSpPr>
        <p:spPr>
          <a:xfrm rot="7200000">
            <a:off x="6751610" y="1530878"/>
            <a:ext cx="1005840" cy="1005840"/>
          </a:xfrm>
          <a:prstGeom prst="arc">
            <a:avLst>
              <a:gd name="adj1" fmla="val 16980644"/>
              <a:gd name="adj2" fmla="val 5405383"/>
            </a:avLst>
          </a:prstGeom>
          <a:ln w="12700" cap="rnd">
            <a:gradFill>
              <a:gsLst>
                <a:gs pos="0">
                  <a:schemeClr val="bg1"/>
                </a:gs>
                <a:gs pos="91000">
                  <a:srgbClr val="0070C0"/>
                </a:gs>
              </a:gsLst>
              <a:lin ang="5400000" scaled="1"/>
            </a:gradFill>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15" name="Arc 1014">
            <a:extLst>
              <a:ext uri="{FF2B5EF4-FFF2-40B4-BE49-F238E27FC236}">
                <a16:creationId xmlns:a16="http://schemas.microsoft.com/office/drawing/2014/main" id="{02820139-1C71-A542-8C76-E729F94B385C}"/>
              </a:ext>
            </a:extLst>
          </p:cNvPr>
          <p:cNvSpPr/>
          <p:nvPr/>
        </p:nvSpPr>
        <p:spPr>
          <a:xfrm rot="18000000">
            <a:off x="6751610" y="1530878"/>
            <a:ext cx="1005840" cy="1005840"/>
          </a:xfrm>
          <a:prstGeom prst="arc">
            <a:avLst>
              <a:gd name="adj1" fmla="val 17194449"/>
              <a:gd name="adj2" fmla="val 5405383"/>
            </a:avLst>
          </a:prstGeom>
          <a:ln w="12700" cap="rnd">
            <a:gradFill>
              <a:gsLst>
                <a:gs pos="0">
                  <a:schemeClr val="bg1"/>
                </a:gs>
                <a:gs pos="86000">
                  <a:srgbClr val="FF0000"/>
                </a:gs>
              </a:gsLst>
              <a:lin ang="5400000" scaled="1"/>
            </a:gradFill>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72" name="Arc 771">
            <a:extLst>
              <a:ext uri="{FF2B5EF4-FFF2-40B4-BE49-F238E27FC236}">
                <a16:creationId xmlns:a16="http://schemas.microsoft.com/office/drawing/2014/main" id="{95D80F65-395F-7755-9739-F81504D85E5F}"/>
              </a:ext>
            </a:extLst>
          </p:cNvPr>
          <p:cNvSpPr/>
          <p:nvPr/>
        </p:nvSpPr>
        <p:spPr>
          <a:xfrm>
            <a:off x="5198972" y="3112096"/>
            <a:ext cx="897124" cy="897124"/>
          </a:xfrm>
          <a:prstGeom prst="arc">
            <a:avLst>
              <a:gd name="adj1" fmla="val 16980644"/>
              <a:gd name="adj2" fmla="val 5405383"/>
            </a:avLst>
          </a:prstGeom>
          <a:ln w="12700" cap="rnd">
            <a:gradFill>
              <a:gsLst>
                <a:gs pos="0">
                  <a:schemeClr val="bg1"/>
                </a:gs>
                <a:gs pos="91000">
                  <a:srgbClr val="0070C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73" name="Arc 772">
            <a:extLst>
              <a:ext uri="{FF2B5EF4-FFF2-40B4-BE49-F238E27FC236}">
                <a16:creationId xmlns:a16="http://schemas.microsoft.com/office/drawing/2014/main" id="{1A11B5AC-5F95-B1E4-923D-B4F415A36B07}"/>
              </a:ext>
            </a:extLst>
          </p:cNvPr>
          <p:cNvSpPr/>
          <p:nvPr/>
        </p:nvSpPr>
        <p:spPr>
          <a:xfrm rot="10800000">
            <a:off x="5198972" y="3112096"/>
            <a:ext cx="897124" cy="897124"/>
          </a:xfrm>
          <a:prstGeom prst="arc">
            <a:avLst>
              <a:gd name="adj1" fmla="val 17194449"/>
              <a:gd name="adj2" fmla="val 5405383"/>
            </a:avLst>
          </a:prstGeom>
          <a:ln w="12700" cap="rnd">
            <a:gradFill>
              <a:gsLst>
                <a:gs pos="0">
                  <a:schemeClr val="bg1"/>
                </a:gs>
                <a:gs pos="86000">
                  <a:srgbClr val="FF000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70" name="Arc 769">
            <a:extLst>
              <a:ext uri="{FF2B5EF4-FFF2-40B4-BE49-F238E27FC236}">
                <a16:creationId xmlns:a16="http://schemas.microsoft.com/office/drawing/2014/main" id="{F8258244-F2CA-8479-9BAB-201BF1A43867}"/>
              </a:ext>
            </a:extLst>
          </p:cNvPr>
          <p:cNvSpPr/>
          <p:nvPr/>
        </p:nvSpPr>
        <p:spPr>
          <a:xfrm rot="14400000">
            <a:off x="5012902" y="2926026"/>
            <a:ext cx="1269264" cy="1269263"/>
          </a:xfrm>
          <a:prstGeom prst="arc">
            <a:avLst>
              <a:gd name="adj1" fmla="val 16980644"/>
              <a:gd name="adj2" fmla="val 5405383"/>
            </a:avLst>
          </a:prstGeom>
          <a:ln w="12700" cap="rnd">
            <a:gradFill>
              <a:gsLst>
                <a:gs pos="0">
                  <a:schemeClr val="bg1"/>
                </a:gs>
                <a:gs pos="91000">
                  <a:srgbClr val="0070C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71" name="Arc 770">
            <a:extLst>
              <a:ext uri="{FF2B5EF4-FFF2-40B4-BE49-F238E27FC236}">
                <a16:creationId xmlns:a16="http://schemas.microsoft.com/office/drawing/2014/main" id="{C0F0ED6E-FFCC-351B-A845-1FFF5941401F}"/>
              </a:ext>
            </a:extLst>
          </p:cNvPr>
          <p:cNvSpPr/>
          <p:nvPr/>
        </p:nvSpPr>
        <p:spPr>
          <a:xfrm rot="3600000">
            <a:off x="5012902" y="2926026"/>
            <a:ext cx="1269264" cy="1269263"/>
          </a:xfrm>
          <a:prstGeom prst="arc">
            <a:avLst>
              <a:gd name="adj1" fmla="val 17194449"/>
              <a:gd name="adj2" fmla="val 5405383"/>
            </a:avLst>
          </a:prstGeom>
          <a:ln w="12700" cap="rnd">
            <a:gradFill>
              <a:gsLst>
                <a:gs pos="0">
                  <a:schemeClr val="bg1"/>
                </a:gs>
                <a:gs pos="86000">
                  <a:srgbClr val="FF000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68" name="Arc 767">
            <a:extLst>
              <a:ext uri="{FF2B5EF4-FFF2-40B4-BE49-F238E27FC236}">
                <a16:creationId xmlns:a16="http://schemas.microsoft.com/office/drawing/2014/main" id="{6E9DDE38-002E-9538-D5A9-A94B1BF4BB88}"/>
              </a:ext>
            </a:extLst>
          </p:cNvPr>
          <p:cNvSpPr/>
          <p:nvPr/>
        </p:nvSpPr>
        <p:spPr>
          <a:xfrm rot="7200000">
            <a:off x="4824544" y="2737714"/>
            <a:ext cx="1645922" cy="1645920"/>
          </a:xfrm>
          <a:prstGeom prst="arc">
            <a:avLst>
              <a:gd name="adj1" fmla="val 16980644"/>
              <a:gd name="adj2" fmla="val 5405383"/>
            </a:avLst>
          </a:prstGeom>
          <a:ln w="12700" cap="rnd">
            <a:gradFill>
              <a:gsLst>
                <a:gs pos="0">
                  <a:schemeClr val="bg1"/>
                </a:gs>
                <a:gs pos="91000">
                  <a:srgbClr val="0070C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69" name="Arc 768">
            <a:extLst>
              <a:ext uri="{FF2B5EF4-FFF2-40B4-BE49-F238E27FC236}">
                <a16:creationId xmlns:a16="http://schemas.microsoft.com/office/drawing/2014/main" id="{34048815-59EE-95AB-ECAF-9740CE74C9D2}"/>
              </a:ext>
            </a:extLst>
          </p:cNvPr>
          <p:cNvSpPr/>
          <p:nvPr/>
        </p:nvSpPr>
        <p:spPr>
          <a:xfrm rot="18000000">
            <a:off x="4824558" y="2737704"/>
            <a:ext cx="1645922" cy="1645920"/>
          </a:xfrm>
          <a:prstGeom prst="arc">
            <a:avLst>
              <a:gd name="adj1" fmla="val 17194449"/>
              <a:gd name="adj2" fmla="val 5405383"/>
            </a:avLst>
          </a:prstGeom>
          <a:ln w="12700" cap="rnd">
            <a:gradFill>
              <a:gsLst>
                <a:gs pos="0">
                  <a:schemeClr val="bg1"/>
                </a:gs>
                <a:gs pos="86000">
                  <a:srgbClr val="FF000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82" name="Arc 781">
            <a:extLst>
              <a:ext uri="{FF2B5EF4-FFF2-40B4-BE49-F238E27FC236}">
                <a16:creationId xmlns:a16="http://schemas.microsoft.com/office/drawing/2014/main" id="{CDB85622-284E-E466-117E-955EC381DB7D}"/>
              </a:ext>
            </a:extLst>
          </p:cNvPr>
          <p:cNvSpPr/>
          <p:nvPr/>
        </p:nvSpPr>
        <p:spPr>
          <a:xfrm>
            <a:off x="7066500" y="3137036"/>
            <a:ext cx="847284" cy="847284"/>
          </a:xfrm>
          <a:prstGeom prst="arc">
            <a:avLst>
              <a:gd name="adj1" fmla="val 16980644"/>
              <a:gd name="adj2" fmla="val 5405383"/>
            </a:avLst>
          </a:prstGeom>
          <a:ln w="12700" cap="rnd">
            <a:gradFill>
              <a:gsLst>
                <a:gs pos="0">
                  <a:schemeClr val="bg1"/>
                </a:gs>
                <a:gs pos="91000">
                  <a:srgbClr val="0070C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83" name="Arc 782">
            <a:extLst>
              <a:ext uri="{FF2B5EF4-FFF2-40B4-BE49-F238E27FC236}">
                <a16:creationId xmlns:a16="http://schemas.microsoft.com/office/drawing/2014/main" id="{15229812-D6B5-4EFA-45E6-0AD94474BC29}"/>
              </a:ext>
            </a:extLst>
          </p:cNvPr>
          <p:cNvSpPr/>
          <p:nvPr/>
        </p:nvSpPr>
        <p:spPr>
          <a:xfrm rot="10800000">
            <a:off x="7066500" y="3137036"/>
            <a:ext cx="847284" cy="847284"/>
          </a:xfrm>
          <a:prstGeom prst="arc">
            <a:avLst>
              <a:gd name="adj1" fmla="val 17194449"/>
              <a:gd name="adj2" fmla="val 5405383"/>
            </a:avLst>
          </a:prstGeom>
          <a:ln w="12700" cap="rnd">
            <a:gradFill>
              <a:gsLst>
                <a:gs pos="0">
                  <a:schemeClr val="bg1"/>
                </a:gs>
                <a:gs pos="86000">
                  <a:srgbClr val="FF000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80" name="Arc 779">
            <a:extLst>
              <a:ext uri="{FF2B5EF4-FFF2-40B4-BE49-F238E27FC236}">
                <a16:creationId xmlns:a16="http://schemas.microsoft.com/office/drawing/2014/main" id="{4E0EC69D-4A6D-BEEE-8198-5538586B29A1}"/>
              </a:ext>
            </a:extLst>
          </p:cNvPr>
          <p:cNvSpPr/>
          <p:nvPr/>
        </p:nvSpPr>
        <p:spPr>
          <a:xfrm rot="14400000">
            <a:off x="6890767" y="2961303"/>
            <a:ext cx="1198749" cy="1198749"/>
          </a:xfrm>
          <a:prstGeom prst="arc">
            <a:avLst>
              <a:gd name="adj1" fmla="val 16980644"/>
              <a:gd name="adj2" fmla="val 5405383"/>
            </a:avLst>
          </a:prstGeom>
          <a:ln w="12700" cap="rnd">
            <a:gradFill>
              <a:gsLst>
                <a:gs pos="0">
                  <a:schemeClr val="bg1"/>
                </a:gs>
                <a:gs pos="91000">
                  <a:srgbClr val="0070C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81" name="Arc 780">
            <a:extLst>
              <a:ext uri="{FF2B5EF4-FFF2-40B4-BE49-F238E27FC236}">
                <a16:creationId xmlns:a16="http://schemas.microsoft.com/office/drawing/2014/main" id="{5CD73F72-BFA1-9AC0-49C9-5F90C7726D66}"/>
              </a:ext>
            </a:extLst>
          </p:cNvPr>
          <p:cNvSpPr/>
          <p:nvPr/>
        </p:nvSpPr>
        <p:spPr>
          <a:xfrm rot="3600000">
            <a:off x="6890767" y="2961303"/>
            <a:ext cx="1198749" cy="1198749"/>
          </a:xfrm>
          <a:prstGeom prst="arc">
            <a:avLst>
              <a:gd name="adj1" fmla="val 17194449"/>
              <a:gd name="adj2" fmla="val 5405383"/>
            </a:avLst>
          </a:prstGeom>
          <a:ln w="12700" cap="rnd">
            <a:gradFill>
              <a:gsLst>
                <a:gs pos="0">
                  <a:schemeClr val="bg1"/>
                </a:gs>
                <a:gs pos="86000">
                  <a:srgbClr val="FF000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78" name="Arc 777">
            <a:extLst>
              <a:ext uri="{FF2B5EF4-FFF2-40B4-BE49-F238E27FC236}">
                <a16:creationId xmlns:a16="http://schemas.microsoft.com/office/drawing/2014/main" id="{515EDDE7-4146-5801-8333-36858C22D153}"/>
              </a:ext>
            </a:extLst>
          </p:cNvPr>
          <p:cNvSpPr/>
          <p:nvPr/>
        </p:nvSpPr>
        <p:spPr>
          <a:xfrm rot="7200000">
            <a:off x="6712900" y="2783428"/>
            <a:ext cx="1554480" cy="1554480"/>
          </a:xfrm>
          <a:prstGeom prst="arc">
            <a:avLst>
              <a:gd name="adj1" fmla="val 16980644"/>
              <a:gd name="adj2" fmla="val 5405383"/>
            </a:avLst>
          </a:prstGeom>
          <a:ln w="12700" cap="rnd">
            <a:gradFill>
              <a:gsLst>
                <a:gs pos="0">
                  <a:schemeClr val="bg1"/>
                </a:gs>
                <a:gs pos="91000">
                  <a:srgbClr val="0070C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79" name="Arc 778">
            <a:extLst>
              <a:ext uri="{FF2B5EF4-FFF2-40B4-BE49-F238E27FC236}">
                <a16:creationId xmlns:a16="http://schemas.microsoft.com/office/drawing/2014/main" id="{8EF5172C-7B79-FA1B-F288-623D9AD2E7C3}"/>
              </a:ext>
            </a:extLst>
          </p:cNvPr>
          <p:cNvSpPr/>
          <p:nvPr/>
        </p:nvSpPr>
        <p:spPr>
          <a:xfrm rot="18000000">
            <a:off x="6712900" y="2783428"/>
            <a:ext cx="1554480" cy="1554480"/>
          </a:xfrm>
          <a:prstGeom prst="arc">
            <a:avLst>
              <a:gd name="adj1" fmla="val 17194449"/>
              <a:gd name="adj2" fmla="val 5405383"/>
            </a:avLst>
          </a:prstGeom>
          <a:ln w="12700" cap="rnd">
            <a:gradFill>
              <a:gsLst>
                <a:gs pos="0">
                  <a:schemeClr val="bg1"/>
                </a:gs>
                <a:gs pos="86000">
                  <a:srgbClr val="FF000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92" name="Arc 791">
            <a:extLst>
              <a:ext uri="{FF2B5EF4-FFF2-40B4-BE49-F238E27FC236}">
                <a16:creationId xmlns:a16="http://schemas.microsoft.com/office/drawing/2014/main" id="{739E31BB-89A5-7A62-75D5-E70ABA04F256}"/>
              </a:ext>
            </a:extLst>
          </p:cNvPr>
          <p:cNvSpPr/>
          <p:nvPr/>
        </p:nvSpPr>
        <p:spPr>
          <a:xfrm>
            <a:off x="8842605" y="3161955"/>
            <a:ext cx="797444" cy="797444"/>
          </a:xfrm>
          <a:prstGeom prst="arc">
            <a:avLst>
              <a:gd name="adj1" fmla="val 16980644"/>
              <a:gd name="adj2" fmla="val 5405383"/>
            </a:avLst>
          </a:prstGeom>
          <a:ln w="12700" cap="rnd">
            <a:gradFill>
              <a:gsLst>
                <a:gs pos="0">
                  <a:schemeClr val="bg1"/>
                </a:gs>
                <a:gs pos="91000">
                  <a:srgbClr val="0070C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93" name="Arc 792">
            <a:extLst>
              <a:ext uri="{FF2B5EF4-FFF2-40B4-BE49-F238E27FC236}">
                <a16:creationId xmlns:a16="http://schemas.microsoft.com/office/drawing/2014/main" id="{67DAF3E8-94D5-6200-0DF1-7D86C61FFB39}"/>
              </a:ext>
            </a:extLst>
          </p:cNvPr>
          <p:cNvSpPr/>
          <p:nvPr/>
        </p:nvSpPr>
        <p:spPr>
          <a:xfrm rot="10800000">
            <a:off x="8842605" y="3161955"/>
            <a:ext cx="797444" cy="797444"/>
          </a:xfrm>
          <a:prstGeom prst="arc">
            <a:avLst>
              <a:gd name="adj1" fmla="val 17194449"/>
              <a:gd name="adj2" fmla="val 5405383"/>
            </a:avLst>
          </a:prstGeom>
          <a:ln w="12700" cap="rnd">
            <a:gradFill>
              <a:gsLst>
                <a:gs pos="0">
                  <a:schemeClr val="bg1"/>
                </a:gs>
                <a:gs pos="86000">
                  <a:srgbClr val="FF000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90" name="Arc 789">
            <a:extLst>
              <a:ext uri="{FF2B5EF4-FFF2-40B4-BE49-F238E27FC236}">
                <a16:creationId xmlns:a16="http://schemas.microsoft.com/office/drawing/2014/main" id="{32CE912E-3119-62E7-048F-751B2EA92455}"/>
              </a:ext>
            </a:extLst>
          </p:cNvPr>
          <p:cNvSpPr/>
          <p:nvPr/>
        </p:nvSpPr>
        <p:spPr>
          <a:xfrm rot="14400000">
            <a:off x="8677210" y="2996560"/>
            <a:ext cx="1128234" cy="1128234"/>
          </a:xfrm>
          <a:prstGeom prst="arc">
            <a:avLst>
              <a:gd name="adj1" fmla="val 16980644"/>
              <a:gd name="adj2" fmla="val 5405383"/>
            </a:avLst>
          </a:prstGeom>
          <a:ln w="12700" cap="rnd">
            <a:gradFill>
              <a:gsLst>
                <a:gs pos="0">
                  <a:schemeClr val="bg1"/>
                </a:gs>
                <a:gs pos="91000">
                  <a:srgbClr val="0070C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91" name="Arc 790">
            <a:extLst>
              <a:ext uri="{FF2B5EF4-FFF2-40B4-BE49-F238E27FC236}">
                <a16:creationId xmlns:a16="http://schemas.microsoft.com/office/drawing/2014/main" id="{AE03F87F-F21D-8380-0432-E285773098FB}"/>
              </a:ext>
            </a:extLst>
          </p:cNvPr>
          <p:cNvSpPr/>
          <p:nvPr/>
        </p:nvSpPr>
        <p:spPr>
          <a:xfrm rot="3600000">
            <a:off x="8677210" y="2996560"/>
            <a:ext cx="1128234" cy="1128234"/>
          </a:xfrm>
          <a:prstGeom prst="arc">
            <a:avLst>
              <a:gd name="adj1" fmla="val 17194449"/>
              <a:gd name="adj2" fmla="val 5405383"/>
            </a:avLst>
          </a:prstGeom>
          <a:ln w="12700" cap="rnd">
            <a:gradFill>
              <a:gsLst>
                <a:gs pos="0">
                  <a:schemeClr val="bg1"/>
                </a:gs>
                <a:gs pos="86000">
                  <a:srgbClr val="FF000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88" name="Arc 787">
            <a:extLst>
              <a:ext uri="{FF2B5EF4-FFF2-40B4-BE49-F238E27FC236}">
                <a16:creationId xmlns:a16="http://schemas.microsoft.com/office/drawing/2014/main" id="{E5415718-9C78-E4B0-074A-569366C7EBE3}"/>
              </a:ext>
            </a:extLst>
          </p:cNvPr>
          <p:cNvSpPr/>
          <p:nvPr/>
        </p:nvSpPr>
        <p:spPr>
          <a:xfrm rot="7200000">
            <a:off x="8509805" y="2829148"/>
            <a:ext cx="1463040" cy="1463040"/>
          </a:xfrm>
          <a:prstGeom prst="arc">
            <a:avLst>
              <a:gd name="adj1" fmla="val 16980644"/>
              <a:gd name="adj2" fmla="val 5405383"/>
            </a:avLst>
          </a:prstGeom>
          <a:ln w="12700" cap="rnd">
            <a:gradFill>
              <a:gsLst>
                <a:gs pos="0">
                  <a:schemeClr val="bg1"/>
                </a:gs>
                <a:gs pos="91000">
                  <a:srgbClr val="0070C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89" name="Arc 788">
            <a:extLst>
              <a:ext uri="{FF2B5EF4-FFF2-40B4-BE49-F238E27FC236}">
                <a16:creationId xmlns:a16="http://schemas.microsoft.com/office/drawing/2014/main" id="{FEAF39EC-858C-2BE0-2781-BFADCB576E88}"/>
              </a:ext>
            </a:extLst>
          </p:cNvPr>
          <p:cNvSpPr/>
          <p:nvPr/>
        </p:nvSpPr>
        <p:spPr>
          <a:xfrm rot="18000000">
            <a:off x="8509805" y="2829148"/>
            <a:ext cx="1463040" cy="1463040"/>
          </a:xfrm>
          <a:prstGeom prst="arc">
            <a:avLst>
              <a:gd name="adj1" fmla="val 17194449"/>
              <a:gd name="adj2" fmla="val 5405383"/>
            </a:avLst>
          </a:prstGeom>
          <a:ln w="12700" cap="rnd">
            <a:gradFill>
              <a:gsLst>
                <a:gs pos="0">
                  <a:schemeClr val="bg1"/>
                </a:gs>
                <a:gs pos="86000">
                  <a:srgbClr val="FF000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28" name="Arc 1027">
            <a:extLst>
              <a:ext uri="{FF2B5EF4-FFF2-40B4-BE49-F238E27FC236}">
                <a16:creationId xmlns:a16="http://schemas.microsoft.com/office/drawing/2014/main" id="{F08EB276-CE33-AB00-D8FF-2DB6EAAB6B65}"/>
              </a:ext>
            </a:extLst>
          </p:cNvPr>
          <p:cNvSpPr/>
          <p:nvPr/>
        </p:nvSpPr>
        <p:spPr>
          <a:xfrm>
            <a:off x="10527272" y="3186875"/>
            <a:ext cx="747603" cy="747603"/>
          </a:xfrm>
          <a:prstGeom prst="arc">
            <a:avLst>
              <a:gd name="adj1" fmla="val 16980644"/>
              <a:gd name="adj2" fmla="val 5405383"/>
            </a:avLst>
          </a:prstGeom>
          <a:ln w="12700" cap="rnd">
            <a:gradFill>
              <a:gsLst>
                <a:gs pos="0">
                  <a:schemeClr val="bg1"/>
                </a:gs>
                <a:gs pos="91000">
                  <a:srgbClr val="0070C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29" name="Arc 1028">
            <a:extLst>
              <a:ext uri="{FF2B5EF4-FFF2-40B4-BE49-F238E27FC236}">
                <a16:creationId xmlns:a16="http://schemas.microsoft.com/office/drawing/2014/main" id="{79CA316C-08C9-58A0-3810-0A0F9A3DB0B2}"/>
              </a:ext>
            </a:extLst>
          </p:cNvPr>
          <p:cNvSpPr/>
          <p:nvPr/>
        </p:nvSpPr>
        <p:spPr>
          <a:xfrm rot="10800000">
            <a:off x="10527272" y="3186875"/>
            <a:ext cx="747603" cy="747603"/>
          </a:xfrm>
          <a:prstGeom prst="arc">
            <a:avLst>
              <a:gd name="adj1" fmla="val 17194449"/>
              <a:gd name="adj2" fmla="val 5405383"/>
            </a:avLst>
          </a:prstGeom>
          <a:ln w="12700" cap="rnd">
            <a:gradFill>
              <a:gsLst>
                <a:gs pos="0">
                  <a:schemeClr val="bg1"/>
                </a:gs>
                <a:gs pos="86000">
                  <a:srgbClr val="FF000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26" name="Arc 1025">
            <a:extLst>
              <a:ext uri="{FF2B5EF4-FFF2-40B4-BE49-F238E27FC236}">
                <a16:creationId xmlns:a16="http://schemas.microsoft.com/office/drawing/2014/main" id="{A9C5A2CB-E754-0D33-7588-4B95DC4D00F1}"/>
              </a:ext>
            </a:extLst>
          </p:cNvPr>
          <p:cNvSpPr/>
          <p:nvPr/>
        </p:nvSpPr>
        <p:spPr>
          <a:xfrm rot="14400000">
            <a:off x="10372214" y="3031817"/>
            <a:ext cx="1057720" cy="1057720"/>
          </a:xfrm>
          <a:prstGeom prst="arc">
            <a:avLst>
              <a:gd name="adj1" fmla="val 16980644"/>
              <a:gd name="adj2" fmla="val 5405383"/>
            </a:avLst>
          </a:prstGeom>
          <a:ln w="12700" cap="rnd">
            <a:gradFill>
              <a:gsLst>
                <a:gs pos="0">
                  <a:schemeClr val="bg1"/>
                </a:gs>
                <a:gs pos="91000">
                  <a:srgbClr val="0070C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27" name="Arc 1026">
            <a:extLst>
              <a:ext uri="{FF2B5EF4-FFF2-40B4-BE49-F238E27FC236}">
                <a16:creationId xmlns:a16="http://schemas.microsoft.com/office/drawing/2014/main" id="{1661C786-5335-3797-3DB4-86D8E19992A6}"/>
              </a:ext>
            </a:extLst>
          </p:cNvPr>
          <p:cNvSpPr/>
          <p:nvPr/>
        </p:nvSpPr>
        <p:spPr>
          <a:xfrm rot="3600000">
            <a:off x="10372214" y="3031817"/>
            <a:ext cx="1057720" cy="1057720"/>
          </a:xfrm>
          <a:prstGeom prst="arc">
            <a:avLst>
              <a:gd name="adj1" fmla="val 17194449"/>
              <a:gd name="adj2" fmla="val 5405383"/>
            </a:avLst>
          </a:prstGeom>
          <a:ln w="12700" cap="rnd">
            <a:gradFill>
              <a:gsLst>
                <a:gs pos="0">
                  <a:schemeClr val="bg1"/>
                </a:gs>
                <a:gs pos="86000">
                  <a:srgbClr val="FF000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24" name="Arc 1023">
            <a:extLst>
              <a:ext uri="{FF2B5EF4-FFF2-40B4-BE49-F238E27FC236}">
                <a16:creationId xmlns:a16="http://schemas.microsoft.com/office/drawing/2014/main" id="{23C38CA1-42D4-B0DB-5847-B11374EE215A}"/>
              </a:ext>
            </a:extLst>
          </p:cNvPr>
          <p:cNvSpPr/>
          <p:nvPr/>
        </p:nvSpPr>
        <p:spPr>
          <a:xfrm rot="7200000">
            <a:off x="10215272" y="2874868"/>
            <a:ext cx="1371600" cy="1371600"/>
          </a:xfrm>
          <a:prstGeom prst="arc">
            <a:avLst>
              <a:gd name="adj1" fmla="val 16980644"/>
              <a:gd name="adj2" fmla="val 5405383"/>
            </a:avLst>
          </a:prstGeom>
          <a:ln w="12700" cap="rnd">
            <a:gradFill>
              <a:gsLst>
                <a:gs pos="0">
                  <a:schemeClr val="bg1"/>
                </a:gs>
                <a:gs pos="91000">
                  <a:srgbClr val="0070C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25" name="Arc 1024">
            <a:extLst>
              <a:ext uri="{FF2B5EF4-FFF2-40B4-BE49-F238E27FC236}">
                <a16:creationId xmlns:a16="http://schemas.microsoft.com/office/drawing/2014/main" id="{ED5C86BA-DAC8-F1B5-B123-DBFB7E72A9E6}"/>
              </a:ext>
            </a:extLst>
          </p:cNvPr>
          <p:cNvSpPr/>
          <p:nvPr/>
        </p:nvSpPr>
        <p:spPr>
          <a:xfrm rot="18000000">
            <a:off x="10215272" y="2874868"/>
            <a:ext cx="1371600" cy="1371600"/>
          </a:xfrm>
          <a:prstGeom prst="arc">
            <a:avLst>
              <a:gd name="adj1" fmla="val 17194449"/>
              <a:gd name="adj2" fmla="val 5405383"/>
            </a:avLst>
          </a:prstGeom>
          <a:ln w="12700" cap="rnd">
            <a:gradFill>
              <a:gsLst>
                <a:gs pos="0">
                  <a:schemeClr val="bg1"/>
                </a:gs>
                <a:gs pos="86000">
                  <a:srgbClr val="FF000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38" name="Arc 1037">
            <a:extLst>
              <a:ext uri="{FF2B5EF4-FFF2-40B4-BE49-F238E27FC236}">
                <a16:creationId xmlns:a16="http://schemas.microsoft.com/office/drawing/2014/main" id="{D789D19B-C60B-173E-0E6C-1054FDBDF7C4}"/>
              </a:ext>
            </a:extLst>
          </p:cNvPr>
          <p:cNvSpPr/>
          <p:nvPr/>
        </p:nvSpPr>
        <p:spPr>
          <a:xfrm>
            <a:off x="10615672" y="1684925"/>
            <a:ext cx="697763" cy="697763"/>
          </a:xfrm>
          <a:prstGeom prst="arc">
            <a:avLst>
              <a:gd name="adj1" fmla="val 16980644"/>
              <a:gd name="adj2" fmla="val 5405383"/>
            </a:avLst>
          </a:prstGeom>
          <a:ln w="12700" cap="rnd">
            <a:gradFill>
              <a:gsLst>
                <a:gs pos="0">
                  <a:schemeClr val="bg1"/>
                </a:gs>
                <a:gs pos="91000">
                  <a:srgbClr val="0070C0"/>
                </a:gs>
              </a:gsLst>
              <a:lin ang="5400000" scaled="1"/>
            </a:gradFill>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39" name="Arc 1038">
            <a:extLst>
              <a:ext uri="{FF2B5EF4-FFF2-40B4-BE49-F238E27FC236}">
                <a16:creationId xmlns:a16="http://schemas.microsoft.com/office/drawing/2014/main" id="{3A583F9D-5A31-34D1-F501-7DE22CE1E61F}"/>
              </a:ext>
            </a:extLst>
          </p:cNvPr>
          <p:cNvSpPr/>
          <p:nvPr/>
        </p:nvSpPr>
        <p:spPr>
          <a:xfrm rot="10800000">
            <a:off x="10615672" y="1684925"/>
            <a:ext cx="697763" cy="697763"/>
          </a:xfrm>
          <a:prstGeom prst="arc">
            <a:avLst>
              <a:gd name="adj1" fmla="val 17194449"/>
              <a:gd name="adj2" fmla="val 5405383"/>
            </a:avLst>
          </a:prstGeom>
          <a:ln w="12700" cap="rnd">
            <a:gradFill>
              <a:gsLst>
                <a:gs pos="0">
                  <a:schemeClr val="bg1"/>
                </a:gs>
                <a:gs pos="86000">
                  <a:srgbClr val="FF0000"/>
                </a:gs>
              </a:gsLst>
              <a:lin ang="5400000" scaled="1"/>
            </a:gradFill>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36" name="Arc 1035">
            <a:extLst>
              <a:ext uri="{FF2B5EF4-FFF2-40B4-BE49-F238E27FC236}">
                <a16:creationId xmlns:a16="http://schemas.microsoft.com/office/drawing/2014/main" id="{403205DC-8BF7-4458-0FD3-558797A35580}"/>
              </a:ext>
            </a:extLst>
          </p:cNvPr>
          <p:cNvSpPr/>
          <p:nvPr/>
        </p:nvSpPr>
        <p:spPr>
          <a:xfrm rot="14400000">
            <a:off x="10470951" y="1540204"/>
            <a:ext cx="987205" cy="987205"/>
          </a:xfrm>
          <a:prstGeom prst="arc">
            <a:avLst>
              <a:gd name="adj1" fmla="val 16980644"/>
              <a:gd name="adj2" fmla="val 5405383"/>
            </a:avLst>
          </a:prstGeom>
          <a:ln w="12700" cap="rnd">
            <a:gradFill>
              <a:gsLst>
                <a:gs pos="0">
                  <a:schemeClr val="bg1"/>
                </a:gs>
                <a:gs pos="91000">
                  <a:srgbClr val="0070C0"/>
                </a:gs>
              </a:gsLst>
              <a:lin ang="5400000" scaled="1"/>
            </a:gradFill>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37" name="Arc 1036">
            <a:extLst>
              <a:ext uri="{FF2B5EF4-FFF2-40B4-BE49-F238E27FC236}">
                <a16:creationId xmlns:a16="http://schemas.microsoft.com/office/drawing/2014/main" id="{22327059-797F-0BB5-5358-A1A71ED6481B}"/>
              </a:ext>
            </a:extLst>
          </p:cNvPr>
          <p:cNvSpPr/>
          <p:nvPr/>
        </p:nvSpPr>
        <p:spPr>
          <a:xfrm rot="3600000">
            <a:off x="10470951" y="1540204"/>
            <a:ext cx="987205" cy="987205"/>
          </a:xfrm>
          <a:prstGeom prst="arc">
            <a:avLst>
              <a:gd name="adj1" fmla="val 17194449"/>
              <a:gd name="adj2" fmla="val 5405383"/>
            </a:avLst>
          </a:prstGeom>
          <a:ln w="12700" cap="rnd">
            <a:gradFill>
              <a:gsLst>
                <a:gs pos="0">
                  <a:schemeClr val="bg1"/>
                </a:gs>
                <a:gs pos="86000">
                  <a:srgbClr val="FF0000"/>
                </a:gs>
              </a:gsLst>
              <a:lin ang="5400000" scaled="1"/>
            </a:gradFill>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34" name="Arc 1033">
            <a:extLst>
              <a:ext uri="{FF2B5EF4-FFF2-40B4-BE49-F238E27FC236}">
                <a16:creationId xmlns:a16="http://schemas.microsoft.com/office/drawing/2014/main" id="{318EB971-2CAF-58E0-54A8-AB7CCBCDCC14}"/>
              </a:ext>
            </a:extLst>
          </p:cNvPr>
          <p:cNvSpPr/>
          <p:nvPr/>
        </p:nvSpPr>
        <p:spPr>
          <a:xfrm rot="7200000">
            <a:off x="10324472" y="1393718"/>
            <a:ext cx="1280160" cy="1280160"/>
          </a:xfrm>
          <a:prstGeom prst="arc">
            <a:avLst>
              <a:gd name="adj1" fmla="val 16980644"/>
              <a:gd name="adj2" fmla="val 5405383"/>
            </a:avLst>
          </a:prstGeom>
          <a:ln w="12700" cap="rnd">
            <a:gradFill>
              <a:gsLst>
                <a:gs pos="0">
                  <a:schemeClr val="bg1"/>
                </a:gs>
                <a:gs pos="91000">
                  <a:srgbClr val="0070C0"/>
                </a:gs>
              </a:gsLst>
              <a:lin ang="5400000" scaled="1"/>
            </a:gradFill>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35" name="Arc 1034">
            <a:extLst>
              <a:ext uri="{FF2B5EF4-FFF2-40B4-BE49-F238E27FC236}">
                <a16:creationId xmlns:a16="http://schemas.microsoft.com/office/drawing/2014/main" id="{03635642-D75F-6F2F-8A50-194D6A9C766D}"/>
              </a:ext>
            </a:extLst>
          </p:cNvPr>
          <p:cNvSpPr/>
          <p:nvPr/>
        </p:nvSpPr>
        <p:spPr>
          <a:xfrm rot="18000000">
            <a:off x="10324472" y="1393718"/>
            <a:ext cx="1280160" cy="1280160"/>
          </a:xfrm>
          <a:prstGeom prst="arc">
            <a:avLst>
              <a:gd name="adj1" fmla="val 17194449"/>
              <a:gd name="adj2" fmla="val 5405383"/>
            </a:avLst>
          </a:prstGeom>
          <a:ln w="12700" cap="rnd">
            <a:gradFill>
              <a:gsLst>
                <a:gs pos="0">
                  <a:schemeClr val="bg1"/>
                </a:gs>
                <a:gs pos="86000">
                  <a:srgbClr val="FF0000"/>
                </a:gs>
              </a:gsLst>
              <a:lin ang="5400000" scaled="1"/>
            </a:gradFill>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48" name="Arc 1047">
            <a:extLst>
              <a:ext uri="{FF2B5EF4-FFF2-40B4-BE49-F238E27FC236}">
                <a16:creationId xmlns:a16="http://schemas.microsoft.com/office/drawing/2014/main" id="{FA9F7B58-853C-DC59-7496-9AB2FD3124AB}"/>
              </a:ext>
            </a:extLst>
          </p:cNvPr>
          <p:cNvSpPr/>
          <p:nvPr/>
        </p:nvSpPr>
        <p:spPr>
          <a:xfrm>
            <a:off x="9312476" y="1709844"/>
            <a:ext cx="647923" cy="647923"/>
          </a:xfrm>
          <a:prstGeom prst="arc">
            <a:avLst>
              <a:gd name="adj1" fmla="val 16980644"/>
              <a:gd name="adj2" fmla="val 5405383"/>
            </a:avLst>
          </a:prstGeom>
          <a:ln w="12700" cap="rnd">
            <a:gradFill>
              <a:gsLst>
                <a:gs pos="0">
                  <a:schemeClr val="bg1"/>
                </a:gs>
                <a:gs pos="91000">
                  <a:srgbClr val="0070C0"/>
                </a:gs>
              </a:gsLst>
              <a:lin ang="5400000" scaled="1"/>
            </a:gradFill>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49" name="Arc 1048">
            <a:extLst>
              <a:ext uri="{FF2B5EF4-FFF2-40B4-BE49-F238E27FC236}">
                <a16:creationId xmlns:a16="http://schemas.microsoft.com/office/drawing/2014/main" id="{3E1162F5-71ED-1851-C1D9-6E46193257DE}"/>
              </a:ext>
            </a:extLst>
          </p:cNvPr>
          <p:cNvSpPr/>
          <p:nvPr/>
        </p:nvSpPr>
        <p:spPr>
          <a:xfrm rot="10800000">
            <a:off x="9312476" y="1709844"/>
            <a:ext cx="647923" cy="647923"/>
          </a:xfrm>
          <a:prstGeom prst="arc">
            <a:avLst>
              <a:gd name="adj1" fmla="val 17194449"/>
              <a:gd name="adj2" fmla="val 5405383"/>
            </a:avLst>
          </a:prstGeom>
          <a:ln w="12700" cap="rnd">
            <a:gradFill>
              <a:gsLst>
                <a:gs pos="0">
                  <a:schemeClr val="bg1"/>
                </a:gs>
                <a:gs pos="86000">
                  <a:srgbClr val="FF0000"/>
                </a:gs>
              </a:gsLst>
              <a:lin ang="5400000" scaled="1"/>
            </a:gradFill>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46" name="Arc 1045">
            <a:extLst>
              <a:ext uri="{FF2B5EF4-FFF2-40B4-BE49-F238E27FC236}">
                <a16:creationId xmlns:a16="http://schemas.microsoft.com/office/drawing/2014/main" id="{20B6084D-9BBA-323E-2620-A8DCB4D68929}"/>
              </a:ext>
            </a:extLst>
          </p:cNvPr>
          <p:cNvSpPr/>
          <p:nvPr/>
        </p:nvSpPr>
        <p:spPr>
          <a:xfrm rot="14400000">
            <a:off x="9178092" y="1575460"/>
            <a:ext cx="916690" cy="916690"/>
          </a:xfrm>
          <a:prstGeom prst="arc">
            <a:avLst>
              <a:gd name="adj1" fmla="val 16980644"/>
              <a:gd name="adj2" fmla="val 5405383"/>
            </a:avLst>
          </a:prstGeom>
          <a:ln w="12700" cap="rnd">
            <a:gradFill>
              <a:gsLst>
                <a:gs pos="0">
                  <a:schemeClr val="bg1"/>
                </a:gs>
                <a:gs pos="91000">
                  <a:srgbClr val="0070C0"/>
                </a:gs>
              </a:gsLst>
              <a:lin ang="5400000" scaled="1"/>
            </a:gradFill>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47" name="Arc 1046">
            <a:extLst>
              <a:ext uri="{FF2B5EF4-FFF2-40B4-BE49-F238E27FC236}">
                <a16:creationId xmlns:a16="http://schemas.microsoft.com/office/drawing/2014/main" id="{7613BEFD-4E3C-3B09-6614-0D75C224EEE1}"/>
              </a:ext>
            </a:extLst>
          </p:cNvPr>
          <p:cNvSpPr/>
          <p:nvPr/>
        </p:nvSpPr>
        <p:spPr>
          <a:xfrm rot="3600000">
            <a:off x="9178092" y="1575460"/>
            <a:ext cx="916690" cy="916690"/>
          </a:xfrm>
          <a:prstGeom prst="arc">
            <a:avLst>
              <a:gd name="adj1" fmla="val 17194449"/>
              <a:gd name="adj2" fmla="val 5405383"/>
            </a:avLst>
          </a:prstGeom>
          <a:ln w="12700" cap="rnd">
            <a:gradFill>
              <a:gsLst>
                <a:gs pos="0">
                  <a:schemeClr val="bg1"/>
                </a:gs>
                <a:gs pos="86000">
                  <a:srgbClr val="FF0000"/>
                </a:gs>
              </a:gsLst>
              <a:lin ang="5400000" scaled="1"/>
            </a:gradFill>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44" name="Arc 1043">
            <a:extLst>
              <a:ext uri="{FF2B5EF4-FFF2-40B4-BE49-F238E27FC236}">
                <a16:creationId xmlns:a16="http://schemas.microsoft.com/office/drawing/2014/main" id="{8ACA22F9-9A07-59E3-B33A-D096DF3882AF}"/>
              </a:ext>
            </a:extLst>
          </p:cNvPr>
          <p:cNvSpPr/>
          <p:nvPr/>
        </p:nvSpPr>
        <p:spPr>
          <a:xfrm rot="7200000">
            <a:off x="9042076" y="1439438"/>
            <a:ext cx="1188720" cy="1188720"/>
          </a:xfrm>
          <a:prstGeom prst="arc">
            <a:avLst>
              <a:gd name="adj1" fmla="val 16980644"/>
              <a:gd name="adj2" fmla="val 5405383"/>
            </a:avLst>
          </a:prstGeom>
          <a:ln w="12700" cap="rnd">
            <a:gradFill>
              <a:gsLst>
                <a:gs pos="0">
                  <a:schemeClr val="bg1"/>
                </a:gs>
                <a:gs pos="91000">
                  <a:srgbClr val="0070C0"/>
                </a:gs>
              </a:gsLst>
              <a:lin ang="5400000" scaled="1"/>
            </a:gradFill>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45" name="Arc 1044">
            <a:extLst>
              <a:ext uri="{FF2B5EF4-FFF2-40B4-BE49-F238E27FC236}">
                <a16:creationId xmlns:a16="http://schemas.microsoft.com/office/drawing/2014/main" id="{709DF5D7-7573-21CC-491D-77CA566283B4}"/>
              </a:ext>
            </a:extLst>
          </p:cNvPr>
          <p:cNvSpPr/>
          <p:nvPr/>
        </p:nvSpPr>
        <p:spPr>
          <a:xfrm rot="18000000">
            <a:off x="9042076" y="1439438"/>
            <a:ext cx="1188720" cy="1188720"/>
          </a:xfrm>
          <a:prstGeom prst="arc">
            <a:avLst>
              <a:gd name="adj1" fmla="val 17194449"/>
              <a:gd name="adj2" fmla="val 5405383"/>
            </a:avLst>
          </a:prstGeom>
          <a:ln w="12700" cap="rnd">
            <a:gradFill>
              <a:gsLst>
                <a:gs pos="0">
                  <a:schemeClr val="bg1"/>
                </a:gs>
                <a:gs pos="86000">
                  <a:srgbClr val="FF0000"/>
                </a:gs>
              </a:gsLst>
              <a:lin ang="5400000" scaled="1"/>
            </a:gradFill>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58" name="Arc 1057">
            <a:extLst>
              <a:ext uri="{FF2B5EF4-FFF2-40B4-BE49-F238E27FC236}">
                <a16:creationId xmlns:a16="http://schemas.microsoft.com/office/drawing/2014/main" id="{D6E61B71-A4BC-5567-7E6E-082FA3689E5F}"/>
              </a:ext>
            </a:extLst>
          </p:cNvPr>
          <p:cNvSpPr/>
          <p:nvPr/>
        </p:nvSpPr>
        <p:spPr>
          <a:xfrm>
            <a:off x="8100723" y="1734764"/>
            <a:ext cx="598083" cy="598083"/>
          </a:xfrm>
          <a:prstGeom prst="arc">
            <a:avLst>
              <a:gd name="adj1" fmla="val 16980644"/>
              <a:gd name="adj2" fmla="val 5405383"/>
            </a:avLst>
          </a:prstGeom>
          <a:ln w="12700" cap="rnd">
            <a:gradFill>
              <a:gsLst>
                <a:gs pos="0">
                  <a:schemeClr val="bg1"/>
                </a:gs>
                <a:gs pos="91000">
                  <a:srgbClr val="0070C0"/>
                </a:gs>
              </a:gsLst>
              <a:lin ang="5400000" scaled="1"/>
            </a:gradFill>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59" name="Arc 1058">
            <a:extLst>
              <a:ext uri="{FF2B5EF4-FFF2-40B4-BE49-F238E27FC236}">
                <a16:creationId xmlns:a16="http://schemas.microsoft.com/office/drawing/2014/main" id="{055637C2-7FC8-C9A3-811E-EFCAD6B3CB72}"/>
              </a:ext>
            </a:extLst>
          </p:cNvPr>
          <p:cNvSpPr/>
          <p:nvPr/>
        </p:nvSpPr>
        <p:spPr>
          <a:xfrm rot="10800000">
            <a:off x="8100723" y="1734764"/>
            <a:ext cx="598083" cy="598083"/>
          </a:xfrm>
          <a:prstGeom prst="arc">
            <a:avLst>
              <a:gd name="adj1" fmla="val 17194449"/>
              <a:gd name="adj2" fmla="val 5405383"/>
            </a:avLst>
          </a:prstGeom>
          <a:ln w="12700" cap="rnd">
            <a:gradFill>
              <a:gsLst>
                <a:gs pos="0">
                  <a:schemeClr val="bg1"/>
                </a:gs>
                <a:gs pos="86000">
                  <a:srgbClr val="FF0000"/>
                </a:gs>
              </a:gsLst>
              <a:lin ang="5400000" scaled="1"/>
            </a:gradFill>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56" name="Arc 1055">
            <a:extLst>
              <a:ext uri="{FF2B5EF4-FFF2-40B4-BE49-F238E27FC236}">
                <a16:creationId xmlns:a16="http://schemas.microsoft.com/office/drawing/2014/main" id="{19584E2A-EDC7-19C3-7BCE-D4F5228CA3C4}"/>
              </a:ext>
            </a:extLst>
          </p:cNvPr>
          <p:cNvSpPr/>
          <p:nvPr/>
        </p:nvSpPr>
        <p:spPr>
          <a:xfrm rot="14400000">
            <a:off x="7976676" y="1610717"/>
            <a:ext cx="846176" cy="846176"/>
          </a:xfrm>
          <a:prstGeom prst="arc">
            <a:avLst>
              <a:gd name="adj1" fmla="val 16980644"/>
              <a:gd name="adj2" fmla="val 5405383"/>
            </a:avLst>
          </a:prstGeom>
          <a:ln w="12700" cap="rnd">
            <a:gradFill>
              <a:gsLst>
                <a:gs pos="0">
                  <a:schemeClr val="bg1"/>
                </a:gs>
                <a:gs pos="91000">
                  <a:srgbClr val="0070C0"/>
                </a:gs>
              </a:gsLst>
              <a:lin ang="5400000" scaled="1"/>
            </a:gradFill>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57" name="Arc 1056">
            <a:extLst>
              <a:ext uri="{FF2B5EF4-FFF2-40B4-BE49-F238E27FC236}">
                <a16:creationId xmlns:a16="http://schemas.microsoft.com/office/drawing/2014/main" id="{1C0FFBBE-9868-9262-0507-6CBF453282F0}"/>
              </a:ext>
            </a:extLst>
          </p:cNvPr>
          <p:cNvSpPr/>
          <p:nvPr/>
        </p:nvSpPr>
        <p:spPr>
          <a:xfrm rot="3600000">
            <a:off x="7976676" y="1610717"/>
            <a:ext cx="846176" cy="846176"/>
          </a:xfrm>
          <a:prstGeom prst="arc">
            <a:avLst>
              <a:gd name="adj1" fmla="val 17194449"/>
              <a:gd name="adj2" fmla="val 5405383"/>
            </a:avLst>
          </a:prstGeom>
          <a:ln w="12700" cap="rnd">
            <a:gradFill>
              <a:gsLst>
                <a:gs pos="0">
                  <a:schemeClr val="bg1"/>
                </a:gs>
                <a:gs pos="86000">
                  <a:srgbClr val="FF0000"/>
                </a:gs>
              </a:gsLst>
              <a:lin ang="5400000" scaled="1"/>
            </a:gradFill>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54" name="Arc 1053">
            <a:extLst>
              <a:ext uri="{FF2B5EF4-FFF2-40B4-BE49-F238E27FC236}">
                <a16:creationId xmlns:a16="http://schemas.microsoft.com/office/drawing/2014/main" id="{2FE014D9-70AC-6E68-2232-33D079AAEE4D}"/>
              </a:ext>
            </a:extLst>
          </p:cNvPr>
          <p:cNvSpPr/>
          <p:nvPr/>
        </p:nvSpPr>
        <p:spPr>
          <a:xfrm rot="7200000">
            <a:off x="7851123" y="1485158"/>
            <a:ext cx="1097280" cy="1097280"/>
          </a:xfrm>
          <a:prstGeom prst="arc">
            <a:avLst>
              <a:gd name="adj1" fmla="val 16980644"/>
              <a:gd name="adj2" fmla="val 5405383"/>
            </a:avLst>
          </a:prstGeom>
          <a:ln w="12700" cap="rnd">
            <a:gradFill>
              <a:gsLst>
                <a:gs pos="0">
                  <a:schemeClr val="bg1"/>
                </a:gs>
                <a:gs pos="91000">
                  <a:srgbClr val="0070C0"/>
                </a:gs>
              </a:gsLst>
              <a:lin ang="5400000" scaled="1"/>
            </a:gradFill>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55" name="Arc 1054">
            <a:extLst>
              <a:ext uri="{FF2B5EF4-FFF2-40B4-BE49-F238E27FC236}">
                <a16:creationId xmlns:a16="http://schemas.microsoft.com/office/drawing/2014/main" id="{A4CE5F17-01D4-37B4-D24E-1E743600105A}"/>
              </a:ext>
            </a:extLst>
          </p:cNvPr>
          <p:cNvSpPr/>
          <p:nvPr/>
        </p:nvSpPr>
        <p:spPr>
          <a:xfrm rot="18000000">
            <a:off x="7851123" y="1485158"/>
            <a:ext cx="1097280" cy="1097280"/>
          </a:xfrm>
          <a:prstGeom prst="arc">
            <a:avLst>
              <a:gd name="adj1" fmla="val 17194449"/>
              <a:gd name="adj2" fmla="val 5405383"/>
            </a:avLst>
          </a:prstGeom>
          <a:ln w="12700" cap="rnd">
            <a:gradFill>
              <a:gsLst>
                <a:gs pos="0">
                  <a:schemeClr val="bg1"/>
                </a:gs>
                <a:gs pos="86000">
                  <a:srgbClr val="FF0000"/>
                </a:gs>
              </a:gsLst>
              <a:lin ang="5400000" scaled="1"/>
            </a:gradFill>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68" name="Arc 1067">
            <a:extLst>
              <a:ext uri="{FF2B5EF4-FFF2-40B4-BE49-F238E27FC236}">
                <a16:creationId xmlns:a16="http://schemas.microsoft.com/office/drawing/2014/main" id="{9ADA0D08-EE64-A935-6962-2A76F39DE3CA}"/>
              </a:ext>
            </a:extLst>
          </p:cNvPr>
          <p:cNvSpPr/>
          <p:nvPr/>
        </p:nvSpPr>
        <p:spPr>
          <a:xfrm>
            <a:off x="3239993" y="3087180"/>
            <a:ext cx="946955" cy="946955"/>
          </a:xfrm>
          <a:prstGeom prst="arc">
            <a:avLst>
              <a:gd name="adj1" fmla="val 16980644"/>
              <a:gd name="adj2" fmla="val 5405383"/>
            </a:avLst>
          </a:prstGeom>
          <a:ln w="12700" cap="rnd">
            <a:gradFill>
              <a:gsLst>
                <a:gs pos="0">
                  <a:schemeClr val="bg1"/>
                </a:gs>
                <a:gs pos="91000">
                  <a:srgbClr val="0070C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69" name="Arc 1068">
            <a:extLst>
              <a:ext uri="{FF2B5EF4-FFF2-40B4-BE49-F238E27FC236}">
                <a16:creationId xmlns:a16="http://schemas.microsoft.com/office/drawing/2014/main" id="{609C6B3F-D26B-BDA7-476A-E83A8CFEBB28}"/>
              </a:ext>
            </a:extLst>
          </p:cNvPr>
          <p:cNvSpPr/>
          <p:nvPr/>
        </p:nvSpPr>
        <p:spPr>
          <a:xfrm rot="10800000">
            <a:off x="3239993" y="3087180"/>
            <a:ext cx="946955" cy="946955"/>
          </a:xfrm>
          <a:prstGeom prst="arc">
            <a:avLst>
              <a:gd name="adj1" fmla="val 17194449"/>
              <a:gd name="adj2" fmla="val 5405383"/>
            </a:avLst>
          </a:prstGeom>
          <a:ln w="12700" cap="rnd">
            <a:gradFill>
              <a:gsLst>
                <a:gs pos="0">
                  <a:schemeClr val="bg1"/>
                </a:gs>
                <a:gs pos="86000">
                  <a:srgbClr val="FF000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66" name="Arc 1065">
            <a:extLst>
              <a:ext uri="{FF2B5EF4-FFF2-40B4-BE49-F238E27FC236}">
                <a16:creationId xmlns:a16="http://schemas.microsoft.com/office/drawing/2014/main" id="{66E97744-BC66-FD4E-51FE-656AD71D140C}"/>
              </a:ext>
            </a:extLst>
          </p:cNvPr>
          <p:cNvSpPr/>
          <p:nvPr/>
        </p:nvSpPr>
        <p:spPr>
          <a:xfrm rot="14400000">
            <a:off x="3043588" y="2890775"/>
            <a:ext cx="1339765" cy="1339765"/>
          </a:xfrm>
          <a:prstGeom prst="arc">
            <a:avLst>
              <a:gd name="adj1" fmla="val 16980644"/>
              <a:gd name="adj2" fmla="val 5405383"/>
            </a:avLst>
          </a:prstGeom>
          <a:ln w="12700" cap="rnd">
            <a:gradFill>
              <a:gsLst>
                <a:gs pos="0">
                  <a:schemeClr val="bg1"/>
                </a:gs>
                <a:gs pos="91000">
                  <a:srgbClr val="0070C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67" name="Arc 1066">
            <a:extLst>
              <a:ext uri="{FF2B5EF4-FFF2-40B4-BE49-F238E27FC236}">
                <a16:creationId xmlns:a16="http://schemas.microsoft.com/office/drawing/2014/main" id="{E76DA54B-B9DE-EA9A-B53F-18EC1D410A38}"/>
              </a:ext>
            </a:extLst>
          </p:cNvPr>
          <p:cNvSpPr/>
          <p:nvPr/>
        </p:nvSpPr>
        <p:spPr>
          <a:xfrm rot="3600000">
            <a:off x="3043588" y="2890775"/>
            <a:ext cx="1339765" cy="1339765"/>
          </a:xfrm>
          <a:prstGeom prst="arc">
            <a:avLst>
              <a:gd name="adj1" fmla="val 17194449"/>
              <a:gd name="adj2" fmla="val 5405383"/>
            </a:avLst>
          </a:prstGeom>
          <a:ln w="12700" cap="rnd">
            <a:gradFill>
              <a:gsLst>
                <a:gs pos="0">
                  <a:schemeClr val="bg1"/>
                </a:gs>
                <a:gs pos="86000">
                  <a:srgbClr val="FF000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64" name="Arc 1063">
            <a:extLst>
              <a:ext uri="{FF2B5EF4-FFF2-40B4-BE49-F238E27FC236}">
                <a16:creationId xmlns:a16="http://schemas.microsoft.com/office/drawing/2014/main" id="{D7398733-E3C5-377C-F12E-532327FF7E1C}"/>
              </a:ext>
            </a:extLst>
          </p:cNvPr>
          <p:cNvSpPr/>
          <p:nvPr/>
        </p:nvSpPr>
        <p:spPr>
          <a:xfrm rot="7200000">
            <a:off x="2844768" y="2692002"/>
            <a:ext cx="1737344" cy="1737343"/>
          </a:xfrm>
          <a:prstGeom prst="arc">
            <a:avLst>
              <a:gd name="adj1" fmla="val 16980644"/>
              <a:gd name="adj2" fmla="val 5405383"/>
            </a:avLst>
          </a:prstGeom>
          <a:ln w="12700" cap="rnd">
            <a:gradFill>
              <a:gsLst>
                <a:gs pos="0">
                  <a:schemeClr val="bg1"/>
                </a:gs>
                <a:gs pos="91000">
                  <a:srgbClr val="0070C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65" name="Arc 1064">
            <a:extLst>
              <a:ext uri="{FF2B5EF4-FFF2-40B4-BE49-F238E27FC236}">
                <a16:creationId xmlns:a16="http://schemas.microsoft.com/office/drawing/2014/main" id="{2B51C444-EFF7-BA8A-0B48-3230A0F741B3}"/>
              </a:ext>
            </a:extLst>
          </p:cNvPr>
          <p:cNvSpPr/>
          <p:nvPr/>
        </p:nvSpPr>
        <p:spPr>
          <a:xfrm rot="18000000">
            <a:off x="2844783" y="2691992"/>
            <a:ext cx="1737344" cy="1737343"/>
          </a:xfrm>
          <a:prstGeom prst="arc">
            <a:avLst>
              <a:gd name="adj1" fmla="val 17194449"/>
              <a:gd name="adj2" fmla="val 5405383"/>
            </a:avLst>
          </a:prstGeom>
          <a:ln w="12700" cap="rnd">
            <a:gradFill>
              <a:gsLst>
                <a:gs pos="0">
                  <a:schemeClr val="bg1"/>
                </a:gs>
                <a:gs pos="86000">
                  <a:srgbClr val="FF000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78" name="Arc 1077">
            <a:extLst>
              <a:ext uri="{FF2B5EF4-FFF2-40B4-BE49-F238E27FC236}">
                <a16:creationId xmlns:a16="http://schemas.microsoft.com/office/drawing/2014/main" id="{33A436BF-C654-3314-3CB4-296C5DDF71FB}"/>
              </a:ext>
            </a:extLst>
          </p:cNvPr>
          <p:cNvSpPr/>
          <p:nvPr/>
        </p:nvSpPr>
        <p:spPr>
          <a:xfrm>
            <a:off x="1189579" y="3062259"/>
            <a:ext cx="996795" cy="996795"/>
          </a:xfrm>
          <a:prstGeom prst="arc">
            <a:avLst>
              <a:gd name="adj1" fmla="val 16980644"/>
              <a:gd name="adj2" fmla="val 5405383"/>
            </a:avLst>
          </a:prstGeom>
          <a:ln w="12700" cap="rnd">
            <a:gradFill>
              <a:gsLst>
                <a:gs pos="0">
                  <a:schemeClr val="bg1"/>
                </a:gs>
                <a:gs pos="91000">
                  <a:srgbClr val="0070C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79" name="Arc 1078">
            <a:extLst>
              <a:ext uri="{FF2B5EF4-FFF2-40B4-BE49-F238E27FC236}">
                <a16:creationId xmlns:a16="http://schemas.microsoft.com/office/drawing/2014/main" id="{D511BB98-48CC-E1B9-B2D4-C1F6B8EF7402}"/>
              </a:ext>
            </a:extLst>
          </p:cNvPr>
          <p:cNvSpPr/>
          <p:nvPr/>
        </p:nvSpPr>
        <p:spPr>
          <a:xfrm rot="10800000">
            <a:off x="1189579" y="3062259"/>
            <a:ext cx="996795" cy="996795"/>
          </a:xfrm>
          <a:prstGeom prst="arc">
            <a:avLst>
              <a:gd name="adj1" fmla="val 17194449"/>
              <a:gd name="adj2" fmla="val 5405383"/>
            </a:avLst>
          </a:prstGeom>
          <a:ln w="12700" cap="rnd">
            <a:gradFill>
              <a:gsLst>
                <a:gs pos="0">
                  <a:schemeClr val="bg1"/>
                </a:gs>
                <a:gs pos="86000">
                  <a:srgbClr val="FF000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76" name="Arc 1075">
            <a:extLst>
              <a:ext uri="{FF2B5EF4-FFF2-40B4-BE49-F238E27FC236}">
                <a16:creationId xmlns:a16="http://schemas.microsoft.com/office/drawing/2014/main" id="{54833E6F-F601-CEC5-C07D-1C0B6D069744}"/>
              </a:ext>
            </a:extLst>
          </p:cNvPr>
          <p:cNvSpPr/>
          <p:nvPr/>
        </p:nvSpPr>
        <p:spPr>
          <a:xfrm rot="14400000">
            <a:off x="982837" y="2855517"/>
            <a:ext cx="1410279" cy="1410279"/>
          </a:xfrm>
          <a:prstGeom prst="arc">
            <a:avLst>
              <a:gd name="adj1" fmla="val 16980644"/>
              <a:gd name="adj2" fmla="val 5405383"/>
            </a:avLst>
          </a:prstGeom>
          <a:ln w="12700" cap="rnd">
            <a:gradFill>
              <a:gsLst>
                <a:gs pos="0">
                  <a:schemeClr val="bg1"/>
                </a:gs>
                <a:gs pos="91000">
                  <a:srgbClr val="0070C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77" name="Arc 1076">
            <a:extLst>
              <a:ext uri="{FF2B5EF4-FFF2-40B4-BE49-F238E27FC236}">
                <a16:creationId xmlns:a16="http://schemas.microsoft.com/office/drawing/2014/main" id="{593B497D-F63E-19DC-E7F8-CCE99BE47223}"/>
              </a:ext>
            </a:extLst>
          </p:cNvPr>
          <p:cNvSpPr/>
          <p:nvPr/>
        </p:nvSpPr>
        <p:spPr>
          <a:xfrm rot="3600000">
            <a:off x="982837" y="2855517"/>
            <a:ext cx="1410279" cy="1410279"/>
          </a:xfrm>
          <a:prstGeom prst="arc">
            <a:avLst>
              <a:gd name="adj1" fmla="val 17194449"/>
              <a:gd name="adj2" fmla="val 5405383"/>
            </a:avLst>
          </a:prstGeom>
          <a:ln w="12700" cap="rnd">
            <a:gradFill>
              <a:gsLst>
                <a:gs pos="0">
                  <a:schemeClr val="bg1"/>
                </a:gs>
                <a:gs pos="86000">
                  <a:srgbClr val="FF000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74" name="Arc 1073">
            <a:extLst>
              <a:ext uri="{FF2B5EF4-FFF2-40B4-BE49-F238E27FC236}">
                <a16:creationId xmlns:a16="http://schemas.microsoft.com/office/drawing/2014/main" id="{0A83DAEC-2403-7FAA-FF6A-E4C33DD20087}"/>
              </a:ext>
            </a:extLst>
          </p:cNvPr>
          <p:cNvSpPr/>
          <p:nvPr/>
        </p:nvSpPr>
        <p:spPr>
          <a:xfrm rot="7200000">
            <a:off x="773552" y="2646283"/>
            <a:ext cx="1828783" cy="1828782"/>
          </a:xfrm>
          <a:prstGeom prst="arc">
            <a:avLst>
              <a:gd name="adj1" fmla="val 16980644"/>
              <a:gd name="adj2" fmla="val 5405383"/>
            </a:avLst>
          </a:prstGeom>
          <a:ln w="12700" cap="rnd">
            <a:gradFill>
              <a:gsLst>
                <a:gs pos="0">
                  <a:schemeClr val="bg1"/>
                </a:gs>
                <a:gs pos="91000">
                  <a:srgbClr val="0070C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75" name="Arc 1074">
            <a:extLst>
              <a:ext uri="{FF2B5EF4-FFF2-40B4-BE49-F238E27FC236}">
                <a16:creationId xmlns:a16="http://schemas.microsoft.com/office/drawing/2014/main" id="{A534EDFF-7286-BD39-3DFF-0D16FFED7C86}"/>
              </a:ext>
            </a:extLst>
          </p:cNvPr>
          <p:cNvSpPr/>
          <p:nvPr/>
        </p:nvSpPr>
        <p:spPr>
          <a:xfrm rot="18000000">
            <a:off x="773567" y="2646272"/>
            <a:ext cx="1828783" cy="1828782"/>
          </a:xfrm>
          <a:prstGeom prst="arc">
            <a:avLst>
              <a:gd name="adj1" fmla="val 17194449"/>
              <a:gd name="adj2" fmla="val 5405383"/>
            </a:avLst>
          </a:prstGeom>
          <a:ln w="12700" cap="rnd">
            <a:gradFill>
              <a:gsLst>
                <a:gs pos="0">
                  <a:schemeClr val="bg1"/>
                </a:gs>
                <a:gs pos="86000">
                  <a:srgbClr val="FF000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89" name="Arc 1088">
            <a:extLst>
              <a:ext uri="{FF2B5EF4-FFF2-40B4-BE49-F238E27FC236}">
                <a16:creationId xmlns:a16="http://schemas.microsoft.com/office/drawing/2014/main" id="{5697FB4A-7A39-979B-8310-C269959192C2}"/>
              </a:ext>
            </a:extLst>
          </p:cNvPr>
          <p:cNvSpPr/>
          <p:nvPr/>
        </p:nvSpPr>
        <p:spPr>
          <a:xfrm>
            <a:off x="1020058" y="5118843"/>
            <a:ext cx="1046635" cy="1046634"/>
          </a:xfrm>
          <a:prstGeom prst="arc">
            <a:avLst>
              <a:gd name="adj1" fmla="val 16980644"/>
              <a:gd name="adj2" fmla="val 5405383"/>
            </a:avLst>
          </a:prstGeom>
          <a:ln w="12700" cap="rnd">
            <a:gradFill>
              <a:gsLst>
                <a:gs pos="0">
                  <a:schemeClr val="bg1"/>
                </a:gs>
                <a:gs pos="91000">
                  <a:srgbClr val="0070C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90" name="Arc 1089">
            <a:extLst>
              <a:ext uri="{FF2B5EF4-FFF2-40B4-BE49-F238E27FC236}">
                <a16:creationId xmlns:a16="http://schemas.microsoft.com/office/drawing/2014/main" id="{633CD8D9-39F3-4124-10C1-F96DA0EBAE86}"/>
              </a:ext>
            </a:extLst>
          </p:cNvPr>
          <p:cNvSpPr/>
          <p:nvPr/>
        </p:nvSpPr>
        <p:spPr>
          <a:xfrm rot="10800000">
            <a:off x="1020058" y="5118843"/>
            <a:ext cx="1046635" cy="1046634"/>
          </a:xfrm>
          <a:prstGeom prst="arc">
            <a:avLst>
              <a:gd name="adj1" fmla="val 17194449"/>
              <a:gd name="adj2" fmla="val 5405383"/>
            </a:avLst>
          </a:prstGeom>
          <a:ln w="12700" cap="rnd">
            <a:gradFill>
              <a:gsLst>
                <a:gs pos="0">
                  <a:schemeClr val="bg1"/>
                </a:gs>
                <a:gs pos="86000">
                  <a:srgbClr val="FF000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87" name="Arc 1086">
            <a:extLst>
              <a:ext uri="{FF2B5EF4-FFF2-40B4-BE49-F238E27FC236}">
                <a16:creationId xmlns:a16="http://schemas.microsoft.com/office/drawing/2014/main" id="{66EE86A5-32EB-EF70-4EE7-2F982188A1D5}"/>
              </a:ext>
            </a:extLst>
          </p:cNvPr>
          <p:cNvSpPr/>
          <p:nvPr/>
        </p:nvSpPr>
        <p:spPr>
          <a:xfrm rot="14400000">
            <a:off x="802979" y="4901763"/>
            <a:ext cx="1480793" cy="1480793"/>
          </a:xfrm>
          <a:prstGeom prst="arc">
            <a:avLst>
              <a:gd name="adj1" fmla="val 16980644"/>
              <a:gd name="adj2" fmla="val 5405383"/>
            </a:avLst>
          </a:prstGeom>
          <a:ln w="12700" cap="rnd">
            <a:gradFill>
              <a:gsLst>
                <a:gs pos="0">
                  <a:schemeClr val="bg1"/>
                </a:gs>
                <a:gs pos="91000">
                  <a:srgbClr val="0070C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88" name="Arc 1087">
            <a:extLst>
              <a:ext uri="{FF2B5EF4-FFF2-40B4-BE49-F238E27FC236}">
                <a16:creationId xmlns:a16="http://schemas.microsoft.com/office/drawing/2014/main" id="{F6CA063A-DA63-1DC6-0FD9-C8F70FE4F446}"/>
              </a:ext>
            </a:extLst>
          </p:cNvPr>
          <p:cNvSpPr/>
          <p:nvPr/>
        </p:nvSpPr>
        <p:spPr>
          <a:xfrm rot="3600000">
            <a:off x="802979" y="4901763"/>
            <a:ext cx="1480793" cy="1480793"/>
          </a:xfrm>
          <a:prstGeom prst="arc">
            <a:avLst>
              <a:gd name="adj1" fmla="val 17194449"/>
              <a:gd name="adj2" fmla="val 5405383"/>
            </a:avLst>
          </a:prstGeom>
          <a:ln w="12700" cap="rnd">
            <a:gradFill>
              <a:gsLst>
                <a:gs pos="0">
                  <a:schemeClr val="bg1"/>
                </a:gs>
                <a:gs pos="86000">
                  <a:srgbClr val="FF000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85" name="Arc 1084">
            <a:extLst>
              <a:ext uri="{FF2B5EF4-FFF2-40B4-BE49-F238E27FC236}">
                <a16:creationId xmlns:a16="http://schemas.microsoft.com/office/drawing/2014/main" id="{D02CE33F-8C19-6E90-CAC9-D6AB87BD254C}"/>
              </a:ext>
            </a:extLst>
          </p:cNvPr>
          <p:cNvSpPr/>
          <p:nvPr/>
        </p:nvSpPr>
        <p:spPr>
          <a:xfrm rot="7200000">
            <a:off x="583229" y="4682067"/>
            <a:ext cx="1920222" cy="1920222"/>
          </a:xfrm>
          <a:prstGeom prst="arc">
            <a:avLst>
              <a:gd name="adj1" fmla="val 16980644"/>
              <a:gd name="adj2" fmla="val 5405383"/>
            </a:avLst>
          </a:prstGeom>
          <a:ln w="12700" cap="rnd">
            <a:gradFill>
              <a:gsLst>
                <a:gs pos="0">
                  <a:schemeClr val="bg1"/>
                </a:gs>
                <a:gs pos="91000">
                  <a:srgbClr val="0070C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86" name="Arc 1085">
            <a:extLst>
              <a:ext uri="{FF2B5EF4-FFF2-40B4-BE49-F238E27FC236}">
                <a16:creationId xmlns:a16="http://schemas.microsoft.com/office/drawing/2014/main" id="{6AB3D795-A0AE-1655-9357-9FFF7FE10B33}"/>
              </a:ext>
            </a:extLst>
          </p:cNvPr>
          <p:cNvSpPr/>
          <p:nvPr/>
        </p:nvSpPr>
        <p:spPr>
          <a:xfrm rot="18000000">
            <a:off x="583245" y="4682056"/>
            <a:ext cx="1920222" cy="1920222"/>
          </a:xfrm>
          <a:prstGeom prst="arc">
            <a:avLst>
              <a:gd name="adj1" fmla="val 17194449"/>
              <a:gd name="adj2" fmla="val 5405383"/>
            </a:avLst>
          </a:prstGeom>
          <a:ln w="12700" cap="rnd">
            <a:gradFill>
              <a:gsLst>
                <a:gs pos="0">
                  <a:schemeClr val="bg1"/>
                </a:gs>
                <a:gs pos="86000">
                  <a:srgbClr val="FF000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99" name="Arc 1098">
            <a:extLst>
              <a:ext uri="{FF2B5EF4-FFF2-40B4-BE49-F238E27FC236}">
                <a16:creationId xmlns:a16="http://schemas.microsoft.com/office/drawing/2014/main" id="{4BEBED3E-D764-6594-A6B1-499451E6BE3C}"/>
              </a:ext>
            </a:extLst>
          </p:cNvPr>
          <p:cNvSpPr/>
          <p:nvPr/>
        </p:nvSpPr>
        <p:spPr>
          <a:xfrm>
            <a:off x="3198726" y="5093922"/>
            <a:ext cx="1096475" cy="1096474"/>
          </a:xfrm>
          <a:prstGeom prst="arc">
            <a:avLst>
              <a:gd name="adj1" fmla="val 16980644"/>
              <a:gd name="adj2" fmla="val 5405383"/>
            </a:avLst>
          </a:prstGeom>
          <a:ln w="12700" cap="rnd">
            <a:gradFill>
              <a:gsLst>
                <a:gs pos="0">
                  <a:schemeClr val="bg1"/>
                </a:gs>
                <a:gs pos="91000">
                  <a:srgbClr val="0070C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00" name="Arc 1099">
            <a:extLst>
              <a:ext uri="{FF2B5EF4-FFF2-40B4-BE49-F238E27FC236}">
                <a16:creationId xmlns:a16="http://schemas.microsoft.com/office/drawing/2014/main" id="{2A9D2884-8E24-DB24-E900-A5633E55BF73}"/>
              </a:ext>
            </a:extLst>
          </p:cNvPr>
          <p:cNvSpPr/>
          <p:nvPr/>
        </p:nvSpPr>
        <p:spPr>
          <a:xfrm rot="10800000">
            <a:off x="3198726" y="5093922"/>
            <a:ext cx="1096475" cy="1096474"/>
          </a:xfrm>
          <a:prstGeom prst="arc">
            <a:avLst>
              <a:gd name="adj1" fmla="val 17194449"/>
              <a:gd name="adj2" fmla="val 5405383"/>
            </a:avLst>
          </a:prstGeom>
          <a:ln w="12700" cap="rnd">
            <a:gradFill>
              <a:gsLst>
                <a:gs pos="0">
                  <a:schemeClr val="bg1"/>
                </a:gs>
                <a:gs pos="86000">
                  <a:srgbClr val="FF000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97" name="Arc 1096">
            <a:extLst>
              <a:ext uri="{FF2B5EF4-FFF2-40B4-BE49-F238E27FC236}">
                <a16:creationId xmlns:a16="http://schemas.microsoft.com/office/drawing/2014/main" id="{3BA88515-2C13-3BC1-33A3-74B067357101}"/>
              </a:ext>
            </a:extLst>
          </p:cNvPr>
          <p:cNvSpPr/>
          <p:nvPr/>
        </p:nvSpPr>
        <p:spPr>
          <a:xfrm rot="14400000">
            <a:off x="2971310" y="4866505"/>
            <a:ext cx="1551307" cy="1551307"/>
          </a:xfrm>
          <a:prstGeom prst="arc">
            <a:avLst>
              <a:gd name="adj1" fmla="val 16980644"/>
              <a:gd name="adj2" fmla="val 5405383"/>
            </a:avLst>
          </a:prstGeom>
          <a:ln w="12700" cap="rnd">
            <a:gradFill>
              <a:gsLst>
                <a:gs pos="0">
                  <a:schemeClr val="bg1"/>
                </a:gs>
                <a:gs pos="91000">
                  <a:srgbClr val="0070C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98" name="Arc 1097">
            <a:extLst>
              <a:ext uri="{FF2B5EF4-FFF2-40B4-BE49-F238E27FC236}">
                <a16:creationId xmlns:a16="http://schemas.microsoft.com/office/drawing/2014/main" id="{46F90C79-B594-5BD2-FC87-77D2D0086EBF}"/>
              </a:ext>
            </a:extLst>
          </p:cNvPr>
          <p:cNvSpPr/>
          <p:nvPr/>
        </p:nvSpPr>
        <p:spPr>
          <a:xfrm rot="3600000">
            <a:off x="2971310" y="4866505"/>
            <a:ext cx="1551307" cy="1551307"/>
          </a:xfrm>
          <a:prstGeom prst="arc">
            <a:avLst>
              <a:gd name="adj1" fmla="val 17194449"/>
              <a:gd name="adj2" fmla="val 5405383"/>
            </a:avLst>
          </a:prstGeom>
          <a:ln w="12700" cap="rnd">
            <a:gradFill>
              <a:gsLst>
                <a:gs pos="0">
                  <a:schemeClr val="bg1"/>
                </a:gs>
                <a:gs pos="86000">
                  <a:srgbClr val="FF000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95" name="Arc 1094">
            <a:extLst>
              <a:ext uri="{FF2B5EF4-FFF2-40B4-BE49-F238E27FC236}">
                <a16:creationId xmlns:a16="http://schemas.microsoft.com/office/drawing/2014/main" id="{975A377D-618E-4B82-0A94-24387AE0F303}"/>
              </a:ext>
            </a:extLst>
          </p:cNvPr>
          <p:cNvSpPr/>
          <p:nvPr/>
        </p:nvSpPr>
        <p:spPr>
          <a:xfrm rot="7200000">
            <a:off x="2741097" y="4636347"/>
            <a:ext cx="2011661" cy="2011662"/>
          </a:xfrm>
          <a:prstGeom prst="arc">
            <a:avLst>
              <a:gd name="adj1" fmla="val 16980644"/>
              <a:gd name="adj2" fmla="val 5405383"/>
            </a:avLst>
          </a:prstGeom>
          <a:ln w="12700" cap="rnd">
            <a:gradFill>
              <a:gsLst>
                <a:gs pos="0">
                  <a:schemeClr val="bg1"/>
                </a:gs>
                <a:gs pos="91000">
                  <a:srgbClr val="0070C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96" name="Arc 1095">
            <a:extLst>
              <a:ext uri="{FF2B5EF4-FFF2-40B4-BE49-F238E27FC236}">
                <a16:creationId xmlns:a16="http://schemas.microsoft.com/office/drawing/2014/main" id="{FC507E19-3AFF-8048-05A4-F324E8770CC5}"/>
              </a:ext>
            </a:extLst>
          </p:cNvPr>
          <p:cNvSpPr/>
          <p:nvPr/>
        </p:nvSpPr>
        <p:spPr>
          <a:xfrm rot="18000000">
            <a:off x="2741114" y="4636336"/>
            <a:ext cx="2011661" cy="2011662"/>
          </a:xfrm>
          <a:prstGeom prst="arc">
            <a:avLst>
              <a:gd name="adj1" fmla="val 17194449"/>
              <a:gd name="adj2" fmla="val 5405383"/>
            </a:avLst>
          </a:prstGeom>
          <a:ln w="12700" cap="rnd">
            <a:gradFill>
              <a:gsLst>
                <a:gs pos="0">
                  <a:schemeClr val="bg1"/>
                </a:gs>
                <a:gs pos="86000">
                  <a:srgbClr val="FF000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09" name="Arc 1108">
            <a:extLst>
              <a:ext uri="{FF2B5EF4-FFF2-40B4-BE49-F238E27FC236}">
                <a16:creationId xmlns:a16="http://schemas.microsoft.com/office/drawing/2014/main" id="{FF8E0D48-551C-ADDB-3AD7-41EA52C505E3}"/>
              </a:ext>
            </a:extLst>
          </p:cNvPr>
          <p:cNvSpPr/>
          <p:nvPr/>
        </p:nvSpPr>
        <p:spPr>
          <a:xfrm>
            <a:off x="5468835" y="5069002"/>
            <a:ext cx="1146315" cy="1146314"/>
          </a:xfrm>
          <a:prstGeom prst="arc">
            <a:avLst>
              <a:gd name="adj1" fmla="val 16980644"/>
              <a:gd name="adj2" fmla="val 5405383"/>
            </a:avLst>
          </a:prstGeom>
          <a:ln w="12700" cap="rnd">
            <a:gradFill>
              <a:gsLst>
                <a:gs pos="0">
                  <a:schemeClr val="bg1"/>
                </a:gs>
                <a:gs pos="91000">
                  <a:srgbClr val="0070C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10" name="Arc 1109">
            <a:extLst>
              <a:ext uri="{FF2B5EF4-FFF2-40B4-BE49-F238E27FC236}">
                <a16:creationId xmlns:a16="http://schemas.microsoft.com/office/drawing/2014/main" id="{5856A04E-8C91-5163-BE97-72099B9B9483}"/>
              </a:ext>
            </a:extLst>
          </p:cNvPr>
          <p:cNvSpPr/>
          <p:nvPr/>
        </p:nvSpPr>
        <p:spPr>
          <a:xfrm rot="10800000">
            <a:off x="5468835" y="5069002"/>
            <a:ext cx="1146315" cy="1146314"/>
          </a:xfrm>
          <a:prstGeom prst="arc">
            <a:avLst>
              <a:gd name="adj1" fmla="val 17194449"/>
              <a:gd name="adj2" fmla="val 5405383"/>
            </a:avLst>
          </a:prstGeom>
          <a:ln w="12700" cap="rnd">
            <a:gradFill>
              <a:gsLst>
                <a:gs pos="0">
                  <a:schemeClr val="bg1"/>
                </a:gs>
                <a:gs pos="86000">
                  <a:srgbClr val="FF000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07" name="Arc 1106">
            <a:extLst>
              <a:ext uri="{FF2B5EF4-FFF2-40B4-BE49-F238E27FC236}">
                <a16:creationId xmlns:a16="http://schemas.microsoft.com/office/drawing/2014/main" id="{0922C40D-2F0A-805D-B76A-7C6C63DD56E2}"/>
              </a:ext>
            </a:extLst>
          </p:cNvPr>
          <p:cNvSpPr/>
          <p:nvPr/>
        </p:nvSpPr>
        <p:spPr>
          <a:xfrm rot="14400000">
            <a:off x="5231082" y="4831248"/>
            <a:ext cx="1621820" cy="1621822"/>
          </a:xfrm>
          <a:prstGeom prst="arc">
            <a:avLst>
              <a:gd name="adj1" fmla="val 16980644"/>
              <a:gd name="adj2" fmla="val 5405383"/>
            </a:avLst>
          </a:prstGeom>
          <a:ln w="12700" cap="rnd">
            <a:gradFill>
              <a:gsLst>
                <a:gs pos="0">
                  <a:schemeClr val="bg1"/>
                </a:gs>
                <a:gs pos="91000">
                  <a:srgbClr val="0070C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08" name="Arc 1107">
            <a:extLst>
              <a:ext uri="{FF2B5EF4-FFF2-40B4-BE49-F238E27FC236}">
                <a16:creationId xmlns:a16="http://schemas.microsoft.com/office/drawing/2014/main" id="{4947B33B-0A92-4728-45AB-21E8EC0DCE3B}"/>
              </a:ext>
            </a:extLst>
          </p:cNvPr>
          <p:cNvSpPr/>
          <p:nvPr/>
        </p:nvSpPr>
        <p:spPr>
          <a:xfrm rot="3600000">
            <a:off x="5231082" y="4831248"/>
            <a:ext cx="1621820" cy="1621822"/>
          </a:xfrm>
          <a:prstGeom prst="arc">
            <a:avLst>
              <a:gd name="adj1" fmla="val 17194449"/>
              <a:gd name="adj2" fmla="val 5405383"/>
            </a:avLst>
          </a:prstGeom>
          <a:ln w="12700" cap="rnd">
            <a:gradFill>
              <a:gsLst>
                <a:gs pos="0">
                  <a:schemeClr val="bg1"/>
                </a:gs>
                <a:gs pos="86000">
                  <a:srgbClr val="FF000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05" name="Arc 1104">
            <a:extLst>
              <a:ext uri="{FF2B5EF4-FFF2-40B4-BE49-F238E27FC236}">
                <a16:creationId xmlns:a16="http://schemas.microsoft.com/office/drawing/2014/main" id="{7941B4F2-88A3-866D-9100-0495DA1E93EB}"/>
              </a:ext>
            </a:extLst>
          </p:cNvPr>
          <p:cNvSpPr/>
          <p:nvPr/>
        </p:nvSpPr>
        <p:spPr>
          <a:xfrm rot="7200000">
            <a:off x="4990404" y="4590628"/>
            <a:ext cx="2103100" cy="2103101"/>
          </a:xfrm>
          <a:prstGeom prst="arc">
            <a:avLst>
              <a:gd name="adj1" fmla="val 16980644"/>
              <a:gd name="adj2" fmla="val 5405383"/>
            </a:avLst>
          </a:prstGeom>
          <a:ln w="12700" cap="rnd">
            <a:gradFill>
              <a:gsLst>
                <a:gs pos="0">
                  <a:schemeClr val="bg1"/>
                </a:gs>
                <a:gs pos="91000">
                  <a:srgbClr val="0070C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06" name="Arc 1105">
            <a:extLst>
              <a:ext uri="{FF2B5EF4-FFF2-40B4-BE49-F238E27FC236}">
                <a16:creationId xmlns:a16="http://schemas.microsoft.com/office/drawing/2014/main" id="{0ADBB0F4-AB37-C596-8DED-063E5936F86C}"/>
              </a:ext>
            </a:extLst>
          </p:cNvPr>
          <p:cNvSpPr/>
          <p:nvPr/>
        </p:nvSpPr>
        <p:spPr>
          <a:xfrm rot="18000000">
            <a:off x="4990422" y="4590616"/>
            <a:ext cx="2103100" cy="2103101"/>
          </a:xfrm>
          <a:prstGeom prst="arc">
            <a:avLst>
              <a:gd name="adj1" fmla="val 17194449"/>
              <a:gd name="adj2" fmla="val 5405383"/>
            </a:avLst>
          </a:prstGeom>
          <a:ln w="12700" cap="rnd">
            <a:gradFill>
              <a:gsLst>
                <a:gs pos="0">
                  <a:schemeClr val="bg1"/>
                </a:gs>
                <a:gs pos="86000">
                  <a:srgbClr val="FF000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19" name="Arc 1118">
            <a:extLst>
              <a:ext uri="{FF2B5EF4-FFF2-40B4-BE49-F238E27FC236}">
                <a16:creationId xmlns:a16="http://schemas.microsoft.com/office/drawing/2014/main" id="{1AF14DC0-BAAC-4C9E-CD3B-3E4D7FC04E53}"/>
              </a:ext>
            </a:extLst>
          </p:cNvPr>
          <p:cNvSpPr/>
          <p:nvPr/>
        </p:nvSpPr>
        <p:spPr>
          <a:xfrm>
            <a:off x="7830383" y="5044081"/>
            <a:ext cx="1196155" cy="1196153"/>
          </a:xfrm>
          <a:prstGeom prst="arc">
            <a:avLst>
              <a:gd name="adj1" fmla="val 16980644"/>
              <a:gd name="adj2" fmla="val 5405383"/>
            </a:avLst>
          </a:prstGeom>
          <a:ln w="12700" cap="rnd">
            <a:gradFill>
              <a:gsLst>
                <a:gs pos="0">
                  <a:schemeClr val="bg1"/>
                </a:gs>
                <a:gs pos="91000">
                  <a:srgbClr val="0070C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20" name="Arc 1119">
            <a:extLst>
              <a:ext uri="{FF2B5EF4-FFF2-40B4-BE49-F238E27FC236}">
                <a16:creationId xmlns:a16="http://schemas.microsoft.com/office/drawing/2014/main" id="{355DE5CC-F57D-497E-5702-0CD1BE9FFA13}"/>
              </a:ext>
            </a:extLst>
          </p:cNvPr>
          <p:cNvSpPr/>
          <p:nvPr/>
        </p:nvSpPr>
        <p:spPr>
          <a:xfrm rot="10800000">
            <a:off x="7830383" y="5044081"/>
            <a:ext cx="1196155" cy="1196153"/>
          </a:xfrm>
          <a:prstGeom prst="arc">
            <a:avLst>
              <a:gd name="adj1" fmla="val 17194449"/>
              <a:gd name="adj2" fmla="val 5405383"/>
            </a:avLst>
          </a:prstGeom>
          <a:ln w="12700" cap="rnd">
            <a:gradFill>
              <a:gsLst>
                <a:gs pos="0">
                  <a:schemeClr val="bg1"/>
                </a:gs>
                <a:gs pos="86000">
                  <a:srgbClr val="FF000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17" name="Arc 1116">
            <a:extLst>
              <a:ext uri="{FF2B5EF4-FFF2-40B4-BE49-F238E27FC236}">
                <a16:creationId xmlns:a16="http://schemas.microsoft.com/office/drawing/2014/main" id="{78EA2A2E-1792-3867-4771-DDE1019F470E}"/>
              </a:ext>
            </a:extLst>
          </p:cNvPr>
          <p:cNvSpPr/>
          <p:nvPr/>
        </p:nvSpPr>
        <p:spPr>
          <a:xfrm rot="14400000">
            <a:off x="7582293" y="4795990"/>
            <a:ext cx="1692334" cy="1692336"/>
          </a:xfrm>
          <a:prstGeom prst="arc">
            <a:avLst>
              <a:gd name="adj1" fmla="val 16980644"/>
              <a:gd name="adj2" fmla="val 5405383"/>
            </a:avLst>
          </a:prstGeom>
          <a:ln w="12700" cap="rnd">
            <a:gradFill>
              <a:gsLst>
                <a:gs pos="0">
                  <a:schemeClr val="bg1"/>
                </a:gs>
                <a:gs pos="91000">
                  <a:srgbClr val="0070C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18" name="Arc 1117">
            <a:extLst>
              <a:ext uri="{FF2B5EF4-FFF2-40B4-BE49-F238E27FC236}">
                <a16:creationId xmlns:a16="http://schemas.microsoft.com/office/drawing/2014/main" id="{7F954F4E-B737-A4BD-1AF0-E39B431D78A5}"/>
              </a:ext>
            </a:extLst>
          </p:cNvPr>
          <p:cNvSpPr/>
          <p:nvPr/>
        </p:nvSpPr>
        <p:spPr>
          <a:xfrm rot="3600000">
            <a:off x="7582293" y="4795990"/>
            <a:ext cx="1692334" cy="1692336"/>
          </a:xfrm>
          <a:prstGeom prst="arc">
            <a:avLst>
              <a:gd name="adj1" fmla="val 17194449"/>
              <a:gd name="adj2" fmla="val 5405383"/>
            </a:avLst>
          </a:prstGeom>
          <a:ln w="12700" cap="rnd">
            <a:gradFill>
              <a:gsLst>
                <a:gs pos="0">
                  <a:schemeClr val="bg1"/>
                </a:gs>
                <a:gs pos="86000">
                  <a:srgbClr val="FF000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15" name="Arc 1114">
            <a:extLst>
              <a:ext uri="{FF2B5EF4-FFF2-40B4-BE49-F238E27FC236}">
                <a16:creationId xmlns:a16="http://schemas.microsoft.com/office/drawing/2014/main" id="{2A2FF1A2-7359-DA9A-571F-19BE9DF534D6}"/>
              </a:ext>
            </a:extLst>
          </p:cNvPr>
          <p:cNvSpPr/>
          <p:nvPr/>
        </p:nvSpPr>
        <p:spPr>
          <a:xfrm rot="7200000">
            <a:off x="7331151" y="4544908"/>
            <a:ext cx="2194540" cy="2194541"/>
          </a:xfrm>
          <a:prstGeom prst="arc">
            <a:avLst>
              <a:gd name="adj1" fmla="val 16980644"/>
              <a:gd name="adj2" fmla="val 5405383"/>
            </a:avLst>
          </a:prstGeom>
          <a:ln w="12700" cap="rnd">
            <a:gradFill>
              <a:gsLst>
                <a:gs pos="0">
                  <a:schemeClr val="bg1"/>
                </a:gs>
                <a:gs pos="91000">
                  <a:srgbClr val="0070C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16" name="Arc 1115">
            <a:extLst>
              <a:ext uri="{FF2B5EF4-FFF2-40B4-BE49-F238E27FC236}">
                <a16:creationId xmlns:a16="http://schemas.microsoft.com/office/drawing/2014/main" id="{C684BC20-0F76-20FC-E58D-28B508D5FF4A}"/>
              </a:ext>
            </a:extLst>
          </p:cNvPr>
          <p:cNvSpPr/>
          <p:nvPr/>
        </p:nvSpPr>
        <p:spPr>
          <a:xfrm rot="18000000">
            <a:off x="7331170" y="4544896"/>
            <a:ext cx="2194540" cy="2194541"/>
          </a:xfrm>
          <a:prstGeom prst="arc">
            <a:avLst>
              <a:gd name="adj1" fmla="val 17194449"/>
              <a:gd name="adj2" fmla="val 5405383"/>
            </a:avLst>
          </a:prstGeom>
          <a:ln w="12700" cap="rnd">
            <a:gradFill>
              <a:gsLst>
                <a:gs pos="0">
                  <a:schemeClr val="bg1"/>
                </a:gs>
                <a:gs pos="86000">
                  <a:srgbClr val="FF000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29" name="Arc 1128">
            <a:extLst>
              <a:ext uri="{FF2B5EF4-FFF2-40B4-BE49-F238E27FC236}">
                <a16:creationId xmlns:a16="http://schemas.microsoft.com/office/drawing/2014/main" id="{0E4A3291-7C78-0A33-8B26-2680D4AA8A63}"/>
              </a:ext>
            </a:extLst>
          </p:cNvPr>
          <p:cNvSpPr/>
          <p:nvPr/>
        </p:nvSpPr>
        <p:spPr>
          <a:xfrm>
            <a:off x="10283370" y="5019161"/>
            <a:ext cx="1245995" cy="1245993"/>
          </a:xfrm>
          <a:prstGeom prst="arc">
            <a:avLst>
              <a:gd name="adj1" fmla="val 16980644"/>
              <a:gd name="adj2" fmla="val 5405383"/>
            </a:avLst>
          </a:prstGeom>
          <a:ln w="12700" cap="rnd">
            <a:gradFill>
              <a:gsLst>
                <a:gs pos="0">
                  <a:schemeClr val="bg1"/>
                </a:gs>
                <a:gs pos="91000">
                  <a:srgbClr val="0070C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30" name="Arc 1129">
            <a:extLst>
              <a:ext uri="{FF2B5EF4-FFF2-40B4-BE49-F238E27FC236}">
                <a16:creationId xmlns:a16="http://schemas.microsoft.com/office/drawing/2014/main" id="{DB5F0F72-EE90-A352-0DC7-AAD47F529301}"/>
              </a:ext>
            </a:extLst>
          </p:cNvPr>
          <p:cNvSpPr/>
          <p:nvPr/>
        </p:nvSpPr>
        <p:spPr>
          <a:xfrm rot="10800000">
            <a:off x="10283370" y="5019161"/>
            <a:ext cx="1245995" cy="1245993"/>
          </a:xfrm>
          <a:prstGeom prst="arc">
            <a:avLst>
              <a:gd name="adj1" fmla="val 17194449"/>
              <a:gd name="adj2" fmla="val 5405383"/>
            </a:avLst>
          </a:prstGeom>
          <a:ln w="12700" cap="rnd">
            <a:gradFill>
              <a:gsLst>
                <a:gs pos="0">
                  <a:schemeClr val="bg1"/>
                </a:gs>
                <a:gs pos="86000">
                  <a:srgbClr val="FF000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27" name="Arc 1126">
            <a:extLst>
              <a:ext uri="{FF2B5EF4-FFF2-40B4-BE49-F238E27FC236}">
                <a16:creationId xmlns:a16="http://schemas.microsoft.com/office/drawing/2014/main" id="{8EEBF2EA-8751-7BC8-2871-7A89AE792887}"/>
              </a:ext>
            </a:extLst>
          </p:cNvPr>
          <p:cNvSpPr/>
          <p:nvPr/>
        </p:nvSpPr>
        <p:spPr>
          <a:xfrm rot="14400000">
            <a:off x="10024943" y="4760732"/>
            <a:ext cx="1762848" cy="1762850"/>
          </a:xfrm>
          <a:prstGeom prst="arc">
            <a:avLst>
              <a:gd name="adj1" fmla="val 16980644"/>
              <a:gd name="adj2" fmla="val 5405383"/>
            </a:avLst>
          </a:prstGeom>
          <a:ln w="12700" cap="rnd">
            <a:gradFill>
              <a:gsLst>
                <a:gs pos="0">
                  <a:schemeClr val="bg1"/>
                </a:gs>
                <a:gs pos="91000">
                  <a:srgbClr val="0070C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28" name="Arc 1127">
            <a:extLst>
              <a:ext uri="{FF2B5EF4-FFF2-40B4-BE49-F238E27FC236}">
                <a16:creationId xmlns:a16="http://schemas.microsoft.com/office/drawing/2014/main" id="{E4466A72-0947-A7C7-FF9B-AF144679E86C}"/>
              </a:ext>
            </a:extLst>
          </p:cNvPr>
          <p:cNvSpPr/>
          <p:nvPr/>
        </p:nvSpPr>
        <p:spPr>
          <a:xfrm rot="3600000">
            <a:off x="10024943" y="4760732"/>
            <a:ext cx="1762848" cy="1762850"/>
          </a:xfrm>
          <a:prstGeom prst="arc">
            <a:avLst>
              <a:gd name="adj1" fmla="val 17194449"/>
              <a:gd name="adj2" fmla="val 5405383"/>
            </a:avLst>
          </a:prstGeom>
          <a:ln w="12700" cap="rnd">
            <a:gradFill>
              <a:gsLst>
                <a:gs pos="0">
                  <a:schemeClr val="bg1"/>
                </a:gs>
                <a:gs pos="86000">
                  <a:srgbClr val="FF000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25" name="Arc 1124">
            <a:extLst>
              <a:ext uri="{FF2B5EF4-FFF2-40B4-BE49-F238E27FC236}">
                <a16:creationId xmlns:a16="http://schemas.microsoft.com/office/drawing/2014/main" id="{84D79132-7DA7-A238-20EF-413EEB710F5D}"/>
              </a:ext>
            </a:extLst>
          </p:cNvPr>
          <p:cNvSpPr/>
          <p:nvPr/>
        </p:nvSpPr>
        <p:spPr>
          <a:xfrm rot="7200000">
            <a:off x="9763337" y="4499189"/>
            <a:ext cx="2285979" cy="2285980"/>
          </a:xfrm>
          <a:prstGeom prst="arc">
            <a:avLst>
              <a:gd name="adj1" fmla="val 16980644"/>
              <a:gd name="adj2" fmla="val 5405383"/>
            </a:avLst>
          </a:prstGeom>
          <a:ln w="12700" cap="rnd">
            <a:gradFill>
              <a:gsLst>
                <a:gs pos="0">
                  <a:schemeClr val="bg1"/>
                </a:gs>
                <a:gs pos="91000">
                  <a:srgbClr val="0070C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26" name="Arc 1125">
            <a:extLst>
              <a:ext uri="{FF2B5EF4-FFF2-40B4-BE49-F238E27FC236}">
                <a16:creationId xmlns:a16="http://schemas.microsoft.com/office/drawing/2014/main" id="{D3A550D0-DFA5-5D77-72C5-5F68B1388316}"/>
              </a:ext>
            </a:extLst>
          </p:cNvPr>
          <p:cNvSpPr/>
          <p:nvPr/>
        </p:nvSpPr>
        <p:spPr>
          <a:xfrm rot="18000000">
            <a:off x="9763357" y="4499176"/>
            <a:ext cx="2285979" cy="2285980"/>
          </a:xfrm>
          <a:prstGeom prst="arc">
            <a:avLst>
              <a:gd name="adj1" fmla="val 17194449"/>
              <a:gd name="adj2" fmla="val 5405383"/>
            </a:avLst>
          </a:prstGeom>
          <a:ln w="12700" cap="rnd">
            <a:gradFill>
              <a:gsLst>
                <a:gs pos="0">
                  <a:schemeClr val="bg1"/>
                </a:gs>
                <a:gs pos="86000">
                  <a:srgbClr val="FF0000"/>
                </a:gs>
              </a:gsLst>
              <a:lin ang="5400000" scaled="1"/>
            </a:gradFill>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Box 2">
            <a:extLst>
              <a:ext uri="{FF2B5EF4-FFF2-40B4-BE49-F238E27FC236}">
                <a16:creationId xmlns:a16="http://schemas.microsoft.com/office/drawing/2014/main" id="{CB1DC393-C824-73A5-0494-436D787F12BA}"/>
              </a:ext>
            </a:extLst>
          </p:cNvPr>
          <p:cNvSpPr txBox="1"/>
          <p:nvPr/>
        </p:nvSpPr>
        <p:spPr>
          <a:xfrm>
            <a:off x="837953" y="2297326"/>
            <a:ext cx="2557110" cy="307777"/>
          </a:xfrm>
          <a:prstGeom prst="rect">
            <a:avLst/>
          </a:prstGeom>
          <a:noFill/>
        </p:spPr>
        <p:txBody>
          <a:bodyPr wrap="none" rtlCol="0">
            <a:spAutoFit/>
          </a:bodyPr>
          <a:lstStyle/>
          <a:p>
            <a:r>
              <a:rPr lang="en-US" sz="1400" dirty="0">
                <a:solidFill>
                  <a:schemeClr val="bg1"/>
                </a:solidFill>
                <a:latin typeface="Helvetica Neue Light" panose="02000403000000020004" pitchFamily="2" charset="0"/>
                <a:ea typeface="Helvetica Neue Light" panose="02000403000000020004" pitchFamily="2" charset="0"/>
              </a:rPr>
              <a:t>scaling by orders of magnitude</a:t>
            </a:r>
          </a:p>
        </p:txBody>
      </p:sp>
    </p:spTree>
    <p:extLst>
      <p:ext uri="{BB962C8B-B14F-4D97-AF65-F5344CB8AC3E}">
        <p14:creationId xmlns:p14="http://schemas.microsoft.com/office/powerpoint/2010/main" val="15831586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B9F2801-314B-3743-8406-886D110B2060}"/>
              </a:ext>
            </a:extLst>
          </p:cNvPr>
          <p:cNvSpPr>
            <a:spLocks noGrp="1"/>
          </p:cNvSpPr>
          <p:nvPr>
            <p:ph type="title"/>
          </p:nvPr>
        </p:nvSpPr>
        <p:spPr>
          <a:xfrm>
            <a:off x="838200" y="187318"/>
            <a:ext cx="10515600" cy="777875"/>
          </a:xfrm>
        </p:spPr>
        <p:txBody>
          <a:bodyPr>
            <a:normAutofit/>
          </a:bodyPr>
          <a:lstStyle/>
          <a:p>
            <a:r>
              <a:rPr lang="en-US"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The Noether Energy Core</a:t>
            </a:r>
          </a:p>
        </p:txBody>
      </p:sp>
      <p:sp>
        <p:nvSpPr>
          <p:cNvPr id="4" name="Footer Placeholder 3">
            <a:extLst>
              <a:ext uri="{FF2B5EF4-FFF2-40B4-BE49-F238E27FC236}">
                <a16:creationId xmlns:a16="http://schemas.microsoft.com/office/drawing/2014/main" id="{9D9787B4-78F2-E94F-B4AF-51DD5B0F66AA}"/>
              </a:ext>
            </a:extLst>
          </p:cNvPr>
          <p:cNvSpPr>
            <a:spLocks noGrp="1"/>
          </p:cNvSpPr>
          <p:nvPr>
            <p:ph type="ftr" sz="quarter" idx="11"/>
          </p:nvPr>
        </p:nvSpPr>
        <p:spPr>
          <a:xfrm>
            <a:off x="3152452" y="6550355"/>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rPr>
              <a:t>J Mark Morris</a:t>
            </a:r>
          </a:p>
        </p:txBody>
      </p:sp>
      <p:sp>
        <p:nvSpPr>
          <p:cNvPr id="27" name="Oval 26">
            <a:extLst>
              <a:ext uri="{FF2B5EF4-FFF2-40B4-BE49-F238E27FC236}">
                <a16:creationId xmlns:a16="http://schemas.microsoft.com/office/drawing/2014/main" id="{177B3BCB-D82C-E84C-9991-CE693E895CA7}"/>
              </a:ext>
            </a:extLst>
          </p:cNvPr>
          <p:cNvSpPr>
            <a:spLocks noChangeAspect="1"/>
          </p:cNvSpPr>
          <p:nvPr/>
        </p:nvSpPr>
        <p:spPr>
          <a:xfrm rot="1800000">
            <a:off x="2734761" y="3061802"/>
            <a:ext cx="457200" cy="457200"/>
          </a:xfrm>
          <a:prstGeom prst="ellipse">
            <a:avLst/>
          </a:prstGeom>
          <a:noFill/>
          <a:ln w="762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8" name="Oval 27">
            <a:extLst>
              <a:ext uri="{FF2B5EF4-FFF2-40B4-BE49-F238E27FC236}">
                <a16:creationId xmlns:a16="http://schemas.microsoft.com/office/drawing/2014/main" id="{5D9E1FD4-330D-3B4F-A764-B00628290EBE}"/>
              </a:ext>
            </a:extLst>
          </p:cNvPr>
          <p:cNvSpPr>
            <a:spLocks noChangeAspect="1"/>
          </p:cNvSpPr>
          <p:nvPr/>
        </p:nvSpPr>
        <p:spPr>
          <a:xfrm rot="1800000">
            <a:off x="1820361" y="2147402"/>
            <a:ext cx="2286000" cy="2286000"/>
          </a:xfrm>
          <a:prstGeom prst="ellipse">
            <a:avLst/>
          </a:prstGeom>
          <a:noFill/>
          <a:ln w="762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0" name="Oval 29">
            <a:extLst>
              <a:ext uri="{FF2B5EF4-FFF2-40B4-BE49-F238E27FC236}">
                <a16:creationId xmlns:a16="http://schemas.microsoft.com/office/drawing/2014/main" id="{29D26BB5-DDB3-0A45-B9F6-FD176EE0C297}"/>
              </a:ext>
            </a:extLst>
          </p:cNvPr>
          <p:cNvSpPr>
            <a:spLocks noChangeAspect="1"/>
          </p:cNvSpPr>
          <p:nvPr/>
        </p:nvSpPr>
        <p:spPr>
          <a:xfrm rot="1800000">
            <a:off x="2277561" y="2604602"/>
            <a:ext cx="1371600" cy="1371600"/>
          </a:xfrm>
          <a:prstGeom prst="ellipse">
            <a:avLst/>
          </a:prstGeom>
          <a:noFill/>
          <a:ln w="762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0" name="Group 9">
            <a:extLst>
              <a:ext uri="{FF2B5EF4-FFF2-40B4-BE49-F238E27FC236}">
                <a16:creationId xmlns:a16="http://schemas.microsoft.com/office/drawing/2014/main" id="{AFF61065-CDDC-23FC-A2FB-CE913FC5B29A}"/>
              </a:ext>
            </a:extLst>
          </p:cNvPr>
          <p:cNvGrpSpPr/>
          <p:nvPr/>
        </p:nvGrpSpPr>
        <p:grpSpPr>
          <a:xfrm>
            <a:off x="2224531" y="2795172"/>
            <a:ext cx="1487726" cy="987524"/>
            <a:chOff x="2224531" y="2795172"/>
            <a:chExt cx="1487726" cy="987524"/>
          </a:xfrm>
        </p:grpSpPr>
        <p:sp>
          <p:nvSpPr>
            <p:cNvPr id="169" name="Oval 168">
              <a:extLst>
                <a:ext uri="{FF2B5EF4-FFF2-40B4-BE49-F238E27FC236}">
                  <a16:creationId xmlns:a16="http://schemas.microsoft.com/office/drawing/2014/main" id="{C4CD84E3-1A59-D840-979B-2DDC531F736E}"/>
                </a:ext>
              </a:extLst>
            </p:cNvPr>
            <p:cNvSpPr>
              <a:spLocks noChangeAspect="1"/>
            </p:cNvSpPr>
            <p:nvPr/>
          </p:nvSpPr>
          <p:spPr>
            <a:xfrm flipH="1">
              <a:off x="2224531" y="3477896"/>
              <a:ext cx="304800" cy="304800"/>
            </a:xfrm>
            <a:prstGeom prst="ellipse">
              <a:avLst/>
            </a:prstGeom>
            <a:solidFill>
              <a:srgbClr val="0070C0"/>
            </a:solidFill>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70" name="Oval 169">
              <a:extLst>
                <a:ext uri="{FF2B5EF4-FFF2-40B4-BE49-F238E27FC236}">
                  <a16:creationId xmlns:a16="http://schemas.microsoft.com/office/drawing/2014/main" id="{0C516E1C-C061-A941-B08D-1F3D314C814C}"/>
                </a:ext>
              </a:extLst>
            </p:cNvPr>
            <p:cNvSpPr>
              <a:spLocks noChangeAspect="1"/>
            </p:cNvSpPr>
            <p:nvPr/>
          </p:nvSpPr>
          <p:spPr>
            <a:xfrm flipH="1">
              <a:off x="3407457" y="2795172"/>
              <a:ext cx="304800" cy="304800"/>
            </a:xfrm>
            <a:prstGeom prst="ellipse">
              <a:avLst/>
            </a:prstGeom>
            <a:solidFill>
              <a:srgbClr val="FF0000"/>
            </a:solidFill>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grpSp>
      <p:grpSp>
        <p:nvGrpSpPr>
          <p:cNvPr id="11" name="Group 10">
            <a:extLst>
              <a:ext uri="{FF2B5EF4-FFF2-40B4-BE49-F238E27FC236}">
                <a16:creationId xmlns:a16="http://schemas.microsoft.com/office/drawing/2014/main" id="{E052E902-062E-BBA2-A813-CC015F77EFF2}"/>
              </a:ext>
            </a:extLst>
          </p:cNvPr>
          <p:cNvGrpSpPr/>
          <p:nvPr/>
        </p:nvGrpSpPr>
        <p:grpSpPr>
          <a:xfrm>
            <a:off x="2632804" y="3021810"/>
            <a:ext cx="677815" cy="526688"/>
            <a:chOff x="2632804" y="3021810"/>
            <a:chExt cx="677815" cy="526688"/>
          </a:xfrm>
        </p:grpSpPr>
        <p:sp>
          <p:nvSpPr>
            <p:cNvPr id="172" name="Oval 171">
              <a:extLst>
                <a:ext uri="{FF2B5EF4-FFF2-40B4-BE49-F238E27FC236}">
                  <a16:creationId xmlns:a16="http://schemas.microsoft.com/office/drawing/2014/main" id="{3F2BF1D0-7B45-6E45-9749-4C89397883E2}"/>
                </a:ext>
              </a:extLst>
            </p:cNvPr>
            <p:cNvSpPr>
              <a:spLocks noChangeAspect="1"/>
            </p:cNvSpPr>
            <p:nvPr/>
          </p:nvSpPr>
          <p:spPr>
            <a:xfrm flipH="1">
              <a:off x="3005819" y="3243698"/>
              <a:ext cx="304800" cy="304800"/>
            </a:xfrm>
            <a:prstGeom prst="ellipse">
              <a:avLst/>
            </a:prstGeom>
            <a:solidFill>
              <a:srgbClr val="FF0000"/>
            </a:solidFill>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73" name="Oval 172">
              <a:extLst>
                <a:ext uri="{FF2B5EF4-FFF2-40B4-BE49-F238E27FC236}">
                  <a16:creationId xmlns:a16="http://schemas.microsoft.com/office/drawing/2014/main" id="{5C4A8CAF-6093-DA4D-8E1D-F5DFBD78E1BA}"/>
                </a:ext>
              </a:extLst>
            </p:cNvPr>
            <p:cNvSpPr>
              <a:spLocks noChangeAspect="1"/>
            </p:cNvSpPr>
            <p:nvPr/>
          </p:nvSpPr>
          <p:spPr>
            <a:xfrm flipH="1">
              <a:off x="2632804" y="3021810"/>
              <a:ext cx="304800" cy="304800"/>
            </a:xfrm>
            <a:prstGeom prst="ellipse">
              <a:avLst/>
            </a:prstGeom>
            <a:solidFill>
              <a:srgbClr val="0070C0"/>
            </a:solidFill>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grpSp>
      <p:grpSp>
        <p:nvGrpSpPr>
          <p:cNvPr id="9" name="Group 8">
            <a:extLst>
              <a:ext uri="{FF2B5EF4-FFF2-40B4-BE49-F238E27FC236}">
                <a16:creationId xmlns:a16="http://schemas.microsoft.com/office/drawing/2014/main" id="{F33DF015-F9D0-8D86-F441-4528C1A90C3D}"/>
              </a:ext>
            </a:extLst>
          </p:cNvPr>
          <p:cNvGrpSpPr/>
          <p:nvPr/>
        </p:nvGrpSpPr>
        <p:grpSpPr>
          <a:xfrm>
            <a:off x="2816320" y="1996856"/>
            <a:ext cx="304857" cy="2579925"/>
            <a:chOff x="2816320" y="1996856"/>
            <a:chExt cx="304857" cy="2579925"/>
          </a:xfrm>
        </p:grpSpPr>
        <p:sp>
          <p:nvSpPr>
            <p:cNvPr id="171" name="Oval 170">
              <a:extLst>
                <a:ext uri="{FF2B5EF4-FFF2-40B4-BE49-F238E27FC236}">
                  <a16:creationId xmlns:a16="http://schemas.microsoft.com/office/drawing/2014/main" id="{38A006FF-6837-4E46-A95F-6757B6B88BB7}"/>
                </a:ext>
              </a:extLst>
            </p:cNvPr>
            <p:cNvSpPr>
              <a:spLocks noChangeAspect="1"/>
            </p:cNvSpPr>
            <p:nvPr/>
          </p:nvSpPr>
          <p:spPr>
            <a:xfrm flipH="1">
              <a:off x="2816320" y="4271981"/>
              <a:ext cx="304800" cy="304800"/>
            </a:xfrm>
            <a:prstGeom prst="ellipse">
              <a:avLst/>
            </a:prstGeom>
            <a:solidFill>
              <a:srgbClr val="0070C0"/>
            </a:solidFill>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74" name="Oval 173">
              <a:extLst>
                <a:ext uri="{FF2B5EF4-FFF2-40B4-BE49-F238E27FC236}">
                  <a16:creationId xmlns:a16="http://schemas.microsoft.com/office/drawing/2014/main" id="{059086E5-7989-BF4D-B184-9D5A6516B050}"/>
                </a:ext>
              </a:extLst>
            </p:cNvPr>
            <p:cNvSpPr>
              <a:spLocks noChangeAspect="1"/>
            </p:cNvSpPr>
            <p:nvPr/>
          </p:nvSpPr>
          <p:spPr>
            <a:xfrm flipH="1">
              <a:off x="2816377" y="1996856"/>
              <a:ext cx="304800" cy="304800"/>
            </a:xfrm>
            <a:prstGeom prst="ellipse">
              <a:avLst/>
            </a:prstGeom>
            <a:solidFill>
              <a:srgbClr val="FF0000"/>
            </a:solidFill>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grpSp>
      <p:sp>
        <p:nvSpPr>
          <p:cNvPr id="54" name="TextBox 53">
            <a:extLst>
              <a:ext uri="{FF2B5EF4-FFF2-40B4-BE49-F238E27FC236}">
                <a16:creationId xmlns:a16="http://schemas.microsoft.com/office/drawing/2014/main" id="{14A5B4A5-C392-E442-818D-FB711E90577C}"/>
              </a:ext>
            </a:extLst>
          </p:cNvPr>
          <p:cNvSpPr txBox="1"/>
          <p:nvPr/>
        </p:nvSpPr>
        <p:spPr>
          <a:xfrm>
            <a:off x="5794941" y="1005931"/>
            <a:ext cx="6196338" cy="59093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sng"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Structure Architecture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6 : Total immutable point potentials</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3 : electrinos at -e/6</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3 : positrinos at +e/6</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0 : Personality point potentials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1 : Generation I Noether energy core</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Provides 3 dimensions of stability/containment</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Implements SU(3) and the strong force</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Spin determines chirality of the </a:t>
            </a:r>
            <a:r>
              <a:rPr kumimoji="0" lang="en-US" sz="1800" b="1"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structure</a:t>
            </a:r>
            <a:endPar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3 : orbiting electrino : </a:t>
            </a:r>
            <a:r>
              <a:rPr kumimoji="0" lang="en-US" sz="1800" b="0" i="0" u="none" strike="noStrike" kern="1200" cap="none" spc="0" normalizeH="0" baseline="0" noProof="0" dirty="0" err="1">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positrino</a:t>
            </a:r>
            <a:r>
              <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 binaries</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binaries coupled at different energy scales</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binaries tend to orthogonal at v &lt;&lt; c.</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Structure become increasingly oblate with velocity.</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Gen II and Gen III binary energy shielding</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Transacts energy in h-bar units</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Conserves angular momentum in 3D</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Auto synchronizes binary energy (</a:t>
            </a:r>
            <a:r>
              <a:rPr kumimoji="0" lang="en-US" sz="1800" b="0" i="1"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Koide?</a:t>
            </a:r>
            <a:r>
              <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Implements stretchy ruler, variable clock</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Is an ideal black body</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An essential emergent building block for the universe.</a:t>
            </a:r>
          </a:p>
          <a:p>
            <a:pPr marL="1200150" marR="0" lvl="2"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55" name="TextBox 54">
            <a:extLst>
              <a:ext uri="{FF2B5EF4-FFF2-40B4-BE49-F238E27FC236}">
                <a16:creationId xmlns:a16="http://schemas.microsoft.com/office/drawing/2014/main" id="{177A867C-241B-7045-A629-A217BBE571A3}"/>
              </a:ext>
            </a:extLst>
          </p:cNvPr>
          <p:cNvSpPr txBox="1"/>
          <p:nvPr/>
        </p:nvSpPr>
        <p:spPr>
          <a:xfrm>
            <a:off x="1450236" y="5663225"/>
            <a:ext cx="2965877" cy="538609"/>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 </a:t>
            </a:r>
            <a:r>
              <a:rPr kumimoji="0" lang="en-US" sz="1100" b="0" i="1"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2D representation of three coupled binaries</a:t>
            </a:r>
            <a:br>
              <a:rPr kumimoji="0" lang="en-US" sz="1100" b="0" i="1"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br>
            <a:r>
              <a:rPr kumimoji="0" lang="en-US" sz="1100" b="0" i="1"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different energy scales.</a:t>
            </a:r>
          </a:p>
        </p:txBody>
      </p:sp>
    </p:spTree>
    <p:custDataLst>
      <p:tags r:id="rId1"/>
    </p:custDataLst>
    <p:extLst>
      <p:ext uri="{BB962C8B-B14F-4D97-AF65-F5344CB8AC3E}">
        <p14:creationId xmlns:p14="http://schemas.microsoft.com/office/powerpoint/2010/main" val="388647747"/>
      </p:ext>
    </p:extLst>
  </p:cSld>
  <p:clrMapOvr>
    <a:masterClrMapping/>
  </p:clrMapOvr>
  <mc:AlternateContent xmlns:mc="http://schemas.openxmlformats.org/markup-compatibility/2006" xmlns:p14="http://schemas.microsoft.com/office/powerpoint/2010/main">
    <mc:Choice Requires="p14">
      <p:transition spd="slow" p14:dur="2000" advTm="13418"/>
    </mc:Choice>
    <mc:Fallback xmlns="">
      <p:transition spd="slow" advTm="13418"/>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mph" presetSubtype="0" repeatCount="indefinite" fill="hold" nodeType="clickEffect">
                                  <p:stCondLst>
                                    <p:cond delay="0"/>
                                  </p:stCondLst>
                                  <p:endCondLst>
                                    <p:cond evt="onNext" delay="0">
                                      <p:tgtEl>
                                        <p:sldTgt/>
                                      </p:tgtEl>
                                    </p:cond>
                                  </p:endCondLst>
                                  <p:childTnLst>
                                    <p:animRot by="21600000">
                                      <p:cBhvr>
                                        <p:cTn id="6" dur="500" fill="hold"/>
                                        <p:tgtEl>
                                          <p:spTgt spid="11"/>
                                        </p:tgtEl>
                                        <p:attrNameLst>
                                          <p:attrName>r</p:attrName>
                                        </p:attrNameLst>
                                      </p:cBhvr>
                                    </p:animRot>
                                  </p:childTnLst>
                                </p:cTn>
                              </p:par>
                              <p:par>
                                <p:cTn id="7" presetID="8" presetClass="emph" presetSubtype="0" repeatCount="indefinite" fill="hold" nodeType="withEffect">
                                  <p:stCondLst>
                                    <p:cond delay="0"/>
                                  </p:stCondLst>
                                  <p:endCondLst>
                                    <p:cond evt="onNext" delay="0">
                                      <p:tgtEl>
                                        <p:sldTgt/>
                                      </p:tgtEl>
                                    </p:cond>
                                  </p:endCondLst>
                                  <p:childTnLst>
                                    <p:animRot by="21600000">
                                      <p:cBhvr>
                                        <p:cTn id="8" dur="2000" fill="hold"/>
                                        <p:tgtEl>
                                          <p:spTgt spid="10"/>
                                        </p:tgtEl>
                                        <p:attrNameLst>
                                          <p:attrName>r</p:attrName>
                                        </p:attrNameLst>
                                      </p:cBhvr>
                                    </p:animRot>
                                  </p:childTnLst>
                                </p:cTn>
                              </p:par>
                              <p:par>
                                <p:cTn id="9" presetID="8" presetClass="emph" presetSubtype="0" repeatCount="indefinite" fill="hold" nodeType="withEffect">
                                  <p:stCondLst>
                                    <p:cond delay="0"/>
                                  </p:stCondLst>
                                  <p:endCondLst>
                                    <p:cond evt="onNext" delay="0">
                                      <p:tgtEl>
                                        <p:sldTgt/>
                                      </p:tgtEl>
                                    </p:cond>
                                  </p:endCondLst>
                                  <p:childTnLst>
                                    <p:animRot by="21600000">
                                      <p:cBhvr>
                                        <p:cTn id="10" dur="5000" fill="hold"/>
                                        <p:tgtEl>
                                          <p:spTgt spid="9"/>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Footer Placeholder 3">
            <a:extLst>
              <a:ext uri="{FF2B5EF4-FFF2-40B4-BE49-F238E27FC236}">
                <a16:creationId xmlns:a16="http://schemas.microsoft.com/office/drawing/2014/main" id="{668F77D6-DFDA-5A46-8DF1-47F6A167C2B1}"/>
              </a:ext>
            </a:extLst>
          </p:cNvPr>
          <p:cNvSpPr txBox="1">
            <a:spLocks/>
          </p:cNvSpPr>
          <p:nvPr/>
        </p:nvSpPr>
        <p:spPr>
          <a:xfrm>
            <a:off x="10924248" y="6388602"/>
            <a:ext cx="1142262"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Helvetica Neue" panose="02000503000000020004" pitchFamily="2" charset="0"/>
                <a:ea typeface="Helvetica Neue" panose="02000503000000020004" pitchFamily="2" charset="0"/>
                <a:cs typeface="Helvetica Neue" panose="02000503000000020004" pitchFamily="2" charset="0"/>
              </a:rPr>
              <a:t>J Mark Morris</a:t>
            </a:r>
          </a:p>
        </p:txBody>
      </p:sp>
      <p:sp>
        <p:nvSpPr>
          <p:cNvPr id="2" name="Oval 1">
            <a:extLst>
              <a:ext uri="{FF2B5EF4-FFF2-40B4-BE49-F238E27FC236}">
                <a16:creationId xmlns:a16="http://schemas.microsoft.com/office/drawing/2014/main" id="{47D71178-1E46-B597-8D85-944B656E93ED}"/>
              </a:ext>
            </a:extLst>
          </p:cNvPr>
          <p:cNvSpPr/>
          <p:nvPr/>
        </p:nvSpPr>
        <p:spPr>
          <a:xfrm rot="7200000">
            <a:off x="5067282" y="3526398"/>
            <a:ext cx="1701597" cy="634674"/>
          </a:xfrm>
          <a:prstGeom prst="ellipse">
            <a:avLst/>
          </a:prstGeom>
          <a:noFill/>
          <a:ln w="1270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0" name="Straight Connector 9">
            <a:extLst>
              <a:ext uri="{FF2B5EF4-FFF2-40B4-BE49-F238E27FC236}">
                <a16:creationId xmlns:a16="http://schemas.microsoft.com/office/drawing/2014/main" id="{174E041C-172B-020E-078B-EC5562739827}"/>
              </a:ext>
            </a:extLst>
          </p:cNvPr>
          <p:cNvCxnSpPr>
            <a:cxnSpLocks/>
          </p:cNvCxnSpPr>
          <p:nvPr/>
        </p:nvCxnSpPr>
        <p:spPr>
          <a:xfrm>
            <a:off x="-177553" y="239697"/>
            <a:ext cx="11505460" cy="6720396"/>
          </a:xfrm>
          <a:prstGeom prst="line">
            <a:avLst/>
          </a:prstGeom>
          <a:ln w="9525">
            <a:solidFill>
              <a:srgbClr val="7030A0"/>
            </a:solidFill>
            <a:prstDash val="dashDot"/>
          </a:ln>
        </p:spPr>
        <p:style>
          <a:lnRef idx="1">
            <a:schemeClr val="accent1"/>
          </a:lnRef>
          <a:fillRef idx="0">
            <a:schemeClr val="accent1"/>
          </a:fillRef>
          <a:effectRef idx="0">
            <a:schemeClr val="accent1"/>
          </a:effectRef>
          <a:fontRef idx="minor">
            <a:schemeClr val="tx1"/>
          </a:fontRef>
        </p:style>
      </p:cxnSp>
      <p:sp>
        <p:nvSpPr>
          <p:cNvPr id="15" name="Oval 14">
            <a:extLst>
              <a:ext uri="{FF2B5EF4-FFF2-40B4-BE49-F238E27FC236}">
                <a16:creationId xmlns:a16="http://schemas.microsoft.com/office/drawing/2014/main" id="{2D66E320-044F-FF6B-745A-EEB0A0C8513C}"/>
              </a:ext>
            </a:extLst>
          </p:cNvPr>
          <p:cNvSpPr/>
          <p:nvPr/>
        </p:nvSpPr>
        <p:spPr>
          <a:xfrm rot="14400000">
            <a:off x="3637865" y="2677999"/>
            <a:ext cx="4522382" cy="2275977"/>
          </a:xfrm>
          <a:prstGeom prst="ellipse">
            <a:avLst/>
          </a:prstGeom>
          <a:noFill/>
          <a:ln w="1270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 name="Oval 17">
            <a:extLst>
              <a:ext uri="{FF2B5EF4-FFF2-40B4-BE49-F238E27FC236}">
                <a16:creationId xmlns:a16="http://schemas.microsoft.com/office/drawing/2014/main" id="{29C5FBF2-D81F-F77E-EE4B-FADD35D47A9D}"/>
              </a:ext>
            </a:extLst>
          </p:cNvPr>
          <p:cNvSpPr/>
          <p:nvPr/>
        </p:nvSpPr>
        <p:spPr>
          <a:xfrm rot="10800000">
            <a:off x="294520" y="1449180"/>
            <a:ext cx="11247120" cy="4789112"/>
          </a:xfrm>
          <a:prstGeom prst="ellipse">
            <a:avLst/>
          </a:prstGeom>
          <a:noFill/>
          <a:ln w="1270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22" name="Straight Connector 21">
            <a:extLst>
              <a:ext uri="{FF2B5EF4-FFF2-40B4-BE49-F238E27FC236}">
                <a16:creationId xmlns:a16="http://schemas.microsoft.com/office/drawing/2014/main" id="{63E3415D-0EC7-FEF4-7EEC-458E9002BF2E}"/>
              </a:ext>
            </a:extLst>
          </p:cNvPr>
          <p:cNvCxnSpPr>
            <a:cxnSpLocks/>
          </p:cNvCxnSpPr>
          <p:nvPr/>
        </p:nvCxnSpPr>
        <p:spPr>
          <a:xfrm rot="3600000">
            <a:off x="157730" y="483537"/>
            <a:ext cx="11505460" cy="6720396"/>
          </a:xfrm>
          <a:prstGeom prst="line">
            <a:avLst/>
          </a:prstGeom>
          <a:ln w="9525">
            <a:solidFill>
              <a:srgbClr val="7030A0"/>
            </a:solidFill>
            <a:prstDash val="dash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CDCA82C0-A939-DE94-42C7-2622B0765E45}"/>
              </a:ext>
            </a:extLst>
          </p:cNvPr>
          <p:cNvCxnSpPr>
            <a:cxnSpLocks/>
          </p:cNvCxnSpPr>
          <p:nvPr/>
        </p:nvCxnSpPr>
        <p:spPr>
          <a:xfrm rot="-3600000">
            <a:off x="127247" y="460677"/>
            <a:ext cx="11505460" cy="6720396"/>
          </a:xfrm>
          <a:prstGeom prst="line">
            <a:avLst/>
          </a:prstGeom>
          <a:ln w="9525">
            <a:solidFill>
              <a:srgbClr val="7030A0"/>
            </a:solidFill>
            <a:prstDash val="dashDot"/>
          </a:ln>
        </p:spPr>
        <p:style>
          <a:lnRef idx="1">
            <a:schemeClr val="accent1"/>
          </a:lnRef>
          <a:fillRef idx="0">
            <a:schemeClr val="accent1"/>
          </a:fillRef>
          <a:effectRef idx="0">
            <a:schemeClr val="accent1"/>
          </a:effectRef>
          <a:fontRef idx="minor">
            <a:schemeClr val="tx1"/>
          </a:fontRef>
        </p:style>
      </p:cxnSp>
      <p:sp>
        <p:nvSpPr>
          <p:cNvPr id="3" name="Triangle 2">
            <a:extLst>
              <a:ext uri="{FF2B5EF4-FFF2-40B4-BE49-F238E27FC236}">
                <a16:creationId xmlns:a16="http://schemas.microsoft.com/office/drawing/2014/main" id="{0BB63093-AB79-2C21-D264-E742BCC5746B}"/>
              </a:ext>
            </a:extLst>
          </p:cNvPr>
          <p:cNvSpPr/>
          <p:nvPr/>
        </p:nvSpPr>
        <p:spPr>
          <a:xfrm rot="18000000">
            <a:off x="7683389" y="2657784"/>
            <a:ext cx="425835" cy="4598113"/>
          </a:xfrm>
          <a:prstGeom prst="triangle">
            <a:avLst/>
          </a:prstGeom>
          <a:gradFill flip="none" rotWithShape="1">
            <a:gsLst>
              <a:gs pos="0">
                <a:srgbClr val="FF0000">
                  <a:alpha val="29508"/>
                </a:srgbClr>
              </a:gs>
              <a:gs pos="100000">
                <a:srgbClr val="0070C0"/>
              </a:gs>
            </a:gsLst>
            <a:path path="rect">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Triangle 12">
            <a:extLst>
              <a:ext uri="{FF2B5EF4-FFF2-40B4-BE49-F238E27FC236}">
                <a16:creationId xmlns:a16="http://schemas.microsoft.com/office/drawing/2014/main" id="{C67E867C-2059-D15A-B71A-BE7922644CB7}"/>
              </a:ext>
            </a:extLst>
          </p:cNvPr>
          <p:cNvSpPr/>
          <p:nvPr/>
        </p:nvSpPr>
        <p:spPr>
          <a:xfrm rot="3600000" flipV="1">
            <a:off x="7653511" y="379320"/>
            <a:ext cx="425835" cy="4598113"/>
          </a:xfrm>
          <a:prstGeom prst="triangle">
            <a:avLst/>
          </a:prstGeom>
          <a:gradFill flip="none" rotWithShape="1">
            <a:gsLst>
              <a:gs pos="0">
                <a:srgbClr val="FF0000">
                  <a:alpha val="29508"/>
                </a:srgbClr>
              </a:gs>
              <a:gs pos="100000">
                <a:srgbClr val="0070C0"/>
              </a:gs>
            </a:gsLst>
            <a:path path="rect">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Triangle 13">
            <a:extLst>
              <a:ext uri="{FF2B5EF4-FFF2-40B4-BE49-F238E27FC236}">
                <a16:creationId xmlns:a16="http://schemas.microsoft.com/office/drawing/2014/main" id="{B7D7F1EE-F275-F5E8-0866-AC50258AF484}"/>
              </a:ext>
            </a:extLst>
          </p:cNvPr>
          <p:cNvSpPr/>
          <p:nvPr/>
        </p:nvSpPr>
        <p:spPr>
          <a:xfrm rot="18000000" flipH="1" flipV="1">
            <a:off x="3792095" y="404428"/>
            <a:ext cx="425835" cy="4598113"/>
          </a:xfrm>
          <a:prstGeom prst="triangle">
            <a:avLst/>
          </a:prstGeom>
          <a:gradFill flip="none" rotWithShape="1">
            <a:gsLst>
              <a:gs pos="0">
                <a:srgbClr val="FF0000">
                  <a:alpha val="29508"/>
                </a:srgbClr>
              </a:gs>
              <a:gs pos="100000">
                <a:srgbClr val="0070C0"/>
              </a:gs>
            </a:gsLst>
            <a:path path="rect">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Triangle 15">
            <a:extLst>
              <a:ext uri="{FF2B5EF4-FFF2-40B4-BE49-F238E27FC236}">
                <a16:creationId xmlns:a16="http://schemas.microsoft.com/office/drawing/2014/main" id="{CE0950FA-1A7E-C1FE-EF19-0AD3CE2867A5}"/>
              </a:ext>
            </a:extLst>
          </p:cNvPr>
          <p:cNvSpPr/>
          <p:nvPr/>
        </p:nvSpPr>
        <p:spPr>
          <a:xfrm rot="3600000" flipH="1">
            <a:off x="3753145" y="2623082"/>
            <a:ext cx="425835" cy="4598113"/>
          </a:xfrm>
          <a:prstGeom prst="triangle">
            <a:avLst/>
          </a:prstGeom>
          <a:gradFill flip="none" rotWithShape="1">
            <a:gsLst>
              <a:gs pos="0">
                <a:srgbClr val="FF0000">
                  <a:alpha val="29508"/>
                </a:srgbClr>
              </a:gs>
              <a:gs pos="100000">
                <a:srgbClr val="0070C0"/>
              </a:gs>
            </a:gsLst>
            <a:path path="rect">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Triangle 16">
            <a:extLst>
              <a:ext uri="{FF2B5EF4-FFF2-40B4-BE49-F238E27FC236}">
                <a16:creationId xmlns:a16="http://schemas.microsoft.com/office/drawing/2014/main" id="{3360AA5D-1336-D9F5-47E3-17C5BA9A70B2}"/>
              </a:ext>
            </a:extLst>
          </p:cNvPr>
          <p:cNvSpPr/>
          <p:nvPr/>
        </p:nvSpPr>
        <p:spPr>
          <a:xfrm flipH="1">
            <a:off x="5702179" y="3750367"/>
            <a:ext cx="425835" cy="3002787"/>
          </a:xfrm>
          <a:prstGeom prst="triangle">
            <a:avLst/>
          </a:prstGeom>
          <a:gradFill flip="none" rotWithShape="1">
            <a:gsLst>
              <a:gs pos="0">
                <a:srgbClr val="FF0000">
                  <a:alpha val="29508"/>
                </a:srgbClr>
              </a:gs>
              <a:gs pos="100000">
                <a:srgbClr val="0070C0"/>
              </a:gs>
            </a:gsLst>
            <a:path path="rect">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Triangle 18">
            <a:extLst>
              <a:ext uri="{FF2B5EF4-FFF2-40B4-BE49-F238E27FC236}">
                <a16:creationId xmlns:a16="http://schemas.microsoft.com/office/drawing/2014/main" id="{1E110D80-9960-9DB6-6299-3A059A27C2D0}"/>
              </a:ext>
            </a:extLst>
          </p:cNvPr>
          <p:cNvSpPr/>
          <p:nvPr/>
        </p:nvSpPr>
        <p:spPr>
          <a:xfrm flipH="1" flipV="1">
            <a:off x="5702179" y="843389"/>
            <a:ext cx="425835" cy="3002787"/>
          </a:xfrm>
          <a:prstGeom prst="triangle">
            <a:avLst/>
          </a:prstGeom>
          <a:gradFill flip="none" rotWithShape="1">
            <a:gsLst>
              <a:gs pos="0">
                <a:srgbClr val="FF0000">
                  <a:alpha val="29508"/>
                </a:srgbClr>
              </a:gs>
              <a:gs pos="100000">
                <a:srgbClr val="0070C0"/>
              </a:gs>
            </a:gsLst>
            <a:path path="rect">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 name="TextBox 19">
            <a:extLst>
              <a:ext uri="{FF2B5EF4-FFF2-40B4-BE49-F238E27FC236}">
                <a16:creationId xmlns:a16="http://schemas.microsoft.com/office/drawing/2014/main" id="{1B04EF87-D246-C217-EDC4-F20C86B970C3}"/>
              </a:ext>
            </a:extLst>
          </p:cNvPr>
          <p:cNvSpPr txBox="1"/>
          <p:nvPr/>
        </p:nvSpPr>
        <p:spPr>
          <a:xfrm>
            <a:off x="1746448" y="49037"/>
            <a:ext cx="8845627"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Noether Core Animation : Noether Core Nested Tri-binary Gyroscopic Flywheel</a:t>
            </a:r>
          </a:p>
        </p:txBody>
      </p:sp>
      <p:sp>
        <p:nvSpPr>
          <p:cNvPr id="4" name="Oval 3">
            <a:extLst>
              <a:ext uri="{FF2B5EF4-FFF2-40B4-BE49-F238E27FC236}">
                <a16:creationId xmlns:a16="http://schemas.microsoft.com/office/drawing/2014/main" id="{F5518008-3A0D-9C2C-7BAE-B369DD2D0B86}"/>
              </a:ext>
            </a:extLst>
          </p:cNvPr>
          <p:cNvSpPr>
            <a:spLocks noChangeAspect="1"/>
          </p:cNvSpPr>
          <p:nvPr/>
        </p:nvSpPr>
        <p:spPr>
          <a:xfrm flipH="1">
            <a:off x="5337781" y="4419292"/>
            <a:ext cx="304800" cy="304800"/>
          </a:xfrm>
          <a:prstGeom prst="ellipse">
            <a:avLst/>
          </a:prstGeom>
          <a:solidFill>
            <a:srgbClr val="0070C0"/>
          </a:solidFill>
          <a:ln w="12700">
            <a:solidFill>
              <a:schemeClr val="bg1"/>
            </a:solidFill>
          </a:ln>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6" name="Oval 5">
            <a:extLst>
              <a:ext uri="{FF2B5EF4-FFF2-40B4-BE49-F238E27FC236}">
                <a16:creationId xmlns:a16="http://schemas.microsoft.com/office/drawing/2014/main" id="{7B16C4F3-6716-E2CD-9CC9-08863A0CB9D2}"/>
              </a:ext>
            </a:extLst>
          </p:cNvPr>
          <p:cNvSpPr>
            <a:spLocks noChangeAspect="1"/>
          </p:cNvSpPr>
          <p:nvPr/>
        </p:nvSpPr>
        <p:spPr>
          <a:xfrm flipH="1">
            <a:off x="6169262" y="2921623"/>
            <a:ext cx="304800" cy="304800"/>
          </a:xfrm>
          <a:prstGeom prst="ellipse">
            <a:avLst/>
          </a:prstGeom>
          <a:solidFill>
            <a:srgbClr val="FF0000"/>
          </a:solidFill>
          <a:ln w="12700">
            <a:solidFill>
              <a:schemeClr val="bg1"/>
            </a:solidFill>
          </a:ln>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7" name="Oval 6">
            <a:extLst>
              <a:ext uri="{FF2B5EF4-FFF2-40B4-BE49-F238E27FC236}">
                <a16:creationId xmlns:a16="http://schemas.microsoft.com/office/drawing/2014/main" id="{68FE29E3-AA14-0975-BFDD-5AF64B9DF694}"/>
              </a:ext>
            </a:extLst>
          </p:cNvPr>
          <p:cNvSpPr>
            <a:spLocks noChangeAspect="1"/>
          </p:cNvSpPr>
          <p:nvPr/>
        </p:nvSpPr>
        <p:spPr>
          <a:xfrm flipH="1">
            <a:off x="104004" y="3691335"/>
            <a:ext cx="304800" cy="304800"/>
          </a:xfrm>
          <a:prstGeom prst="ellipse">
            <a:avLst/>
          </a:prstGeom>
          <a:solidFill>
            <a:srgbClr val="0070C0"/>
          </a:solidFill>
          <a:ln w="12700">
            <a:solidFill>
              <a:schemeClr val="bg1"/>
            </a:solidFill>
          </a:ln>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8" name="Oval 7">
            <a:extLst>
              <a:ext uri="{FF2B5EF4-FFF2-40B4-BE49-F238E27FC236}">
                <a16:creationId xmlns:a16="http://schemas.microsoft.com/office/drawing/2014/main" id="{D68AEB40-9406-C977-3D27-BE229941A7B2}"/>
              </a:ext>
            </a:extLst>
          </p:cNvPr>
          <p:cNvSpPr>
            <a:spLocks noChangeAspect="1"/>
          </p:cNvSpPr>
          <p:nvPr/>
        </p:nvSpPr>
        <p:spPr>
          <a:xfrm flipH="1">
            <a:off x="11375814" y="3608274"/>
            <a:ext cx="304800" cy="304800"/>
          </a:xfrm>
          <a:prstGeom prst="ellipse">
            <a:avLst/>
          </a:prstGeom>
          <a:solidFill>
            <a:srgbClr val="FF0000"/>
          </a:solidFill>
          <a:ln w="12700">
            <a:solidFill>
              <a:schemeClr val="bg1"/>
            </a:solidFill>
          </a:ln>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9" name="Oval 8">
            <a:extLst>
              <a:ext uri="{FF2B5EF4-FFF2-40B4-BE49-F238E27FC236}">
                <a16:creationId xmlns:a16="http://schemas.microsoft.com/office/drawing/2014/main" id="{A141F7E8-A2A1-7295-2756-72923248FD95}"/>
              </a:ext>
            </a:extLst>
          </p:cNvPr>
          <p:cNvSpPr>
            <a:spLocks noChangeAspect="1"/>
          </p:cNvSpPr>
          <p:nvPr/>
        </p:nvSpPr>
        <p:spPr>
          <a:xfrm flipH="1">
            <a:off x="7256993" y="5104021"/>
            <a:ext cx="304800" cy="304800"/>
          </a:xfrm>
          <a:prstGeom prst="ellipse">
            <a:avLst/>
          </a:prstGeom>
          <a:solidFill>
            <a:srgbClr val="0070C0"/>
          </a:solidFill>
          <a:ln w="12700">
            <a:solidFill>
              <a:schemeClr val="bg1"/>
            </a:solidFill>
          </a:ln>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1" name="Oval 10">
            <a:extLst>
              <a:ext uri="{FF2B5EF4-FFF2-40B4-BE49-F238E27FC236}">
                <a16:creationId xmlns:a16="http://schemas.microsoft.com/office/drawing/2014/main" id="{57C9B749-40C0-908B-EC86-837523F1F95E}"/>
              </a:ext>
            </a:extLst>
          </p:cNvPr>
          <p:cNvSpPr>
            <a:spLocks noChangeAspect="1"/>
          </p:cNvSpPr>
          <p:nvPr/>
        </p:nvSpPr>
        <p:spPr>
          <a:xfrm flipH="1">
            <a:off x="4309071" y="2064045"/>
            <a:ext cx="304800" cy="304800"/>
          </a:xfrm>
          <a:prstGeom prst="ellipse">
            <a:avLst/>
          </a:prstGeom>
          <a:solidFill>
            <a:srgbClr val="FF0000"/>
          </a:solidFill>
          <a:ln w="12700">
            <a:solidFill>
              <a:schemeClr val="bg1"/>
            </a:solidFill>
          </a:ln>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Tree>
    <p:extLst>
      <p:ext uri="{BB962C8B-B14F-4D97-AF65-F5344CB8AC3E}">
        <p14:creationId xmlns:p14="http://schemas.microsoft.com/office/powerpoint/2010/main" val="28600646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path" presetSubtype="0" repeatCount="indefinite" fill="hold" grpId="0" nodeType="clickEffect">
                                  <p:stCondLst>
                                    <p:cond delay="0"/>
                                  </p:stCondLst>
                                  <p:endCondLst>
                                    <p:cond evt="onNext" delay="0">
                                      <p:tgtEl>
                                        <p:sldTgt/>
                                      </p:tgtEl>
                                    </p:cond>
                                  </p:endCondLst>
                                  <p:childTnLst>
                                    <p:animMotion origin="layout" path="M 0.19622 0.14097 C 0.25247 0.29514 0.26302 0.45972 0.22018 0.50949 C 0.17695 0.55856 0.09661 0.4743 0.04049 0.32176 C -0.0155 0.16805 -0.02553 0.00347 0.01692 -0.04653 C 0.06028 -0.0963 0.14036 -0.01181 0.19622 0.14097 Z " pathEditMode="relative" rAng="3420000" ptsTypes="AAAAA">
                                      <p:cBhvr>
                                        <p:cTn id="6" dur="2000" fill="hold"/>
                                        <p:tgtEl>
                                          <p:spTgt spid="11"/>
                                        </p:tgtEl>
                                        <p:attrNameLst>
                                          <p:attrName>ppt_x</p:attrName>
                                          <p:attrName>ppt_y</p:attrName>
                                        </p:attrNameLst>
                                      </p:cBhvr>
                                      <p:rCtr x="-7786" y="9051"/>
                                    </p:animMotion>
                                  </p:childTnLst>
                                </p:cTn>
                              </p:par>
                              <p:par>
                                <p:cTn id="7" presetID="1" presetClass="path" presetSubtype="0" repeatCount="indefinite" fill="hold" grpId="0" nodeType="withEffect">
                                  <p:stCondLst>
                                    <p:cond delay="1000"/>
                                  </p:stCondLst>
                                  <p:endCondLst>
                                    <p:cond evt="onNext" delay="0">
                                      <p:tgtEl>
                                        <p:sldTgt/>
                                      </p:tgtEl>
                                    </p:cond>
                                  </p:endCondLst>
                                  <p:childTnLst>
                                    <p:animMotion origin="layout" path="M -0.04545 -0.30255 C 0.00507 -0.14653 0.00911 0.01805 -0.03685 0.0662 C -0.08282 0.11342 -0.16172 0.02407 -0.21224 -0.13172 C -0.26289 -0.2875 -0.2668 -0.45324 -0.22071 -0.50047 C -0.17461 -0.54746 -0.09623 -0.45926 -0.04545 -0.30255 Z " pathEditMode="relative" rAng="3600000" ptsTypes="AAAAA">
                                      <p:cBhvr>
                                        <p:cTn id="8" dur="2000" fill="hold"/>
                                        <p:tgtEl>
                                          <p:spTgt spid="9"/>
                                        </p:tgtEl>
                                        <p:attrNameLst>
                                          <p:attrName>ppt_x</p:attrName>
                                          <p:attrName>ppt_y</p:attrName>
                                        </p:attrNameLst>
                                      </p:cBhvr>
                                      <p:rCtr x="-8333" y="8542"/>
                                    </p:animMotion>
                                  </p:childTnLst>
                                </p:cTn>
                              </p:par>
                              <p:par>
                                <p:cTn id="9" presetID="1" presetClass="path" presetSubtype="0" repeatCount="indefinite" fill="hold" grpId="0" nodeType="withEffect">
                                  <p:stCondLst>
                                    <p:cond delay="0"/>
                                  </p:stCondLst>
                                  <p:endCondLst>
                                    <p:cond evt="onNext" delay="0">
                                      <p:tgtEl>
                                        <p:sldTgt/>
                                      </p:tgtEl>
                                    </p:cond>
                                  </p:endCondLst>
                                  <p:childTnLst>
                                    <p:animMotion origin="layout" path="M -0.46028 -0.33727 C -0.2056 -0.33727 0.00104 -0.18102 0.00104 0.01204 C 0.00104 0.2044 -0.2056 0.36134 -0.46028 0.36134 C -0.71497 0.36134 -0.92148 0.2044 -0.92148 0.01204 C -0.92148 -0.18102 -0.71497 -0.33727 -0.46028 -0.33727 Z " pathEditMode="relative" rAng="0" ptsTypes="AAAAA">
                                      <p:cBhvr>
                                        <p:cTn id="10" dur="5000" fill="hold"/>
                                        <p:tgtEl>
                                          <p:spTgt spid="8"/>
                                        </p:tgtEl>
                                        <p:attrNameLst>
                                          <p:attrName>ppt_x</p:attrName>
                                          <p:attrName>ppt_y</p:attrName>
                                        </p:attrNameLst>
                                      </p:cBhvr>
                                      <p:rCtr x="0" y="34931"/>
                                    </p:animMotion>
                                  </p:childTnLst>
                                </p:cTn>
                              </p:par>
                              <p:par>
                                <p:cTn id="11" presetID="1" presetClass="path" presetSubtype="0" repeatCount="indefinite" fill="hold" grpId="0" nodeType="withEffect">
                                  <p:stCondLst>
                                    <p:cond delay="2500"/>
                                  </p:stCondLst>
                                  <p:endCondLst>
                                    <p:cond evt="onNext" delay="0">
                                      <p:tgtEl>
                                        <p:sldTgt/>
                                      </p:tgtEl>
                                    </p:cond>
                                  </p:endCondLst>
                                  <p:childTnLst>
                                    <p:animMotion origin="layout" path="M 0.46419 -0.34931 C 0.71888 -0.34931 0.92526 -0.19306 0.92526 -3.7037E-7 C 0.92526 0.19236 0.71888 0.34931 0.46419 0.34931 C 0.20937 0.34931 0.00273 0.19236 0.00273 -3.7037E-7 C 0.00273 -0.19306 0.20937 -0.34931 0.46419 -0.34931 Z " pathEditMode="relative" rAng="0" ptsTypes="AAAAA">
                                      <p:cBhvr>
                                        <p:cTn id="12" dur="5000" fill="hold"/>
                                        <p:tgtEl>
                                          <p:spTgt spid="7"/>
                                        </p:tgtEl>
                                        <p:attrNameLst>
                                          <p:attrName>ppt_x</p:attrName>
                                          <p:attrName>ppt_y</p:attrName>
                                        </p:attrNameLst>
                                      </p:cBhvr>
                                      <p:rCtr x="-26" y="34931"/>
                                    </p:animMotion>
                                  </p:childTnLst>
                                </p:cTn>
                              </p:par>
                              <p:par>
                                <p:cTn id="13" presetID="1" presetClass="path" presetSubtype="0" repeatCount="indefinite" fill="hold" grpId="0" nodeType="withEffect">
                                  <p:stCondLst>
                                    <p:cond delay="0"/>
                                  </p:stCondLst>
                                  <p:endCondLst>
                                    <p:cond evt="onNext" delay="0">
                                      <p:tgtEl>
                                        <p:sldTgt/>
                                      </p:tgtEl>
                                    </p:cond>
                                  </p:endCondLst>
                                  <p:childTnLst>
                                    <p:animMotion origin="layout" path="M 0.00443 1.85185E-6 C 0.01654 0.01296 0.0099 0.07245 -0.01068 0.13333 C -0.03073 0.19329 -0.05716 0.23125 -0.06901 0.21852 C -0.08151 0.20532 -0.07448 0.14653 -0.05443 0.08657 C -0.03385 0.02569 -0.00755 -0.01296 0.00443 1.85185E-6 Z " pathEditMode="relative" rAng="1860000" ptsTypes="AAAAA">
                                      <p:cBhvr>
                                        <p:cTn id="14" dur="1000" fill="hold"/>
                                        <p:tgtEl>
                                          <p:spTgt spid="6"/>
                                        </p:tgtEl>
                                        <p:attrNameLst>
                                          <p:attrName>ppt_x</p:attrName>
                                          <p:attrName>ppt_y</p:attrName>
                                        </p:attrNameLst>
                                      </p:cBhvr>
                                      <p:rCtr x="-3672" y="10926"/>
                                    </p:animMotion>
                                  </p:childTnLst>
                                </p:cTn>
                              </p:par>
                              <p:par>
                                <p:cTn id="15" presetID="1" presetClass="path" presetSubtype="0" repeatCount="indefinite" fill="hold" grpId="0" nodeType="withEffect">
                                  <p:stCondLst>
                                    <p:cond delay="500"/>
                                  </p:stCondLst>
                                  <p:endCondLst>
                                    <p:cond evt="onNext" delay="0">
                                      <p:tgtEl>
                                        <p:sldTgt/>
                                      </p:tgtEl>
                                    </p:cond>
                                  </p:endCondLst>
                                  <p:childTnLst>
                                    <p:animMotion origin="layout" path="M 0.07266 -0.21806 C 0.08477 -0.2051 0.07813 -0.14561 0.05755 -0.08473 C 0.0375 -0.02477 0.01107 0.01319 -0.00078 0.00046 C -0.01328 -0.01273 -0.00625 -0.07153 0.0138 -0.13148 C 0.03438 -0.19236 0.06068 -0.23102 0.07266 -0.21806 Z " pathEditMode="relative" rAng="1860000" ptsTypes="AAAAA">
                                      <p:cBhvr>
                                        <p:cTn id="16" dur="1000" fill="hold"/>
                                        <p:tgtEl>
                                          <p:spTgt spid="4"/>
                                        </p:tgtEl>
                                        <p:attrNameLst>
                                          <p:attrName>ppt_x</p:attrName>
                                          <p:attrName>ppt_y</p:attrName>
                                        </p:attrNameLst>
                                      </p:cBhvr>
                                      <p:rCtr x="-3672" y="10926"/>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animBg="1"/>
      <p:bldP spid="8" grpId="0" animBg="1"/>
      <p:bldP spid="9" grpId="0" animBg="1"/>
      <p:bldP spid="11"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Footer Placeholder 3">
            <a:extLst>
              <a:ext uri="{FF2B5EF4-FFF2-40B4-BE49-F238E27FC236}">
                <a16:creationId xmlns:a16="http://schemas.microsoft.com/office/drawing/2014/main" id="{668F77D6-DFDA-5A46-8DF1-47F6A167C2B1}"/>
              </a:ext>
            </a:extLst>
          </p:cNvPr>
          <p:cNvSpPr txBox="1">
            <a:spLocks/>
          </p:cNvSpPr>
          <p:nvPr/>
        </p:nvSpPr>
        <p:spPr>
          <a:xfrm>
            <a:off x="10924248" y="6388602"/>
            <a:ext cx="1142262"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Helvetica Neue" panose="02000503000000020004" pitchFamily="2" charset="0"/>
                <a:ea typeface="Helvetica Neue" panose="02000503000000020004" pitchFamily="2" charset="0"/>
                <a:cs typeface="Helvetica Neue" panose="02000503000000020004" pitchFamily="2" charset="0"/>
              </a:rPr>
              <a:t>J Mark Morris</a:t>
            </a:r>
          </a:p>
        </p:txBody>
      </p:sp>
      <p:sp>
        <p:nvSpPr>
          <p:cNvPr id="2" name="Oval 1">
            <a:extLst>
              <a:ext uri="{FF2B5EF4-FFF2-40B4-BE49-F238E27FC236}">
                <a16:creationId xmlns:a16="http://schemas.microsoft.com/office/drawing/2014/main" id="{47D71178-1E46-B597-8D85-944B656E93ED}"/>
              </a:ext>
            </a:extLst>
          </p:cNvPr>
          <p:cNvSpPr/>
          <p:nvPr/>
        </p:nvSpPr>
        <p:spPr>
          <a:xfrm rot="7200000">
            <a:off x="5067282" y="3526398"/>
            <a:ext cx="1701597" cy="634674"/>
          </a:xfrm>
          <a:prstGeom prst="ellipse">
            <a:avLst/>
          </a:prstGeom>
          <a:noFill/>
          <a:ln w="1270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0" name="Straight Connector 9">
            <a:extLst>
              <a:ext uri="{FF2B5EF4-FFF2-40B4-BE49-F238E27FC236}">
                <a16:creationId xmlns:a16="http://schemas.microsoft.com/office/drawing/2014/main" id="{174E041C-172B-020E-078B-EC5562739827}"/>
              </a:ext>
            </a:extLst>
          </p:cNvPr>
          <p:cNvCxnSpPr>
            <a:cxnSpLocks/>
          </p:cNvCxnSpPr>
          <p:nvPr/>
        </p:nvCxnSpPr>
        <p:spPr>
          <a:xfrm>
            <a:off x="-177553" y="239697"/>
            <a:ext cx="11505460" cy="6720396"/>
          </a:xfrm>
          <a:prstGeom prst="line">
            <a:avLst/>
          </a:prstGeom>
          <a:ln w="9525">
            <a:solidFill>
              <a:srgbClr val="7030A0"/>
            </a:solidFill>
            <a:prstDash val="dashDot"/>
          </a:ln>
        </p:spPr>
        <p:style>
          <a:lnRef idx="1">
            <a:schemeClr val="accent1"/>
          </a:lnRef>
          <a:fillRef idx="0">
            <a:schemeClr val="accent1"/>
          </a:fillRef>
          <a:effectRef idx="0">
            <a:schemeClr val="accent1"/>
          </a:effectRef>
          <a:fontRef idx="minor">
            <a:schemeClr val="tx1"/>
          </a:fontRef>
        </p:style>
      </p:cxnSp>
      <p:sp>
        <p:nvSpPr>
          <p:cNvPr id="15" name="Oval 14">
            <a:extLst>
              <a:ext uri="{FF2B5EF4-FFF2-40B4-BE49-F238E27FC236}">
                <a16:creationId xmlns:a16="http://schemas.microsoft.com/office/drawing/2014/main" id="{2D66E320-044F-FF6B-745A-EEB0A0C8513C}"/>
              </a:ext>
            </a:extLst>
          </p:cNvPr>
          <p:cNvSpPr/>
          <p:nvPr/>
        </p:nvSpPr>
        <p:spPr>
          <a:xfrm rot="14400000">
            <a:off x="3637865" y="2677999"/>
            <a:ext cx="4522382" cy="2275977"/>
          </a:xfrm>
          <a:prstGeom prst="ellipse">
            <a:avLst/>
          </a:prstGeom>
          <a:noFill/>
          <a:ln w="1270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 name="Oval 17">
            <a:extLst>
              <a:ext uri="{FF2B5EF4-FFF2-40B4-BE49-F238E27FC236}">
                <a16:creationId xmlns:a16="http://schemas.microsoft.com/office/drawing/2014/main" id="{29C5FBF2-D81F-F77E-EE4B-FADD35D47A9D}"/>
              </a:ext>
            </a:extLst>
          </p:cNvPr>
          <p:cNvSpPr/>
          <p:nvPr/>
        </p:nvSpPr>
        <p:spPr>
          <a:xfrm rot="10800000">
            <a:off x="294520" y="1449180"/>
            <a:ext cx="11247120" cy="4789112"/>
          </a:xfrm>
          <a:prstGeom prst="ellipse">
            <a:avLst/>
          </a:prstGeom>
          <a:noFill/>
          <a:ln w="1270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22" name="Straight Connector 21">
            <a:extLst>
              <a:ext uri="{FF2B5EF4-FFF2-40B4-BE49-F238E27FC236}">
                <a16:creationId xmlns:a16="http://schemas.microsoft.com/office/drawing/2014/main" id="{63E3415D-0EC7-FEF4-7EEC-458E9002BF2E}"/>
              </a:ext>
            </a:extLst>
          </p:cNvPr>
          <p:cNvCxnSpPr>
            <a:cxnSpLocks/>
          </p:cNvCxnSpPr>
          <p:nvPr/>
        </p:nvCxnSpPr>
        <p:spPr>
          <a:xfrm rot="3600000">
            <a:off x="157730" y="483537"/>
            <a:ext cx="11505460" cy="6720396"/>
          </a:xfrm>
          <a:prstGeom prst="line">
            <a:avLst/>
          </a:prstGeom>
          <a:ln w="9525">
            <a:solidFill>
              <a:srgbClr val="7030A0"/>
            </a:solidFill>
            <a:prstDash val="dash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CDCA82C0-A939-DE94-42C7-2622B0765E45}"/>
              </a:ext>
            </a:extLst>
          </p:cNvPr>
          <p:cNvCxnSpPr>
            <a:cxnSpLocks/>
          </p:cNvCxnSpPr>
          <p:nvPr/>
        </p:nvCxnSpPr>
        <p:spPr>
          <a:xfrm rot="-3600000">
            <a:off x="127247" y="460677"/>
            <a:ext cx="11505460" cy="6720396"/>
          </a:xfrm>
          <a:prstGeom prst="line">
            <a:avLst/>
          </a:prstGeom>
          <a:ln w="9525">
            <a:solidFill>
              <a:srgbClr val="7030A0"/>
            </a:solidFill>
            <a:prstDash val="dashDot"/>
          </a:ln>
        </p:spPr>
        <p:style>
          <a:lnRef idx="1">
            <a:schemeClr val="accent1"/>
          </a:lnRef>
          <a:fillRef idx="0">
            <a:schemeClr val="accent1"/>
          </a:fillRef>
          <a:effectRef idx="0">
            <a:schemeClr val="accent1"/>
          </a:effectRef>
          <a:fontRef idx="minor">
            <a:schemeClr val="tx1"/>
          </a:fontRef>
        </p:style>
      </p:cxnSp>
      <p:sp>
        <p:nvSpPr>
          <p:cNvPr id="3" name="Triangle 2">
            <a:extLst>
              <a:ext uri="{FF2B5EF4-FFF2-40B4-BE49-F238E27FC236}">
                <a16:creationId xmlns:a16="http://schemas.microsoft.com/office/drawing/2014/main" id="{0BB63093-AB79-2C21-D264-E742BCC5746B}"/>
              </a:ext>
            </a:extLst>
          </p:cNvPr>
          <p:cNvSpPr/>
          <p:nvPr/>
        </p:nvSpPr>
        <p:spPr>
          <a:xfrm rot="18000000">
            <a:off x="7683389" y="2657784"/>
            <a:ext cx="425835" cy="4598113"/>
          </a:xfrm>
          <a:prstGeom prst="triangle">
            <a:avLst/>
          </a:prstGeom>
          <a:gradFill flip="none" rotWithShape="1">
            <a:gsLst>
              <a:gs pos="0">
                <a:srgbClr val="FF0000">
                  <a:alpha val="29508"/>
                </a:srgbClr>
              </a:gs>
              <a:gs pos="100000">
                <a:srgbClr val="0070C0"/>
              </a:gs>
            </a:gsLst>
            <a:path path="rect">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Triangle 12">
            <a:extLst>
              <a:ext uri="{FF2B5EF4-FFF2-40B4-BE49-F238E27FC236}">
                <a16:creationId xmlns:a16="http://schemas.microsoft.com/office/drawing/2014/main" id="{C67E867C-2059-D15A-B71A-BE7922644CB7}"/>
              </a:ext>
            </a:extLst>
          </p:cNvPr>
          <p:cNvSpPr/>
          <p:nvPr/>
        </p:nvSpPr>
        <p:spPr>
          <a:xfrm rot="3600000" flipV="1">
            <a:off x="7653511" y="379320"/>
            <a:ext cx="425835" cy="4598113"/>
          </a:xfrm>
          <a:prstGeom prst="triangle">
            <a:avLst/>
          </a:prstGeom>
          <a:gradFill flip="none" rotWithShape="1">
            <a:gsLst>
              <a:gs pos="0">
                <a:srgbClr val="FF0000">
                  <a:alpha val="29508"/>
                </a:srgbClr>
              </a:gs>
              <a:gs pos="100000">
                <a:srgbClr val="0070C0"/>
              </a:gs>
            </a:gsLst>
            <a:path path="rect">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Triangle 13">
            <a:extLst>
              <a:ext uri="{FF2B5EF4-FFF2-40B4-BE49-F238E27FC236}">
                <a16:creationId xmlns:a16="http://schemas.microsoft.com/office/drawing/2014/main" id="{B7D7F1EE-F275-F5E8-0866-AC50258AF484}"/>
              </a:ext>
            </a:extLst>
          </p:cNvPr>
          <p:cNvSpPr/>
          <p:nvPr/>
        </p:nvSpPr>
        <p:spPr>
          <a:xfrm rot="18000000" flipH="1" flipV="1">
            <a:off x="3792095" y="404428"/>
            <a:ext cx="425835" cy="4598113"/>
          </a:xfrm>
          <a:prstGeom prst="triangle">
            <a:avLst/>
          </a:prstGeom>
          <a:gradFill flip="none" rotWithShape="1">
            <a:gsLst>
              <a:gs pos="0">
                <a:srgbClr val="FF0000">
                  <a:alpha val="29508"/>
                </a:srgbClr>
              </a:gs>
              <a:gs pos="100000">
                <a:srgbClr val="0070C0"/>
              </a:gs>
            </a:gsLst>
            <a:path path="rect">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Triangle 15">
            <a:extLst>
              <a:ext uri="{FF2B5EF4-FFF2-40B4-BE49-F238E27FC236}">
                <a16:creationId xmlns:a16="http://schemas.microsoft.com/office/drawing/2014/main" id="{CE0950FA-1A7E-C1FE-EF19-0AD3CE2867A5}"/>
              </a:ext>
            </a:extLst>
          </p:cNvPr>
          <p:cNvSpPr/>
          <p:nvPr/>
        </p:nvSpPr>
        <p:spPr>
          <a:xfrm rot="3600000" flipH="1">
            <a:off x="3753145" y="2623082"/>
            <a:ext cx="425835" cy="4598113"/>
          </a:xfrm>
          <a:prstGeom prst="triangle">
            <a:avLst/>
          </a:prstGeom>
          <a:gradFill flip="none" rotWithShape="1">
            <a:gsLst>
              <a:gs pos="0">
                <a:srgbClr val="FF0000">
                  <a:alpha val="29508"/>
                </a:srgbClr>
              </a:gs>
              <a:gs pos="100000">
                <a:srgbClr val="0070C0"/>
              </a:gs>
            </a:gsLst>
            <a:path path="rect">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Triangle 16">
            <a:extLst>
              <a:ext uri="{FF2B5EF4-FFF2-40B4-BE49-F238E27FC236}">
                <a16:creationId xmlns:a16="http://schemas.microsoft.com/office/drawing/2014/main" id="{3360AA5D-1336-D9F5-47E3-17C5BA9A70B2}"/>
              </a:ext>
            </a:extLst>
          </p:cNvPr>
          <p:cNvSpPr/>
          <p:nvPr/>
        </p:nvSpPr>
        <p:spPr>
          <a:xfrm flipH="1">
            <a:off x="5702179" y="3750367"/>
            <a:ext cx="425835" cy="3002787"/>
          </a:xfrm>
          <a:prstGeom prst="triangle">
            <a:avLst/>
          </a:prstGeom>
          <a:gradFill flip="none" rotWithShape="1">
            <a:gsLst>
              <a:gs pos="0">
                <a:srgbClr val="FF0000">
                  <a:alpha val="29508"/>
                </a:srgbClr>
              </a:gs>
              <a:gs pos="100000">
                <a:srgbClr val="0070C0"/>
              </a:gs>
            </a:gsLst>
            <a:path path="rect">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Triangle 18">
            <a:extLst>
              <a:ext uri="{FF2B5EF4-FFF2-40B4-BE49-F238E27FC236}">
                <a16:creationId xmlns:a16="http://schemas.microsoft.com/office/drawing/2014/main" id="{1E110D80-9960-9DB6-6299-3A059A27C2D0}"/>
              </a:ext>
            </a:extLst>
          </p:cNvPr>
          <p:cNvSpPr/>
          <p:nvPr/>
        </p:nvSpPr>
        <p:spPr>
          <a:xfrm flipH="1" flipV="1">
            <a:off x="5702179" y="843389"/>
            <a:ext cx="425835" cy="3002787"/>
          </a:xfrm>
          <a:prstGeom prst="triangle">
            <a:avLst/>
          </a:prstGeom>
          <a:gradFill flip="none" rotWithShape="1">
            <a:gsLst>
              <a:gs pos="0">
                <a:srgbClr val="FF0000">
                  <a:alpha val="29508"/>
                </a:srgbClr>
              </a:gs>
              <a:gs pos="100000">
                <a:srgbClr val="0070C0"/>
              </a:gs>
            </a:gsLst>
            <a:path path="rect">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 name="TextBox 19">
            <a:extLst>
              <a:ext uri="{FF2B5EF4-FFF2-40B4-BE49-F238E27FC236}">
                <a16:creationId xmlns:a16="http://schemas.microsoft.com/office/drawing/2014/main" id="{1B04EF87-D246-C217-EDC4-F20C86B970C3}"/>
              </a:ext>
            </a:extLst>
          </p:cNvPr>
          <p:cNvSpPr txBox="1"/>
          <p:nvPr/>
        </p:nvSpPr>
        <p:spPr>
          <a:xfrm>
            <a:off x="1048948" y="89941"/>
            <a:ext cx="9499716"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solidFill>
                  <a:prstClr val="white"/>
                </a:solidFill>
                <a:latin typeface="Helvetica Neue" panose="02000503000000020004" pitchFamily="2" charset="0"/>
                <a:ea typeface="Helvetica Neue" panose="02000503000000020004" pitchFamily="2" charset="0"/>
                <a:cs typeface="Helvetica Neue" panose="02000503000000020004" pitchFamily="2" charset="0"/>
              </a:rPr>
              <a:t>Important “Phases” May Occur When One of the Binaries is “Phase-Locked” at v = @</a:t>
            </a:r>
            <a:endParaRPr kumimoji="0" lang="en-US" sz="18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4" name="Oval 3">
            <a:extLst>
              <a:ext uri="{FF2B5EF4-FFF2-40B4-BE49-F238E27FC236}">
                <a16:creationId xmlns:a16="http://schemas.microsoft.com/office/drawing/2014/main" id="{F5518008-3A0D-9C2C-7BAE-B369DD2D0B86}"/>
              </a:ext>
            </a:extLst>
          </p:cNvPr>
          <p:cNvSpPr>
            <a:spLocks noChangeAspect="1"/>
          </p:cNvSpPr>
          <p:nvPr/>
        </p:nvSpPr>
        <p:spPr>
          <a:xfrm flipH="1">
            <a:off x="5337781" y="4419292"/>
            <a:ext cx="304800" cy="304800"/>
          </a:xfrm>
          <a:prstGeom prst="ellipse">
            <a:avLst/>
          </a:prstGeom>
          <a:solidFill>
            <a:srgbClr val="0070C0"/>
          </a:solidFill>
          <a:ln w="12700">
            <a:solidFill>
              <a:schemeClr val="bg1"/>
            </a:solidFill>
          </a:ln>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6" name="Oval 5">
            <a:extLst>
              <a:ext uri="{FF2B5EF4-FFF2-40B4-BE49-F238E27FC236}">
                <a16:creationId xmlns:a16="http://schemas.microsoft.com/office/drawing/2014/main" id="{7B16C4F3-6716-E2CD-9CC9-08863A0CB9D2}"/>
              </a:ext>
            </a:extLst>
          </p:cNvPr>
          <p:cNvSpPr>
            <a:spLocks noChangeAspect="1"/>
          </p:cNvSpPr>
          <p:nvPr/>
        </p:nvSpPr>
        <p:spPr>
          <a:xfrm flipH="1">
            <a:off x="6169262" y="2921623"/>
            <a:ext cx="304800" cy="304800"/>
          </a:xfrm>
          <a:prstGeom prst="ellipse">
            <a:avLst/>
          </a:prstGeom>
          <a:solidFill>
            <a:srgbClr val="FF0000"/>
          </a:solidFill>
          <a:ln w="12700">
            <a:solidFill>
              <a:schemeClr val="bg1"/>
            </a:solidFill>
          </a:ln>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7" name="Oval 6">
            <a:extLst>
              <a:ext uri="{FF2B5EF4-FFF2-40B4-BE49-F238E27FC236}">
                <a16:creationId xmlns:a16="http://schemas.microsoft.com/office/drawing/2014/main" id="{68FE29E3-AA14-0975-BFDD-5AF64B9DF694}"/>
              </a:ext>
            </a:extLst>
          </p:cNvPr>
          <p:cNvSpPr>
            <a:spLocks noChangeAspect="1"/>
          </p:cNvSpPr>
          <p:nvPr/>
        </p:nvSpPr>
        <p:spPr>
          <a:xfrm flipH="1">
            <a:off x="104004" y="3691335"/>
            <a:ext cx="304800" cy="304800"/>
          </a:xfrm>
          <a:prstGeom prst="ellipse">
            <a:avLst/>
          </a:prstGeom>
          <a:solidFill>
            <a:srgbClr val="0070C0"/>
          </a:solidFill>
          <a:ln w="12700">
            <a:solidFill>
              <a:schemeClr val="bg1"/>
            </a:solidFill>
          </a:ln>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8" name="Oval 7">
            <a:extLst>
              <a:ext uri="{FF2B5EF4-FFF2-40B4-BE49-F238E27FC236}">
                <a16:creationId xmlns:a16="http://schemas.microsoft.com/office/drawing/2014/main" id="{D68AEB40-9406-C977-3D27-BE229941A7B2}"/>
              </a:ext>
            </a:extLst>
          </p:cNvPr>
          <p:cNvSpPr>
            <a:spLocks noChangeAspect="1"/>
          </p:cNvSpPr>
          <p:nvPr/>
        </p:nvSpPr>
        <p:spPr>
          <a:xfrm flipH="1">
            <a:off x="11375814" y="3608274"/>
            <a:ext cx="304800" cy="304800"/>
          </a:xfrm>
          <a:prstGeom prst="ellipse">
            <a:avLst/>
          </a:prstGeom>
          <a:solidFill>
            <a:srgbClr val="FF0000"/>
          </a:solidFill>
          <a:ln w="12700">
            <a:solidFill>
              <a:schemeClr val="bg1"/>
            </a:solidFill>
          </a:ln>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9" name="Oval 8">
            <a:extLst>
              <a:ext uri="{FF2B5EF4-FFF2-40B4-BE49-F238E27FC236}">
                <a16:creationId xmlns:a16="http://schemas.microsoft.com/office/drawing/2014/main" id="{A141F7E8-A2A1-7295-2756-72923248FD95}"/>
              </a:ext>
            </a:extLst>
          </p:cNvPr>
          <p:cNvSpPr>
            <a:spLocks noChangeAspect="1"/>
          </p:cNvSpPr>
          <p:nvPr/>
        </p:nvSpPr>
        <p:spPr>
          <a:xfrm flipH="1">
            <a:off x="7256993" y="5104021"/>
            <a:ext cx="304800" cy="304800"/>
          </a:xfrm>
          <a:prstGeom prst="ellipse">
            <a:avLst/>
          </a:prstGeom>
          <a:solidFill>
            <a:srgbClr val="0070C0"/>
          </a:solidFill>
          <a:ln w="12700">
            <a:solidFill>
              <a:schemeClr val="bg1"/>
            </a:solidFill>
          </a:ln>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1" name="Oval 10">
            <a:extLst>
              <a:ext uri="{FF2B5EF4-FFF2-40B4-BE49-F238E27FC236}">
                <a16:creationId xmlns:a16="http://schemas.microsoft.com/office/drawing/2014/main" id="{57C9B749-40C0-908B-EC86-837523F1F95E}"/>
              </a:ext>
            </a:extLst>
          </p:cNvPr>
          <p:cNvSpPr>
            <a:spLocks noChangeAspect="1"/>
          </p:cNvSpPr>
          <p:nvPr/>
        </p:nvSpPr>
        <p:spPr>
          <a:xfrm flipH="1">
            <a:off x="4309071" y="2064045"/>
            <a:ext cx="304800" cy="304800"/>
          </a:xfrm>
          <a:prstGeom prst="ellipse">
            <a:avLst/>
          </a:prstGeom>
          <a:solidFill>
            <a:srgbClr val="FF0000"/>
          </a:solidFill>
          <a:ln w="12700">
            <a:solidFill>
              <a:schemeClr val="bg1"/>
            </a:solidFill>
          </a:ln>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21" name="TextBox 20">
            <a:extLst>
              <a:ext uri="{FF2B5EF4-FFF2-40B4-BE49-F238E27FC236}">
                <a16:creationId xmlns:a16="http://schemas.microsoft.com/office/drawing/2014/main" id="{2DD8B040-BE25-D945-23B8-5EFEFEEE7B11}"/>
              </a:ext>
            </a:extLst>
          </p:cNvPr>
          <p:cNvSpPr txBox="1"/>
          <p:nvPr/>
        </p:nvSpPr>
        <p:spPr>
          <a:xfrm>
            <a:off x="1616396" y="3180408"/>
            <a:ext cx="1660731" cy="923330"/>
          </a:xfrm>
          <a:prstGeom prst="rect">
            <a:avLst/>
          </a:prstGeom>
          <a:noFill/>
        </p:spPr>
        <p:txBody>
          <a:bodyPr wrap="square">
            <a:spAutoFit/>
          </a:bodyPr>
          <a:lstStyle/>
          <a:p>
            <a:r>
              <a:rPr lang="en-US" b="1" dirty="0">
                <a:solidFill>
                  <a:prstClr val="white"/>
                </a:solidFill>
                <a:latin typeface="Helvetica Neue" panose="02000503000000020004" pitchFamily="2" charset="0"/>
                <a:ea typeface="Helvetica Neue" panose="02000503000000020004" pitchFamily="2" charset="0"/>
                <a:cs typeface="Helvetica Neue" panose="02000503000000020004" pitchFamily="2" charset="0"/>
              </a:rPr>
              <a:t>Generation I</a:t>
            </a:r>
          </a:p>
          <a:p>
            <a:r>
              <a:rPr lang="en-US" b="1" dirty="0">
                <a:solidFill>
                  <a:prstClr val="white"/>
                </a:solidFill>
                <a:latin typeface="Helvetica Neue" panose="02000503000000020004" pitchFamily="2" charset="0"/>
                <a:ea typeface="Helvetica Neue" panose="02000503000000020004" pitchFamily="2" charset="0"/>
                <a:cs typeface="Helvetica Neue" panose="02000503000000020004" pitchFamily="2" charset="0"/>
              </a:rPr>
              <a:t>Generation II</a:t>
            </a:r>
          </a:p>
          <a:p>
            <a:r>
              <a:rPr lang="en-US" b="1" dirty="0">
                <a:solidFill>
                  <a:prstClr val="white"/>
                </a:solidFill>
                <a:latin typeface="Helvetica Neue" panose="02000503000000020004" pitchFamily="2" charset="0"/>
                <a:ea typeface="Helvetica Neue" panose="02000503000000020004" pitchFamily="2" charset="0"/>
                <a:cs typeface="Helvetica Neue" panose="02000503000000020004" pitchFamily="2" charset="0"/>
              </a:rPr>
              <a:t>Generation III</a:t>
            </a:r>
          </a:p>
        </p:txBody>
      </p:sp>
      <p:cxnSp>
        <p:nvCxnSpPr>
          <p:cNvPr id="25" name="Straight Arrow Connector 24">
            <a:extLst>
              <a:ext uri="{FF2B5EF4-FFF2-40B4-BE49-F238E27FC236}">
                <a16:creationId xmlns:a16="http://schemas.microsoft.com/office/drawing/2014/main" id="{D90A2777-5754-7C3B-2DE8-86FA0A6394EB}"/>
              </a:ext>
            </a:extLst>
          </p:cNvPr>
          <p:cNvCxnSpPr>
            <a:cxnSpLocks/>
          </p:cNvCxnSpPr>
          <p:nvPr/>
        </p:nvCxnSpPr>
        <p:spPr>
          <a:xfrm flipH="1">
            <a:off x="495158" y="3367589"/>
            <a:ext cx="1159105" cy="0"/>
          </a:xfrm>
          <a:prstGeom prst="straightConnector1">
            <a:avLst/>
          </a:prstGeom>
          <a:ln w="381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DC1549E3-58E4-BD08-4B6C-12166EC9ECF6}"/>
              </a:ext>
            </a:extLst>
          </p:cNvPr>
          <p:cNvCxnSpPr>
            <a:cxnSpLocks/>
            <a:stCxn id="21" idx="3"/>
          </p:cNvCxnSpPr>
          <p:nvPr/>
        </p:nvCxnSpPr>
        <p:spPr>
          <a:xfrm>
            <a:off x="3277127" y="3642073"/>
            <a:ext cx="1184344" cy="0"/>
          </a:xfrm>
          <a:prstGeom prst="straightConnector1">
            <a:avLst/>
          </a:prstGeom>
          <a:ln w="381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DFAE438A-BEF5-4199-8510-C1381A4A7016}"/>
              </a:ext>
            </a:extLst>
          </p:cNvPr>
          <p:cNvCxnSpPr>
            <a:cxnSpLocks/>
          </p:cNvCxnSpPr>
          <p:nvPr/>
        </p:nvCxnSpPr>
        <p:spPr>
          <a:xfrm>
            <a:off x="3277127" y="3913074"/>
            <a:ext cx="2060654" cy="0"/>
          </a:xfrm>
          <a:prstGeom prst="straightConnector1">
            <a:avLst/>
          </a:prstGeom>
          <a:ln w="38100">
            <a:solidFill>
              <a:schemeClr val="bg1"/>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36" name="Table 35">
            <a:extLst>
              <a:ext uri="{FF2B5EF4-FFF2-40B4-BE49-F238E27FC236}">
                <a16:creationId xmlns:a16="http://schemas.microsoft.com/office/drawing/2014/main" id="{983BE59E-B828-562F-AA46-E64CE9153158}"/>
              </a:ext>
            </a:extLst>
          </p:cNvPr>
          <p:cNvGraphicFramePr>
            <a:graphicFrameLocks/>
          </p:cNvGraphicFramePr>
          <p:nvPr>
            <p:extLst>
              <p:ext uri="{D42A27DB-BD31-4B8C-83A1-F6EECF244321}">
                <p14:modId xmlns:p14="http://schemas.microsoft.com/office/powerpoint/2010/main" val="1482906810"/>
              </p:ext>
            </p:extLst>
          </p:nvPr>
        </p:nvGraphicFramePr>
        <p:xfrm>
          <a:off x="7616216" y="2891019"/>
          <a:ext cx="3308032" cy="1849936"/>
        </p:xfrm>
        <a:graphic>
          <a:graphicData uri="http://schemas.openxmlformats.org/drawingml/2006/table">
            <a:tbl>
              <a:tblPr firstRow="1" bandRow="1">
                <a:tableStyleId>{5C22544A-7EE6-4342-B048-85BDC9FD1C3A}</a:tableStyleId>
              </a:tblPr>
              <a:tblGrid>
                <a:gridCol w="1695767">
                  <a:extLst>
                    <a:ext uri="{9D8B030D-6E8A-4147-A177-3AD203B41FA5}">
                      <a16:colId xmlns:a16="http://schemas.microsoft.com/office/drawing/2014/main" val="2662534927"/>
                    </a:ext>
                  </a:extLst>
                </a:gridCol>
                <a:gridCol w="563880">
                  <a:extLst>
                    <a:ext uri="{9D8B030D-6E8A-4147-A177-3AD203B41FA5}">
                      <a16:colId xmlns:a16="http://schemas.microsoft.com/office/drawing/2014/main" val="1471760688"/>
                    </a:ext>
                  </a:extLst>
                </a:gridCol>
                <a:gridCol w="484505">
                  <a:extLst>
                    <a:ext uri="{9D8B030D-6E8A-4147-A177-3AD203B41FA5}">
                      <a16:colId xmlns:a16="http://schemas.microsoft.com/office/drawing/2014/main" val="2546470576"/>
                    </a:ext>
                  </a:extLst>
                </a:gridCol>
                <a:gridCol w="563880">
                  <a:extLst>
                    <a:ext uri="{9D8B030D-6E8A-4147-A177-3AD203B41FA5}">
                      <a16:colId xmlns:a16="http://schemas.microsoft.com/office/drawing/2014/main" val="1353440401"/>
                    </a:ext>
                  </a:extLst>
                </a:gridCol>
              </a:tblGrid>
              <a:tr h="168176">
                <a:tc>
                  <a:txBody>
                    <a:bodyPr/>
                    <a:lstStyle/>
                    <a:p>
                      <a:pPr marL="0" marR="0" lvl="0" indent="0" algn="ctr" defTabSz="914400" rtl="0" eaLnBrk="1" fontAlgn="auto" latinLnBrk="0" hangingPunct="1">
                        <a:lnSpc>
                          <a:spcPts val="1050"/>
                        </a:lnSpc>
                        <a:spcBef>
                          <a:spcPts val="0"/>
                        </a:spcBef>
                        <a:spcAft>
                          <a:spcPts val="0"/>
                        </a:spcAft>
                        <a:buClrTx/>
                        <a:buSzTx/>
                        <a:buFontTx/>
                        <a:buNone/>
                        <a:tabLst/>
                        <a:defRPr/>
                      </a:pPr>
                      <a:r>
                        <a:rPr lang="en-US" sz="105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Point Potential Velocity</a:t>
                      </a:r>
                    </a:p>
                  </a:txBody>
                  <a:tcPr marT="0"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6"/>
                    </a:solidFill>
                  </a:tcPr>
                </a:tc>
                <a:tc gridSpan="3">
                  <a:txBody>
                    <a:bodyPr/>
                    <a:lstStyle/>
                    <a:p>
                      <a:pPr marL="0" marR="0" lvl="0" indent="0" algn="ctr" defTabSz="914400" rtl="0" eaLnBrk="1" fontAlgn="auto" latinLnBrk="0" hangingPunct="1">
                        <a:lnSpc>
                          <a:spcPts val="1050"/>
                        </a:lnSpc>
                        <a:spcBef>
                          <a:spcPts val="0"/>
                        </a:spcBef>
                        <a:spcAft>
                          <a:spcPts val="0"/>
                        </a:spcAft>
                        <a:buClrTx/>
                        <a:buSzTx/>
                        <a:buFontTx/>
                        <a:buNone/>
                        <a:tabLst/>
                        <a:defRPr/>
                      </a:pPr>
                      <a:r>
                        <a:rPr lang="en-US" sz="105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Generation</a:t>
                      </a:r>
                    </a:p>
                  </a:txBody>
                  <a:tcPr marT="0"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hMerge="1">
                  <a:txBody>
                    <a:bodyPr/>
                    <a:lstStyle/>
                    <a:p>
                      <a:endParaRPr lang="en-US" dirty="0">
                        <a:latin typeface="Helvetica Neue" panose="02000503000000020004" pitchFamily="2" charset="0"/>
                        <a:ea typeface="Helvetica Neue" panose="02000503000000020004" pitchFamily="2" charset="0"/>
                        <a:cs typeface="Helvetica Neue" panose="02000503000000020004" pitchFamily="2" charset="0"/>
                      </a:endParaRPr>
                    </a:p>
                  </a:txBody>
                  <a:tcPr/>
                </a:tc>
                <a:tc hMerge="1">
                  <a:txBody>
                    <a:bodyPr/>
                    <a:lstStyle/>
                    <a:p>
                      <a:endParaRPr lang="en-US" dirty="0">
                        <a:latin typeface="Helvetica Neue" panose="02000503000000020004" pitchFamily="2" charset="0"/>
                        <a:ea typeface="Helvetica Neue" panose="02000503000000020004" pitchFamily="2" charset="0"/>
                        <a:cs typeface="Helvetica Neue" panose="02000503000000020004" pitchFamily="2" charset="0"/>
                      </a:endParaRPr>
                    </a:p>
                  </a:txBody>
                  <a:tcPr/>
                </a:tc>
                <a:extLst>
                  <a:ext uri="{0D108BD9-81ED-4DB2-BD59-A6C34878D82A}">
                    <a16:rowId xmlns:a16="http://schemas.microsoft.com/office/drawing/2014/main" val="2416222776"/>
                  </a:ext>
                </a:extLst>
              </a:tr>
              <a:tr h="168176">
                <a:tc>
                  <a:txBody>
                    <a:bodyPr/>
                    <a:lstStyle/>
                    <a:p>
                      <a:pPr algn="ctr">
                        <a:lnSpc>
                          <a:spcPts val="1050"/>
                        </a:lnSpc>
                      </a:pPr>
                      <a:r>
                        <a:rPr lang="en-US" sz="105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Phase Hypothesis</a:t>
                      </a:r>
                    </a:p>
                  </a:txBody>
                  <a:tcPr marT="0"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marL="0" marR="0" lvl="0" indent="0" algn="ctr" defTabSz="914400" rtl="0" eaLnBrk="1" fontAlgn="auto" latinLnBrk="0" hangingPunct="1">
                        <a:lnSpc>
                          <a:spcPts val="1050"/>
                        </a:lnSpc>
                        <a:spcBef>
                          <a:spcPts val="0"/>
                        </a:spcBef>
                        <a:spcAft>
                          <a:spcPts val="0"/>
                        </a:spcAft>
                        <a:buClrTx/>
                        <a:buSzTx/>
                        <a:buFontTx/>
                        <a:buNone/>
                        <a:tabLst/>
                        <a:defRPr/>
                      </a:pPr>
                      <a:r>
                        <a:rPr lang="en-US" sz="1050" b="1" kern="12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I</a:t>
                      </a:r>
                    </a:p>
                  </a:txBody>
                  <a:tcPr marT="0"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1"/>
                    </a:solidFill>
                  </a:tcPr>
                </a:tc>
                <a:tc>
                  <a:txBody>
                    <a:bodyPr/>
                    <a:lstStyle/>
                    <a:p>
                      <a:pPr marL="0" marR="0" lvl="0" indent="0" algn="ctr" defTabSz="914400" rtl="0" eaLnBrk="1" fontAlgn="auto" latinLnBrk="0" hangingPunct="1">
                        <a:lnSpc>
                          <a:spcPts val="1050"/>
                        </a:lnSpc>
                        <a:spcBef>
                          <a:spcPts val="0"/>
                        </a:spcBef>
                        <a:spcAft>
                          <a:spcPts val="0"/>
                        </a:spcAft>
                        <a:buClrTx/>
                        <a:buSzTx/>
                        <a:buFontTx/>
                        <a:buNone/>
                        <a:tabLst/>
                        <a:defRPr/>
                      </a:pPr>
                      <a:r>
                        <a:rPr lang="en-US" sz="1050" b="1" kern="12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II</a:t>
                      </a:r>
                    </a:p>
                  </a:txBody>
                  <a:tcPr marT="0"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1"/>
                    </a:solidFill>
                  </a:tcPr>
                </a:tc>
                <a:tc>
                  <a:txBody>
                    <a:bodyPr/>
                    <a:lstStyle/>
                    <a:p>
                      <a:pPr marL="0" marR="0" lvl="0" indent="0" algn="ctr" defTabSz="914400" rtl="0" eaLnBrk="1" fontAlgn="auto" latinLnBrk="0" hangingPunct="1">
                        <a:lnSpc>
                          <a:spcPts val="1050"/>
                        </a:lnSpc>
                        <a:spcBef>
                          <a:spcPts val="0"/>
                        </a:spcBef>
                        <a:spcAft>
                          <a:spcPts val="0"/>
                        </a:spcAft>
                        <a:buClrTx/>
                        <a:buSzTx/>
                        <a:buFontTx/>
                        <a:buNone/>
                        <a:tabLst/>
                        <a:defRPr/>
                      </a:pPr>
                      <a:r>
                        <a:rPr lang="en-US" sz="1050" b="1" kern="12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III</a:t>
                      </a:r>
                    </a:p>
                  </a:txBody>
                  <a:tcPr marT="0"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213185815"/>
                  </a:ext>
                </a:extLst>
              </a:tr>
              <a:tr h="168176">
                <a:tc>
                  <a:txBody>
                    <a:bodyPr/>
                    <a:lstStyle/>
                    <a:p>
                      <a:pPr algn="ctr">
                        <a:lnSpc>
                          <a:spcPts val="1050"/>
                        </a:lnSpc>
                      </a:pPr>
                      <a:r>
                        <a:rPr lang="en-US" sz="105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Binary Max Curvature</a:t>
                      </a:r>
                    </a:p>
                  </a:txBody>
                  <a:tcPr marT="0"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a:lnSpc>
                          <a:spcPts val="1050"/>
                        </a:lnSpc>
                      </a:pPr>
                      <a:r>
                        <a:rPr lang="en-US" sz="105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a:txBody>
                  <a:tcPr marT="0"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6"/>
                    </a:solidFill>
                  </a:tcPr>
                </a:tc>
                <a:tc>
                  <a:txBody>
                    <a:bodyPr/>
                    <a:lstStyle/>
                    <a:p>
                      <a:pPr marL="0" marR="0" lvl="0" indent="0" algn="ctr" defTabSz="914400" rtl="0" eaLnBrk="1" fontAlgn="auto" latinLnBrk="0" hangingPunct="1">
                        <a:lnSpc>
                          <a:spcPts val="1050"/>
                        </a:lnSpc>
                        <a:spcBef>
                          <a:spcPts val="0"/>
                        </a:spcBef>
                        <a:spcAft>
                          <a:spcPts val="0"/>
                        </a:spcAft>
                        <a:buClrTx/>
                        <a:buSzTx/>
                        <a:buFontTx/>
                        <a:buNone/>
                        <a:tabLst/>
                        <a:defRPr/>
                      </a:pPr>
                      <a:r>
                        <a:rPr lang="en-US" sz="105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a:txBody>
                  <a:tcPr marT="0"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6"/>
                    </a:solidFill>
                  </a:tcPr>
                </a:tc>
                <a:tc>
                  <a:txBody>
                    <a:bodyPr/>
                    <a:lstStyle/>
                    <a:p>
                      <a:pPr marL="0" marR="0" lvl="0" indent="0" algn="ctr" defTabSz="914400" rtl="0" eaLnBrk="1" fontAlgn="auto" latinLnBrk="0" hangingPunct="1">
                        <a:lnSpc>
                          <a:spcPts val="1050"/>
                        </a:lnSpc>
                        <a:spcBef>
                          <a:spcPts val="0"/>
                        </a:spcBef>
                        <a:spcAft>
                          <a:spcPts val="0"/>
                        </a:spcAft>
                        <a:buClrTx/>
                        <a:buSzTx/>
                        <a:buFontTx/>
                        <a:buNone/>
                        <a:tabLst/>
                        <a:defRPr/>
                      </a:pPr>
                      <a:r>
                        <a:rPr lang="en-US" sz="105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max</a:t>
                      </a:r>
                    </a:p>
                  </a:txBody>
                  <a:tcPr marT="0"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6"/>
                    </a:solidFill>
                  </a:tcPr>
                </a:tc>
                <a:extLst>
                  <a:ext uri="{0D108BD9-81ED-4DB2-BD59-A6C34878D82A}">
                    <a16:rowId xmlns:a16="http://schemas.microsoft.com/office/drawing/2014/main" val="1387417564"/>
                  </a:ext>
                </a:extLst>
              </a:tr>
              <a:tr h="168176">
                <a:tc>
                  <a:txBody>
                    <a:bodyPr/>
                    <a:lstStyle/>
                    <a:p>
                      <a:pPr algn="ctr">
                        <a:lnSpc>
                          <a:spcPts val="1050"/>
                        </a:lnSpc>
                      </a:pPr>
                      <a:r>
                        <a:rPr lang="en-US" sz="105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Decay to binaries?</a:t>
                      </a:r>
                    </a:p>
                  </a:txBody>
                  <a:tcPr marT="0"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a:lnSpc>
                          <a:spcPts val="1050"/>
                        </a:lnSpc>
                      </a:pPr>
                      <a:r>
                        <a:rPr lang="en-US" sz="105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a:txBody>
                  <a:tcPr marT="0"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6"/>
                    </a:solidFill>
                  </a:tcPr>
                </a:tc>
                <a:tc>
                  <a:txBody>
                    <a:bodyPr/>
                    <a:lstStyle/>
                    <a:p>
                      <a:pPr marL="0" marR="0" lvl="0" indent="0" algn="ctr" defTabSz="914400" rtl="0" eaLnBrk="1" fontAlgn="auto" latinLnBrk="0" hangingPunct="1">
                        <a:lnSpc>
                          <a:spcPts val="1050"/>
                        </a:lnSpc>
                        <a:spcBef>
                          <a:spcPts val="0"/>
                        </a:spcBef>
                        <a:spcAft>
                          <a:spcPts val="0"/>
                        </a:spcAft>
                        <a:buClrTx/>
                        <a:buSzTx/>
                        <a:buFontTx/>
                        <a:buNone/>
                        <a:tabLst/>
                        <a:defRPr/>
                      </a:pPr>
                      <a:r>
                        <a:rPr lang="en-US" sz="105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a:txBody>
                  <a:tcPr marT="0"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6"/>
                    </a:solidFill>
                  </a:tcPr>
                </a:tc>
                <a:tc>
                  <a:txBody>
                    <a:bodyPr/>
                    <a:lstStyle/>
                    <a:p>
                      <a:pPr marL="0" marR="0" lvl="0" indent="0" algn="ctr" defTabSz="914400" rtl="0" eaLnBrk="1" fontAlgn="auto" latinLnBrk="0" hangingPunct="1">
                        <a:lnSpc>
                          <a:spcPts val="1050"/>
                        </a:lnSpc>
                        <a:spcBef>
                          <a:spcPts val="0"/>
                        </a:spcBef>
                        <a:spcAft>
                          <a:spcPts val="0"/>
                        </a:spcAft>
                        <a:buClrTx/>
                        <a:buSzTx/>
                        <a:buFontTx/>
                        <a:buNone/>
                        <a:tabLst/>
                        <a:defRPr/>
                      </a:pPr>
                      <a:r>
                        <a:rPr lang="en-US" sz="105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a:txBody>
                  <a:tcPr marT="0"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6"/>
                    </a:solidFill>
                  </a:tcPr>
                </a:tc>
                <a:extLst>
                  <a:ext uri="{0D108BD9-81ED-4DB2-BD59-A6C34878D82A}">
                    <a16:rowId xmlns:a16="http://schemas.microsoft.com/office/drawing/2014/main" val="4158364645"/>
                  </a:ext>
                </a:extLst>
              </a:tr>
              <a:tr h="168176">
                <a:tc>
                  <a:txBody>
                    <a:bodyPr/>
                    <a:lstStyle/>
                    <a:p>
                      <a:pPr algn="ctr">
                        <a:lnSpc>
                          <a:spcPts val="1050"/>
                        </a:lnSpc>
                      </a:pPr>
                      <a:r>
                        <a:rPr lang="en-US" sz="105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Inside a black hole </a:t>
                      </a:r>
                    </a:p>
                  </a:txBody>
                  <a:tcPr marT="0"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a:lnSpc>
                          <a:spcPts val="1050"/>
                        </a:lnSpc>
                      </a:pPr>
                      <a:r>
                        <a:rPr lang="en-US" sz="105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&gt;@</a:t>
                      </a:r>
                    </a:p>
                  </a:txBody>
                  <a:tcPr marT="0"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6"/>
                    </a:solidFill>
                  </a:tcPr>
                </a:tc>
                <a:tc>
                  <a:txBody>
                    <a:bodyPr/>
                    <a:lstStyle/>
                    <a:p>
                      <a:pPr marL="0" marR="0" lvl="0" indent="0" algn="ctr" defTabSz="914400" rtl="0" eaLnBrk="1" fontAlgn="auto" latinLnBrk="0" hangingPunct="1">
                        <a:lnSpc>
                          <a:spcPts val="1050"/>
                        </a:lnSpc>
                        <a:spcBef>
                          <a:spcPts val="0"/>
                        </a:spcBef>
                        <a:spcAft>
                          <a:spcPts val="0"/>
                        </a:spcAft>
                        <a:buClrTx/>
                        <a:buSzTx/>
                        <a:buFontTx/>
                        <a:buNone/>
                        <a:tabLst/>
                        <a:defRPr/>
                      </a:pPr>
                      <a:r>
                        <a:rPr lang="en-US" sz="105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&gt;&gt;@</a:t>
                      </a:r>
                    </a:p>
                  </a:txBody>
                  <a:tcPr marT="0"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6"/>
                    </a:solidFill>
                  </a:tcPr>
                </a:tc>
                <a:tc>
                  <a:txBody>
                    <a:bodyPr/>
                    <a:lstStyle/>
                    <a:p>
                      <a:pPr marL="0" marR="0" lvl="0" indent="0" algn="ctr" defTabSz="914400" rtl="0" eaLnBrk="1" fontAlgn="auto" latinLnBrk="0" hangingPunct="1">
                        <a:lnSpc>
                          <a:spcPts val="1050"/>
                        </a:lnSpc>
                        <a:spcBef>
                          <a:spcPts val="0"/>
                        </a:spcBef>
                        <a:spcAft>
                          <a:spcPts val="0"/>
                        </a:spcAft>
                        <a:buClrTx/>
                        <a:buSzTx/>
                        <a:buFontTx/>
                        <a:buNone/>
                        <a:tabLst/>
                        <a:defRPr/>
                      </a:pPr>
                      <a:r>
                        <a:rPr lang="en-US" sz="105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&gt;&gt;&gt;@</a:t>
                      </a:r>
                    </a:p>
                  </a:txBody>
                  <a:tcPr marT="0"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6"/>
                    </a:solidFill>
                  </a:tcPr>
                </a:tc>
                <a:extLst>
                  <a:ext uri="{0D108BD9-81ED-4DB2-BD59-A6C34878D82A}">
                    <a16:rowId xmlns:a16="http://schemas.microsoft.com/office/drawing/2014/main" val="1771413015"/>
                  </a:ext>
                </a:extLst>
              </a:tr>
              <a:tr h="168176">
                <a:tc>
                  <a:txBody>
                    <a:bodyPr/>
                    <a:lstStyle/>
                    <a:p>
                      <a:pPr marL="0" marR="0" lvl="0" indent="0" algn="ctr" defTabSz="914400" rtl="0" eaLnBrk="1" fontAlgn="auto" latinLnBrk="0" hangingPunct="1">
                        <a:lnSpc>
                          <a:spcPts val="1050"/>
                        </a:lnSpc>
                        <a:spcBef>
                          <a:spcPts val="0"/>
                        </a:spcBef>
                        <a:spcAft>
                          <a:spcPts val="0"/>
                        </a:spcAft>
                        <a:buClrTx/>
                        <a:buSzTx/>
                        <a:buFontTx/>
                        <a:buNone/>
                        <a:tabLst/>
                        <a:defRPr/>
                      </a:pPr>
                      <a:r>
                        <a:rPr lang="en-US" sz="105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Spacetime assemblies</a:t>
                      </a:r>
                    </a:p>
                  </a:txBody>
                  <a:tcPr marT="0"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a:lnSpc>
                          <a:spcPts val="1050"/>
                        </a:lnSpc>
                      </a:pPr>
                      <a:r>
                        <a:rPr lang="en-US" sz="105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a:txBody>
                  <a:tcPr marT="0"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6"/>
                    </a:solidFill>
                  </a:tcPr>
                </a:tc>
                <a:tc>
                  <a:txBody>
                    <a:bodyPr/>
                    <a:lstStyle/>
                    <a:p>
                      <a:pPr marL="0" marR="0" lvl="0" indent="0" algn="ctr" defTabSz="914400" rtl="0" eaLnBrk="1" fontAlgn="auto" latinLnBrk="0" hangingPunct="1">
                        <a:lnSpc>
                          <a:spcPts val="1050"/>
                        </a:lnSpc>
                        <a:spcBef>
                          <a:spcPts val="0"/>
                        </a:spcBef>
                        <a:spcAft>
                          <a:spcPts val="0"/>
                        </a:spcAft>
                        <a:buClrTx/>
                        <a:buSzTx/>
                        <a:buFontTx/>
                        <a:buNone/>
                        <a:tabLst/>
                        <a:defRPr/>
                      </a:pPr>
                      <a:r>
                        <a:rPr lang="en-US" sz="105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&gt;@</a:t>
                      </a:r>
                    </a:p>
                  </a:txBody>
                  <a:tcPr marT="0"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6"/>
                    </a:solidFill>
                  </a:tcPr>
                </a:tc>
                <a:tc>
                  <a:txBody>
                    <a:bodyPr/>
                    <a:lstStyle/>
                    <a:p>
                      <a:pPr marL="0" marR="0" lvl="0" indent="0" algn="ctr" defTabSz="914400" rtl="0" eaLnBrk="1" fontAlgn="auto" latinLnBrk="0" hangingPunct="1">
                        <a:lnSpc>
                          <a:spcPts val="1050"/>
                        </a:lnSpc>
                        <a:spcBef>
                          <a:spcPts val="0"/>
                        </a:spcBef>
                        <a:spcAft>
                          <a:spcPts val="0"/>
                        </a:spcAft>
                        <a:buClrTx/>
                        <a:buSzTx/>
                        <a:buFontTx/>
                        <a:buNone/>
                        <a:tabLst/>
                        <a:defRPr/>
                      </a:pPr>
                      <a:r>
                        <a:rPr lang="en-US" sz="105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&gt;&gt;@</a:t>
                      </a:r>
                    </a:p>
                  </a:txBody>
                  <a:tcPr marT="0"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6"/>
                    </a:solidFill>
                  </a:tcPr>
                </a:tc>
                <a:extLst>
                  <a:ext uri="{0D108BD9-81ED-4DB2-BD59-A6C34878D82A}">
                    <a16:rowId xmlns:a16="http://schemas.microsoft.com/office/drawing/2014/main" val="2761707017"/>
                  </a:ext>
                </a:extLst>
              </a:tr>
              <a:tr h="168176">
                <a:tc>
                  <a:txBody>
                    <a:bodyPr/>
                    <a:lstStyle/>
                    <a:p>
                      <a:pPr marL="0" marR="0" lvl="0" indent="0" algn="ctr" defTabSz="914400" rtl="0" eaLnBrk="1" fontAlgn="auto" latinLnBrk="0" hangingPunct="1">
                        <a:lnSpc>
                          <a:spcPts val="1050"/>
                        </a:lnSpc>
                        <a:spcBef>
                          <a:spcPts val="0"/>
                        </a:spcBef>
                        <a:spcAft>
                          <a:spcPts val="0"/>
                        </a:spcAft>
                        <a:buClrTx/>
                        <a:buSzTx/>
                        <a:buFontTx/>
                        <a:buNone/>
                        <a:tabLst/>
                        <a:defRPr/>
                      </a:pPr>
                      <a:r>
                        <a:rPr lang="en-US" sz="105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a:txBody>
                  <a:tcPr marT="0"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a:lnSpc>
                          <a:spcPts val="1050"/>
                        </a:lnSpc>
                      </a:pPr>
                      <a:r>
                        <a:rPr lang="en-US" sz="105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&lt;@</a:t>
                      </a:r>
                    </a:p>
                  </a:txBody>
                  <a:tcPr marT="0"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6"/>
                    </a:solidFill>
                  </a:tcPr>
                </a:tc>
                <a:tc>
                  <a:txBody>
                    <a:bodyPr/>
                    <a:lstStyle/>
                    <a:p>
                      <a:pPr algn="ctr">
                        <a:lnSpc>
                          <a:spcPts val="1050"/>
                        </a:lnSpc>
                      </a:pPr>
                      <a:r>
                        <a:rPr lang="en-US" sz="105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&gt;@</a:t>
                      </a:r>
                    </a:p>
                  </a:txBody>
                  <a:tcPr marT="0"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6"/>
                    </a:solidFill>
                  </a:tcPr>
                </a:tc>
                <a:tc>
                  <a:txBody>
                    <a:bodyPr/>
                    <a:lstStyle/>
                    <a:p>
                      <a:pPr algn="ctr">
                        <a:lnSpc>
                          <a:spcPts val="1050"/>
                        </a:lnSpc>
                      </a:pPr>
                      <a:r>
                        <a:rPr lang="en-US" sz="105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&gt;&gt;@</a:t>
                      </a:r>
                    </a:p>
                  </a:txBody>
                  <a:tcPr marT="0"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6"/>
                    </a:solidFill>
                  </a:tcPr>
                </a:tc>
                <a:extLst>
                  <a:ext uri="{0D108BD9-81ED-4DB2-BD59-A6C34878D82A}">
                    <a16:rowId xmlns:a16="http://schemas.microsoft.com/office/drawing/2014/main" val="2344517578"/>
                  </a:ext>
                </a:extLst>
              </a:tr>
              <a:tr h="168176">
                <a:tc>
                  <a:txBody>
                    <a:bodyPr/>
                    <a:lstStyle/>
                    <a:p>
                      <a:pPr algn="ctr">
                        <a:lnSpc>
                          <a:spcPts val="1050"/>
                        </a:lnSpc>
                      </a:pPr>
                      <a:r>
                        <a:rPr lang="en-US" sz="105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Typical Gen I fermion?</a:t>
                      </a:r>
                    </a:p>
                  </a:txBody>
                  <a:tcPr marT="0"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a:lnSpc>
                          <a:spcPts val="1050"/>
                        </a:lnSpc>
                      </a:pPr>
                      <a:r>
                        <a:rPr lang="en-US" sz="105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&lt;@</a:t>
                      </a:r>
                    </a:p>
                  </a:txBody>
                  <a:tcPr marT="0"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6"/>
                    </a:solidFill>
                  </a:tcPr>
                </a:tc>
                <a:tc>
                  <a:txBody>
                    <a:bodyPr/>
                    <a:lstStyle/>
                    <a:p>
                      <a:pPr algn="ctr">
                        <a:lnSpc>
                          <a:spcPts val="1050"/>
                        </a:lnSpc>
                      </a:pPr>
                      <a:r>
                        <a:rPr lang="en-US" sz="105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a:txBody>
                  <a:tcPr marT="0"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6"/>
                    </a:solidFill>
                  </a:tcPr>
                </a:tc>
                <a:tc>
                  <a:txBody>
                    <a:bodyPr/>
                    <a:lstStyle/>
                    <a:p>
                      <a:pPr algn="ctr">
                        <a:lnSpc>
                          <a:spcPts val="1050"/>
                        </a:lnSpc>
                      </a:pPr>
                      <a:r>
                        <a:rPr lang="en-US" sz="105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&gt;@</a:t>
                      </a:r>
                    </a:p>
                  </a:txBody>
                  <a:tcPr marT="0"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6"/>
                    </a:solidFill>
                  </a:tcPr>
                </a:tc>
                <a:extLst>
                  <a:ext uri="{0D108BD9-81ED-4DB2-BD59-A6C34878D82A}">
                    <a16:rowId xmlns:a16="http://schemas.microsoft.com/office/drawing/2014/main" val="3200329389"/>
                  </a:ext>
                </a:extLst>
              </a:tr>
              <a:tr h="168176">
                <a:tc>
                  <a:txBody>
                    <a:bodyPr/>
                    <a:lstStyle/>
                    <a:p>
                      <a:pPr algn="ctr">
                        <a:lnSpc>
                          <a:spcPts val="1050"/>
                        </a:lnSpc>
                      </a:pPr>
                      <a:r>
                        <a:rPr lang="en-US" sz="105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a:txBody>
                  <a:tcPr marT="0"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a:lnSpc>
                          <a:spcPts val="1050"/>
                        </a:lnSpc>
                      </a:pPr>
                      <a:r>
                        <a:rPr lang="en-US" sz="105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&lt;&lt;@</a:t>
                      </a:r>
                    </a:p>
                  </a:txBody>
                  <a:tcPr marT="0"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6"/>
                    </a:solidFill>
                  </a:tcPr>
                </a:tc>
                <a:tc>
                  <a:txBody>
                    <a:bodyPr/>
                    <a:lstStyle/>
                    <a:p>
                      <a:pPr algn="ctr">
                        <a:lnSpc>
                          <a:spcPts val="1050"/>
                        </a:lnSpc>
                      </a:pPr>
                      <a:r>
                        <a:rPr lang="en-US" sz="105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&lt;@</a:t>
                      </a:r>
                    </a:p>
                  </a:txBody>
                  <a:tcPr marT="0"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6"/>
                    </a:solidFill>
                  </a:tcPr>
                </a:tc>
                <a:tc>
                  <a:txBody>
                    <a:bodyPr/>
                    <a:lstStyle/>
                    <a:p>
                      <a:pPr algn="ctr">
                        <a:lnSpc>
                          <a:spcPts val="1050"/>
                        </a:lnSpc>
                      </a:pPr>
                      <a:r>
                        <a:rPr lang="en-US" sz="105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&gt;@</a:t>
                      </a:r>
                    </a:p>
                  </a:txBody>
                  <a:tcPr marT="0"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6"/>
                    </a:solidFill>
                  </a:tcPr>
                </a:tc>
                <a:extLst>
                  <a:ext uri="{0D108BD9-81ED-4DB2-BD59-A6C34878D82A}">
                    <a16:rowId xmlns:a16="http://schemas.microsoft.com/office/drawing/2014/main" val="1584133917"/>
                  </a:ext>
                </a:extLst>
              </a:tr>
              <a:tr h="168176">
                <a:tc>
                  <a:txBody>
                    <a:bodyPr/>
                    <a:lstStyle/>
                    <a:p>
                      <a:pPr algn="ctr">
                        <a:lnSpc>
                          <a:spcPts val="1050"/>
                        </a:lnSpc>
                      </a:pPr>
                      <a:r>
                        <a:rPr lang="en-US" sz="105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a:txBody>
                  <a:tcPr marT="0"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a:lnSpc>
                          <a:spcPts val="1050"/>
                        </a:lnSpc>
                      </a:pPr>
                      <a:r>
                        <a:rPr lang="en-US" sz="105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&lt;&lt;@</a:t>
                      </a:r>
                    </a:p>
                  </a:txBody>
                  <a:tcPr marT="0"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6"/>
                    </a:solidFill>
                  </a:tcPr>
                </a:tc>
                <a:tc>
                  <a:txBody>
                    <a:bodyPr/>
                    <a:lstStyle/>
                    <a:p>
                      <a:pPr algn="ctr">
                        <a:lnSpc>
                          <a:spcPts val="1050"/>
                        </a:lnSpc>
                      </a:pPr>
                      <a:r>
                        <a:rPr lang="en-US" sz="105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&lt;@</a:t>
                      </a:r>
                    </a:p>
                  </a:txBody>
                  <a:tcPr marT="0"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6"/>
                    </a:solidFill>
                  </a:tcPr>
                </a:tc>
                <a:tc>
                  <a:txBody>
                    <a:bodyPr/>
                    <a:lstStyle/>
                    <a:p>
                      <a:pPr algn="ctr">
                        <a:lnSpc>
                          <a:spcPts val="1050"/>
                        </a:lnSpc>
                      </a:pPr>
                      <a:r>
                        <a:rPr lang="en-US" sz="105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a:txBody>
                  <a:tcPr marT="0"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6"/>
                    </a:solidFill>
                  </a:tcPr>
                </a:tc>
                <a:extLst>
                  <a:ext uri="{0D108BD9-81ED-4DB2-BD59-A6C34878D82A}">
                    <a16:rowId xmlns:a16="http://schemas.microsoft.com/office/drawing/2014/main" val="3703702214"/>
                  </a:ext>
                </a:extLst>
              </a:tr>
              <a:tr h="168176">
                <a:tc>
                  <a:txBody>
                    <a:bodyPr/>
                    <a:lstStyle/>
                    <a:p>
                      <a:pPr algn="ctr">
                        <a:lnSpc>
                          <a:spcPts val="1050"/>
                        </a:lnSpc>
                      </a:pPr>
                      <a:r>
                        <a:rPr lang="en-US" sz="105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a:txBody>
                  <a:tcPr marT="0"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2"/>
                    </a:solidFill>
                  </a:tcPr>
                </a:tc>
                <a:tc>
                  <a:txBody>
                    <a:bodyPr/>
                    <a:lstStyle/>
                    <a:p>
                      <a:pPr algn="ctr">
                        <a:lnSpc>
                          <a:spcPts val="1050"/>
                        </a:lnSpc>
                      </a:pPr>
                      <a:r>
                        <a:rPr lang="en-US" sz="105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&lt;&lt;&lt;@</a:t>
                      </a:r>
                    </a:p>
                  </a:txBody>
                  <a:tcPr marT="0"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6"/>
                    </a:solidFill>
                  </a:tcPr>
                </a:tc>
                <a:tc>
                  <a:txBody>
                    <a:bodyPr/>
                    <a:lstStyle/>
                    <a:p>
                      <a:pPr algn="ctr">
                        <a:lnSpc>
                          <a:spcPts val="1050"/>
                        </a:lnSpc>
                      </a:pPr>
                      <a:r>
                        <a:rPr lang="en-US" sz="105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&lt;&lt;@</a:t>
                      </a:r>
                    </a:p>
                  </a:txBody>
                  <a:tcPr marT="0"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6"/>
                    </a:solidFill>
                  </a:tcPr>
                </a:tc>
                <a:tc>
                  <a:txBody>
                    <a:bodyPr/>
                    <a:lstStyle/>
                    <a:p>
                      <a:pPr algn="ctr">
                        <a:lnSpc>
                          <a:spcPts val="1050"/>
                        </a:lnSpc>
                      </a:pPr>
                      <a:r>
                        <a:rPr lang="en-US" sz="105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&lt;@</a:t>
                      </a:r>
                    </a:p>
                  </a:txBody>
                  <a:tcPr marT="0"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6"/>
                    </a:solidFill>
                  </a:tcPr>
                </a:tc>
                <a:extLst>
                  <a:ext uri="{0D108BD9-81ED-4DB2-BD59-A6C34878D82A}">
                    <a16:rowId xmlns:a16="http://schemas.microsoft.com/office/drawing/2014/main" val="493253458"/>
                  </a:ext>
                </a:extLst>
              </a:tr>
            </a:tbl>
          </a:graphicData>
        </a:graphic>
      </p:graphicFrame>
    </p:spTree>
    <p:extLst>
      <p:ext uri="{BB962C8B-B14F-4D97-AF65-F5344CB8AC3E}">
        <p14:creationId xmlns:p14="http://schemas.microsoft.com/office/powerpoint/2010/main" val="9887544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path" presetSubtype="0" repeatCount="indefinite" fill="hold" grpId="0" nodeType="clickEffect">
                                  <p:stCondLst>
                                    <p:cond delay="0"/>
                                  </p:stCondLst>
                                  <p:endCondLst>
                                    <p:cond evt="onNext" delay="0">
                                      <p:tgtEl>
                                        <p:sldTgt/>
                                      </p:tgtEl>
                                    </p:cond>
                                  </p:endCondLst>
                                  <p:childTnLst>
                                    <p:animMotion origin="layout" path="M 0.19622 0.14097 C 0.25247 0.29514 0.26302 0.45972 0.22018 0.50949 C 0.17695 0.55856 0.09661 0.4743 0.04049 0.32176 C -0.0155 0.16805 -0.02553 0.00347 0.01692 -0.04653 C 0.06028 -0.0963 0.14036 -0.01181 0.19622 0.14097 Z " pathEditMode="relative" rAng="3420000" ptsTypes="AAAAA">
                                      <p:cBhvr>
                                        <p:cTn id="6" dur="2000" fill="hold"/>
                                        <p:tgtEl>
                                          <p:spTgt spid="11"/>
                                        </p:tgtEl>
                                        <p:attrNameLst>
                                          <p:attrName>ppt_x</p:attrName>
                                          <p:attrName>ppt_y</p:attrName>
                                        </p:attrNameLst>
                                      </p:cBhvr>
                                      <p:rCtr x="-7786" y="9051"/>
                                    </p:animMotion>
                                  </p:childTnLst>
                                </p:cTn>
                              </p:par>
                              <p:par>
                                <p:cTn id="7" presetID="1" presetClass="path" presetSubtype="0" repeatCount="indefinite" fill="hold" grpId="0" nodeType="withEffect">
                                  <p:stCondLst>
                                    <p:cond delay="1000"/>
                                  </p:stCondLst>
                                  <p:endCondLst>
                                    <p:cond evt="onNext" delay="0">
                                      <p:tgtEl>
                                        <p:sldTgt/>
                                      </p:tgtEl>
                                    </p:cond>
                                  </p:endCondLst>
                                  <p:childTnLst>
                                    <p:animMotion origin="layout" path="M -0.04545 -0.30255 C 0.00507 -0.14653 0.00911 0.01805 -0.03685 0.0662 C -0.08282 0.11342 -0.16172 0.02407 -0.21224 -0.13172 C -0.26289 -0.2875 -0.2668 -0.45324 -0.22071 -0.50047 C -0.17461 -0.54746 -0.09623 -0.45926 -0.04545 -0.30255 Z " pathEditMode="relative" rAng="3600000" ptsTypes="AAAAA">
                                      <p:cBhvr>
                                        <p:cTn id="8" dur="2000" fill="hold"/>
                                        <p:tgtEl>
                                          <p:spTgt spid="9"/>
                                        </p:tgtEl>
                                        <p:attrNameLst>
                                          <p:attrName>ppt_x</p:attrName>
                                          <p:attrName>ppt_y</p:attrName>
                                        </p:attrNameLst>
                                      </p:cBhvr>
                                      <p:rCtr x="-8333" y="8542"/>
                                    </p:animMotion>
                                  </p:childTnLst>
                                </p:cTn>
                              </p:par>
                              <p:par>
                                <p:cTn id="9" presetID="1" presetClass="path" presetSubtype="0" repeatCount="indefinite" fill="hold" grpId="0" nodeType="withEffect">
                                  <p:stCondLst>
                                    <p:cond delay="0"/>
                                  </p:stCondLst>
                                  <p:endCondLst>
                                    <p:cond evt="onNext" delay="0">
                                      <p:tgtEl>
                                        <p:sldTgt/>
                                      </p:tgtEl>
                                    </p:cond>
                                  </p:endCondLst>
                                  <p:childTnLst>
                                    <p:animMotion origin="layout" path="M -0.46028 -0.33727 C -0.2056 -0.33727 0.00104 -0.18102 0.00104 0.01204 C 0.00104 0.2044 -0.2056 0.36134 -0.46028 0.36134 C -0.71497 0.36134 -0.92148 0.2044 -0.92148 0.01204 C -0.92148 -0.18102 -0.71497 -0.33727 -0.46028 -0.33727 Z " pathEditMode="relative" rAng="0" ptsTypes="AAAAA">
                                      <p:cBhvr>
                                        <p:cTn id="10" dur="5000" fill="hold"/>
                                        <p:tgtEl>
                                          <p:spTgt spid="8"/>
                                        </p:tgtEl>
                                        <p:attrNameLst>
                                          <p:attrName>ppt_x</p:attrName>
                                          <p:attrName>ppt_y</p:attrName>
                                        </p:attrNameLst>
                                      </p:cBhvr>
                                      <p:rCtr x="0" y="34931"/>
                                    </p:animMotion>
                                  </p:childTnLst>
                                </p:cTn>
                              </p:par>
                              <p:par>
                                <p:cTn id="11" presetID="1" presetClass="path" presetSubtype="0" repeatCount="indefinite" fill="hold" grpId="0" nodeType="withEffect">
                                  <p:stCondLst>
                                    <p:cond delay="2500"/>
                                  </p:stCondLst>
                                  <p:endCondLst>
                                    <p:cond evt="onNext" delay="0">
                                      <p:tgtEl>
                                        <p:sldTgt/>
                                      </p:tgtEl>
                                    </p:cond>
                                  </p:endCondLst>
                                  <p:childTnLst>
                                    <p:animMotion origin="layout" path="M 0.46419 -0.34931 C 0.71888 -0.34931 0.92526 -0.19306 0.92526 -3.7037E-7 C 0.92526 0.19236 0.71888 0.34931 0.46419 0.34931 C 0.20937 0.34931 0.00273 0.19236 0.00273 -3.7037E-7 C 0.00273 -0.19306 0.20937 -0.34931 0.46419 -0.34931 Z " pathEditMode="relative" rAng="0" ptsTypes="AAAAA">
                                      <p:cBhvr>
                                        <p:cTn id="12" dur="5000" fill="hold"/>
                                        <p:tgtEl>
                                          <p:spTgt spid="7"/>
                                        </p:tgtEl>
                                        <p:attrNameLst>
                                          <p:attrName>ppt_x</p:attrName>
                                          <p:attrName>ppt_y</p:attrName>
                                        </p:attrNameLst>
                                      </p:cBhvr>
                                      <p:rCtr x="-26" y="34931"/>
                                    </p:animMotion>
                                  </p:childTnLst>
                                </p:cTn>
                              </p:par>
                              <p:par>
                                <p:cTn id="13" presetID="1" presetClass="path" presetSubtype="0" repeatCount="indefinite" fill="hold" grpId="0" nodeType="withEffect">
                                  <p:stCondLst>
                                    <p:cond delay="0"/>
                                  </p:stCondLst>
                                  <p:endCondLst>
                                    <p:cond evt="onNext" delay="0">
                                      <p:tgtEl>
                                        <p:sldTgt/>
                                      </p:tgtEl>
                                    </p:cond>
                                  </p:endCondLst>
                                  <p:childTnLst>
                                    <p:animMotion origin="layout" path="M 0.00443 1.85185E-6 C 0.01654 0.01296 0.0099 0.07245 -0.01068 0.13333 C -0.03073 0.19329 -0.05716 0.23125 -0.06901 0.21852 C -0.08151 0.20532 -0.07448 0.14653 -0.05443 0.08657 C -0.03385 0.02569 -0.00755 -0.01296 0.00443 1.85185E-6 Z " pathEditMode="relative" rAng="1860000" ptsTypes="AAAAA">
                                      <p:cBhvr>
                                        <p:cTn id="14" dur="1000" fill="hold"/>
                                        <p:tgtEl>
                                          <p:spTgt spid="6"/>
                                        </p:tgtEl>
                                        <p:attrNameLst>
                                          <p:attrName>ppt_x</p:attrName>
                                          <p:attrName>ppt_y</p:attrName>
                                        </p:attrNameLst>
                                      </p:cBhvr>
                                      <p:rCtr x="-3672" y="10926"/>
                                    </p:animMotion>
                                  </p:childTnLst>
                                </p:cTn>
                              </p:par>
                              <p:par>
                                <p:cTn id="15" presetID="1" presetClass="path" presetSubtype="0" repeatCount="indefinite" fill="hold" grpId="0" nodeType="withEffect">
                                  <p:stCondLst>
                                    <p:cond delay="500"/>
                                  </p:stCondLst>
                                  <p:endCondLst>
                                    <p:cond evt="onNext" delay="0">
                                      <p:tgtEl>
                                        <p:sldTgt/>
                                      </p:tgtEl>
                                    </p:cond>
                                  </p:endCondLst>
                                  <p:childTnLst>
                                    <p:animMotion origin="layout" path="M 0.07266 -0.21806 C 0.08477 -0.2051 0.07813 -0.14561 0.05755 -0.08473 C 0.0375 -0.02477 0.01107 0.01319 -0.00078 0.00046 C -0.01328 -0.01273 -0.00625 -0.07153 0.0138 -0.13148 C 0.03438 -0.19236 0.06068 -0.23102 0.07266 -0.21806 Z " pathEditMode="relative" rAng="1860000" ptsTypes="AAAAA">
                                      <p:cBhvr>
                                        <p:cTn id="16" dur="1000" fill="hold"/>
                                        <p:tgtEl>
                                          <p:spTgt spid="4"/>
                                        </p:tgtEl>
                                        <p:attrNameLst>
                                          <p:attrName>ppt_x</p:attrName>
                                          <p:attrName>ppt_y</p:attrName>
                                        </p:attrNameLst>
                                      </p:cBhvr>
                                      <p:rCtr x="-3672" y="10926"/>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animBg="1"/>
      <p:bldP spid="8" grpId="0" animBg="1"/>
      <p:bldP spid="9" grpId="0" animBg="1"/>
      <p:bldP spid="11"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p:cNvGrpSpPr/>
        <p:nvPr/>
      </p:nvGrpSpPr>
      <p:grpSpPr>
        <a:xfrm>
          <a:off x="0" y="0"/>
          <a:ext cx="0" cy="0"/>
          <a:chOff x="0" y="0"/>
          <a:chExt cx="0" cy="0"/>
        </a:xfrm>
      </p:grpSpPr>
      <p:sp>
        <p:nvSpPr>
          <p:cNvPr id="11" name="Footer Placeholder 3">
            <a:extLst>
              <a:ext uri="{FF2B5EF4-FFF2-40B4-BE49-F238E27FC236}">
                <a16:creationId xmlns:a16="http://schemas.microsoft.com/office/drawing/2014/main" id="{7C94C084-4476-0C4E-B896-CB3AC89A47F6}"/>
              </a:ext>
            </a:extLst>
          </p:cNvPr>
          <p:cNvSpPr txBox="1">
            <a:spLocks/>
          </p:cNvSpPr>
          <p:nvPr/>
        </p:nvSpPr>
        <p:spPr>
          <a:xfrm>
            <a:off x="11030928" y="6510522"/>
            <a:ext cx="1142262"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Helvetica Neue" panose="02000503000000020004" pitchFamily="2" charset="0"/>
                <a:ea typeface="Helvetica Neue" panose="02000503000000020004" pitchFamily="2" charset="0"/>
                <a:cs typeface="Helvetica Neue" panose="02000503000000020004" pitchFamily="2" charset="0"/>
              </a:rPr>
              <a:t>J Mark Morris</a:t>
            </a:r>
          </a:p>
        </p:txBody>
      </p:sp>
      <p:sp>
        <p:nvSpPr>
          <p:cNvPr id="10" name="Oval 9">
            <a:extLst>
              <a:ext uri="{FF2B5EF4-FFF2-40B4-BE49-F238E27FC236}">
                <a16:creationId xmlns:a16="http://schemas.microsoft.com/office/drawing/2014/main" id="{A28AE859-403F-BD43-BEB1-545EB8E1977A}"/>
              </a:ext>
            </a:extLst>
          </p:cNvPr>
          <p:cNvSpPr/>
          <p:nvPr/>
        </p:nvSpPr>
        <p:spPr>
          <a:xfrm rot="7985264">
            <a:off x="1327954" y="1643877"/>
            <a:ext cx="1433317" cy="3809334"/>
          </a:xfrm>
          <a:prstGeom prst="ellipse">
            <a:avLst/>
          </a:prstGeom>
          <a:solidFill>
            <a:srgbClr val="C00000">
              <a:alpha val="50000"/>
            </a:srgbClr>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Oval 1">
            <a:extLst>
              <a:ext uri="{FF2B5EF4-FFF2-40B4-BE49-F238E27FC236}">
                <a16:creationId xmlns:a16="http://schemas.microsoft.com/office/drawing/2014/main" id="{F045F514-228E-6742-A307-C1B3A472F030}"/>
              </a:ext>
            </a:extLst>
          </p:cNvPr>
          <p:cNvSpPr/>
          <p:nvPr/>
        </p:nvSpPr>
        <p:spPr>
          <a:xfrm rot="3436369">
            <a:off x="1718784" y="2930802"/>
            <a:ext cx="691753" cy="1215494"/>
          </a:xfrm>
          <a:prstGeom prst="ellipse">
            <a:avLst/>
          </a:prstGeom>
          <a:solidFill>
            <a:srgbClr val="0070C0">
              <a:alpha val="50000"/>
            </a:srgbClr>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2" name="Oval 11">
            <a:extLst>
              <a:ext uri="{FF2B5EF4-FFF2-40B4-BE49-F238E27FC236}">
                <a16:creationId xmlns:a16="http://schemas.microsoft.com/office/drawing/2014/main" id="{B0F006D8-9498-264F-A24A-B468200FD3C3}"/>
              </a:ext>
            </a:extLst>
          </p:cNvPr>
          <p:cNvSpPr/>
          <p:nvPr/>
        </p:nvSpPr>
        <p:spPr>
          <a:xfrm rot="5400000">
            <a:off x="1951301" y="3257365"/>
            <a:ext cx="237067" cy="621220"/>
          </a:xfrm>
          <a:prstGeom prst="ellipse">
            <a:avLst/>
          </a:prstGeom>
          <a:solidFill>
            <a:srgbClr val="00B050">
              <a:alpha val="50000"/>
            </a:srgbClr>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cxnSp>
        <p:nvCxnSpPr>
          <p:cNvPr id="20" name="Straight Arrow Connector 19">
            <a:extLst>
              <a:ext uri="{FF2B5EF4-FFF2-40B4-BE49-F238E27FC236}">
                <a16:creationId xmlns:a16="http://schemas.microsoft.com/office/drawing/2014/main" id="{770F7325-8AD4-4F43-9113-4C17EE9953C7}"/>
              </a:ext>
            </a:extLst>
          </p:cNvPr>
          <p:cNvCxnSpPr>
            <a:cxnSpLocks/>
          </p:cNvCxnSpPr>
          <p:nvPr/>
        </p:nvCxnSpPr>
        <p:spPr>
          <a:xfrm flipH="1" flipV="1">
            <a:off x="661250" y="1756559"/>
            <a:ext cx="1408584" cy="1791985"/>
          </a:xfrm>
          <a:prstGeom prst="straightConnector1">
            <a:avLst/>
          </a:prstGeom>
          <a:ln w="5715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F2E31AF9-56E3-BC46-AFA6-42EFB601E7D5}"/>
              </a:ext>
            </a:extLst>
          </p:cNvPr>
          <p:cNvCxnSpPr>
            <a:cxnSpLocks/>
          </p:cNvCxnSpPr>
          <p:nvPr/>
        </p:nvCxnSpPr>
        <p:spPr>
          <a:xfrm flipV="1">
            <a:off x="2044612" y="2758475"/>
            <a:ext cx="761698" cy="809500"/>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2" name="Oval 21">
            <a:extLst>
              <a:ext uri="{FF2B5EF4-FFF2-40B4-BE49-F238E27FC236}">
                <a16:creationId xmlns:a16="http://schemas.microsoft.com/office/drawing/2014/main" id="{E62C9C09-0DBC-9A42-9B8C-BF043D3B6C37}"/>
              </a:ext>
            </a:extLst>
          </p:cNvPr>
          <p:cNvSpPr/>
          <p:nvPr/>
        </p:nvSpPr>
        <p:spPr>
          <a:xfrm>
            <a:off x="2034909" y="3529685"/>
            <a:ext cx="57150" cy="5715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7" name="Oval 26">
            <a:extLst>
              <a:ext uri="{FF2B5EF4-FFF2-40B4-BE49-F238E27FC236}">
                <a16:creationId xmlns:a16="http://schemas.microsoft.com/office/drawing/2014/main" id="{DFCB96DE-856C-AE43-8844-A6E08EFF5D3E}"/>
              </a:ext>
            </a:extLst>
          </p:cNvPr>
          <p:cNvSpPr>
            <a:spLocks noChangeAspect="1"/>
          </p:cNvSpPr>
          <p:nvPr/>
        </p:nvSpPr>
        <p:spPr>
          <a:xfrm flipH="1">
            <a:off x="1466885" y="3577408"/>
            <a:ext cx="154079" cy="154079"/>
          </a:xfrm>
          <a:prstGeom prst="ellipse">
            <a:avLst/>
          </a:prstGeom>
          <a:solidFill>
            <a:srgbClr val="0070C0"/>
          </a:solidFill>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28" name="Oval 27">
            <a:extLst>
              <a:ext uri="{FF2B5EF4-FFF2-40B4-BE49-F238E27FC236}">
                <a16:creationId xmlns:a16="http://schemas.microsoft.com/office/drawing/2014/main" id="{659A54D7-98B8-264E-9B65-96A3F96F0199}"/>
              </a:ext>
            </a:extLst>
          </p:cNvPr>
          <p:cNvSpPr>
            <a:spLocks noChangeAspect="1"/>
          </p:cNvSpPr>
          <p:nvPr/>
        </p:nvSpPr>
        <p:spPr>
          <a:xfrm flipH="1">
            <a:off x="2173705" y="3560654"/>
            <a:ext cx="154079" cy="154079"/>
          </a:xfrm>
          <a:prstGeom prst="ellipse">
            <a:avLst/>
          </a:prstGeom>
          <a:solidFill>
            <a:srgbClr val="FF0000"/>
          </a:solidFill>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29" name="Oval 28">
            <a:extLst>
              <a:ext uri="{FF2B5EF4-FFF2-40B4-BE49-F238E27FC236}">
                <a16:creationId xmlns:a16="http://schemas.microsoft.com/office/drawing/2014/main" id="{B0B2E478-2356-F24B-A732-ADA817687CF2}"/>
              </a:ext>
            </a:extLst>
          </p:cNvPr>
          <p:cNvSpPr>
            <a:spLocks noChangeAspect="1"/>
          </p:cNvSpPr>
          <p:nvPr/>
        </p:nvSpPr>
        <p:spPr>
          <a:xfrm flipH="1">
            <a:off x="3448066" y="4482900"/>
            <a:ext cx="154079" cy="154079"/>
          </a:xfrm>
          <a:prstGeom prst="ellipse">
            <a:avLst/>
          </a:prstGeom>
          <a:solidFill>
            <a:srgbClr val="0070C0"/>
          </a:solidFill>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30" name="Oval 29">
            <a:extLst>
              <a:ext uri="{FF2B5EF4-FFF2-40B4-BE49-F238E27FC236}">
                <a16:creationId xmlns:a16="http://schemas.microsoft.com/office/drawing/2014/main" id="{E1A14FE8-9B9C-EF42-8DE1-3124EA21ED1B}"/>
              </a:ext>
            </a:extLst>
          </p:cNvPr>
          <p:cNvSpPr>
            <a:spLocks noChangeAspect="1"/>
          </p:cNvSpPr>
          <p:nvPr/>
        </p:nvSpPr>
        <p:spPr>
          <a:xfrm flipH="1">
            <a:off x="492687" y="2457349"/>
            <a:ext cx="154079" cy="154079"/>
          </a:xfrm>
          <a:prstGeom prst="ellipse">
            <a:avLst/>
          </a:prstGeom>
          <a:solidFill>
            <a:srgbClr val="FF0000"/>
          </a:solidFill>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31" name="Oval 30">
            <a:extLst>
              <a:ext uri="{FF2B5EF4-FFF2-40B4-BE49-F238E27FC236}">
                <a16:creationId xmlns:a16="http://schemas.microsoft.com/office/drawing/2014/main" id="{38A258A4-ED66-4F46-88B4-8430D9301022}"/>
              </a:ext>
            </a:extLst>
          </p:cNvPr>
          <p:cNvSpPr>
            <a:spLocks noChangeAspect="1"/>
          </p:cNvSpPr>
          <p:nvPr/>
        </p:nvSpPr>
        <p:spPr>
          <a:xfrm flipH="1">
            <a:off x="1771178" y="3402077"/>
            <a:ext cx="154079" cy="154079"/>
          </a:xfrm>
          <a:prstGeom prst="ellipse">
            <a:avLst/>
          </a:prstGeom>
          <a:solidFill>
            <a:srgbClr val="0070C0"/>
          </a:solidFill>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32" name="Oval 31">
            <a:extLst>
              <a:ext uri="{FF2B5EF4-FFF2-40B4-BE49-F238E27FC236}">
                <a16:creationId xmlns:a16="http://schemas.microsoft.com/office/drawing/2014/main" id="{9524279B-E4E3-1B42-917A-FCF7BB324C88}"/>
              </a:ext>
            </a:extLst>
          </p:cNvPr>
          <p:cNvSpPr>
            <a:spLocks noChangeAspect="1"/>
          </p:cNvSpPr>
          <p:nvPr/>
        </p:nvSpPr>
        <p:spPr>
          <a:xfrm flipH="1">
            <a:off x="2516338" y="3334721"/>
            <a:ext cx="154079" cy="154079"/>
          </a:xfrm>
          <a:prstGeom prst="ellipse">
            <a:avLst/>
          </a:prstGeom>
          <a:solidFill>
            <a:srgbClr val="FF0000"/>
          </a:solidFill>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cxnSp>
        <p:nvCxnSpPr>
          <p:cNvPr id="35" name="Straight Arrow Connector 34">
            <a:extLst>
              <a:ext uri="{FF2B5EF4-FFF2-40B4-BE49-F238E27FC236}">
                <a16:creationId xmlns:a16="http://schemas.microsoft.com/office/drawing/2014/main" id="{B0ABF816-498E-324A-9A5C-A8C734DE83C8}"/>
              </a:ext>
            </a:extLst>
          </p:cNvPr>
          <p:cNvCxnSpPr>
            <a:cxnSpLocks/>
          </p:cNvCxnSpPr>
          <p:nvPr/>
        </p:nvCxnSpPr>
        <p:spPr>
          <a:xfrm>
            <a:off x="428708" y="2466874"/>
            <a:ext cx="35405" cy="182880"/>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323DB1EB-B08B-1947-B375-3BCA73F65915}"/>
              </a:ext>
            </a:extLst>
          </p:cNvPr>
          <p:cNvCxnSpPr>
            <a:cxnSpLocks/>
          </p:cNvCxnSpPr>
          <p:nvPr/>
        </p:nvCxnSpPr>
        <p:spPr>
          <a:xfrm flipH="1" flipV="1">
            <a:off x="3602145" y="4421535"/>
            <a:ext cx="46493" cy="182880"/>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1FA2E9EF-0287-1E4E-BBBC-57C829D7E6F7}"/>
              </a:ext>
            </a:extLst>
          </p:cNvPr>
          <p:cNvCxnSpPr>
            <a:cxnSpLocks/>
          </p:cNvCxnSpPr>
          <p:nvPr/>
        </p:nvCxnSpPr>
        <p:spPr>
          <a:xfrm rot="5400000" flipH="1" flipV="1">
            <a:off x="2241769" y="3639499"/>
            <a:ext cx="46493" cy="182880"/>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6E38EC0A-5081-C44B-9103-E6D6C03352E9}"/>
              </a:ext>
            </a:extLst>
          </p:cNvPr>
          <p:cNvCxnSpPr>
            <a:cxnSpLocks/>
          </p:cNvCxnSpPr>
          <p:nvPr/>
        </p:nvCxnSpPr>
        <p:spPr>
          <a:xfrm flipH="1" flipV="1">
            <a:off x="2684901" y="3296236"/>
            <a:ext cx="8523" cy="192564"/>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725B83A1-A579-CA49-A868-2B9441346B3D}"/>
              </a:ext>
            </a:extLst>
          </p:cNvPr>
          <p:cNvCxnSpPr>
            <a:cxnSpLocks/>
          </p:cNvCxnSpPr>
          <p:nvPr/>
        </p:nvCxnSpPr>
        <p:spPr>
          <a:xfrm rot="10800000" flipH="1" flipV="1">
            <a:off x="1448373" y="3561622"/>
            <a:ext cx="8523" cy="192564"/>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1551D3CC-5882-2843-9818-376555954A5C}"/>
              </a:ext>
            </a:extLst>
          </p:cNvPr>
          <p:cNvCxnSpPr>
            <a:cxnSpLocks/>
          </p:cNvCxnSpPr>
          <p:nvPr/>
        </p:nvCxnSpPr>
        <p:spPr>
          <a:xfrm rot="16200000" flipH="1" flipV="1">
            <a:off x="1778808" y="3309054"/>
            <a:ext cx="46493" cy="182880"/>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509FC5D5-C755-AB4D-9CEA-D642127F1A79}"/>
              </a:ext>
            </a:extLst>
          </p:cNvPr>
          <p:cNvCxnSpPr>
            <a:cxnSpLocks/>
          </p:cNvCxnSpPr>
          <p:nvPr/>
        </p:nvCxnSpPr>
        <p:spPr>
          <a:xfrm>
            <a:off x="4062240" y="-3"/>
            <a:ext cx="0" cy="68580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8C22A73D-9DED-8048-8E37-3F145D35B79B}"/>
              </a:ext>
            </a:extLst>
          </p:cNvPr>
          <p:cNvCxnSpPr>
            <a:cxnSpLocks/>
          </p:cNvCxnSpPr>
          <p:nvPr/>
        </p:nvCxnSpPr>
        <p:spPr>
          <a:xfrm>
            <a:off x="8124480" y="-3"/>
            <a:ext cx="0" cy="68580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59" name="Oval 58">
            <a:extLst>
              <a:ext uri="{FF2B5EF4-FFF2-40B4-BE49-F238E27FC236}">
                <a16:creationId xmlns:a16="http://schemas.microsoft.com/office/drawing/2014/main" id="{F43FFE0D-7144-9D45-B565-17E61A301AB1}"/>
              </a:ext>
            </a:extLst>
          </p:cNvPr>
          <p:cNvSpPr/>
          <p:nvPr/>
        </p:nvSpPr>
        <p:spPr>
          <a:xfrm rot="6000000">
            <a:off x="5391848" y="1643877"/>
            <a:ext cx="1433317" cy="3809334"/>
          </a:xfrm>
          <a:prstGeom prst="ellipse">
            <a:avLst/>
          </a:prstGeom>
          <a:solidFill>
            <a:srgbClr val="C00000">
              <a:alpha val="50000"/>
            </a:srgbClr>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60" name="Oval 59">
            <a:extLst>
              <a:ext uri="{FF2B5EF4-FFF2-40B4-BE49-F238E27FC236}">
                <a16:creationId xmlns:a16="http://schemas.microsoft.com/office/drawing/2014/main" id="{1A04E3EE-14A9-9241-8B85-38226E1E8E8D}"/>
              </a:ext>
            </a:extLst>
          </p:cNvPr>
          <p:cNvSpPr/>
          <p:nvPr/>
        </p:nvSpPr>
        <p:spPr>
          <a:xfrm rot="4800000">
            <a:off x="5782678" y="2930802"/>
            <a:ext cx="691753" cy="1215494"/>
          </a:xfrm>
          <a:prstGeom prst="ellipse">
            <a:avLst/>
          </a:prstGeom>
          <a:solidFill>
            <a:srgbClr val="0070C0">
              <a:alpha val="50000"/>
            </a:srgbClr>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61" name="Oval 60">
            <a:extLst>
              <a:ext uri="{FF2B5EF4-FFF2-40B4-BE49-F238E27FC236}">
                <a16:creationId xmlns:a16="http://schemas.microsoft.com/office/drawing/2014/main" id="{01415BD3-0744-0C4E-B55B-EE973E04ED21}"/>
              </a:ext>
            </a:extLst>
          </p:cNvPr>
          <p:cNvSpPr/>
          <p:nvPr/>
        </p:nvSpPr>
        <p:spPr>
          <a:xfrm rot="5400000">
            <a:off x="6015195" y="3257365"/>
            <a:ext cx="237067" cy="621220"/>
          </a:xfrm>
          <a:prstGeom prst="ellipse">
            <a:avLst/>
          </a:prstGeom>
          <a:solidFill>
            <a:srgbClr val="00B050">
              <a:alpha val="50000"/>
            </a:srgbClr>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cxnSp>
        <p:nvCxnSpPr>
          <p:cNvPr id="63" name="Straight Arrow Connector 62">
            <a:extLst>
              <a:ext uri="{FF2B5EF4-FFF2-40B4-BE49-F238E27FC236}">
                <a16:creationId xmlns:a16="http://schemas.microsoft.com/office/drawing/2014/main" id="{4522A40D-E123-3145-9658-AB9C106EB437}"/>
              </a:ext>
            </a:extLst>
          </p:cNvPr>
          <p:cNvCxnSpPr>
            <a:cxnSpLocks/>
          </p:cNvCxnSpPr>
          <p:nvPr/>
        </p:nvCxnSpPr>
        <p:spPr>
          <a:xfrm flipH="1" flipV="1">
            <a:off x="5795681" y="1557343"/>
            <a:ext cx="338047" cy="1991201"/>
          </a:xfrm>
          <a:prstGeom prst="straightConnector1">
            <a:avLst/>
          </a:prstGeom>
          <a:ln w="5715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a:extLst>
              <a:ext uri="{FF2B5EF4-FFF2-40B4-BE49-F238E27FC236}">
                <a16:creationId xmlns:a16="http://schemas.microsoft.com/office/drawing/2014/main" id="{B10D7B18-1F83-8B41-98FF-F7F7C016CEFE}"/>
              </a:ext>
            </a:extLst>
          </p:cNvPr>
          <p:cNvCxnSpPr>
            <a:cxnSpLocks/>
          </p:cNvCxnSpPr>
          <p:nvPr/>
        </p:nvCxnSpPr>
        <p:spPr>
          <a:xfrm flipV="1">
            <a:off x="6108506" y="2547511"/>
            <a:ext cx="226203" cy="1020464"/>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65" name="Oval 64">
            <a:extLst>
              <a:ext uri="{FF2B5EF4-FFF2-40B4-BE49-F238E27FC236}">
                <a16:creationId xmlns:a16="http://schemas.microsoft.com/office/drawing/2014/main" id="{D4BBA26F-C510-FF4D-BE95-9AA1DD550A13}"/>
              </a:ext>
            </a:extLst>
          </p:cNvPr>
          <p:cNvSpPr/>
          <p:nvPr/>
        </p:nvSpPr>
        <p:spPr>
          <a:xfrm>
            <a:off x="6098803" y="3529685"/>
            <a:ext cx="57150" cy="5715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6" name="Oval 65">
            <a:extLst>
              <a:ext uri="{FF2B5EF4-FFF2-40B4-BE49-F238E27FC236}">
                <a16:creationId xmlns:a16="http://schemas.microsoft.com/office/drawing/2014/main" id="{FEBE1167-E135-304B-8667-FCE9287DB2BD}"/>
              </a:ext>
            </a:extLst>
          </p:cNvPr>
          <p:cNvSpPr>
            <a:spLocks noChangeAspect="1"/>
          </p:cNvSpPr>
          <p:nvPr/>
        </p:nvSpPr>
        <p:spPr>
          <a:xfrm flipH="1">
            <a:off x="5457754" y="3577408"/>
            <a:ext cx="154079" cy="154079"/>
          </a:xfrm>
          <a:prstGeom prst="ellipse">
            <a:avLst/>
          </a:prstGeom>
          <a:solidFill>
            <a:srgbClr val="0070C0"/>
          </a:solidFill>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67" name="Oval 66">
            <a:extLst>
              <a:ext uri="{FF2B5EF4-FFF2-40B4-BE49-F238E27FC236}">
                <a16:creationId xmlns:a16="http://schemas.microsoft.com/office/drawing/2014/main" id="{0136C9ED-6529-114B-BA78-8A66BE9B7004}"/>
              </a:ext>
            </a:extLst>
          </p:cNvPr>
          <p:cNvSpPr>
            <a:spLocks noChangeAspect="1"/>
          </p:cNvSpPr>
          <p:nvPr/>
        </p:nvSpPr>
        <p:spPr>
          <a:xfrm flipH="1">
            <a:off x="6237599" y="3560654"/>
            <a:ext cx="154079" cy="154079"/>
          </a:xfrm>
          <a:prstGeom prst="ellipse">
            <a:avLst/>
          </a:prstGeom>
          <a:solidFill>
            <a:srgbClr val="FF0000"/>
          </a:solidFill>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68" name="Oval 67">
            <a:extLst>
              <a:ext uri="{FF2B5EF4-FFF2-40B4-BE49-F238E27FC236}">
                <a16:creationId xmlns:a16="http://schemas.microsoft.com/office/drawing/2014/main" id="{6EF1BAE3-EDFF-9940-B8C5-7AD66F813964}"/>
              </a:ext>
            </a:extLst>
          </p:cNvPr>
          <p:cNvSpPr>
            <a:spLocks noChangeAspect="1"/>
          </p:cNvSpPr>
          <p:nvPr/>
        </p:nvSpPr>
        <p:spPr>
          <a:xfrm flipH="1">
            <a:off x="7511960" y="4132380"/>
            <a:ext cx="154079" cy="154079"/>
          </a:xfrm>
          <a:prstGeom prst="ellipse">
            <a:avLst/>
          </a:prstGeom>
          <a:solidFill>
            <a:srgbClr val="0070C0"/>
          </a:solidFill>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69" name="Oval 68">
            <a:extLst>
              <a:ext uri="{FF2B5EF4-FFF2-40B4-BE49-F238E27FC236}">
                <a16:creationId xmlns:a16="http://schemas.microsoft.com/office/drawing/2014/main" id="{09802901-FFE8-364C-A42F-772C20C0F55C}"/>
              </a:ext>
            </a:extLst>
          </p:cNvPr>
          <p:cNvSpPr>
            <a:spLocks noChangeAspect="1"/>
          </p:cNvSpPr>
          <p:nvPr/>
        </p:nvSpPr>
        <p:spPr>
          <a:xfrm flipH="1">
            <a:off x="4556581" y="2792629"/>
            <a:ext cx="154079" cy="154079"/>
          </a:xfrm>
          <a:prstGeom prst="ellipse">
            <a:avLst/>
          </a:prstGeom>
          <a:solidFill>
            <a:srgbClr val="FF0000"/>
          </a:solidFill>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70" name="Oval 69">
            <a:extLst>
              <a:ext uri="{FF2B5EF4-FFF2-40B4-BE49-F238E27FC236}">
                <a16:creationId xmlns:a16="http://schemas.microsoft.com/office/drawing/2014/main" id="{2FA2CE8B-5F59-5F47-BD40-1A275C868236}"/>
              </a:ext>
            </a:extLst>
          </p:cNvPr>
          <p:cNvSpPr>
            <a:spLocks noChangeAspect="1"/>
          </p:cNvSpPr>
          <p:nvPr/>
        </p:nvSpPr>
        <p:spPr>
          <a:xfrm flipH="1">
            <a:off x="5835072" y="3402077"/>
            <a:ext cx="154079" cy="154079"/>
          </a:xfrm>
          <a:prstGeom prst="ellipse">
            <a:avLst/>
          </a:prstGeom>
          <a:solidFill>
            <a:srgbClr val="0070C0"/>
          </a:solidFill>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71" name="Oval 70">
            <a:extLst>
              <a:ext uri="{FF2B5EF4-FFF2-40B4-BE49-F238E27FC236}">
                <a16:creationId xmlns:a16="http://schemas.microsoft.com/office/drawing/2014/main" id="{D53DB876-4C0A-4744-9A63-50436D251A95}"/>
              </a:ext>
            </a:extLst>
          </p:cNvPr>
          <p:cNvSpPr>
            <a:spLocks noChangeAspect="1"/>
          </p:cNvSpPr>
          <p:nvPr/>
        </p:nvSpPr>
        <p:spPr>
          <a:xfrm flipH="1">
            <a:off x="6634207" y="3334721"/>
            <a:ext cx="154079" cy="154079"/>
          </a:xfrm>
          <a:prstGeom prst="ellipse">
            <a:avLst/>
          </a:prstGeom>
          <a:solidFill>
            <a:srgbClr val="FF0000"/>
          </a:solidFill>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cxnSp>
        <p:nvCxnSpPr>
          <p:cNvPr id="72" name="Straight Arrow Connector 71">
            <a:extLst>
              <a:ext uri="{FF2B5EF4-FFF2-40B4-BE49-F238E27FC236}">
                <a16:creationId xmlns:a16="http://schemas.microsoft.com/office/drawing/2014/main" id="{7295B6CD-7989-C941-9D0B-0E709F8787F7}"/>
              </a:ext>
            </a:extLst>
          </p:cNvPr>
          <p:cNvCxnSpPr>
            <a:cxnSpLocks/>
          </p:cNvCxnSpPr>
          <p:nvPr/>
        </p:nvCxnSpPr>
        <p:spPr>
          <a:xfrm rot="5400000">
            <a:off x="4565426" y="2664129"/>
            <a:ext cx="35405" cy="182880"/>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73" name="Straight Arrow Connector 72">
            <a:extLst>
              <a:ext uri="{FF2B5EF4-FFF2-40B4-BE49-F238E27FC236}">
                <a16:creationId xmlns:a16="http://schemas.microsoft.com/office/drawing/2014/main" id="{4101900D-E316-5C4E-9E20-96B10D815133}"/>
              </a:ext>
            </a:extLst>
          </p:cNvPr>
          <p:cNvCxnSpPr>
            <a:cxnSpLocks/>
          </p:cNvCxnSpPr>
          <p:nvPr/>
        </p:nvCxnSpPr>
        <p:spPr>
          <a:xfrm rot="5400000" flipH="1" flipV="1">
            <a:off x="7613652" y="4218265"/>
            <a:ext cx="46493" cy="182880"/>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C3889B20-A131-F348-9F79-30680F490D16}"/>
              </a:ext>
            </a:extLst>
          </p:cNvPr>
          <p:cNvCxnSpPr>
            <a:cxnSpLocks/>
          </p:cNvCxnSpPr>
          <p:nvPr/>
        </p:nvCxnSpPr>
        <p:spPr>
          <a:xfrm rot="5400000" flipH="1" flipV="1">
            <a:off x="6305663" y="3639499"/>
            <a:ext cx="46493" cy="182880"/>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75" name="Straight Arrow Connector 74">
            <a:extLst>
              <a:ext uri="{FF2B5EF4-FFF2-40B4-BE49-F238E27FC236}">
                <a16:creationId xmlns:a16="http://schemas.microsoft.com/office/drawing/2014/main" id="{C0F31FBC-E349-954C-ACF2-5775D4791E29}"/>
              </a:ext>
            </a:extLst>
          </p:cNvPr>
          <p:cNvCxnSpPr>
            <a:cxnSpLocks/>
          </p:cNvCxnSpPr>
          <p:nvPr/>
        </p:nvCxnSpPr>
        <p:spPr>
          <a:xfrm flipH="1" flipV="1">
            <a:off x="6802770" y="3296236"/>
            <a:ext cx="8523" cy="192564"/>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76" name="Straight Arrow Connector 75">
            <a:extLst>
              <a:ext uri="{FF2B5EF4-FFF2-40B4-BE49-F238E27FC236}">
                <a16:creationId xmlns:a16="http://schemas.microsoft.com/office/drawing/2014/main" id="{CF9CC54C-94DB-B144-9856-71D4CF6A9FFC}"/>
              </a:ext>
            </a:extLst>
          </p:cNvPr>
          <p:cNvCxnSpPr>
            <a:cxnSpLocks/>
          </p:cNvCxnSpPr>
          <p:nvPr/>
        </p:nvCxnSpPr>
        <p:spPr>
          <a:xfrm rot="10800000" flipH="1" flipV="1">
            <a:off x="5439242" y="3561622"/>
            <a:ext cx="8523" cy="192564"/>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77" name="Straight Arrow Connector 76">
            <a:extLst>
              <a:ext uri="{FF2B5EF4-FFF2-40B4-BE49-F238E27FC236}">
                <a16:creationId xmlns:a16="http://schemas.microsoft.com/office/drawing/2014/main" id="{2A1F54C2-0D47-414E-AB5A-64FBAA9CA73E}"/>
              </a:ext>
            </a:extLst>
          </p:cNvPr>
          <p:cNvCxnSpPr>
            <a:cxnSpLocks/>
          </p:cNvCxnSpPr>
          <p:nvPr/>
        </p:nvCxnSpPr>
        <p:spPr>
          <a:xfrm rot="16200000" flipH="1" flipV="1">
            <a:off x="5842702" y="3309054"/>
            <a:ext cx="46493" cy="182880"/>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sp>
        <p:nvSpPr>
          <p:cNvPr id="79" name="Oval 78">
            <a:extLst>
              <a:ext uri="{FF2B5EF4-FFF2-40B4-BE49-F238E27FC236}">
                <a16:creationId xmlns:a16="http://schemas.microsoft.com/office/drawing/2014/main" id="{DCC97071-9D67-DC48-AD13-C0A25508CBD8}"/>
              </a:ext>
            </a:extLst>
          </p:cNvPr>
          <p:cNvSpPr/>
          <p:nvPr/>
        </p:nvSpPr>
        <p:spPr>
          <a:xfrm rot="5400000">
            <a:off x="9403928" y="1643877"/>
            <a:ext cx="1433317" cy="3809334"/>
          </a:xfrm>
          <a:prstGeom prst="ellipse">
            <a:avLst/>
          </a:prstGeom>
          <a:solidFill>
            <a:srgbClr val="C00000">
              <a:alpha val="50000"/>
            </a:srgbClr>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0" name="Oval 79">
            <a:extLst>
              <a:ext uri="{FF2B5EF4-FFF2-40B4-BE49-F238E27FC236}">
                <a16:creationId xmlns:a16="http://schemas.microsoft.com/office/drawing/2014/main" id="{4B5172ED-2D8A-034A-8B6D-511FB837A5C1}"/>
              </a:ext>
            </a:extLst>
          </p:cNvPr>
          <p:cNvSpPr/>
          <p:nvPr/>
        </p:nvSpPr>
        <p:spPr>
          <a:xfrm rot="5400000">
            <a:off x="9794758" y="2930802"/>
            <a:ext cx="691753" cy="1215494"/>
          </a:xfrm>
          <a:prstGeom prst="ellipse">
            <a:avLst/>
          </a:prstGeom>
          <a:solidFill>
            <a:srgbClr val="0070C0">
              <a:alpha val="50000"/>
            </a:srgbClr>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1" name="Oval 80">
            <a:extLst>
              <a:ext uri="{FF2B5EF4-FFF2-40B4-BE49-F238E27FC236}">
                <a16:creationId xmlns:a16="http://schemas.microsoft.com/office/drawing/2014/main" id="{AB13C73C-22E9-E346-BD10-636EC5B03EEB}"/>
              </a:ext>
            </a:extLst>
          </p:cNvPr>
          <p:cNvSpPr/>
          <p:nvPr/>
        </p:nvSpPr>
        <p:spPr>
          <a:xfrm rot="5400000">
            <a:off x="10027275" y="3257365"/>
            <a:ext cx="237067" cy="621220"/>
          </a:xfrm>
          <a:prstGeom prst="ellipse">
            <a:avLst/>
          </a:prstGeom>
          <a:solidFill>
            <a:srgbClr val="00B050">
              <a:alpha val="50000"/>
            </a:srgbClr>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nvGrpSpPr>
          <p:cNvPr id="116" name="Group 115">
            <a:extLst>
              <a:ext uri="{FF2B5EF4-FFF2-40B4-BE49-F238E27FC236}">
                <a16:creationId xmlns:a16="http://schemas.microsoft.com/office/drawing/2014/main" id="{1990AA94-0B5D-CE4D-9E67-06FDF3574AC7}"/>
              </a:ext>
            </a:extLst>
          </p:cNvPr>
          <p:cNvGrpSpPr/>
          <p:nvPr/>
        </p:nvGrpSpPr>
        <p:grpSpPr>
          <a:xfrm>
            <a:off x="2063484" y="603661"/>
            <a:ext cx="8075974" cy="2964314"/>
            <a:chOff x="2063484" y="475010"/>
            <a:chExt cx="8075974" cy="3092965"/>
          </a:xfrm>
        </p:grpSpPr>
        <p:cxnSp>
          <p:nvCxnSpPr>
            <p:cNvPr id="4" name="Straight Arrow Connector 3">
              <a:extLst>
                <a:ext uri="{FF2B5EF4-FFF2-40B4-BE49-F238E27FC236}">
                  <a16:creationId xmlns:a16="http://schemas.microsoft.com/office/drawing/2014/main" id="{73E8E4AC-0527-6B4F-BB34-1C07B68C379A}"/>
                </a:ext>
              </a:extLst>
            </p:cNvPr>
            <p:cNvCxnSpPr>
              <a:cxnSpLocks/>
            </p:cNvCxnSpPr>
            <p:nvPr/>
          </p:nvCxnSpPr>
          <p:spPr>
            <a:xfrm flipV="1">
              <a:off x="2063484" y="475010"/>
              <a:ext cx="0" cy="3092965"/>
            </a:xfrm>
            <a:prstGeom prst="straightConnector1">
              <a:avLst/>
            </a:prstGeom>
            <a:ln w="571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5D5DA236-2F5C-F24D-9362-22479B37AE27}"/>
                </a:ext>
              </a:extLst>
            </p:cNvPr>
            <p:cNvCxnSpPr>
              <a:cxnSpLocks/>
            </p:cNvCxnSpPr>
            <p:nvPr/>
          </p:nvCxnSpPr>
          <p:spPr>
            <a:xfrm flipV="1">
              <a:off x="6127378" y="475010"/>
              <a:ext cx="0" cy="3092965"/>
            </a:xfrm>
            <a:prstGeom prst="straightConnector1">
              <a:avLst/>
            </a:prstGeom>
            <a:ln w="571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82" name="Straight Arrow Connector 81">
              <a:extLst>
                <a:ext uri="{FF2B5EF4-FFF2-40B4-BE49-F238E27FC236}">
                  <a16:creationId xmlns:a16="http://schemas.microsoft.com/office/drawing/2014/main" id="{E04B73D7-CFB3-AA47-B209-D5B652F58A9A}"/>
                </a:ext>
              </a:extLst>
            </p:cNvPr>
            <p:cNvCxnSpPr>
              <a:cxnSpLocks/>
            </p:cNvCxnSpPr>
            <p:nvPr/>
          </p:nvCxnSpPr>
          <p:spPr>
            <a:xfrm flipV="1">
              <a:off x="10139458" y="475010"/>
              <a:ext cx="0" cy="3092965"/>
            </a:xfrm>
            <a:prstGeom prst="straightConnector1">
              <a:avLst/>
            </a:prstGeom>
            <a:ln w="57150">
              <a:solidFill>
                <a:srgbClr val="00B050"/>
              </a:solidFill>
              <a:tailEnd type="triangle"/>
            </a:ln>
          </p:spPr>
          <p:style>
            <a:lnRef idx="1">
              <a:schemeClr val="accent1"/>
            </a:lnRef>
            <a:fillRef idx="0">
              <a:schemeClr val="accent1"/>
            </a:fillRef>
            <a:effectRef idx="0">
              <a:schemeClr val="accent1"/>
            </a:effectRef>
            <a:fontRef idx="minor">
              <a:schemeClr val="tx1"/>
            </a:fontRef>
          </p:style>
        </p:cxnSp>
      </p:grpSp>
      <p:cxnSp>
        <p:nvCxnSpPr>
          <p:cNvPr id="83" name="Straight Arrow Connector 82">
            <a:extLst>
              <a:ext uri="{FF2B5EF4-FFF2-40B4-BE49-F238E27FC236}">
                <a16:creationId xmlns:a16="http://schemas.microsoft.com/office/drawing/2014/main" id="{94207A4C-8434-F641-A011-611D2AB4793F}"/>
              </a:ext>
            </a:extLst>
          </p:cNvPr>
          <p:cNvCxnSpPr>
            <a:cxnSpLocks/>
          </p:cNvCxnSpPr>
          <p:nvPr/>
        </p:nvCxnSpPr>
        <p:spPr>
          <a:xfrm flipH="1" flipV="1">
            <a:off x="10012781" y="1270415"/>
            <a:ext cx="39518" cy="2278129"/>
          </a:xfrm>
          <a:prstGeom prst="straightConnector1">
            <a:avLst/>
          </a:prstGeom>
          <a:ln w="5715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84" name="Straight Arrow Connector 83">
            <a:extLst>
              <a:ext uri="{FF2B5EF4-FFF2-40B4-BE49-F238E27FC236}">
                <a16:creationId xmlns:a16="http://schemas.microsoft.com/office/drawing/2014/main" id="{DD3586A5-C84D-3F42-8EFF-7CA3F5F12774}"/>
              </a:ext>
            </a:extLst>
          </p:cNvPr>
          <p:cNvCxnSpPr>
            <a:cxnSpLocks/>
          </p:cNvCxnSpPr>
          <p:nvPr/>
        </p:nvCxnSpPr>
        <p:spPr>
          <a:xfrm flipV="1">
            <a:off x="10254251" y="2415014"/>
            <a:ext cx="8815" cy="1125869"/>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85" name="Oval 84">
            <a:extLst>
              <a:ext uri="{FF2B5EF4-FFF2-40B4-BE49-F238E27FC236}">
                <a16:creationId xmlns:a16="http://schemas.microsoft.com/office/drawing/2014/main" id="{4B9400FD-E486-B14B-AC9C-BCB09D1135A2}"/>
              </a:ext>
            </a:extLst>
          </p:cNvPr>
          <p:cNvSpPr/>
          <p:nvPr/>
        </p:nvSpPr>
        <p:spPr>
          <a:xfrm>
            <a:off x="10110883" y="3529685"/>
            <a:ext cx="57150" cy="5715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6" name="Oval 85">
            <a:extLst>
              <a:ext uri="{FF2B5EF4-FFF2-40B4-BE49-F238E27FC236}">
                <a16:creationId xmlns:a16="http://schemas.microsoft.com/office/drawing/2014/main" id="{B6DDABCD-9B6E-0146-8BFF-3CBF4280B6B7}"/>
              </a:ext>
            </a:extLst>
          </p:cNvPr>
          <p:cNvSpPr>
            <a:spLocks noChangeAspect="1"/>
          </p:cNvSpPr>
          <p:nvPr/>
        </p:nvSpPr>
        <p:spPr>
          <a:xfrm flipH="1">
            <a:off x="9542859" y="3577408"/>
            <a:ext cx="154079" cy="154079"/>
          </a:xfrm>
          <a:prstGeom prst="ellipse">
            <a:avLst/>
          </a:prstGeom>
          <a:solidFill>
            <a:srgbClr val="0070C0"/>
          </a:solidFill>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87" name="Oval 86">
            <a:extLst>
              <a:ext uri="{FF2B5EF4-FFF2-40B4-BE49-F238E27FC236}">
                <a16:creationId xmlns:a16="http://schemas.microsoft.com/office/drawing/2014/main" id="{E35603F7-4AC6-D54E-B796-8ECF3E139D28}"/>
              </a:ext>
            </a:extLst>
          </p:cNvPr>
          <p:cNvSpPr>
            <a:spLocks noChangeAspect="1"/>
          </p:cNvSpPr>
          <p:nvPr/>
        </p:nvSpPr>
        <p:spPr>
          <a:xfrm flipH="1">
            <a:off x="10249679" y="3560654"/>
            <a:ext cx="154079" cy="154079"/>
          </a:xfrm>
          <a:prstGeom prst="ellipse">
            <a:avLst/>
          </a:prstGeom>
          <a:solidFill>
            <a:srgbClr val="FF0000"/>
          </a:solidFill>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88" name="Oval 87">
            <a:extLst>
              <a:ext uri="{FF2B5EF4-FFF2-40B4-BE49-F238E27FC236}">
                <a16:creationId xmlns:a16="http://schemas.microsoft.com/office/drawing/2014/main" id="{5E822E41-836D-6B4A-859F-FD430E027DC8}"/>
              </a:ext>
            </a:extLst>
          </p:cNvPr>
          <p:cNvSpPr>
            <a:spLocks noChangeAspect="1"/>
          </p:cNvSpPr>
          <p:nvPr/>
        </p:nvSpPr>
        <p:spPr>
          <a:xfrm flipH="1">
            <a:off x="11524040" y="3926640"/>
            <a:ext cx="154079" cy="154079"/>
          </a:xfrm>
          <a:prstGeom prst="ellipse">
            <a:avLst/>
          </a:prstGeom>
          <a:solidFill>
            <a:srgbClr val="0070C0"/>
          </a:solidFill>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89" name="Oval 88">
            <a:extLst>
              <a:ext uri="{FF2B5EF4-FFF2-40B4-BE49-F238E27FC236}">
                <a16:creationId xmlns:a16="http://schemas.microsoft.com/office/drawing/2014/main" id="{942F0346-DB25-A44F-8938-8FB3746D7D80}"/>
              </a:ext>
            </a:extLst>
          </p:cNvPr>
          <p:cNvSpPr>
            <a:spLocks noChangeAspect="1"/>
          </p:cNvSpPr>
          <p:nvPr/>
        </p:nvSpPr>
        <p:spPr>
          <a:xfrm flipH="1">
            <a:off x="8568661" y="2990749"/>
            <a:ext cx="154079" cy="154079"/>
          </a:xfrm>
          <a:prstGeom prst="ellipse">
            <a:avLst/>
          </a:prstGeom>
          <a:solidFill>
            <a:srgbClr val="FF0000"/>
          </a:solidFill>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90" name="Oval 89">
            <a:extLst>
              <a:ext uri="{FF2B5EF4-FFF2-40B4-BE49-F238E27FC236}">
                <a16:creationId xmlns:a16="http://schemas.microsoft.com/office/drawing/2014/main" id="{CC8884F5-50D7-4345-825E-5F4014AE501E}"/>
              </a:ext>
            </a:extLst>
          </p:cNvPr>
          <p:cNvSpPr>
            <a:spLocks noChangeAspect="1"/>
          </p:cNvSpPr>
          <p:nvPr/>
        </p:nvSpPr>
        <p:spPr>
          <a:xfrm flipH="1">
            <a:off x="9847152" y="3402077"/>
            <a:ext cx="154079" cy="154079"/>
          </a:xfrm>
          <a:prstGeom prst="ellipse">
            <a:avLst/>
          </a:prstGeom>
          <a:solidFill>
            <a:srgbClr val="0070C0"/>
          </a:solidFill>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91" name="Oval 90">
            <a:extLst>
              <a:ext uri="{FF2B5EF4-FFF2-40B4-BE49-F238E27FC236}">
                <a16:creationId xmlns:a16="http://schemas.microsoft.com/office/drawing/2014/main" id="{7542A9BE-ECCE-5C40-A68A-16AE68143B72}"/>
              </a:ext>
            </a:extLst>
          </p:cNvPr>
          <p:cNvSpPr>
            <a:spLocks noChangeAspect="1"/>
          </p:cNvSpPr>
          <p:nvPr/>
        </p:nvSpPr>
        <p:spPr>
          <a:xfrm flipH="1">
            <a:off x="10592312" y="3334721"/>
            <a:ext cx="154079" cy="154079"/>
          </a:xfrm>
          <a:prstGeom prst="ellipse">
            <a:avLst/>
          </a:prstGeom>
          <a:solidFill>
            <a:srgbClr val="FF0000"/>
          </a:solidFill>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cxnSp>
        <p:nvCxnSpPr>
          <p:cNvPr id="94" name="Straight Arrow Connector 93">
            <a:extLst>
              <a:ext uri="{FF2B5EF4-FFF2-40B4-BE49-F238E27FC236}">
                <a16:creationId xmlns:a16="http://schemas.microsoft.com/office/drawing/2014/main" id="{F9C01C71-7A09-AE4B-B957-2044CA563BC5}"/>
              </a:ext>
            </a:extLst>
          </p:cNvPr>
          <p:cNvCxnSpPr>
            <a:cxnSpLocks/>
          </p:cNvCxnSpPr>
          <p:nvPr/>
        </p:nvCxnSpPr>
        <p:spPr>
          <a:xfrm rot="5400000" flipH="1" flipV="1">
            <a:off x="10317743" y="3639499"/>
            <a:ext cx="46493" cy="182880"/>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95" name="Straight Arrow Connector 94">
            <a:extLst>
              <a:ext uri="{FF2B5EF4-FFF2-40B4-BE49-F238E27FC236}">
                <a16:creationId xmlns:a16="http://schemas.microsoft.com/office/drawing/2014/main" id="{03FE165A-ABC8-BE4E-8543-7690FB45F3BF}"/>
              </a:ext>
            </a:extLst>
          </p:cNvPr>
          <p:cNvCxnSpPr>
            <a:cxnSpLocks/>
          </p:cNvCxnSpPr>
          <p:nvPr/>
        </p:nvCxnSpPr>
        <p:spPr>
          <a:xfrm flipH="1" flipV="1">
            <a:off x="10760875" y="3296236"/>
            <a:ext cx="8523" cy="192564"/>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96" name="Straight Arrow Connector 95">
            <a:extLst>
              <a:ext uri="{FF2B5EF4-FFF2-40B4-BE49-F238E27FC236}">
                <a16:creationId xmlns:a16="http://schemas.microsoft.com/office/drawing/2014/main" id="{D99813F5-0792-5E44-BD4E-C5C96C3DDB3F}"/>
              </a:ext>
            </a:extLst>
          </p:cNvPr>
          <p:cNvCxnSpPr>
            <a:cxnSpLocks/>
          </p:cNvCxnSpPr>
          <p:nvPr/>
        </p:nvCxnSpPr>
        <p:spPr>
          <a:xfrm rot="10800000" flipH="1" flipV="1">
            <a:off x="9524347" y="3561622"/>
            <a:ext cx="8523" cy="192564"/>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97" name="Straight Arrow Connector 96">
            <a:extLst>
              <a:ext uri="{FF2B5EF4-FFF2-40B4-BE49-F238E27FC236}">
                <a16:creationId xmlns:a16="http://schemas.microsoft.com/office/drawing/2014/main" id="{55CBB2A3-47BB-2A4B-A755-E5E82F457977}"/>
              </a:ext>
            </a:extLst>
          </p:cNvPr>
          <p:cNvCxnSpPr>
            <a:cxnSpLocks/>
          </p:cNvCxnSpPr>
          <p:nvPr/>
        </p:nvCxnSpPr>
        <p:spPr>
          <a:xfrm rot="16200000" flipH="1" flipV="1">
            <a:off x="9854782" y="3309054"/>
            <a:ext cx="46493" cy="182880"/>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sp>
        <p:nvSpPr>
          <p:cNvPr id="98" name="TextBox 97">
            <a:extLst>
              <a:ext uri="{FF2B5EF4-FFF2-40B4-BE49-F238E27FC236}">
                <a16:creationId xmlns:a16="http://schemas.microsoft.com/office/drawing/2014/main" id="{03170DA2-933A-E746-8799-DEC80877A0BF}"/>
              </a:ext>
            </a:extLst>
          </p:cNvPr>
          <p:cNvSpPr txBox="1"/>
          <p:nvPr/>
        </p:nvSpPr>
        <p:spPr>
          <a:xfrm>
            <a:off x="167950" y="4983847"/>
            <a:ext cx="3613490" cy="181588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Low velocity Noether core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3D fermion orientation with spin ½</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Pauli exclusion principle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Fermi-Dirac statistics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Pro and anti orientations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Inertial mass = apparent energy</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e.g., electrons, quarks</a:t>
            </a:r>
          </a:p>
        </p:txBody>
      </p:sp>
      <p:sp>
        <p:nvSpPr>
          <p:cNvPr id="99" name="TextBox 98">
            <a:extLst>
              <a:ext uri="{FF2B5EF4-FFF2-40B4-BE49-F238E27FC236}">
                <a16:creationId xmlns:a16="http://schemas.microsoft.com/office/drawing/2014/main" id="{2C353E9F-48D8-8D44-BD78-75598043198D}"/>
              </a:ext>
            </a:extLst>
          </p:cNvPr>
          <p:cNvSpPr txBox="1"/>
          <p:nvPr/>
        </p:nvSpPr>
        <p:spPr>
          <a:xfrm>
            <a:off x="8577597" y="4983847"/>
            <a:ext cx="3252814" cy="132343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Velocity </a:t>
            </a:r>
            <a:r>
              <a:rPr lang="en-US" sz="1600" b="1" dirty="0">
                <a:solidFill>
                  <a:prstClr val="white"/>
                </a:solidFill>
                <a:latin typeface="Helvetica Neue" panose="02000503000000020004" pitchFamily="2" charset="0"/>
                <a:ea typeface="Helvetica Neue" panose="02000503000000020004" pitchFamily="2" charset="0"/>
                <a:cs typeface="Helvetica Neue" panose="02000503000000020004" pitchFamily="2" charset="0"/>
              </a:rPr>
              <a:t>&gt;= “c” </a:t>
            </a: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Noether core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2D boson shape, ~0 exclusion</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Spin 1</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Bose-Einstein statistics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600" dirty="0">
                <a:solidFill>
                  <a:prstClr val="white"/>
                </a:solidFill>
                <a:latin typeface="Helvetica Neue" panose="02000503000000020004" pitchFamily="2" charset="0"/>
                <a:ea typeface="Helvetica Neue" panose="02000503000000020004" pitchFamily="2" charset="0"/>
                <a:cs typeface="Helvetica Neue" panose="02000503000000020004" pitchFamily="2" charset="0"/>
              </a:rPr>
              <a:t>e.g.,</a:t>
            </a:r>
            <a:r>
              <a:rPr kumimoji="0" lang="en-US" sz="16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  photon</a:t>
            </a:r>
          </a:p>
        </p:txBody>
      </p:sp>
      <p:sp>
        <p:nvSpPr>
          <p:cNvPr id="101" name="TextBox 100">
            <a:extLst>
              <a:ext uri="{FF2B5EF4-FFF2-40B4-BE49-F238E27FC236}">
                <a16:creationId xmlns:a16="http://schemas.microsoft.com/office/drawing/2014/main" id="{087455DC-03A3-AA4F-AD61-E0BCB1C90C94}"/>
              </a:ext>
            </a:extLst>
          </p:cNvPr>
          <p:cNvSpPr txBox="1"/>
          <p:nvPr/>
        </p:nvSpPr>
        <p:spPr>
          <a:xfrm>
            <a:off x="4233219" y="4983847"/>
            <a:ext cx="3994354" cy="156966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High velocity Noether core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Pro and anti orientations of angular momentum vectors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Oscillating mass caused by </a:t>
            </a:r>
            <a:br>
              <a:rPr kumimoji="0" lang="en-US" sz="16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br>
            <a:r>
              <a:rPr kumimoji="0" lang="en-US" sz="16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fluctuating superposition</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e.g., neutrino</a:t>
            </a:r>
          </a:p>
        </p:txBody>
      </p:sp>
      <p:cxnSp>
        <p:nvCxnSpPr>
          <p:cNvPr id="106" name="Straight Arrow Connector 105">
            <a:extLst>
              <a:ext uri="{FF2B5EF4-FFF2-40B4-BE49-F238E27FC236}">
                <a16:creationId xmlns:a16="http://schemas.microsoft.com/office/drawing/2014/main" id="{B011BF8B-9B3B-194E-860A-C437CC99C7A7}"/>
              </a:ext>
            </a:extLst>
          </p:cNvPr>
          <p:cNvCxnSpPr>
            <a:cxnSpLocks/>
          </p:cNvCxnSpPr>
          <p:nvPr/>
        </p:nvCxnSpPr>
        <p:spPr>
          <a:xfrm rot="5100000">
            <a:off x="8562724" y="2854201"/>
            <a:ext cx="35405" cy="182880"/>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07" name="Straight Arrow Connector 106">
            <a:extLst>
              <a:ext uri="{FF2B5EF4-FFF2-40B4-BE49-F238E27FC236}">
                <a16:creationId xmlns:a16="http://schemas.microsoft.com/office/drawing/2014/main" id="{1FEAF416-CED6-C54A-A22B-8A4184554071}"/>
              </a:ext>
            </a:extLst>
          </p:cNvPr>
          <p:cNvCxnSpPr>
            <a:cxnSpLocks/>
          </p:cNvCxnSpPr>
          <p:nvPr/>
        </p:nvCxnSpPr>
        <p:spPr>
          <a:xfrm rot="5400000" flipH="1" flipV="1">
            <a:off x="11610950" y="4044265"/>
            <a:ext cx="46493" cy="182880"/>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sp>
        <p:nvSpPr>
          <p:cNvPr id="112" name="Rectangle 111">
            <a:extLst>
              <a:ext uri="{FF2B5EF4-FFF2-40B4-BE49-F238E27FC236}">
                <a16:creationId xmlns:a16="http://schemas.microsoft.com/office/drawing/2014/main" id="{4D9217BE-F0DF-0043-9A68-69C8B7088BF0}"/>
              </a:ext>
            </a:extLst>
          </p:cNvPr>
          <p:cNvSpPr/>
          <p:nvPr/>
        </p:nvSpPr>
        <p:spPr>
          <a:xfrm>
            <a:off x="0" y="197"/>
            <a:ext cx="12192000" cy="523220"/>
          </a:xfrm>
          <a:prstGeom prst="rect">
            <a:avLst/>
          </a:prstGeom>
          <a:solidFill>
            <a:srgbClr val="7030A0"/>
          </a:solidFill>
          <a:ln>
            <a:solidFill>
              <a:schemeClr val="bg1"/>
            </a:solidFill>
          </a:ln>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Noether Core : A Nested Tri-Binary Assembly of Point Potentials</a:t>
            </a:r>
          </a:p>
        </p:txBody>
      </p:sp>
      <p:sp>
        <p:nvSpPr>
          <p:cNvPr id="5" name="Up Arrow Callout 4">
            <a:extLst>
              <a:ext uri="{FF2B5EF4-FFF2-40B4-BE49-F238E27FC236}">
                <a16:creationId xmlns:a16="http://schemas.microsoft.com/office/drawing/2014/main" id="{B23FD2B2-0A91-F8CE-1716-6E5846B3BAD3}"/>
              </a:ext>
            </a:extLst>
          </p:cNvPr>
          <p:cNvSpPr/>
          <p:nvPr/>
        </p:nvSpPr>
        <p:spPr>
          <a:xfrm>
            <a:off x="3037012" y="2254589"/>
            <a:ext cx="703014" cy="570680"/>
          </a:xfrm>
          <a:prstGeom prst="upArrowCallout">
            <a:avLst>
              <a:gd name="adj1" fmla="val 25000"/>
              <a:gd name="adj2" fmla="val 25000"/>
              <a:gd name="adj3" fmla="val 25000"/>
              <a:gd name="adj4" fmla="val 56415"/>
            </a:avLst>
          </a:prstGeom>
          <a:ln>
            <a:solidFill>
              <a:schemeClr val="bg1">
                <a:lumMod val="6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050" dirty="0">
                <a:latin typeface="Helvetica Neue" panose="02000503000000020004" pitchFamily="2" charset="0"/>
                <a:ea typeface="Helvetica Neue" panose="02000503000000020004" pitchFamily="2" charset="0"/>
                <a:cs typeface="Helvetica Neue" panose="02000503000000020004" pitchFamily="2" charset="0"/>
              </a:rPr>
              <a:t>Group</a:t>
            </a:r>
            <a:br>
              <a:rPr lang="en-US" sz="1050" dirty="0">
                <a:latin typeface="Helvetica Neue" panose="02000503000000020004" pitchFamily="2" charset="0"/>
                <a:ea typeface="Helvetica Neue" panose="02000503000000020004" pitchFamily="2" charset="0"/>
                <a:cs typeface="Helvetica Neue" panose="02000503000000020004" pitchFamily="2" charset="0"/>
              </a:rPr>
            </a:br>
            <a:r>
              <a:rPr lang="en-US" sz="1050" dirty="0">
                <a:latin typeface="Helvetica Neue" panose="02000503000000020004" pitchFamily="2" charset="0"/>
                <a:ea typeface="Helvetica Neue" panose="02000503000000020004" pitchFamily="2" charset="0"/>
                <a:cs typeface="Helvetica Neue" panose="02000503000000020004" pitchFamily="2" charset="0"/>
              </a:rPr>
              <a:t>Velocity</a:t>
            </a:r>
          </a:p>
        </p:txBody>
      </p:sp>
      <p:sp>
        <p:nvSpPr>
          <p:cNvPr id="6" name="Up Arrow Callout 5">
            <a:extLst>
              <a:ext uri="{FF2B5EF4-FFF2-40B4-BE49-F238E27FC236}">
                <a16:creationId xmlns:a16="http://schemas.microsoft.com/office/drawing/2014/main" id="{3A858C39-40E3-C371-2CB9-E81534047B20}"/>
              </a:ext>
            </a:extLst>
          </p:cNvPr>
          <p:cNvSpPr/>
          <p:nvPr/>
        </p:nvSpPr>
        <p:spPr>
          <a:xfrm>
            <a:off x="7160453" y="1724050"/>
            <a:ext cx="703014" cy="1101219"/>
          </a:xfrm>
          <a:prstGeom prst="upArrowCallout">
            <a:avLst>
              <a:gd name="adj1" fmla="val 25000"/>
              <a:gd name="adj2" fmla="val 25000"/>
              <a:gd name="adj3" fmla="val 25000"/>
              <a:gd name="adj4" fmla="val 30508"/>
            </a:avLst>
          </a:prstGeom>
          <a:ln>
            <a:solidFill>
              <a:schemeClr val="bg1">
                <a:lumMod val="6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050" dirty="0">
                <a:latin typeface="Helvetica Neue" panose="02000503000000020004" pitchFamily="2" charset="0"/>
                <a:ea typeface="Helvetica Neue" panose="02000503000000020004" pitchFamily="2" charset="0"/>
                <a:cs typeface="Helvetica Neue" panose="02000503000000020004" pitchFamily="2" charset="0"/>
              </a:rPr>
              <a:t>Group</a:t>
            </a:r>
            <a:br>
              <a:rPr lang="en-US" sz="1050" dirty="0">
                <a:latin typeface="Helvetica Neue" panose="02000503000000020004" pitchFamily="2" charset="0"/>
                <a:ea typeface="Helvetica Neue" panose="02000503000000020004" pitchFamily="2" charset="0"/>
                <a:cs typeface="Helvetica Neue" panose="02000503000000020004" pitchFamily="2" charset="0"/>
              </a:rPr>
            </a:br>
            <a:r>
              <a:rPr lang="en-US" sz="1050" dirty="0">
                <a:latin typeface="Helvetica Neue" panose="02000503000000020004" pitchFamily="2" charset="0"/>
                <a:ea typeface="Helvetica Neue" panose="02000503000000020004" pitchFamily="2" charset="0"/>
                <a:cs typeface="Helvetica Neue" panose="02000503000000020004" pitchFamily="2" charset="0"/>
              </a:rPr>
              <a:t>Velocity</a:t>
            </a:r>
          </a:p>
        </p:txBody>
      </p:sp>
      <p:sp>
        <p:nvSpPr>
          <p:cNvPr id="7" name="Up Arrow Callout 6">
            <a:extLst>
              <a:ext uri="{FF2B5EF4-FFF2-40B4-BE49-F238E27FC236}">
                <a16:creationId xmlns:a16="http://schemas.microsoft.com/office/drawing/2014/main" id="{6F8D9548-9B8C-4C8C-8C9F-5270736394DE}"/>
              </a:ext>
            </a:extLst>
          </p:cNvPr>
          <p:cNvSpPr/>
          <p:nvPr/>
        </p:nvSpPr>
        <p:spPr>
          <a:xfrm>
            <a:off x="11191249" y="726654"/>
            <a:ext cx="703014" cy="2098616"/>
          </a:xfrm>
          <a:prstGeom prst="upArrowCallout">
            <a:avLst>
              <a:gd name="adj1" fmla="val 25000"/>
              <a:gd name="adj2" fmla="val 25000"/>
              <a:gd name="adj3" fmla="val 25000"/>
              <a:gd name="adj4" fmla="val 15968"/>
            </a:avLst>
          </a:prstGeom>
          <a:ln>
            <a:solidFill>
              <a:schemeClr val="bg1">
                <a:lumMod val="6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050" dirty="0">
                <a:latin typeface="Helvetica Neue" panose="02000503000000020004" pitchFamily="2" charset="0"/>
                <a:ea typeface="Helvetica Neue" panose="02000503000000020004" pitchFamily="2" charset="0"/>
                <a:cs typeface="Helvetica Neue" panose="02000503000000020004" pitchFamily="2" charset="0"/>
              </a:rPr>
              <a:t>Group</a:t>
            </a:r>
            <a:br>
              <a:rPr lang="en-US" sz="1050" dirty="0">
                <a:latin typeface="Helvetica Neue" panose="02000503000000020004" pitchFamily="2" charset="0"/>
                <a:ea typeface="Helvetica Neue" panose="02000503000000020004" pitchFamily="2" charset="0"/>
                <a:cs typeface="Helvetica Neue" panose="02000503000000020004" pitchFamily="2" charset="0"/>
              </a:rPr>
            </a:br>
            <a:r>
              <a:rPr lang="en-US" sz="1050" dirty="0">
                <a:latin typeface="Helvetica Neue" panose="02000503000000020004" pitchFamily="2" charset="0"/>
                <a:ea typeface="Helvetica Neue" panose="02000503000000020004" pitchFamily="2" charset="0"/>
                <a:cs typeface="Helvetica Neue" panose="02000503000000020004" pitchFamily="2" charset="0"/>
              </a:rPr>
              <a:t>Velocity</a:t>
            </a:r>
          </a:p>
        </p:txBody>
      </p:sp>
    </p:spTree>
    <p:extLst>
      <p:ext uri="{BB962C8B-B14F-4D97-AF65-F5344CB8AC3E}">
        <p14:creationId xmlns:p14="http://schemas.microsoft.com/office/powerpoint/2010/main" val="33573550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p:cNvGrpSpPr/>
        <p:nvPr/>
      </p:nvGrpSpPr>
      <p:grpSpPr>
        <a:xfrm>
          <a:off x="0" y="0"/>
          <a:ext cx="0" cy="0"/>
          <a:chOff x="0" y="0"/>
          <a:chExt cx="0" cy="0"/>
        </a:xfrm>
      </p:grpSpPr>
      <p:sp>
        <p:nvSpPr>
          <p:cNvPr id="2" name="Donut 1">
            <a:extLst>
              <a:ext uri="{FF2B5EF4-FFF2-40B4-BE49-F238E27FC236}">
                <a16:creationId xmlns:a16="http://schemas.microsoft.com/office/drawing/2014/main" id="{BA4288FE-88D7-9EDC-40A6-C24DF48CE79A}"/>
              </a:ext>
            </a:extLst>
          </p:cNvPr>
          <p:cNvSpPr/>
          <p:nvPr/>
        </p:nvSpPr>
        <p:spPr>
          <a:xfrm>
            <a:off x="914209" y="1156872"/>
            <a:ext cx="4369174" cy="4369174"/>
          </a:xfrm>
          <a:prstGeom prst="donut">
            <a:avLst>
              <a:gd name="adj" fmla="val 17182"/>
            </a:avLst>
          </a:prstGeom>
          <a:solidFill>
            <a:srgbClr val="D883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Donut 2">
            <a:extLst>
              <a:ext uri="{FF2B5EF4-FFF2-40B4-BE49-F238E27FC236}">
                <a16:creationId xmlns:a16="http://schemas.microsoft.com/office/drawing/2014/main" id="{B708AADB-0A16-6D14-D9CD-DF1192E78C07}"/>
              </a:ext>
            </a:extLst>
          </p:cNvPr>
          <p:cNvSpPr/>
          <p:nvPr/>
        </p:nvSpPr>
        <p:spPr>
          <a:xfrm>
            <a:off x="1737842" y="1980507"/>
            <a:ext cx="2721908" cy="2721908"/>
          </a:xfrm>
          <a:prstGeom prst="donut">
            <a:avLst>
              <a:gd name="adj" fmla="val 24742"/>
            </a:avLst>
          </a:prstGeom>
          <a:solidFill>
            <a:srgbClr val="9437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Donut 3">
            <a:extLst>
              <a:ext uri="{FF2B5EF4-FFF2-40B4-BE49-F238E27FC236}">
                <a16:creationId xmlns:a16="http://schemas.microsoft.com/office/drawing/2014/main" id="{428EE5F5-1912-9D07-7806-71DBA8A4FA8F}"/>
              </a:ext>
            </a:extLst>
          </p:cNvPr>
          <p:cNvSpPr/>
          <p:nvPr/>
        </p:nvSpPr>
        <p:spPr>
          <a:xfrm>
            <a:off x="2528978" y="2759035"/>
            <a:ext cx="1164851" cy="1164851"/>
          </a:xfrm>
          <a:prstGeom prst="donut">
            <a:avLst>
              <a:gd name="adj" fmla="val 43960"/>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cxnSp>
        <p:nvCxnSpPr>
          <p:cNvPr id="6" name="Straight Connector 5">
            <a:extLst>
              <a:ext uri="{FF2B5EF4-FFF2-40B4-BE49-F238E27FC236}">
                <a16:creationId xmlns:a16="http://schemas.microsoft.com/office/drawing/2014/main" id="{1D6AD72A-9502-F178-9424-440D8A6757ED}"/>
              </a:ext>
            </a:extLst>
          </p:cNvPr>
          <p:cNvCxnSpPr>
            <a:cxnSpLocks/>
            <a:endCxn id="2" idx="7"/>
          </p:cNvCxnSpPr>
          <p:nvPr/>
        </p:nvCxnSpPr>
        <p:spPr>
          <a:xfrm flipV="1">
            <a:off x="3098796" y="1796723"/>
            <a:ext cx="1544736" cy="1544738"/>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CB52F6BF-FC61-3808-39AA-72AB802156DF}"/>
              </a:ext>
            </a:extLst>
          </p:cNvPr>
          <p:cNvCxnSpPr>
            <a:cxnSpLocks/>
          </p:cNvCxnSpPr>
          <p:nvPr/>
        </p:nvCxnSpPr>
        <p:spPr>
          <a:xfrm>
            <a:off x="3098796" y="3341460"/>
            <a:ext cx="595033" cy="1253986"/>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54059970-CC4F-C26F-4E26-B67060AA9468}"/>
              </a:ext>
            </a:extLst>
          </p:cNvPr>
          <p:cNvCxnSpPr>
            <a:cxnSpLocks/>
          </p:cNvCxnSpPr>
          <p:nvPr/>
        </p:nvCxnSpPr>
        <p:spPr>
          <a:xfrm flipH="1" flipV="1">
            <a:off x="2492035" y="3157179"/>
            <a:ext cx="606761" cy="184280"/>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2AC75854-C582-B325-2779-91D5942E7C63}"/>
              </a:ext>
            </a:extLst>
          </p:cNvPr>
          <p:cNvSpPr txBox="1"/>
          <p:nvPr/>
        </p:nvSpPr>
        <p:spPr>
          <a:xfrm>
            <a:off x="2539994" y="5841067"/>
            <a:ext cx="1117603" cy="52322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SLM</a:t>
            </a:r>
          </a:p>
        </p:txBody>
      </p:sp>
      <p:sp>
        <p:nvSpPr>
          <p:cNvPr id="5" name="Donut 4">
            <a:extLst>
              <a:ext uri="{FF2B5EF4-FFF2-40B4-BE49-F238E27FC236}">
                <a16:creationId xmlns:a16="http://schemas.microsoft.com/office/drawing/2014/main" id="{C1882956-1CD8-6E50-F8A3-2F831D543740}"/>
              </a:ext>
            </a:extLst>
          </p:cNvPr>
          <p:cNvSpPr/>
          <p:nvPr/>
        </p:nvSpPr>
        <p:spPr>
          <a:xfrm>
            <a:off x="6920345" y="1160777"/>
            <a:ext cx="4369174" cy="4369174"/>
          </a:xfrm>
          <a:prstGeom prst="donut">
            <a:avLst>
              <a:gd name="adj" fmla="val 17182"/>
            </a:avLst>
          </a:prstGeom>
          <a:solidFill>
            <a:srgbClr val="D883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Donut 6">
            <a:extLst>
              <a:ext uri="{FF2B5EF4-FFF2-40B4-BE49-F238E27FC236}">
                <a16:creationId xmlns:a16="http://schemas.microsoft.com/office/drawing/2014/main" id="{CF0500E5-1CEE-8D30-C186-9577181EEDC5}"/>
              </a:ext>
            </a:extLst>
          </p:cNvPr>
          <p:cNvSpPr/>
          <p:nvPr/>
        </p:nvSpPr>
        <p:spPr>
          <a:xfrm>
            <a:off x="7743978" y="1984412"/>
            <a:ext cx="2721908" cy="2721908"/>
          </a:xfrm>
          <a:prstGeom prst="donut">
            <a:avLst>
              <a:gd name="adj" fmla="val 24742"/>
            </a:avLst>
          </a:prstGeom>
          <a:solidFill>
            <a:srgbClr val="9437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Donut 8">
            <a:extLst>
              <a:ext uri="{FF2B5EF4-FFF2-40B4-BE49-F238E27FC236}">
                <a16:creationId xmlns:a16="http://schemas.microsoft.com/office/drawing/2014/main" id="{EE3E73BC-70EA-4ECC-D219-8C668A9231A4}"/>
              </a:ext>
            </a:extLst>
          </p:cNvPr>
          <p:cNvSpPr/>
          <p:nvPr/>
        </p:nvSpPr>
        <p:spPr>
          <a:xfrm>
            <a:off x="8535114" y="2762940"/>
            <a:ext cx="1164851" cy="1164851"/>
          </a:xfrm>
          <a:prstGeom prst="donut">
            <a:avLst>
              <a:gd name="adj" fmla="val 43960"/>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cxnSp>
        <p:nvCxnSpPr>
          <p:cNvPr id="10" name="Straight Connector 9">
            <a:extLst>
              <a:ext uri="{FF2B5EF4-FFF2-40B4-BE49-F238E27FC236}">
                <a16:creationId xmlns:a16="http://schemas.microsoft.com/office/drawing/2014/main" id="{8EE73430-EA8C-4D56-5368-6EE84D719BA1}"/>
              </a:ext>
            </a:extLst>
          </p:cNvPr>
          <p:cNvCxnSpPr>
            <a:cxnSpLocks/>
            <a:endCxn id="7" idx="7"/>
          </p:cNvCxnSpPr>
          <p:nvPr/>
        </p:nvCxnSpPr>
        <p:spPr>
          <a:xfrm flipV="1">
            <a:off x="9104932" y="2383026"/>
            <a:ext cx="962340" cy="962340"/>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FA237148-3DC5-974C-0428-0EF5DFF85F6D}"/>
              </a:ext>
            </a:extLst>
          </p:cNvPr>
          <p:cNvCxnSpPr>
            <a:cxnSpLocks/>
          </p:cNvCxnSpPr>
          <p:nvPr/>
        </p:nvCxnSpPr>
        <p:spPr>
          <a:xfrm>
            <a:off x="9104932" y="3345365"/>
            <a:ext cx="812791" cy="2039435"/>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3C17F5ED-BDDC-BF50-22F2-809681141604}"/>
              </a:ext>
            </a:extLst>
          </p:cNvPr>
          <p:cNvCxnSpPr>
            <a:cxnSpLocks/>
          </p:cNvCxnSpPr>
          <p:nvPr/>
        </p:nvCxnSpPr>
        <p:spPr>
          <a:xfrm flipH="1" flipV="1">
            <a:off x="8471877" y="3157179"/>
            <a:ext cx="633055" cy="188185"/>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42D340C8-BCD0-C685-AA68-6274E1F27D72}"/>
              </a:ext>
            </a:extLst>
          </p:cNvPr>
          <p:cNvSpPr txBox="1"/>
          <p:nvPr/>
        </p:nvSpPr>
        <p:spPr>
          <a:xfrm>
            <a:off x="8546130" y="5841067"/>
            <a:ext cx="1117603" cy="52322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SML</a:t>
            </a:r>
          </a:p>
        </p:txBody>
      </p:sp>
      <p:sp>
        <p:nvSpPr>
          <p:cNvPr id="30" name="Title 4">
            <a:extLst>
              <a:ext uri="{FF2B5EF4-FFF2-40B4-BE49-F238E27FC236}">
                <a16:creationId xmlns:a16="http://schemas.microsoft.com/office/drawing/2014/main" id="{C0C43CCF-97B1-AD41-7C98-F6EFE9A74335}"/>
              </a:ext>
            </a:extLst>
          </p:cNvPr>
          <p:cNvSpPr txBox="1">
            <a:spLocks/>
          </p:cNvSpPr>
          <p:nvPr/>
        </p:nvSpPr>
        <p:spPr>
          <a:xfrm>
            <a:off x="453293" y="187318"/>
            <a:ext cx="11238522" cy="777875"/>
          </a:xfrm>
          <a:prstGeom prst="rect">
            <a:avLst/>
          </a:prstGeom>
        </p:spPr>
        <p:txBody>
          <a:bodyPr anchor="ctr">
            <a:normAutofit fontScale="85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Distinct Angular Momentum Vector Orientation </a:t>
            </a:r>
          </a:p>
        </p:txBody>
      </p:sp>
      <p:sp>
        <p:nvSpPr>
          <p:cNvPr id="31" name="TextBox 30">
            <a:extLst>
              <a:ext uri="{FF2B5EF4-FFF2-40B4-BE49-F238E27FC236}">
                <a16:creationId xmlns:a16="http://schemas.microsoft.com/office/drawing/2014/main" id="{A0ACBB4C-A45F-8A60-4CAD-A0538D4CACB0}"/>
              </a:ext>
            </a:extLst>
          </p:cNvPr>
          <p:cNvSpPr txBox="1"/>
          <p:nvPr/>
        </p:nvSpPr>
        <p:spPr>
          <a:xfrm>
            <a:off x="3777497" y="5314225"/>
            <a:ext cx="696872"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M</a:t>
            </a:r>
          </a:p>
        </p:txBody>
      </p:sp>
      <p:sp>
        <p:nvSpPr>
          <p:cNvPr id="32" name="TextBox 31">
            <a:extLst>
              <a:ext uri="{FF2B5EF4-FFF2-40B4-BE49-F238E27FC236}">
                <a16:creationId xmlns:a16="http://schemas.microsoft.com/office/drawing/2014/main" id="{71945390-E14D-E3B4-3810-7D8CF00E9BA1}"/>
              </a:ext>
            </a:extLst>
          </p:cNvPr>
          <p:cNvSpPr txBox="1"/>
          <p:nvPr/>
        </p:nvSpPr>
        <p:spPr>
          <a:xfrm>
            <a:off x="6479683" y="2492438"/>
            <a:ext cx="696872"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S</a:t>
            </a:r>
          </a:p>
        </p:txBody>
      </p:sp>
      <p:sp>
        <p:nvSpPr>
          <p:cNvPr id="33" name="TextBox 32">
            <a:extLst>
              <a:ext uri="{FF2B5EF4-FFF2-40B4-BE49-F238E27FC236}">
                <a16:creationId xmlns:a16="http://schemas.microsoft.com/office/drawing/2014/main" id="{08AE107B-C680-F726-75BB-CEC65D991224}"/>
              </a:ext>
            </a:extLst>
          </p:cNvPr>
          <p:cNvSpPr txBox="1"/>
          <p:nvPr/>
        </p:nvSpPr>
        <p:spPr>
          <a:xfrm>
            <a:off x="4474369" y="1445966"/>
            <a:ext cx="696872"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L</a:t>
            </a:r>
          </a:p>
        </p:txBody>
      </p:sp>
      <p:sp>
        <p:nvSpPr>
          <p:cNvPr id="34" name="TextBox 33">
            <a:extLst>
              <a:ext uri="{FF2B5EF4-FFF2-40B4-BE49-F238E27FC236}">
                <a16:creationId xmlns:a16="http://schemas.microsoft.com/office/drawing/2014/main" id="{5D8F3AF5-4341-0AFB-6621-F883DF56D80F}"/>
              </a:ext>
            </a:extLst>
          </p:cNvPr>
          <p:cNvSpPr txBox="1"/>
          <p:nvPr/>
        </p:nvSpPr>
        <p:spPr>
          <a:xfrm>
            <a:off x="10465886" y="1429472"/>
            <a:ext cx="696872"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M</a:t>
            </a:r>
          </a:p>
        </p:txBody>
      </p:sp>
      <p:sp>
        <p:nvSpPr>
          <p:cNvPr id="35" name="TextBox 34">
            <a:extLst>
              <a:ext uri="{FF2B5EF4-FFF2-40B4-BE49-F238E27FC236}">
                <a16:creationId xmlns:a16="http://schemas.microsoft.com/office/drawing/2014/main" id="{5785E698-D0F4-2F28-B338-A2B3B2C6E5DA}"/>
              </a:ext>
            </a:extLst>
          </p:cNvPr>
          <p:cNvSpPr txBox="1"/>
          <p:nvPr/>
        </p:nvSpPr>
        <p:spPr>
          <a:xfrm>
            <a:off x="472203" y="2492438"/>
            <a:ext cx="696872"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S</a:t>
            </a:r>
          </a:p>
        </p:txBody>
      </p:sp>
      <p:sp>
        <p:nvSpPr>
          <p:cNvPr id="36" name="TextBox 35">
            <a:extLst>
              <a:ext uri="{FF2B5EF4-FFF2-40B4-BE49-F238E27FC236}">
                <a16:creationId xmlns:a16="http://schemas.microsoft.com/office/drawing/2014/main" id="{1955B46F-F178-3B04-0104-3A7E4B8A88AD}"/>
              </a:ext>
            </a:extLst>
          </p:cNvPr>
          <p:cNvSpPr txBox="1"/>
          <p:nvPr/>
        </p:nvSpPr>
        <p:spPr>
          <a:xfrm>
            <a:off x="9655795" y="5365217"/>
            <a:ext cx="696872"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L</a:t>
            </a:r>
          </a:p>
        </p:txBody>
      </p:sp>
    </p:spTree>
    <p:extLst>
      <p:ext uri="{BB962C8B-B14F-4D97-AF65-F5344CB8AC3E}">
        <p14:creationId xmlns:p14="http://schemas.microsoft.com/office/powerpoint/2010/main" val="12833118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724E0CA2-2D05-FFCC-E9C4-CA968FBD7555}"/>
              </a:ext>
            </a:extLst>
          </p:cNvPr>
          <p:cNvGraphicFramePr>
            <a:graphicFrameLocks noGrp="1"/>
          </p:cNvGraphicFramePr>
          <p:nvPr>
            <p:extLst>
              <p:ext uri="{D42A27DB-BD31-4B8C-83A1-F6EECF244321}">
                <p14:modId xmlns:p14="http://schemas.microsoft.com/office/powerpoint/2010/main" val="3058871316"/>
              </p:ext>
            </p:extLst>
          </p:nvPr>
        </p:nvGraphicFramePr>
        <p:xfrm>
          <a:off x="781099" y="1430867"/>
          <a:ext cx="5545665" cy="4842933"/>
        </p:xfrm>
        <a:graphic>
          <a:graphicData uri="http://schemas.openxmlformats.org/drawingml/2006/table">
            <a:tbl>
              <a:tblPr firstRow="1" bandRow="1">
                <a:tableStyleId>{073A0DAA-6AF3-43AB-8588-CEC1D06C72B9}</a:tableStyleId>
              </a:tblPr>
              <a:tblGrid>
                <a:gridCol w="1848555">
                  <a:extLst>
                    <a:ext uri="{9D8B030D-6E8A-4147-A177-3AD203B41FA5}">
                      <a16:colId xmlns:a16="http://schemas.microsoft.com/office/drawing/2014/main" val="230221416"/>
                    </a:ext>
                  </a:extLst>
                </a:gridCol>
                <a:gridCol w="1848555">
                  <a:extLst>
                    <a:ext uri="{9D8B030D-6E8A-4147-A177-3AD203B41FA5}">
                      <a16:colId xmlns:a16="http://schemas.microsoft.com/office/drawing/2014/main" val="3174247679"/>
                    </a:ext>
                  </a:extLst>
                </a:gridCol>
                <a:gridCol w="1848555">
                  <a:extLst>
                    <a:ext uri="{9D8B030D-6E8A-4147-A177-3AD203B41FA5}">
                      <a16:colId xmlns:a16="http://schemas.microsoft.com/office/drawing/2014/main" val="1148376956"/>
                    </a:ext>
                  </a:extLst>
                </a:gridCol>
              </a:tblGrid>
              <a:tr h="1614311">
                <a:tc>
                  <a:txBody>
                    <a:bodyPr/>
                    <a:lstStyle/>
                    <a:p>
                      <a:pPr algn="ctr"/>
                      <a:r>
                        <a:rPr lang="en-US" dirty="0">
                          <a:solidFill>
                            <a:schemeClr val="tx1"/>
                          </a:solidFill>
                          <a:latin typeface="Helvetica Neue" panose="02000503000000020004" pitchFamily="2" charset="0"/>
                          <a:ea typeface="Helvetica Neue" panose="02000503000000020004" pitchFamily="2" charset="0"/>
                          <a:cs typeface="Helvetica Neue" panose="02000503000000020004" pitchFamily="2" charset="0"/>
                        </a:rPr>
                        <a:t>Tri Binary</a:t>
                      </a:r>
                    </a:p>
                    <a:p>
                      <a:pPr algn="ctr"/>
                      <a:r>
                        <a:rPr lang="en-US" dirty="0">
                          <a:solidFill>
                            <a:schemeClr val="tx1"/>
                          </a:solidFill>
                          <a:latin typeface="Helvetica Neue" panose="02000503000000020004" pitchFamily="2" charset="0"/>
                          <a:ea typeface="Helvetica Neue" panose="02000503000000020004" pitchFamily="2" charset="0"/>
                          <a:cs typeface="Helvetica Neue" panose="02000503000000020004" pitchFamily="2" charset="0"/>
                        </a:rPr>
                        <a:t>Forms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solidFill>
                            <a:schemeClr val="tx1"/>
                          </a:solidFill>
                          <a:latin typeface="Helvetica Neue" panose="02000503000000020004" pitchFamily="2" charset="0"/>
                          <a:ea typeface="Helvetica Neue" panose="02000503000000020004" pitchFamily="2" charset="0"/>
                          <a:cs typeface="Helvetica Neue" panose="02000503000000020004" pitchFamily="2" charset="0"/>
                        </a:rPr>
                        <a:t>Left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US" dirty="0">
                          <a:solidFill>
                            <a:schemeClr val="tx1"/>
                          </a:solidFill>
                          <a:latin typeface="Helvetica Neue" panose="02000503000000020004" pitchFamily="2" charset="0"/>
                          <a:ea typeface="Helvetica Neue" panose="02000503000000020004" pitchFamily="2" charset="0"/>
                          <a:cs typeface="Helvetica Neue" panose="02000503000000020004" pitchFamily="2" charset="0"/>
                        </a:rPr>
                        <a:t>Right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extLst>
                  <a:ext uri="{0D108BD9-81ED-4DB2-BD59-A6C34878D82A}">
                    <a16:rowId xmlns:a16="http://schemas.microsoft.com/office/drawing/2014/main" val="3796638479"/>
                  </a:ext>
                </a:extLst>
              </a:tr>
              <a:tr h="1614311">
                <a:tc>
                  <a:txBody>
                    <a:bodyPr/>
                    <a:lstStyle/>
                    <a:p>
                      <a:pPr algn="ctr"/>
                      <a:r>
                        <a:rPr lang="en-US" b="1" dirty="0">
                          <a:latin typeface="Helvetica Neue" panose="02000503000000020004" pitchFamily="2" charset="0"/>
                          <a:ea typeface="Helvetica Neue" panose="02000503000000020004" pitchFamily="2" charset="0"/>
                          <a:cs typeface="Helvetica Neue" panose="02000503000000020004" pitchFamily="2" charset="0"/>
                        </a:rPr>
                        <a:t>Pro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endParaRPr lang="en-US" dirty="0">
                        <a:latin typeface="Helvetica Neue" panose="02000503000000020004" pitchFamily="2" charset="0"/>
                        <a:ea typeface="Helvetica Neue" panose="02000503000000020004" pitchFamily="2" charset="0"/>
                        <a:cs typeface="Helvetica Neue" panose="02000503000000020004"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dirty="0">
                        <a:latin typeface="Helvetica Neue" panose="02000503000000020004" pitchFamily="2" charset="0"/>
                        <a:ea typeface="Helvetica Neue" panose="02000503000000020004" pitchFamily="2" charset="0"/>
                        <a:cs typeface="Helvetica Neue" panose="02000503000000020004"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96901457"/>
                  </a:ext>
                </a:extLst>
              </a:tr>
              <a:tr h="1614311">
                <a:tc>
                  <a:txBody>
                    <a:bodyPr/>
                    <a:lstStyle/>
                    <a:p>
                      <a:pPr algn="ctr"/>
                      <a:r>
                        <a:rPr lang="en-US" b="1" dirty="0">
                          <a:latin typeface="Helvetica Neue" panose="02000503000000020004" pitchFamily="2" charset="0"/>
                          <a:ea typeface="Helvetica Neue" panose="02000503000000020004" pitchFamily="2" charset="0"/>
                          <a:cs typeface="Helvetica Neue" panose="02000503000000020004" pitchFamily="2" charset="0"/>
                        </a:rPr>
                        <a:t>Anti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endParaRPr lang="en-US" dirty="0">
                        <a:latin typeface="Helvetica Neue" panose="02000503000000020004" pitchFamily="2" charset="0"/>
                        <a:ea typeface="Helvetica Neue" panose="02000503000000020004" pitchFamily="2" charset="0"/>
                        <a:cs typeface="Helvetica Neue" panose="02000503000000020004"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dirty="0">
                        <a:latin typeface="Helvetica Neue" panose="02000503000000020004" pitchFamily="2" charset="0"/>
                        <a:ea typeface="Helvetica Neue" panose="02000503000000020004" pitchFamily="2" charset="0"/>
                        <a:cs typeface="Helvetica Neue" panose="02000503000000020004"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042622526"/>
                  </a:ext>
                </a:extLst>
              </a:tr>
            </a:tbl>
          </a:graphicData>
        </a:graphic>
      </p:graphicFrame>
      <p:grpSp>
        <p:nvGrpSpPr>
          <p:cNvPr id="5" name="Group 4">
            <a:extLst>
              <a:ext uri="{FF2B5EF4-FFF2-40B4-BE49-F238E27FC236}">
                <a16:creationId xmlns:a16="http://schemas.microsoft.com/office/drawing/2014/main" id="{D4ABFA44-986D-EBB0-AAAB-E799A3820470}"/>
              </a:ext>
            </a:extLst>
          </p:cNvPr>
          <p:cNvGrpSpPr/>
          <p:nvPr/>
        </p:nvGrpSpPr>
        <p:grpSpPr>
          <a:xfrm>
            <a:off x="3040221" y="4990413"/>
            <a:ext cx="1000690" cy="1000690"/>
            <a:chOff x="5070055" y="4965013"/>
            <a:chExt cx="1000690" cy="1000690"/>
          </a:xfrm>
        </p:grpSpPr>
        <p:grpSp>
          <p:nvGrpSpPr>
            <p:cNvPr id="884" name="Group 883">
              <a:extLst>
                <a:ext uri="{FF2B5EF4-FFF2-40B4-BE49-F238E27FC236}">
                  <a16:creationId xmlns:a16="http://schemas.microsoft.com/office/drawing/2014/main" id="{3788A685-B5AE-0EE0-02E2-BD13127E4924}"/>
                </a:ext>
              </a:extLst>
            </p:cNvPr>
            <p:cNvGrpSpPr/>
            <p:nvPr/>
          </p:nvGrpSpPr>
          <p:grpSpPr>
            <a:xfrm rot="14400000">
              <a:off x="5070055" y="4965013"/>
              <a:ext cx="1000690" cy="1000690"/>
              <a:chOff x="5354637" y="3446463"/>
              <a:chExt cx="214313" cy="214313"/>
            </a:xfrm>
          </p:grpSpPr>
          <p:sp>
            <p:nvSpPr>
              <p:cNvPr id="893" name="Arc 892">
                <a:extLst>
                  <a:ext uri="{FF2B5EF4-FFF2-40B4-BE49-F238E27FC236}">
                    <a16:creationId xmlns:a16="http://schemas.microsoft.com/office/drawing/2014/main" id="{36CB7700-E907-6A13-C359-273700B1A382}"/>
                  </a:ext>
                </a:extLst>
              </p:cNvPr>
              <p:cNvSpPr/>
              <p:nvPr/>
            </p:nvSpPr>
            <p:spPr>
              <a:xfrm>
                <a:off x="5354637" y="3446463"/>
                <a:ext cx="214313" cy="214313"/>
              </a:xfrm>
              <a:prstGeom prst="arc">
                <a:avLst>
                  <a:gd name="adj1" fmla="val 16980644"/>
                  <a:gd name="adj2" fmla="val 5405383"/>
                </a:avLst>
              </a:prstGeom>
              <a:ln w="12700" cap="rnd">
                <a:gradFill>
                  <a:gsLst>
                    <a:gs pos="0">
                      <a:schemeClr val="bg1"/>
                    </a:gs>
                    <a:gs pos="91000">
                      <a:srgbClr val="0070C0"/>
                    </a:gs>
                  </a:gsLst>
                  <a:lin ang="5400000" scaled="1"/>
                </a:gradFill>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94" name="Arc 893">
                <a:extLst>
                  <a:ext uri="{FF2B5EF4-FFF2-40B4-BE49-F238E27FC236}">
                    <a16:creationId xmlns:a16="http://schemas.microsoft.com/office/drawing/2014/main" id="{233B539C-5706-C044-A36C-4A440F2CB174}"/>
                  </a:ext>
                </a:extLst>
              </p:cNvPr>
              <p:cNvSpPr/>
              <p:nvPr/>
            </p:nvSpPr>
            <p:spPr>
              <a:xfrm rot="10800000">
                <a:off x="5354637" y="3446463"/>
                <a:ext cx="214313" cy="214313"/>
              </a:xfrm>
              <a:prstGeom prst="arc">
                <a:avLst>
                  <a:gd name="adj1" fmla="val 17194449"/>
                  <a:gd name="adj2" fmla="val 5405383"/>
                </a:avLst>
              </a:prstGeom>
              <a:ln w="12700" cap="rnd">
                <a:gradFill>
                  <a:gsLst>
                    <a:gs pos="0">
                      <a:schemeClr val="bg1"/>
                    </a:gs>
                    <a:gs pos="86000">
                      <a:srgbClr val="FF0000"/>
                    </a:gs>
                  </a:gsLst>
                  <a:lin ang="5400000" scaled="1"/>
                </a:gradFill>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886" name="Group 885">
              <a:extLst>
                <a:ext uri="{FF2B5EF4-FFF2-40B4-BE49-F238E27FC236}">
                  <a16:creationId xmlns:a16="http://schemas.microsoft.com/office/drawing/2014/main" id="{529336BD-FD8A-80B1-06AC-3EFDCD06B2D7}"/>
                </a:ext>
              </a:extLst>
            </p:cNvPr>
            <p:cNvGrpSpPr/>
            <p:nvPr/>
          </p:nvGrpSpPr>
          <p:grpSpPr>
            <a:xfrm>
              <a:off x="5297683" y="5192641"/>
              <a:ext cx="545436" cy="545436"/>
              <a:chOff x="5354637" y="3446463"/>
              <a:chExt cx="214313" cy="214313"/>
            </a:xfrm>
          </p:grpSpPr>
          <p:sp>
            <p:nvSpPr>
              <p:cNvPr id="891" name="Arc 890">
                <a:extLst>
                  <a:ext uri="{FF2B5EF4-FFF2-40B4-BE49-F238E27FC236}">
                    <a16:creationId xmlns:a16="http://schemas.microsoft.com/office/drawing/2014/main" id="{1465D130-2D7B-8F25-811E-DF848D90064F}"/>
                  </a:ext>
                </a:extLst>
              </p:cNvPr>
              <p:cNvSpPr/>
              <p:nvPr/>
            </p:nvSpPr>
            <p:spPr>
              <a:xfrm>
                <a:off x="5354637" y="3446463"/>
                <a:ext cx="214313" cy="214313"/>
              </a:xfrm>
              <a:prstGeom prst="arc">
                <a:avLst>
                  <a:gd name="adj1" fmla="val 16980644"/>
                  <a:gd name="adj2" fmla="val 5405383"/>
                </a:avLst>
              </a:prstGeom>
              <a:ln w="12700" cap="rnd">
                <a:gradFill>
                  <a:gsLst>
                    <a:gs pos="0">
                      <a:schemeClr val="bg1"/>
                    </a:gs>
                    <a:gs pos="91000">
                      <a:srgbClr val="0070C0"/>
                    </a:gs>
                  </a:gsLst>
                  <a:lin ang="5400000" scaled="1"/>
                </a:gradFill>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92" name="Arc 891">
                <a:extLst>
                  <a:ext uri="{FF2B5EF4-FFF2-40B4-BE49-F238E27FC236}">
                    <a16:creationId xmlns:a16="http://schemas.microsoft.com/office/drawing/2014/main" id="{A281CF3F-1386-D588-8AD3-6379F2D99E77}"/>
                  </a:ext>
                </a:extLst>
              </p:cNvPr>
              <p:cNvSpPr/>
              <p:nvPr/>
            </p:nvSpPr>
            <p:spPr>
              <a:xfrm rot="10800000">
                <a:off x="5354637" y="3446463"/>
                <a:ext cx="214313" cy="214313"/>
              </a:xfrm>
              <a:prstGeom prst="arc">
                <a:avLst>
                  <a:gd name="adj1" fmla="val 17194449"/>
                  <a:gd name="adj2" fmla="val 5405383"/>
                </a:avLst>
              </a:prstGeom>
              <a:ln w="12700" cap="rnd">
                <a:gradFill>
                  <a:gsLst>
                    <a:gs pos="0">
                      <a:schemeClr val="bg1"/>
                    </a:gs>
                    <a:gs pos="86000">
                      <a:srgbClr val="FF0000"/>
                    </a:gs>
                  </a:gsLst>
                  <a:lin ang="5400000" scaled="1"/>
                </a:gradFill>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887" name="Group 886">
              <a:extLst>
                <a:ext uri="{FF2B5EF4-FFF2-40B4-BE49-F238E27FC236}">
                  <a16:creationId xmlns:a16="http://schemas.microsoft.com/office/drawing/2014/main" id="{ADA46A4F-620A-7653-976E-B1DDDCE90D24}"/>
                </a:ext>
              </a:extLst>
            </p:cNvPr>
            <p:cNvGrpSpPr/>
            <p:nvPr/>
          </p:nvGrpSpPr>
          <p:grpSpPr>
            <a:xfrm rot="7200000">
              <a:off x="5184556" y="5079514"/>
              <a:ext cx="771690" cy="771690"/>
              <a:chOff x="5354637" y="3446463"/>
              <a:chExt cx="214313" cy="214313"/>
            </a:xfrm>
          </p:grpSpPr>
          <p:sp>
            <p:nvSpPr>
              <p:cNvPr id="889" name="Arc 888">
                <a:extLst>
                  <a:ext uri="{FF2B5EF4-FFF2-40B4-BE49-F238E27FC236}">
                    <a16:creationId xmlns:a16="http://schemas.microsoft.com/office/drawing/2014/main" id="{7FEDC80C-E0D5-FD26-0508-C035760A099C}"/>
                  </a:ext>
                </a:extLst>
              </p:cNvPr>
              <p:cNvSpPr/>
              <p:nvPr/>
            </p:nvSpPr>
            <p:spPr>
              <a:xfrm>
                <a:off x="5354637" y="3446463"/>
                <a:ext cx="214313" cy="214313"/>
              </a:xfrm>
              <a:prstGeom prst="arc">
                <a:avLst>
                  <a:gd name="adj1" fmla="val 16980644"/>
                  <a:gd name="adj2" fmla="val 5405383"/>
                </a:avLst>
              </a:prstGeom>
              <a:ln w="12700" cap="rnd">
                <a:gradFill>
                  <a:gsLst>
                    <a:gs pos="0">
                      <a:schemeClr val="bg1"/>
                    </a:gs>
                    <a:gs pos="91000">
                      <a:srgbClr val="0070C0"/>
                    </a:gs>
                  </a:gsLst>
                  <a:lin ang="5400000" scaled="1"/>
                </a:gradFill>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90" name="Arc 889">
                <a:extLst>
                  <a:ext uri="{FF2B5EF4-FFF2-40B4-BE49-F238E27FC236}">
                    <a16:creationId xmlns:a16="http://schemas.microsoft.com/office/drawing/2014/main" id="{80EAEE0A-2226-488A-BAA7-6D1F67148E63}"/>
                  </a:ext>
                </a:extLst>
              </p:cNvPr>
              <p:cNvSpPr/>
              <p:nvPr/>
            </p:nvSpPr>
            <p:spPr>
              <a:xfrm rot="10800000">
                <a:off x="5354637" y="3446463"/>
                <a:ext cx="214313" cy="214313"/>
              </a:xfrm>
              <a:prstGeom prst="arc">
                <a:avLst>
                  <a:gd name="adj1" fmla="val 17194449"/>
                  <a:gd name="adj2" fmla="val 5405383"/>
                </a:avLst>
              </a:prstGeom>
              <a:ln w="12700" cap="rnd">
                <a:gradFill>
                  <a:gsLst>
                    <a:gs pos="0">
                      <a:schemeClr val="bg1"/>
                    </a:gs>
                    <a:gs pos="86000">
                      <a:srgbClr val="FF0000"/>
                    </a:gs>
                  </a:gsLst>
                  <a:lin ang="5400000" scaled="1"/>
                </a:gradFill>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888" name="TextBox 887">
              <a:extLst>
                <a:ext uri="{FF2B5EF4-FFF2-40B4-BE49-F238E27FC236}">
                  <a16:creationId xmlns:a16="http://schemas.microsoft.com/office/drawing/2014/main" id="{890AF967-0D63-BFD5-19AE-4087E1F7778D}"/>
                </a:ext>
              </a:extLst>
            </p:cNvPr>
            <p:cNvSpPr txBox="1"/>
            <p:nvPr/>
          </p:nvSpPr>
          <p:spPr>
            <a:xfrm>
              <a:off x="5337804" y="5162187"/>
              <a:ext cx="465192" cy="584775"/>
            </a:xfrm>
            <a:prstGeom prst="rect">
              <a:avLst/>
            </a:prstGeom>
            <a:noFill/>
          </p:spPr>
          <p:txBody>
            <a:bodyPr wrap="non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srgbClr val="7030A0">
                      <a:alpha val="50000"/>
                    </a:srgbClr>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grpSp>
      <p:grpSp>
        <p:nvGrpSpPr>
          <p:cNvPr id="10" name="Group 9">
            <a:extLst>
              <a:ext uri="{FF2B5EF4-FFF2-40B4-BE49-F238E27FC236}">
                <a16:creationId xmlns:a16="http://schemas.microsoft.com/office/drawing/2014/main" id="{CBD0971C-302A-9F38-41E4-3630FB669227}"/>
              </a:ext>
            </a:extLst>
          </p:cNvPr>
          <p:cNvGrpSpPr/>
          <p:nvPr/>
        </p:nvGrpSpPr>
        <p:grpSpPr>
          <a:xfrm>
            <a:off x="3040221" y="3377734"/>
            <a:ext cx="1000690" cy="1000690"/>
            <a:chOff x="5070055" y="3352334"/>
            <a:chExt cx="1000690" cy="1000690"/>
          </a:xfrm>
        </p:grpSpPr>
        <p:grpSp>
          <p:nvGrpSpPr>
            <p:cNvPr id="874" name="Group 873">
              <a:extLst>
                <a:ext uri="{FF2B5EF4-FFF2-40B4-BE49-F238E27FC236}">
                  <a16:creationId xmlns:a16="http://schemas.microsoft.com/office/drawing/2014/main" id="{9FE66D80-328B-DAA5-F448-0B32A16DC785}"/>
                </a:ext>
              </a:extLst>
            </p:cNvPr>
            <p:cNvGrpSpPr/>
            <p:nvPr/>
          </p:nvGrpSpPr>
          <p:grpSpPr>
            <a:xfrm>
              <a:off x="5297684" y="3579968"/>
              <a:ext cx="545436" cy="545436"/>
              <a:chOff x="5354637" y="3446463"/>
              <a:chExt cx="214313" cy="214313"/>
            </a:xfrm>
          </p:grpSpPr>
          <p:sp>
            <p:nvSpPr>
              <p:cNvPr id="882" name="Arc 881">
                <a:extLst>
                  <a:ext uri="{FF2B5EF4-FFF2-40B4-BE49-F238E27FC236}">
                    <a16:creationId xmlns:a16="http://schemas.microsoft.com/office/drawing/2014/main" id="{FC15BCD7-61F1-F280-B291-6D3C7FB4ADD0}"/>
                  </a:ext>
                </a:extLst>
              </p:cNvPr>
              <p:cNvSpPr/>
              <p:nvPr/>
            </p:nvSpPr>
            <p:spPr>
              <a:xfrm>
                <a:off x="5354637" y="3446463"/>
                <a:ext cx="214313" cy="214313"/>
              </a:xfrm>
              <a:prstGeom prst="arc">
                <a:avLst>
                  <a:gd name="adj1" fmla="val 16980644"/>
                  <a:gd name="adj2" fmla="val 5405383"/>
                </a:avLst>
              </a:prstGeom>
              <a:ln w="12700" cap="rnd">
                <a:gradFill>
                  <a:gsLst>
                    <a:gs pos="0">
                      <a:schemeClr val="bg1"/>
                    </a:gs>
                    <a:gs pos="91000">
                      <a:srgbClr val="0070C0"/>
                    </a:gs>
                  </a:gsLst>
                  <a:lin ang="5400000" scaled="1"/>
                </a:gradFill>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83" name="Arc 882">
                <a:extLst>
                  <a:ext uri="{FF2B5EF4-FFF2-40B4-BE49-F238E27FC236}">
                    <a16:creationId xmlns:a16="http://schemas.microsoft.com/office/drawing/2014/main" id="{C409198E-9FF1-9934-214B-CB1AE9BF1CA6}"/>
                  </a:ext>
                </a:extLst>
              </p:cNvPr>
              <p:cNvSpPr/>
              <p:nvPr/>
            </p:nvSpPr>
            <p:spPr>
              <a:xfrm rot="10800000">
                <a:off x="5354637" y="3446463"/>
                <a:ext cx="214313" cy="214313"/>
              </a:xfrm>
              <a:prstGeom prst="arc">
                <a:avLst>
                  <a:gd name="adj1" fmla="val 17194449"/>
                  <a:gd name="adj2" fmla="val 5405383"/>
                </a:avLst>
              </a:prstGeom>
              <a:ln w="12700" cap="rnd">
                <a:gradFill>
                  <a:gsLst>
                    <a:gs pos="0">
                      <a:schemeClr val="bg1"/>
                    </a:gs>
                    <a:gs pos="86000">
                      <a:srgbClr val="FF0000"/>
                    </a:gs>
                  </a:gsLst>
                  <a:lin ang="5400000" scaled="1"/>
                </a:gradFill>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875" name="Group 874">
              <a:extLst>
                <a:ext uri="{FF2B5EF4-FFF2-40B4-BE49-F238E27FC236}">
                  <a16:creationId xmlns:a16="http://schemas.microsoft.com/office/drawing/2014/main" id="{3C8EDDAE-C1C9-D4BD-2A0E-C714BCD6A1B5}"/>
                </a:ext>
              </a:extLst>
            </p:cNvPr>
            <p:cNvGrpSpPr/>
            <p:nvPr/>
          </p:nvGrpSpPr>
          <p:grpSpPr>
            <a:xfrm rot="14400000">
              <a:off x="5184556" y="3466841"/>
              <a:ext cx="771690" cy="771690"/>
              <a:chOff x="5354637" y="3446463"/>
              <a:chExt cx="214313" cy="214313"/>
            </a:xfrm>
          </p:grpSpPr>
          <p:sp>
            <p:nvSpPr>
              <p:cNvPr id="880" name="Arc 879">
                <a:extLst>
                  <a:ext uri="{FF2B5EF4-FFF2-40B4-BE49-F238E27FC236}">
                    <a16:creationId xmlns:a16="http://schemas.microsoft.com/office/drawing/2014/main" id="{4F3C1EC7-6A00-1E0E-5587-84A4B83927BD}"/>
                  </a:ext>
                </a:extLst>
              </p:cNvPr>
              <p:cNvSpPr/>
              <p:nvPr/>
            </p:nvSpPr>
            <p:spPr>
              <a:xfrm>
                <a:off x="5354637" y="3446463"/>
                <a:ext cx="214313" cy="214313"/>
              </a:xfrm>
              <a:prstGeom prst="arc">
                <a:avLst>
                  <a:gd name="adj1" fmla="val 16980644"/>
                  <a:gd name="adj2" fmla="val 5405383"/>
                </a:avLst>
              </a:prstGeom>
              <a:ln w="12700" cap="rnd">
                <a:gradFill>
                  <a:gsLst>
                    <a:gs pos="0">
                      <a:schemeClr val="bg1"/>
                    </a:gs>
                    <a:gs pos="91000">
                      <a:srgbClr val="0070C0"/>
                    </a:gs>
                  </a:gsLst>
                  <a:lin ang="5400000" scaled="1"/>
                </a:gradFill>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81" name="Arc 880">
                <a:extLst>
                  <a:ext uri="{FF2B5EF4-FFF2-40B4-BE49-F238E27FC236}">
                    <a16:creationId xmlns:a16="http://schemas.microsoft.com/office/drawing/2014/main" id="{1ADBB78A-3E70-4A44-59BC-3AB4D23B434B}"/>
                  </a:ext>
                </a:extLst>
              </p:cNvPr>
              <p:cNvSpPr/>
              <p:nvPr/>
            </p:nvSpPr>
            <p:spPr>
              <a:xfrm rot="10800000">
                <a:off x="5354637" y="3446463"/>
                <a:ext cx="214313" cy="214313"/>
              </a:xfrm>
              <a:prstGeom prst="arc">
                <a:avLst>
                  <a:gd name="adj1" fmla="val 17194449"/>
                  <a:gd name="adj2" fmla="val 5405383"/>
                </a:avLst>
              </a:prstGeom>
              <a:ln w="12700" cap="rnd">
                <a:gradFill>
                  <a:gsLst>
                    <a:gs pos="0">
                      <a:schemeClr val="bg1"/>
                    </a:gs>
                    <a:gs pos="86000">
                      <a:srgbClr val="FF0000"/>
                    </a:gs>
                  </a:gsLst>
                  <a:lin ang="5400000" scaled="1"/>
                </a:gradFill>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876" name="Group 875">
              <a:extLst>
                <a:ext uri="{FF2B5EF4-FFF2-40B4-BE49-F238E27FC236}">
                  <a16:creationId xmlns:a16="http://schemas.microsoft.com/office/drawing/2014/main" id="{1368CFD4-E675-4EB5-DB33-CF9BF2DEF546}"/>
                </a:ext>
              </a:extLst>
            </p:cNvPr>
            <p:cNvGrpSpPr/>
            <p:nvPr/>
          </p:nvGrpSpPr>
          <p:grpSpPr>
            <a:xfrm rot="7200000">
              <a:off x="5070055" y="3352334"/>
              <a:ext cx="1000690" cy="1000690"/>
              <a:chOff x="5354637" y="3446463"/>
              <a:chExt cx="214313" cy="214313"/>
            </a:xfrm>
          </p:grpSpPr>
          <p:sp>
            <p:nvSpPr>
              <p:cNvPr id="878" name="Arc 877">
                <a:extLst>
                  <a:ext uri="{FF2B5EF4-FFF2-40B4-BE49-F238E27FC236}">
                    <a16:creationId xmlns:a16="http://schemas.microsoft.com/office/drawing/2014/main" id="{06F449CB-794E-5ADB-7CF6-72C5F8B76E92}"/>
                  </a:ext>
                </a:extLst>
              </p:cNvPr>
              <p:cNvSpPr/>
              <p:nvPr/>
            </p:nvSpPr>
            <p:spPr>
              <a:xfrm>
                <a:off x="5354637" y="3446463"/>
                <a:ext cx="214313" cy="214313"/>
              </a:xfrm>
              <a:prstGeom prst="arc">
                <a:avLst>
                  <a:gd name="adj1" fmla="val 16980644"/>
                  <a:gd name="adj2" fmla="val 5405383"/>
                </a:avLst>
              </a:prstGeom>
              <a:ln w="12700" cap="rnd">
                <a:gradFill>
                  <a:gsLst>
                    <a:gs pos="0">
                      <a:schemeClr val="bg1"/>
                    </a:gs>
                    <a:gs pos="91000">
                      <a:srgbClr val="0070C0"/>
                    </a:gs>
                  </a:gsLst>
                  <a:lin ang="5400000" scaled="1"/>
                </a:gradFill>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79" name="Arc 878">
                <a:extLst>
                  <a:ext uri="{FF2B5EF4-FFF2-40B4-BE49-F238E27FC236}">
                    <a16:creationId xmlns:a16="http://schemas.microsoft.com/office/drawing/2014/main" id="{B36B7510-1BFA-36CB-A0DD-1FA558F7B120}"/>
                  </a:ext>
                </a:extLst>
              </p:cNvPr>
              <p:cNvSpPr/>
              <p:nvPr/>
            </p:nvSpPr>
            <p:spPr>
              <a:xfrm rot="10800000">
                <a:off x="5354637" y="3446463"/>
                <a:ext cx="214313" cy="214313"/>
              </a:xfrm>
              <a:prstGeom prst="arc">
                <a:avLst>
                  <a:gd name="adj1" fmla="val 17194449"/>
                  <a:gd name="adj2" fmla="val 5405383"/>
                </a:avLst>
              </a:prstGeom>
              <a:ln w="12700" cap="rnd">
                <a:gradFill>
                  <a:gsLst>
                    <a:gs pos="0">
                      <a:schemeClr val="bg1"/>
                    </a:gs>
                    <a:gs pos="86000">
                      <a:srgbClr val="FF0000"/>
                    </a:gs>
                  </a:gsLst>
                  <a:lin ang="5400000" scaled="1"/>
                </a:gradFill>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877" name="TextBox 876">
              <a:extLst>
                <a:ext uri="{FF2B5EF4-FFF2-40B4-BE49-F238E27FC236}">
                  <a16:creationId xmlns:a16="http://schemas.microsoft.com/office/drawing/2014/main" id="{08CDEB2E-9954-7B09-E984-F3B13BA8E477}"/>
                </a:ext>
              </a:extLst>
            </p:cNvPr>
            <p:cNvSpPr txBox="1"/>
            <p:nvPr/>
          </p:nvSpPr>
          <p:spPr>
            <a:xfrm>
              <a:off x="5337804" y="3549513"/>
              <a:ext cx="465192" cy="584775"/>
            </a:xfrm>
            <a:prstGeom prst="rect">
              <a:avLst/>
            </a:prstGeom>
            <a:noFill/>
          </p:spPr>
          <p:txBody>
            <a:bodyPr wrap="non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srgbClr val="7030A0">
                      <a:alpha val="49992"/>
                    </a:srgbClr>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grpSp>
      <p:grpSp>
        <p:nvGrpSpPr>
          <p:cNvPr id="4" name="Group 3">
            <a:extLst>
              <a:ext uri="{FF2B5EF4-FFF2-40B4-BE49-F238E27FC236}">
                <a16:creationId xmlns:a16="http://schemas.microsoft.com/office/drawing/2014/main" id="{47B434D1-F3AB-18BD-F82A-E67590400429}"/>
              </a:ext>
            </a:extLst>
          </p:cNvPr>
          <p:cNvGrpSpPr/>
          <p:nvPr/>
        </p:nvGrpSpPr>
        <p:grpSpPr>
          <a:xfrm>
            <a:off x="4920128" y="4990413"/>
            <a:ext cx="1000690" cy="1000690"/>
            <a:chOff x="6949962" y="4965013"/>
            <a:chExt cx="1000690" cy="1000690"/>
          </a:xfrm>
        </p:grpSpPr>
        <p:grpSp>
          <p:nvGrpSpPr>
            <p:cNvPr id="863" name="Group 862">
              <a:extLst>
                <a:ext uri="{FF2B5EF4-FFF2-40B4-BE49-F238E27FC236}">
                  <a16:creationId xmlns:a16="http://schemas.microsoft.com/office/drawing/2014/main" id="{E189D93F-BB24-5955-90A1-FA3F46BE6D97}"/>
                </a:ext>
              </a:extLst>
            </p:cNvPr>
            <p:cNvGrpSpPr/>
            <p:nvPr/>
          </p:nvGrpSpPr>
          <p:grpSpPr>
            <a:xfrm rot="7200000" flipH="1">
              <a:off x="6949962" y="4965013"/>
              <a:ext cx="1000690" cy="1000690"/>
              <a:chOff x="5354637" y="3446463"/>
              <a:chExt cx="214313" cy="214313"/>
            </a:xfrm>
          </p:grpSpPr>
          <p:sp>
            <p:nvSpPr>
              <p:cNvPr id="872" name="Arc 871">
                <a:extLst>
                  <a:ext uri="{FF2B5EF4-FFF2-40B4-BE49-F238E27FC236}">
                    <a16:creationId xmlns:a16="http://schemas.microsoft.com/office/drawing/2014/main" id="{8BB61C30-8593-D3DC-8AD2-10BC6294B1A8}"/>
                  </a:ext>
                </a:extLst>
              </p:cNvPr>
              <p:cNvSpPr/>
              <p:nvPr/>
            </p:nvSpPr>
            <p:spPr>
              <a:xfrm>
                <a:off x="5354637" y="3446463"/>
                <a:ext cx="214313" cy="214313"/>
              </a:xfrm>
              <a:prstGeom prst="arc">
                <a:avLst>
                  <a:gd name="adj1" fmla="val 16980644"/>
                  <a:gd name="adj2" fmla="val 5405383"/>
                </a:avLst>
              </a:prstGeom>
              <a:ln w="12700" cap="rnd">
                <a:gradFill>
                  <a:gsLst>
                    <a:gs pos="0">
                      <a:schemeClr val="bg1"/>
                    </a:gs>
                    <a:gs pos="91000">
                      <a:srgbClr val="0070C0"/>
                    </a:gs>
                  </a:gsLst>
                  <a:lin ang="5400000" scaled="1"/>
                </a:gradFill>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73" name="Arc 872">
                <a:extLst>
                  <a:ext uri="{FF2B5EF4-FFF2-40B4-BE49-F238E27FC236}">
                    <a16:creationId xmlns:a16="http://schemas.microsoft.com/office/drawing/2014/main" id="{47A0A3BE-65AE-F9F3-773A-23F07D69C506}"/>
                  </a:ext>
                </a:extLst>
              </p:cNvPr>
              <p:cNvSpPr/>
              <p:nvPr/>
            </p:nvSpPr>
            <p:spPr>
              <a:xfrm rot="10800000">
                <a:off x="5354637" y="3446463"/>
                <a:ext cx="214313" cy="214313"/>
              </a:xfrm>
              <a:prstGeom prst="arc">
                <a:avLst>
                  <a:gd name="adj1" fmla="val 17194449"/>
                  <a:gd name="adj2" fmla="val 5405383"/>
                </a:avLst>
              </a:prstGeom>
              <a:ln w="12700" cap="rnd">
                <a:gradFill>
                  <a:gsLst>
                    <a:gs pos="0">
                      <a:schemeClr val="bg1"/>
                    </a:gs>
                    <a:gs pos="86000">
                      <a:srgbClr val="FF0000"/>
                    </a:gs>
                  </a:gsLst>
                  <a:lin ang="5400000" scaled="1"/>
                </a:gradFill>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865" name="Group 864">
              <a:extLst>
                <a:ext uri="{FF2B5EF4-FFF2-40B4-BE49-F238E27FC236}">
                  <a16:creationId xmlns:a16="http://schemas.microsoft.com/office/drawing/2014/main" id="{F4532B4B-BBCD-C616-F698-5A0CD47B260D}"/>
                </a:ext>
              </a:extLst>
            </p:cNvPr>
            <p:cNvGrpSpPr/>
            <p:nvPr/>
          </p:nvGrpSpPr>
          <p:grpSpPr>
            <a:xfrm flipH="1">
              <a:off x="7177590" y="5192641"/>
              <a:ext cx="545436" cy="545436"/>
              <a:chOff x="5354637" y="3446463"/>
              <a:chExt cx="214313" cy="214313"/>
            </a:xfrm>
          </p:grpSpPr>
          <p:sp>
            <p:nvSpPr>
              <p:cNvPr id="870" name="Arc 869">
                <a:extLst>
                  <a:ext uri="{FF2B5EF4-FFF2-40B4-BE49-F238E27FC236}">
                    <a16:creationId xmlns:a16="http://schemas.microsoft.com/office/drawing/2014/main" id="{281A41ED-02E0-5C34-7D1D-57E0E130F213}"/>
                  </a:ext>
                </a:extLst>
              </p:cNvPr>
              <p:cNvSpPr/>
              <p:nvPr/>
            </p:nvSpPr>
            <p:spPr>
              <a:xfrm>
                <a:off x="5354637" y="3446463"/>
                <a:ext cx="214313" cy="214313"/>
              </a:xfrm>
              <a:prstGeom prst="arc">
                <a:avLst>
                  <a:gd name="adj1" fmla="val 16980644"/>
                  <a:gd name="adj2" fmla="val 5405383"/>
                </a:avLst>
              </a:prstGeom>
              <a:ln w="12700" cap="rnd">
                <a:gradFill>
                  <a:gsLst>
                    <a:gs pos="0">
                      <a:schemeClr val="bg1"/>
                    </a:gs>
                    <a:gs pos="91000">
                      <a:srgbClr val="0070C0"/>
                    </a:gs>
                  </a:gsLst>
                  <a:lin ang="5400000" scaled="1"/>
                </a:gradFill>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71" name="Arc 870">
                <a:extLst>
                  <a:ext uri="{FF2B5EF4-FFF2-40B4-BE49-F238E27FC236}">
                    <a16:creationId xmlns:a16="http://schemas.microsoft.com/office/drawing/2014/main" id="{C11561C2-AE49-9EE3-2EB2-9F726F44CED2}"/>
                  </a:ext>
                </a:extLst>
              </p:cNvPr>
              <p:cNvSpPr/>
              <p:nvPr/>
            </p:nvSpPr>
            <p:spPr>
              <a:xfrm rot="10800000">
                <a:off x="5354637" y="3446463"/>
                <a:ext cx="214313" cy="214313"/>
              </a:xfrm>
              <a:prstGeom prst="arc">
                <a:avLst>
                  <a:gd name="adj1" fmla="val 17194449"/>
                  <a:gd name="adj2" fmla="val 5405383"/>
                </a:avLst>
              </a:prstGeom>
              <a:ln w="12700" cap="rnd">
                <a:gradFill>
                  <a:gsLst>
                    <a:gs pos="0">
                      <a:schemeClr val="bg1"/>
                    </a:gs>
                    <a:gs pos="86000">
                      <a:srgbClr val="FF0000"/>
                    </a:gs>
                  </a:gsLst>
                  <a:lin ang="5400000" scaled="1"/>
                </a:gradFill>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866" name="Group 865">
              <a:extLst>
                <a:ext uri="{FF2B5EF4-FFF2-40B4-BE49-F238E27FC236}">
                  <a16:creationId xmlns:a16="http://schemas.microsoft.com/office/drawing/2014/main" id="{79E835E1-6149-B756-8B12-509A4217F172}"/>
                </a:ext>
              </a:extLst>
            </p:cNvPr>
            <p:cNvGrpSpPr/>
            <p:nvPr/>
          </p:nvGrpSpPr>
          <p:grpSpPr>
            <a:xfrm rot="14400000" flipH="1">
              <a:off x="7064463" y="5079514"/>
              <a:ext cx="771690" cy="771690"/>
              <a:chOff x="5354637" y="3446463"/>
              <a:chExt cx="214313" cy="214313"/>
            </a:xfrm>
          </p:grpSpPr>
          <p:sp>
            <p:nvSpPr>
              <p:cNvPr id="868" name="Arc 867">
                <a:extLst>
                  <a:ext uri="{FF2B5EF4-FFF2-40B4-BE49-F238E27FC236}">
                    <a16:creationId xmlns:a16="http://schemas.microsoft.com/office/drawing/2014/main" id="{CABACCC7-A7D0-99BE-0364-A7A3C1495C5D}"/>
                  </a:ext>
                </a:extLst>
              </p:cNvPr>
              <p:cNvSpPr/>
              <p:nvPr/>
            </p:nvSpPr>
            <p:spPr>
              <a:xfrm>
                <a:off x="5354637" y="3446463"/>
                <a:ext cx="214313" cy="214313"/>
              </a:xfrm>
              <a:prstGeom prst="arc">
                <a:avLst>
                  <a:gd name="adj1" fmla="val 16980644"/>
                  <a:gd name="adj2" fmla="val 5405383"/>
                </a:avLst>
              </a:prstGeom>
              <a:ln w="12700" cap="rnd">
                <a:gradFill>
                  <a:gsLst>
                    <a:gs pos="0">
                      <a:schemeClr val="bg1"/>
                    </a:gs>
                    <a:gs pos="91000">
                      <a:srgbClr val="0070C0"/>
                    </a:gs>
                  </a:gsLst>
                  <a:lin ang="5400000" scaled="1"/>
                </a:gradFill>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69" name="Arc 868">
                <a:extLst>
                  <a:ext uri="{FF2B5EF4-FFF2-40B4-BE49-F238E27FC236}">
                    <a16:creationId xmlns:a16="http://schemas.microsoft.com/office/drawing/2014/main" id="{1A3C75D1-B9B9-68F5-7E50-5EDA4B145CD9}"/>
                  </a:ext>
                </a:extLst>
              </p:cNvPr>
              <p:cNvSpPr/>
              <p:nvPr/>
            </p:nvSpPr>
            <p:spPr>
              <a:xfrm rot="10800000">
                <a:off x="5354637" y="3446463"/>
                <a:ext cx="214313" cy="214313"/>
              </a:xfrm>
              <a:prstGeom prst="arc">
                <a:avLst>
                  <a:gd name="adj1" fmla="val 17194449"/>
                  <a:gd name="adj2" fmla="val 5405383"/>
                </a:avLst>
              </a:prstGeom>
              <a:ln w="12700" cap="rnd">
                <a:gradFill>
                  <a:gsLst>
                    <a:gs pos="0">
                      <a:schemeClr val="bg1"/>
                    </a:gs>
                    <a:gs pos="86000">
                      <a:srgbClr val="FF0000"/>
                    </a:gs>
                  </a:gsLst>
                  <a:lin ang="5400000" scaled="1"/>
                </a:gradFill>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867" name="TextBox 866">
              <a:extLst>
                <a:ext uri="{FF2B5EF4-FFF2-40B4-BE49-F238E27FC236}">
                  <a16:creationId xmlns:a16="http://schemas.microsoft.com/office/drawing/2014/main" id="{C565B451-6695-BFF1-B79F-53DC353055DC}"/>
                </a:ext>
              </a:extLst>
            </p:cNvPr>
            <p:cNvSpPr txBox="1"/>
            <p:nvPr/>
          </p:nvSpPr>
          <p:spPr>
            <a:xfrm>
              <a:off x="7217711" y="5162187"/>
              <a:ext cx="465192" cy="584775"/>
            </a:xfrm>
            <a:prstGeom prst="rect">
              <a:avLst/>
            </a:prstGeom>
            <a:noFill/>
          </p:spPr>
          <p:txBody>
            <a:bodyPr wrap="non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srgbClr val="7030A0">
                      <a:alpha val="50419"/>
                    </a:srgbClr>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grpSp>
      <p:grpSp>
        <p:nvGrpSpPr>
          <p:cNvPr id="8" name="Group 7">
            <a:extLst>
              <a:ext uri="{FF2B5EF4-FFF2-40B4-BE49-F238E27FC236}">
                <a16:creationId xmlns:a16="http://schemas.microsoft.com/office/drawing/2014/main" id="{FAE91C52-4CCA-7ABD-52A3-5D70DBE80172}"/>
              </a:ext>
            </a:extLst>
          </p:cNvPr>
          <p:cNvGrpSpPr/>
          <p:nvPr/>
        </p:nvGrpSpPr>
        <p:grpSpPr>
          <a:xfrm>
            <a:off x="4920128" y="3377734"/>
            <a:ext cx="1000690" cy="1000690"/>
            <a:chOff x="6949962" y="3352334"/>
            <a:chExt cx="1000690" cy="1000690"/>
          </a:xfrm>
        </p:grpSpPr>
        <p:grpSp>
          <p:nvGrpSpPr>
            <p:cNvPr id="853" name="Group 852">
              <a:extLst>
                <a:ext uri="{FF2B5EF4-FFF2-40B4-BE49-F238E27FC236}">
                  <a16:creationId xmlns:a16="http://schemas.microsoft.com/office/drawing/2014/main" id="{EA2F50F5-72E1-97FE-997E-D262918EA600}"/>
                </a:ext>
              </a:extLst>
            </p:cNvPr>
            <p:cNvGrpSpPr/>
            <p:nvPr/>
          </p:nvGrpSpPr>
          <p:grpSpPr>
            <a:xfrm flipH="1">
              <a:off x="7177591" y="3579960"/>
              <a:ext cx="545436" cy="545436"/>
              <a:chOff x="5354637" y="3446463"/>
              <a:chExt cx="214313" cy="214313"/>
            </a:xfrm>
          </p:grpSpPr>
          <p:sp>
            <p:nvSpPr>
              <p:cNvPr id="861" name="Arc 860">
                <a:extLst>
                  <a:ext uri="{FF2B5EF4-FFF2-40B4-BE49-F238E27FC236}">
                    <a16:creationId xmlns:a16="http://schemas.microsoft.com/office/drawing/2014/main" id="{3A4B5E9D-930B-00A3-60A0-6B12A671F4CB}"/>
                  </a:ext>
                </a:extLst>
              </p:cNvPr>
              <p:cNvSpPr/>
              <p:nvPr/>
            </p:nvSpPr>
            <p:spPr>
              <a:xfrm>
                <a:off x="5354637" y="3446463"/>
                <a:ext cx="214313" cy="214313"/>
              </a:xfrm>
              <a:prstGeom prst="arc">
                <a:avLst>
                  <a:gd name="adj1" fmla="val 16980644"/>
                  <a:gd name="adj2" fmla="val 5405383"/>
                </a:avLst>
              </a:prstGeom>
              <a:ln w="12700" cap="rnd">
                <a:gradFill>
                  <a:gsLst>
                    <a:gs pos="0">
                      <a:schemeClr val="bg1"/>
                    </a:gs>
                    <a:gs pos="91000">
                      <a:srgbClr val="0070C0"/>
                    </a:gs>
                  </a:gsLst>
                  <a:lin ang="5400000" scaled="1"/>
                </a:gradFill>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62" name="Arc 861">
                <a:extLst>
                  <a:ext uri="{FF2B5EF4-FFF2-40B4-BE49-F238E27FC236}">
                    <a16:creationId xmlns:a16="http://schemas.microsoft.com/office/drawing/2014/main" id="{A7BF6E8B-FC95-3F54-2C50-F033C7731853}"/>
                  </a:ext>
                </a:extLst>
              </p:cNvPr>
              <p:cNvSpPr/>
              <p:nvPr/>
            </p:nvSpPr>
            <p:spPr>
              <a:xfrm rot="10800000">
                <a:off x="5354637" y="3446463"/>
                <a:ext cx="214313" cy="214313"/>
              </a:xfrm>
              <a:prstGeom prst="arc">
                <a:avLst>
                  <a:gd name="adj1" fmla="val 17194449"/>
                  <a:gd name="adj2" fmla="val 5405383"/>
                </a:avLst>
              </a:prstGeom>
              <a:ln w="12700" cap="rnd">
                <a:gradFill>
                  <a:gsLst>
                    <a:gs pos="0">
                      <a:schemeClr val="bg1"/>
                    </a:gs>
                    <a:gs pos="86000">
                      <a:srgbClr val="FF0000"/>
                    </a:gs>
                  </a:gsLst>
                  <a:lin ang="5400000" scaled="1"/>
                </a:gradFill>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854" name="Group 853">
              <a:extLst>
                <a:ext uri="{FF2B5EF4-FFF2-40B4-BE49-F238E27FC236}">
                  <a16:creationId xmlns:a16="http://schemas.microsoft.com/office/drawing/2014/main" id="{37ABC4E7-9794-CE15-8C8C-566CE91F76B7}"/>
                </a:ext>
              </a:extLst>
            </p:cNvPr>
            <p:cNvGrpSpPr/>
            <p:nvPr/>
          </p:nvGrpSpPr>
          <p:grpSpPr>
            <a:xfrm rot="7200000" flipH="1">
              <a:off x="7064463" y="3466833"/>
              <a:ext cx="771690" cy="771690"/>
              <a:chOff x="5354637" y="3446463"/>
              <a:chExt cx="214313" cy="214313"/>
            </a:xfrm>
          </p:grpSpPr>
          <p:sp>
            <p:nvSpPr>
              <p:cNvPr id="859" name="Arc 858">
                <a:extLst>
                  <a:ext uri="{FF2B5EF4-FFF2-40B4-BE49-F238E27FC236}">
                    <a16:creationId xmlns:a16="http://schemas.microsoft.com/office/drawing/2014/main" id="{C29C5FA5-05DA-34E4-39A4-C6C46627E92C}"/>
                  </a:ext>
                </a:extLst>
              </p:cNvPr>
              <p:cNvSpPr/>
              <p:nvPr/>
            </p:nvSpPr>
            <p:spPr>
              <a:xfrm>
                <a:off x="5354637" y="3446463"/>
                <a:ext cx="214313" cy="214313"/>
              </a:xfrm>
              <a:prstGeom prst="arc">
                <a:avLst>
                  <a:gd name="adj1" fmla="val 16980644"/>
                  <a:gd name="adj2" fmla="val 5405383"/>
                </a:avLst>
              </a:prstGeom>
              <a:ln w="12700" cap="rnd">
                <a:gradFill>
                  <a:gsLst>
                    <a:gs pos="0">
                      <a:schemeClr val="bg1"/>
                    </a:gs>
                    <a:gs pos="91000">
                      <a:srgbClr val="0070C0"/>
                    </a:gs>
                  </a:gsLst>
                  <a:lin ang="5400000" scaled="1"/>
                </a:gradFill>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60" name="Arc 859">
                <a:extLst>
                  <a:ext uri="{FF2B5EF4-FFF2-40B4-BE49-F238E27FC236}">
                    <a16:creationId xmlns:a16="http://schemas.microsoft.com/office/drawing/2014/main" id="{82B5BDD7-149F-21ED-59BD-14F093D00979}"/>
                  </a:ext>
                </a:extLst>
              </p:cNvPr>
              <p:cNvSpPr/>
              <p:nvPr/>
            </p:nvSpPr>
            <p:spPr>
              <a:xfrm rot="10800000">
                <a:off x="5354637" y="3446463"/>
                <a:ext cx="214313" cy="214313"/>
              </a:xfrm>
              <a:prstGeom prst="arc">
                <a:avLst>
                  <a:gd name="adj1" fmla="val 17194449"/>
                  <a:gd name="adj2" fmla="val 5405383"/>
                </a:avLst>
              </a:prstGeom>
              <a:ln w="12700" cap="rnd">
                <a:gradFill>
                  <a:gsLst>
                    <a:gs pos="0">
                      <a:schemeClr val="bg1"/>
                    </a:gs>
                    <a:gs pos="86000">
                      <a:srgbClr val="FF0000"/>
                    </a:gs>
                  </a:gsLst>
                  <a:lin ang="5400000" scaled="1"/>
                </a:gradFill>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855" name="Group 854">
              <a:extLst>
                <a:ext uri="{FF2B5EF4-FFF2-40B4-BE49-F238E27FC236}">
                  <a16:creationId xmlns:a16="http://schemas.microsoft.com/office/drawing/2014/main" id="{3AF91A85-4D02-4BE1-596B-ECCC7BF9B3C6}"/>
                </a:ext>
              </a:extLst>
            </p:cNvPr>
            <p:cNvGrpSpPr/>
            <p:nvPr/>
          </p:nvGrpSpPr>
          <p:grpSpPr>
            <a:xfrm rot="14400000" flipH="1">
              <a:off x="6949962" y="3352334"/>
              <a:ext cx="1000690" cy="1000690"/>
              <a:chOff x="5354637" y="3446463"/>
              <a:chExt cx="214313" cy="214313"/>
            </a:xfrm>
          </p:grpSpPr>
          <p:sp>
            <p:nvSpPr>
              <p:cNvPr id="857" name="Arc 856">
                <a:extLst>
                  <a:ext uri="{FF2B5EF4-FFF2-40B4-BE49-F238E27FC236}">
                    <a16:creationId xmlns:a16="http://schemas.microsoft.com/office/drawing/2014/main" id="{1F348457-ED48-414D-121E-F2A86DC5B170}"/>
                  </a:ext>
                </a:extLst>
              </p:cNvPr>
              <p:cNvSpPr/>
              <p:nvPr/>
            </p:nvSpPr>
            <p:spPr>
              <a:xfrm>
                <a:off x="5354637" y="3446463"/>
                <a:ext cx="214313" cy="214313"/>
              </a:xfrm>
              <a:prstGeom prst="arc">
                <a:avLst>
                  <a:gd name="adj1" fmla="val 16980644"/>
                  <a:gd name="adj2" fmla="val 5405383"/>
                </a:avLst>
              </a:prstGeom>
              <a:ln w="12700" cap="rnd">
                <a:gradFill>
                  <a:gsLst>
                    <a:gs pos="0">
                      <a:schemeClr val="bg1"/>
                    </a:gs>
                    <a:gs pos="91000">
                      <a:srgbClr val="0070C0"/>
                    </a:gs>
                  </a:gsLst>
                  <a:lin ang="5400000" scaled="1"/>
                </a:gradFill>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58" name="Arc 857">
                <a:extLst>
                  <a:ext uri="{FF2B5EF4-FFF2-40B4-BE49-F238E27FC236}">
                    <a16:creationId xmlns:a16="http://schemas.microsoft.com/office/drawing/2014/main" id="{6D713D2D-FCDF-18B9-ACB0-DCE09F878464}"/>
                  </a:ext>
                </a:extLst>
              </p:cNvPr>
              <p:cNvSpPr/>
              <p:nvPr/>
            </p:nvSpPr>
            <p:spPr>
              <a:xfrm rot="10800000">
                <a:off x="5354637" y="3446463"/>
                <a:ext cx="214313" cy="214313"/>
              </a:xfrm>
              <a:prstGeom prst="arc">
                <a:avLst>
                  <a:gd name="adj1" fmla="val 17194449"/>
                  <a:gd name="adj2" fmla="val 5405383"/>
                </a:avLst>
              </a:prstGeom>
              <a:ln w="12700" cap="rnd">
                <a:gradFill>
                  <a:gsLst>
                    <a:gs pos="0">
                      <a:schemeClr val="bg1"/>
                    </a:gs>
                    <a:gs pos="86000">
                      <a:srgbClr val="FF0000"/>
                    </a:gs>
                  </a:gsLst>
                  <a:lin ang="5400000" scaled="1"/>
                </a:gradFill>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856" name="TextBox 855">
              <a:extLst>
                <a:ext uri="{FF2B5EF4-FFF2-40B4-BE49-F238E27FC236}">
                  <a16:creationId xmlns:a16="http://schemas.microsoft.com/office/drawing/2014/main" id="{A8E6DF8B-8E7B-A5AF-62B2-E0AE55D6B4F0}"/>
                </a:ext>
              </a:extLst>
            </p:cNvPr>
            <p:cNvSpPr txBox="1"/>
            <p:nvPr/>
          </p:nvSpPr>
          <p:spPr>
            <a:xfrm>
              <a:off x="7305074" y="3549506"/>
              <a:ext cx="290463" cy="584775"/>
            </a:xfrm>
            <a:prstGeom prst="rect">
              <a:avLst/>
            </a:prstGeom>
            <a:noFill/>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srgbClr val="7030A0">
                      <a:alpha val="49637"/>
                    </a:srgbClr>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grpSp>
      <p:sp>
        <p:nvSpPr>
          <p:cNvPr id="2" name="Title 4">
            <a:extLst>
              <a:ext uri="{FF2B5EF4-FFF2-40B4-BE49-F238E27FC236}">
                <a16:creationId xmlns:a16="http://schemas.microsoft.com/office/drawing/2014/main" id="{B9040AB9-DFC1-6CFE-B9B3-761DF2F3D7E7}"/>
              </a:ext>
            </a:extLst>
          </p:cNvPr>
          <p:cNvSpPr txBox="1">
            <a:spLocks/>
          </p:cNvSpPr>
          <p:nvPr/>
        </p:nvSpPr>
        <p:spPr>
          <a:xfrm>
            <a:off x="781099" y="365125"/>
            <a:ext cx="10854481" cy="777875"/>
          </a:xfrm>
          <a:prstGeom prst="rect">
            <a:avLst/>
          </a:prstGeom>
          <a:noFill/>
          <a:ln>
            <a:noFill/>
          </a:ln>
        </p:spPr>
        <p:txBody>
          <a:bodyPr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4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Tri Binaries Have Four Forms</a:t>
            </a:r>
          </a:p>
        </p:txBody>
      </p:sp>
      <p:sp>
        <p:nvSpPr>
          <p:cNvPr id="11" name="TextBox 10">
            <a:extLst>
              <a:ext uri="{FF2B5EF4-FFF2-40B4-BE49-F238E27FC236}">
                <a16:creationId xmlns:a16="http://schemas.microsoft.com/office/drawing/2014/main" id="{FAD0649E-86C3-CF0C-EFF6-DACBD08DA8D4}"/>
              </a:ext>
            </a:extLst>
          </p:cNvPr>
          <p:cNvSpPr txBox="1"/>
          <p:nvPr/>
        </p:nvSpPr>
        <p:spPr>
          <a:xfrm>
            <a:off x="6398435" y="1430867"/>
            <a:ext cx="5708826" cy="5262979"/>
          </a:xfrm>
          <a:prstGeom prst="rect">
            <a:avLst/>
          </a:prstGeom>
          <a:noFill/>
        </p:spPr>
        <p:txBody>
          <a:bodyPr wrap="square" rtlCol="0">
            <a:spAutoFit/>
          </a:bodyPr>
          <a:lstStyle/>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Place your virtual observer at (1,1,1) examining the angular momentum vectors of the three binaries.</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Pro and anti are distinguished by the orientation of their angular momentum vectors — HML or HLM</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Left or right is the </a:t>
            </a:r>
            <a:r>
              <a:rPr lang="en-US" sz="24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orbital precession direction </a:t>
            </a:r>
            <a:r>
              <a:rPr kumimoji="0" lang="en-US" sz="24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of the binaries. </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The chart shows that tri-binaries have four geometrical variations.</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Binaries scale by many orders of magnitude in energy, frequency, radius, and orbital velocity</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24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Tree>
    <p:extLst>
      <p:ext uri="{BB962C8B-B14F-4D97-AF65-F5344CB8AC3E}">
        <p14:creationId xmlns:p14="http://schemas.microsoft.com/office/powerpoint/2010/main" val="31409554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p:cNvGrpSpPr/>
        <p:nvPr/>
      </p:nvGrpSpPr>
      <p:grpSpPr>
        <a:xfrm>
          <a:off x="0" y="0"/>
          <a:ext cx="0" cy="0"/>
          <a:chOff x="0" y="0"/>
          <a:chExt cx="0" cy="0"/>
        </a:xfrm>
      </p:grpSpPr>
      <p:sp>
        <p:nvSpPr>
          <p:cNvPr id="112" name="Rectangle 111">
            <a:extLst>
              <a:ext uri="{FF2B5EF4-FFF2-40B4-BE49-F238E27FC236}">
                <a16:creationId xmlns:a16="http://schemas.microsoft.com/office/drawing/2014/main" id="{4D9217BE-F0DF-0043-9A68-69C8B7088BF0}"/>
              </a:ext>
            </a:extLst>
          </p:cNvPr>
          <p:cNvSpPr/>
          <p:nvPr/>
        </p:nvSpPr>
        <p:spPr>
          <a:xfrm>
            <a:off x="-1564" y="264003"/>
            <a:ext cx="12192000" cy="523220"/>
          </a:xfrm>
          <a:prstGeom prst="rect">
            <a:avLst/>
          </a:prstGeom>
          <a:solidFill>
            <a:srgbClr val="7030A0"/>
          </a:solidFill>
          <a:ln>
            <a:noFill/>
          </a:ln>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Noether Core’s Triply Nested Binaries with Personality Potentials</a:t>
            </a:r>
          </a:p>
        </p:txBody>
      </p:sp>
      <p:sp>
        <p:nvSpPr>
          <p:cNvPr id="177" name="TextBox 176">
            <a:extLst>
              <a:ext uri="{FF2B5EF4-FFF2-40B4-BE49-F238E27FC236}">
                <a16:creationId xmlns:a16="http://schemas.microsoft.com/office/drawing/2014/main" id="{CF706161-146F-363E-C3E1-CC4034884EA9}"/>
              </a:ext>
            </a:extLst>
          </p:cNvPr>
          <p:cNvSpPr txBox="1"/>
          <p:nvPr/>
        </p:nvSpPr>
        <p:spPr>
          <a:xfrm>
            <a:off x="412387" y="5485520"/>
            <a:ext cx="3015146" cy="25391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1"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Various scales of energy and radii.</a:t>
            </a:r>
            <a:endParaRPr kumimoji="0" lang="en-US" sz="1050" b="0" i="1"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92" name="Straight Connector 91">
            <a:extLst>
              <a:ext uri="{FF2B5EF4-FFF2-40B4-BE49-F238E27FC236}">
                <a16:creationId xmlns:a16="http://schemas.microsoft.com/office/drawing/2014/main" id="{3FE0242A-08DF-980D-F565-9BC7D4C8BC4E}"/>
              </a:ext>
            </a:extLst>
          </p:cNvPr>
          <p:cNvCxnSpPr>
            <a:cxnSpLocks/>
          </p:cNvCxnSpPr>
          <p:nvPr/>
        </p:nvCxnSpPr>
        <p:spPr>
          <a:xfrm>
            <a:off x="6017396" y="1606525"/>
            <a:ext cx="0" cy="891142"/>
          </a:xfrm>
          <a:prstGeom prst="line">
            <a:avLst/>
          </a:prstGeom>
          <a:ln>
            <a:solidFill>
              <a:schemeClr val="bg1"/>
            </a:solidFill>
            <a:prstDash val="dashDot"/>
          </a:ln>
        </p:spPr>
        <p:style>
          <a:lnRef idx="1">
            <a:schemeClr val="accent1"/>
          </a:lnRef>
          <a:fillRef idx="0">
            <a:schemeClr val="accent1"/>
          </a:fillRef>
          <a:effectRef idx="0">
            <a:schemeClr val="accent1"/>
          </a:effectRef>
          <a:fontRef idx="minor">
            <a:schemeClr val="tx1"/>
          </a:fontRef>
        </p:style>
      </p:cxnSp>
      <p:sp>
        <p:nvSpPr>
          <p:cNvPr id="194" name="Oval 193">
            <a:extLst>
              <a:ext uri="{FF2B5EF4-FFF2-40B4-BE49-F238E27FC236}">
                <a16:creationId xmlns:a16="http://schemas.microsoft.com/office/drawing/2014/main" id="{E6B7701F-38F5-E709-397C-98DBAA043E08}"/>
              </a:ext>
            </a:extLst>
          </p:cNvPr>
          <p:cNvSpPr>
            <a:spLocks noChangeAspect="1"/>
          </p:cNvSpPr>
          <p:nvPr/>
        </p:nvSpPr>
        <p:spPr>
          <a:xfrm flipH="1">
            <a:off x="5940357" y="1447652"/>
            <a:ext cx="154079" cy="154079"/>
          </a:xfrm>
          <a:prstGeom prst="ellipse">
            <a:avLst/>
          </a:prstGeom>
          <a:solidFill>
            <a:schemeClr val="bg1"/>
          </a:solidFill>
          <a:ln>
            <a:noFill/>
          </a:ln>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205" name="Oval 204">
            <a:extLst>
              <a:ext uri="{FF2B5EF4-FFF2-40B4-BE49-F238E27FC236}">
                <a16:creationId xmlns:a16="http://schemas.microsoft.com/office/drawing/2014/main" id="{81219D62-4289-176F-8E08-04F806AB525F}"/>
              </a:ext>
            </a:extLst>
          </p:cNvPr>
          <p:cNvSpPr>
            <a:spLocks noChangeAspect="1"/>
          </p:cNvSpPr>
          <p:nvPr/>
        </p:nvSpPr>
        <p:spPr>
          <a:xfrm flipH="1">
            <a:off x="5940357" y="5893263"/>
            <a:ext cx="154079" cy="154079"/>
          </a:xfrm>
          <a:prstGeom prst="ellipse">
            <a:avLst/>
          </a:prstGeom>
          <a:solidFill>
            <a:schemeClr val="bg1"/>
          </a:solidFill>
          <a:ln>
            <a:noFill/>
          </a:ln>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cxnSp>
        <p:nvCxnSpPr>
          <p:cNvPr id="49" name="Straight Connector 48">
            <a:extLst>
              <a:ext uri="{FF2B5EF4-FFF2-40B4-BE49-F238E27FC236}">
                <a16:creationId xmlns:a16="http://schemas.microsoft.com/office/drawing/2014/main" id="{4E2B42AA-FE86-6B0D-8686-E619B2563ABB}"/>
              </a:ext>
            </a:extLst>
          </p:cNvPr>
          <p:cNvCxnSpPr>
            <a:cxnSpLocks/>
          </p:cNvCxnSpPr>
          <p:nvPr/>
        </p:nvCxnSpPr>
        <p:spPr>
          <a:xfrm>
            <a:off x="6017396" y="5088467"/>
            <a:ext cx="0" cy="804796"/>
          </a:xfrm>
          <a:prstGeom prst="line">
            <a:avLst/>
          </a:prstGeom>
          <a:ln>
            <a:solidFill>
              <a:schemeClr val="bg1"/>
            </a:solidFill>
            <a:prstDash val="dashDot"/>
          </a:ln>
        </p:spPr>
        <p:style>
          <a:lnRef idx="1">
            <a:schemeClr val="accent1"/>
          </a:lnRef>
          <a:fillRef idx="0">
            <a:schemeClr val="accent1"/>
          </a:fillRef>
          <a:effectRef idx="0">
            <a:schemeClr val="accent1"/>
          </a:effectRef>
          <a:fontRef idx="minor">
            <a:schemeClr val="tx1"/>
          </a:fontRef>
        </p:style>
      </p:cxnSp>
      <p:sp>
        <p:nvSpPr>
          <p:cNvPr id="79" name="Oval 78">
            <a:extLst>
              <a:ext uri="{FF2B5EF4-FFF2-40B4-BE49-F238E27FC236}">
                <a16:creationId xmlns:a16="http://schemas.microsoft.com/office/drawing/2014/main" id="{DCC97071-9D67-DC48-AD13-C0A25508CBD8}"/>
              </a:ext>
            </a:extLst>
          </p:cNvPr>
          <p:cNvSpPr/>
          <p:nvPr/>
        </p:nvSpPr>
        <p:spPr>
          <a:xfrm rot="5400000">
            <a:off x="4976354" y="-2078934"/>
            <a:ext cx="2043985" cy="11743786"/>
          </a:xfrm>
          <a:prstGeom prst="ellipse">
            <a:avLst/>
          </a:prstGeom>
          <a:no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9" name="Oval 88">
            <a:extLst>
              <a:ext uri="{FF2B5EF4-FFF2-40B4-BE49-F238E27FC236}">
                <a16:creationId xmlns:a16="http://schemas.microsoft.com/office/drawing/2014/main" id="{942F0346-DB25-A44F-8938-8FB3746D7D80}"/>
              </a:ext>
            </a:extLst>
          </p:cNvPr>
          <p:cNvSpPr>
            <a:spLocks noChangeAspect="1"/>
          </p:cNvSpPr>
          <p:nvPr/>
        </p:nvSpPr>
        <p:spPr>
          <a:xfrm flipH="1">
            <a:off x="1513969" y="3065820"/>
            <a:ext cx="154079" cy="154079"/>
          </a:xfrm>
          <a:prstGeom prst="ellipse">
            <a:avLst/>
          </a:prstGeom>
          <a:solidFill>
            <a:srgbClr val="FF0000"/>
          </a:solidFill>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cxnSp>
        <p:nvCxnSpPr>
          <p:cNvPr id="106" name="Straight Arrow Connector 105">
            <a:extLst>
              <a:ext uri="{FF2B5EF4-FFF2-40B4-BE49-F238E27FC236}">
                <a16:creationId xmlns:a16="http://schemas.microsoft.com/office/drawing/2014/main" id="{B011BF8B-9B3B-194E-860A-C437CC99C7A7}"/>
              </a:ext>
            </a:extLst>
          </p:cNvPr>
          <p:cNvCxnSpPr>
            <a:cxnSpLocks/>
          </p:cNvCxnSpPr>
          <p:nvPr/>
        </p:nvCxnSpPr>
        <p:spPr>
          <a:xfrm rot="5100000">
            <a:off x="1508032" y="2929272"/>
            <a:ext cx="35405" cy="182880"/>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grpSp>
        <p:nvGrpSpPr>
          <p:cNvPr id="10" name="Group 9">
            <a:extLst>
              <a:ext uri="{FF2B5EF4-FFF2-40B4-BE49-F238E27FC236}">
                <a16:creationId xmlns:a16="http://schemas.microsoft.com/office/drawing/2014/main" id="{B691BD1B-0C71-2652-AD52-47998D06C232}"/>
              </a:ext>
            </a:extLst>
          </p:cNvPr>
          <p:cNvGrpSpPr/>
          <p:nvPr/>
        </p:nvGrpSpPr>
        <p:grpSpPr>
          <a:xfrm>
            <a:off x="10182838" y="4393360"/>
            <a:ext cx="201597" cy="232311"/>
            <a:chOff x="10182838" y="4393360"/>
            <a:chExt cx="201597" cy="232311"/>
          </a:xfrm>
        </p:grpSpPr>
        <p:sp>
          <p:nvSpPr>
            <p:cNvPr id="88" name="Oval 87">
              <a:extLst>
                <a:ext uri="{FF2B5EF4-FFF2-40B4-BE49-F238E27FC236}">
                  <a16:creationId xmlns:a16="http://schemas.microsoft.com/office/drawing/2014/main" id="{5E822E41-836D-6B4A-859F-FD430E027DC8}"/>
                </a:ext>
              </a:extLst>
            </p:cNvPr>
            <p:cNvSpPr>
              <a:spLocks noChangeAspect="1"/>
            </p:cNvSpPr>
            <p:nvPr/>
          </p:nvSpPr>
          <p:spPr>
            <a:xfrm flipH="1">
              <a:off x="10182838" y="4393360"/>
              <a:ext cx="154079" cy="154079"/>
            </a:xfrm>
            <a:prstGeom prst="ellipse">
              <a:avLst/>
            </a:prstGeom>
            <a:solidFill>
              <a:srgbClr val="0070C0"/>
            </a:solidFill>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cxnSp>
          <p:nvCxnSpPr>
            <p:cNvPr id="107" name="Straight Arrow Connector 106">
              <a:extLst>
                <a:ext uri="{FF2B5EF4-FFF2-40B4-BE49-F238E27FC236}">
                  <a16:creationId xmlns:a16="http://schemas.microsoft.com/office/drawing/2014/main" id="{1FEAF416-CED6-C54A-A22B-8A4184554071}"/>
                </a:ext>
              </a:extLst>
            </p:cNvPr>
            <p:cNvCxnSpPr>
              <a:cxnSpLocks/>
            </p:cNvCxnSpPr>
            <p:nvPr/>
          </p:nvCxnSpPr>
          <p:spPr>
            <a:xfrm rot="5400000" flipH="1" flipV="1">
              <a:off x="10269748" y="4510985"/>
              <a:ext cx="46493" cy="182880"/>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grpSp>
      <p:cxnSp>
        <p:nvCxnSpPr>
          <p:cNvPr id="75" name="Straight Connector 74">
            <a:extLst>
              <a:ext uri="{FF2B5EF4-FFF2-40B4-BE49-F238E27FC236}">
                <a16:creationId xmlns:a16="http://schemas.microsoft.com/office/drawing/2014/main" id="{86BA35E8-F55F-2668-671C-5DA98F573EA3}"/>
              </a:ext>
            </a:extLst>
          </p:cNvPr>
          <p:cNvCxnSpPr>
            <a:cxnSpLocks/>
          </p:cNvCxnSpPr>
          <p:nvPr/>
        </p:nvCxnSpPr>
        <p:spPr>
          <a:xfrm flipH="1">
            <a:off x="6168222" y="2963442"/>
            <a:ext cx="90603" cy="277579"/>
          </a:xfrm>
          <a:prstGeom prst="line">
            <a:avLst/>
          </a:prstGeom>
          <a:ln>
            <a:solidFill>
              <a:schemeClr val="bg1"/>
            </a:solidFill>
            <a:prstDash val="dashDot"/>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D0556B34-06E7-FDA8-495E-EB40BFC8A215}"/>
              </a:ext>
            </a:extLst>
          </p:cNvPr>
          <p:cNvCxnSpPr>
            <a:cxnSpLocks/>
          </p:cNvCxnSpPr>
          <p:nvPr/>
        </p:nvCxnSpPr>
        <p:spPr>
          <a:xfrm rot="1084618">
            <a:off x="5760386" y="4313800"/>
            <a:ext cx="0" cy="353397"/>
          </a:xfrm>
          <a:prstGeom prst="line">
            <a:avLst/>
          </a:prstGeom>
          <a:ln>
            <a:solidFill>
              <a:schemeClr val="bg1"/>
            </a:solidFill>
            <a:prstDash val="dashDot"/>
          </a:ln>
        </p:spPr>
        <p:style>
          <a:lnRef idx="1">
            <a:schemeClr val="accent1"/>
          </a:lnRef>
          <a:fillRef idx="0">
            <a:schemeClr val="accent1"/>
          </a:fillRef>
          <a:effectRef idx="0">
            <a:schemeClr val="accent1"/>
          </a:effectRef>
          <a:fontRef idx="minor">
            <a:schemeClr val="tx1"/>
          </a:fontRef>
        </p:style>
      </p:cxnSp>
      <p:sp>
        <p:nvSpPr>
          <p:cNvPr id="90" name="Oval 89">
            <a:extLst>
              <a:ext uri="{FF2B5EF4-FFF2-40B4-BE49-F238E27FC236}">
                <a16:creationId xmlns:a16="http://schemas.microsoft.com/office/drawing/2014/main" id="{463D8A50-BA55-4BA5-8F77-72FAC042FA19}"/>
              </a:ext>
            </a:extLst>
          </p:cNvPr>
          <p:cNvSpPr/>
          <p:nvPr/>
        </p:nvSpPr>
        <p:spPr>
          <a:xfrm rot="6484618">
            <a:off x="5536018" y="1527860"/>
            <a:ext cx="897541" cy="4503199"/>
          </a:xfrm>
          <a:prstGeom prst="ellipse">
            <a:avLst/>
          </a:prstGeom>
          <a:no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cxnSp>
        <p:nvCxnSpPr>
          <p:cNvPr id="123" name="Straight Connector 122">
            <a:extLst>
              <a:ext uri="{FF2B5EF4-FFF2-40B4-BE49-F238E27FC236}">
                <a16:creationId xmlns:a16="http://schemas.microsoft.com/office/drawing/2014/main" id="{77517358-66D6-909D-B148-8A53B4C43CFF}"/>
              </a:ext>
            </a:extLst>
          </p:cNvPr>
          <p:cNvCxnSpPr>
            <a:cxnSpLocks/>
          </p:cNvCxnSpPr>
          <p:nvPr/>
        </p:nvCxnSpPr>
        <p:spPr>
          <a:xfrm rot="19589315">
            <a:off x="5867674" y="3490548"/>
            <a:ext cx="0" cy="125496"/>
          </a:xfrm>
          <a:prstGeom prst="line">
            <a:avLst/>
          </a:prstGeom>
          <a:ln>
            <a:solidFill>
              <a:schemeClr val="bg1"/>
            </a:solidFill>
            <a:prstDash val="dashDot"/>
          </a:ln>
        </p:spPr>
        <p:style>
          <a:lnRef idx="1">
            <a:schemeClr val="accent1"/>
          </a:lnRef>
          <a:fillRef idx="0">
            <a:schemeClr val="accent1"/>
          </a:fillRef>
          <a:effectRef idx="0">
            <a:schemeClr val="accent1"/>
          </a:effectRef>
          <a:fontRef idx="minor">
            <a:schemeClr val="tx1"/>
          </a:fontRef>
        </p:style>
      </p:cxnSp>
      <p:cxnSp>
        <p:nvCxnSpPr>
          <p:cNvPr id="128" name="Straight Connector 127">
            <a:extLst>
              <a:ext uri="{FF2B5EF4-FFF2-40B4-BE49-F238E27FC236}">
                <a16:creationId xmlns:a16="http://schemas.microsoft.com/office/drawing/2014/main" id="{E5ABB798-9816-DC3C-B09B-87220060F0F2}"/>
              </a:ext>
            </a:extLst>
          </p:cNvPr>
          <p:cNvCxnSpPr>
            <a:cxnSpLocks/>
          </p:cNvCxnSpPr>
          <p:nvPr/>
        </p:nvCxnSpPr>
        <p:spPr>
          <a:xfrm rot="19589315">
            <a:off x="6135041" y="3900400"/>
            <a:ext cx="0" cy="113337"/>
          </a:xfrm>
          <a:prstGeom prst="line">
            <a:avLst/>
          </a:prstGeom>
          <a:ln>
            <a:solidFill>
              <a:schemeClr val="bg1"/>
            </a:solidFill>
            <a:prstDash val="dashDot"/>
          </a:ln>
        </p:spPr>
        <p:style>
          <a:lnRef idx="1">
            <a:schemeClr val="accent1"/>
          </a:lnRef>
          <a:fillRef idx="0">
            <a:schemeClr val="accent1"/>
          </a:fillRef>
          <a:effectRef idx="0">
            <a:schemeClr val="accent1"/>
          </a:effectRef>
          <a:fontRef idx="minor">
            <a:schemeClr val="tx1"/>
          </a:fontRef>
        </p:style>
      </p:cxnSp>
      <p:sp>
        <p:nvSpPr>
          <p:cNvPr id="129" name="Oval 128">
            <a:extLst>
              <a:ext uri="{FF2B5EF4-FFF2-40B4-BE49-F238E27FC236}">
                <a16:creationId xmlns:a16="http://schemas.microsoft.com/office/drawing/2014/main" id="{7BC6D58B-888D-2259-AAD2-733AF8590239}"/>
              </a:ext>
            </a:extLst>
          </p:cNvPr>
          <p:cNvSpPr/>
          <p:nvPr/>
        </p:nvSpPr>
        <p:spPr>
          <a:xfrm rot="3389315">
            <a:off x="5857958" y="3334630"/>
            <a:ext cx="287847" cy="847667"/>
          </a:xfrm>
          <a:prstGeom prst="ellipse">
            <a:avLst/>
          </a:prstGeom>
          <a:no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35" name="Oval 134">
            <a:extLst>
              <a:ext uri="{FF2B5EF4-FFF2-40B4-BE49-F238E27FC236}">
                <a16:creationId xmlns:a16="http://schemas.microsoft.com/office/drawing/2014/main" id="{F493495A-2B26-4E85-24CA-F93040968695}"/>
              </a:ext>
            </a:extLst>
          </p:cNvPr>
          <p:cNvSpPr>
            <a:spLocks noChangeAspect="1"/>
          </p:cNvSpPr>
          <p:nvPr/>
        </p:nvSpPr>
        <p:spPr>
          <a:xfrm flipH="1">
            <a:off x="7148016" y="3680074"/>
            <a:ext cx="154079" cy="154079"/>
          </a:xfrm>
          <a:prstGeom prst="ellipse">
            <a:avLst/>
          </a:prstGeom>
          <a:solidFill>
            <a:srgbClr val="0070C0"/>
          </a:solidFill>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cxnSp>
        <p:nvCxnSpPr>
          <p:cNvPr id="136" name="Straight Arrow Connector 135">
            <a:extLst>
              <a:ext uri="{FF2B5EF4-FFF2-40B4-BE49-F238E27FC236}">
                <a16:creationId xmlns:a16="http://schemas.microsoft.com/office/drawing/2014/main" id="{79519A63-1B18-F0A5-19D2-CC40B88D3095}"/>
              </a:ext>
            </a:extLst>
          </p:cNvPr>
          <p:cNvCxnSpPr>
            <a:cxnSpLocks/>
          </p:cNvCxnSpPr>
          <p:nvPr/>
        </p:nvCxnSpPr>
        <p:spPr>
          <a:xfrm flipH="1" flipV="1">
            <a:off x="7205123" y="3590288"/>
            <a:ext cx="136743" cy="65812"/>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sp>
        <p:nvSpPr>
          <p:cNvPr id="137" name="Oval 136">
            <a:extLst>
              <a:ext uri="{FF2B5EF4-FFF2-40B4-BE49-F238E27FC236}">
                <a16:creationId xmlns:a16="http://schemas.microsoft.com/office/drawing/2014/main" id="{A6BCBBD9-4C68-E58D-B48F-F4470C10C0E4}"/>
              </a:ext>
            </a:extLst>
          </p:cNvPr>
          <p:cNvSpPr>
            <a:spLocks noChangeAspect="1"/>
          </p:cNvSpPr>
          <p:nvPr/>
        </p:nvSpPr>
        <p:spPr>
          <a:xfrm flipH="1">
            <a:off x="4512454" y="3633359"/>
            <a:ext cx="154079" cy="154079"/>
          </a:xfrm>
          <a:prstGeom prst="ellipse">
            <a:avLst/>
          </a:prstGeom>
          <a:solidFill>
            <a:srgbClr val="FF0000"/>
          </a:solidFill>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cxnSp>
        <p:nvCxnSpPr>
          <p:cNvPr id="138" name="Straight Arrow Connector 137">
            <a:extLst>
              <a:ext uri="{FF2B5EF4-FFF2-40B4-BE49-F238E27FC236}">
                <a16:creationId xmlns:a16="http://schemas.microsoft.com/office/drawing/2014/main" id="{E0DDDD78-97E5-74A8-6ACD-A658AFA670EF}"/>
              </a:ext>
            </a:extLst>
          </p:cNvPr>
          <p:cNvCxnSpPr>
            <a:cxnSpLocks/>
          </p:cNvCxnSpPr>
          <p:nvPr/>
        </p:nvCxnSpPr>
        <p:spPr>
          <a:xfrm>
            <a:off x="4482354" y="3787751"/>
            <a:ext cx="136342" cy="83313"/>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sp>
        <p:nvSpPr>
          <p:cNvPr id="139" name="Oval 138">
            <a:extLst>
              <a:ext uri="{FF2B5EF4-FFF2-40B4-BE49-F238E27FC236}">
                <a16:creationId xmlns:a16="http://schemas.microsoft.com/office/drawing/2014/main" id="{179B8960-EB84-C3D5-DD9A-3DE74A40C28E}"/>
              </a:ext>
            </a:extLst>
          </p:cNvPr>
          <p:cNvSpPr>
            <a:spLocks noChangeAspect="1"/>
          </p:cNvSpPr>
          <p:nvPr/>
        </p:nvSpPr>
        <p:spPr>
          <a:xfrm flipH="1">
            <a:off x="5628940" y="3757113"/>
            <a:ext cx="154079" cy="154079"/>
          </a:xfrm>
          <a:prstGeom prst="ellipse">
            <a:avLst/>
          </a:prstGeom>
          <a:solidFill>
            <a:srgbClr val="0070C0"/>
          </a:solidFill>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cxnSp>
        <p:nvCxnSpPr>
          <p:cNvPr id="140" name="Straight Arrow Connector 139">
            <a:extLst>
              <a:ext uri="{FF2B5EF4-FFF2-40B4-BE49-F238E27FC236}">
                <a16:creationId xmlns:a16="http://schemas.microsoft.com/office/drawing/2014/main" id="{6A774548-1FAB-CA59-90E2-4D36F7DEDA64}"/>
              </a:ext>
            </a:extLst>
          </p:cNvPr>
          <p:cNvCxnSpPr>
            <a:cxnSpLocks/>
          </p:cNvCxnSpPr>
          <p:nvPr/>
        </p:nvCxnSpPr>
        <p:spPr>
          <a:xfrm flipH="1">
            <a:off x="5569038" y="3706409"/>
            <a:ext cx="55833" cy="159332"/>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sp>
        <p:nvSpPr>
          <p:cNvPr id="141" name="Oval 140">
            <a:extLst>
              <a:ext uri="{FF2B5EF4-FFF2-40B4-BE49-F238E27FC236}">
                <a16:creationId xmlns:a16="http://schemas.microsoft.com/office/drawing/2014/main" id="{FCFBE2B9-5375-F9D6-DC26-28B8C38A30FA}"/>
              </a:ext>
            </a:extLst>
          </p:cNvPr>
          <p:cNvSpPr>
            <a:spLocks noChangeAspect="1"/>
          </p:cNvSpPr>
          <p:nvPr/>
        </p:nvSpPr>
        <p:spPr>
          <a:xfrm flipH="1">
            <a:off x="6220941" y="3618001"/>
            <a:ext cx="154079" cy="154079"/>
          </a:xfrm>
          <a:prstGeom prst="ellipse">
            <a:avLst/>
          </a:prstGeom>
          <a:solidFill>
            <a:srgbClr val="FF0000"/>
          </a:solidFill>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cxnSp>
        <p:nvCxnSpPr>
          <p:cNvPr id="142" name="Straight Arrow Connector 141">
            <a:extLst>
              <a:ext uri="{FF2B5EF4-FFF2-40B4-BE49-F238E27FC236}">
                <a16:creationId xmlns:a16="http://schemas.microsoft.com/office/drawing/2014/main" id="{36C4A668-F8F0-37A6-A499-F9EAB439CEC5}"/>
              </a:ext>
            </a:extLst>
          </p:cNvPr>
          <p:cNvCxnSpPr>
            <a:cxnSpLocks/>
          </p:cNvCxnSpPr>
          <p:nvPr/>
        </p:nvCxnSpPr>
        <p:spPr>
          <a:xfrm flipV="1">
            <a:off x="6408983" y="3633359"/>
            <a:ext cx="41235" cy="146100"/>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sp>
        <p:nvSpPr>
          <p:cNvPr id="143" name="Oval 142">
            <a:extLst>
              <a:ext uri="{FF2B5EF4-FFF2-40B4-BE49-F238E27FC236}">
                <a16:creationId xmlns:a16="http://schemas.microsoft.com/office/drawing/2014/main" id="{76D91214-D6F4-E6A1-23E5-E0A9CDEB85BB}"/>
              </a:ext>
            </a:extLst>
          </p:cNvPr>
          <p:cNvSpPr>
            <a:spLocks noChangeAspect="1"/>
          </p:cNvSpPr>
          <p:nvPr/>
        </p:nvSpPr>
        <p:spPr>
          <a:xfrm flipH="1">
            <a:off x="5628517" y="4545985"/>
            <a:ext cx="154079" cy="154079"/>
          </a:xfrm>
          <a:prstGeom prst="ellipse">
            <a:avLst/>
          </a:prstGeom>
          <a:solidFill>
            <a:schemeClr val="bg1"/>
          </a:solidFill>
          <a:ln>
            <a:noFill/>
          </a:ln>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144" name="Oval 143">
            <a:extLst>
              <a:ext uri="{FF2B5EF4-FFF2-40B4-BE49-F238E27FC236}">
                <a16:creationId xmlns:a16="http://schemas.microsoft.com/office/drawing/2014/main" id="{FD9CF885-906A-AE2F-B1CF-6E037188E3C1}"/>
              </a:ext>
            </a:extLst>
          </p:cNvPr>
          <p:cNvSpPr>
            <a:spLocks noChangeAspect="1"/>
          </p:cNvSpPr>
          <p:nvPr/>
        </p:nvSpPr>
        <p:spPr>
          <a:xfrm flipH="1">
            <a:off x="6193658" y="2852648"/>
            <a:ext cx="154079" cy="154079"/>
          </a:xfrm>
          <a:prstGeom prst="ellipse">
            <a:avLst/>
          </a:prstGeom>
          <a:solidFill>
            <a:schemeClr val="bg1"/>
          </a:solidFill>
          <a:ln>
            <a:noFill/>
          </a:ln>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145" name="Oval 144">
            <a:extLst>
              <a:ext uri="{FF2B5EF4-FFF2-40B4-BE49-F238E27FC236}">
                <a16:creationId xmlns:a16="http://schemas.microsoft.com/office/drawing/2014/main" id="{B46CBF79-8FEB-E768-1ED0-F2BECF0CCE61}"/>
              </a:ext>
            </a:extLst>
          </p:cNvPr>
          <p:cNvSpPr>
            <a:spLocks noChangeAspect="1"/>
          </p:cNvSpPr>
          <p:nvPr/>
        </p:nvSpPr>
        <p:spPr>
          <a:xfrm flipH="1">
            <a:off x="6129631" y="3982137"/>
            <a:ext cx="154079" cy="154079"/>
          </a:xfrm>
          <a:prstGeom prst="ellipse">
            <a:avLst/>
          </a:prstGeom>
          <a:solidFill>
            <a:schemeClr val="bg1"/>
          </a:solidFill>
          <a:ln>
            <a:noFill/>
          </a:ln>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146" name="Oval 145">
            <a:extLst>
              <a:ext uri="{FF2B5EF4-FFF2-40B4-BE49-F238E27FC236}">
                <a16:creationId xmlns:a16="http://schemas.microsoft.com/office/drawing/2014/main" id="{E29105DC-7279-9A43-FAC8-0876C02BBA15}"/>
              </a:ext>
            </a:extLst>
          </p:cNvPr>
          <p:cNvSpPr>
            <a:spLocks noChangeAspect="1"/>
          </p:cNvSpPr>
          <p:nvPr/>
        </p:nvSpPr>
        <p:spPr>
          <a:xfrm flipH="1">
            <a:off x="5712370" y="3348729"/>
            <a:ext cx="154079" cy="154079"/>
          </a:xfrm>
          <a:prstGeom prst="ellipse">
            <a:avLst/>
          </a:prstGeom>
          <a:solidFill>
            <a:schemeClr val="bg1"/>
          </a:solidFill>
          <a:ln>
            <a:noFill/>
          </a:ln>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Tree>
    <p:extLst>
      <p:ext uri="{BB962C8B-B14F-4D97-AF65-F5344CB8AC3E}">
        <p14:creationId xmlns:p14="http://schemas.microsoft.com/office/powerpoint/2010/main" val="29976001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BCEC3F-FDDB-5983-8D2C-A4BFED7BAA0A}"/>
              </a:ext>
            </a:extLst>
          </p:cNvPr>
          <p:cNvSpPr>
            <a:spLocks noGrp="1"/>
          </p:cNvSpPr>
          <p:nvPr>
            <p:ph type="title"/>
          </p:nvPr>
        </p:nvSpPr>
        <p:spPr>
          <a:xfrm>
            <a:off x="730134" y="0"/>
            <a:ext cx="10515600" cy="1325563"/>
          </a:xfrm>
        </p:spPr>
        <p:txBody>
          <a:bodyPr>
            <a:normAutofit/>
          </a:bodyPr>
          <a:lstStyle/>
          <a:p>
            <a:r>
              <a:rPr lang="en-US"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Dynamics of Noether Cores</a:t>
            </a:r>
          </a:p>
        </p:txBody>
      </p:sp>
      <p:sp>
        <p:nvSpPr>
          <p:cNvPr id="3" name="Content Placeholder 2">
            <a:extLst>
              <a:ext uri="{FF2B5EF4-FFF2-40B4-BE49-F238E27FC236}">
                <a16:creationId xmlns:a16="http://schemas.microsoft.com/office/drawing/2014/main" id="{B79D155D-AAA3-5D9A-34B2-23F2E49ED074}"/>
              </a:ext>
            </a:extLst>
          </p:cNvPr>
          <p:cNvSpPr>
            <a:spLocks noGrp="1"/>
          </p:cNvSpPr>
          <p:nvPr>
            <p:ph idx="1"/>
          </p:nvPr>
        </p:nvSpPr>
        <p:spPr>
          <a:xfrm>
            <a:off x="539634" y="1526366"/>
            <a:ext cx="11112731" cy="4351338"/>
          </a:xfrm>
        </p:spPr>
        <p:txBody>
          <a:bodyPr>
            <a:noAutofit/>
          </a:bodyPr>
          <a:lstStyle/>
          <a:p>
            <a:pPr>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Noether Cores</a:t>
            </a:r>
          </a:p>
          <a:p>
            <a:pPr lvl="1">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Binary based assemblies transmit potential via their wave equation, i.e., the spiraling Dirac sphere streams. </a:t>
            </a:r>
          </a:p>
          <a:p>
            <a:pPr lvl="1">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The Noether core displaces spatial volume, occupying a volume of Euclidean time and space. </a:t>
            </a:r>
          </a:p>
          <a:p>
            <a:pPr lvl="1">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The 3D space contained within a Noether core is can only be breached if a decay occurs. </a:t>
            </a:r>
          </a:p>
          <a:p>
            <a:pPr lvl="1">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The volume displaced by a Noether core depends on energy and group velocity.</a:t>
            </a:r>
          </a:p>
          <a:p>
            <a:pPr lvl="1">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velocities far below field speed, Noether cores thus remain distinct from each other, in a Fermi-Dirac state.</a:t>
            </a:r>
          </a:p>
          <a:p>
            <a:pPr>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Higgs clusters </a:t>
            </a:r>
          </a:p>
          <a:p>
            <a:pPr lvl="1">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The Noether cores that implement Einstein’s spacetime are extremely well shielded. Gen II is Higgs.</a:t>
            </a:r>
          </a:p>
          <a:p>
            <a:pPr lvl="1">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Higgs Noether cores may be so well shielded that they transmit very little energy. </a:t>
            </a:r>
          </a:p>
          <a:p>
            <a:pPr lvl="1">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Higgs Noether cores become excited by the unshielded energy emanating from standard model assemblies. </a:t>
            </a:r>
          </a:p>
          <a:p>
            <a:pPr lvl="1">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This increased energy causes the Higgs Noether cores to deflate and/or distort. (stretchy-curvy spacetime)</a:t>
            </a:r>
          </a:p>
          <a:p>
            <a:pPr lvl="1">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As standard matter becomes denser, the permeating Higgs Noether cores deflate even more.</a:t>
            </a:r>
          </a:p>
          <a:p>
            <a:pPr lvl="1">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The gradient in Noether core energy and hence characteristics is the mechanism for gravity.</a:t>
            </a:r>
          </a:p>
          <a:p>
            <a:pPr lvl="1">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extremes in energy standard model matter will react or decay and emerge as assemblies that are more stable at the higher, denser energies.  </a:t>
            </a:r>
          </a:p>
          <a:p>
            <a:pPr>
              <a:lnSpc>
                <a:spcPct val="80000"/>
              </a:lnSpc>
            </a:pPr>
            <a:endPar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endParaRPr>
          </a:p>
          <a:p>
            <a:pPr>
              <a:lnSpc>
                <a:spcPct val="80000"/>
              </a:lnSpc>
            </a:pPr>
            <a:endPar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endParaRPr>
          </a:p>
          <a:p>
            <a:pPr marL="0" indent="0">
              <a:lnSpc>
                <a:spcPct val="80000"/>
              </a:lnSpc>
              <a:buNone/>
            </a:pPr>
            <a:endPar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endParaRPr>
          </a:p>
        </p:txBody>
      </p:sp>
    </p:spTree>
    <p:extLst>
      <p:ext uri="{BB962C8B-B14F-4D97-AF65-F5344CB8AC3E}">
        <p14:creationId xmlns:p14="http://schemas.microsoft.com/office/powerpoint/2010/main" val="19410072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BCEC3F-FDDB-5983-8D2C-A4BFED7BAA0A}"/>
              </a:ext>
            </a:extLst>
          </p:cNvPr>
          <p:cNvSpPr>
            <a:spLocks noGrp="1"/>
          </p:cNvSpPr>
          <p:nvPr>
            <p:ph type="title"/>
          </p:nvPr>
        </p:nvSpPr>
        <p:spPr>
          <a:xfrm>
            <a:off x="299258" y="1"/>
            <a:ext cx="10515600" cy="914400"/>
          </a:xfrm>
        </p:spPr>
        <p:txBody>
          <a:bodyPr>
            <a:normAutofit/>
          </a:bodyPr>
          <a:lstStyle/>
          <a:p>
            <a:r>
              <a:rPr lang="en-US"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Dynamics of the Noether Core</a:t>
            </a:r>
          </a:p>
        </p:txBody>
      </p:sp>
      <p:sp>
        <p:nvSpPr>
          <p:cNvPr id="3" name="Content Placeholder 2">
            <a:extLst>
              <a:ext uri="{FF2B5EF4-FFF2-40B4-BE49-F238E27FC236}">
                <a16:creationId xmlns:a16="http://schemas.microsoft.com/office/drawing/2014/main" id="{B79D155D-AAA3-5D9A-34B2-23F2E49ED074}"/>
              </a:ext>
            </a:extLst>
          </p:cNvPr>
          <p:cNvSpPr>
            <a:spLocks noGrp="1"/>
          </p:cNvSpPr>
          <p:nvPr>
            <p:ph idx="1"/>
          </p:nvPr>
        </p:nvSpPr>
        <p:spPr>
          <a:xfrm>
            <a:off x="299258" y="1122219"/>
            <a:ext cx="11587942" cy="5311832"/>
          </a:xfrm>
        </p:spPr>
        <p:txBody>
          <a:bodyPr>
            <a:noAutofit/>
          </a:bodyPr>
          <a:lstStyle/>
          <a:p>
            <a:pPr>
              <a:lnSpc>
                <a:spcPct val="80000"/>
              </a:lnSpc>
            </a:pPr>
            <a:r>
              <a:rPr lang="en-US" sz="18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As assembly group velocity increases towards local c (which approaches @), </a:t>
            </a:r>
          </a:p>
          <a:p>
            <a:pPr lvl="1">
              <a:lnSpc>
                <a:spcPct val="80000"/>
              </a:lnSpc>
            </a:pPr>
            <a:r>
              <a:rPr lang="en-US" sz="18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The geometry of the Noether core and overall assembly becomes more oblate</a:t>
            </a:r>
          </a:p>
          <a:p>
            <a:pPr lvl="2">
              <a:lnSpc>
                <a:spcPct val="80000"/>
              </a:lnSpc>
            </a:pPr>
            <a:r>
              <a:rPr lang="en-US" sz="18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Transitioning towards near planar form at v = local c?</a:t>
            </a:r>
          </a:p>
          <a:p>
            <a:pPr lvl="2">
              <a:lnSpc>
                <a:spcPct val="80000"/>
              </a:lnSpc>
            </a:pPr>
            <a:r>
              <a:rPr lang="en-US" sz="18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Does this map to Bose-Einstein statistics? </a:t>
            </a:r>
          </a:p>
          <a:p>
            <a:pPr lvl="1">
              <a:lnSpc>
                <a:spcPct val="80000"/>
              </a:lnSpc>
            </a:pPr>
            <a:r>
              <a:rPr lang="en-US" sz="18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The magnitude of the preceding emissions transitions sharply. </a:t>
            </a:r>
          </a:p>
          <a:p>
            <a:pPr lvl="2">
              <a:lnSpc>
                <a:spcPct val="80000"/>
              </a:lnSpc>
            </a:pPr>
            <a:r>
              <a:rPr lang="en-US" sz="18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What is the shape of a compressed Dirac sphere stream? </a:t>
            </a:r>
          </a:p>
          <a:p>
            <a:pPr lvl="2">
              <a:lnSpc>
                <a:spcPct val="80000"/>
              </a:lnSpc>
            </a:pPr>
            <a:r>
              <a:rPr lang="en-US" sz="18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What about the closest approach and then as it continues on its group path?</a:t>
            </a:r>
          </a:p>
          <a:p>
            <a:pPr lvl="2">
              <a:lnSpc>
                <a:spcPct val="80000"/>
              </a:lnSpc>
            </a:pPr>
            <a:r>
              <a:rPr lang="en-US" sz="18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These questions all remain to be pondered and simulated.</a:t>
            </a:r>
          </a:p>
          <a:p>
            <a:pPr>
              <a:lnSpc>
                <a:spcPct val="80000"/>
              </a:lnSpc>
            </a:pPr>
            <a:r>
              <a:rPr lang="en-US" sz="18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Standard model matter presents its generation I apparent energy (mass), </a:t>
            </a:r>
          </a:p>
          <a:p>
            <a:pPr>
              <a:lnSpc>
                <a:spcPct val="80000"/>
              </a:lnSpc>
            </a:pPr>
            <a:r>
              <a:rPr lang="en-US" sz="18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When standard model assemblies decay in a collider, they reveal more energy (mass) from the inner binaries</a:t>
            </a:r>
          </a:p>
          <a:p>
            <a:pPr>
              <a:lnSpc>
                <a:spcPct val="80000"/>
              </a:lnSpc>
            </a:pPr>
            <a:r>
              <a:rPr lang="en-US" sz="18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Naked generation II and III binaries appear to be highly reactive with Higgs </a:t>
            </a:r>
            <a:r>
              <a:rPr lang="en-US" sz="1800" dirty="0" err="1">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aether</a:t>
            </a:r>
            <a:r>
              <a:rPr lang="en-US" sz="18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 assemblies. </a:t>
            </a:r>
          </a:p>
          <a:p>
            <a:pPr>
              <a:lnSpc>
                <a:spcPct val="80000"/>
              </a:lnSpc>
            </a:pPr>
            <a:r>
              <a:rPr lang="en-US" sz="18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Is there anything that can fly through a Noether core without reacting? Through any orbital?</a:t>
            </a:r>
          </a:p>
          <a:p>
            <a:pPr lvl="1">
              <a:lnSpc>
                <a:spcPct val="80000"/>
              </a:lnSpc>
            </a:pPr>
            <a:r>
              <a:rPr lang="en-US" sz="18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It would need to be extremely high velocity, perhaps greater than @, perhaps higher than the gen II or gen III binary.</a:t>
            </a:r>
          </a:p>
          <a:p>
            <a:pPr lvl="1">
              <a:lnSpc>
                <a:spcPct val="80000"/>
              </a:lnSpc>
            </a:pPr>
            <a:r>
              <a:rPr lang="en-US" sz="18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My hunch is that non-shielded point potentials or assembly fragments would quickly react like we see in collider particle showers and their energy and point potentials would either become Noether cores of spacetime </a:t>
            </a:r>
            <a:r>
              <a:rPr lang="en-US" sz="1800" dirty="0" err="1">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aether</a:t>
            </a:r>
            <a:r>
              <a:rPr lang="en-US" sz="18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 or standard model particle assemblies. It is a Monte-Carlo phase space. If that makes sense. </a:t>
            </a:r>
          </a:p>
        </p:txBody>
      </p:sp>
    </p:spTree>
    <p:extLst>
      <p:ext uri="{BB962C8B-B14F-4D97-AF65-F5344CB8AC3E}">
        <p14:creationId xmlns:p14="http://schemas.microsoft.com/office/powerpoint/2010/main" val="35651576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BCEC3F-FDDB-5983-8D2C-A4BFED7BAA0A}"/>
              </a:ext>
            </a:extLst>
          </p:cNvPr>
          <p:cNvSpPr>
            <a:spLocks noGrp="1"/>
          </p:cNvSpPr>
          <p:nvPr>
            <p:ph type="title"/>
          </p:nvPr>
        </p:nvSpPr>
        <p:spPr>
          <a:xfrm>
            <a:off x="299258" y="1"/>
            <a:ext cx="10515600" cy="914400"/>
          </a:xfrm>
        </p:spPr>
        <p:txBody>
          <a:bodyPr>
            <a:normAutofit/>
          </a:bodyPr>
          <a:lstStyle/>
          <a:p>
            <a:r>
              <a:rPr lang="en-US"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Dynamics of the Noether Core</a:t>
            </a:r>
          </a:p>
        </p:txBody>
      </p:sp>
      <p:sp>
        <p:nvSpPr>
          <p:cNvPr id="3" name="Content Placeholder 2">
            <a:extLst>
              <a:ext uri="{FF2B5EF4-FFF2-40B4-BE49-F238E27FC236}">
                <a16:creationId xmlns:a16="http://schemas.microsoft.com/office/drawing/2014/main" id="{B79D155D-AAA3-5D9A-34B2-23F2E49ED074}"/>
              </a:ext>
            </a:extLst>
          </p:cNvPr>
          <p:cNvSpPr>
            <a:spLocks noGrp="1"/>
          </p:cNvSpPr>
          <p:nvPr>
            <p:ph idx="1"/>
          </p:nvPr>
        </p:nvSpPr>
        <p:spPr>
          <a:xfrm>
            <a:off x="299258" y="1122219"/>
            <a:ext cx="11587942" cy="5311832"/>
          </a:xfrm>
        </p:spPr>
        <p:txBody>
          <a:bodyPr>
            <a:noAutofit/>
          </a:bodyPr>
          <a:lstStyle/>
          <a:p>
            <a:pPr>
              <a:lnSpc>
                <a:spcPct val="80000"/>
              </a:lnSpc>
            </a:pPr>
            <a:r>
              <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All point potentials are constant rate emitters of potential. </a:t>
            </a:r>
          </a:p>
          <a:p>
            <a:pPr>
              <a:lnSpc>
                <a:spcPct val="80000"/>
              </a:lnSpc>
            </a:pPr>
            <a:r>
              <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Noether cores themselves present a very low energy wave equation.</a:t>
            </a:r>
          </a:p>
          <a:p>
            <a:pPr lvl="1">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High frequency, attenuated emission magnitude q/|v|</a:t>
            </a:r>
          </a:p>
          <a:p>
            <a:pPr lvl="1">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Binaries present a swirling field at each orbital pole.</a:t>
            </a:r>
          </a:p>
          <a:p>
            <a:pPr>
              <a:lnSpc>
                <a:spcPct val="80000"/>
              </a:lnSpc>
            </a:pPr>
            <a:r>
              <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Compared to Noether cores of spacetime, </a:t>
            </a:r>
            <a:r>
              <a:rPr lang="en-US" sz="20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fermions</a:t>
            </a:r>
            <a:r>
              <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 are lower energy with larger orbital radii. </a:t>
            </a:r>
          </a:p>
          <a:p>
            <a:pPr lvl="1">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The architectural configuration for each fermion has significant apparent energy, i.e., mass.</a:t>
            </a:r>
          </a:p>
          <a:p>
            <a:pPr>
              <a:lnSpc>
                <a:spcPct val="80000"/>
              </a:lnSpc>
            </a:pPr>
            <a:r>
              <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Spacetime Noether cores are excited by the potential emitted by lower energy fermion assemblies.</a:t>
            </a:r>
          </a:p>
          <a:p>
            <a:pPr>
              <a:lnSpc>
                <a:spcPct val="80000"/>
              </a:lnSpc>
            </a:pPr>
            <a:r>
              <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The potential fields received by the point potentials in spacetime assemblies cause energy transfer</a:t>
            </a:r>
          </a:p>
          <a:p>
            <a:pPr>
              <a:lnSpc>
                <a:spcPct val="80000"/>
              </a:lnSpc>
            </a:pPr>
            <a:r>
              <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When binaries receive energy, point potential speed increases and the binary radius decreases.</a:t>
            </a:r>
          </a:p>
          <a:p>
            <a:pPr lvl="1">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Both PE and KE change in classical analysis.</a:t>
            </a:r>
          </a:p>
          <a:p>
            <a:pPr>
              <a:lnSpc>
                <a:spcPct val="80000"/>
              </a:lnSpc>
            </a:pPr>
            <a:r>
              <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Fermion assemblies are the basis for all “massy” matter.</a:t>
            </a:r>
          </a:p>
          <a:p>
            <a:pPr lvl="1">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Other standard model particles are ephemeral (</a:t>
            </a:r>
            <a:r>
              <a:rPr lang="en-US" sz="1600" dirty="0" err="1">
                <a:solidFill>
                  <a:schemeClr val="bg1"/>
                </a:solidFill>
                <a:latin typeface="Helvetica Neue" panose="02000503000000020004" pitchFamily="2" charset="0"/>
                <a:ea typeface="Helvetica Neue" panose="02000503000000020004" pitchFamily="2" charset="0"/>
                <a:cs typeface="Helvetica Neue" panose="02000503000000020004" pitchFamily="2" charset="0"/>
              </a:rPr>
              <a:t>Ws</a:t>
            </a: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 Z, and exotics) or have very low mass (neutrino, photon).</a:t>
            </a:r>
          </a:p>
          <a:p>
            <a:pPr lvl="1">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 fermion has six lower energy point potentials in the poles of a triply nested binary Noether core. </a:t>
            </a:r>
          </a:p>
          <a:p>
            <a:pPr marL="0" indent="0">
              <a:lnSpc>
                <a:spcPct val="80000"/>
              </a:lnSpc>
              <a:buNone/>
            </a:pPr>
            <a:endPar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endParaRPr>
          </a:p>
        </p:txBody>
      </p:sp>
    </p:spTree>
    <p:extLst>
      <p:ext uri="{BB962C8B-B14F-4D97-AF65-F5344CB8AC3E}">
        <p14:creationId xmlns:p14="http://schemas.microsoft.com/office/powerpoint/2010/main" val="38685572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BCEC3F-FDDB-5983-8D2C-A4BFED7BAA0A}"/>
              </a:ext>
            </a:extLst>
          </p:cNvPr>
          <p:cNvSpPr>
            <a:spLocks noGrp="1"/>
          </p:cNvSpPr>
          <p:nvPr>
            <p:ph type="title"/>
          </p:nvPr>
        </p:nvSpPr>
        <p:spPr>
          <a:xfrm>
            <a:off x="329479" y="135398"/>
            <a:ext cx="11651506" cy="914400"/>
          </a:xfrm>
        </p:spPr>
        <p:txBody>
          <a:bodyPr>
            <a:normAutofit/>
          </a:bodyPr>
          <a:lstStyle/>
          <a:p>
            <a:r>
              <a:rPr lang="en-US"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Dynamics of the Noether Core - Ideation</a:t>
            </a:r>
          </a:p>
        </p:txBody>
      </p:sp>
      <p:sp>
        <p:nvSpPr>
          <p:cNvPr id="3" name="Content Placeholder 2">
            <a:extLst>
              <a:ext uri="{FF2B5EF4-FFF2-40B4-BE49-F238E27FC236}">
                <a16:creationId xmlns:a16="http://schemas.microsoft.com/office/drawing/2014/main" id="{B79D155D-AAA3-5D9A-34B2-23F2E49ED074}"/>
              </a:ext>
            </a:extLst>
          </p:cNvPr>
          <p:cNvSpPr>
            <a:spLocks noGrp="1"/>
          </p:cNvSpPr>
          <p:nvPr>
            <p:ph idx="1"/>
          </p:nvPr>
        </p:nvSpPr>
        <p:spPr>
          <a:xfrm>
            <a:off x="127320" y="1145735"/>
            <a:ext cx="11587942" cy="3082656"/>
          </a:xfrm>
        </p:spPr>
        <p:txBody>
          <a:bodyPr>
            <a:noAutofit/>
          </a:bodyPr>
          <a:lstStyle/>
          <a:p>
            <a:pPr>
              <a:lnSpc>
                <a:spcPct val="80000"/>
              </a:lnSpc>
            </a:pPr>
            <a:r>
              <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 Higgs cluster has two pro and two anti Noether cores. Do they couple like a Helium nucleus?</a:t>
            </a:r>
          </a:p>
          <a:p>
            <a:pPr>
              <a:lnSpc>
                <a:spcPct val="80000"/>
              </a:lnSpc>
            </a:pPr>
            <a:r>
              <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Our photon model suggests that counter-rotating binaries strongly couple.</a:t>
            </a:r>
          </a:p>
          <a:p>
            <a:pPr>
              <a:lnSpc>
                <a:spcPct val="80000"/>
              </a:lnSpc>
            </a:pPr>
            <a:r>
              <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Let’s speculate we are coupling the two poles of the Gen III binary (highest energy binary).</a:t>
            </a:r>
          </a:p>
          <a:p>
            <a:pPr>
              <a:lnSpc>
                <a:spcPct val="80000"/>
              </a:lnSpc>
            </a:pPr>
            <a:r>
              <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There are 4 Gen III binaries in a Higgs cluster.</a:t>
            </a:r>
          </a:p>
          <a:p>
            <a:pPr>
              <a:lnSpc>
                <a:spcPct val="80000"/>
              </a:lnSpc>
            </a:pPr>
            <a:r>
              <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We have 8 poles to couple. </a:t>
            </a:r>
          </a:p>
          <a:p>
            <a:pPr lvl="1">
              <a:lnSpc>
                <a:spcPct val="80000"/>
              </a:lnSpc>
            </a:pPr>
            <a:r>
              <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Pro1, Pro2, Anti1, Anti2, each with L or R angular momentum</a:t>
            </a:r>
          </a:p>
          <a:p>
            <a:pPr>
              <a:lnSpc>
                <a:spcPct val="80000"/>
              </a:lnSpc>
            </a:pPr>
            <a:r>
              <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Gen II binaries may also couple. Gen I binaries may also couple</a:t>
            </a:r>
          </a:p>
          <a:p>
            <a:pPr>
              <a:lnSpc>
                <a:spcPct val="80000"/>
              </a:lnSpc>
            </a:pPr>
            <a:r>
              <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To what degree, if any, do these Gen III axial couplings contribute to assembly shielding?</a:t>
            </a:r>
          </a:p>
        </p:txBody>
      </p:sp>
      <p:grpSp>
        <p:nvGrpSpPr>
          <p:cNvPr id="75" name="Group 74">
            <a:extLst>
              <a:ext uri="{FF2B5EF4-FFF2-40B4-BE49-F238E27FC236}">
                <a16:creationId xmlns:a16="http://schemas.microsoft.com/office/drawing/2014/main" id="{B0A53707-C834-4F34-378C-5C72CF1AE58D}"/>
              </a:ext>
            </a:extLst>
          </p:cNvPr>
          <p:cNvGrpSpPr/>
          <p:nvPr/>
        </p:nvGrpSpPr>
        <p:grpSpPr>
          <a:xfrm>
            <a:off x="6671510" y="4199519"/>
            <a:ext cx="2417783" cy="2401433"/>
            <a:chOff x="9203694" y="2557847"/>
            <a:chExt cx="2197755" cy="2182893"/>
          </a:xfrm>
        </p:grpSpPr>
        <p:grpSp>
          <p:nvGrpSpPr>
            <p:cNvPr id="44" name="Group 43">
              <a:extLst>
                <a:ext uri="{FF2B5EF4-FFF2-40B4-BE49-F238E27FC236}">
                  <a16:creationId xmlns:a16="http://schemas.microsoft.com/office/drawing/2014/main" id="{1C7A851A-2597-3CBD-D89B-ECCAA7C13BCD}"/>
                </a:ext>
              </a:extLst>
            </p:cNvPr>
            <p:cNvGrpSpPr/>
            <p:nvPr/>
          </p:nvGrpSpPr>
          <p:grpSpPr>
            <a:xfrm>
              <a:off x="9208666" y="2560077"/>
              <a:ext cx="2192783" cy="2180663"/>
              <a:chOff x="3734227" y="5528530"/>
              <a:chExt cx="961621" cy="956306"/>
            </a:xfrm>
          </p:grpSpPr>
          <p:grpSp>
            <p:nvGrpSpPr>
              <p:cNvPr id="20" name="Group 19">
                <a:extLst>
                  <a:ext uri="{FF2B5EF4-FFF2-40B4-BE49-F238E27FC236}">
                    <a16:creationId xmlns:a16="http://schemas.microsoft.com/office/drawing/2014/main" id="{464CB806-5282-ADD2-4F22-950D24E28566}"/>
                  </a:ext>
                </a:extLst>
              </p:cNvPr>
              <p:cNvGrpSpPr/>
              <p:nvPr/>
            </p:nvGrpSpPr>
            <p:grpSpPr>
              <a:xfrm rot="-2700000">
                <a:off x="4237321" y="6197385"/>
                <a:ext cx="458527" cy="116379"/>
                <a:chOff x="2948270" y="5975076"/>
                <a:chExt cx="458527" cy="116379"/>
              </a:xfrm>
            </p:grpSpPr>
            <p:sp>
              <p:nvSpPr>
                <p:cNvPr id="9" name="Triangle 8">
                  <a:extLst>
                    <a:ext uri="{FF2B5EF4-FFF2-40B4-BE49-F238E27FC236}">
                      <a16:creationId xmlns:a16="http://schemas.microsoft.com/office/drawing/2014/main" id="{653D09CA-0607-266C-383E-88B09FA037BC}"/>
                    </a:ext>
                  </a:extLst>
                </p:cNvPr>
                <p:cNvSpPr/>
                <p:nvPr/>
              </p:nvSpPr>
              <p:spPr>
                <a:xfrm rot="16200000">
                  <a:off x="3223918" y="5908574"/>
                  <a:ext cx="116378" cy="249381"/>
                </a:xfrm>
                <a:prstGeom prst="triangle">
                  <a:avLst/>
                </a:prstGeom>
                <a:blipFill>
                  <a:blip r:embed="rId2"/>
                  <a:tile tx="0" ty="0" sx="100000" sy="10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riangle 9">
                  <a:extLst>
                    <a:ext uri="{FF2B5EF4-FFF2-40B4-BE49-F238E27FC236}">
                      <a16:creationId xmlns:a16="http://schemas.microsoft.com/office/drawing/2014/main" id="{CFBE7FBE-040E-20F1-BE9B-566DD8E2313F}"/>
                    </a:ext>
                  </a:extLst>
                </p:cNvPr>
                <p:cNvSpPr/>
                <p:nvPr/>
              </p:nvSpPr>
              <p:spPr>
                <a:xfrm rot="5400000">
                  <a:off x="3014772" y="5908575"/>
                  <a:ext cx="116378" cy="249381"/>
                </a:xfrm>
                <a:prstGeom prst="triangle">
                  <a:avLst/>
                </a:prstGeom>
                <a:blipFill>
                  <a:blip r:embed="rId2"/>
                  <a:tile tx="0" ty="0" sx="100000" sy="10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 name="Group 17">
                <a:extLst>
                  <a:ext uri="{FF2B5EF4-FFF2-40B4-BE49-F238E27FC236}">
                    <a16:creationId xmlns:a16="http://schemas.microsoft.com/office/drawing/2014/main" id="{45761C65-CCF1-CB46-65A2-C2BDE422D320}"/>
                  </a:ext>
                </a:extLst>
              </p:cNvPr>
              <p:cNvGrpSpPr/>
              <p:nvPr/>
            </p:nvGrpSpPr>
            <p:grpSpPr>
              <a:xfrm rot="8100000">
                <a:off x="3734227" y="5699604"/>
                <a:ext cx="458527" cy="116379"/>
                <a:chOff x="3462217" y="5772635"/>
                <a:chExt cx="458527" cy="116379"/>
              </a:xfrm>
            </p:grpSpPr>
            <p:sp>
              <p:nvSpPr>
                <p:cNvPr id="11" name="Triangle 10">
                  <a:extLst>
                    <a:ext uri="{FF2B5EF4-FFF2-40B4-BE49-F238E27FC236}">
                      <a16:creationId xmlns:a16="http://schemas.microsoft.com/office/drawing/2014/main" id="{839A7610-A33E-5562-3FFB-63A91538385F}"/>
                    </a:ext>
                  </a:extLst>
                </p:cNvPr>
                <p:cNvSpPr/>
                <p:nvPr/>
              </p:nvSpPr>
              <p:spPr>
                <a:xfrm rot="16200000">
                  <a:off x="3737865" y="5706133"/>
                  <a:ext cx="116378" cy="249381"/>
                </a:xfrm>
                <a:prstGeom prst="triangle">
                  <a:avLst/>
                </a:prstGeom>
                <a:blipFill>
                  <a:blip r:embed="rId2"/>
                  <a:tile tx="0" ty="0" sx="100000" sy="10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riangle 11">
                  <a:extLst>
                    <a:ext uri="{FF2B5EF4-FFF2-40B4-BE49-F238E27FC236}">
                      <a16:creationId xmlns:a16="http://schemas.microsoft.com/office/drawing/2014/main" id="{016C091E-ABD0-7F47-C973-830670EC4059}"/>
                    </a:ext>
                  </a:extLst>
                </p:cNvPr>
                <p:cNvSpPr/>
                <p:nvPr/>
              </p:nvSpPr>
              <p:spPr>
                <a:xfrm rot="5400000">
                  <a:off x="3528719" y="5706134"/>
                  <a:ext cx="116378" cy="249381"/>
                </a:xfrm>
                <a:prstGeom prst="triangle">
                  <a:avLst/>
                </a:prstGeom>
                <a:blipFill>
                  <a:blip r:embed="rId2"/>
                  <a:tile tx="0" ty="0" sx="100000" sy="10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9" name="Group 18">
                <a:extLst>
                  <a:ext uri="{FF2B5EF4-FFF2-40B4-BE49-F238E27FC236}">
                    <a16:creationId xmlns:a16="http://schemas.microsoft.com/office/drawing/2014/main" id="{F350E158-BA92-80C3-3390-CFF134ACA5AC}"/>
                  </a:ext>
                </a:extLst>
              </p:cNvPr>
              <p:cNvGrpSpPr/>
              <p:nvPr/>
            </p:nvGrpSpPr>
            <p:grpSpPr>
              <a:xfrm rot="2700000">
                <a:off x="3734904" y="6197383"/>
                <a:ext cx="458527" cy="116379"/>
                <a:chOff x="2931935" y="5772635"/>
                <a:chExt cx="458527" cy="116379"/>
              </a:xfrm>
            </p:grpSpPr>
            <p:sp>
              <p:nvSpPr>
                <p:cNvPr id="13" name="Triangle 12">
                  <a:extLst>
                    <a:ext uri="{FF2B5EF4-FFF2-40B4-BE49-F238E27FC236}">
                      <a16:creationId xmlns:a16="http://schemas.microsoft.com/office/drawing/2014/main" id="{A4C53E10-D851-2A98-2CA7-76A5789B9D0B}"/>
                    </a:ext>
                  </a:extLst>
                </p:cNvPr>
                <p:cNvSpPr/>
                <p:nvPr/>
              </p:nvSpPr>
              <p:spPr>
                <a:xfrm rot="16200000">
                  <a:off x="3207583" y="5706133"/>
                  <a:ext cx="116378" cy="249381"/>
                </a:xfrm>
                <a:prstGeom prst="triangle">
                  <a:avLst/>
                </a:prstGeom>
                <a:blipFill>
                  <a:blip r:embed="rId2"/>
                  <a:tile tx="0" ty="0" sx="100000" sy="10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riangle 13">
                  <a:extLst>
                    <a:ext uri="{FF2B5EF4-FFF2-40B4-BE49-F238E27FC236}">
                      <a16:creationId xmlns:a16="http://schemas.microsoft.com/office/drawing/2014/main" id="{C114906B-31C3-748C-9C65-6B8FEC4B897E}"/>
                    </a:ext>
                  </a:extLst>
                </p:cNvPr>
                <p:cNvSpPr/>
                <p:nvPr/>
              </p:nvSpPr>
              <p:spPr>
                <a:xfrm rot="5400000">
                  <a:off x="2998437" y="5706134"/>
                  <a:ext cx="116378" cy="249381"/>
                </a:xfrm>
                <a:prstGeom prst="triangle">
                  <a:avLst/>
                </a:prstGeom>
                <a:blipFill>
                  <a:blip r:embed="rId2"/>
                  <a:tile tx="0" ty="0" sx="100000" sy="10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 name="Group 16">
                <a:extLst>
                  <a:ext uri="{FF2B5EF4-FFF2-40B4-BE49-F238E27FC236}">
                    <a16:creationId xmlns:a16="http://schemas.microsoft.com/office/drawing/2014/main" id="{CBCE6BA4-19D2-33BB-2809-C3DACF4A6883}"/>
                  </a:ext>
                </a:extLst>
              </p:cNvPr>
              <p:cNvGrpSpPr/>
              <p:nvPr/>
            </p:nvGrpSpPr>
            <p:grpSpPr>
              <a:xfrm rot="2700000">
                <a:off x="4231705" y="5699604"/>
                <a:ext cx="458527" cy="116379"/>
                <a:chOff x="3462216" y="5975074"/>
                <a:chExt cx="458527" cy="116379"/>
              </a:xfrm>
            </p:grpSpPr>
            <p:sp>
              <p:nvSpPr>
                <p:cNvPr id="15" name="Triangle 14">
                  <a:extLst>
                    <a:ext uri="{FF2B5EF4-FFF2-40B4-BE49-F238E27FC236}">
                      <a16:creationId xmlns:a16="http://schemas.microsoft.com/office/drawing/2014/main" id="{753BFA46-EB4C-4313-4832-955CC29B75A9}"/>
                    </a:ext>
                  </a:extLst>
                </p:cNvPr>
                <p:cNvSpPr/>
                <p:nvPr/>
              </p:nvSpPr>
              <p:spPr>
                <a:xfrm rot="16200000">
                  <a:off x="3737864" y="5908572"/>
                  <a:ext cx="116378" cy="249381"/>
                </a:xfrm>
                <a:prstGeom prst="triangle">
                  <a:avLst/>
                </a:prstGeom>
                <a:blipFill>
                  <a:blip r:embed="rId2"/>
                  <a:tile tx="0" ty="0" sx="100000" sy="10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riangle 15">
                  <a:extLst>
                    <a:ext uri="{FF2B5EF4-FFF2-40B4-BE49-F238E27FC236}">
                      <a16:creationId xmlns:a16="http://schemas.microsoft.com/office/drawing/2014/main" id="{A8DF63EE-3E59-637A-A6F5-9BB69F2A9886}"/>
                    </a:ext>
                  </a:extLst>
                </p:cNvPr>
                <p:cNvSpPr/>
                <p:nvPr/>
              </p:nvSpPr>
              <p:spPr>
                <a:xfrm rot="5400000">
                  <a:off x="3528718" y="5908573"/>
                  <a:ext cx="116378" cy="249381"/>
                </a:xfrm>
                <a:prstGeom prst="triangle">
                  <a:avLst/>
                </a:prstGeom>
                <a:blipFill>
                  <a:blip r:embed="rId2"/>
                  <a:tile tx="0" ty="0" sx="100000" sy="10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34" name="Straight Connector 33">
                <a:extLst>
                  <a:ext uri="{FF2B5EF4-FFF2-40B4-BE49-F238E27FC236}">
                    <a16:creationId xmlns:a16="http://schemas.microsoft.com/office/drawing/2014/main" id="{3EEF1367-DF19-62E3-9470-D102454AA553}"/>
                  </a:ext>
                </a:extLst>
              </p:cNvPr>
              <p:cNvCxnSpPr>
                <a:cxnSpLocks/>
                <a:stCxn id="12" idx="3"/>
                <a:endCxn id="16" idx="3"/>
              </p:cNvCxnSpPr>
              <p:nvPr/>
            </p:nvCxnSpPr>
            <p:spPr>
              <a:xfrm>
                <a:off x="4125603" y="5595680"/>
                <a:ext cx="173253" cy="0"/>
              </a:xfrm>
              <a:prstGeom prst="line">
                <a:avLst/>
              </a:prstGeom>
              <a:ln w="12700">
                <a:solidFill>
                  <a:schemeClr val="bg1"/>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63448240-84C7-8DB5-D59D-480DC43E389D}"/>
                  </a:ext>
                </a:extLst>
              </p:cNvPr>
              <p:cNvCxnSpPr>
                <a:cxnSpLocks/>
                <a:stCxn id="14" idx="3"/>
                <a:endCxn id="11" idx="3"/>
              </p:cNvCxnSpPr>
              <p:nvPr/>
            </p:nvCxnSpPr>
            <p:spPr>
              <a:xfrm flipH="1" flipV="1">
                <a:off x="3801378" y="5919908"/>
                <a:ext cx="677" cy="173551"/>
              </a:xfrm>
              <a:prstGeom prst="line">
                <a:avLst/>
              </a:prstGeom>
              <a:ln w="12700">
                <a:solidFill>
                  <a:schemeClr val="bg1"/>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70D1BF0D-4D23-F8BC-BCAD-2FE813E2BF14}"/>
                  </a:ext>
                </a:extLst>
              </p:cNvPr>
              <p:cNvCxnSpPr>
                <a:cxnSpLocks/>
                <a:stCxn id="9" idx="3"/>
                <a:endCxn id="15" idx="3"/>
              </p:cNvCxnSpPr>
              <p:nvPr/>
            </p:nvCxnSpPr>
            <p:spPr>
              <a:xfrm flipH="1" flipV="1">
                <a:off x="4623083" y="5919907"/>
                <a:ext cx="5614" cy="173553"/>
              </a:xfrm>
              <a:prstGeom prst="line">
                <a:avLst/>
              </a:prstGeom>
              <a:ln w="12700">
                <a:solidFill>
                  <a:schemeClr val="bg1"/>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9F5575F7-5D60-C40E-EC85-FF94E0190F3D}"/>
                  </a:ext>
                </a:extLst>
              </p:cNvPr>
              <p:cNvCxnSpPr>
                <a:cxnSpLocks/>
                <a:stCxn id="13" idx="3"/>
                <a:endCxn id="10" idx="3"/>
              </p:cNvCxnSpPr>
              <p:nvPr/>
            </p:nvCxnSpPr>
            <p:spPr>
              <a:xfrm>
                <a:off x="4126282" y="6417686"/>
                <a:ext cx="178190" cy="2"/>
              </a:xfrm>
              <a:prstGeom prst="line">
                <a:avLst/>
              </a:prstGeom>
              <a:ln w="12700">
                <a:solidFill>
                  <a:schemeClr val="bg1"/>
                </a:solidFill>
                <a:prstDash val="sysDot"/>
              </a:ln>
            </p:spPr>
            <p:style>
              <a:lnRef idx="1">
                <a:schemeClr val="accent1"/>
              </a:lnRef>
              <a:fillRef idx="0">
                <a:schemeClr val="accent1"/>
              </a:fillRef>
              <a:effectRef idx="0">
                <a:schemeClr val="accent1"/>
              </a:effectRef>
              <a:fontRef idx="minor">
                <a:schemeClr val="tx1"/>
              </a:fontRef>
            </p:style>
          </p:cxnSp>
        </p:grpSp>
        <p:sp>
          <p:nvSpPr>
            <p:cNvPr id="45" name="TextBox 44">
              <a:extLst>
                <a:ext uri="{FF2B5EF4-FFF2-40B4-BE49-F238E27FC236}">
                  <a16:creationId xmlns:a16="http://schemas.microsoft.com/office/drawing/2014/main" id="{F339CCE3-6906-02C9-C5A1-0222FAD39438}"/>
                </a:ext>
              </a:extLst>
            </p:cNvPr>
            <p:cNvSpPr txBox="1"/>
            <p:nvPr/>
          </p:nvSpPr>
          <p:spPr>
            <a:xfrm>
              <a:off x="9851150" y="3169387"/>
              <a:ext cx="570990" cy="261610"/>
            </a:xfrm>
            <a:prstGeom prst="rect">
              <a:avLst/>
            </a:prstGeom>
            <a:noFill/>
          </p:spPr>
          <p:txBody>
            <a:bodyPr wrap="none" rtlCol="0">
              <a:spAutoFit/>
            </a:bodyPr>
            <a:lstStyle/>
            <a:p>
              <a:r>
                <a:rPr lang="en-US" sz="105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binary</a:t>
              </a:r>
            </a:p>
          </p:txBody>
        </p:sp>
        <p:cxnSp>
          <p:nvCxnSpPr>
            <p:cNvPr id="49" name="Straight Arrow Connector 48">
              <a:extLst>
                <a:ext uri="{FF2B5EF4-FFF2-40B4-BE49-F238E27FC236}">
                  <a16:creationId xmlns:a16="http://schemas.microsoft.com/office/drawing/2014/main" id="{10CF9551-E499-D191-8D4D-F6A6C3C4C375}"/>
                </a:ext>
              </a:extLst>
            </p:cNvPr>
            <p:cNvCxnSpPr>
              <a:cxnSpLocks/>
            </p:cNvCxnSpPr>
            <p:nvPr/>
          </p:nvCxnSpPr>
          <p:spPr>
            <a:xfrm flipH="1" flipV="1">
              <a:off x="9753600" y="3121025"/>
              <a:ext cx="146469" cy="148993"/>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51" name="TextBox 50">
              <a:extLst>
                <a:ext uri="{FF2B5EF4-FFF2-40B4-BE49-F238E27FC236}">
                  <a16:creationId xmlns:a16="http://schemas.microsoft.com/office/drawing/2014/main" id="{46F18FC3-BE40-166D-4932-593786F9F947}"/>
                </a:ext>
              </a:extLst>
            </p:cNvPr>
            <p:cNvSpPr txBox="1"/>
            <p:nvPr/>
          </p:nvSpPr>
          <p:spPr>
            <a:xfrm>
              <a:off x="10194948" y="3730054"/>
              <a:ext cx="592771" cy="377686"/>
            </a:xfrm>
            <a:prstGeom prst="rect">
              <a:avLst/>
            </a:prstGeom>
            <a:noFill/>
          </p:spPr>
          <p:txBody>
            <a:bodyPr wrap="square" rtlCol="0">
              <a:spAutoFit/>
            </a:bodyPr>
            <a:lstStyle/>
            <a:p>
              <a:pPr algn="r"/>
              <a:r>
                <a:rPr lang="en-US" sz="105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polar</a:t>
              </a:r>
              <a:br>
                <a:rPr lang="en-US" sz="105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br>
              <a:r>
                <a:rPr lang="en-US" sz="105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vortices</a:t>
              </a:r>
            </a:p>
          </p:txBody>
        </p:sp>
        <p:cxnSp>
          <p:nvCxnSpPr>
            <p:cNvPr id="52" name="Straight Arrow Connector 51">
              <a:extLst>
                <a:ext uri="{FF2B5EF4-FFF2-40B4-BE49-F238E27FC236}">
                  <a16:creationId xmlns:a16="http://schemas.microsoft.com/office/drawing/2014/main" id="{01325B96-44D0-9740-1F9D-17C18A797E42}"/>
                </a:ext>
              </a:extLst>
            </p:cNvPr>
            <p:cNvCxnSpPr>
              <a:cxnSpLocks/>
              <a:stCxn id="51" idx="3"/>
            </p:cNvCxnSpPr>
            <p:nvPr/>
          </p:nvCxnSpPr>
          <p:spPr>
            <a:xfrm>
              <a:off x="10787719" y="3918897"/>
              <a:ext cx="196564"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1E99FCF6-4489-EBEC-FB78-440CC9008DAA}"/>
                </a:ext>
              </a:extLst>
            </p:cNvPr>
            <p:cNvCxnSpPr>
              <a:cxnSpLocks/>
              <a:stCxn id="51" idx="2"/>
            </p:cNvCxnSpPr>
            <p:nvPr/>
          </p:nvCxnSpPr>
          <p:spPr>
            <a:xfrm>
              <a:off x="10491333" y="4107740"/>
              <a:ext cx="1" cy="267713"/>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68" name="TextBox 67">
              <a:extLst>
                <a:ext uri="{FF2B5EF4-FFF2-40B4-BE49-F238E27FC236}">
                  <a16:creationId xmlns:a16="http://schemas.microsoft.com/office/drawing/2014/main" id="{2AA37DFF-07B4-9D08-FD01-AE0E40B8F027}"/>
                </a:ext>
              </a:extLst>
            </p:cNvPr>
            <p:cNvSpPr txBox="1"/>
            <p:nvPr/>
          </p:nvSpPr>
          <p:spPr>
            <a:xfrm>
              <a:off x="9212511" y="2557847"/>
              <a:ext cx="386644" cy="253916"/>
            </a:xfrm>
            <a:prstGeom prst="rect">
              <a:avLst/>
            </a:prstGeom>
            <a:noFill/>
          </p:spPr>
          <p:txBody>
            <a:bodyPr wrap="none" rtlCol="0">
              <a:spAutoFit/>
            </a:bodyPr>
            <a:lstStyle/>
            <a:p>
              <a:r>
                <a:rPr lang="en-US" sz="105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pro</a:t>
              </a:r>
            </a:p>
          </p:txBody>
        </p:sp>
        <p:sp>
          <p:nvSpPr>
            <p:cNvPr id="69" name="TextBox 68">
              <a:extLst>
                <a:ext uri="{FF2B5EF4-FFF2-40B4-BE49-F238E27FC236}">
                  <a16:creationId xmlns:a16="http://schemas.microsoft.com/office/drawing/2014/main" id="{6B268216-980D-F119-FE40-9351C9D5FAE3}"/>
                </a:ext>
              </a:extLst>
            </p:cNvPr>
            <p:cNvSpPr txBox="1"/>
            <p:nvPr/>
          </p:nvSpPr>
          <p:spPr>
            <a:xfrm>
              <a:off x="10984283" y="2557847"/>
              <a:ext cx="404278" cy="253916"/>
            </a:xfrm>
            <a:prstGeom prst="rect">
              <a:avLst/>
            </a:prstGeom>
            <a:noFill/>
          </p:spPr>
          <p:txBody>
            <a:bodyPr wrap="none" rtlCol="0">
              <a:spAutoFit/>
            </a:bodyPr>
            <a:lstStyle/>
            <a:p>
              <a:r>
                <a:rPr lang="en-US" sz="105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anti</a:t>
              </a:r>
            </a:p>
          </p:txBody>
        </p:sp>
        <p:sp>
          <p:nvSpPr>
            <p:cNvPr id="70" name="TextBox 69">
              <a:extLst>
                <a:ext uri="{FF2B5EF4-FFF2-40B4-BE49-F238E27FC236}">
                  <a16:creationId xmlns:a16="http://schemas.microsoft.com/office/drawing/2014/main" id="{70ABAB73-6501-C0BC-CC56-3C2BF5188BF8}"/>
                </a:ext>
              </a:extLst>
            </p:cNvPr>
            <p:cNvSpPr txBox="1"/>
            <p:nvPr/>
          </p:nvSpPr>
          <p:spPr>
            <a:xfrm>
              <a:off x="10993100" y="4462810"/>
              <a:ext cx="386644" cy="253916"/>
            </a:xfrm>
            <a:prstGeom prst="rect">
              <a:avLst/>
            </a:prstGeom>
            <a:noFill/>
          </p:spPr>
          <p:txBody>
            <a:bodyPr wrap="none" rtlCol="0">
              <a:spAutoFit/>
            </a:bodyPr>
            <a:lstStyle/>
            <a:p>
              <a:r>
                <a:rPr lang="en-US" sz="105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pro</a:t>
              </a:r>
            </a:p>
          </p:txBody>
        </p:sp>
        <p:sp>
          <p:nvSpPr>
            <p:cNvPr id="71" name="TextBox 70">
              <a:extLst>
                <a:ext uri="{FF2B5EF4-FFF2-40B4-BE49-F238E27FC236}">
                  <a16:creationId xmlns:a16="http://schemas.microsoft.com/office/drawing/2014/main" id="{AF9E6D5F-FC9E-AE42-1E91-4C2F70D4A102}"/>
                </a:ext>
              </a:extLst>
            </p:cNvPr>
            <p:cNvSpPr txBox="1"/>
            <p:nvPr/>
          </p:nvSpPr>
          <p:spPr>
            <a:xfrm>
              <a:off x="9203694" y="4462810"/>
              <a:ext cx="404278" cy="253916"/>
            </a:xfrm>
            <a:prstGeom prst="rect">
              <a:avLst/>
            </a:prstGeom>
            <a:noFill/>
          </p:spPr>
          <p:txBody>
            <a:bodyPr wrap="none" rtlCol="0">
              <a:spAutoFit/>
            </a:bodyPr>
            <a:lstStyle/>
            <a:p>
              <a:r>
                <a:rPr lang="en-US" sz="105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anti</a:t>
              </a:r>
            </a:p>
          </p:txBody>
        </p:sp>
      </p:grpSp>
      <p:sp>
        <p:nvSpPr>
          <p:cNvPr id="78" name="TextBox 77">
            <a:extLst>
              <a:ext uri="{FF2B5EF4-FFF2-40B4-BE49-F238E27FC236}">
                <a16:creationId xmlns:a16="http://schemas.microsoft.com/office/drawing/2014/main" id="{F92F6B3E-561C-1B8D-4973-B0ED24B88912}"/>
              </a:ext>
            </a:extLst>
          </p:cNvPr>
          <p:cNvSpPr txBox="1"/>
          <p:nvPr/>
        </p:nvSpPr>
        <p:spPr>
          <a:xfrm>
            <a:off x="9359207" y="5067204"/>
            <a:ext cx="1621254" cy="553998"/>
          </a:xfrm>
          <a:prstGeom prst="rect">
            <a:avLst/>
          </a:prstGeom>
          <a:noFill/>
        </p:spPr>
        <p:txBody>
          <a:bodyPr wrap="square" rtlCol="0">
            <a:spAutoFit/>
          </a:bodyPr>
          <a:lstStyle/>
          <a:p>
            <a:pPr algn="ctr"/>
            <a:r>
              <a:rPr lang="en-US" sz="10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Two pro and two anti Noether Cores coupled as a Higgs cluster.</a:t>
            </a:r>
          </a:p>
        </p:txBody>
      </p:sp>
      <p:grpSp>
        <p:nvGrpSpPr>
          <p:cNvPr id="89" name="Group 88">
            <a:extLst>
              <a:ext uri="{FF2B5EF4-FFF2-40B4-BE49-F238E27FC236}">
                <a16:creationId xmlns:a16="http://schemas.microsoft.com/office/drawing/2014/main" id="{06E606D5-12A1-5ABE-34A5-5817D5105622}"/>
              </a:ext>
            </a:extLst>
          </p:cNvPr>
          <p:cNvGrpSpPr/>
          <p:nvPr/>
        </p:nvGrpSpPr>
        <p:grpSpPr>
          <a:xfrm>
            <a:off x="711483" y="4160806"/>
            <a:ext cx="4575326" cy="2573621"/>
            <a:chOff x="1439708" y="4199519"/>
            <a:chExt cx="4575326" cy="2573621"/>
          </a:xfrm>
        </p:grpSpPr>
        <p:pic>
          <p:nvPicPr>
            <p:cNvPr id="1026" name="Picture 2" descr="An illustration of a helium atom, with two protons and neutrons in its nucleus.">
              <a:extLst>
                <a:ext uri="{FF2B5EF4-FFF2-40B4-BE49-F238E27FC236}">
                  <a16:creationId xmlns:a16="http://schemas.microsoft.com/office/drawing/2014/main" id="{EC7B7A5D-5419-BB39-2E97-0D8C963B324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39708" y="4199519"/>
              <a:ext cx="4575326" cy="2573621"/>
            </a:xfrm>
            <a:prstGeom prst="rect">
              <a:avLst/>
            </a:prstGeom>
            <a:noFill/>
            <a:extLst>
              <a:ext uri="{909E8E84-426E-40DD-AFC4-6F175D3DCCD1}">
                <a14:hiddenFill xmlns:a14="http://schemas.microsoft.com/office/drawing/2010/main">
                  <a:solidFill>
                    <a:srgbClr val="FFFFFF"/>
                  </a:solidFill>
                </a14:hiddenFill>
              </a:ext>
            </a:extLst>
          </p:spPr>
        </p:pic>
        <p:sp>
          <p:nvSpPr>
            <p:cNvPr id="76" name="TextBox 75">
              <a:extLst>
                <a:ext uri="{FF2B5EF4-FFF2-40B4-BE49-F238E27FC236}">
                  <a16:creationId xmlns:a16="http://schemas.microsoft.com/office/drawing/2014/main" id="{601D5D86-7FD4-1F0B-6DA1-D4A04134294C}"/>
                </a:ext>
              </a:extLst>
            </p:cNvPr>
            <p:cNvSpPr txBox="1"/>
            <p:nvPr/>
          </p:nvSpPr>
          <p:spPr>
            <a:xfrm>
              <a:off x="1439708" y="6511530"/>
              <a:ext cx="502061" cy="261610"/>
            </a:xfrm>
            <a:prstGeom prst="rect">
              <a:avLst/>
            </a:prstGeom>
            <a:noFill/>
          </p:spPr>
          <p:txBody>
            <a:bodyPr wrap="none" rtlCol="0">
              <a:spAutoFit/>
            </a:bodyPr>
            <a:lstStyle/>
            <a:p>
              <a:r>
                <a:rPr lang="en-US" sz="1050" dirty="0">
                  <a:solidFill>
                    <a:schemeClr val="bg1">
                      <a:lumMod val="65000"/>
                    </a:schemeClr>
                  </a:solidFill>
                </a:rPr>
                <a:t>Getty</a:t>
              </a:r>
            </a:p>
          </p:txBody>
        </p:sp>
        <p:sp>
          <p:nvSpPr>
            <p:cNvPr id="77" name="TextBox 76">
              <a:extLst>
                <a:ext uri="{FF2B5EF4-FFF2-40B4-BE49-F238E27FC236}">
                  <a16:creationId xmlns:a16="http://schemas.microsoft.com/office/drawing/2014/main" id="{57C0C6E2-85B6-8ED6-26B8-E40B70F042F6}"/>
                </a:ext>
              </a:extLst>
            </p:cNvPr>
            <p:cNvSpPr txBox="1"/>
            <p:nvPr/>
          </p:nvSpPr>
          <p:spPr>
            <a:xfrm>
              <a:off x="3874164" y="5317149"/>
              <a:ext cx="2109448" cy="577081"/>
            </a:xfrm>
            <a:prstGeom prst="rect">
              <a:avLst/>
            </a:prstGeom>
            <a:noFill/>
          </p:spPr>
          <p:txBody>
            <a:bodyPr wrap="square" rtlCol="0">
              <a:spAutoFit/>
            </a:bodyPr>
            <a:lstStyle/>
            <a:p>
              <a:pPr algn="r"/>
              <a:r>
                <a:rPr lang="en-US" sz="1050" dirty="0">
                  <a:solidFill>
                    <a:schemeClr val="bg1"/>
                  </a:solidFill>
                </a:rPr>
                <a:t>Helium Nucleus</a:t>
              </a:r>
            </a:p>
            <a:p>
              <a:pPr algn="r"/>
              <a:r>
                <a:rPr lang="en-US" sz="1050" dirty="0">
                  <a:solidFill>
                    <a:schemeClr val="bg1"/>
                  </a:solidFill>
                </a:rPr>
                <a:t>is two protons and  </a:t>
              </a:r>
            </a:p>
            <a:p>
              <a:pPr algn="r"/>
              <a:r>
                <a:rPr lang="en-US" sz="1050" dirty="0">
                  <a:solidFill>
                    <a:schemeClr val="bg1"/>
                  </a:solidFill>
                </a:rPr>
                <a:t>two neutrons</a:t>
              </a:r>
            </a:p>
          </p:txBody>
        </p:sp>
        <p:sp>
          <p:nvSpPr>
            <p:cNvPr id="79" name="TextBox 78">
              <a:extLst>
                <a:ext uri="{FF2B5EF4-FFF2-40B4-BE49-F238E27FC236}">
                  <a16:creationId xmlns:a16="http://schemas.microsoft.com/office/drawing/2014/main" id="{BE00E1F2-7CA5-21BB-5077-705A5413D8BF}"/>
                </a:ext>
              </a:extLst>
            </p:cNvPr>
            <p:cNvSpPr txBox="1"/>
            <p:nvPr/>
          </p:nvSpPr>
          <p:spPr>
            <a:xfrm>
              <a:off x="2614813" y="4199519"/>
              <a:ext cx="2109448" cy="253916"/>
            </a:xfrm>
            <a:prstGeom prst="rect">
              <a:avLst/>
            </a:prstGeom>
            <a:noFill/>
          </p:spPr>
          <p:txBody>
            <a:bodyPr wrap="square" rtlCol="0">
              <a:spAutoFit/>
            </a:bodyPr>
            <a:lstStyle/>
            <a:p>
              <a:pPr algn="r"/>
              <a:r>
                <a:rPr lang="en-US" sz="1050" dirty="0">
                  <a:solidFill>
                    <a:schemeClr val="bg1"/>
                  </a:solidFill>
                </a:rPr>
                <a:t>Two orbiting electrons</a:t>
              </a:r>
            </a:p>
          </p:txBody>
        </p:sp>
      </p:grpSp>
    </p:spTree>
    <p:extLst>
      <p:ext uri="{BB962C8B-B14F-4D97-AF65-F5344CB8AC3E}">
        <p14:creationId xmlns:p14="http://schemas.microsoft.com/office/powerpoint/2010/main" val="26732047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BCEC3F-FDDB-5983-8D2C-A4BFED7BAA0A}"/>
              </a:ext>
            </a:extLst>
          </p:cNvPr>
          <p:cNvSpPr>
            <a:spLocks noGrp="1"/>
          </p:cNvSpPr>
          <p:nvPr>
            <p:ph type="title"/>
          </p:nvPr>
        </p:nvSpPr>
        <p:spPr>
          <a:xfrm>
            <a:off x="299257" y="1"/>
            <a:ext cx="11734525" cy="914400"/>
          </a:xfrm>
        </p:spPr>
        <p:txBody>
          <a:bodyPr>
            <a:normAutofit fontScale="90000"/>
          </a:bodyPr>
          <a:lstStyle/>
          <a:p>
            <a:r>
              <a:rPr lang="en-US"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Noether Core Geometry and the Lorentz Factor</a:t>
            </a:r>
          </a:p>
        </p:txBody>
      </p:sp>
      <p:sp>
        <p:nvSpPr>
          <p:cNvPr id="3" name="Content Placeholder 2">
            <a:extLst>
              <a:ext uri="{FF2B5EF4-FFF2-40B4-BE49-F238E27FC236}">
                <a16:creationId xmlns:a16="http://schemas.microsoft.com/office/drawing/2014/main" id="{B79D155D-AAA3-5D9A-34B2-23F2E49ED074}"/>
              </a:ext>
            </a:extLst>
          </p:cNvPr>
          <p:cNvSpPr>
            <a:spLocks noGrp="1"/>
          </p:cNvSpPr>
          <p:nvPr>
            <p:ph idx="1"/>
          </p:nvPr>
        </p:nvSpPr>
        <p:spPr>
          <a:xfrm>
            <a:off x="299258" y="1122219"/>
            <a:ext cx="11587942" cy="5311832"/>
          </a:xfrm>
        </p:spPr>
        <p:txBody>
          <a:bodyPr>
            <a:noAutofit/>
          </a:bodyPr>
          <a:lstStyle/>
          <a:p>
            <a:pPr>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high velocity, Noether cores become more oblate. Do all Noether cores, pro and anti, left and right, fold the same? </a:t>
            </a:r>
          </a:p>
          <a:p>
            <a:pPr lvl="1">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In a standard matter particle? Yes. We are considering the positive quadrant only, given translation.</a:t>
            </a:r>
          </a:p>
          <a:p>
            <a:pPr lvl="2">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Therefore, they fold either LLL or RRR. Anti-ness disappears in the boson state because it was based on spin ½.</a:t>
            </a:r>
          </a:p>
          <a:p>
            <a:pPr lvl="2">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Standard matter particles are low total energy, but high apparent energy.</a:t>
            </a:r>
          </a:p>
          <a:p>
            <a:pPr lvl="1">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In a photon? Photons are bosonic planar. Photons are a pro and anti Noether core, contra-rotating at an offset.</a:t>
            </a:r>
          </a:p>
          <a:p>
            <a:pPr lvl="1">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Approaching a black hole? At some point all that is left is </a:t>
            </a:r>
          </a:p>
          <a:p>
            <a:pPr lvl="2">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Photons which were already planar, but also biplanar.</a:t>
            </a:r>
          </a:p>
          <a:p>
            <a:pPr lvl="2">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Does the crossing of the event horizon separate the pro and anti Noether cores of a photon?</a:t>
            </a:r>
          </a:p>
          <a:p>
            <a:pPr lvl="2">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Noether cores. Getting smaller and more oblate and planar at the event horizon</a:t>
            </a:r>
          </a:p>
          <a:p>
            <a:pPr lvl="1">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Interior to the black hole</a:t>
            </a:r>
          </a:p>
          <a:p>
            <a:pPr lvl="2">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Everything is planar and photons (contra rotating pro and anti Noether core) continue to deflate.  Independent Noether cores are planar and deflate.</a:t>
            </a:r>
          </a:p>
          <a:p>
            <a:pPr lvl="2">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Orbitals perturb each other, causing orbit reversals all the way down. Approaching maximum curvature we have ring out until the core locks into one relative microstate, i.e., zero relative entropy.</a:t>
            </a:r>
          </a:p>
          <a:p>
            <a:pPr>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All have mirror symmetry.</a:t>
            </a:r>
          </a:p>
          <a:p>
            <a:pPr>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But this is occurring in a plane so CW and CCW are important factors.</a:t>
            </a:r>
          </a:p>
          <a:p>
            <a:pPr>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Ok so let’s enumerate them LLL LLR LRL LRR RLL RLR RRL RRR (8, essentially it is binary).</a:t>
            </a:r>
          </a:p>
          <a:p>
            <a:pPr>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Then it is emergence again </a:t>
            </a:r>
          </a:p>
          <a:p>
            <a:pPr>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Note, when we are talking velocity here, it is usually transverse orbital velocity.  Translational velocity is considered independent at this level of analysis)</a:t>
            </a:r>
          </a:p>
          <a:p>
            <a:pPr lvl="1">
              <a:lnSpc>
                <a:spcPct val="80000"/>
              </a:lnSpc>
            </a:pPr>
            <a:endPar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endParaRPr>
          </a:p>
          <a:p>
            <a:pPr>
              <a:lnSpc>
                <a:spcPct val="80000"/>
              </a:lnSpc>
            </a:pPr>
            <a:endPar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endParaRPr>
          </a:p>
        </p:txBody>
      </p:sp>
    </p:spTree>
    <p:extLst>
      <p:ext uri="{BB962C8B-B14F-4D97-AF65-F5344CB8AC3E}">
        <p14:creationId xmlns:p14="http://schemas.microsoft.com/office/powerpoint/2010/main" val="1939645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BCEC3F-FDDB-5983-8D2C-A4BFED7BAA0A}"/>
              </a:ext>
            </a:extLst>
          </p:cNvPr>
          <p:cNvSpPr>
            <a:spLocks noGrp="1"/>
          </p:cNvSpPr>
          <p:nvPr>
            <p:ph type="title"/>
          </p:nvPr>
        </p:nvSpPr>
        <p:spPr>
          <a:xfrm>
            <a:off x="299257" y="1"/>
            <a:ext cx="11734525" cy="914400"/>
          </a:xfrm>
        </p:spPr>
        <p:txBody>
          <a:bodyPr>
            <a:normAutofit fontScale="90000"/>
          </a:bodyPr>
          <a:lstStyle/>
          <a:p>
            <a:r>
              <a:rPr lang="en-US"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Noether Core Geometry and the Lorentz Factor</a:t>
            </a:r>
          </a:p>
        </p:txBody>
      </p:sp>
      <p:pic>
        <p:nvPicPr>
          <p:cNvPr id="6" name="Picture 5">
            <a:extLst>
              <a:ext uri="{FF2B5EF4-FFF2-40B4-BE49-F238E27FC236}">
                <a16:creationId xmlns:a16="http://schemas.microsoft.com/office/drawing/2014/main" id="{9A6F1C21-5F46-9ACB-C73F-24F1F2C65549}"/>
              </a:ext>
            </a:extLst>
          </p:cNvPr>
          <p:cNvPicPr>
            <a:picLocks noChangeAspect="1"/>
          </p:cNvPicPr>
          <p:nvPr/>
        </p:nvPicPr>
        <p:blipFill>
          <a:blip r:embed="rId2"/>
          <a:stretch>
            <a:fillRect/>
          </a:stretch>
        </p:blipFill>
        <p:spPr>
          <a:xfrm>
            <a:off x="568749" y="914401"/>
            <a:ext cx="5597770" cy="3231319"/>
          </a:xfrm>
          <a:prstGeom prst="rect">
            <a:avLst/>
          </a:prstGeom>
        </p:spPr>
      </p:pic>
      <p:sp>
        <p:nvSpPr>
          <p:cNvPr id="7" name="Content Placeholder 2">
            <a:extLst>
              <a:ext uri="{FF2B5EF4-FFF2-40B4-BE49-F238E27FC236}">
                <a16:creationId xmlns:a16="http://schemas.microsoft.com/office/drawing/2014/main" id="{A3D88A00-B5CF-1508-09F1-6A91A0D7A0D5}"/>
              </a:ext>
            </a:extLst>
          </p:cNvPr>
          <p:cNvSpPr>
            <a:spLocks noGrp="1"/>
          </p:cNvSpPr>
          <p:nvPr>
            <p:ph idx="1"/>
          </p:nvPr>
        </p:nvSpPr>
        <p:spPr>
          <a:xfrm>
            <a:off x="6526459" y="773084"/>
            <a:ext cx="5306646" cy="5311832"/>
          </a:xfrm>
        </p:spPr>
        <p:txBody>
          <a:bodyPr>
            <a:noAutofit/>
          </a:bodyPr>
          <a:lstStyle/>
          <a:p>
            <a:pPr>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What is the Lorentz factor describing?</a:t>
            </a:r>
          </a:p>
          <a:p>
            <a:pPr>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It may be the oblateness, turning into pancaking of the orbitals in each Noether core.</a:t>
            </a:r>
          </a:p>
          <a:p>
            <a:pPr>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If we think of it from an action point of view, it would suggest that r is approaching zero. </a:t>
            </a:r>
          </a:p>
          <a:p>
            <a:pPr lvl="1">
              <a:lnSpc>
                <a:spcPct val="80000"/>
              </a:lnSpc>
            </a:pPr>
            <a:r>
              <a:rPr lang="en-US" sz="12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We already know that v and r are related.</a:t>
            </a:r>
          </a:p>
          <a:p>
            <a:pPr>
              <a:lnSpc>
                <a:spcPct val="80000"/>
              </a:lnSpc>
            </a:pPr>
            <a:endPar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endParaRPr>
          </a:p>
          <a:p>
            <a:pPr marL="0" indent="0">
              <a:lnSpc>
                <a:spcPct val="80000"/>
              </a:lnSpc>
              <a:buNone/>
            </a:pPr>
            <a:endPar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endParaRPr>
          </a:p>
          <a:p>
            <a:pPr>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The symmetry breaking point occurs at v = @.</a:t>
            </a:r>
          </a:p>
          <a:p>
            <a:pPr lvl="1">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This appears to correspond to the Planck scale.</a:t>
            </a:r>
          </a:p>
          <a:p>
            <a:pPr>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However, this is approaching the symmetry breaking point from only one side. </a:t>
            </a:r>
          </a:p>
          <a:p>
            <a:pPr>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There is more beyond, “Plus Ultra” as the self-action begins and the deflation begins in earnest.</a:t>
            </a:r>
          </a:p>
          <a:p>
            <a:pPr>
              <a:lnSpc>
                <a:spcPct val="80000"/>
              </a:lnSpc>
            </a:pPr>
            <a:endPar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endParaRPr>
          </a:p>
        </p:txBody>
      </p:sp>
      <p:pic>
        <p:nvPicPr>
          <p:cNvPr id="8" name="Picture 7">
            <a:extLst>
              <a:ext uri="{FF2B5EF4-FFF2-40B4-BE49-F238E27FC236}">
                <a16:creationId xmlns:a16="http://schemas.microsoft.com/office/drawing/2014/main" id="{FC0B4237-AC3D-F18C-FA6D-415596D1B0C8}"/>
              </a:ext>
            </a:extLst>
          </p:cNvPr>
          <p:cNvPicPr>
            <a:picLocks noChangeAspect="1"/>
          </p:cNvPicPr>
          <p:nvPr/>
        </p:nvPicPr>
        <p:blipFill>
          <a:blip r:embed="rId3"/>
          <a:stretch>
            <a:fillRect/>
          </a:stretch>
        </p:blipFill>
        <p:spPr>
          <a:xfrm>
            <a:off x="103926" y="4411604"/>
            <a:ext cx="4699000" cy="2489930"/>
          </a:xfrm>
          <a:prstGeom prst="rect">
            <a:avLst/>
          </a:prstGeom>
        </p:spPr>
      </p:pic>
      <p:pic>
        <p:nvPicPr>
          <p:cNvPr id="9" name="Picture 8">
            <a:extLst>
              <a:ext uri="{FF2B5EF4-FFF2-40B4-BE49-F238E27FC236}">
                <a16:creationId xmlns:a16="http://schemas.microsoft.com/office/drawing/2014/main" id="{FA7C1B3A-AA9E-3006-87A2-8330E8F31F8F}"/>
              </a:ext>
            </a:extLst>
          </p:cNvPr>
          <p:cNvPicPr>
            <a:picLocks noChangeAspect="1"/>
          </p:cNvPicPr>
          <p:nvPr/>
        </p:nvPicPr>
        <p:blipFill>
          <a:blip r:embed="rId4"/>
          <a:stretch>
            <a:fillRect/>
          </a:stretch>
        </p:blipFill>
        <p:spPr>
          <a:xfrm>
            <a:off x="5162866" y="4368071"/>
            <a:ext cx="4984769" cy="2489929"/>
          </a:xfrm>
          <a:prstGeom prst="rect">
            <a:avLst/>
          </a:prstGeom>
        </p:spPr>
      </p:pic>
    </p:spTree>
    <p:extLst>
      <p:ext uri="{BB962C8B-B14F-4D97-AF65-F5344CB8AC3E}">
        <p14:creationId xmlns:p14="http://schemas.microsoft.com/office/powerpoint/2010/main" val="778772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BCEC3F-FDDB-5983-8D2C-A4BFED7BAA0A}"/>
              </a:ext>
            </a:extLst>
          </p:cNvPr>
          <p:cNvSpPr>
            <a:spLocks noGrp="1"/>
          </p:cNvSpPr>
          <p:nvPr>
            <p:ph type="title"/>
          </p:nvPr>
        </p:nvSpPr>
        <p:spPr>
          <a:xfrm>
            <a:off x="299257" y="1"/>
            <a:ext cx="11784587" cy="914400"/>
          </a:xfrm>
        </p:spPr>
        <p:txBody>
          <a:bodyPr>
            <a:normAutofit/>
          </a:bodyPr>
          <a:lstStyle/>
          <a:p>
            <a:r>
              <a:rPr lang="en-US"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Brainstorming on Noether Core Dynamics</a:t>
            </a:r>
          </a:p>
        </p:txBody>
      </p:sp>
      <p:sp>
        <p:nvSpPr>
          <p:cNvPr id="3" name="Content Placeholder 2">
            <a:extLst>
              <a:ext uri="{FF2B5EF4-FFF2-40B4-BE49-F238E27FC236}">
                <a16:creationId xmlns:a16="http://schemas.microsoft.com/office/drawing/2014/main" id="{B79D155D-AAA3-5D9A-34B2-23F2E49ED074}"/>
              </a:ext>
            </a:extLst>
          </p:cNvPr>
          <p:cNvSpPr>
            <a:spLocks noGrp="1"/>
          </p:cNvSpPr>
          <p:nvPr>
            <p:ph idx="1"/>
          </p:nvPr>
        </p:nvSpPr>
        <p:spPr>
          <a:xfrm>
            <a:off x="299258" y="914401"/>
            <a:ext cx="11587942" cy="5311832"/>
          </a:xfrm>
        </p:spPr>
        <p:txBody>
          <a:bodyPr>
            <a:noAutofit/>
          </a:bodyPr>
          <a:lstStyle/>
          <a:p>
            <a:pPr>
              <a:lnSpc>
                <a:spcPct val="80000"/>
              </a:lnSpc>
            </a:pPr>
            <a:r>
              <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Binary Architecture (unperturbed)</a:t>
            </a:r>
          </a:p>
          <a:p>
            <a:pPr lvl="1">
              <a:lnSpc>
                <a:spcPct val="80000"/>
              </a:lnSpc>
            </a:pPr>
            <a:r>
              <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When v &lt;= @ the physics is only due to partner emissions</a:t>
            </a:r>
          </a:p>
          <a:p>
            <a:pPr lvl="1">
              <a:lnSpc>
                <a:spcPct val="80000"/>
              </a:lnSpc>
            </a:pPr>
            <a:r>
              <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When v &gt; @ the physics is due to both partner emissions and self emissions.</a:t>
            </a:r>
          </a:p>
          <a:p>
            <a:pPr>
              <a:lnSpc>
                <a:spcPct val="80000"/>
              </a:lnSpc>
            </a:pPr>
            <a:r>
              <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Noether Core Architecture </a:t>
            </a:r>
          </a:p>
          <a:p>
            <a:pPr lvl="1">
              <a:lnSpc>
                <a:spcPct val="80000"/>
              </a:lnSpc>
            </a:pPr>
            <a:r>
              <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The three binaries have different relationships depending on energy regime of the assembly.</a:t>
            </a:r>
          </a:p>
          <a:p>
            <a:pPr lvl="1">
              <a:lnSpc>
                <a:spcPct val="80000"/>
              </a:lnSpc>
            </a:pPr>
            <a:r>
              <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The relationship between generations is complex and depends on physics in each regime.</a:t>
            </a:r>
          </a:p>
          <a:p>
            <a:pPr>
              <a:lnSpc>
                <a:spcPct val="80000"/>
              </a:lnSpc>
            </a:pPr>
            <a:r>
              <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Higgs spacetime assembly clusters.</a:t>
            </a:r>
          </a:p>
          <a:p>
            <a:pPr lvl="1">
              <a:lnSpc>
                <a:spcPct val="80000"/>
              </a:lnSpc>
            </a:pPr>
            <a:r>
              <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Does a Higgs Noether core’s </a:t>
            </a:r>
            <a:r>
              <a:rPr lang="en-US" sz="20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outer</a:t>
            </a:r>
            <a:r>
              <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 binary have v &gt;= @.</a:t>
            </a:r>
          </a:p>
          <a:p>
            <a:pPr>
              <a:lnSpc>
                <a:spcPct val="80000"/>
              </a:lnSpc>
            </a:pPr>
            <a:r>
              <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Standard model assemblies </a:t>
            </a:r>
          </a:p>
          <a:p>
            <a:pPr lvl="1">
              <a:lnSpc>
                <a:spcPct val="80000"/>
              </a:lnSpc>
            </a:pPr>
            <a:r>
              <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fermions, photons, (W’s and Z are ephemeral, another topic)</a:t>
            </a:r>
          </a:p>
          <a:p>
            <a:pPr lvl="1">
              <a:lnSpc>
                <a:spcPct val="80000"/>
              </a:lnSpc>
            </a:pPr>
            <a:r>
              <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Does the middle binary have v = @ </a:t>
            </a:r>
          </a:p>
          <a:p>
            <a:pPr lvl="1">
              <a:lnSpc>
                <a:spcPct val="80000"/>
              </a:lnSpc>
            </a:pPr>
            <a:r>
              <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The quanta h-bar is observable. Therefore, the quanta must remain in the outer binary.</a:t>
            </a:r>
          </a:p>
          <a:p>
            <a:pPr lvl="1">
              <a:lnSpc>
                <a:spcPct val="80000"/>
              </a:lnSpc>
            </a:pPr>
            <a:endPar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endParaRPr>
          </a:p>
          <a:p>
            <a:pPr lvl="1">
              <a:lnSpc>
                <a:spcPct val="80000"/>
              </a:lnSpc>
            </a:pPr>
            <a:endPar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endParaRPr>
          </a:p>
          <a:p>
            <a:pPr lvl="1">
              <a:lnSpc>
                <a:spcPct val="80000"/>
              </a:lnSpc>
            </a:pPr>
            <a:endPar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endParaRPr>
          </a:p>
          <a:p>
            <a:pPr>
              <a:lnSpc>
                <a:spcPct val="80000"/>
              </a:lnSpc>
            </a:pPr>
            <a:r>
              <a:rPr lang="en-US" sz="24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Or this could all be nonsense…. better to simulate</a:t>
            </a:r>
          </a:p>
          <a:p>
            <a:pPr marL="0" indent="0">
              <a:lnSpc>
                <a:spcPct val="80000"/>
              </a:lnSpc>
              <a:buNone/>
            </a:pPr>
            <a:endPar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endParaRPr>
          </a:p>
        </p:txBody>
      </p:sp>
    </p:spTree>
    <p:extLst>
      <p:ext uri="{BB962C8B-B14F-4D97-AF65-F5344CB8AC3E}">
        <p14:creationId xmlns:p14="http://schemas.microsoft.com/office/powerpoint/2010/main" val="21473770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BCEC3F-FDDB-5983-8D2C-A4BFED7BAA0A}"/>
              </a:ext>
            </a:extLst>
          </p:cNvPr>
          <p:cNvSpPr>
            <a:spLocks noGrp="1"/>
          </p:cNvSpPr>
          <p:nvPr>
            <p:ph type="title"/>
          </p:nvPr>
        </p:nvSpPr>
        <p:spPr>
          <a:xfrm>
            <a:off x="299257" y="1"/>
            <a:ext cx="11784587" cy="914400"/>
          </a:xfrm>
        </p:spPr>
        <p:txBody>
          <a:bodyPr>
            <a:normAutofit/>
          </a:bodyPr>
          <a:lstStyle/>
          <a:p>
            <a:r>
              <a:rPr lang="en-US"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Brainstorming on Noether Core Dynamics</a:t>
            </a:r>
          </a:p>
        </p:txBody>
      </p:sp>
      <p:sp>
        <p:nvSpPr>
          <p:cNvPr id="3" name="Content Placeholder 2">
            <a:extLst>
              <a:ext uri="{FF2B5EF4-FFF2-40B4-BE49-F238E27FC236}">
                <a16:creationId xmlns:a16="http://schemas.microsoft.com/office/drawing/2014/main" id="{B79D155D-AAA3-5D9A-34B2-23F2E49ED074}"/>
              </a:ext>
            </a:extLst>
          </p:cNvPr>
          <p:cNvSpPr>
            <a:spLocks noGrp="1"/>
          </p:cNvSpPr>
          <p:nvPr>
            <p:ph idx="1"/>
          </p:nvPr>
        </p:nvSpPr>
        <p:spPr>
          <a:xfrm>
            <a:off x="299258" y="914401"/>
            <a:ext cx="11587942" cy="5311832"/>
          </a:xfrm>
        </p:spPr>
        <p:txBody>
          <a:bodyPr>
            <a:noAutofit/>
          </a:bodyPr>
          <a:lstStyle/>
          <a:p>
            <a:pPr>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Orbits are presumably elliptical in an assembly relative frame, with influences from translation, acceleration, gravitational gradient, precession, and self or external perturbations. Studying the ideal circular (e.g., elliptical) orbit is recommended.</a:t>
            </a:r>
          </a:p>
          <a:p>
            <a:pPr>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It may be fruitful to examine the squashed Noether core with modeled/simulated elliptical orbits.  </a:t>
            </a:r>
          </a:p>
          <a:p>
            <a:pPr>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Is velocity constant or varying in an elliptical orbit? In classical physics velocity varies. </a:t>
            </a:r>
            <a:r>
              <a:rPr lang="en-US" sz="1600" b="1" i="1" dirty="0" err="1">
                <a:solidFill>
                  <a:schemeClr val="bg1"/>
                </a:solidFill>
                <a:latin typeface="Helvetica Neue" panose="02000503000000020004" pitchFamily="2" charset="0"/>
                <a:ea typeface="Helvetica Neue" panose="02000503000000020004" pitchFamily="2" charset="0"/>
                <a:cs typeface="Helvetica Neue" panose="02000503000000020004" pitchFamily="2" charset="0"/>
              </a:rPr>
              <a:t>Intuitiion</a:t>
            </a:r>
            <a:r>
              <a:rPr lang="en-US" sz="1600" b="1" i="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 : varying.</a:t>
            </a:r>
          </a:p>
          <a:p>
            <a:pPr>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Do truly exotic stable orbits occur? Are there cases where orbitals depart substantially from planar in the short term?</a:t>
            </a:r>
          </a:p>
          <a:p>
            <a:pPr>
              <a:lnSpc>
                <a:spcPct val="80000"/>
              </a:lnSpc>
            </a:pPr>
            <a:endPar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endParaRPr>
          </a:p>
          <a:p>
            <a:pPr>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In an ellipse, the lengths of the semi-major axis ((a)) and the semi-minor axis ((b)) are different. </a:t>
            </a:r>
          </a:p>
          <a:p>
            <a:pPr>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For an ellipse with semi-major axis ( a ) and semi-minor axis ( b ), there isn’t a simple exact formula for the circumference. </a:t>
            </a:r>
          </a:p>
          <a:p>
            <a:pPr>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The approximation from Ramanujan is often quite accurate : [ C \</a:t>
            </a:r>
            <a:r>
              <a:rPr lang="en-US" sz="1600" dirty="0" err="1">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approx</a:t>
            </a: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 \pi \left[ 3(a + b) - \sqrt{(3a + b)(a + 3b)} \right] ]</a:t>
            </a:r>
          </a:p>
          <a:p>
            <a:pPr>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 circle is technically a special case of an ellipse where the two axes are equal (a = b).</a:t>
            </a:r>
          </a:p>
          <a:p>
            <a:pPr>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For a circle with radius ( r ), the circumference is given by the simple formula: C = 2 pi r </a:t>
            </a:r>
          </a:p>
          <a:p>
            <a:pPr>
              <a:lnSpc>
                <a:spcPct val="80000"/>
              </a:lnSpc>
            </a:pPr>
            <a:endPar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endParaRPr>
          </a:p>
          <a:p>
            <a:pPr>
              <a:lnSpc>
                <a:spcPct val="80000"/>
              </a:lnSpc>
            </a:pPr>
            <a:r>
              <a:rPr lang="en-US" sz="1600" dirty="0" err="1">
                <a:solidFill>
                  <a:schemeClr val="bg1"/>
                </a:solidFill>
                <a:latin typeface="Helvetica Neue" panose="02000503000000020004" pitchFamily="2" charset="0"/>
                <a:ea typeface="Helvetica Neue" panose="02000503000000020004" pitchFamily="2" charset="0"/>
                <a:cs typeface="Helvetica Neue" panose="02000503000000020004" pitchFamily="2" charset="0"/>
              </a:rPr>
              <a:t>todo</a:t>
            </a: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 check references and formulas</a:t>
            </a:r>
          </a:p>
        </p:txBody>
      </p:sp>
    </p:spTree>
    <p:extLst>
      <p:ext uri="{BB962C8B-B14F-4D97-AF65-F5344CB8AC3E}">
        <p14:creationId xmlns:p14="http://schemas.microsoft.com/office/powerpoint/2010/main" val="2409147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a:extLst>
            <a:ext uri="{FF2B5EF4-FFF2-40B4-BE49-F238E27FC236}">
              <a16:creationId xmlns:a16="http://schemas.microsoft.com/office/drawing/2014/main" id="{DEAA16AD-5255-730C-ED48-50C0A06070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69F6C0-6861-371B-1E5F-E2E09EC6ECAB}"/>
              </a:ext>
            </a:extLst>
          </p:cNvPr>
          <p:cNvSpPr>
            <a:spLocks noGrp="1"/>
          </p:cNvSpPr>
          <p:nvPr>
            <p:ph type="title"/>
          </p:nvPr>
        </p:nvSpPr>
        <p:spPr>
          <a:xfrm>
            <a:off x="299257" y="1"/>
            <a:ext cx="11784587" cy="914400"/>
          </a:xfrm>
        </p:spPr>
        <p:txBody>
          <a:bodyPr>
            <a:normAutofit/>
          </a:bodyPr>
          <a:lstStyle/>
          <a:p>
            <a:r>
              <a:rPr lang="en-US"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Brainstorming on Noether Core Oblation</a:t>
            </a:r>
          </a:p>
        </p:txBody>
      </p:sp>
      <p:sp>
        <p:nvSpPr>
          <p:cNvPr id="3" name="Content Placeholder 2">
            <a:extLst>
              <a:ext uri="{FF2B5EF4-FFF2-40B4-BE49-F238E27FC236}">
                <a16:creationId xmlns:a16="http://schemas.microsoft.com/office/drawing/2014/main" id="{A553AB31-B546-3F5A-630A-C56877A839C1}"/>
              </a:ext>
            </a:extLst>
          </p:cNvPr>
          <p:cNvSpPr>
            <a:spLocks noGrp="1"/>
          </p:cNvSpPr>
          <p:nvPr>
            <p:ph idx="1"/>
          </p:nvPr>
        </p:nvSpPr>
        <p:spPr>
          <a:xfrm>
            <a:off x="299258" y="914401"/>
            <a:ext cx="11587942" cy="5311832"/>
          </a:xfrm>
        </p:spPr>
        <p:txBody>
          <a:bodyPr>
            <a:noAutofit/>
          </a:bodyPr>
          <a:lstStyle/>
          <a:p>
            <a:pPr>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 bare Noether core is presumably orthogonal on the cartesian planes, with orbital axis coinciding with x, y, z axes</a:t>
            </a:r>
          </a:p>
          <a:p>
            <a:pPr>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Electron similar but perhaps more chaotic? All personality electrinos acting upon each other.</a:t>
            </a:r>
          </a:p>
          <a:p>
            <a:pPr>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An orthogonal core would orient to pi/4 in each orbital plan in the vector direction of the group velocity.</a:t>
            </a:r>
          </a:p>
          <a:p>
            <a:pPr>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In other words, work performed on the Noether core would cause it’s angular momentum vectors to face forward</a:t>
            </a:r>
          </a:p>
          <a:p>
            <a:pPr>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As velocity increases an orthogonal core will become more oblate, and they will continue to converge symmetrically.</a:t>
            </a:r>
          </a:p>
          <a:p>
            <a:pPr>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An asymmetric personality layer will distort the orbital planes (or more broadly path equations) at group velocity = 0.</a:t>
            </a:r>
          </a:p>
          <a:p>
            <a:pPr>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 moving quark starts distorted and becomes more oblate with speed. Even the ideal scenario is complicated analytically.</a:t>
            </a:r>
          </a:p>
          <a:p>
            <a:pPr>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They all end up with a planar Noether core at v = @.</a:t>
            </a:r>
          </a:p>
          <a:p>
            <a:pPr>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Personality charges decay along the way.</a:t>
            </a:r>
          </a:p>
        </p:txBody>
      </p:sp>
    </p:spTree>
    <p:extLst>
      <p:ext uri="{BB962C8B-B14F-4D97-AF65-F5344CB8AC3E}">
        <p14:creationId xmlns:p14="http://schemas.microsoft.com/office/powerpoint/2010/main" val="30794152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a:extLst>
            <a:ext uri="{FF2B5EF4-FFF2-40B4-BE49-F238E27FC236}">
              <a16:creationId xmlns:a16="http://schemas.microsoft.com/office/drawing/2014/main" id="{A19887CE-A9D7-EC21-97DA-CA2B35C1F6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848C44-ACC7-309F-3DE5-145AACE17A4F}"/>
              </a:ext>
            </a:extLst>
          </p:cNvPr>
          <p:cNvSpPr>
            <a:spLocks noGrp="1"/>
          </p:cNvSpPr>
          <p:nvPr>
            <p:ph type="title"/>
          </p:nvPr>
        </p:nvSpPr>
        <p:spPr>
          <a:xfrm>
            <a:off x="0" y="1"/>
            <a:ext cx="12191999" cy="914400"/>
          </a:xfrm>
        </p:spPr>
        <p:txBody>
          <a:bodyPr>
            <a:normAutofit/>
          </a:bodyPr>
          <a:lstStyle/>
          <a:p>
            <a:pPr algn="ctr"/>
            <a:r>
              <a:rPr lang="en-US"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Some Fresh Thoughts on NC Operation</a:t>
            </a:r>
          </a:p>
        </p:txBody>
      </p:sp>
      <p:sp>
        <p:nvSpPr>
          <p:cNvPr id="3" name="Content Placeholder 2">
            <a:extLst>
              <a:ext uri="{FF2B5EF4-FFF2-40B4-BE49-F238E27FC236}">
                <a16:creationId xmlns:a16="http://schemas.microsoft.com/office/drawing/2014/main" id="{6C33FF57-F216-EDDC-F28F-09F51C7D57F3}"/>
              </a:ext>
            </a:extLst>
          </p:cNvPr>
          <p:cNvSpPr>
            <a:spLocks noGrp="1"/>
          </p:cNvSpPr>
          <p:nvPr>
            <p:ph idx="1"/>
          </p:nvPr>
        </p:nvSpPr>
        <p:spPr>
          <a:xfrm>
            <a:off x="302028" y="1207567"/>
            <a:ext cx="11587942" cy="5311832"/>
          </a:xfrm>
        </p:spPr>
        <p:txBody>
          <a:bodyPr>
            <a:noAutofit/>
          </a:bodyPr>
          <a:lstStyle/>
          <a:p>
            <a:pPr>
              <a:lnSpc>
                <a:spcPct val="80000"/>
              </a:lnSpc>
            </a:pPr>
            <a:r>
              <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Presuming self-powering spiral of the unperturbed binary. ( a sort of new thought dec 2024?)</a:t>
            </a:r>
          </a:p>
          <a:p>
            <a:pPr lvl="1">
              <a:lnSpc>
                <a:spcPct val="80000"/>
              </a:lnSpc>
            </a:pPr>
            <a:r>
              <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that suggests that Gen III devolves to the maximal curvature binary. (also group v = max?)</a:t>
            </a:r>
          </a:p>
          <a:p>
            <a:pPr lvl="1">
              <a:lnSpc>
                <a:spcPct val="80000"/>
              </a:lnSpc>
            </a:pPr>
            <a:r>
              <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there is a duality to maximally dense regions of black hole cores </a:t>
            </a:r>
          </a:p>
          <a:p>
            <a:pPr lvl="1">
              <a:lnSpc>
                <a:spcPct val="80000"/>
              </a:lnSpc>
            </a:pPr>
            <a:r>
              <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it consumes all of its PE and converts it to KE.</a:t>
            </a:r>
          </a:p>
          <a:p>
            <a:pPr lvl="1">
              <a:lnSpc>
                <a:spcPct val="80000"/>
              </a:lnSpc>
            </a:pPr>
            <a:r>
              <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its orbital velocity = pi @ / 2 on both zonal and meridional rotation axes</a:t>
            </a:r>
          </a:p>
          <a:p>
            <a:pPr>
              <a:lnSpc>
                <a:spcPct val="80000"/>
              </a:lnSpc>
            </a:pPr>
            <a:r>
              <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And if the Gen II binary has v = @ how is that related? Why would it form that way?</a:t>
            </a:r>
          </a:p>
          <a:p>
            <a:pPr>
              <a:lnSpc>
                <a:spcPct val="80000"/>
              </a:lnSpc>
            </a:pPr>
            <a:r>
              <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Then the Gen III binary has it’s arbitrary frequency and that’s it.</a:t>
            </a:r>
          </a:p>
          <a:p>
            <a:pPr lvl="1">
              <a:lnSpc>
                <a:spcPct val="80000"/>
              </a:lnSpc>
            </a:pPr>
            <a:r>
              <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There would be no balance on either side of Gen II, or frequency relationships?</a:t>
            </a:r>
          </a:p>
          <a:p>
            <a:pPr lvl="1">
              <a:lnSpc>
                <a:spcPct val="80000"/>
              </a:lnSpc>
            </a:pPr>
            <a:endPar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endParaRPr>
          </a:p>
          <a:p>
            <a:pPr>
              <a:lnSpc>
                <a:spcPct val="80000"/>
              </a:lnSpc>
            </a:pPr>
            <a:r>
              <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It is simpler, but would it work?  </a:t>
            </a:r>
          </a:p>
          <a:p>
            <a:pPr>
              <a:lnSpc>
                <a:spcPct val="80000"/>
              </a:lnSpc>
            </a:pPr>
            <a:endPar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endParaRPr>
          </a:p>
          <a:p>
            <a:pPr lvl="1">
              <a:lnSpc>
                <a:spcPct val="80000"/>
              </a:lnSpc>
            </a:pPr>
            <a:endPar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endParaRPr>
          </a:p>
        </p:txBody>
      </p:sp>
    </p:spTree>
    <p:extLst>
      <p:ext uri="{BB962C8B-B14F-4D97-AF65-F5344CB8AC3E}">
        <p14:creationId xmlns:p14="http://schemas.microsoft.com/office/powerpoint/2010/main" val="24325989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a:extLst>
            <a:ext uri="{FF2B5EF4-FFF2-40B4-BE49-F238E27FC236}">
              <a16:creationId xmlns:a16="http://schemas.microsoft.com/office/drawing/2014/main" id="{0E550581-AF1D-F18F-4EF1-D2E001496C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D4970C-A651-A67E-FEE0-9258DBF2E1BB}"/>
              </a:ext>
            </a:extLst>
          </p:cNvPr>
          <p:cNvSpPr>
            <a:spLocks noGrp="1"/>
          </p:cNvSpPr>
          <p:nvPr>
            <p:ph type="title"/>
          </p:nvPr>
        </p:nvSpPr>
        <p:spPr>
          <a:xfrm>
            <a:off x="299257" y="1"/>
            <a:ext cx="11784587" cy="914400"/>
          </a:xfrm>
        </p:spPr>
        <p:txBody>
          <a:bodyPr>
            <a:normAutofit/>
          </a:bodyPr>
          <a:lstStyle/>
          <a:p>
            <a:r>
              <a:rPr lang="en-US"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Noether Core Symmetry Balancing</a:t>
            </a:r>
          </a:p>
        </p:txBody>
      </p:sp>
      <p:sp>
        <p:nvSpPr>
          <p:cNvPr id="3" name="Content Placeholder 2">
            <a:extLst>
              <a:ext uri="{FF2B5EF4-FFF2-40B4-BE49-F238E27FC236}">
                <a16:creationId xmlns:a16="http://schemas.microsoft.com/office/drawing/2014/main" id="{FCB2950D-2236-7491-2419-D21A39E71BB1}"/>
              </a:ext>
            </a:extLst>
          </p:cNvPr>
          <p:cNvSpPr>
            <a:spLocks noGrp="1"/>
          </p:cNvSpPr>
          <p:nvPr>
            <p:ph idx="1"/>
          </p:nvPr>
        </p:nvSpPr>
        <p:spPr>
          <a:xfrm>
            <a:off x="299258" y="914401"/>
            <a:ext cx="11587942" cy="5382227"/>
          </a:xfrm>
        </p:spPr>
        <p:txBody>
          <a:bodyPr>
            <a:noAutofit/>
          </a:bodyPr>
          <a:lstStyle/>
          <a:p>
            <a:pPr>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In an R4 continuous model, with forward moving time, and point potentials. </a:t>
            </a:r>
          </a:p>
          <a:p>
            <a:pPr lvl="1">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All the equations are smooth and continuously differentiable, so should be their superposition.</a:t>
            </a:r>
          </a:p>
          <a:p>
            <a:pPr lvl="1">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Local maxima superpositions of potential are like binary saddle points or even local hilltops with the same slope in any direction, or more exotic shapes in superposition.</a:t>
            </a:r>
            <a:endParaRPr lang="en-US" sz="12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endParaRPr>
          </a:p>
          <a:p>
            <a:pPr>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Emergence (from natural laws) led to symmetry balancing point in every binary.</a:t>
            </a:r>
          </a:p>
          <a:p>
            <a:pPr>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Emergence led to the Noether core assembly which may balance its mid binary at field speed. </a:t>
            </a:r>
          </a:p>
          <a:p>
            <a:pPr>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Why are Noether core assemblies the dominant survivors?  </a:t>
            </a:r>
          </a:p>
          <a:p>
            <a:pPr lvl="1">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High energy, shielding, mid-binary?</a:t>
            </a:r>
          </a:p>
          <a:p>
            <a:pPr lvl="1">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The |v| = @ binary creates a powerful rotor of potential spheres with travel between -1 and +1</a:t>
            </a:r>
            <a:r>
              <a:rPr lang="en-US" sz="160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 </a:t>
            </a:r>
          </a:p>
          <a:p>
            <a:pPr lvl="1">
              <a:lnSpc>
                <a:spcPct val="80000"/>
              </a:lnSpc>
            </a:pPr>
            <a:r>
              <a:rPr lang="en-US" sz="160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Is </a:t>
            </a: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the point potential universe deterministic? </a:t>
            </a:r>
          </a:p>
          <a:p>
            <a:pPr lvl="1">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We don't know the initial state. That shouldn't matter. </a:t>
            </a:r>
          </a:p>
          <a:p>
            <a:pPr lvl="1">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Determinism vs. non-determinism is related to the free will question.</a:t>
            </a:r>
          </a:p>
          <a:p>
            <a:pPr lvl="1">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Does the time delay nature from point potential emission to action cause non-determinism? </a:t>
            </a:r>
          </a:p>
          <a:p>
            <a:pPr lvl="1">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What reactions could tip either way at the symmetry breaking point? </a:t>
            </a:r>
          </a:p>
          <a:p>
            <a:pPr lvl="1">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The two regions of geometry are asymmetrical. </a:t>
            </a:r>
          </a:p>
          <a:p>
            <a:pPr lvl="1">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Is there less energy per step for |v| &gt; @ due to the self action?</a:t>
            </a:r>
          </a:p>
          <a:p>
            <a:pPr lvl="1">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How do tipping point situations resolve?</a:t>
            </a:r>
          </a:p>
          <a:p>
            <a:pPr>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Is there variation in energy transfer accounting. Does this always leave some noise in the system?</a:t>
            </a:r>
          </a:p>
          <a:p>
            <a:pPr>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It seems to come down to why the outcome of any reaction would not be predetermined. </a:t>
            </a:r>
          </a:p>
          <a:p>
            <a:pPr>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If given the same starting conditions, why would two universes evolve differently?</a:t>
            </a:r>
          </a:p>
        </p:txBody>
      </p:sp>
    </p:spTree>
    <p:extLst>
      <p:ext uri="{BB962C8B-B14F-4D97-AF65-F5344CB8AC3E}">
        <p14:creationId xmlns:p14="http://schemas.microsoft.com/office/powerpoint/2010/main" val="206379403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a:extLst>
            <a:ext uri="{FF2B5EF4-FFF2-40B4-BE49-F238E27FC236}">
              <a16:creationId xmlns:a16="http://schemas.microsoft.com/office/drawing/2014/main" id="{DEFE8304-99FB-720D-36C6-0BA6CE796C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4665D8-DB54-B8FB-6322-6F256281A7E9}"/>
              </a:ext>
            </a:extLst>
          </p:cNvPr>
          <p:cNvSpPr>
            <a:spLocks noGrp="1"/>
          </p:cNvSpPr>
          <p:nvPr>
            <p:ph type="title"/>
          </p:nvPr>
        </p:nvSpPr>
        <p:spPr>
          <a:xfrm>
            <a:off x="299257" y="1"/>
            <a:ext cx="11784587" cy="914400"/>
          </a:xfrm>
        </p:spPr>
        <p:txBody>
          <a:bodyPr>
            <a:normAutofit/>
          </a:bodyPr>
          <a:lstStyle/>
          <a:p>
            <a:r>
              <a:rPr lang="en-US"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Neutrino Oscillation</a:t>
            </a:r>
          </a:p>
        </p:txBody>
      </p:sp>
      <p:sp>
        <p:nvSpPr>
          <p:cNvPr id="3" name="Content Placeholder 2">
            <a:extLst>
              <a:ext uri="{FF2B5EF4-FFF2-40B4-BE49-F238E27FC236}">
                <a16:creationId xmlns:a16="http://schemas.microsoft.com/office/drawing/2014/main" id="{F008E055-59D9-08DF-F5E3-22B62398CD40}"/>
              </a:ext>
            </a:extLst>
          </p:cNvPr>
          <p:cNvSpPr>
            <a:spLocks noGrp="1"/>
          </p:cNvSpPr>
          <p:nvPr>
            <p:ph idx="1"/>
          </p:nvPr>
        </p:nvSpPr>
        <p:spPr>
          <a:xfrm>
            <a:off x="299258" y="914401"/>
            <a:ext cx="11587942" cy="5311832"/>
          </a:xfrm>
        </p:spPr>
        <p:txBody>
          <a:bodyPr>
            <a:noAutofit/>
          </a:bodyPr>
          <a:lstStyle/>
          <a:p>
            <a:pPr>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Not sure if neutrino musings go here </a:t>
            </a:r>
          </a:p>
        </p:txBody>
      </p:sp>
      <p:pic>
        <p:nvPicPr>
          <p:cNvPr id="4" name="Picture 3">
            <a:extLst>
              <a:ext uri="{FF2B5EF4-FFF2-40B4-BE49-F238E27FC236}">
                <a16:creationId xmlns:a16="http://schemas.microsoft.com/office/drawing/2014/main" id="{4C85D3BE-D2FC-24A4-4391-A1DBB398B723}"/>
              </a:ext>
            </a:extLst>
          </p:cNvPr>
          <p:cNvPicPr>
            <a:picLocks noChangeAspect="1"/>
          </p:cNvPicPr>
          <p:nvPr/>
        </p:nvPicPr>
        <p:blipFill>
          <a:blip r:embed="rId2"/>
          <a:stretch>
            <a:fillRect/>
          </a:stretch>
        </p:blipFill>
        <p:spPr>
          <a:xfrm>
            <a:off x="2209800" y="2199861"/>
            <a:ext cx="7772400" cy="2458278"/>
          </a:xfrm>
          <a:prstGeom prst="rect">
            <a:avLst/>
          </a:prstGeom>
        </p:spPr>
      </p:pic>
    </p:spTree>
    <p:extLst>
      <p:ext uri="{BB962C8B-B14F-4D97-AF65-F5344CB8AC3E}">
        <p14:creationId xmlns:p14="http://schemas.microsoft.com/office/powerpoint/2010/main" val="303905070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D77ACA5-3691-8FEB-0266-8D47BBCCF4C6}"/>
              </a:ext>
            </a:extLst>
          </p:cNvPr>
          <p:cNvSpPr txBox="1"/>
          <p:nvPr/>
        </p:nvSpPr>
        <p:spPr>
          <a:xfrm>
            <a:off x="0" y="186247"/>
            <a:ext cx="12191999" cy="156966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600" b="1" i="0" u="none" strike="noStrike" kern="1200" cap="none" spc="0" normalizeH="0" baseline="0" noProof="0" dirty="0">
                <a:ln>
                  <a:noFill/>
                </a:ln>
                <a:solidFill>
                  <a:srgbClr val="FFC000"/>
                </a:solidFill>
                <a:effectLst/>
                <a:uLnTx/>
                <a:uFillTx/>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t>The Four “Forces”</a:t>
            </a:r>
          </a:p>
        </p:txBody>
      </p:sp>
    </p:spTree>
    <p:extLst>
      <p:ext uri="{BB962C8B-B14F-4D97-AF65-F5344CB8AC3E}">
        <p14:creationId xmlns:p14="http://schemas.microsoft.com/office/powerpoint/2010/main" val="114779052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1D1148-3071-9B4A-8F3F-362963B39E0C}"/>
              </a:ext>
            </a:extLst>
          </p:cNvPr>
          <p:cNvSpPr>
            <a:spLocks noGrp="1"/>
          </p:cNvSpPr>
          <p:nvPr>
            <p:ph type="title"/>
          </p:nvPr>
        </p:nvSpPr>
        <p:spPr>
          <a:xfrm>
            <a:off x="838200" y="5129106"/>
            <a:ext cx="10515600" cy="777875"/>
          </a:xfrm>
        </p:spPr>
        <p:txBody>
          <a:bodyPr/>
          <a:lstStyle/>
          <a:p>
            <a:pPr algn="ctr"/>
            <a:r>
              <a:rPr lang="en-US" dirty="0">
                <a:solidFill>
                  <a:schemeClr val="tx1">
                    <a:lumMod val="50000"/>
                    <a:lumOff val="50000"/>
                  </a:schemeClr>
                </a:solidFill>
              </a:rPr>
              <a:t>The Four Forces of Nature</a:t>
            </a:r>
          </a:p>
        </p:txBody>
      </p:sp>
      <p:sp>
        <p:nvSpPr>
          <p:cNvPr id="3" name="Footer Placeholder 2">
            <a:extLst>
              <a:ext uri="{FF2B5EF4-FFF2-40B4-BE49-F238E27FC236}">
                <a16:creationId xmlns:a16="http://schemas.microsoft.com/office/drawing/2014/main" id="{2713EB4E-07B3-144F-B19D-8158D9CDB565}"/>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Helvetica Neue" panose="02000503000000020004" pitchFamily="2" charset="0"/>
                <a:ea typeface="Helvetica Neue" panose="02000503000000020004" pitchFamily="2" charset="0"/>
                <a:cs typeface="Helvetica Neue" panose="02000503000000020004" pitchFamily="2" charset="0"/>
              </a:rPr>
              <a:t>J Mark Morris - Model of Nature - March 2020</a:t>
            </a:r>
          </a:p>
        </p:txBody>
      </p:sp>
      <p:grpSp>
        <p:nvGrpSpPr>
          <p:cNvPr id="8" name="Group 7">
            <a:extLst>
              <a:ext uri="{FF2B5EF4-FFF2-40B4-BE49-F238E27FC236}">
                <a16:creationId xmlns:a16="http://schemas.microsoft.com/office/drawing/2014/main" id="{AD143478-6D07-F54B-A7F4-688B66CB50DB}"/>
              </a:ext>
            </a:extLst>
          </p:cNvPr>
          <p:cNvGrpSpPr/>
          <p:nvPr/>
        </p:nvGrpSpPr>
        <p:grpSpPr>
          <a:xfrm>
            <a:off x="2740846" y="1339956"/>
            <a:ext cx="2866490" cy="3006832"/>
            <a:chOff x="2188396" y="1955586"/>
            <a:chExt cx="2866490" cy="3006832"/>
          </a:xfrm>
        </p:grpSpPr>
        <p:sp>
          <p:nvSpPr>
            <p:cNvPr id="4" name="Oval 3">
              <a:extLst>
                <a:ext uri="{FF2B5EF4-FFF2-40B4-BE49-F238E27FC236}">
                  <a16:creationId xmlns:a16="http://schemas.microsoft.com/office/drawing/2014/main" id="{0640D646-41FF-A24F-AAE6-62E5D86B4887}"/>
                </a:ext>
              </a:extLst>
            </p:cNvPr>
            <p:cNvSpPr/>
            <p:nvPr/>
          </p:nvSpPr>
          <p:spPr>
            <a:xfrm>
              <a:off x="2188396" y="2095928"/>
              <a:ext cx="2866490" cy="2866490"/>
            </a:xfrm>
            <a:prstGeom prst="ellipse">
              <a:avLst/>
            </a:prstGeom>
            <a:ln w="38100">
              <a:solidFill>
                <a:srgbClr val="0070C0"/>
              </a:solidFill>
            </a:ln>
          </p:spPr>
          <p:txBody>
            <a:bodyPr wrap="non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5" name="Oval 4">
              <a:extLst>
                <a:ext uri="{FF2B5EF4-FFF2-40B4-BE49-F238E27FC236}">
                  <a16:creationId xmlns:a16="http://schemas.microsoft.com/office/drawing/2014/main" id="{B934B02A-2CB3-DF42-B8C1-A0E9E28D660D}"/>
                </a:ext>
              </a:extLst>
            </p:cNvPr>
            <p:cNvSpPr/>
            <p:nvPr/>
          </p:nvSpPr>
          <p:spPr>
            <a:xfrm>
              <a:off x="3040295" y="2947827"/>
              <a:ext cx="1162692" cy="1162692"/>
            </a:xfrm>
            <a:prstGeom prst="ellipse">
              <a:avLst/>
            </a:prstGeom>
            <a:ln w="38100">
              <a:solidFill>
                <a:srgbClr val="C00000"/>
              </a:solidFill>
            </a:ln>
          </p:spPr>
          <p:txBody>
            <a:bodyPr wrap="squar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6" name="Rectangle 5">
              <a:extLst>
                <a:ext uri="{FF2B5EF4-FFF2-40B4-BE49-F238E27FC236}">
                  <a16:creationId xmlns:a16="http://schemas.microsoft.com/office/drawing/2014/main" id="{017FD982-D71F-A249-A795-5E981ACA5003}"/>
                </a:ext>
              </a:extLst>
            </p:cNvPr>
            <p:cNvSpPr/>
            <p:nvPr/>
          </p:nvSpPr>
          <p:spPr>
            <a:xfrm>
              <a:off x="2707313" y="1955586"/>
              <a:ext cx="1828651" cy="1162692"/>
            </a:xfrm>
            <a:prstGeom prst="rect">
              <a:avLst/>
            </a:prstGeom>
            <a:noFill/>
          </p:spPr>
          <p:txBody>
            <a:bodyPr wrap="none" lIns="91440" tIns="45720" rIns="91440" bIns="45720">
              <a:prstTxWarp prst="textArchUp">
                <a:avLst>
                  <a:gd name="adj" fmla="val 13217802"/>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w="0"/>
                  <a:solidFill>
                    <a:srgbClr val="0070C0"/>
                  </a:solidFill>
                  <a:effectLst>
                    <a:outerShdw blurRad="38100" dist="25400" dir="5400000" algn="ctr" rotWithShape="0">
                      <a:srgbClr val="6E747A">
                        <a:alpha val="43000"/>
                      </a:srgbClr>
                    </a:outerShdw>
                  </a:effectLst>
                  <a:uLnTx/>
                  <a:uFillTx/>
                  <a:latin typeface="Helvetica Neue" panose="02000503000000020004" pitchFamily="2" charset="0"/>
                  <a:ea typeface="Helvetica Neue" panose="02000503000000020004" pitchFamily="2" charset="0"/>
                  <a:cs typeface="Helvetica Neue" panose="02000503000000020004" pitchFamily="2" charset="0"/>
                </a:rPr>
                <a:t>PERSONALITY</a:t>
              </a:r>
            </a:p>
          </p:txBody>
        </p:sp>
        <p:sp>
          <p:nvSpPr>
            <p:cNvPr id="7" name="Rectangle 6">
              <a:extLst>
                <a:ext uri="{FF2B5EF4-FFF2-40B4-BE49-F238E27FC236}">
                  <a16:creationId xmlns:a16="http://schemas.microsoft.com/office/drawing/2014/main" id="{5A12AC04-AF68-E742-8291-9DD669C39EF6}"/>
                </a:ext>
              </a:extLst>
            </p:cNvPr>
            <p:cNvSpPr/>
            <p:nvPr/>
          </p:nvSpPr>
          <p:spPr>
            <a:xfrm>
              <a:off x="2980920" y="2858784"/>
              <a:ext cx="1281435" cy="956459"/>
            </a:xfrm>
            <a:prstGeom prst="rect">
              <a:avLst/>
            </a:prstGeom>
            <a:noFill/>
          </p:spPr>
          <p:txBody>
            <a:bodyPr wrap="none" lIns="91440" tIns="45720" rIns="91440" bIns="45720">
              <a:prstTxWarp prst="textArchUp">
                <a:avLst>
                  <a:gd name="adj" fmla="val 9283728"/>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w="0"/>
                  <a:solidFill>
                    <a:srgbClr val="C00000"/>
                  </a:solidFill>
                  <a:effectLst>
                    <a:outerShdw blurRad="38100" dist="25400" dir="5400000" algn="ctr" rotWithShape="0">
                      <a:srgbClr val="6E747A">
                        <a:alpha val="43000"/>
                      </a:srgbClr>
                    </a:outerShdw>
                  </a:effectLst>
                  <a:uLnTx/>
                  <a:uFillTx/>
                  <a:latin typeface="Helvetica Neue" panose="02000503000000020004" pitchFamily="2" charset="0"/>
                  <a:ea typeface="Helvetica Neue" panose="02000503000000020004" pitchFamily="2" charset="0"/>
                  <a:cs typeface="Helvetica Neue" panose="02000503000000020004" pitchFamily="2" charset="0"/>
                </a:rPr>
                <a:t>NOETHER CORE</a:t>
              </a:r>
            </a:p>
          </p:txBody>
        </p:sp>
      </p:grpSp>
      <p:grpSp>
        <p:nvGrpSpPr>
          <p:cNvPr id="9" name="Group 8">
            <a:extLst>
              <a:ext uri="{FF2B5EF4-FFF2-40B4-BE49-F238E27FC236}">
                <a16:creationId xmlns:a16="http://schemas.microsoft.com/office/drawing/2014/main" id="{682FECFB-9AE6-7049-98EC-B23D949F6AB3}"/>
              </a:ext>
            </a:extLst>
          </p:cNvPr>
          <p:cNvGrpSpPr/>
          <p:nvPr/>
        </p:nvGrpSpPr>
        <p:grpSpPr>
          <a:xfrm>
            <a:off x="6802158" y="1480298"/>
            <a:ext cx="2866490" cy="2866490"/>
            <a:chOff x="2188396" y="2095928"/>
            <a:chExt cx="2866490" cy="2866490"/>
          </a:xfrm>
        </p:grpSpPr>
        <p:sp>
          <p:nvSpPr>
            <p:cNvPr id="10" name="Oval 9">
              <a:extLst>
                <a:ext uri="{FF2B5EF4-FFF2-40B4-BE49-F238E27FC236}">
                  <a16:creationId xmlns:a16="http://schemas.microsoft.com/office/drawing/2014/main" id="{75087440-9A1E-A44B-B6C2-BC5AE232BE86}"/>
                </a:ext>
              </a:extLst>
            </p:cNvPr>
            <p:cNvSpPr/>
            <p:nvPr/>
          </p:nvSpPr>
          <p:spPr>
            <a:xfrm>
              <a:off x="2188396" y="2095928"/>
              <a:ext cx="2866490" cy="2866490"/>
            </a:xfrm>
            <a:prstGeom prst="ellipse">
              <a:avLst/>
            </a:prstGeom>
            <a:ln w="38100">
              <a:solidFill>
                <a:srgbClr val="0070C0"/>
              </a:solidFill>
            </a:ln>
          </p:spPr>
          <p:txBody>
            <a:bodyPr wrap="non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11" name="Oval 10">
              <a:extLst>
                <a:ext uri="{FF2B5EF4-FFF2-40B4-BE49-F238E27FC236}">
                  <a16:creationId xmlns:a16="http://schemas.microsoft.com/office/drawing/2014/main" id="{9B6909E6-9D09-3F43-8543-5352FFB6E61E}"/>
                </a:ext>
              </a:extLst>
            </p:cNvPr>
            <p:cNvSpPr/>
            <p:nvPr/>
          </p:nvSpPr>
          <p:spPr>
            <a:xfrm>
              <a:off x="3040295" y="2947827"/>
              <a:ext cx="1162692" cy="1162692"/>
            </a:xfrm>
            <a:prstGeom prst="ellipse">
              <a:avLst/>
            </a:prstGeom>
            <a:ln w="38100">
              <a:solidFill>
                <a:srgbClr val="C00000"/>
              </a:solidFill>
            </a:ln>
          </p:spPr>
          <p:txBody>
            <a:bodyPr wrap="squar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13" name="Rectangle 12">
              <a:extLst>
                <a:ext uri="{FF2B5EF4-FFF2-40B4-BE49-F238E27FC236}">
                  <a16:creationId xmlns:a16="http://schemas.microsoft.com/office/drawing/2014/main" id="{9BD165CE-8E4F-A745-9C85-21DA5C8F6E60}"/>
                </a:ext>
              </a:extLst>
            </p:cNvPr>
            <p:cNvSpPr/>
            <p:nvPr/>
          </p:nvSpPr>
          <p:spPr>
            <a:xfrm>
              <a:off x="2980920" y="2858784"/>
              <a:ext cx="1281435" cy="956459"/>
            </a:xfrm>
            <a:prstGeom prst="rect">
              <a:avLst/>
            </a:prstGeom>
            <a:noFill/>
          </p:spPr>
          <p:txBody>
            <a:bodyPr wrap="none" lIns="91440" tIns="45720" rIns="91440" bIns="45720">
              <a:prstTxWarp prst="textArchUp">
                <a:avLst>
                  <a:gd name="adj" fmla="val 9283728"/>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w="0"/>
                  <a:solidFill>
                    <a:srgbClr val="C00000"/>
                  </a:solidFill>
                  <a:effectLst>
                    <a:outerShdw blurRad="38100" dist="25400" dir="5400000" algn="ctr" rotWithShape="0">
                      <a:srgbClr val="6E747A">
                        <a:alpha val="43000"/>
                      </a:srgbClr>
                    </a:outerShdw>
                  </a:effectLst>
                  <a:uLnTx/>
                  <a:uFillTx/>
                  <a:latin typeface="Helvetica Neue" panose="02000503000000020004" pitchFamily="2" charset="0"/>
                  <a:ea typeface="Helvetica Neue" panose="02000503000000020004" pitchFamily="2" charset="0"/>
                  <a:cs typeface="Helvetica Neue" panose="02000503000000020004" pitchFamily="2" charset="0"/>
                </a:rPr>
                <a:t>NOETHER CORE</a:t>
              </a:r>
            </a:p>
          </p:txBody>
        </p:sp>
      </p:grpSp>
      <p:cxnSp>
        <p:nvCxnSpPr>
          <p:cNvPr id="15" name="Straight Arrow Connector 14">
            <a:extLst>
              <a:ext uri="{FF2B5EF4-FFF2-40B4-BE49-F238E27FC236}">
                <a16:creationId xmlns:a16="http://schemas.microsoft.com/office/drawing/2014/main" id="{04725820-59FB-734E-AEFD-D63EC05D8743}"/>
              </a:ext>
            </a:extLst>
          </p:cNvPr>
          <p:cNvCxnSpPr>
            <a:cxnSpLocks/>
            <a:stCxn id="4" idx="3"/>
            <a:endCxn id="5" idx="3"/>
          </p:cNvCxnSpPr>
          <p:nvPr/>
        </p:nvCxnSpPr>
        <p:spPr>
          <a:xfrm flipV="1">
            <a:off x="3160634" y="3324617"/>
            <a:ext cx="602383" cy="602383"/>
          </a:xfrm>
          <a:prstGeom prst="straightConnector1">
            <a:avLst/>
          </a:prstGeom>
          <a:ln w="38100">
            <a:solidFill>
              <a:srgbClr val="7030A0"/>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7BE6310E-948C-EB40-8893-0F52FCA7D53F}"/>
              </a:ext>
            </a:extLst>
          </p:cNvPr>
          <p:cNvSpPr txBox="1"/>
          <p:nvPr/>
        </p:nvSpPr>
        <p:spPr>
          <a:xfrm rot="18900000">
            <a:off x="3043215" y="3413991"/>
            <a:ext cx="607859" cy="2616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7030A0"/>
                </a:solidFill>
                <a:effectLst/>
                <a:uLnTx/>
                <a:uFillTx/>
                <a:latin typeface="Helvetica Neue" panose="02000503000000020004" pitchFamily="2" charset="0"/>
                <a:ea typeface="Helvetica Neue" panose="02000503000000020004" pitchFamily="2" charset="0"/>
                <a:cs typeface="Helvetica Neue" panose="02000503000000020004" pitchFamily="2" charset="0"/>
              </a:rPr>
              <a:t>WEAK</a:t>
            </a:r>
          </a:p>
        </p:txBody>
      </p:sp>
      <p:cxnSp>
        <p:nvCxnSpPr>
          <p:cNvPr id="17" name="Straight Arrow Connector 16">
            <a:extLst>
              <a:ext uri="{FF2B5EF4-FFF2-40B4-BE49-F238E27FC236}">
                <a16:creationId xmlns:a16="http://schemas.microsoft.com/office/drawing/2014/main" id="{297B8DB3-9F6A-494B-8641-293BBD164D97}"/>
              </a:ext>
            </a:extLst>
          </p:cNvPr>
          <p:cNvCxnSpPr>
            <a:cxnSpLocks/>
          </p:cNvCxnSpPr>
          <p:nvPr/>
        </p:nvCxnSpPr>
        <p:spPr>
          <a:xfrm>
            <a:off x="5564777" y="2507454"/>
            <a:ext cx="1277348" cy="0"/>
          </a:xfrm>
          <a:prstGeom prst="straightConnector1">
            <a:avLst/>
          </a:prstGeom>
          <a:ln w="38100">
            <a:solidFill>
              <a:srgbClr val="00B050"/>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6320E437-BC32-974A-A06C-C24B0A29CF16}"/>
              </a:ext>
            </a:extLst>
          </p:cNvPr>
          <p:cNvSpPr txBox="1"/>
          <p:nvPr/>
        </p:nvSpPr>
        <p:spPr>
          <a:xfrm>
            <a:off x="5750681" y="2079819"/>
            <a:ext cx="944489" cy="43088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00B050"/>
                </a:solidFill>
                <a:effectLst/>
                <a:uLnTx/>
                <a:uFillTx/>
                <a:latin typeface="Helvetica Neue" panose="02000503000000020004" pitchFamily="2" charset="0"/>
                <a:ea typeface="Helvetica Neue" panose="02000503000000020004" pitchFamily="2" charset="0"/>
                <a:cs typeface="Helvetica Neue" panose="02000503000000020004" pitchFamily="2" charset="0"/>
              </a:rPr>
              <a:t>ELECTRO</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00B050"/>
                </a:solidFill>
                <a:effectLst/>
                <a:uLnTx/>
                <a:uFillTx/>
                <a:latin typeface="Helvetica Neue" panose="02000503000000020004" pitchFamily="2" charset="0"/>
                <a:ea typeface="Helvetica Neue" panose="02000503000000020004" pitchFamily="2" charset="0"/>
                <a:cs typeface="Helvetica Neue" panose="02000503000000020004" pitchFamily="2" charset="0"/>
              </a:rPr>
              <a:t>MAGNETIC</a:t>
            </a:r>
          </a:p>
        </p:txBody>
      </p:sp>
      <p:cxnSp>
        <p:nvCxnSpPr>
          <p:cNvPr id="21" name="Straight Arrow Connector 20">
            <a:extLst>
              <a:ext uri="{FF2B5EF4-FFF2-40B4-BE49-F238E27FC236}">
                <a16:creationId xmlns:a16="http://schemas.microsoft.com/office/drawing/2014/main" id="{68C26AE1-4773-3749-9F90-E5C02E3FA509}"/>
              </a:ext>
            </a:extLst>
          </p:cNvPr>
          <p:cNvCxnSpPr>
            <a:cxnSpLocks/>
          </p:cNvCxnSpPr>
          <p:nvPr/>
        </p:nvCxnSpPr>
        <p:spPr>
          <a:xfrm>
            <a:off x="4749087" y="3110227"/>
            <a:ext cx="2911320" cy="0"/>
          </a:xfrm>
          <a:prstGeom prst="straightConnector1">
            <a:avLst/>
          </a:prstGeom>
          <a:ln w="38100">
            <a:solidFill>
              <a:srgbClr val="C00000"/>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4A7D7B8F-4FE6-C143-8905-C1376196BF18}"/>
              </a:ext>
            </a:extLst>
          </p:cNvPr>
          <p:cNvSpPr txBox="1"/>
          <p:nvPr/>
        </p:nvSpPr>
        <p:spPr>
          <a:xfrm>
            <a:off x="5811851" y="3154680"/>
            <a:ext cx="785793" cy="43088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C00000"/>
                </a:solidFill>
                <a:effectLst/>
                <a:uLnTx/>
                <a:uFillTx/>
                <a:latin typeface="Helvetica Neue" panose="02000503000000020004" pitchFamily="2" charset="0"/>
                <a:ea typeface="Helvetica Neue" panose="02000503000000020004" pitchFamily="2" charset="0"/>
                <a:cs typeface="Helvetica Neue" panose="02000503000000020004" pitchFamily="2" charset="0"/>
              </a:rPr>
              <a:t>STRONG</a:t>
            </a:r>
            <a:br>
              <a:rPr kumimoji="0" lang="en-US" sz="1100" b="1" i="0" u="none" strike="noStrike" kern="1200" cap="none" spc="0" normalizeH="0" baseline="0" noProof="0" dirty="0">
                <a:ln>
                  <a:noFill/>
                </a:ln>
                <a:solidFill>
                  <a:srgbClr val="C00000"/>
                </a:solidFill>
                <a:effectLst/>
                <a:uLnTx/>
                <a:uFillTx/>
                <a:latin typeface="Helvetica Neue" panose="02000503000000020004" pitchFamily="2" charset="0"/>
                <a:ea typeface="Helvetica Neue" panose="02000503000000020004" pitchFamily="2" charset="0"/>
                <a:cs typeface="Helvetica Neue" panose="02000503000000020004" pitchFamily="2" charset="0"/>
              </a:rPr>
            </a:br>
            <a:r>
              <a:rPr kumimoji="0" lang="en-US" sz="1100" b="1" i="0" u="none" strike="noStrike" kern="1200" cap="none" spc="0" normalizeH="0" baseline="0" noProof="0" dirty="0">
                <a:ln>
                  <a:noFill/>
                </a:ln>
                <a:solidFill>
                  <a:srgbClr val="C00000"/>
                </a:solidFill>
                <a:effectLst/>
                <a:uLnTx/>
                <a:uFillTx/>
                <a:latin typeface="Helvetica Neue" panose="02000503000000020004" pitchFamily="2" charset="0"/>
                <a:ea typeface="Helvetica Neue" panose="02000503000000020004" pitchFamily="2" charset="0"/>
                <a:cs typeface="Helvetica Neue" panose="02000503000000020004" pitchFamily="2" charset="0"/>
              </a:rPr>
              <a:t>gluon</a:t>
            </a:r>
          </a:p>
        </p:txBody>
      </p:sp>
      <p:sp>
        <p:nvSpPr>
          <p:cNvPr id="24" name="Rectangle 23">
            <a:extLst>
              <a:ext uri="{FF2B5EF4-FFF2-40B4-BE49-F238E27FC236}">
                <a16:creationId xmlns:a16="http://schemas.microsoft.com/office/drawing/2014/main" id="{E658ABB8-5033-C443-A141-507F219FFAD0}"/>
              </a:ext>
            </a:extLst>
          </p:cNvPr>
          <p:cNvSpPr/>
          <p:nvPr/>
        </p:nvSpPr>
        <p:spPr>
          <a:xfrm>
            <a:off x="7321073" y="1339956"/>
            <a:ext cx="1828651" cy="1162692"/>
          </a:xfrm>
          <a:prstGeom prst="rect">
            <a:avLst/>
          </a:prstGeom>
          <a:noFill/>
        </p:spPr>
        <p:txBody>
          <a:bodyPr wrap="none" lIns="91440" tIns="45720" rIns="91440" bIns="45720">
            <a:prstTxWarp prst="textArchUp">
              <a:avLst>
                <a:gd name="adj" fmla="val 13217802"/>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w="0"/>
                <a:solidFill>
                  <a:srgbClr val="0070C0"/>
                </a:solidFill>
                <a:effectLst>
                  <a:outerShdw blurRad="38100" dist="25400" dir="5400000" algn="ctr" rotWithShape="0">
                    <a:srgbClr val="6E747A">
                      <a:alpha val="43000"/>
                    </a:srgbClr>
                  </a:outerShdw>
                </a:effectLst>
                <a:uLnTx/>
                <a:uFillTx/>
                <a:latin typeface="Helvetica Neue" panose="02000503000000020004" pitchFamily="2" charset="0"/>
                <a:ea typeface="Helvetica Neue" panose="02000503000000020004" pitchFamily="2" charset="0"/>
                <a:cs typeface="Helvetica Neue" panose="02000503000000020004" pitchFamily="2" charset="0"/>
              </a:rPr>
              <a:t>PERSONALITY</a:t>
            </a:r>
          </a:p>
        </p:txBody>
      </p:sp>
      <p:sp>
        <p:nvSpPr>
          <p:cNvPr id="12" name="Lightning Bolt 11">
            <a:extLst>
              <a:ext uri="{FF2B5EF4-FFF2-40B4-BE49-F238E27FC236}">
                <a16:creationId xmlns:a16="http://schemas.microsoft.com/office/drawing/2014/main" id="{2D64B5AD-0C90-CC1C-FCC4-EE7E790D53C7}"/>
              </a:ext>
            </a:extLst>
          </p:cNvPr>
          <p:cNvSpPr/>
          <p:nvPr/>
        </p:nvSpPr>
        <p:spPr>
          <a:xfrm rot="20030957">
            <a:off x="9635675" y="2651499"/>
            <a:ext cx="1458852" cy="370604"/>
          </a:xfrm>
          <a:prstGeom prst="lightningBolt">
            <a:avLst/>
          </a:prstGeom>
          <a:solidFill>
            <a:schemeClr val="accent2"/>
          </a:solidFill>
        </p:spPr>
        <p:txBody>
          <a:bodyPr wrap="squar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18" name="TextBox 17">
            <a:extLst>
              <a:ext uri="{FF2B5EF4-FFF2-40B4-BE49-F238E27FC236}">
                <a16:creationId xmlns:a16="http://schemas.microsoft.com/office/drawing/2014/main" id="{F93868B6-E690-FC38-23C9-C9E665DE4F9B}"/>
              </a:ext>
            </a:extLst>
          </p:cNvPr>
          <p:cNvSpPr txBox="1"/>
          <p:nvPr/>
        </p:nvSpPr>
        <p:spPr>
          <a:xfrm>
            <a:off x="9775636" y="3079390"/>
            <a:ext cx="6097162" cy="83099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ED7D31"/>
                </a:solidFill>
                <a:effectLst/>
                <a:uLnTx/>
                <a:uFillTx/>
                <a:latin typeface="Helvetica Neue" panose="02000503000000020004" pitchFamily="2" charset="0"/>
                <a:ea typeface="Helvetica Neue" panose="02000503000000020004" pitchFamily="2" charset="0"/>
                <a:cs typeface="Helvetica Neue" panose="02000503000000020004" pitchFamily="2" charset="0"/>
              </a:rPr>
              <a:t>GRAVITY is caused by</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ED7D31"/>
                </a:solidFill>
                <a:effectLst/>
                <a:uLnTx/>
                <a:uFillTx/>
                <a:latin typeface="Helvetica Neue" panose="02000503000000020004" pitchFamily="2" charset="0"/>
                <a:ea typeface="Helvetica Neue" panose="02000503000000020004" pitchFamily="2" charset="0"/>
                <a:cs typeface="Helvetica Neue" panose="02000503000000020004" pitchFamily="2" charset="0"/>
              </a:rPr>
              <a:t>Emitted potential exciting</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ED7D31"/>
                </a:solidFill>
                <a:effectLst/>
                <a:uLnTx/>
                <a:uFillTx/>
                <a:latin typeface="Helvetica Neue" panose="02000503000000020004" pitchFamily="2" charset="0"/>
                <a:ea typeface="Helvetica Neue" panose="02000503000000020004" pitchFamily="2" charset="0"/>
                <a:cs typeface="Helvetica Neue" panose="02000503000000020004" pitchFamily="2" charset="0"/>
              </a:rPr>
              <a:t>Spacetime Noether cores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ED7D31"/>
                </a:solidFill>
                <a:effectLst/>
                <a:uLnTx/>
                <a:uFillTx/>
                <a:latin typeface="Helvetica Neue" panose="02000503000000020004" pitchFamily="2" charset="0"/>
                <a:ea typeface="Helvetica Neue" panose="02000503000000020004" pitchFamily="2" charset="0"/>
                <a:cs typeface="Helvetica Neue" panose="02000503000000020004" pitchFamily="2" charset="0"/>
              </a:rPr>
              <a:t>Which then change shape</a:t>
            </a:r>
            <a:endParaRPr kumimoji="0" lang="en-US" sz="1200" b="0" i="0" u="none" strike="noStrike" kern="1200" cap="none" spc="0" normalizeH="0" baseline="0" noProof="0" dirty="0">
              <a:ln>
                <a:noFill/>
              </a:ln>
              <a:solidFill>
                <a:srgbClr val="ED7D31"/>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570623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4E5B8A-167D-1947-A18F-1C9CC4445BEA}"/>
              </a:ext>
            </a:extLst>
          </p:cNvPr>
          <p:cNvSpPr>
            <a:spLocks noGrp="1"/>
          </p:cNvSpPr>
          <p:nvPr>
            <p:ph type="title"/>
          </p:nvPr>
        </p:nvSpPr>
        <p:spPr/>
        <p:txBody>
          <a:bodyPr/>
          <a:lstStyle/>
          <a:p>
            <a:pPr algn="ctr"/>
            <a:r>
              <a:rPr lang="en-US" b="1" dirty="0">
                <a:solidFill>
                  <a:schemeClr val="bg1"/>
                </a:solidFill>
              </a:rPr>
              <a:t>The Gravitational Force</a:t>
            </a:r>
          </a:p>
        </p:txBody>
      </p:sp>
      <p:sp>
        <p:nvSpPr>
          <p:cNvPr id="3" name="Content Placeholder 2">
            <a:extLst>
              <a:ext uri="{FF2B5EF4-FFF2-40B4-BE49-F238E27FC236}">
                <a16:creationId xmlns:a16="http://schemas.microsoft.com/office/drawing/2014/main" id="{9B46ABE7-9DBF-A34F-BAC6-A1B986F41E3A}"/>
              </a:ext>
            </a:extLst>
          </p:cNvPr>
          <p:cNvSpPr>
            <a:spLocks noGrp="1"/>
          </p:cNvSpPr>
          <p:nvPr>
            <p:ph idx="1"/>
          </p:nvPr>
        </p:nvSpPr>
        <p:spPr/>
        <p:txBody>
          <a:bodyPr>
            <a:normAutofit/>
          </a:bodyPr>
          <a:lstStyle/>
          <a:p>
            <a:r>
              <a:rPr lang="en-US" dirty="0">
                <a:solidFill>
                  <a:schemeClr val="bg1"/>
                </a:solidFill>
              </a:rPr>
              <a:t>All particles are continuously and </a:t>
            </a:r>
            <a:r>
              <a:rPr lang="en-US" b="1" dirty="0">
                <a:solidFill>
                  <a:schemeClr val="bg1"/>
                </a:solidFill>
              </a:rPr>
              <a:t>losslessly</a:t>
            </a:r>
            <a:r>
              <a:rPr lang="en-US" dirty="0">
                <a:solidFill>
                  <a:schemeClr val="bg1"/>
                </a:solidFill>
              </a:rPr>
              <a:t> exchanging energy with neighbors. Frequently, the neighbors are low apparent energy spacetime aether particles, i.e., gravitons.</a:t>
            </a:r>
          </a:p>
          <a:p>
            <a:r>
              <a:rPr lang="en-US" dirty="0">
                <a:solidFill>
                  <a:schemeClr val="bg1"/>
                </a:solidFill>
              </a:rPr>
              <a:t>When standard matter exchanges energy with spacetime we call that the mass of standard matter.</a:t>
            </a:r>
          </a:p>
          <a:p>
            <a:pPr lvl="1"/>
            <a:r>
              <a:rPr lang="en-US" dirty="0">
                <a:solidFill>
                  <a:schemeClr val="bg1"/>
                </a:solidFill>
              </a:rPr>
              <a:t>Mass is based on the root mean squared of the interacting potential.</a:t>
            </a:r>
          </a:p>
          <a:p>
            <a:r>
              <a:rPr lang="en-US" dirty="0">
                <a:solidFill>
                  <a:schemeClr val="bg1"/>
                </a:solidFill>
              </a:rPr>
              <a:t>When standard matter provides RMS mass energy to the spacetime aether, it causes the spacetime energy to rise and the constituent Noether cores to deflate.</a:t>
            </a:r>
          </a:p>
        </p:txBody>
      </p:sp>
      <p:sp>
        <p:nvSpPr>
          <p:cNvPr id="4" name="Footer Placeholder 3">
            <a:extLst>
              <a:ext uri="{FF2B5EF4-FFF2-40B4-BE49-F238E27FC236}">
                <a16:creationId xmlns:a16="http://schemas.microsoft.com/office/drawing/2014/main" id="{2B5F665D-58EE-074F-AAAD-E624095EEFC2}"/>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Helvetica Neue" panose="02000503000000020004" pitchFamily="2" charset="0"/>
                <a:ea typeface="Helvetica Neue" panose="02000503000000020004" pitchFamily="2" charset="0"/>
                <a:cs typeface="Helvetica Neue" panose="02000503000000020004" pitchFamily="2" charset="0"/>
              </a:rPr>
              <a:t>J Mark Morris - Model of Nature - May 2019</a:t>
            </a:r>
            <a:endParaRPr kumimoji="0" lang="en-US" sz="1200" b="0" i="0" u="none" strike="noStrike" kern="1200" cap="none" spc="0" normalizeH="0" baseline="0" noProof="0" dirty="0">
              <a:ln>
                <a:noFill/>
              </a:ln>
              <a:solidFill>
                <a:prstClr val="black">
                  <a:tint val="75000"/>
                </a:prstClr>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Tree>
    <p:extLst>
      <p:ext uri="{BB962C8B-B14F-4D97-AF65-F5344CB8AC3E}">
        <p14:creationId xmlns:p14="http://schemas.microsoft.com/office/powerpoint/2010/main" val="175070042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C171C8-6518-9C4C-99FA-279F594C8E67}"/>
              </a:ext>
            </a:extLst>
          </p:cNvPr>
          <p:cNvSpPr>
            <a:spLocks noGrp="1"/>
          </p:cNvSpPr>
          <p:nvPr>
            <p:ph type="title"/>
          </p:nvPr>
        </p:nvSpPr>
        <p:spPr/>
        <p:txBody>
          <a:bodyPr/>
          <a:lstStyle/>
          <a:p>
            <a:r>
              <a:rPr lang="en-US" dirty="0"/>
              <a:t>Unification of the Four Forces</a:t>
            </a:r>
          </a:p>
        </p:txBody>
      </p:sp>
      <p:sp>
        <p:nvSpPr>
          <p:cNvPr id="3" name="Content Placeholder 2">
            <a:extLst>
              <a:ext uri="{FF2B5EF4-FFF2-40B4-BE49-F238E27FC236}">
                <a16:creationId xmlns:a16="http://schemas.microsoft.com/office/drawing/2014/main" id="{5DBFD086-826D-C347-BC0F-0E293D5D92CB}"/>
              </a:ext>
            </a:extLst>
          </p:cNvPr>
          <p:cNvSpPr>
            <a:spLocks noGrp="1"/>
          </p:cNvSpPr>
          <p:nvPr>
            <p:ph idx="1"/>
          </p:nvPr>
        </p:nvSpPr>
        <p:spPr>
          <a:xfrm>
            <a:off x="838200" y="1295400"/>
            <a:ext cx="6194083" cy="4881563"/>
          </a:xfrm>
        </p:spPr>
        <p:txBody>
          <a:bodyPr>
            <a:normAutofit/>
          </a:bodyPr>
          <a:lstStyle/>
          <a:p>
            <a:r>
              <a:rPr lang="en-US" dirty="0"/>
              <a:t>Photons have a 6/6 composition of electrinos and positrinos. </a:t>
            </a:r>
          </a:p>
          <a:p>
            <a:r>
              <a:rPr lang="en-US" dirty="0"/>
              <a:t>Superfluid is mostly slow photons and neutrinos, around 2.7 Kelvin. </a:t>
            </a:r>
          </a:p>
          <a:p>
            <a:r>
              <a:rPr lang="en-US" dirty="0"/>
              <a:t>The chart shows gravity beginning near 10</a:t>
            </a:r>
            <a:r>
              <a:rPr lang="en-US" baseline="30000" dirty="0"/>
              <a:t>-32 </a:t>
            </a:r>
            <a:r>
              <a:rPr lang="en-US" dirty="0"/>
              <a:t>Kelvin and 10</a:t>
            </a:r>
            <a:r>
              <a:rPr lang="en-US" baseline="30000" dirty="0"/>
              <a:t>-43 </a:t>
            </a:r>
            <a:r>
              <a:rPr lang="en-US" dirty="0"/>
              <a:t>seconds. </a:t>
            </a:r>
          </a:p>
          <a:p>
            <a:r>
              <a:rPr lang="en-US" dirty="0"/>
              <a:t>It seems that the emergence of the spacetime aether is primarily due to </a:t>
            </a:r>
            <a:r>
              <a:rPr lang="en-US" dirty="0" err="1"/>
              <a:t>redshifting</a:t>
            </a:r>
            <a:r>
              <a:rPr lang="en-US" dirty="0"/>
              <a:t> photons and neutrinos.</a:t>
            </a:r>
          </a:p>
        </p:txBody>
      </p:sp>
      <p:sp>
        <p:nvSpPr>
          <p:cNvPr id="4" name="Footer Placeholder 3">
            <a:extLst>
              <a:ext uri="{FF2B5EF4-FFF2-40B4-BE49-F238E27FC236}">
                <a16:creationId xmlns:a16="http://schemas.microsoft.com/office/drawing/2014/main" id="{57FD0D29-16FB-D945-B13D-2586D22D3368}"/>
              </a:ext>
            </a:extLst>
          </p:cNvPr>
          <p:cNvSpPr>
            <a:spLocks noGrp="1"/>
          </p:cNvSpPr>
          <p:nvPr>
            <p:ph type="ftr" sz="quarter" idx="11"/>
          </p:nvPr>
        </p:nvSpPr>
        <p:spPr/>
        <p: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Helvetica Neue" panose="02000503000000020004" pitchFamily="2" charset="0"/>
                <a:ea typeface="Helvetica Neue" panose="02000503000000020004" pitchFamily="2" charset="0"/>
                <a:cs typeface="Helvetica Neue" panose="02000503000000020004" pitchFamily="2" charset="0"/>
              </a:rPr>
              <a:t>J Mark Morris - Model of Nature - June 2019</a:t>
            </a:r>
          </a:p>
        </p:txBody>
      </p:sp>
      <p:grpSp>
        <p:nvGrpSpPr>
          <p:cNvPr id="7" name="Group 6">
            <a:extLst>
              <a:ext uri="{FF2B5EF4-FFF2-40B4-BE49-F238E27FC236}">
                <a16:creationId xmlns:a16="http://schemas.microsoft.com/office/drawing/2014/main" id="{10268E70-F9FA-C547-A11C-048607DCC3F0}"/>
              </a:ext>
            </a:extLst>
          </p:cNvPr>
          <p:cNvGrpSpPr/>
          <p:nvPr/>
        </p:nvGrpSpPr>
        <p:grpSpPr>
          <a:xfrm>
            <a:off x="7032284" y="1436637"/>
            <a:ext cx="5159716" cy="3751439"/>
            <a:chOff x="7032284" y="1436637"/>
            <a:chExt cx="5159716" cy="3751439"/>
          </a:xfrm>
        </p:grpSpPr>
        <p:pic>
          <p:nvPicPr>
            <p:cNvPr id="5" name="Picture 4">
              <a:extLst>
                <a:ext uri="{FF2B5EF4-FFF2-40B4-BE49-F238E27FC236}">
                  <a16:creationId xmlns:a16="http://schemas.microsoft.com/office/drawing/2014/main" id="{1DA8E8D6-34C5-F645-B6AC-11846AFE25AB}"/>
                </a:ext>
              </a:extLst>
            </p:cNvPr>
            <p:cNvPicPr>
              <a:picLocks noChangeAspect="1"/>
            </p:cNvPicPr>
            <p:nvPr/>
          </p:nvPicPr>
          <p:blipFill>
            <a:blip r:embed="rId3"/>
            <a:stretch>
              <a:fillRect/>
            </a:stretch>
          </p:blipFill>
          <p:spPr>
            <a:xfrm>
              <a:off x="7032284" y="1436637"/>
              <a:ext cx="5159716" cy="3744082"/>
            </a:xfrm>
            <a:prstGeom prst="rect">
              <a:avLst/>
            </a:prstGeom>
          </p:spPr>
        </p:pic>
        <p:sp>
          <p:nvSpPr>
            <p:cNvPr id="6" name="TextBox 5">
              <a:extLst>
                <a:ext uri="{FF2B5EF4-FFF2-40B4-BE49-F238E27FC236}">
                  <a16:creationId xmlns:a16="http://schemas.microsoft.com/office/drawing/2014/main" id="{6CAD5D9E-AE68-3643-BB9E-AF7410EF3FCB}"/>
                </a:ext>
              </a:extLst>
            </p:cNvPr>
            <p:cNvSpPr txBox="1"/>
            <p:nvPr/>
          </p:nvSpPr>
          <p:spPr>
            <a:xfrm>
              <a:off x="10536194" y="4941855"/>
              <a:ext cx="1407758" cy="24622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dirty="0">
                  <a:ln>
                    <a:noFill/>
                  </a:ln>
                  <a:solidFill>
                    <a:prstClr val="black">
                      <a:lumMod val="50000"/>
                      <a:lumOff val="50000"/>
                    </a:prstClr>
                  </a:solidFill>
                  <a:effectLst/>
                  <a:uLnTx/>
                  <a:uFillTx/>
                  <a:latin typeface="Helvetica Neue" panose="02000503000000020004" pitchFamily="2" charset="0"/>
                  <a:ea typeface="Helvetica Neue" panose="02000503000000020004" pitchFamily="2" charset="0"/>
                  <a:cs typeface="Helvetica Neue" panose="02000503000000020004" pitchFamily="2" charset="0"/>
                </a:rPr>
                <a:t>Credit: Colby College</a:t>
              </a:r>
            </a:p>
          </p:txBody>
        </p:sp>
      </p:grpSp>
    </p:spTree>
    <p:extLst>
      <p:ext uri="{BB962C8B-B14F-4D97-AF65-F5344CB8AC3E}">
        <p14:creationId xmlns:p14="http://schemas.microsoft.com/office/powerpoint/2010/main" val="177748501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p:cNvGrpSpPr/>
        <p:nvPr/>
      </p:nvGrpSpPr>
      <p:grpSpPr>
        <a:xfrm>
          <a:off x="0" y="0"/>
          <a:ext cx="0" cy="0"/>
          <a:chOff x="0" y="0"/>
          <a:chExt cx="0" cy="0"/>
        </a:xfrm>
      </p:grpSpPr>
      <p:pic>
        <p:nvPicPr>
          <p:cNvPr id="2050" name="Picture 2">
            <a:extLst>
              <a:ext uri="{FF2B5EF4-FFF2-40B4-BE49-F238E27FC236}">
                <a16:creationId xmlns:a16="http://schemas.microsoft.com/office/drawing/2014/main" id="{BDEB983A-A656-8D89-E8EB-FCEBD888164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65250" y="469900"/>
            <a:ext cx="9461500" cy="5918200"/>
          </a:xfrm>
          <a:prstGeom prst="rect">
            <a:avLst/>
          </a:prstGeom>
          <a:noFill/>
          <a:ln w="76200">
            <a:solidFill>
              <a:schemeClr val="bg1"/>
            </a:solidFill>
          </a:ln>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E52D0E94-A2EB-94DC-09A9-7F44EE70ECB1}"/>
              </a:ext>
            </a:extLst>
          </p:cNvPr>
          <p:cNvSpPr txBox="1"/>
          <p:nvPr/>
        </p:nvSpPr>
        <p:spPr>
          <a:xfrm>
            <a:off x="2129742" y="5061646"/>
            <a:ext cx="1031051"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rPr>
              <a:t>Quantum</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rPr>
              <a:t>Gravity</a:t>
            </a:r>
          </a:p>
        </p:txBody>
      </p:sp>
      <p:sp>
        <p:nvSpPr>
          <p:cNvPr id="4" name="TextBox 3">
            <a:extLst>
              <a:ext uri="{FF2B5EF4-FFF2-40B4-BE49-F238E27FC236}">
                <a16:creationId xmlns:a16="http://schemas.microsoft.com/office/drawing/2014/main" id="{363866A5-4442-083F-DDDE-62B8E83FA88A}"/>
              </a:ext>
            </a:extLst>
          </p:cNvPr>
          <p:cNvSpPr txBox="1"/>
          <p:nvPr/>
        </p:nvSpPr>
        <p:spPr>
          <a:xfrm>
            <a:off x="3833150" y="5307867"/>
            <a:ext cx="907621"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rPr>
              <a:t>Inflation</a:t>
            </a:r>
          </a:p>
        </p:txBody>
      </p:sp>
      <p:sp>
        <p:nvSpPr>
          <p:cNvPr id="5" name="TextBox 4">
            <a:extLst>
              <a:ext uri="{FF2B5EF4-FFF2-40B4-BE49-F238E27FC236}">
                <a16:creationId xmlns:a16="http://schemas.microsoft.com/office/drawing/2014/main" id="{FDB1D1FB-CA30-4E81-2C7A-1916C0FC2EB2}"/>
              </a:ext>
            </a:extLst>
          </p:cNvPr>
          <p:cNvSpPr txBox="1"/>
          <p:nvPr/>
        </p:nvSpPr>
        <p:spPr>
          <a:xfrm>
            <a:off x="6241445" y="5061646"/>
            <a:ext cx="1356461" cy="58477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70C0"/>
                </a:solidFill>
                <a:effectLst/>
                <a:uLnTx/>
                <a:uFillTx/>
                <a:latin typeface="Helvetica Neue" panose="02000503000000020004" pitchFamily="2" charset="0"/>
                <a:ea typeface="Helvetica Neue" panose="02000503000000020004" pitchFamily="2" charset="0"/>
                <a:cs typeface="Helvetica Neue" panose="02000503000000020004" pitchFamily="2" charset="0"/>
              </a:rPr>
              <a:t>Qu</a:t>
            </a:r>
            <a:r>
              <a:rPr kumimoji="0" lang="en-US" sz="1600" b="0" i="0" u="none" strike="noStrike" kern="1200" cap="none" spc="0" normalizeH="0" baseline="0" noProof="0" dirty="0">
                <a:ln>
                  <a:noFill/>
                </a:ln>
                <a:solidFill>
                  <a:srgbClr val="FF0000"/>
                </a:solidFill>
                <a:effectLst/>
                <a:uLnTx/>
                <a:uFillTx/>
                <a:latin typeface="Helvetica Neue" panose="02000503000000020004" pitchFamily="2" charset="0"/>
                <a:ea typeface="Helvetica Neue" panose="02000503000000020004" pitchFamily="2" charset="0"/>
                <a:cs typeface="Helvetica Neue" panose="02000503000000020004" pitchFamily="2" charset="0"/>
              </a:rPr>
              <a:t>ark</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rPr>
              <a:t>Confinement</a:t>
            </a:r>
          </a:p>
        </p:txBody>
      </p:sp>
      <p:sp>
        <p:nvSpPr>
          <p:cNvPr id="6" name="TextBox 5">
            <a:extLst>
              <a:ext uri="{FF2B5EF4-FFF2-40B4-BE49-F238E27FC236}">
                <a16:creationId xmlns:a16="http://schemas.microsoft.com/office/drawing/2014/main" id="{D55B057B-F8DD-47CA-AC9D-9570270CF5FA}"/>
              </a:ext>
            </a:extLst>
          </p:cNvPr>
          <p:cNvSpPr txBox="1"/>
          <p:nvPr/>
        </p:nvSpPr>
        <p:spPr>
          <a:xfrm>
            <a:off x="7531401" y="5061646"/>
            <a:ext cx="1414041" cy="58477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7030A0"/>
                </a:solidFill>
                <a:effectLst/>
                <a:uLnTx/>
                <a:uFillTx/>
                <a:latin typeface="Helvetica Neue" panose="02000503000000020004" pitchFamily="2" charset="0"/>
                <a:ea typeface="Helvetica Neue" panose="02000503000000020004" pitchFamily="2" charset="0"/>
                <a:cs typeface="Helvetica Neue" panose="02000503000000020004" pitchFamily="2" charset="0"/>
              </a:rPr>
              <a:t>Neutrino</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7030A0"/>
                </a:solidFill>
                <a:effectLst/>
                <a:uLnTx/>
                <a:uFillTx/>
                <a:latin typeface="Helvetica Neue" panose="02000503000000020004" pitchFamily="2" charset="0"/>
                <a:ea typeface="Helvetica Neue" panose="02000503000000020004" pitchFamily="2" charset="0"/>
                <a:cs typeface="Helvetica Neue" panose="02000503000000020004" pitchFamily="2" charset="0"/>
              </a:rPr>
              <a:t>Transparency</a:t>
            </a:r>
          </a:p>
        </p:txBody>
      </p:sp>
      <p:sp>
        <p:nvSpPr>
          <p:cNvPr id="7" name="TextBox 6">
            <a:extLst>
              <a:ext uri="{FF2B5EF4-FFF2-40B4-BE49-F238E27FC236}">
                <a16:creationId xmlns:a16="http://schemas.microsoft.com/office/drawing/2014/main" id="{DF521C23-84D3-B8BF-9D33-B5BD1E891D41}"/>
              </a:ext>
            </a:extLst>
          </p:cNvPr>
          <p:cNvSpPr txBox="1"/>
          <p:nvPr/>
        </p:nvSpPr>
        <p:spPr>
          <a:xfrm>
            <a:off x="8843361" y="5061646"/>
            <a:ext cx="1414041" cy="58477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7030A0"/>
                </a:solidFill>
                <a:effectLst/>
                <a:uLnTx/>
                <a:uFillTx/>
                <a:latin typeface="Helvetica Neue" panose="02000503000000020004" pitchFamily="2" charset="0"/>
                <a:ea typeface="Helvetica Neue" panose="02000503000000020004" pitchFamily="2" charset="0"/>
                <a:cs typeface="Helvetica Neue" panose="02000503000000020004" pitchFamily="2" charset="0"/>
              </a:rPr>
              <a:t>Photon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7030A0"/>
                </a:solidFill>
                <a:effectLst/>
                <a:uLnTx/>
                <a:uFillTx/>
                <a:latin typeface="Helvetica Neue" panose="02000503000000020004" pitchFamily="2" charset="0"/>
                <a:ea typeface="Helvetica Neue" panose="02000503000000020004" pitchFamily="2" charset="0"/>
                <a:cs typeface="Helvetica Neue" panose="02000503000000020004" pitchFamily="2" charset="0"/>
              </a:rPr>
              <a:t>Transparency</a:t>
            </a:r>
          </a:p>
        </p:txBody>
      </p:sp>
    </p:spTree>
    <p:extLst>
      <p:ext uri="{BB962C8B-B14F-4D97-AF65-F5344CB8AC3E}">
        <p14:creationId xmlns:p14="http://schemas.microsoft.com/office/powerpoint/2010/main" val="158882356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p:cNvGrpSpPr/>
        <p:nvPr/>
      </p:nvGrpSpPr>
      <p:grpSpPr>
        <a:xfrm>
          <a:off x="0" y="0"/>
          <a:ext cx="0" cy="0"/>
          <a:chOff x="0" y="0"/>
          <a:chExt cx="0" cy="0"/>
        </a:xfrm>
      </p:grpSpPr>
      <p:sp>
        <p:nvSpPr>
          <p:cNvPr id="5" name="Footer Placeholder 3">
            <a:extLst>
              <a:ext uri="{FF2B5EF4-FFF2-40B4-BE49-F238E27FC236}">
                <a16:creationId xmlns:a16="http://schemas.microsoft.com/office/drawing/2014/main" id="{668F77D6-DFDA-5A46-8DF1-47F6A167C2B1}"/>
              </a:ext>
            </a:extLst>
          </p:cNvPr>
          <p:cNvSpPr txBox="1">
            <a:spLocks/>
          </p:cNvSpPr>
          <p:nvPr/>
        </p:nvSpPr>
        <p:spPr>
          <a:xfrm>
            <a:off x="10924248" y="6388602"/>
            <a:ext cx="1142262"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Helvetica Neue" panose="02000503000000020004" pitchFamily="2" charset="0"/>
                <a:ea typeface="Helvetica Neue" panose="02000503000000020004" pitchFamily="2" charset="0"/>
                <a:cs typeface="Helvetica Neue" panose="02000503000000020004" pitchFamily="2" charset="0"/>
              </a:rPr>
              <a:t>J Mark Morris</a:t>
            </a:r>
          </a:p>
        </p:txBody>
      </p:sp>
      <p:sp>
        <p:nvSpPr>
          <p:cNvPr id="19" name="Rectangle 18">
            <a:extLst>
              <a:ext uri="{FF2B5EF4-FFF2-40B4-BE49-F238E27FC236}">
                <a16:creationId xmlns:a16="http://schemas.microsoft.com/office/drawing/2014/main" id="{C1D15DA8-274F-5947-B33A-2CC9705A3468}"/>
              </a:ext>
            </a:extLst>
          </p:cNvPr>
          <p:cNvSpPr/>
          <p:nvPr/>
        </p:nvSpPr>
        <p:spPr>
          <a:xfrm>
            <a:off x="1013582" y="241177"/>
            <a:ext cx="10164835" cy="523220"/>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Noether Core Symmetry Breaking Binary and Determinism</a:t>
            </a:r>
          </a:p>
        </p:txBody>
      </p:sp>
      <p:sp>
        <p:nvSpPr>
          <p:cNvPr id="2" name="TextBox 1">
            <a:extLst>
              <a:ext uri="{FF2B5EF4-FFF2-40B4-BE49-F238E27FC236}">
                <a16:creationId xmlns:a16="http://schemas.microsoft.com/office/drawing/2014/main" id="{7DB03928-EBCC-FBA2-4139-45199C922898}"/>
              </a:ext>
            </a:extLst>
          </p:cNvPr>
          <p:cNvSpPr txBox="1"/>
          <p:nvPr/>
        </p:nvSpPr>
        <p:spPr>
          <a:xfrm>
            <a:off x="191869" y="1028442"/>
            <a:ext cx="11874641" cy="4154984"/>
          </a:xfrm>
          <a:prstGeom prst="rect">
            <a:avLst/>
          </a:prstGeom>
          <a:noFill/>
        </p:spPr>
        <p:txBody>
          <a:bodyPr wrap="square" rtlCol="0">
            <a:spAutoFit/>
          </a:bodyPr>
          <a:lstStyle/>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Hypothesis: The generation II dipole has velocity @, the symmetry breaking point.</a:t>
            </a:r>
          </a:p>
          <a:p>
            <a:pPr marL="914400" marR="0" lvl="1"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v = @ corresponds to the Planck scale </a:t>
            </a:r>
          </a:p>
          <a:p>
            <a:pPr marL="914400" marR="0" lvl="1"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2 </a:t>
            </a:r>
            <a:r>
              <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𝜋</a:t>
            </a:r>
            <a:r>
              <a:rPr kumimoji="0" lang="en-US" sz="24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 r </a:t>
            </a:r>
            <a:r>
              <a:rPr kumimoji="0" lang="en-US" sz="2400" b="0" i="0" u="none" strike="noStrike" kern="1200" cap="none" spc="0" normalizeH="0" baseline="0" noProof="0" dirty="0" err="1">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f</a:t>
            </a:r>
            <a:r>
              <a:rPr kumimoji="0" lang="en-US" sz="2400" b="0" i="0" u="none" strike="noStrike" kern="1200" cap="none" spc="0" normalizeH="0" baseline="-25000" noProof="0" dirty="0" err="1">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P</a:t>
            </a:r>
            <a:r>
              <a:rPr kumimoji="0" lang="en-US" sz="24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 = @,  r = @ / (2 </a:t>
            </a:r>
            <a:r>
              <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𝜋</a:t>
            </a:r>
            <a:r>
              <a:rPr kumimoji="0" lang="en-US" sz="24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 </a:t>
            </a:r>
            <a:r>
              <a:rPr kumimoji="0" lang="en-US" sz="2400" b="0" i="0" u="none" strike="noStrike" kern="1200" cap="none" spc="0" normalizeH="0" baseline="0" noProof="0" dirty="0" err="1">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f</a:t>
            </a:r>
            <a:r>
              <a:rPr kumimoji="0" lang="en-US" sz="2400" b="0" i="0" u="none" strike="noStrike" kern="1200" cap="none" spc="0" normalizeH="0" baseline="-25000" noProof="0" dirty="0" err="1">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P</a:t>
            </a:r>
            <a:r>
              <a:rPr kumimoji="0" lang="en-US" sz="24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a:p>
            <a:pPr marL="914400" marR="0" lvl="1"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Planck length </a:t>
            </a:r>
            <a:r>
              <a:rPr kumimoji="0" lang="en-US" sz="2400" b="0" i="0" u="none" strike="noStrike" kern="1200" cap="none" spc="0" normalizeH="0" baseline="0" noProof="0" dirty="0" err="1">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l</a:t>
            </a:r>
            <a:r>
              <a:rPr kumimoji="0" lang="en-US" sz="2400" b="0" i="0" u="none" strike="noStrike" kern="1200" cap="none" spc="0" normalizeH="0" baseline="-25000" noProof="0" dirty="0" err="1">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P</a:t>
            </a:r>
            <a:r>
              <a:rPr kumimoji="0" lang="en-US" sz="24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 = sqrt (h-bar G/ c</a:t>
            </a:r>
            <a:r>
              <a:rPr kumimoji="0" lang="en-US" sz="2400" b="0" i="0" u="none" strike="noStrike" kern="1200" cap="none" spc="0" normalizeH="0" baseline="3000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3</a:t>
            </a:r>
            <a:r>
              <a:rPr kumimoji="0" lang="en-US" sz="24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a:p>
            <a:pPr marL="914400" marR="0" lvl="1"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Perhaps some of the other Planck constants relate here as well? clues?</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The symmetry breaking point is asymmetric </a:t>
            </a:r>
          </a:p>
          <a:p>
            <a:pPr marL="914400" marR="0" lvl="1"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The v &gt; @ </a:t>
            </a:r>
            <a:r>
              <a:rPr kumimoji="0" lang="en-US" sz="2400" b="0" i="0" u="none" strike="noStrike" kern="1200" cap="none" spc="0" normalizeH="0" baseline="0" noProof="0" dirty="0" err="1">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AdS</a:t>
            </a:r>
            <a:r>
              <a:rPr kumimoji="0" lang="en-US" sz="24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 “quanta” g is larger than the v &lt; @ CFT “quanta” h.</a:t>
            </a:r>
          </a:p>
          <a:p>
            <a:pPr marL="914400" marR="0" lvl="1"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Does this relate to the frequency relationship of f(I) and f(III)?</a:t>
            </a:r>
          </a:p>
          <a:p>
            <a:pPr marL="914400" marR="0" lvl="1"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In a NC, some kind of interplay occurs between gen I, II, and III where angular momentum does or does not get transferred from an external assembly.</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24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Tree>
    <p:extLst>
      <p:ext uri="{BB962C8B-B14F-4D97-AF65-F5344CB8AC3E}">
        <p14:creationId xmlns:p14="http://schemas.microsoft.com/office/powerpoint/2010/main" val="32816634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3.2"/>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wrap="none">
        <a:spAutoFit/>
      </a:bodyPr>
      <a:lstStyle>
        <a:defPPr algn="l">
          <a:defRPr sz="2400" dirty="0" smtClean="0">
            <a:latin typeface="Helvetica Neue" panose="02000503000000020004" pitchFamily="2" charset="0"/>
            <a:ea typeface="Helvetica Neue" panose="02000503000000020004" pitchFamily="2" charset="0"/>
            <a:cs typeface="Helvetica Neue" panose="02000503000000020004" pitchFamily="2" charset="0"/>
          </a:defRPr>
        </a:defPPr>
      </a:lstStyle>
    </a:spDef>
    <a:txDef>
      <a:spPr>
        <a:noFill/>
      </a:spPr>
      <a:bodyPr wrap="none" rtlCol="0">
        <a:spAutoFit/>
      </a:bodyPr>
      <a:lstStyle>
        <a:defPPr algn="l">
          <a:defRPr dirty="0" smtClean="0">
            <a:latin typeface="Helvetica Neue" panose="02000503000000020004" pitchFamily="2" charset="0"/>
            <a:ea typeface="Helvetica Neue" panose="02000503000000020004" pitchFamily="2" charset="0"/>
            <a:cs typeface="Helvetica Neue" panose="02000503000000020004" pitchFamily="2"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21313</TotalTime>
  <Words>3420</Words>
  <Application>Microsoft Macintosh PowerPoint</Application>
  <PresentationFormat>Widescreen</PresentationFormat>
  <Paragraphs>473</Paragraphs>
  <Slides>29</Slides>
  <Notes>11</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29</vt:i4>
      </vt:variant>
    </vt:vector>
  </HeadingPairs>
  <TitlesOfParts>
    <vt:vector size="37" baseType="lpstr">
      <vt:lpstr>Arial</vt:lpstr>
      <vt:lpstr>Calibri</vt:lpstr>
      <vt:lpstr>Calibri Light</vt:lpstr>
      <vt:lpstr>Helvetica Neue</vt:lpstr>
      <vt:lpstr>Helvetica Neue Condensed Black</vt:lpstr>
      <vt:lpstr>Helvetica Neue Light</vt:lpstr>
      <vt:lpstr>1_Office Theme</vt:lpstr>
      <vt:lpstr>2_Office Theme</vt:lpstr>
      <vt:lpstr>PowerPoint Presentation</vt:lpstr>
      <vt:lpstr>PowerPoint Presentation</vt:lpstr>
      <vt:lpstr>Noether Core Generations</vt:lpstr>
      <vt:lpstr>PowerPoint Presentation</vt:lpstr>
      <vt:lpstr>The Noether Energy Core</vt:lpstr>
      <vt:lpstr>PowerPoint Presentation</vt:lpstr>
      <vt:lpstr>PowerPoint Presentation</vt:lpstr>
      <vt:lpstr>PowerPoint Presentation</vt:lpstr>
      <vt:lpstr>PowerPoint Presentation</vt:lpstr>
      <vt:lpstr>PowerPoint Presentation</vt:lpstr>
      <vt:lpstr>PowerPoint Presentation</vt:lpstr>
      <vt:lpstr>Dynamics of Noether Cores</vt:lpstr>
      <vt:lpstr>Dynamics of the Noether Core</vt:lpstr>
      <vt:lpstr>Dynamics of the Noether Core</vt:lpstr>
      <vt:lpstr>Dynamics of the Noether Core - Ideation</vt:lpstr>
      <vt:lpstr>Noether Core Geometry and the Lorentz Factor</vt:lpstr>
      <vt:lpstr>Noether Core Geometry and the Lorentz Factor</vt:lpstr>
      <vt:lpstr>Brainstorming on Noether Core Dynamics</vt:lpstr>
      <vt:lpstr>Brainstorming on Noether Core Dynamics</vt:lpstr>
      <vt:lpstr>Brainstorming on Noether Core Oblation</vt:lpstr>
      <vt:lpstr>Some Fresh Thoughts on NC Operation</vt:lpstr>
      <vt:lpstr>Noether Core Symmetry Balancing</vt:lpstr>
      <vt:lpstr>Neutrino Oscillation</vt:lpstr>
      <vt:lpstr>PowerPoint Presentation</vt:lpstr>
      <vt:lpstr>The Four Forces of Nature</vt:lpstr>
      <vt:lpstr>The Gravitational Force</vt:lpstr>
      <vt:lpstr>Unification of the Four Forces</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NeoClassical Physics &amp; Quantum Gravity</dc:title>
  <dc:creator>Mark Morris</dc:creator>
  <cp:lastModifiedBy>Mark Morris</cp:lastModifiedBy>
  <cp:revision>165</cp:revision>
  <dcterms:created xsi:type="dcterms:W3CDTF">2019-06-10T19:11:01Z</dcterms:created>
  <dcterms:modified xsi:type="dcterms:W3CDTF">2026-07-03T17:29:02Z</dcterms:modified>
</cp:coreProperties>
</file>