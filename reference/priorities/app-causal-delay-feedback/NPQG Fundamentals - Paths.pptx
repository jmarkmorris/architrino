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Lst>
  <p:notesMasterIdLst>
    <p:notesMasterId r:id="rId23"/>
  </p:notesMasterIdLst>
  <p:sldIdLst>
    <p:sldId id="890" r:id="rId3"/>
    <p:sldId id="844" r:id="rId4"/>
    <p:sldId id="846" r:id="rId5"/>
    <p:sldId id="845" r:id="rId6"/>
    <p:sldId id="818" r:id="rId7"/>
    <p:sldId id="768" r:id="rId8"/>
    <p:sldId id="769" r:id="rId9"/>
    <p:sldId id="820" r:id="rId10"/>
    <p:sldId id="811" r:id="rId11"/>
    <p:sldId id="843" r:id="rId12"/>
    <p:sldId id="767" r:id="rId13"/>
    <p:sldId id="812" r:id="rId14"/>
    <p:sldId id="889" r:id="rId15"/>
    <p:sldId id="382" r:id="rId16"/>
    <p:sldId id="884" r:id="rId17"/>
    <p:sldId id="885" r:id="rId18"/>
    <p:sldId id="886" r:id="rId19"/>
    <p:sldId id="887" r:id="rId20"/>
    <p:sldId id="888" r:id="rId21"/>
    <p:sldId id="85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5FF"/>
    <a:srgbClr val="FF8AD8"/>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86"/>
    <p:restoredTop sz="97363"/>
  </p:normalViewPr>
  <p:slideViewPr>
    <p:cSldViewPr snapToGrid="0" snapToObjects="1">
      <p:cViewPr varScale="1">
        <p:scale>
          <a:sx n="182" d="100"/>
          <a:sy n="182" d="100"/>
        </p:scale>
        <p:origin x="336"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DA440-6FDE-5E41-BA40-A3C0E02BAB9F}" type="datetimeFigureOut">
              <a:rPr lang="en-US" smtClean="0"/>
              <a:t>11/27/24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398A3-AF21-A342-B6A8-6929C36BB1BF}" type="slidenum">
              <a:rPr lang="en-US" smtClean="0"/>
              <a:t>‹#›</a:t>
            </a:fld>
            <a:endParaRPr lang="en-US"/>
          </a:p>
        </p:txBody>
      </p:sp>
    </p:spTree>
    <p:extLst>
      <p:ext uri="{BB962C8B-B14F-4D97-AF65-F5344CB8AC3E}">
        <p14:creationId xmlns:p14="http://schemas.microsoft.com/office/powerpoint/2010/main" val="3368869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4FD5E-E4A1-869A-87AC-4D8560C3A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4D260-7D14-DF6F-8DA8-28937DE9D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A7B81-68A0-4528-3EA2-B6C48D555A49}"/>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273AC267-9E54-7CAF-A5D8-FE3E621ED2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2151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mathematics, the Dirac delta distribution (</a:t>
            </a:r>
            <a:r>
              <a:rPr lang="el-GR" dirty="0"/>
              <a:t>δ </a:t>
            </a:r>
            <a:r>
              <a:rPr lang="en-US" dirty="0"/>
              <a:t>distribution), also known as the unit impulse symbol, is a generalized function or distribution over the real numbers, whose value is zero everywhere except at zero, and whose integral over the entire real line is equal to one. - Wikipedia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0550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7B214-35E5-40E6-ED8E-2D7C6DAB0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B170F-C727-57B1-1343-0F8509F3A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81E51D-982C-C58E-5C9D-E60D1957190A}"/>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mathematics, the Dirac delta distribution (</a:t>
            </a:r>
            <a:r>
              <a:rPr lang="el-GR" dirty="0"/>
              <a:t>δ </a:t>
            </a:r>
            <a:r>
              <a:rPr lang="en-US" dirty="0"/>
              <a:t>distribution), also known as the unit impulse symbol, is a generalized function or distribution over the real numbers, whose value is zero everywhere except at zero, and whose integral over the entire real line is equal to one. - Wikipedia</a:t>
            </a:r>
          </a:p>
        </p:txBody>
      </p:sp>
      <p:sp>
        <p:nvSpPr>
          <p:cNvPr id="4" name="Slide Number Placeholder 3">
            <a:extLst>
              <a:ext uri="{FF2B5EF4-FFF2-40B4-BE49-F238E27FC236}">
                <a16:creationId xmlns:a16="http://schemas.microsoft.com/office/drawing/2014/main" id="{3694923C-44A0-8AF2-498D-3125889DDC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822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231E5-42FD-4E85-EE2F-519914DCA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49BD2-3448-0850-3F07-5ABBD141E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4BDE8-5673-C9F6-F2F2-B5547A5D45F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mathematics, the Dirac delta distribution (</a:t>
            </a:r>
            <a:r>
              <a:rPr lang="el-GR" dirty="0"/>
              <a:t>δ </a:t>
            </a:r>
            <a:r>
              <a:rPr lang="en-US" dirty="0"/>
              <a:t>distribution), also known as the unit impulse symbol, is a generalized function or distribution over the real numbers, whose value is zero everywhere except at zero, and whose integral over the entire real line is equal to one. - Wikipedia</a:t>
            </a:r>
          </a:p>
        </p:txBody>
      </p:sp>
      <p:sp>
        <p:nvSpPr>
          <p:cNvPr id="4" name="Slide Number Placeholder 3">
            <a:extLst>
              <a:ext uri="{FF2B5EF4-FFF2-40B4-BE49-F238E27FC236}">
                <a16:creationId xmlns:a16="http://schemas.microsoft.com/office/drawing/2014/main" id="{C189F22E-58E9-2143-1D57-A988438B21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871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mathematics, the Dirac delta distribution (</a:t>
            </a:r>
            <a:r>
              <a:rPr lang="el-GR" dirty="0"/>
              <a:t>δ </a:t>
            </a:r>
            <a:r>
              <a:rPr lang="en-US" dirty="0"/>
              <a:t>distribution), also known as the unit impulse symbol, is a generalized function or distribution over the real numbers, whose value is zero everywhere except at zero, and whose integral over the entire real line is equal to one. - Wikipedia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6986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mathematics, the Dirac delta distribution (</a:t>
            </a:r>
            <a:r>
              <a:rPr lang="el-GR" dirty="0"/>
              <a:t>δ </a:t>
            </a:r>
            <a:r>
              <a:rPr lang="en-US" dirty="0"/>
              <a:t>distribution), also known as the unit impulse symbol, is a generalized function or distribution over the real numbers, whose value is zero everywhere except at zero, and whose integral over the entire real line is equal to one. - Wikipedia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3754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mathematics, the Dirac delta distribution (</a:t>
            </a:r>
            <a:r>
              <a:rPr lang="el-GR" dirty="0"/>
              <a:t>δ </a:t>
            </a:r>
            <a:r>
              <a:rPr lang="en-US" dirty="0"/>
              <a:t>distribution), also known as the unit impulse symbol, is a generalized function or distribution over the real numbers, whose value is zero everywhere except at zero, and whose integral over the entire real line is equal to one. - Wikipedia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2911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rtl="0">
              <a:spcBef>
                <a:spcPts val="0"/>
              </a:spcBef>
              <a:spcAft>
                <a:spcPts val="0"/>
              </a:spcAft>
            </a:pPr>
            <a:r>
              <a:rPr lang="en-US" sz="1800" dirty="0" err="1">
                <a:effectLst/>
                <a:latin typeface="Helvetica Neue" panose="02000503000000020004" pitchFamily="2" charset="0"/>
              </a:rPr>
              <a:t>Lienard</a:t>
            </a:r>
            <a:r>
              <a:rPr lang="en-US" sz="1800" dirty="0">
                <a:effectLst/>
                <a:latin typeface="Helvetica Neue" panose="02000503000000020004" pitchFamily="2" charset="0"/>
              </a:rPr>
              <a:t> and </a:t>
            </a:r>
            <a:r>
              <a:rPr lang="en-US" sz="1800" dirty="0" err="1">
                <a:effectLst/>
                <a:latin typeface="Helvetica Neue" panose="02000503000000020004" pitchFamily="2" charset="0"/>
              </a:rPr>
              <a:t>Wiechert</a:t>
            </a:r>
            <a:r>
              <a:rPr lang="en-US" sz="1800" dirty="0">
                <a:effectLst/>
                <a:latin typeface="Helvetica Neue" panose="02000503000000020004" pitchFamily="2" charset="0"/>
              </a:rPr>
              <a:t> were scientists.</a:t>
            </a:r>
          </a:p>
          <a:p>
            <a:pPr marL="0" marR="0" rtl="0">
              <a:spcBef>
                <a:spcPts val="0"/>
              </a:spcBef>
              <a:spcAft>
                <a:spcPts val="0"/>
              </a:spcAft>
            </a:pPr>
            <a:r>
              <a:rPr lang="en-US" sz="1800" dirty="0">
                <a:effectLst/>
                <a:latin typeface="Helvetica Neue" panose="02000503000000020004" pitchFamily="2" charset="0"/>
              </a:rPr>
              <a:t>Among the areas they each researched were point charges, the paths of point charges, the history of the potential emitted by point charges, and the action on point charges when potential intersects with them.</a:t>
            </a:r>
          </a:p>
          <a:p>
            <a:pPr marL="0" marR="0" rtl="0">
              <a:spcBef>
                <a:spcPts val="0"/>
              </a:spcBef>
              <a:spcAft>
                <a:spcPts val="0"/>
              </a:spcAft>
            </a:pPr>
            <a:r>
              <a:rPr lang="en-US" sz="1800" dirty="0">
                <a:effectLst/>
                <a:latin typeface="Helvetica Neue" panose="02000503000000020004" pitchFamily="2" charset="0"/>
              </a:rPr>
              <a:t>Shown in this figure are two point charges A and B.</a:t>
            </a:r>
          </a:p>
          <a:p>
            <a:pPr marL="0" marR="0" rtl="0">
              <a:spcBef>
                <a:spcPts val="0"/>
              </a:spcBef>
              <a:spcAft>
                <a:spcPts val="0"/>
              </a:spcAft>
            </a:pPr>
            <a:r>
              <a:rPr lang="en-US" sz="1800" dirty="0">
                <a:effectLst/>
                <a:latin typeface="Helvetica Neue" panose="02000503000000020004" pitchFamily="2" charset="0"/>
              </a:rPr>
              <a:t>They move around through space and time on a path.</a:t>
            </a:r>
          </a:p>
          <a:p>
            <a:pPr marL="0" marR="0" rtl="0">
              <a:spcBef>
                <a:spcPts val="0"/>
              </a:spcBef>
              <a:spcAft>
                <a:spcPts val="0"/>
              </a:spcAft>
            </a:pPr>
            <a:r>
              <a:rPr lang="en-US" sz="1800" dirty="0">
                <a:effectLst/>
                <a:latin typeface="Helvetica Neue" panose="02000503000000020004" pitchFamily="2" charset="0"/>
              </a:rPr>
              <a:t>That movement is due to the action upon those point charges from all intersecting potential waves.</a:t>
            </a:r>
          </a:p>
          <a:p>
            <a:pPr marL="0" marR="0" rtl="0">
              <a:spcBef>
                <a:spcPts val="0"/>
              </a:spcBef>
              <a:spcAft>
                <a:spcPts val="0"/>
              </a:spcAft>
            </a:pPr>
            <a:r>
              <a:rPr lang="en-US" sz="1800" dirty="0">
                <a:effectLst/>
                <a:latin typeface="Helvetica Neue" panose="02000503000000020004" pitchFamily="2" charset="0"/>
              </a:rPr>
              <a:t>Let's start by looking at the influence that point charge A has on point charge B at time t.</a:t>
            </a:r>
          </a:p>
          <a:p>
            <a:pPr marL="0" marR="0" rtl="0">
              <a:spcBef>
                <a:spcPts val="0"/>
              </a:spcBef>
              <a:spcAft>
                <a:spcPts val="0"/>
              </a:spcAft>
            </a:pPr>
            <a:r>
              <a:rPr lang="en-US" sz="1800" dirty="0">
                <a:effectLst/>
                <a:latin typeface="Helvetica Neue" panose="02000503000000020004" pitchFamily="2" charset="0"/>
              </a:rPr>
              <a:t>What we see is that at time t', point charge A has emitted potential that expands spherically and intersects point charge B at time t.</a:t>
            </a:r>
          </a:p>
          <a:p>
            <a:pPr marL="0" marR="0" rtl="0">
              <a:spcBef>
                <a:spcPts val="0"/>
              </a:spcBef>
              <a:spcAft>
                <a:spcPts val="0"/>
              </a:spcAft>
            </a:pPr>
            <a:r>
              <a:rPr lang="en-US" sz="1800" dirty="0">
                <a:effectLst/>
                <a:latin typeface="Helvetica Neue" panose="02000503000000020004" pitchFamily="2" charset="0"/>
              </a:rPr>
              <a:t>The radius of a spherical potential wave increases at the universal constant field speed, which I have given the at sign symbol. </a:t>
            </a:r>
          </a:p>
          <a:p>
            <a:pPr marL="0" marR="0" rtl="0">
              <a:spcBef>
                <a:spcPts val="0"/>
              </a:spcBef>
              <a:spcAft>
                <a:spcPts val="0"/>
              </a:spcAft>
            </a:pPr>
            <a:r>
              <a:rPr lang="en-US" sz="1800" dirty="0">
                <a:effectLst/>
                <a:latin typeface="Helvetica Neue" panose="02000503000000020004" pitchFamily="2" charset="0"/>
              </a:rPr>
              <a:t>The speed of potential is not the same as the speed of light, c, although they are related, which will be explained in a future episode.</a:t>
            </a:r>
          </a:p>
          <a:p>
            <a:pPr marL="0" marR="0" rtl="0">
              <a:spcBef>
                <a:spcPts val="0"/>
              </a:spcBef>
              <a:spcAft>
                <a:spcPts val="0"/>
              </a:spcAft>
            </a:pPr>
            <a:r>
              <a:rPr lang="en-US" sz="1800" dirty="0">
                <a:effectLst/>
                <a:latin typeface="Helvetica Neue" panose="02000503000000020004" pitchFamily="2" charset="0"/>
              </a:rPr>
              <a:t>What we see is that there is a delay. It's not that the current position of A impacts B at time t.</a:t>
            </a:r>
          </a:p>
          <a:p>
            <a:pPr marL="0" marR="0" rtl="0">
              <a:spcBef>
                <a:spcPts val="0"/>
              </a:spcBef>
              <a:spcAft>
                <a:spcPts val="0"/>
              </a:spcAft>
            </a:pPr>
            <a:r>
              <a:rPr lang="en-US" sz="1800" dirty="0">
                <a:effectLst/>
                <a:latin typeface="Helvetica Neue" panose="02000503000000020004" pitchFamily="2" charset="0"/>
              </a:rPr>
              <a:t>Rather it is a historical position on A's path where A emitted potential that now intersects B at time t. </a:t>
            </a:r>
          </a:p>
          <a:p>
            <a:pPr marL="0" marR="0" rtl="0">
              <a:spcBef>
                <a:spcPts val="0"/>
              </a:spcBef>
              <a:spcAft>
                <a:spcPts val="0"/>
              </a:spcAft>
            </a:pPr>
            <a:r>
              <a:rPr lang="en-US" sz="1800" dirty="0">
                <a:effectLst/>
                <a:latin typeface="Helvetica Neue" panose="02000503000000020004" pitchFamily="2" charset="0"/>
              </a:rPr>
              <a:t>The distance between A(t') and B(t) is given by field speed multiplied by the time difference between t' and t.</a:t>
            </a:r>
          </a:p>
          <a:p>
            <a:pPr marL="0" marR="0" rtl="0">
              <a:spcBef>
                <a:spcPts val="0"/>
              </a:spcBef>
              <a:spcAft>
                <a:spcPts val="0"/>
              </a:spcAft>
            </a:pPr>
            <a:r>
              <a:rPr lang="en-US" sz="1800" dirty="0">
                <a:effectLst/>
                <a:latin typeface="Helvetica Neue" panose="02000503000000020004" pitchFamily="2" charset="0"/>
              </a:rPr>
              <a:t>Action occurs when a potential wave intersects a point charge and this influences the future path of point charge. </a:t>
            </a:r>
          </a:p>
          <a:p>
            <a:pPr marL="0" marR="0" rtl="0">
              <a:spcBef>
                <a:spcPts val="0"/>
              </a:spcBef>
              <a:spcAft>
                <a:spcPts val="0"/>
              </a:spcAft>
            </a:pPr>
            <a:r>
              <a:rPr lang="en-US" sz="1800" dirty="0">
                <a:effectLst/>
                <a:latin typeface="Helvetica Neue" panose="02000503000000020004" pitchFamily="2" charset="0"/>
              </a:rPr>
              <a:t>This action is not only a function of the distance between A(t') and B(t), but also the velocity of A at time t' and the velocity of B at time t.</a:t>
            </a:r>
          </a:p>
          <a:p>
            <a:pPr marL="0" marR="0" rtl="0">
              <a:spcBef>
                <a:spcPts val="0"/>
              </a:spcBef>
              <a:spcAft>
                <a:spcPts val="0"/>
              </a:spcAft>
            </a:pPr>
            <a:r>
              <a:rPr lang="en-US" sz="1800" dirty="0">
                <a:effectLst/>
                <a:latin typeface="Helvetica Neue" panose="02000503000000020004" pitchFamily="2" charset="0"/>
              </a:rPr>
              <a:t>This system evolves as a dynamical geometry. This is true whether it is two </a:t>
            </a:r>
            <a:r>
              <a:rPr lang="en-US" sz="1800" dirty="0" err="1">
                <a:effectLst/>
                <a:latin typeface="Helvetica Neue" panose="02000503000000020004" pitchFamily="2" charset="0"/>
              </a:rPr>
              <a:t>isoloated</a:t>
            </a:r>
            <a:r>
              <a:rPr lang="en-US" sz="1800" dirty="0">
                <a:effectLst/>
                <a:latin typeface="Helvetica Neue" panose="02000503000000020004" pitchFamily="2" charset="0"/>
              </a:rPr>
              <a:t> point charges or all point charges in the universe, even if that is a countably infinite number of point charges.</a:t>
            </a:r>
          </a:p>
          <a:p>
            <a:pPr marL="0" marR="0" rtl="0">
              <a:spcBef>
                <a:spcPts val="0"/>
              </a:spcBef>
              <a:spcAft>
                <a:spcPts val="0"/>
              </a:spcAft>
            </a:pPr>
            <a:r>
              <a:rPr lang="en-US" sz="1800" dirty="0">
                <a:effectLst/>
                <a:latin typeface="Helvetica Neue" panose="02000503000000020004" pitchFamily="2" charset="0"/>
              </a:rPr>
              <a:t>There are some fascinating behaviors in this dynamical geometry. </a:t>
            </a:r>
          </a:p>
          <a:p>
            <a:pPr marL="0" marR="0" rtl="0">
              <a:spcBef>
                <a:spcPts val="0"/>
              </a:spcBef>
              <a:spcAft>
                <a:spcPts val="0"/>
              </a:spcAft>
            </a:pPr>
            <a:r>
              <a:rPr lang="en-US" sz="1800" dirty="0">
                <a:effectLst/>
                <a:latin typeface="Helvetica Neue" panose="02000503000000020004" pitchFamily="2" charset="0"/>
              </a:rPr>
              <a:t>Each point charge is continuously emitting a potential wave that expands spherically.</a:t>
            </a:r>
          </a:p>
          <a:p>
            <a:pPr marL="0" marR="0" rtl="0">
              <a:spcBef>
                <a:spcPts val="0"/>
              </a:spcBef>
              <a:spcAft>
                <a:spcPts val="0"/>
              </a:spcAft>
            </a:pPr>
            <a:r>
              <a:rPr lang="en-US" sz="1800" dirty="0">
                <a:effectLst/>
                <a:latin typeface="Helvetica Neue" panose="02000503000000020004" pitchFamily="2" charset="0"/>
              </a:rPr>
              <a:t>In our example, point charge A emitted a potential wave at time t' that resulted in action on point charge B at time t. That action influences B's path. Yet B is also continuously emitting potential. So when B's path changes that will be reflected in the potential wave it emits. This wave then results in action on point charge A when they intersect. This dynamical feedback is continuous between both point charges in our example, and in the universe between all point charges.  </a:t>
            </a:r>
          </a:p>
          <a:p>
            <a:pPr marL="0" marR="0" rtl="0">
              <a:spcBef>
                <a:spcPts val="0"/>
              </a:spcBef>
              <a:spcAft>
                <a:spcPts val="0"/>
              </a:spcAft>
            </a:pPr>
            <a:r>
              <a:rPr lang="en-US" sz="1800" dirty="0">
                <a:effectLst/>
                <a:latin typeface="Helvetica Neue" panose="02000503000000020004" pitchFamily="2" charset="0"/>
              </a:rPr>
              <a:t>Overall, this dynamical geometry mirrors Mach's principle, but with charge instead of mass.  </a:t>
            </a:r>
          </a:p>
          <a:p>
            <a:pPr marL="0" marR="0" rtl="0">
              <a:spcBef>
                <a:spcPts val="0"/>
              </a:spcBef>
              <a:spcAft>
                <a:spcPts val="0"/>
              </a:spcAft>
            </a:pPr>
            <a:r>
              <a:rPr lang="en-US" sz="1800" dirty="0">
                <a:effectLst/>
                <a:latin typeface="Helvetica Neue" panose="02000503000000020004" pitchFamily="2" charset="0"/>
              </a:rPr>
              <a:t>Point charges continuously emit potential that expands spherically. </a:t>
            </a:r>
          </a:p>
          <a:p>
            <a:pPr marL="0" marR="0" rtl="0">
              <a:spcBef>
                <a:spcPts val="0"/>
              </a:spcBef>
              <a:spcAft>
                <a:spcPts val="0"/>
              </a:spcAft>
            </a:pPr>
            <a:r>
              <a:rPr lang="en-US" sz="1800" dirty="0">
                <a:effectLst/>
                <a:latin typeface="Helvetica Neue" panose="02000503000000020004" pitchFamily="2" charset="0"/>
              </a:rPr>
              <a:t>Intersecting spherical potential waves tell point charges how to move.</a:t>
            </a:r>
          </a:p>
          <a:p>
            <a:pPr marL="0" marR="0" rtl="0">
              <a:spcBef>
                <a:spcPts val="0"/>
              </a:spcBef>
              <a:spcAft>
                <a:spcPts val="0"/>
              </a:spcAft>
            </a:pPr>
            <a:r>
              <a:rPr lang="en-US" sz="1800" dirty="0">
                <a:effectLst/>
                <a:latin typeface="Helvetica Neue" panose="02000503000000020004" pitchFamily="2" charset="0"/>
              </a:rPr>
              <a:t>In our example we have shown the relationship between two point charges, but it is also possible for self-action to occur, where a point charge responds to potential it emitted on its own past path history. We'll cover this topic in detail in a future episode.</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endParaRPr lang="en-US" dirty="0"/>
          </a:p>
        </p:txBody>
      </p:sp>
      <p:sp>
        <p:nvSpPr>
          <p:cNvPr id="4" name="Slide Number Placeholder 3"/>
          <p:cNvSpPr>
            <a:spLocks noGrp="1"/>
          </p:cNvSpPr>
          <p:nvPr>
            <p:ph type="sldNum" sz="quarter" idx="5"/>
          </p:nvPr>
        </p:nvSpPr>
        <p:spPr/>
        <p:txBody>
          <a:bodyPr/>
          <a:lstStyle/>
          <a:p>
            <a:fld id="{4DC398A3-AF21-A342-B6A8-6929C36BB1BF}" type="slidenum">
              <a:rPr lang="en-US" smtClean="0"/>
              <a:t>9</a:t>
            </a:fld>
            <a:endParaRPr lang="en-US"/>
          </a:p>
        </p:txBody>
      </p:sp>
    </p:spTree>
    <p:extLst>
      <p:ext uri="{BB962C8B-B14F-4D97-AF65-F5344CB8AC3E}">
        <p14:creationId xmlns:p14="http://schemas.microsoft.com/office/powerpoint/2010/main" val="1191104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200000"/>
              </a:lnSpc>
              <a:spcBef>
                <a:spcPts val="0"/>
              </a:spcBef>
              <a:spcAft>
                <a:spcPts val="0"/>
              </a:spcAft>
              <a:buClrTx/>
              <a:buSzTx/>
              <a:buFontTx/>
              <a:buNone/>
              <a:tabLst/>
              <a:defRPr/>
            </a:pPr>
            <a:r>
              <a:rPr lang="en-US" sz="9600" b="1" dirty="0">
                <a:latin typeface="Helvetica Neue" panose="02000503000000020004" pitchFamily="2" charset="0"/>
                <a:ea typeface="Helvetica Neue" panose="02000503000000020004" pitchFamily="2" charset="0"/>
                <a:cs typeface="Helvetica Neue" panose="02000503000000020004" pitchFamily="2" charset="0"/>
              </a:rPr>
              <a:t>The tracer circles represent spheres in 3D absolute represent the 3D spatial length of the radius.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The  forward tilt of all arrows represents absolute time.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Essentially every point potential is continuously riding on the wake emitted by every other point potential in the past.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They may also be riding on their own wake if v &gt; @.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For each partner that has operated at v&gt;@ a point potential may encounter multiple of their wakes or a continuous stretch of wake?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What path would yield a continuous stretch of wake from a partner?</a:t>
            </a:r>
          </a:p>
          <a:p>
            <a:pPr marL="0" marR="0" indent="0" algn="l" defTabSz="914400" rtl="0" eaLnBrk="1" fontAlgn="auto" latinLnBrk="0" hangingPunct="1">
              <a:lnSpc>
                <a:spcPct val="200000"/>
              </a:lnSpc>
              <a:spcBef>
                <a:spcPts val="0"/>
              </a:spcBef>
              <a:spcAft>
                <a:spcPts val="0"/>
              </a:spcAft>
              <a:buClrTx/>
              <a:buSzTx/>
              <a:buFontTx/>
              <a:buNone/>
              <a:tabLst/>
              <a:defRPr/>
            </a:pPr>
            <a:endParaRPr lang="en-US" sz="9600" b="1" dirty="0">
              <a:latin typeface="Helvetica Neue" panose="02000503000000020004" pitchFamily="2" charset="0"/>
              <a:ea typeface="Helvetica Neue" panose="02000503000000020004" pitchFamily="2" charset="0"/>
              <a:cs typeface="Helvetica Neue" panose="02000503000000020004" pitchFamily="2" charset="0"/>
            </a:endParaRPr>
          </a:p>
          <a:p>
            <a:pPr marL="0" marR="0" indent="0" algn="l" defTabSz="914400" rtl="0" eaLnBrk="1" fontAlgn="auto" latinLnBrk="0" hangingPunct="1">
              <a:lnSpc>
                <a:spcPct val="200000"/>
              </a:lnSpc>
              <a:spcBef>
                <a:spcPts val="0"/>
              </a:spcBef>
              <a:spcAft>
                <a:spcPts val="0"/>
              </a:spcAft>
              <a:buClrTx/>
              <a:buSzTx/>
              <a:buFontTx/>
              <a:buNone/>
              <a:tabLst/>
              <a:defRPr/>
            </a:pPr>
            <a:r>
              <a:rPr lang="en-US" sz="9600" b="1" dirty="0">
                <a:latin typeface="Helvetica Neue" panose="02000503000000020004" pitchFamily="2" charset="0"/>
                <a:ea typeface="Helvetica Neue" panose="02000503000000020004" pitchFamily="2" charset="0"/>
                <a:cs typeface="Helvetica Neue" panose="02000503000000020004" pitchFamily="2" charset="0"/>
              </a:rPr>
              <a:t>To do : animate this and make an episode.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6825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200000"/>
              </a:lnSpc>
              <a:spcBef>
                <a:spcPts val="0"/>
              </a:spcBef>
              <a:spcAft>
                <a:spcPts val="0"/>
              </a:spcAft>
              <a:buClrTx/>
              <a:buSzTx/>
              <a:buFontTx/>
              <a:buNone/>
              <a:tabLst/>
              <a:defRPr/>
            </a:pPr>
            <a:r>
              <a:rPr lang="en-US" sz="9600" b="1" dirty="0">
                <a:latin typeface="Helvetica Neue" panose="02000503000000020004" pitchFamily="2" charset="0"/>
                <a:ea typeface="Helvetica Neue" panose="02000503000000020004" pitchFamily="2" charset="0"/>
                <a:cs typeface="Helvetica Neue" panose="02000503000000020004" pitchFamily="2" charset="0"/>
              </a:rPr>
              <a:t>The tracer circles represent spheres in 3D absolute represent the 3D spatial length of the radius.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The  forward tilt of all arrows represents absolute time.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Essentially every point potential is continuously riding on the wake emitted by every other point potential in the past.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They may also be riding on their own wake if v &gt; @.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For each partner that has operated at v&gt;@ a point potential may encounter multiple of their wakes or a continuous stretch of wake?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What path would yield a continuous stretch of wake from a partner?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6708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0177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7CF9D-0276-52CE-9E2D-3C0D97E2B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A8E7F-6A6D-EE24-EAAB-15ABD0132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CCC5C-360D-F97E-6352-C9212CC36C75}"/>
              </a:ext>
            </a:extLst>
          </p:cNvPr>
          <p:cNvSpPr>
            <a:spLocks noGrp="1"/>
          </p:cNvSpPr>
          <p:nvPr>
            <p:ph type="body" idx="1"/>
          </p:nvPr>
        </p:nvSpPr>
        <p:spPr/>
        <p:txBody>
          <a:bodyPr/>
          <a:lstStyle/>
          <a:p>
            <a:pPr marL="0" marR="0" rtl="0">
              <a:spcBef>
                <a:spcPts val="0"/>
              </a:spcBef>
              <a:spcAft>
                <a:spcPts val="0"/>
              </a:spcAft>
            </a:pPr>
            <a:r>
              <a:rPr lang="en-US" sz="1800" dirty="0" err="1">
                <a:effectLst/>
                <a:latin typeface="Helvetica Neue" panose="02000503000000020004" pitchFamily="2" charset="0"/>
              </a:rPr>
              <a:t>Lienard</a:t>
            </a:r>
            <a:r>
              <a:rPr lang="en-US" sz="1800" dirty="0">
                <a:effectLst/>
                <a:latin typeface="Helvetica Neue" panose="02000503000000020004" pitchFamily="2" charset="0"/>
              </a:rPr>
              <a:t> and </a:t>
            </a:r>
            <a:r>
              <a:rPr lang="en-US" sz="1800" dirty="0" err="1">
                <a:effectLst/>
                <a:latin typeface="Helvetica Neue" panose="02000503000000020004" pitchFamily="2" charset="0"/>
              </a:rPr>
              <a:t>Wiechert</a:t>
            </a:r>
            <a:r>
              <a:rPr lang="en-US" sz="1800" dirty="0">
                <a:effectLst/>
                <a:latin typeface="Helvetica Neue" panose="02000503000000020004" pitchFamily="2" charset="0"/>
              </a:rPr>
              <a:t> were scientists.</a:t>
            </a:r>
          </a:p>
          <a:p>
            <a:pPr marL="0" marR="0" rtl="0">
              <a:spcBef>
                <a:spcPts val="0"/>
              </a:spcBef>
              <a:spcAft>
                <a:spcPts val="0"/>
              </a:spcAft>
            </a:pPr>
            <a:r>
              <a:rPr lang="en-US" sz="1800" dirty="0">
                <a:effectLst/>
                <a:latin typeface="Helvetica Neue" panose="02000503000000020004" pitchFamily="2" charset="0"/>
              </a:rPr>
              <a:t>Among the areas they each researched were point charges, the paths of point charges, the history of the potential emitted by point charges, and the action on point charges when potential intersects with them.</a:t>
            </a:r>
          </a:p>
          <a:p>
            <a:pPr marL="0" marR="0" rtl="0">
              <a:spcBef>
                <a:spcPts val="0"/>
              </a:spcBef>
              <a:spcAft>
                <a:spcPts val="0"/>
              </a:spcAft>
            </a:pPr>
            <a:r>
              <a:rPr lang="en-US" sz="1800" dirty="0">
                <a:effectLst/>
                <a:latin typeface="Helvetica Neue" panose="02000503000000020004" pitchFamily="2" charset="0"/>
              </a:rPr>
              <a:t>Shown in this figure are two point charges A and B.</a:t>
            </a:r>
          </a:p>
          <a:p>
            <a:pPr marL="0" marR="0" rtl="0">
              <a:spcBef>
                <a:spcPts val="0"/>
              </a:spcBef>
              <a:spcAft>
                <a:spcPts val="0"/>
              </a:spcAft>
            </a:pPr>
            <a:r>
              <a:rPr lang="en-US" sz="1800" dirty="0">
                <a:effectLst/>
                <a:latin typeface="Helvetica Neue" panose="02000503000000020004" pitchFamily="2" charset="0"/>
              </a:rPr>
              <a:t>They move around through space and time on a path.</a:t>
            </a:r>
          </a:p>
          <a:p>
            <a:pPr marL="0" marR="0" rtl="0">
              <a:spcBef>
                <a:spcPts val="0"/>
              </a:spcBef>
              <a:spcAft>
                <a:spcPts val="0"/>
              </a:spcAft>
            </a:pPr>
            <a:r>
              <a:rPr lang="en-US" sz="1800" dirty="0">
                <a:effectLst/>
                <a:latin typeface="Helvetica Neue" panose="02000503000000020004" pitchFamily="2" charset="0"/>
              </a:rPr>
              <a:t>That movement is due to the action upon those point charges from all intersecting potential waves.</a:t>
            </a:r>
          </a:p>
          <a:p>
            <a:pPr marL="0" marR="0" rtl="0">
              <a:spcBef>
                <a:spcPts val="0"/>
              </a:spcBef>
              <a:spcAft>
                <a:spcPts val="0"/>
              </a:spcAft>
            </a:pPr>
            <a:r>
              <a:rPr lang="en-US" sz="1800" dirty="0">
                <a:effectLst/>
                <a:latin typeface="Helvetica Neue" panose="02000503000000020004" pitchFamily="2" charset="0"/>
              </a:rPr>
              <a:t>Let's start by looking at the influence that point charge A has on point charge B at time t.</a:t>
            </a:r>
          </a:p>
          <a:p>
            <a:pPr marL="0" marR="0" rtl="0">
              <a:spcBef>
                <a:spcPts val="0"/>
              </a:spcBef>
              <a:spcAft>
                <a:spcPts val="0"/>
              </a:spcAft>
            </a:pPr>
            <a:r>
              <a:rPr lang="en-US" sz="1800" dirty="0">
                <a:effectLst/>
                <a:latin typeface="Helvetica Neue" panose="02000503000000020004" pitchFamily="2" charset="0"/>
              </a:rPr>
              <a:t>What we see is that at time t', point charge A has emitted potential that expands spherically and intersects point charge B at time t.</a:t>
            </a:r>
          </a:p>
          <a:p>
            <a:pPr marL="0" marR="0" rtl="0">
              <a:spcBef>
                <a:spcPts val="0"/>
              </a:spcBef>
              <a:spcAft>
                <a:spcPts val="0"/>
              </a:spcAft>
            </a:pPr>
            <a:r>
              <a:rPr lang="en-US" sz="1800" dirty="0">
                <a:effectLst/>
                <a:latin typeface="Helvetica Neue" panose="02000503000000020004" pitchFamily="2" charset="0"/>
              </a:rPr>
              <a:t>The radius of a spherical potential wave increases at the universal constant field speed, which I have given the at sign symbol. </a:t>
            </a:r>
          </a:p>
          <a:p>
            <a:pPr marL="0" marR="0" rtl="0">
              <a:spcBef>
                <a:spcPts val="0"/>
              </a:spcBef>
              <a:spcAft>
                <a:spcPts val="0"/>
              </a:spcAft>
            </a:pPr>
            <a:r>
              <a:rPr lang="en-US" sz="1800" dirty="0">
                <a:effectLst/>
                <a:latin typeface="Helvetica Neue" panose="02000503000000020004" pitchFamily="2" charset="0"/>
              </a:rPr>
              <a:t>The speed of potential is not the same as the speed of light, c, although they are related, which will be explained in a future episode.</a:t>
            </a:r>
          </a:p>
          <a:p>
            <a:pPr marL="0" marR="0" rtl="0">
              <a:spcBef>
                <a:spcPts val="0"/>
              </a:spcBef>
              <a:spcAft>
                <a:spcPts val="0"/>
              </a:spcAft>
            </a:pPr>
            <a:r>
              <a:rPr lang="en-US" sz="1800" dirty="0">
                <a:effectLst/>
                <a:latin typeface="Helvetica Neue" panose="02000503000000020004" pitchFamily="2" charset="0"/>
              </a:rPr>
              <a:t>What we see is that there is a delay. It's not that the current position of A impacts B at time t.</a:t>
            </a:r>
          </a:p>
          <a:p>
            <a:pPr marL="0" marR="0" rtl="0">
              <a:spcBef>
                <a:spcPts val="0"/>
              </a:spcBef>
              <a:spcAft>
                <a:spcPts val="0"/>
              </a:spcAft>
            </a:pPr>
            <a:r>
              <a:rPr lang="en-US" sz="1800" dirty="0">
                <a:effectLst/>
                <a:latin typeface="Helvetica Neue" panose="02000503000000020004" pitchFamily="2" charset="0"/>
              </a:rPr>
              <a:t>Rather it is a historical position on A's path where A emitted potential that now intersects B at time t. </a:t>
            </a:r>
          </a:p>
          <a:p>
            <a:pPr marL="0" marR="0" rtl="0">
              <a:spcBef>
                <a:spcPts val="0"/>
              </a:spcBef>
              <a:spcAft>
                <a:spcPts val="0"/>
              </a:spcAft>
            </a:pPr>
            <a:r>
              <a:rPr lang="en-US" sz="1800" dirty="0">
                <a:effectLst/>
                <a:latin typeface="Helvetica Neue" panose="02000503000000020004" pitchFamily="2" charset="0"/>
              </a:rPr>
              <a:t>The distance between A(t') and B(t) is given by field speed multiplied by the time difference between t' and t.</a:t>
            </a:r>
          </a:p>
          <a:p>
            <a:pPr marL="0" marR="0" rtl="0">
              <a:spcBef>
                <a:spcPts val="0"/>
              </a:spcBef>
              <a:spcAft>
                <a:spcPts val="0"/>
              </a:spcAft>
            </a:pPr>
            <a:r>
              <a:rPr lang="en-US" sz="1800" dirty="0">
                <a:effectLst/>
                <a:latin typeface="Helvetica Neue" panose="02000503000000020004" pitchFamily="2" charset="0"/>
              </a:rPr>
              <a:t>Action occurs when a potential wave intersects a point charge and this influences the future path of point charge. </a:t>
            </a:r>
          </a:p>
          <a:p>
            <a:pPr marL="0" marR="0" rtl="0">
              <a:spcBef>
                <a:spcPts val="0"/>
              </a:spcBef>
              <a:spcAft>
                <a:spcPts val="0"/>
              </a:spcAft>
            </a:pPr>
            <a:r>
              <a:rPr lang="en-US" sz="1800" dirty="0">
                <a:effectLst/>
                <a:latin typeface="Helvetica Neue" panose="02000503000000020004" pitchFamily="2" charset="0"/>
              </a:rPr>
              <a:t>This action is not only a function of the distance between A(t') and B(t), but also the velocity of A at time t' and the velocity of B at time t.</a:t>
            </a:r>
          </a:p>
          <a:p>
            <a:pPr marL="0" marR="0" rtl="0">
              <a:spcBef>
                <a:spcPts val="0"/>
              </a:spcBef>
              <a:spcAft>
                <a:spcPts val="0"/>
              </a:spcAft>
            </a:pPr>
            <a:r>
              <a:rPr lang="en-US" sz="1800" dirty="0">
                <a:effectLst/>
                <a:latin typeface="Helvetica Neue" panose="02000503000000020004" pitchFamily="2" charset="0"/>
              </a:rPr>
              <a:t>This system evolves as a dynamical geometry. This is true whether it is two </a:t>
            </a:r>
            <a:r>
              <a:rPr lang="en-US" sz="1800" dirty="0" err="1">
                <a:effectLst/>
                <a:latin typeface="Helvetica Neue" panose="02000503000000020004" pitchFamily="2" charset="0"/>
              </a:rPr>
              <a:t>isoloated</a:t>
            </a:r>
            <a:r>
              <a:rPr lang="en-US" sz="1800" dirty="0">
                <a:effectLst/>
                <a:latin typeface="Helvetica Neue" panose="02000503000000020004" pitchFamily="2" charset="0"/>
              </a:rPr>
              <a:t> point charges or all point charges in the universe, even if that is a countably infinite number of point charges.</a:t>
            </a:r>
          </a:p>
          <a:p>
            <a:pPr marL="0" marR="0" rtl="0">
              <a:spcBef>
                <a:spcPts val="0"/>
              </a:spcBef>
              <a:spcAft>
                <a:spcPts val="0"/>
              </a:spcAft>
            </a:pPr>
            <a:r>
              <a:rPr lang="en-US" sz="1800" dirty="0">
                <a:effectLst/>
                <a:latin typeface="Helvetica Neue" panose="02000503000000020004" pitchFamily="2" charset="0"/>
              </a:rPr>
              <a:t>There are some fascinating behaviors in this dynamical geometry. </a:t>
            </a:r>
          </a:p>
          <a:p>
            <a:pPr marL="0" marR="0" rtl="0">
              <a:spcBef>
                <a:spcPts val="0"/>
              </a:spcBef>
              <a:spcAft>
                <a:spcPts val="0"/>
              </a:spcAft>
            </a:pPr>
            <a:r>
              <a:rPr lang="en-US" sz="1800" dirty="0">
                <a:effectLst/>
                <a:latin typeface="Helvetica Neue" panose="02000503000000020004" pitchFamily="2" charset="0"/>
              </a:rPr>
              <a:t>Each point charge is continuously emitting a potential wave that expands spherically.</a:t>
            </a:r>
          </a:p>
          <a:p>
            <a:pPr marL="0" marR="0" rtl="0">
              <a:spcBef>
                <a:spcPts val="0"/>
              </a:spcBef>
              <a:spcAft>
                <a:spcPts val="0"/>
              </a:spcAft>
            </a:pPr>
            <a:r>
              <a:rPr lang="en-US" sz="1800" dirty="0">
                <a:effectLst/>
                <a:latin typeface="Helvetica Neue" panose="02000503000000020004" pitchFamily="2" charset="0"/>
              </a:rPr>
              <a:t>In our example, point charge A emitted a potential wave at time t' that resulted in action on point charge B at time t. That action influences B's path. Yet B is also continuously emitting potential. So when B's path changes that will be reflected in the potential wave it emits. This wave then results in action on point charge A when they intersect. This dynamical feedback is continuous between both point charges in our example, and in the universe between all point charges.  </a:t>
            </a:r>
          </a:p>
          <a:p>
            <a:pPr marL="0" marR="0" rtl="0">
              <a:spcBef>
                <a:spcPts val="0"/>
              </a:spcBef>
              <a:spcAft>
                <a:spcPts val="0"/>
              </a:spcAft>
            </a:pPr>
            <a:r>
              <a:rPr lang="en-US" sz="1800" dirty="0">
                <a:effectLst/>
                <a:latin typeface="Helvetica Neue" panose="02000503000000020004" pitchFamily="2" charset="0"/>
              </a:rPr>
              <a:t>Overall, this dynamical geometry mirrors Mach's principle, but with charge instead of mass.  </a:t>
            </a:r>
          </a:p>
          <a:p>
            <a:pPr marL="0" marR="0" rtl="0">
              <a:spcBef>
                <a:spcPts val="0"/>
              </a:spcBef>
              <a:spcAft>
                <a:spcPts val="0"/>
              </a:spcAft>
            </a:pPr>
            <a:r>
              <a:rPr lang="en-US" sz="1800" dirty="0">
                <a:effectLst/>
                <a:latin typeface="Helvetica Neue" panose="02000503000000020004" pitchFamily="2" charset="0"/>
              </a:rPr>
              <a:t>Point charges continuously emit potential that expands spherically. </a:t>
            </a:r>
          </a:p>
          <a:p>
            <a:pPr marL="0" marR="0" rtl="0">
              <a:spcBef>
                <a:spcPts val="0"/>
              </a:spcBef>
              <a:spcAft>
                <a:spcPts val="0"/>
              </a:spcAft>
            </a:pPr>
            <a:r>
              <a:rPr lang="en-US" sz="1800" dirty="0">
                <a:effectLst/>
                <a:latin typeface="Helvetica Neue" panose="02000503000000020004" pitchFamily="2" charset="0"/>
              </a:rPr>
              <a:t>Intersecting spherical potential waves tell point charges how to move.</a:t>
            </a:r>
          </a:p>
          <a:p>
            <a:pPr marL="0" marR="0" rtl="0">
              <a:spcBef>
                <a:spcPts val="0"/>
              </a:spcBef>
              <a:spcAft>
                <a:spcPts val="0"/>
              </a:spcAft>
            </a:pPr>
            <a:r>
              <a:rPr lang="en-US" sz="1800" dirty="0">
                <a:effectLst/>
                <a:latin typeface="Helvetica Neue" panose="02000503000000020004" pitchFamily="2" charset="0"/>
              </a:rPr>
              <a:t>In our example we have shown the relationship between two point charges, but it is also possible for self-action to occur, where a point charge responds to potential it emitted on its own past path history. We'll cover this topic in detail in a future episode.</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pPr marL="0" marR="0" rtl="0">
              <a:spcBef>
                <a:spcPts val="0"/>
              </a:spcBef>
              <a:spcAft>
                <a:spcPts val="0"/>
              </a:spcAft>
            </a:pPr>
            <a:r>
              <a:rPr lang="en-US" sz="1800" dirty="0">
                <a:effectLst/>
                <a:latin typeface="Helvetica Neue" panose="02000503000000020004" pitchFamily="2" charset="0"/>
              </a:rPr>
              <a:t> </a:t>
            </a:r>
          </a:p>
          <a:p>
            <a:endParaRPr lang="en-US" dirty="0"/>
          </a:p>
        </p:txBody>
      </p:sp>
      <p:sp>
        <p:nvSpPr>
          <p:cNvPr id="4" name="Slide Number Placeholder 3">
            <a:extLst>
              <a:ext uri="{FF2B5EF4-FFF2-40B4-BE49-F238E27FC236}">
                <a16:creationId xmlns:a16="http://schemas.microsoft.com/office/drawing/2014/main" id="{9BE5A30E-C814-C737-0E87-764F58719305}"/>
              </a:ext>
            </a:extLst>
          </p:cNvPr>
          <p:cNvSpPr>
            <a:spLocks noGrp="1"/>
          </p:cNvSpPr>
          <p:nvPr>
            <p:ph type="sldNum" sz="quarter" idx="5"/>
          </p:nvPr>
        </p:nvSpPr>
        <p:spPr/>
        <p:txBody>
          <a:bodyPr/>
          <a:lstStyle/>
          <a:p>
            <a:fld id="{4DC398A3-AF21-A342-B6A8-6929C36BB1BF}" type="slidenum">
              <a:rPr lang="en-US" smtClean="0"/>
              <a:t>13</a:t>
            </a:fld>
            <a:endParaRPr lang="en-US"/>
          </a:p>
        </p:txBody>
      </p:sp>
    </p:spTree>
    <p:extLst>
      <p:ext uri="{BB962C8B-B14F-4D97-AF65-F5344CB8AC3E}">
        <p14:creationId xmlns:p14="http://schemas.microsoft.com/office/powerpoint/2010/main" val="1879055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2594E-083A-33B0-1887-4D75961D8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C972F-8115-0086-8D46-F43BA6CB6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A05C0-C97B-9722-138D-940A0126F522}"/>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49D93F59-9C10-56A8-29DB-C5BD61D5AF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577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40859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576653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661250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64542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7957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755306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920734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225689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116182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72147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11/27/24</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063727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11/27/24</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372916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11/27/24</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97139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11/27/24</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963469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11/27/24</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3956632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11/27/24</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418825901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F12CB3D1-0CE0-632F-6109-64380C8841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D4ABB3-A2D3-D440-CAE2-3FE090A98AD7}"/>
              </a:ext>
            </a:extLst>
          </p:cNvPr>
          <p:cNvSpPr txBox="1"/>
          <p:nvPr/>
        </p:nvSpPr>
        <p:spPr>
          <a:xfrm>
            <a:off x="0" y="358254"/>
            <a:ext cx="12191999" cy="4067780"/>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Helvetica Neue UltraLight" panose="02000206000000020004" pitchFamily="2" charset="0"/>
                <a:ea typeface="Helvetica Neue UltraLight" panose="02000206000000020004" pitchFamily="2" charset="0"/>
                <a:cs typeface="Helvetica Neue" panose="02000503000000020004" pitchFamily="2" charset="0"/>
              </a:rPr>
              <a:t>neoclassical.ai</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The Paths of </a:t>
            </a:r>
            <a:b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Point Potentials</a:t>
            </a:r>
          </a:p>
        </p:txBody>
      </p:sp>
    </p:spTree>
    <p:extLst>
      <p:ext uri="{BB962C8B-B14F-4D97-AF65-F5344CB8AC3E}">
        <p14:creationId xmlns:p14="http://schemas.microsoft.com/office/powerpoint/2010/main" val="3704261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grpSp>
        <p:nvGrpSpPr>
          <p:cNvPr id="6" name="Group 5">
            <a:extLst>
              <a:ext uri="{FF2B5EF4-FFF2-40B4-BE49-F238E27FC236}">
                <a16:creationId xmlns:a16="http://schemas.microsoft.com/office/drawing/2014/main" id="{CB214E5A-63A5-5C6B-3D5B-75FF74FA3E5A}"/>
              </a:ext>
            </a:extLst>
          </p:cNvPr>
          <p:cNvGrpSpPr/>
          <p:nvPr/>
        </p:nvGrpSpPr>
        <p:grpSpPr>
          <a:xfrm>
            <a:off x="28129" y="1077673"/>
            <a:ext cx="11664338" cy="5685100"/>
            <a:chOff x="28129" y="1077673"/>
            <a:chExt cx="11664338" cy="5685100"/>
          </a:xfrm>
        </p:grpSpPr>
        <p:cxnSp>
          <p:nvCxnSpPr>
            <p:cNvPr id="3" name="Straight Arrow Connector 2">
              <a:extLst>
                <a:ext uri="{FF2B5EF4-FFF2-40B4-BE49-F238E27FC236}">
                  <a16:creationId xmlns:a16="http://schemas.microsoft.com/office/drawing/2014/main" id="{2EF0199F-22F4-BA42-9B75-8A8183BCDA9B}"/>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9AB5343-55D0-6041-8627-E08A73F83930}"/>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8D86A2-D083-024A-BC90-6BD938C23243}"/>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3" name="TextBox 12">
              <a:extLst>
                <a:ext uri="{FF2B5EF4-FFF2-40B4-BE49-F238E27FC236}">
                  <a16:creationId xmlns:a16="http://schemas.microsoft.com/office/drawing/2014/main" id="{2C3F4604-6C2F-0E4E-9DD3-4F5C89FF51AB}"/>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grpSp>
      <p:sp>
        <p:nvSpPr>
          <p:cNvPr id="23" name="Oval 22">
            <a:extLst>
              <a:ext uri="{FF2B5EF4-FFF2-40B4-BE49-F238E27FC236}">
                <a16:creationId xmlns:a16="http://schemas.microsoft.com/office/drawing/2014/main" id="{0112617B-A1D5-1E41-BF92-E67D4E046E39}"/>
              </a:ext>
            </a:extLst>
          </p:cNvPr>
          <p:cNvSpPr>
            <a:spLocks noChangeAspect="1"/>
          </p:cNvSpPr>
          <p:nvPr/>
        </p:nvSpPr>
        <p:spPr>
          <a:xfrm>
            <a:off x="4576353" y="1451768"/>
            <a:ext cx="3657600" cy="3657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6EF0F7DA-5E70-8348-A200-F59A10FF7C55}"/>
              </a:ext>
            </a:extLst>
          </p:cNvPr>
          <p:cNvSpPr>
            <a:spLocks noChangeAspect="1"/>
          </p:cNvSpPr>
          <p:nvPr/>
        </p:nvSpPr>
        <p:spPr>
          <a:xfrm>
            <a:off x="4942113" y="1817528"/>
            <a:ext cx="2926080" cy="292608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52F58D0-F613-674A-B294-C894E5FB1683}"/>
              </a:ext>
            </a:extLst>
          </p:cNvPr>
          <p:cNvSpPr>
            <a:spLocks noChangeAspect="1"/>
          </p:cNvSpPr>
          <p:nvPr/>
        </p:nvSpPr>
        <p:spPr>
          <a:xfrm>
            <a:off x="5307873" y="2183288"/>
            <a:ext cx="2194560" cy="219456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9CA7A721-D3BD-744E-9306-85BBED5F74BC}"/>
              </a:ext>
            </a:extLst>
          </p:cNvPr>
          <p:cNvSpPr>
            <a:spLocks noChangeAspect="1"/>
          </p:cNvSpPr>
          <p:nvPr/>
        </p:nvSpPr>
        <p:spPr>
          <a:xfrm>
            <a:off x="5673633" y="2549048"/>
            <a:ext cx="1463040" cy="146304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F97F1A02-C0C7-3C45-9790-847C152D159A}"/>
              </a:ext>
            </a:extLst>
          </p:cNvPr>
          <p:cNvSpPr>
            <a:spLocks noChangeAspect="1"/>
          </p:cNvSpPr>
          <p:nvPr/>
        </p:nvSpPr>
        <p:spPr>
          <a:xfrm>
            <a:off x="6039393" y="2914808"/>
            <a:ext cx="731520" cy="73152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BE4CDC90-4B2E-BE41-BB9D-A84675F3A2FE}"/>
              </a:ext>
            </a:extLst>
          </p:cNvPr>
          <p:cNvSpPr/>
          <p:nvPr/>
        </p:nvSpPr>
        <p:spPr>
          <a:xfrm>
            <a:off x="6368154" y="3220046"/>
            <a:ext cx="127000" cy="127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713B9ACE-B673-2D48-BEF2-2A133C31B527}"/>
              </a:ext>
            </a:extLst>
          </p:cNvPr>
          <p:cNvSpPr txBox="1"/>
          <p:nvPr/>
        </p:nvSpPr>
        <p:spPr>
          <a:xfrm>
            <a:off x="6145562" y="1073998"/>
            <a:ext cx="651140"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r = @t</a:t>
            </a:r>
          </a:p>
        </p:txBody>
      </p:sp>
      <p:sp>
        <p:nvSpPr>
          <p:cNvPr id="36" name="TextBox 35">
            <a:extLst>
              <a:ext uri="{FF2B5EF4-FFF2-40B4-BE49-F238E27FC236}">
                <a16:creationId xmlns:a16="http://schemas.microsoft.com/office/drawing/2014/main" id="{3A81A480-EF64-094E-825A-8592DAA4C672}"/>
              </a:ext>
            </a:extLst>
          </p:cNvPr>
          <p:cNvSpPr txBox="1"/>
          <p:nvPr/>
        </p:nvSpPr>
        <p:spPr>
          <a:xfrm>
            <a:off x="8051073" y="4359621"/>
            <a:ext cx="2367624"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Electric Potential Field Tracers</a:t>
            </a:r>
            <a:endParaRPr kumimoji="0" lang="en-US" sz="1100" b="0"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0C67DA45-6876-7942-9996-48CA0A1696FE}"/>
              </a:ext>
            </a:extLst>
          </p:cNvPr>
          <p:cNvCxnSpPr>
            <a:cxnSpLocks/>
          </p:cNvCxnSpPr>
          <p:nvPr/>
        </p:nvCxnSpPr>
        <p:spPr>
          <a:xfrm>
            <a:off x="7978776" y="4377848"/>
            <a:ext cx="118018" cy="877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5289ED1-4679-6543-A669-B23443FD0CD8}"/>
              </a:ext>
            </a:extLst>
          </p:cNvPr>
          <p:cNvCxnSpPr>
            <a:cxnSpLocks/>
          </p:cNvCxnSpPr>
          <p:nvPr/>
        </p:nvCxnSpPr>
        <p:spPr>
          <a:xfrm flipH="1" flipV="1">
            <a:off x="6405153" y="1452970"/>
            <a:ext cx="27603" cy="182880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4DFEA8B-B2CC-4557-5832-83CBF458C62D}"/>
              </a:ext>
            </a:extLst>
          </p:cNvPr>
          <p:cNvSpPr/>
          <p:nvPr/>
        </p:nvSpPr>
        <p:spPr>
          <a:xfrm>
            <a:off x="8965473" y="1654209"/>
            <a:ext cx="2558673" cy="707886"/>
          </a:xfrm>
          <a:prstGeom prst="rect">
            <a:avLst/>
          </a:prstGeom>
          <a:ln>
            <a:solidFill>
              <a:srgbClr val="FF85FF"/>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85FF"/>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 Speed @ is a Universal Constant</a:t>
            </a:r>
          </a:p>
        </p:txBody>
      </p:sp>
      <p:sp>
        <p:nvSpPr>
          <p:cNvPr id="17" name="TextBox 16">
            <a:extLst>
              <a:ext uri="{FF2B5EF4-FFF2-40B4-BE49-F238E27FC236}">
                <a16:creationId xmlns:a16="http://schemas.microsoft.com/office/drawing/2014/main" id="{F6A93B37-78E4-125D-E0BF-C1EC32C24D2E}"/>
              </a:ext>
            </a:extLst>
          </p:cNvPr>
          <p:cNvSpPr txBox="1"/>
          <p:nvPr/>
        </p:nvSpPr>
        <p:spPr>
          <a:xfrm>
            <a:off x="2368330" y="5253265"/>
            <a:ext cx="9220186"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 point potential with velocity = 0 emits potential spheres, all with the same origin.</a:t>
            </a:r>
          </a:p>
        </p:txBody>
      </p:sp>
      <p:sp>
        <p:nvSpPr>
          <p:cNvPr id="19" name="TextBox 18">
            <a:extLst>
              <a:ext uri="{FF2B5EF4-FFF2-40B4-BE49-F238E27FC236}">
                <a16:creationId xmlns:a16="http://schemas.microsoft.com/office/drawing/2014/main" id="{D1F40738-506F-EAAF-7EBE-CFC9B4FE4D03}"/>
              </a:ext>
            </a:extLst>
          </p:cNvPr>
          <p:cNvSpPr txBox="1"/>
          <p:nvPr/>
        </p:nvSpPr>
        <p:spPr>
          <a:xfrm>
            <a:off x="1473371" y="187251"/>
            <a:ext cx="972400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on Linear Path with Velocity v = </a:t>
            </a:r>
            <a:r>
              <a:rPr lang="en-US" sz="3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0</a:t>
            </a:r>
            <a:endPar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241975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618D555D-7286-B241-E144-DDEC77AD45E3}"/>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614DBC08-8858-F579-1B95-86C501AB042B}"/>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grpSp>
        <p:nvGrpSpPr>
          <p:cNvPr id="6" name="Group 5">
            <a:extLst>
              <a:ext uri="{FF2B5EF4-FFF2-40B4-BE49-F238E27FC236}">
                <a16:creationId xmlns:a16="http://schemas.microsoft.com/office/drawing/2014/main" id="{17811428-EDBA-0366-BE63-E3E25023C8EC}"/>
              </a:ext>
            </a:extLst>
          </p:cNvPr>
          <p:cNvGrpSpPr/>
          <p:nvPr/>
        </p:nvGrpSpPr>
        <p:grpSpPr>
          <a:xfrm>
            <a:off x="28129" y="1077673"/>
            <a:ext cx="11664338" cy="5685100"/>
            <a:chOff x="28129" y="1077673"/>
            <a:chExt cx="11664338" cy="5685100"/>
          </a:xfrm>
        </p:grpSpPr>
        <p:cxnSp>
          <p:nvCxnSpPr>
            <p:cNvPr id="3" name="Straight Arrow Connector 2">
              <a:extLst>
                <a:ext uri="{FF2B5EF4-FFF2-40B4-BE49-F238E27FC236}">
                  <a16:creationId xmlns:a16="http://schemas.microsoft.com/office/drawing/2014/main" id="{D482C6FD-3801-AF2C-0D9C-BDC9F781A9F9}"/>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8DD0551-F57F-FC8B-CDFA-54E4DF3D076B}"/>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419E9DF-2DD3-3506-BE3B-E485BF80EDAC}"/>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3" name="TextBox 12">
              <a:extLst>
                <a:ext uri="{FF2B5EF4-FFF2-40B4-BE49-F238E27FC236}">
                  <a16:creationId xmlns:a16="http://schemas.microsoft.com/office/drawing/2014/main" id="{93B24559-A789-4B90-E180-1E0D72CE317E}"/>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grpSp>
      <p:sp>
        <p:nvSpPr>
          <p:cNvPr id="23" name="Oval 22">
            <a:extLst>
              <a:ext uri="{FF2B5EF4-FFF2-40B4-BE49-F238E27FC236}">
                <a16:creationId xmlns:a16="http://schemas.microsoft.com/office/drawing/2014/main" id="{61A13369-24B9-E21B-05B9-329B5FF74DB7}"/>
              </a:ext>
            </a:extLst>
          </p:cNvPr>
          <p:cNvSpPr>
            <a:spLocks noChangeAspect="1"/>
          </p:cNvSpPr>
          <p:nvPr/>
        </p:nvSpPr>
        <p:spPr>
          <a:xfrm>
            <a:off x="4576353" y="1451768"/>
            <a:ext cx="3657600" cy="3657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F2B3E963-4F4B-8173-AE7C-E7942A9E266B}"/>
              </a:ext>
            </a:extLst>
          </p:cNvPr>
          <p:cNvSpPr>
            <a:spLocks noChangeAspect="1"/>
          </p:cNvSpPr>
          <p:nvPr/>
        </p:nvSpPr>
        <p:spPr>
          <a:xfrm>
            <a:off x="5124993" y="1817528"/>
            <a:ext cx="2926080" cy="292608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9ADB633C-4072-1C73-DADA-398777D0A7CD}"/>
              </a:ext>
            </a:extLst>
          </p:cNvPr>
          <p:cNvSpPr>
            <a:spLocks noChangeAspect="1"/>
          </p:cNvSpPr>
          <p:nvPr/>
        </p:nvSpPr>
        <p:spPr>
          <a:xfrm>
            <a:off x="5673633" y="2183288"/>
            <a:ext cx="2194560" cy="219456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F82B7B38-EA39-2CF9-201C-54B73DBBD4EA}"/>
              </a:ext>
            </a:extLst>
          </p:cNvPr>
          <p:cNvSpPr>
            <a:spLocks noChangeAspect="1"/>
          </p:cNvSpPr>
          <p:nvPr/>
        </p:nvSpPr>
        <p:spPr>
          <a:xfrm>
            <a:off x="6222273" y="2549048"/>
            <a:ext cx="1463040" cy="146304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686BDBE9-0138-6C28-BFAF-00EA8DCD973D}"/>
              </a:ext>
            </a:extLst>
          </p:cNvPr>
          <p:cNvSpPr>
            <a:spLocks noChangeAspect="1"/>
          </p:cNvSpPr>
          <p:nvPr/>
        </p:nvSpPr>
        <p:spPr>
          <a:xfrm>
            <a:off x="6770913" y="2914808"/>
            <a:ext cx="731520" cy="73152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0AC705D-BF37-4542-CD33-8265C0D398AC}"/>
              </a:ext>
            </a:extLst>
          </p:cNvPr>
          <p:cNvCxnSpPr>
            <a:cxnSpLocks/>
          </p:cNvCxnSpPr>
          <p:nvPr/>
        </p:nvCxnSpPr>
        <p:spPr>
          <a:xfrm>
            <a:off x="2649734" y="3279442"/>
            <a:ext cx="4712717" cy="298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CEE4D57-2D48-3E46-8211-494134A5C094}"/>
              </a:ext>
            </a:extLst>
          </p:cNvPr>
          <p:cNvSpPr/>
          <p:nvPr/>
        </p:nvSpPr>
        <p:spPr>
          <a:xfrm>
            <a:off x="7283203" y="3217068"/>
            <a:ext cx="127000" cy="127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D24EBF2A-B7A3-E7EB-6313-BB50CF2D3A83}"/>
              </a:ext>
            </a:extLst>
          </p:cNvPr>
          <p:cNvGrpSpPr/>
          <p:nvPr/>
        </p:nvGrpSpPr>
        <p:grpSpPr>
          <a:xfrm>
            <a:off x="3116093" y="3368474"/>
            <a:ext cx="622286" cy="307777"/>
            <a:chOff x="5872995" y="3043974"/>
            <a:chExt cx="622286" cy="307777"/>
          </a:xfrm>
        </p:grpSpPr>
        <p:cxnSp>
          <p:nvCxnSpPr>
            <p:cNvPr id="24" name="Straight Arrow Connector 23">
              <a:extLst>
                <a:ext uri="{FF2B5EF4-FFF2-40B4-BE49-F238E27FC236}">
                  <a16:creationId xmlns:a16="http://schemas.microsoft.com/office/drawing/2014/main" id="{9C627068-AD0C-E2DC-60AF-7257BB046983}"/>
                </a:ext>
              </a:extLst>
            </p:cNvPr>
            <p:cNvCxnSpPr>
              <a:cxnSpLocks/>
            </p:cNvCxnSpPr>
            <p:nvPr/>
          </p:nvCxnSpPr>
          <p:spPr>
            <a:xfrm>
              <a:off x="6056376" y="3066219"/>
              <a:ext cx="255524" cy="0"/>
            </a:xfrm>
            <a:prstGeom prst="straightConnector1">
              <a:avLst/>
            </a:prstGeom>
            <a:ln>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692B828-D19F-3AA3-05F9-AF2DE3D5C9FC}"/>
                </a:ext>
              </a:extLst>
            </p:cNvPr>
            <p:cNvSpPr txBox="1"/>
            <p:nvPr/>
          </p:nvSpPr>
          <p:spPr>
            <a:xfrm>
              <a:off x="5872995" y="3043974"/>
              <a:ext cx="62228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&lt; @</a:t>
              </a:r>
            </a:p>
          </p:txBody>
        </p:sp>
      </p:grpSp>
      <p:sp>
        <p:nvSpPr>
          <p:cNvPr id="31" name="TextBox 30">
            <a:extLst>
              <a:ext uri="{FF2B5EF4-FFF2-40B4-BE49-F238E27FC236}">
                <a16:creationId xmlns:a16="http://schemas.microsoft.com/office/drawing/2014/main" id="{12D2397C-9CE3-3A8A-1558-56A5A0738C36}"/>
              </a:ext>
            </a:extLst>
          </p:cNvPr>
          <p:cNvSpPr txBox="1"/>
          <p:nvPr/>
        </p:nvSpPr>
        <p:spPr>
          <a:xfrm>
            <a:off x="6145562" y="1073998"/>
            <a:ext cx="651140"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r = @t</a:t>
            </a:r>
          </a:p>
        </p:txBody>
      </p:sp>
      <p:sp>
        <p:nvSpPr>
          <p:cNvPr id="36" name="TextBox 35">
            <a:extLst>
              <a:ext uri="{FF2B5EF4-FFF2-40B4-BE49-F238E27FC236}">
                <a16:creationId xmlns:a16="http://schemas.microsoft.com/office/drawing/2014/main" id="{2FFE4CF6-AAAC-06EA-8AB8-998E05647728}"/>
              </a:ext>
            </a:extLst>
          </p:cNvPr>
          <p:cNvSpPr txBox="1"/>
          <p:nvPr/>
        </p:nvSpPr>
        <p:spPr>
          <a:xfrm>
            <a:off x="8051073" y="4359621"/>
            <a:ext cx="2367624"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Electric Potential Field Tracers</a:t>
            </a:r>
            <a:endParaRPr kumimoji="0" lang="en-US" sz="1100" b="0"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2F9013F0-6C27-F3C3-FDE3-FF0AA12CA620}"/>
              </a:ext>
            </a:extLst>
          </p:cNvPr>
          <p:cNvCxnSpPr>
            <a:cxnSpLocks/>
          </p:cNvCxnSpPr>
          <p:nvPr/>
        </p:nvCxnSpPr>
        <p:spPr>
          <a:xfrm>
            <a:off x="7978776" y="4377848"/>
            <a:ext cx="118018" cy="877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9CD0CED-2A06-8AB7-8A69-21FAC5EC4A4F}"/>
              </a:ext>
            </a:extLst>
          </p:cNvPr>
          <p:cNvCxnSpPr>
            <a:cxnSpLocks/>
          </p:cNvCxnSpPr>
          <p:nvPr/>
        </p:nvCxnSpPr>
        <p:spPr>
          <a:xfrm flipH="1" flipV="1">
            <a:off x="6405153" y="1452970"/>
            <a:ext cx="27603" cy="182880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CC5A9F1-9339-0CF6-A18E-4B7BE46AB529}"/>
              </a:ext>
            </a:extLst>
          </p:cNvPr>
          <p:cNvCxnSpPr>
            <a:cxnSpLocks/>
          </p:cNvCxnSpPr>
          <p:nvPr/>
        </p:nvCxnSpPr>
        <p:spPr>
          <a:xfrm flipH="1" flipV="1">
            <a:off x="6588033" y="1835760"/>
            <a:ext cx="21294" cy="144601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E4A4C4F-C09E-5B89-67FD-259D584337FE}"/>
              </a:ext>
            </a:extLst>
          </p:cNvPr>
          <p:cNvCxnSpPr>
            <a:cxnSpLocks/>
          </p:cNvCxnSpPr>
          <p:nvPr/>
        </p:nvCxnSpPr>
        <p:spPr>
          <a:xfrm flipH="1" flipV="1">
            <a:off x="6770913" y="2184490"/>
            <a:ext cx="12696" cy="109728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4742DE8-0901-2B65-C6B7-3A1BE131F28D}"/>
              </a:ext>
            </a:extLst>
          </p:cNvPr>
          <p:cNvCxnSpPr>
            <a:cxnSpLocks/>
          </p:cNvCxnSpPr>
          <p:nvPr/>
        </p:nvCxnSpPr>
        <p:spPr>
          <a:xfrm flipV="1">
            <a:off x="6953793" y="2567280"/>
            <a:ext cx="0" cy="71449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D9F791F-D5A7-688F-041A-11963370907B}"/>
              </a:ext>
            </a:extLst>
          </p:cNvPr>
          <p:cNvCxnSpPr>
            <a:cxnSpLocks/>
          </p:cNvCxnSpPr>
          <p:nvPr/>
        </p:nvCxnSpPr>
        <p:spPr>
          <a:xfrm flipV="1">
            <a:off x="7136673" y="2916010"/>
            <a:ext cx="0" cy="36576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49C01A4-7FD7-1FD3-430A-5950B62E2AB0}"/>
              </a:ext>
            </a:extLst>
          </p:cNvPr>
          <p:cNvSpPr txBox="1"/>
          <p:nvPr/>
        </p:nvSpPr>
        <p:spPr>
          <a:xfrm>
            <a:off x="2682340" y="2982347"/>
            <a:ext cx="1539757"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Path</a:t>
            </a:r>
            <a:endParaRPr kumimoji="0" lang="en-US" sz="1100" b="0"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5CC6FCD-E4CC-D5E1-7E8F-917869655222}"/>
              </a:ext>
            </a:extLst>
          </p:cNvPr>
          <p:cNvSpPr/>
          <p:nvPr/>
        </p:nvSpPr>
        <p:spPr>
          <a:xfrm>
            <a:off x="8965473" y="1654209"/>
            <a:ext cx="2558673" cy="707886"/>
          </a:xfrm>
          <a:prstGeom prst="rect">
            <a:avLst/>
          </a:prstGeom>
          <a:ln>
            <a:solidFill>
              <a:srgbClr val="FF85FF"/>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85FF"/>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 Speed @ is a Universal Constant</a:t>
            </a:r>
          </a:p>
        </p:txBody>
      </p:sp>
      <p:sp>
        <p:nvSpPr>
          <p:cNvPr id="16" name="TextBox 15">
            <a:extLst>
              <a:ext uri="{FF2B5EF4-FFF2-40B4-BE49-F238E27FC236}">
                <a16:creationId xmlns:a16="http://schemas.microsoft.com/office/drawing/2014/main" id="{165EF7AF-4C2A-3413-7653-A4678D7A12B0}"/>
              </a:ext>
            </a:extLst>
          </p:cNvPr>
          <p:cNvSpPr txBox="1"/>
          <p:nvPr/>
        </p:nvSpPr>
        <p:spPr>
          <a:xfrm>
            <a:off x="1473371" y="187251"/>
            <a:ext cx="972400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on Linear Path with Velocity v &lt; @</a:t>
            </a:r>
          </a:p>
        </p:txBody>
      </p:sp>
      <p:sp>
        <p:nvSpPr>
          <p:cNvPr id="17" name="TextBox 16">
            <a:extLst>
              <a:ext uri="{FF2B5EF4-FFF2-40B4-BE49-F238E27FC236}">
                <a16:creationId xmlns:a16="http://schemas.microsoft.com/office/drawing/2014/main" id="{8221C174-AABC-987E-E052-795F476EAF22}"/>
              </a:ext>
            </a:extLst>
          </p:cNvPr>
          <p:cNvSpPr txBox="1"/>
          <p:nvPr/>
        </p:nvSpPr>
        <p:spPr>
          <a:xfrm>
            <a:off x="2368330" y="5253265"/>
            <a:ext cx="9220186" cy="83099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point potential continuously emits an electric potential field.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electric potential is q/v at r=0 and a spherical Dirac delta q/</a:t>
            </a:r>
            <a:r>
              <a:rPr kumimoji="0" lang="en-US" sz="16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vr</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as a linear function of time.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v &lt; @ the point potential does not experience its own field and there is no self action.</a:t>
            </a:r>
          </a:p>
        </p:txBody>
      </p:sp>
    </p:spTree>
    <p:extLst>
      <p:ext uri="{BB962C8B-B14F-4D97-AF65-F5344CB8AC3E}">
        <p14:creationId xmlns:p14="http://schemas.microsoft.com/office/powerpoint/2010/main" val="1156335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14568406-B066-AEBE-C74B-068160974652}"/>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27CEA6F2-4AF1-97D8-38AC-41B557BE51CF}"/>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grpSp>
        <p:nvGrpSpPr>
          <p:cNvPr id="6" name="Group 5">
            <a:extLst>
              <a:ext uri="{FF2B5EF4-FFF2-40B4-BE49-F238E27FC236}">
                <a16:creationId xmlns:a16="http://schemas.microsoft.com/office/drawing/2014/main" id="{C81263DC-661D-BD50-5933-E8227696F8DE}"/>
              </a:ext>
            </a:extLst>
          </p:cNvPr>
          <p:cNvGrpSpPr/>
          <p:nvPr/>
        </p:nvGrpSpPr>
        <p:grpSpPr>
          <a:xfrm>
            <a:off x="28129" y="1077673"/>
            <a:ext cx="11664338" cy="5685100"/>
            <a:chOff x="28129" y="1077673"/>
            <a:chExt cx="11664338" cy="5685100"/>
          </a:xfrm>
        </p:grpSpPr>
        <p:cxnSp>
          <p:nvCxnSpPr>
            <p:cNvPr id="3" name="Straight Arrow Connector 2">
              <a:extLst>
                <a:ext uri="{FF2B5EF4-FFF2-40B4-BE49-F238E27FC236}">
                  <a16:creationId xmlns:a16="http://schemas.microsoft.com/office/drawing/2014/main" id="{8B149F79-E249-261E-9112-BF1D70D76419}"/>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59C9B9C-0329-E856-17CB-C966D0778D39}"/>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C27133D-1A03-8C4F-53C4-564B9AE5C189}"/>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3" name="TextBox 12">
              <a:extLst>
                <a:ext uri="{FF2B5EF4-FFF2-40B4-BE49-F238E27FC236}">
                  <a16:creationId xmlns:a16="http://schemas.microsoft.com/office/drawing/2014/main" id="{0F3C3A2E-72E6-5B26-7E8C-2A2E59D8C3F6}"/>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grpSp>
      <p:sp>
        <p:nvSpPr>
          <p:cNvPr id="23" name="Oval 22">
            <a:extLst>
              <a:ext uri="{FF2B5EF4-FFF2-40B4-BE49-F238E27FC236}">
                <a16:creationId xmlns:a16="http://schemas.microsoft.com/office/drawing/2014/main" id="{F069ACCF-49B1-2004-B9BA-C32EA1E82492}"/>
              </a:ext>
            </a:extLst>
          </p:cNvPr>
          <p:cNvSpPr>
            <a:spLocks noChangeAspect="1"/>
          </p:cNvSpPr>
          <p:nvPr/>
        </p:nvSpPr>
        <p:spPr>
          <a:xfrm>
            <a:off x="4576353" y="2052059"/>
            <a:ext cx="3657600" cy="3657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2120CF2-66F6-E863-1722-E1EBC99EB320}"/>
              </a:ext>
            </a:extLst>
          </p:cNvPr>
          <p:cNvSpPr>
            <a:spLocks noChangeAspect="1"/>
          </p:cNvSpPr>
          <p:nvPr/>
        </p:nvSpPr>
        <p:spPr>
          <a:xfrm>
            <a:off x="5124993" y="2417819"/>
            <a:ext cx="2926080" cy="292608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2CF23E24-ED96-772A-8248-1491441DB146}"/>
              </a:ext>
            </a:extLst>
          </p:cNvPr>
          <p:cNvSpPr>
            <a:spLocks noChangeAspect="1"/>
          </p:cNvSpPr>
          <p:nvPr/>
        </p:nvSpPr>
        <p:spPr>
          <a:xfrm>
            <a:off x="5673633" y="2783579"/>
            <a:ext cx="2194560" cy="219456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25A0A0B3-E20A-4CC2-79D9-E97020D601A7}"/>
              </a:ext>
            </a:extLst>
          </p:cNvPr>
          <p:cNvSpPr>
            <a:spLocks noChangeAspect="1"/>
          </p:cNvSpPr>
          <p:nvPr/>
        </p:nvSpPr>
        <p:spPr>
          <a:xfrm>
            <a:off x="6222273" y="3149339"/>
            <a:ext cx="1463040" cy="146304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7969DEBF-EEB6-634C-020A-385E24FBF8E1}"/>
              </a:ext>
            </a:extLst>
          </p:cNvPr>
          <p:cNvSpPr>
            <a:spLocks noChangeAspect="1"/>
          </p:cNvSpPr>
          <p:nvPr/>
        </p:nvSpPr>
        <p:spPr>
          <a:xfrm>
            <a:off x="6770913" y="3515099"/>
            <a:ext cx="731520" cy="73152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2C66513A-9085-17C4-C9C2-3742BE2C33D7}"/>
              </a:ext>
            </a:extLst>
          </p:cNvPr>
          <p:cNvCxnSpPr>
            <a:cxnSpLocks/>
          </p:cNvCxnSpPr>
          <p:nvPr/>
        </p:nvCxnSpPr>
        <p:spPr>
          <a:xfrm>
            <a:off x="2649734" y="3879733"/>
            <a:ext cx="4712717" cy="298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9E30E225-012D-EE67-96E9-8843E769C6E1}"/>
              </a:ext>
            </a:extLst>
          </p:cNvPr>
          <p:cNvSpPr/>
          <p:nvPr/>
        </p:nvSpPr>
        <p:spPr>
          <a:xfrm>
            <a:off x="7283203" y="3817359"/>
            <a:ext cx="127000" cy="127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CE7A3B85-FDA3-45E2-9BB3-D32BED764091}"/>
              </a:ext>
            </a:extLst>
          </p:cNvPr>
          <p:cNvGrpSpPr/>
          <p:nvPr/>
        </p:nvGrpSpPr>
        <p:grpSpPr>
          <a:xfrm>
            <a:off x="3116093" y="3968765"/>
            <a:ext cx="622286" cy="307777"/>
            <a:chOff x="5872995" y="3043974"/>
            <a:chExt cx="622286" cy="307777"/>
          </a:xfrm>
        </p:grpSpPr>
        <p:cxnSp>
          <p:nvCxnSpPr>
            <p:cNvPr id="24" name="Straight Arrow Connector 23">
              <a:extLst>
                <a:ext uri="{FF2B5EF4-FFF2-40B4-BE49-F238E27FC236}">
                  <a16:creationId xmlns:a16="http://schemas.microsoft.com/office/drawing/2014/main" id="{5AAF8464-4AF0-1ED4-EC84-883D9DCBAE2E}"/>
                </a:ext>
              </a:extLst>
            </p:cNvPr>
            <p:cNvCxnSpPr>
              <a:cxnSpLocks/>
            </p:cNvCxnSpPr>
            <p:nvPr/>
          </p:nvCxnSpPr>
          <p:spPr>
            <a:xfrm>
              <a:off x="6056376" y="3066219"/>
              <a:ext cx="255524" cy="0"/>
            </a:xfrm>
            <a:prstGeom prst="straightConnector1">
              <a:avLst/>
            </a:prstGeom>
            <a:ln>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4526506-8D04-242E-625D-A7D78BFFEE82}"/>
                </a:ext>
              </a:extLst>
            </p:cNvPr>
            <p:cNvSpPr txBox="1"/>
            <p:nvPr/>
          </p:nvSpPr>
          <p:spPr>
            <a:xfrm>
              <a:off x="5872995" y="3043974"/>
              <a:ext cx="62228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&lt; @</a:t>
              </a:r>
            </a:p>
          </p:txBody>
        </p:sp>
      </p:grpSp>
      <p:sp>
        <p:nvSpPr>
          <p:cNvPr id="31" name="TextBox 30">
            <a:extLst>
              <a:ext uri="{FF2B5EF4-FFF2-40B4-BE49-F238E27FC236}">
                <a16:creationId xmlns:a16="http://schemas.microsoft.com/office/drawing/2014/main" id="{0715B65B-EE48-6433-EFA6-8AFF4BF52B13}"/>
              </a:ext>
            </a:extLst>
          </p:cNvPr>
          <p:cNvSpPr txBox="1"/>
          <p:nvPr/>
        </p:nvSpPr>
        <p:spPr>
          <a:xfrm>
            <a:off x="6145562" y="1674289"/>
            <a:ext cx="651140"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r = @t</a:t>
            </a:r>
          </a:p>
        </p:txBody>
      </p:sp>
      <p:sp>
        <p:nvSpPr>
          <p:cNvPr id="36" name="TextBox 35">
            <a:extLst>
              <a:ext uri="{FF2B5EF4-FFF2-40B4-BE49-F238E27FC236}">
                <a16:creationId xmlns:a16="http://schemas.microsoft.com/office/drawing/2014/main" id="{2639C71E-8510-A47A-CB6E-BD88DBD2D9D2}"/>
              </a:ext>
            </a:extLst>
          </p:cNvPr>
          <p:cNvSpPr txBox="1"/>
          <p:nvPr/>
        </p:nvSpPr>
        <p:spPr>
          <a:xfrm>
            <a:off x="8051073" y="4959912"/>
            <a:ext cx="2367624"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Electric Potential Field Tracers</a:t>
            </a:r>
            <a:endParaRPr kumimoji="0" lang="en-US" sz="1100" b="0"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48D6CF27-A191-E604-D02B-B71D144C595B}"/>
              </a:ext>
            </a:extLst>
          </p:cNvPr>
          <p:cNvCxnSpPr>
            <a:cxnSpLocks/>
          </p:cNvCxnSpPr>
          <p:nvPr/>
        </p:nvCxnSpPr>
        <p:spPr>
          <a:xfrm>
            <a:off x="7978776" y="4978139"/>
            <a:ext cx="118018" cy="877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2407ED0-1A7F-69F0-224E-34E3BAB4AEB7}"/>
              </a:ext>
            </a:extLst>
          </p:cNvPr>
          <p:cNvSpPr txBox="1">
            <a:spLocks/>
          </p:cNvSpPr>
          <p:nvPr/>
        </p:nvSpPr>
        <p:spPr>
          <a:xfrm>
            <a:off x="2928993" y="279249"/>
            <a:ext cx="6201156" cy="777875"/>
          </a:xfrm>
          <a:prstGeom prst="rect">
            <a:avLst/>
          </a:prstGeom>
        </p:spPr>
        <p:txBody>
          <a:bodyPr wrap="none">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Spherical Emissions Expand at v = @</a:t>
            </a:r>
          </a:p>
        </p:txBody>
      </p:sp>
      <p:sp>
        <p:nvSpPr>
          <p:cNvPr id="7" name="Rectangle 6">
            <a:extLst>
              <a:ext uri="{FF2B5EF4-FFF2-40B4-BE49-F238E27FC236}">
                <a16:creationId xmlns:a16="http://schemas.microsoft.com/office/drawing/2014/main" id="{E63833BB-E257-5DD8-D2DC-4EDC10C1D9B0}"/>
              </a:ext>
            </a:extLst>
          </p:cNvPr>
          <p:cNvSpPr/>
          <p:nvPr/>
        </p:nvSpPr>
        <p:spPr>
          <a:xfrm>
            <a:off x="1349309" y="1050303"/>
            <a:ext cx="9576532"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Dirac Sphere Expands from the Point of Emission</a:t>
            </a:r>
          </a:p>
        </p:txBody>
      </p:sp>
      <p:cxnSp>
        <p:nvCxnSpPr>
          <p:cNvPr id="15" name="Straight Arrow Connector 14">
            <a:extLst>
              <a:ext uri="{FF2B5EF4-FFF2-40B4-BE49-F238E27FC236}">
                <a16:creationId xmlns:a16="http://schemas.microsoft.com/office/drawing/2014/main" id="{F4A7F80E-6EB4-D3A1-C496-DA676D8B14B8}"/>
              </a:ext>
            </a:extLst>
          </p:cNvPr>
          <p:cNvCxnSpPr>
            <a:cxnSpLocks/>
          </p:cNvCxnSpPr>
          <p:nvPr/>
        </p:nvCxnSpPr>
        <p:spPr>
          <a:xfrm flipH="1" flipV="1">
            <a:off x="6405153" y="2053261"/>
            <a:ext cx="27603" cy="182880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4BBFD59-613F-87DB-D8CE-C4CD0658E65A}"/>
              </a:ext>
            </a:extLst>
          </p:cNvPr>
          <p:cNvCxnSpPr>
            <a:cxnSpLocks/>
          </p:cNvCxnSpPr>
          <p:nvPr/>
        </p:nvCxnSpPr>
        <p:spPr>
          <a:xfrm flipH="1" flipV="1">
            <a:off x="6588033" y="2436051"/>
            <a:ext cx="21294" cy="144601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170C482-A85C-519C-1C68-E52F3D321552}"/>
              </a:ext>
            </a:extLst>
          </p:cNvPr>
          <p:cNvCxnSpPr>
            <a:cxnSpLocks/>
          </p:cNvCxnSpPr>
          <p:nvPr/>
        </p:nvCxnSpPr>
        <p:spPr>
          <a:xfrm flipH="1" flipV="1">
            <a:off x="6770913" y="2784781"/>
            <a:ext cx="12696" cy="109728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230761A-8EDF-2FA3-7DBE-AF384628B09E}"/>
              </a:ext>
            </a:extLst>
          </p:cNvPr>
          <p:cNvCxnSpPr>
            <a:cxnSpLocks/>
          </p:cNvCxnSpPr>
          <p:nvPr/>
        </p:nvCxnSpPr>
        <p:spPr>
          <a:xfrm flipV="1">
            <a:off x="6953793" y="3167571"/>
            <a:ext cx="0" cy="71449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3EF506B-E81E-4405-B45C-DFB8F9DA0D65}"/>
              </a:ext>
            </a:extLst>
          </p:cNvPr>
          <p:cNvCxnSpPr>
            <a:cxnSpLocks/>
          </p:cNvCxnSpPr>
          <p:nvPr/>
        </p:nvCxnSpPr>
        <p:spPr>
          <a:xfrm flipV="1">
            <a:off x="7136673" y="3516301"/>
            <a:ext cx="0" cy="36576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B5DCDDF-276B-4F6E-7066-014AE9A59CCC}"/>
              </a:ext>
            </a:extLst>
          </p:cNvPr>
          <p:cNvSpPr txBox="1"/>
          <p:nvPr/>
        </p:nvSpPr>
        <p:spPr>
          <a:xfrm>
            <a:off x="2682340" y="3582638"/>
            <a:ext cx="1539757"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Path</a:t>
            </a:r>
            <a:endParaRPr kumimoji="0" lang="en-US" sz="1100" b="0"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9560D5F-868F-8968-4ED0-12355714D7FF}"/>
              </a:ext>
            </a:extLst>
          </p:cNvPr>
          <p:cNvSpPr/>
          <p:nvPr/>
        </p:nvSpPr>
        <p:spPr>
          <a:xfrm>
            <a:off x="8965473" y="2254500"/>
            <a:ext cx="2558673" cy="707886"/>
          </a:xfrm>
          <a:prstGeom prst="rect">
            <a:avLst/>
          </a:prstGeom>
          <a:ln>
            <a:solidFill>
              <a:srgbClr val="FF85FF"/>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85FF"/>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 Speed @ is a Universal Constant</a:t>
            </a:r>
          </a:p>
        </p:txBody>
      </p:sp>
    </p:spTree>
    <p:extLst>
      <p:ext uri="{BB962C8B-B14F-4D97-AF65-F5344CB8AC3E}">
        <p14:creationId xmlns:p14="http://schemas.microsoft.com/office/powerpoint/2010/main" val="3801198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cxnSp>
        <p:nvCxnSpPr>
          <p:cNvPr id="3" name="Straight Arrow Connector 2">
            <a:extLst>
              <a:ext uri="{FF2B5EF4-FFF2-40B4-BE49-F238E27FC236}">
                <a16:creationId xmlns:a16="http://schemas.microsoft.com/office/drawing/2014/main" id="{2EF0199F-22F4-BA42-9B75-8A8183BCDA9B}"/>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9AB5343-55D0-6041-8627-E08A73F83930}"/>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8D86A2-D083-024A-BC90-6BD938C23243}"/>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3" name="TextBox 12">
            <a:extLst>
              <a:ext uri="{FF2B5EF4-FFF2-40B4-BE49-F238E27FC236}">
                <a16:creationId xmlns:a16="http://schemas.microsoft.com/office/drawing/2014/main" id="{2C3F4604-6C2F-0E4E-9DD3-4F5C89FF51AB}"/>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sp>
        <p:nvSpPr>
          <p:cNvPr id="23" name="Oval 22">
            <a:extLst>
              <a:ext uri="{FF2B5EF4-FFF2-40B4-BE49-F238E27FC236}">
                <a16:creationId xmlns:a16="http://schemas.microsoft.com/office/drawing/2014/main" id="{0112617B-A1D5-1E41-BF92-E67D4E046E39}"/>
              </a:ext>
            </a:extLst>
          </p:cNvPr>
          <p:cNvSpPr>
            <a:spLocks noChangeAspect="1"/>
          </p:cNvSpPr>
          <p:nvPr/>
        </p:nvSpPr>
        <p:spPr>
          <a:xfrm>
            <a:off x="4576353" y="2052059"/>
            <a:ext cx="3657600" cy="3657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6EF0F7DA-5E70-8348-A200-F59A10FF7C55}"/>
              </a:ext>
            </a:extLst>
          </p:cNvPr>
          <p:cNvSpPr>
            <a:spLocks noChangeAspect="1"/>
          </p:cNvSpPr>
          <p:nvPr/>
        </p:nvSpPr>
        <p:spPr>
          <a:xfrm>
            <a:off x="5124993" y="2417819"/>
            <a:ext cx="2926080" cy="292608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52F58D0-F613-674A-B294-C894E5FB1683}"/>
              </a:ext>
            </a:extLst>
          </p:cNvPr>
          <p:cNvSpPr>
            <a:spLocks noChangeAspect="1"/>
          </p:cNvSpPr>
          <p:nvPr/>
        </p:nvSpPr>
        <p:spPr>
          <a:xfrm>
            <a:off x="5673633" y="2783579"/>
            <a:ext cx="2194560" cy="219456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9CA7A721-D3BD-744E-9306-85BBED5F74BC}"/>
              </a:ext>
            </a:extLst>
          </p:cNvPr>
          <p:cNvSpPr>
            <a:spLocks noChangeAspect="1"/>
          </p:cNvSpPr>
          <p:nvPr/>
        </p:nvSpPr>
        <p:spPr>
          <a:xfrm>
            <a:off x="6222273" y="3149339"/>
            <a:ext cx="1463040" cy="146304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F97F1A02-C0C7-3C45-9790-847C152D159A}"/>
              </a:ext>
            </a:extLst>
          </p:cNvPr>
          <p:cNvSpPr>
            <a:spLocks noChangeAspect="1"/>
          </p:cNvSpPr>
          <p:nvPr/>
        </p:nvSpPr>
        <p:spPr>
          <a:xfrm>
            <a:off x="6770913" y="3515099"/>
            <a:ext cx="731520" cy="73152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9890CC23-4ADC-D744-AF2D-1C8A936F07FC}"/>
              </a:ext>
            </a:extLst>
          </p:cNvPr>
          <p:cNvCxnSpPr>
            <a:cxnSpLocks/>
          </p:cNvCxnSpPr>
          <p:nvPr/>
        </p:nvCxnSpPr>
        <p:spPr>
          <a:xfrm>
            <a:off x="2649734" y="3879733"/>
            <a:ext cx="4712717" cy="29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E4CDC90-4B2E-BE41-BB9D-A84675F3A2FE}"/>
              </a:ext>
            </a:extLst>
          </p:cNvPr>
          <p:cNvSpPr/>
          <p:nvPr/>
        </p:nvSpPr>
        <p:spPr>
          <a:xfrm>
            <a:off x="7283203" y="3817359"/>
            <a:ext cx="127000" cy="127000"/>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33483591-0E05-544C-B822-43CF81B12E63}"/>
              </a:ext>
            </a:extLst>
          </p:cNvPr>
          <p:cNvGrpSpPr/>
          <p:nvPr/>
        </p:nvGrpSpPr>
        <p:grpSpPr>
          <a:xfrm>
            <a:off x="3074213" y="3989705"/>
            <a:ext cx="622286" cy="307777"/>
            <a:chOff x="5872995" y="3043974"/>
            <a:chExt cx="622286" cy="307777"/>
          </a:xfrm>
        </p:grpSpPr>
        <p:cxnSp>
          <p:nvCxnSpPr>
            <p:cNvPr id="24" name="Straight Arrow Connector 23">
              <a:extLst>
                <a:ext uri="{FF2B5EF4-FFF2-40B4-BE49-F238E27FC236}">
                  <a16:creationId xmlns:a16="http://schemas.microsoft.com/office/drawing/2014/main" id="{7BCF22C9-C9AE-324D-B157-A9536FCAF3B6}"/>
                </a:ext>
              </a:extLst>
            </p:cNvPr>
            <p:cNvCxnSpPr>
              <a:cxnSpLocks/>
            </p:cNvCxnSpPr>
            <p:nvPr/>
          </p:nvCxnSpPr>
          <p:spPr>
            <a:xfrm>
              <a:off x="6056376" y="3066219"/>
              <a:ext cx="255524" cy="0"/>
            </a:xfrm>
            <a:prstGeom prst="straightConnector1">
              <a:avLst/>
            </a:prstGeom>
            <a:ln>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1A59953-657F-C641-8F36-E48E8EDB0DF1}"/>
                </a:ext>
              </a:extLst>
            </p:cNvPr>
            <p:cNvSpPr txBox="1"/>
            <p:nvPr/>
          </p:nvSpPr>
          <p:spPr>
            <a:xfrm>
              <a:off x="5872995" y="3043974"/>
              <a:ext cx="62228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&lt; @</a:t>
              </a:r>
            </a:p>
          </p:txBody>
        </p:sp>
      </p:grpSp>
      <p:sp>
        <p:nvSpPr>
          <p:cNvPr id="31" name="TextBox 30">
            <a:extLst>
              <a:ext uri="{FF2B5EF4-FFF2-40B4-BE49-F238E27FC236}">
                <a16:creationId xmlns:a16="http://schemas.microsoft.com/office/drawing/2014/main" id="{713B9ACE-B673-2D48-BEF2-2A133C31B527}"/>
              </a:ext>
            </a:extLst>
          </p:cNvPr>
          <p:cNvSpPr txBox="1"/>
          <p:nvPr/>
        </p:nvSpPr>
        <p:spPr>
          <a:xfrm>
            <a:off x="6145562" y="1674289"/>
            <a:ext cx="651140"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r = @t</a:t>
            </a:r>
          </a:p>
        </p:txBody>
      </p:sp>
      <p:sp>
        <p:nvSpPr>
          <p:cNvPr id="36" name="TextBox 35">
            <a:extLst>
              <a:ext uri="{FF2B5EF4-FFF2-40B4-BE49-F238E27FC236}">
                <a16:creationId xmlns:a16="http://schemas.microsoft.com/office/drawing/2014/main" id="{3A81A480-EF64-094E-825A-8592DAA4C672}"/>
              </a:ext>
            </a:extLst>
          </p:cNvPr>
          <p:cNvSpPr txBox="1"/>
          <p:nvPr/>
        </p:nvSpPr>
        <p:spPr>
          <a:xfrm>
            <a:off x="1448243" y="1160162"/>
            <a:ext cx="9969026" cy="46166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Action = Force along Radius to Emission Point</a:t>
            </a:r>
            <a:endParaRPr kumimoji="0" lang="en-US" sz="2400" b="1" i="1" u="none" strike="noStrike" kern="1200" cap="none" spc="0" normalizeH="0" baseline="0" noProof="0" dirty="0">
              <a:ln>
                <a:noFill/>
              </a:ln>
              <a:solidFill>
                <a:srgbClr val="FFC000"/>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BED67AD4-F230-35A0-28FB-DE984573A446}"/>
              </a:ext>
            </a:extLst>
          </p:cNvPr>
          <p:cNvSpPr/>
          <p:nvPr/>
        </p:nvSpPr>
        <p:spPr>
          <a:xfrm>
            <a:off x="328266" y="450303"/>
            <a:ext cx="11535467"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Action Occurs when a Potential Sphere Intersects a Point Potential</a:t>
            </a:r>
          </a:p>
        </p:txBody>
      </p:sp>
      <p:cxnSp>
        <p:nvCxnSpPr>
          <p:cNvPr id="15" name="Straight Arrow Connector 14">
            <a:extLst>
              <a:ext uri="{FF2B5EF4-FFF2-40B4-BE49-F238E27FC236}">
                <a16:creationId xmlns:a16="http://schemas.microsoft.com/office/drawing/2014/main" id="{05289ED1-4679-6543-A669-B23443FD0CD8}"/>
              </a:ext>
            </a:extLst>
          </p:cNvPr>
          <p:cNvCxnSpPr>
            <a:cxnSpLocks/>
          </p:cNvCxnSpPr>
          <p:nvPr/>
        </p:nvCxnSpPr>
        <p:spPr>
          <a:xfrm flipH="1" flipV="1">
            <a:off x="6405153" y="2053261"/>
            <a:ext cx="27603" cy="182880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9F8BF55-7F79-854D-84AD-A730BF43B39C}"/>
              </a:ext>
            </a:extLst>
          </p:cNvPr>
          <p:cNvCxnSpPr>
            <a:cxnSpLocks/>
          </p:cNvCxnSpPr>
          <p:nvPr/>
        </p:nvCxnSpPr>
        <p:spPr>
          <a:xfrm flipH="1" flipV="1">
            <a:off x="6588033" y="2436051"/>
            <a:ext cx="21294" cy="144601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415B495-590C-0049-92E6-8AE7464CC78A}"/>
              </a:ext>
            </a:extLst>
          </p:cNvPr>
          <p:cNvCxnSpPr>
            <a:cxnSpLocks/>
          </p:cNvCxnSpPr>
          <p:nvPr/>
        </p:nvCxnSpPr>
        <p:spPr>
          <a:xfrm flipH="1" flipV="1">
            <a:off x="6770913" y="2784781"/>
            <a:ext cx="12696" cy="109728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4879E96-726B-4F42-BD7C-09F8D0B14E9A}"/>
              </a:ext>
            </a:extLst>
          </p:cNvPr>
          <p:cNvCxnSpPr>
            <a:cxnSpLocks/>
          </p:cNvCxnSpPr>
          <p:nvPr/>
        </p:nvCxnSpPr>
        <p:spPr>
          <a:xfrm flipV="1">
            <a:off x="6953793" y="3167571"/>
            <a:ext cx="0" cy="71449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F119609-4333-414A-B8E4-E2447D7E1C10}"/>
              </a:ext>
            </a:extLst>
          </p:cNvPr>
          <p:cNvCxnSpPr>
            <a:cxnSpLocks/>
          </p:cNvCxnSpPr>
          <p:nvPr/>
        </p:nvCxnSpPr>
        <p:spPr>
          <a:xfrm flipV="1">
            <a:off x="7136673" y="3516301"/>
            <a:ext cx="0" cy="365760"/>
          </a:xfrm>
          <a:prstGeom prst="straightConnector1">
            <a:avLst/>
          </a:prstGeom>
          <a:ln w="28575">
            <a:solidFill>
              <a:srgbClr val="FFC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69BF73-0970-4AD4-4DCD-712A77055671}"/>
              </a:ext>
            </a:extLst>
          </p:cNvPr>
          <p:cNvSpPr txBox="1"/>
          <p:nvPr/>
        </p:nvSpPr>
        <p:spPr>
          <a:xfrm>
            <a:off x="2682340" y="3582638"/>
            <a:ext cx="1539757"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Path</a:t>
            </a:r>
            <a:endParaRPr kumimoji="0" lang="en-US" sz="1100" b="0" i="1"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47B844F6-2777-F09D-48E3-752AD4A1C08E}"/>
              </a:ext>
            </a:extLst>
          </p:cNvPr>
          <p:cNvSpPr/>
          <p:nvPr/>
        </p:nvSpPr>
        <p:spPr>
          <a:xfrm>
            <a:off x="5392620" y="5373902"/>
            <a:ext cx="127000" cy="127000"/>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Connector 16">
            <a:extLst>
              <a:ext uri="{FF2B5EF4-FFF2-40B4-BE49-F238E27FC236}">
                <a16:creationId xmlns:a16="http://schemas.microsoft.com/office/drawing/2014/main" id="{7AC80066-19A2-40E6-CB32-8D867099AEC0}"/>
              </a:ext>
            </a:extLst>
          </p:cNvPr>
          <p:cNvCxnSpPr>
            <a:cxnSpLocks/>
          </p:cNvCxnSpPr>
          <p:nvPr/>
        </p:nvCxnSpPr>
        <p:spPr>
          <a:xfrm flipV="1">
            <a:off x="5519620" y="3945096"/>
            <a:ext cx="885533" cy="1396475"/>
          </a:xfrm>
          <a:prstGeom prst="line">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E44B2491-CAC8-31F5-74F1-2F5E82758D29}"/>
              </a:ext>
            </a:extLst>
          </p:cNvPr>
          <p:cNvSpPr/>
          <p:nvPr/>
        </p:nvSpPr>
        <p:spPr>
          <a:xfrm>
            <a:off x="7362451" y="4378471"/>
            <a:ext cx="127000" cy="127000"/>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Connector 33">
            <a:extLst>
              <a:ext uri="{FF2B5EF4-FFF2-40B4-BE49-F238E27FC236}">
                <a16:creationId xmlns:a16="http://schemas.microsoft.com/office/drawing/2014/main" id="{39925079-57E3-C749-66BE-49320C7E84EA}"/>
              </a:ext>
            </a:extLst>
          </p:cNvPr>
          <p:cNvCxnSpPr>
            <a:cxnSpLocks/>
          </p:cNvCxnSpPr>
          <p:nvPr/>
        </p:nvCxnSpPr>
        <p:spPr>
          <a:xfrm flipH="1" flipV="1">
            <a:off x="6981825" y="3944359"/>
            <a:ext cx="380626" cy="434112"/>
          </a:xfrm>
          <a:prstGeom prst="line">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28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6" name="TextBox 25">
            <a:extLst>
              <a:ext uri="{FF2B5EF4-FFF2-40B4-BE49-F238E27FC236}">
                <a16:creationId xmlns:a16="http://schemas.microsoft.com/office/drawing/2014/main" id="{FA5E13D2-A15E-F54D-9507-CAD768919361}"/>
              </a:ext>
            </a:extLst>
          </p:cNvPr>
          <p:cNvSpPr txBox="1"/>
          <p:nvPr/>
        </p:nvSpPr>
        <p:spPr>
          <a:xfrm>
            <a:off x="1788936" y="4683408"/>
            <a:ext cx="959842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Imagine a point potential with linear velocity v = @, the electric potential field speed.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point potential does not experience self action.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This symmetry breaking point is related to quantum mechanics symmetry breaking.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Symmetry breaking at Wien’s peak occurs when the binary potential velocities are v =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There may be a relation or duality with a black hole event horizon.</a:t>
            </a:r>
          </a:p>
        </p:txBody>
      </p:sp>
      <p:sp>
        <p:nvSpPr>
          <p:cNvPr id="23" name="Oval 22">
            <a:extLst>
              <a:ext uri="{FF2B5EF4-FFF2-40B4-BE49-F238E27FC236}">
                <a16:creationId xmlns:a16="http://schemas.microsoft.com/office/drawing/2014/main" id="{0112617B-A1D5-1E41-BF92-E67D4E046E39}"/>
              </a:ext>
            </a:extLst>
          </p:cNvPr>
          <p:cNvSpPr>
            <a:spLocks noChangeAspect="1"/>
          </p:cNvSpPr>
          <p:nvPr/>
        </p:nvSpPr>
        <p:spPr>
          <a:xfrm>
            <a:off x="4373147" y="846713"/>
            <a:ext cx="3657600" cy="3657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6EF0F7DA-5E70-8348-A200-F59A10FF7C55}"/>
              </a:ext>
            </a:extLst>
          </p:cNvPr>
          <p:cNvSpPr>
            <a:spLocks noChangeAspect="1"/>
          </p:cNvSpPr>
          <p:nvPr/>
        </p:nvSpPr>
        <p:spPr>
          <a:xfrm>
            <a:off x="5104667" y="1212473"/>
            <a:ext cx="2926080" cy="292608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52F58D0-F613-674A-B294-C894E5FB1683}"/>
              </a:ext>
            </a:extLst>
          </p:cNvPr>
          <p:cNvSpPr>
            <a:spLocks noChangeAspect="1"/>
          </p:cNvSpPr>
          <p:nvPr/>
        </p:nvSpPr>
        <p:spPr>
          <a:xfrm>
            <a:off x="5836187" y="1578233"/>
            <a:ext cx="2194560" cy="219456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9CA7A721-D3BD-744E-9306-85BBED5F74BC}"/>
              </a:ext>
            </a:extLst>
          </p:cNvPr>
          <p:cNvSpPr>
            <a:spLocks noChangeAspect="1"/>
          </p:cNvSpPr>
          <p:nvPr/>
        </p:nvSpPr>
        <p:spPr>
          <a:xfrm>
            <a:off x="6567707" y="1943993"/>
            <a:ext cx="1463040" cy="146304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F97F1A02-C0C7-3C45-9790-847C152D159A}"/>
              </a:ext>
            </a:extLst>
          </p:cNvPr>
          <p:cNvSpPr>
            <a:spLocks noChangeAspect="1"/>
          </p:cNvSpPr>
          <p:nvPr/>
        </p:nvSpPr>
        <p:spPr>
          <a:xfrm>
            <a:off x="7299227" y="2309753"/>
            <a:ext cx="731520" cy="73152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05289ED1-4679-6543-A669-B23443FD0CD8}"/>
              </a:ext>
            </a:extLst>
          </p:cNvPr>
          <p:cNvCxnSpPr>
            <a:cxnSpLocks/>
          </p:cNvCxnSpPr>
          <p:nvPr/>
        </p:nvCxnSpPr>
        <p:spPr>
          <a:xfrm flipH="1" flipV="1">
            <a:off x="6199518" y="825690"/>
            <a:ext cx="27603" cy="182880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9F8BF55-7F79-854D-84AD-A730BF43B39C}"/>
              </a:ext>
            </a:extLst>
          </p:cNvPr>
          <p:cNvCxnSpPr>
            <a:cxnSpLocks/>
          </p:cNvCxnSpPr>
          <p:nvPr/>
        </p:nvCxnSpPr>
        <p:spPr>
          <a:xfrm flipH="1" flipV="1">
            <a:off x="6566854" y="1208480"/>
            <a:ext cx="21294" cy="144601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415B495-590C-0049-92E6-8AE7464CC78A}"/>
              </a:ext>
            </a:extLst>
          </p:cNvPr>
          <p:cNvCxnSpPr>
            <a:cxnSpLocks/>
          </p:cNvCxnSpPr>
          <p:nvPr/>
        </p:nvCxnSpPr>
        <p:spPr>
          <a:xfrm flipH="1" flipV="1">
            <a:off x="6935062" y="1557210"/>
            <a:ext cx="12696" cy="109728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4879E96-726B-4F42-BD7C-09F8D0B14E9A}"/>
              </a:ext>
            </a:extLst>
          </p:cNvPr>
          <p:cNvCxnSpPr>
            <a:cxnSpLocks/>
          </p:cNvCxnSpPr>
          <p:nvPr/>
        </p:nvCxnSpPr>
        <p:spPr>
          <a:xfrm flipV="1">
            <a:off x="7298502" y="1940000"/>
            <a:ext cx="0" cy="71449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F119609-4333-414A-B8E4-E2447D7E1C10}"/>
              </a:ext>
            </a:extLst>
          </p:cNvPr>
          <p:cNvCxnSpPr>
            <a:cxnSpLocks/>
          </p:cNvCxnSpPr>
          <p:nvPr/>
        </p:nvCxnSpPr>
        <p:spPr>
          <a:xfrm flipV="1">
            <a:off x="7664780" y="2288730"/>
            <a:ext cx="0" cy="36576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890CC23-4ADC-D744-AF2D-1C8A936F07FC}"/>
              </a:ext>
            </a:extLst>
          </p:cNvPr>
          <p:cNvCxnSpPr>
            <a:cxnSpLocks/>
          </p:cNvCxnSpPr>
          <p:nvPr/>
        </p:nvCxnSpPr>
        <p:spPr>
          <a:xfrm>
            <a:off x="3345847" y="2674387"/>
            <a:ext cx="4712717" cy="298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E4CDC90-4B2E-BE41-BB9D-A84675F3A2FE}"/>
              </a:ext>
            </a:extLst>
          </p:cNvPr>
          <p:cNvSpPr/>
          <p:nvPr/>
        </p:nvSpPr>
        <p:spPr>
          <a:xfrm>
            <a:off x="7979316" y="2612013"/>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7BCF22C9-C9AE-324D-B157-A9536FCAF3B6}"/>
              </a:ext>
            </a:extLst>
          </p:cNvPr>
          <p:cNvCxnSpPr>
            <a:cxnSpLocks/>
          </p:cNvCxnSpPr>
          <p:nvPr/>
        </p:nvCxnSpPr>
        <p:spPr>
          <a:xfrm>
            <a:off x="3937979" y="2785664"/>
            <a:ext cx="255524" cy="0"/>
          </a:xfrm>
          <a:prstGeom prst="straightConnector1">
            <a:avLst/>
          </a:prstGeom>
          <a:ln>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1A59953-657F-C641-8F36-E48E8EDB0DF1}"/>
              </a:ext>
            </a:extLst>
          </p:cNvPr>
          <p:cNvSpPr txBox="1"/>
          <p:nvPr/>
        </p:nvSpPr>
        <p:spPr>
          <a:xfrm>
            <a:off x="3755431" y="2755960"/>
            <a:ext cx="64472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 @</a:t>
            </a:r>
          </a:p>
        </p:txBody>
      </p:sp>
      <p:sp>
        <p:nvSpPr>
          <p:cNvPr id="31" name="TextBox 30">
            <a:extLst>
              <a:ext uri="{FF2B5EF4-FFF2-40B4-BE49-F238E27FC236}">
                <a16:creationId xmlns:a16="http://schemas.microsoft.com/office/drawing/2014/main" id="{713B9ACE-B673-2D48-BEF2-2A133C31B527}"/>
              </a:ext>
            </a:extLst>
          </p:cNvPr>
          <p:cNvSpPr txBox="1"/>
          <p:nvPr/>
        </p:nvSpPr>
        <p:spPr>
          <a:xfrm>
            <a:off x="5910030" y="871086"/>
            <a:ext cx="32893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TextBox 35">
            <a:extLst>
              <a:ext uri="{FF2B5EF4-FFF2-40B4-BE49-F238E27FC236}">
                <a16:creationId xmlns:a16="http://schemas.microsoft.com/office/drawing/2014/main" id="{3A81A480-EF64-094E-825A-8592DAA4C672}"/>
              </a:ext>
            </a:extLst>
          </p:cNvPr>
          <p:cNvSpPr txBox="1"/>
          <p:nvPr/>
        </p:nvSpPr>
        <p:spPr>
          <a:xfrm>
            <a:off x="7874235" y="3754566"/>
            <a:ext cx="2367624"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Electric Potential Field Tracers</a:t>
            </a:r>
            <a:endParaRPr kumimoji="0" lang="en-US" sz="1100" b="0" i="1" u="none" strike="noStrike" kern="1200" cap="none" spc="0" normalizeH="0" baseline="0" noProof="0" dirty="0">
              <a:ln>
                <a:noFill/>
              </a:ln>
              <a:solidFill>
                <a:schemeClr val="bg1"/>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0C67DA45-6876-7942-9996-48CA0A1696FE}"/>
              </a:ext>
            </a:extLst>
          </p:cNvPr>
          <p:cNvCxnSpPr>
            <a:cxnSpLocks/>
          </p:cNvCxnSpPr>
          <p:nvPr/>
        </p:nvCxnSpPr>
        <p:spPr>
          <a:xfrm>
            <a:off x="7801938" y="3772793"/>
            <a:ext cx="118018" cy="877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E7A6F30-9D38-0B1B-2076-531827EE9F50}"/>
              </a:ext>
            </a:extLst>
          </p:cNvPr>
          <p:cNvSpPr txBox="1"/>
          <p:nvPr/>
        </p:nvSpPr>
        <p:spPr>
          <a:xfrm>
            <a:off x="1473371" y="187251"/>
            <a:ext cx="972400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on Linear Path with Velocity v = @</a:t>
            </a:r>
          </a:p>
        </p:txBody>
      </p:sp>
      <p:grpSp>
        <p:nvGrpSpPr>
          <p:cNvPr id="2" name="Group 1">
            <a:extLst>
              <a:ext uri="{FF2B5EF4-FFF2-40B4-BE49-F238E27FC236}">
                <a16:creationId xmlns:a16="http://schemas.microsoft.com/office/drawing/2014/main" id="{B98AD1F2-987D-71EB-A470-E4A41A905EDF}"/>
              </a:ext>
            </a:extLst>
          </p:cNvPr>
          <p:cNvGrpSpPr/>
          <p:nvPr/>
        </p:nvGrpSpPr>
        <p:grpSpPr>
          <a:xfrm>
            <a:off x="28129" y="1077673"/>
            <a:ext cx="11664338" cy="5685100"/>
            <a:chOff x="28129" y="1077673"/>
            <a:chExt cx="11664338" cy="5685100"/>
          </a:xfrm>
        </p:grpSpPr>
        <p:cxnSp>
          <p:nvCxnSpPr>
            <p:cNvPr id="6" name="Straight Arrow Connector 5">
              <a:extLst>
                <a:ext uri="{FF2B5EF4-FFF2-40B4-BE49-F238E27FC236}">
                  <a16:creationId xmlns:a16="http://schemas.microsoft.com/office/drawing/2014/main" id="{836C1A95-A13A-0EE6-733B-6B2D96A15332}"/>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AA9E325-051B-BE4A-55F2-7CFF0AFD3797}"/>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F6E9CDB-4ADF-E626-B2A4-DEA60E4A02F0}"/>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4" name="TextBox 13">
              <a:extLst>
                <a:ext uri="{FF2B5EF4-FFF2-40B4-BE49-F238E27FC236}">
                  <a16:creationId xmlns:a16="http://schemas.microsoft.com/office/drawing/2014/main" id="{01E78D1F-323F-0A4F-4B30-4CE146D0EB63}"/>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grpSp>
    </p:spTree>
    <p:extLst>
      <p:ext uri="{BB962C8B-B14F-4D97-AF65-F5344CB8AC3E}">
        <p14:creationId xmlns:p14="http://schemas.microsoft.com/office/powerpoint/2010/main" val="4081239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6" name="TextBox 25">
            <a:extLst>
              <a:ext uri="{FF2B5EF4-FFF2-40B4-BE49-F238E27FC236}">
                <a16:creationId xmlns:a16="http://schemas.microsoft.com/office/drawing/2014/main" id="{FA5E13D2-A15E-F54D-9507-CAD768919361}"/>
              </a:ext>
            </a:extLst>
          </p:cNvPr>
          <p:cNvSpPr txBox="1"/>
          <p:nvPr/>
        </p:nvSpPr>
        <p:spPr>
          <a:xfrm>
            <a:off x="2547585" y="5103933"/>
            <a:ext cx="8253298"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Imagine a point potential with linear velocity v &gt; @, the electric potential field speed.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point potential outpaces its own potential field.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v &gt; @ the point potential experiences its own field and there is self action.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0112617B-A1D5-1E41-BF92-E67D4E046E39}"/>
              </a:ext>
            </a:extLst>
          </p:cNvPr>
          <p:cNvSpPr>
            <a:spLocks noChangeAspect="1"/>
          </p:cNvSpPr>
          <p:nvPr/>
        </p:nvSpPr>
        <p:spPr>
          <a:xfrm>
            <a:off x="4026011" y="1251559"/>
            <a:ext cx="3657600" cy="3657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6EF0F7DA-5E70-8348-A200-F59A10FF7C55}"/>
              </a:ext>
            </a:extLst>
          </p:cNvPr>
          <p:cNvSpPr>
            <a:spLocks noChangeAspect="1"/>
          </p:cNvSpPr>
          <p:nvPr/>
        </p:nvSpPr>
        <p:spPr>
          <a:xfrm>
            <a:off x="4935331" y="1617319"/>
            <a:ext cx="2926080" cy="292608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52F58D0-F613-674A-B294-C894E5FB1683}"/>
              </a:ext>
            </a:extLst>
          </p:cNvPr>
          <p:cNvSpPr>
            <a:spLocks noChangeAspect="1"/>
          </p:cNvSpPr>
          <p:nvPr/>
        </p:nvSpPr>
        <p:spPr>
          <a:xfrm>
            <a:off x="5853118" y="1983079"/>
            <a:ext cx="2194560" cy="219456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9CA7A721-D3BD-744E-9306-85BBED5F74BC}"/>
              </a:ext>
            </a:extLst>
          </p:cNvPr>
          <p:cNvSpPr>
            <a:spLocks noChangeAspect="1"/>
          </p:cNvSpPr>
          <p:nvPr/>
        </p:nvSpPr>
        <p:spPr>
          <a:xfrm>
            <a:off x="6770904" y="2348839"/>
            <a:ext cx="1463040" cy="146304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F97F1A02-C0C7-3C45-9790-847C152D159A}"/>
              </a:ext>
            </a:extLst>
          </p:cNvPr>
          <p:cNvSpPr>
            <a:spLocks noChangeAspect="1"/>
          </p:cNvSpPr>
          <p:nvPr/>
        </p:nvSpPr>
        <p:spPr>
          <a:xfrm>
            <a:off x="7680960" y="2714599"/>
            <a:ext cx="731520" cy="73152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05289ED1-4679-6543-A669-B23443FD0CD8}"/>
              </a:ext>
            </a:extLst>
          </p:cNvPr>
          <p:cNvCxnSpPr>
            <a:cxnSpLocks/>
          </p:cNvCxnSpPr>
          <p:nvPr/>
        </p:nvCxnSpPr>
        <p:spPr>
          <a:xfrm flipH="1" flipV="1">
            <a:off x="5854522" y="1241644"/>
            <a:ext cx="27603" cy="182880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9F8BF55-7F79-854D-84AD-A730BF43B39C}"/>
              </a:ext>
            </a:extLst>
          </p:cNvPr>
          <p:cNvCxnSpPr>
            <a:cxnSpLocks/>
          </p:cNvCxnSpPr>
          <p:nvPr/>
        </p:nvCxnSpPr>
        <p:spPr>
          <a:xfrm flipH="1" flipV="1">
            <a:off x="6399368" y="1624434"/>
            <a:ext cx="21294" cy="144601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415B495-590C-0049-92E6-8AE7464CC78A}"/>
              </a:ext>
            </a:extLst>
          </p:cNvPr>
          <p:cNvCxnSpPr>
            <a:cxnSpLocks/>
          </p:cNvCxnSpPr>
          <p:nvPr/>
        </p:nvCxnSpPr>
        <p:spPr>
          <a:xfrm flipH="1" flipV="1">
            <a:off x="6949756" y="1973164"/>
            <a:ext cx="12696" cy="109728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4879E96-726B-4F42-BD7C-09F8D0B14E9A}"/>
              </a:ext>
            </a:extLst>
          </p:cNvPr>
          <p:cNvCxnSpPr>
            <a:cxnSpLocks/>
          </p:cNvCxnSpPr>
          <p:nvPr/>
        </p:nvCxnSpPr>
        <p:spPr>
          <a:xfrm flipV="1">
            <a:off x="7503179" y="2355954"/>
            <a:ext cx="0" cy="71449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F119609-4333-414A-B8E4-E2447D7E1C10}"/>
              </a:ext>
            </a:extLst>
          </p:cNvPr>
          <p:cNvCxnSpPr>
            <a:cxnSpLocks/>
          </p:cNvCxnSpPr>
          <p:nvPr/>
        </p:nvCxnSpPr>
        <p:spPr>
          <a:xfrm flipV="1">
            <a:off x="8044082" y="2704684"/>
            <a:ext cx="0" cy="365760"/>
          </a:xfrm>
          <a:prstGeom prst="straightConnector1">
            <a:avLst/>
          </a:prstGeom>
          <a:ln w="28575">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890CC23-4ADC-D744-AF2D-1C8A936F07FC}"/>
              </a:ext>
            </a:extLst>
          </p:cNvPr>
          <p:cNvCxnSpPr>
            <a:cxnSpLocks/>
          </p:cNvCxnSpPr>
          <p:nvPr/>
        </p:nvCxnSpPr>
        <p:spPr>
          <a:xfrm>
            <a:off x="3403600" y="3082222"/>
            <a:ext cx="5264567"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E4CDC90-4B2E-BE41-BB9D-A84675F3A2FE}"/>
              </a:ext>
            </a:extLst>
          </p:cNvPr>
          <p:cNvSpPr/>
          <p:nvPr/>
        </p:nvSpPr>
        <p:spPr>
          <a:xfrm>
            <a:off x="8588919" y="3016859"/>
            <a:ext cx="127000" cy="127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7BCF22C9-C9AE-324D-B157-A9536FCAF3B6}"/>
              </a:ext>
            </a:extLst>
          </p:cNvPr>
          <p:cNvCxnSpPr>
            <a:cxnSpLocks/>
          </p:cNvCxnSpPr>
          <p:nvPr/>
        </p:nvCxnSpPr>
        <p:spPr>
          <a:xfrm>
            <a:off x="3495056" y="3213021"/>
            <a:ext cx="255524" cy="0"/>
          </a:xfrm>
          <a:prstGeom prst="straightConnector1">
            <a:avLst/>
          </a:prstGeom>
          <a:ln>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1A59953-657F-C641-8F36-E48E8EDB0DF1}"/>
              </a:ext>
            </a:extLst>
          </p:cNvPr>
          <p:cNvSpPr txBox="1"/>
          <p:nvPr/>
        </p:nvSpPr>
        <p:spPr>
          <a:xfrm>
            <a:off x="3306908" y="3201505"/>
            <a:ext cx="622286"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&gt; @</a:t>
            </a:r>
          </a:p>
        </p:txBody>
      </p:sp>
      <p:sp>
        <p:nvSpPr>
          <p:cNvPr id="31" name="TextBox 30">
            <a:extLst>
              <a:ext uri="{FF2B5EF4-FFF2-40B4-BE49-F238E27FC236}">
                <a16:creationId xmlns:a16="http://schemas.microsoft.com/office/drawing/2014/main" id="{713B9ACE-B673-2D48-BEF2-2A133C31B527}"/>
              </a:ext>
            </a:extLst>
          </p:cNvPr>
          <p:cNvSpPr txBox="1"/>
          <p:nvPr/>
        </p:nvSpPr>
        <p:spPr>
          <a:xfrm>
            <a:off x="5539387" y="1286276"/>
            <a:ext cx="328936" cy="30777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TextBox 35">
            <a:extLst>
              <a:ext uri="{FF2B5EF4-FFF2-40B4-BE49-F238E27FC236}">
                <a16:creationId xmlns:a16="http://schemas.microsoft.com/office/drawing/2014/main" id="{3A81A480-EF64-094E-825A-8592DAA4C672}"/>
              </a:ext>
            </a:extLst>
          </p:cNvPr>
          <p:cNvSpPr txBox="1"/>
          <p:nvPr/>
        </p:nvSpPr>
        <p:spPr>
          <a:xfrm>
            <a:off x="7163038" y="4609410"/>
            <a:ext cx="2367624" cy="2616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Electric Potential Field Tracers</a:t>
            </a:r>
            <a:endParaRPr kumimoji="0" lang="en-US" sz="1100" b="0" i="1" u="none" strike="noStrike" kern="1200" cap="none" spc="0" normalizeH="0" baseline="0" noProof="0" dirty="0">
              <a:ln>
                <a:noFill/>
              </a:ln>
              <a:solidFill>
                <a:schemeClr val="bg1"/>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0C67DA45-6876-7942-9996-48CA0A1696FE}"/>
              </a:ext>
            </a:extLst>
          </p:cNvPr>
          <p:cNvCxnSpPr>
            <a:cxnSpLocks/>
          </p:cNvCxnSpPr>
          <p:nvPr/>
        </p:nvCxnSpPr>
        <p:spPr>
          <a:xfrm>
            <a:off x="7090741" y="4627637"/>
            <a:ext cx="118018" cy="877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5B497FC-A4FB-6E22-82A5-ECE9FFBF1D45}"/>
              </a:ext>
            </a:extLst>
          </p:cNvPr>
          <p:cNvSpPr txBox="1"/>
          <p:nvPr/>
        </p:nvSpPr>
        <p:spPr>
          <a:xfrm>
            <a:off x="1478847" y="228414"/>
            <a:ext cx="992703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on Linear Path with Velocity v &gt; @</a:t>
            </a:r>
          </a:p>
        </p:txBody>
      </p:sp>
      <p:cxnSp>
        <p:nvCxnSpPr>
          <p:cNvPr id="6" name="Straight Arrow Connector 5">
            <a:extLst>
              <a:ext uri="{FF2B5EF4-FFF2-40B4-BE49-F238E27FC236}">
                <a16:creationId xmlns:a16="http://schemas.microsoft.com/office/drawing/2014/main" id="{3B9C4884-FD04-1DA8-E9C2-C28549C7A16E}"/>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6FFF53F-C9D7-1557-FC42-A159BAC6A3AE}"/>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7A94EE7-D3B6-AC25-503E-E6C0EE1F179B}"/>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1" name="TextBox 10">
            <a:extLst>
              <a:ext uri="{FF2B5EF4-FFF2-40B4-BE49-F238E27FC236}">
                <a16:creationId xmlns:a16="http://schemas.microsoft.com/office/drawing/2014/main" id="{C80380D5-790B-3854-4D6A-3811EF0E2829}"/>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spTree>
    <p:extLst>
      <p:ext uri="{BB962C8B-B14F-4D97-AF65-F5344CB8AC3E}">
        <p14:creationId xmlns:p14="http://schemas.microsoft.com/office/powerpoint/2010/main" val="2347082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0AB73162-F4FB-AD38-1F35-FA4B5AB487CE}"/>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8949F10E-6D23-F0EA-2E56-92DD2DE28C2A}"/>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grpSp>
        <p:nvGrpSpPr>
          <p:cNvPr id="9" name="Group 8">
            <a:extLst>
              <a:ext uri="{FF2B5EF4-FFF2-40B4-BE49-F238E27FC236}">
                <a16:creationId xmlns:a16="http://schemas.microsoft.com/office/drawing/2014/main" id="{E9850113-AB4C-1F87-EB30-16E25C586B5C}"/>
              </a:ext>
            </a:extLst>
          </p:cNvPr>
          <p:cNvGrpSpPr/>
          <p:nvPr/>
        </p:nvGrpSpPr>
        <p:grpSpPr>
          <a:xfrm>
            <a:off x="664625" y="1173522"/>
            <a:ext cx="5475154" cy="5405229"/>
            <a:chOff x="3484605" y="1083438"/>
            <a:chExt cx="5475154" cy="5405229"/>
          </a:xfrm>
        </p:grpSpPr>
        <p:pic>
          <p:nvPicPr>
            <p:cNvPr id="3" name="Picture 2">
              <a:extLst>
                <a:ext uri="{FF2B5EF4-FFF2-40B4-BE49-F238E27FC236}">
                  <a16:creationId xmlns:a16="http://schemas.microsoft.com/office/drawing/2014/main" id="{9851A9B8-C2CC-C4AE-6C06-EB4B33725392}"/>
                </a:ext>
              </a:extLst>
            </p:cNvPr>
            <p:cNvPicPr>
              <a:picLocks noChangeAspect="1"/>
            </p:cNvPicPr>
            <p:nvPr/>
          </p:nvPicPr>
          <p:blipFill>
            <a:blip r:embed="rId2"/>
            <a:stretch>
              <a:fillRect/>
            </a:stretch>
          </p:blipFill>
          <p:spPr>
            <a:xfrm>
              <a:off x="3484605" y="1083438"/>
              <a:ext cx="5475154" cy="5405229"/>
            </a:xfrm>
            <a:prstGeom prst="rect">
              <a:avLst/>
            </a:prstGeom>
            <a:ln w="12700">
              <a:solidFill>
                <a:schemeClr val="bg1">
                  <a:lumMod val="75000"/>
                </a:schemeClr>
              </a:solidFill>
            </a:ln>
          </p:spPr>
        </p:pic>
        <p:sp>
          <p:nvSpPr>
            <p:cNvPr id="4" name="Freeform 3">
              <a:extLst>
                <a:ext uri="{FF2B5EF4-FFF2-40B4-BE49-F238E27FC236}">
                  <a16:creationId xmlns:a16="http://schemas.microsoft.com/office/drawing/2014/main" id="{A6E4734A-F61C-B1B6-E09B-251407A8B0F9}"/>
                </a:ext>
              </a:extLst>
            </p:cNvPr>
            <p:cNvSpPr/>
            <p:nvPr/>
          </p:nvSpPr>
          <p:spPr>
            <a:xfrm>
              <a:off x="4422775" y="4295775"/>
              <a:ext cx="2295525" cy="584200"/>
            </a:xfrm>
            <a:custGeom>
              <a:avLst/>
              <a:gdLst>
                <a:gd name="connsiteX0" fmla="*/ 0 w 2295525"/>
                <a:gd name="connsiteY0" fmla="*/ 0 h 584200"/>
                <a:gd name="connsiteX1" fmla="*/ 454025 w 2295525"/>
                <a:gd name="connsiteY1" fmla="*/ 114300 h 584200"/>
                <a:gd name="connsiteX2" fmla="*/ 904875 w 2295525"/>
                <a:gd name="connsiteY2" fmla="*/ 228600 h 584200"/>
                <a:gd name="connsiteX3" fmla="*/ 1374775 w 2295525"/>
                <a:gd name="connsiteY3" fmla="*/ 333375 h 584200"/>
                <a:gd name="connsiteX4" fmla="*/ 1851025 w 2295525"/>
                <a:gd name="connsiteY4" fmla="*/ 431800 h 584200"/>
                <a:gd name="connsiteX5" fmla="*/ 2295525 w 2295525"/>
                <a:gd name="connsiteY5" fmla="*/ 584200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5525" h="584200">
                  <a:moveTo>
                    <a:pt x="0" y="0"/>
                  </a:moveTo>
                  <a:lnTo>
                    <a:pt x="454025" y="114300"/>
                  </a:lnTo>
                  <a:lnTo>
                    <a:pt x="904875" y="228600"/>
                  </a:lnTo>
                  <a:cubicBezTo>
                    <a:pt x="1058333" y="265112"/>
                    <a:pt x="1374775" y="333375"/>
                    <a:pt x="1374775" y="333375"/>
                  </a:cubicBezTo>
                  <a:cubicBezTo>
                    <a:pt x="1532467" y="367242"/>
                    <a:pt x="1697567" y="389996"/>
                    <a:pt x="1851025" y="431800"/>
                  </a:cubicBezTo>
                  <a:cubicBezTo>
                    <a:pt x="2004483" y="473604"/>
                    <a:pt x="2150004" y="528902"/>
                    <a:pt x="2295525" y="584200"/>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Freeform 5">
              <a:extLst>
                <a:ext uri="{FF2B5EF4-FFF2-40B4-BE49-F238E27FC236}">
                  <a16:creationId xmlns:a16="http://schemas.microsoft.com/office/drawing/2014/main" id="{AE9693B7-399D-4648-5934-BAF780F94BB8}"/>
                </a:ext>
              </a:extLst>
            </p:cNvPr>
            <p:cNvSpPr/>
            <p:nvPr/>
          </p:nvSpPr>
          <p:spPr>
            <a:xfrm>
              <a:off x="5603874" y="3307930"/>
              <a:ext cx="1768475" cy="419966"/>
            </a:xfrm>
            <a:custGeom>
              <a:avLst/>
              <a:gdLst>
                <a:gd name="connsiteX0" fmla="*/ 0 w 1758950"/>
                <a:gd name="connsiteY0" fmla="*/ 7669 h 424039"/>
                <a:gd name="connsiteX1" fmla="*/ 400050 w 1758950"/>
                <a:gd name="connsiteY1" fmla="*/ 23544 h 424039"/>
                <a:gd name="connsiteX2" fmla="*/ 612775 w 1758950"/>
                <a:gd name="connsiteY2" fmla="*/ 204519 h 424039"/>
                <a:gd name="connsiteX3" fmla="*/ 939800 w 1758950"/>
                <a:gd name="connsiteY3" fmla="*/ 391844 h 424039"/>
                <a:gd name="connsiteX4" fmla="*/ 1454150 w 1758950"/>
                <a:gd name="connsiteY4" fmla="*/ 423594 h 424039"/>
                <a:gd name="connsiteX5" fmla="*/ 1758950 w 1758950"/>
                <a:gd name="connsiteY5" fmla="*/ 410894 h 424039"/>
                <a:gd name="connsiteX0" fmla="*/ 0 w 1758950"/>
                <a:gd name="connsiteY0" fmla="*/ 7318 h 423688"/>
                <a:gd name="connsiteX1" fmla="*/ 400050 w 1758950"/>
                <a:gd name="connsiteY1" fmla="*/ 23193 h 423688"/>
                <a:gd name="connsiteX2" fmla="*/ 622300 w 1758950"/>
                <a:gd name="connsiteY2" fmla="*/ 197818 h 423688"/>
                <a:gd name="connsiteX3" fmla="*/ 939800 w 1758950"/>
                <a:gd name="connsiteY3" fmla="*/ 391493 h 423688"/>
                <a:gd name="connsiteX4" fmla="*/ 1454150 w 1758950"/>
                <a:gd name="connsiteY4" fmla="*/ 423243 h 423688"/>
                <a:gd name="connsiteX5" fmla="*/ 1758950 w 1758950"/>
                <a:gd name="connsiteY5" fmla="*/ 410543 h 423688"/>
                <a:gd name="connsiteX0" fmla="*/ 0 w 1758950"/>
                <a:gd name="connsiteY0" fmla="*/ 5343 h 428063"/>
                <a:gd name="connsiteX1" fmla="*/ 400050 w 1758950"/>
                <a:gd name="connsiteY1" fmla="*/ 27568 h 428063"/>
                <a:gd name="connsiteX2" fmla="*/ 622300 w 1758950"/>
                <a:gd name="connsiteY2" fmla="*/ 202193 h 428063"/>
                <a:gd name="connsiteX3" fmla="*/ 939800 w 1758950"/>
                <a:gd name="connsiteY3" fmla="*/ 395868 h 428063"/>
                <a:gd name="connsiteX4" fmla="*/ 1454150 w 1758950"/>
                <a:gd name="connsiteY4" fmla="*/ 427618 h 428063"/>
                <a:gd name="connsiteX5" fmla="*/ 1758950 w 1758950"/>
                <a:gd name="connsiteY5" fmla="*/ 414918 h 428063"/>
                <a:gd name="connsiteX0" fmla="*/ 0 w 1768475"/>
                <a:gd name="connsiteY0" fmla="*/ 9946 h 419966"/>
                <a:gd name="connsiteX1" fmla="*/ 409575 w 1768475"/>
                <a:gd name="connsiteY1" fmla="*/ 19471 h 419966"/>
                <a:gd name="connsiteX2" fmla="*/ 631825 w 1768475"/>
                <a:gd name="connsiteY2" fmla="*/ 194096 h 419966"/>
                <a:gd name="connsiteX3" fmla="*/ 949325 w 1768475"/>
                <a:gd name="connsiteY3" fmla="*/ 387771 h 419966"/>
                <a:gd name="connsiteX4" fmla="*/ 1463675 w 1768475"/>
                <a:gd name="connsiteY4" fmla="*/ 419521 h 419966"/>
                <a:gd name="connsiteX5" fmla="*/ 1768475 w 1768475"/>
                <a:gd name="connsiteY5" fmla="*/ 406821 h 41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475" h="419966">
                  <a:moveTo>
                    <a:pt x="0" y="9946"/>
                  </a:moveTo>
                  <a:cubicBezTo>
                    <a:pt x="148960" y="1479"/>
                    <a:pt x="304271" y="-11221"/>
                    <a:pt x="409575" y="19471"/>
                  </a:cubicBezTo>
                  <a:cubicBezTo>
                    <a:pt x="514879" y="50163"/>
                    <a:pt x="541867" y="132713"/>
                    <a:pt x="631825" y="194096"/>
                  </a:cubicBezTo>
                  <a:cubicBezTo>
                    <a:pt x="721783" y="255479"/>
                    <a:pt x="810683" y="350200"/>
                    <a:pt x="949325" y="387771"/>
                  </a:cubicBezTo>
                  <a:cubicBezTo>
                    <a:pt x="1087967" y="425342"/>
                    <a:pt x="1327150" y="416346"/>
                    <a:pt x="1463675" y="419521"/>
                  </a:cubicBezTo>
                  <a:cubicBezTo>
                    <a:pt x="1600200" y="422696"/>
                    <a:pt x="1711325" y="407879"/>
                    <a:pt x="1768475" y="406821"/>
                  </a:cubicBezTo>
                </a:path>
              </a:pathLst>
            </a:cu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B4E061E7-B3BA-067C-8AC0-2AEC475558B3}"/>
              </a:ext>
            </a:extLst>
          </p:cNvPr>
          <p:cNvSpPr txBox="1">
            <a:spLocks/>
          </p:cNvSpPr>
          <p:nvPr/>
        </p:nvSpPr>
        <p:spPr>
          <a:xfrm>
            <a:off x="2845864" y="237369"/>
            <a:ext cx="6201156" cy="777875"/>
          </a:xfrm>
          <a:prstGeom prst="rect">
            <a:avLst/>
          </a:prstGeom>
        </p:spPr>
        <p:txBody>
          <a:bodyPr wrap="none">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Emission Magnitude Depends on Path</a:t>
            </a:r>
          </a:p>
        </p:txBody>
      </p:sp>
      <p:sp>
        <p:nvSpPr>
          <p:cNvPr id="10" name="TextBox 9">
            <a:extLst>
              <a:ext uri="{FF2B5EF4-FFF2-40B4-BE49-F238E27FC236}">
                <a16:creationId xmlns:a16="http://schemas.microsoft.com/office/drawing/2014/main" id="{FFF14DD8-B78C-E1D8-EB01-782F6700411F}"/>
              </a:ext>
            </a:extLst>
          </p:cNvPr>
          <p:cNvSpPr txBox="1"/>
          <p:nvPr/>
        </p:nvSpPr>
        <p:spPr>
          <a:xfrm>
            <a:off x="6358919" y="1651553"/>
            <a:ext cx="5639963" cy="3362844"/>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Paths are continuous through time and space.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Emission rate is a constant </a:t>
            </a:r>
            <a:r>
              <a:rPr kumimoji="0" lang="en-US" sz="1800" b="1"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dq</a:t>
            </a: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v = 0, emission magnitude is q</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v &gt; 0, emission magnitude is q/v</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potential magnitude at the surface of each Dirac sphere decreases as 1/r</a:t>
            </a:r>
            <a:r>
              <a:rPr kumimoji="0" lang="en-US" sz="1800" b="1" i="0" u="none" strike="noStrike" kern="1200" cap="none" spc="0" normalizeH="0" baseline="30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a:t>
            </a: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where r is the radius to the emission point, the sphere center</a:t>
            </a:r>
            <a:endParaRPr kumimoji="0" lang="en-US" sz="1800" b="1" i="0" u="none" strike="noStrike" kern="1200" cap="none" spc="0" normalizeH="0" baseline="30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392406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7C94C084-4476-0C4E-B896-CB3AC89A47F6}"/>
              </a:ext>
            </a:extLst>
          </p:cNvPr>
          <p:cNvSpPr txBox="1">
            <a:spLocks/>
          </p:cNvSpPr>
          <p:nvPr/>
        </p:nvSpPr>
        <p:spPr>
          <a:xfrm>
            <a:off x="10842796" y="6424816"/>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6" name="Freeform 5">
            <a:extLst>
              <a:ext uri="{FF2B5EF4-FFF2-40B4-BE49-F238E27FC236}">
                <a16:creationId xmlns:a16="http://schemas.microsoft.com/office/drawing/2014/main" id="{A25DAE9F-BED8-3A57-CD97-EDBD9F0EDD69}"/>
              </a:ext>
            </a:extLst>
          </p:cNvPr>
          <p:cNvSpPr/>
          <p:nvPr/>
        </p:nvSpPr>
        <p:spPr>
          <a:xfrm>
            <a:off x="1721767" y="1105861"/>
            <a:ext cx="7089271" cy="2224449"/>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7807396"/>
              <a:gd name="connsiteY0" fmla="*/ 654473 h 3128935"/>
              <a:gd name="connsiteX1" fmla="*/ 804333 w 7807396"/>
              <a:gd name="connsiteY1" fmla="*/ 2584873 h 3128935"/>
              <a:gd name="connsiteX2" fmla="*/ 1464733 w 7807396"/>
              <a:gd name="connsiteY2" fmla="*/ 121072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807396"/>
              <a:gd name="connsiteY0" fmla="*/ 654473 h 3128935"/>
              <a:gd name="connsiteX1" fmla="*/ 804333 w 7807396"/>
              <a:gd name="connsiteY1" fmla="*/ 2584873 h 3128935"/>
              <a:gd name="connsiteX2" fmla="*/ 1507976 w 7807396"/>
              <a:gd name="connsiteY2" fmla="*/ 1370450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764153"/>
              <a:gd name="connsiteY0" fmla="*/ 1360644 h 3128935"/>
              <a:gd name="connsiteX1" fmla="*/ 761090 w 7764153"/>
              <a:gd name="connsiteY1" fmla="*/ 2584873 h 3128935"/>
              <a:gd name="connsiteX2" fmla="*/ 1464733 w 7764153"/>
              <a:gd name="connsiteY2" fmla="*/ 1370450 h 3128935"/>
              <a:gd name="connsiteX3" fmla="*/ 2107290 w 7764153"/>
              <a:gd name="connsiteY3" fmla="*/ 1712807 h 3128935"/>
              <a:gd name="connsiteX4" fmla="*/ 3165624 w 7764153"/>
              <a:gd name="connsiteY4" fmla="*/ 1289473 h 3128935"/>
              <a:gd name="connsiteX5" fmla="*/ 3631215 w 7764153"/>
              <a:gd name="connsiteY5" fmla="*/ 2476967 h 3128935"/>
              <a:gd name="connsiteX6" fmla="*/ 4054623 w 7764153"/>
              <a:gd name="connsiteY6" fmla="*/ 1899073 h 3128935"/>
              <a:gd name="connsiteX7" fmla="*/ 4926691 w 7764153"/>
              <a:gd name="connsiteY7" fmla="*/ 3118273 h 3128935"/>
              <a:gd name="connsiteX8" fmla="*/ 6281357 w 7764153"/>
              <a:gd name="connsiteY8" fmla="*/ 1069339 h 3128935"/>
              <a:gd name="connsiteX9" fmla="*/ 6857091 w 7764153"/>
              <a:gd name="connsiteY9" fmla="*/ 2872740 h 3128935"/>
              <a:gd name="connsiteX10" fmla="*/ 7466691 w 7764153"/>
              <a:gd name="connsiteY10" fmla="*/ 44873 h 3128935"/>
              <a:gd name="connsiteX11" fmla="*/ 7763024 w 7764153"/>
              <a:gd name="connsiteY11" fmla="*/ 1086273 h 3128935"/>
              <a:gd name="connsiteX0" fmla="*/ 0 w 7764153"/>
              <a:gd name="connsiteY0" fmla="*/ 1360644 h 2883635"/>
              <a:gd name="connsiteX1" fmla="*/ 761090 w 7764153"/>
              <a:gd name="connsiteY1" fmla="*/ 2584873 h 2883635"/>
              <a:gd name="connsiteX2" fmla="*/ 1464733 w 7764153"/>
              <a:gd name="connsiteY2" fmla="*/ 1370450 h 2883635"/>
              <a:gd name="connsiteX3" fmla="*/ 2107290 w 7764153"/>
              <a:gd name="connsiteY3" fmla="*/ 1712807 h 2883635"/>
              <a:gd name="connsiteX4" fmla="*/ 3165624 w 7764153"/>
              <a:gd name="connsiteY4" fmla="*/ 1289473 h 2883635"/>
              <a:gd name="connsiteX5" fmla="*/ 3631215 w 7764153"/>
              <a:gd name="connsiteY5" fmla="*/ 2476967 h 2883635"/>
              <a:gd name="connsiteX6" fmla="*/ 4054623 w 7764153"/>
              <a:gd name="connsiteY6" fmla="*/ 1899073 h 2883635"/>
              <a:gd name="connsiteX7" fmla="*/ 4969935 w 7764153"/>
              <a:gd name="connsiteY7" fmla="*/ 2375889 h 2883635"/>
              <a:gd name="connsiteX8" fmla="*/ 6281357 w 7764153"/>
              <a:gd name="connsiteY8" fmla="*/ 1069339 h 2883635"/>
              <a:gd name="connsiteX9" fmla="*/ 6857091 w 7764153"/>
              <a:gd name="connsiteY9" fmla="*/ 2872740 h 2883635"/>
              <a:gd name="connsiteX10" fmla="*/ 7466691 w 7764153"/>
              <a:gd name="connsiteY10" fmla="*/ 44873 h 2883635"/>
              <a:gd name="connsiteX11" fmla="*/ 7763024 w 7764153"/>
              <a:gd name="connsiteY11" fmla="*/ 1086273 h 2883635"/>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631215 w 7764153"/>
              <a:gd name="connsiteY5" fmla="*/ 182737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562026 w 7764153"/>
              <a:gd name="connsiteY5" fmla="*/ 141091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64153" h="2224449">
                <a:moveTo>
                  <a:pt x="0" y="711054"/>
                </a:moveTo>
                <a:cubicBezTo>
                  <a:pt x="254000" y="938243"/>
                  <a:pt x="516968" y="1933649"/>
                  <a:pt x="761090" y="1935283"/>
                </a:cubicBezTo>
                <a:cubicBezTo>
                  <a:pt x="1005212" y="1936917"/>
                  <a:pt x="1240366" y="866204"/>
                  <a:pt x="1464733" y="720860"/>
                </a:cubicBezTo>
                <a:cubicBezTo>
                  <a:pt x="1689100" y="575516"/>
                  <a:pt x="1823808" y="1076713"/>
                  <a:pt x="2107290" y="1063217"/>
                </a:cubicBezTo>
                <a:cubicBezTo>
                  <a:pt x="2390772" y="1049721"/>
                  <a:pt x="2923168" y="581933"/>
                  <a:pt x="3165624" y="639883"/>
                </a:cubicBezTo>
                <a:cubicBezTo>
                  <a:pt x="3408080" y="697833"/>
                  <a:pt x="3449137" y="1092006"/>
                  <a:pt x="3562026" y="1410917"/>
                </a:cubicBezTo>
                <a:cubicBezTo>
                  <a:pt x="3674915" y="1729828"/>
                  <a:pt x="3819972" y="1196919"/>
                  <a:pt x="4054623" y="1249483"/>
                </a:cubicBezTo>
                <a:cubicBezTo>
                  <a:pt x="4289275" y="1302047"/>
                  <a:pt x="4598813" y="1864588"/>
                  <a:pt x="4969935" y="1726299"/>
                </a:cubicBezTo>
                <a:cubicBezTo>
                  <a:pt x="5341057" y="1588010"/>
                  <a:pt x="5966831" y="336941"/>
                  <a:pt x="6281357" y="419749"/>
                </a:cubicBezTo>
                <a:cubicBezTo>
                  <a:pt x="6595883" y="502557"/>
                  <a:pt x="6659535" y="2279217"/>
                  <a:pt x="6857091" y="2223150"/>
                </a:cubicBezTo>
                <a:cubicBezTo>
                  <a:pt x="7054647" y="2167083"/>
                  <a:pt x="7315703" y="381090"/>
                  <a:pt x="7466692" y="83346"/>
                </a:cubicBezTo>
                <a:cubicBezTo>
                  <a:pt x="7617681" y="-214398"/>
                  <a:pt x="7779252" y="376711"/>
                  <a:pt x="7763024" y="436683"/>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3F833B4A-7F30-F940-BD46-AAD4F1EC84C2}"/>
              </a:ext>
            </a:extLst>
          </p:cNvPr>
          <p:cNvSpPr/>
          <p:nvPr/>
        </p:nvSpPr>
        <p:spPr>
          <a:xfrm>
            <a:off x="1771635" y="4062282"/>
            <a:ext cx="7089271" cy="1399594"/>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28935"/>
              <a:gd name="connsiteX1" fmla="*/ 719666 w 8527062"/>
              <a:gd name="connsiteY1" fmla="*/ 654473 h 3128935"/>
              <a:gd name="connsiteX2" fmla="*/ 1523999 w 8527062"/>
              <a:gd name="connsiteY2" fmla="*/ 2584873 h 3128935"/>
              <a:gd name="connsiteX3" fmla="*/ 2870199 w 8527062"/>
              <a:gd name="connsiteY3" fmla="*/ 1712807 h 3128935"/>
              <a:gd name="connsiteX4" fmla="*/ 3928533 w 8527062"/>
              <a:gd name="connsiteY4" fmla="*/ 1289473 h 3128935"/>
              <a:gd name="connsiteX5" fmla="*/ 4394124 w 8527062"/>
              <a:gd name="connsiteY5" fmla="*/ 2476967 h 3128935"/>
              <a:gd name="connsiteX6" fmla="*/ 4817532 w 8527062"/>
              <a:gd name="connsiteY6" fmla="*/ 1899073 h 3128935"/>
              <a:gd name="connsiteX7" fmla="*/ 5689600 w 8527062"/>
              <a:gd name="connsiteY7" fmla="*/ 3118273 h 3128935"/>
              <a:gd name="connsiteX8" fmla="*/ 7044266 w 8527062"/>
              <a:gd name="connsiteY8" fmla="*/ 1069339 h 3128935"/>
              <a:gd name="connsiteX9" fmla="*/ 7620000 w 8527062"/>
              <a:gd name="connsiteY9" fmla="*/ 2872740 h 3128935"/>
              <a:gd name="connsiteX10" fmla="*/ 8229600 w 8527062"/>
              <a:gd name="connsiteY10" fmla="*/ 44873 h 3128935"/>
              <a:gd name="connsiteX11" fmla="*/ 8525933 w 8527062"/>
              <a:gd name="connsiteY11" fmla="*/ 1086273 h 3128935"/>
              <a:gd name="connsiteX0" fmla="*/ 0 w 8527062"/>
              <a:gd name="connsiteY0" fmla="*/ 1221740 h 3130725"/>
              <a:gd name="connsiteX1" fmla="*/ 719666 w 8527062"/>
              <a:gd name="connsiteY1" fmla="*/ 654473 h 3130725"/>
              <a:gd name="connsiteX2" fmla="*/ 1523999 w 8527062"/>
              <a:gd name="connsiteY2" fmla="*/ 2584873 h 3130725"/>
              <a:gd name="connsiteX3" fmla="*/ 2870199 w 8527062"/>
              <a:gd name="connsiteY3" fmla="*/ 1712807 h 3130725"/>
              <a:gd name="connsiteX4" fmla="*/ 3928533 w 8527062"/>
              <a:gd name="connsiteY4" fmla="*/ 1289473 h 3130725"/>
              <a:gd name="connsiteX5" fmla="*/ 4817532 w 8527062"/>
              <a:gd name="connsiteY5" fmla="*/ 1899073 h 3130725"/>
              <a:gd name="connsiteX6" fmla="*/ 5689600 w 8527062"/>
              <a:gd name="connsiteY6" fmla="*/ 3118273 h 3130725"/>
              <a:gd name="connsiteX7" fmla="*/ 7044266 w 8527062"/>
              <a:gd name="connsiteY7" fmla="*/ 1069339 h 3130725"/>
              <a:gd name="connsiteX8" fmla="*/ 7620000 w 8527062"/>
              <a:gd name="connsiteY8" fmla="*/ 2872740 h 3130725"/>
              <a:gd name="connsiteX9" fmla="*/ 8229600 w 8527062"/>
              <a:gd name="connsiteY9" fmla="*/ 44873 h 3130725"/>
              <a:gd name="connsiteX10" fmla="*/ 8525933 w 8527062"/>
              <a:gd name="connsiteY10" fmla="*/ 1086273 h 3130725"/>
              <a:gd name="connsiteX0" fmla="*/ 0 w 8527062"/>
              <a:gd name="connsiteY0" fmla="*/ 1221740 h 2884077"/>
              <a:gd name="connsiteX1" fmla="*/ 719666 w 8527062"/>
              <a:gd name="connsiteY1" fmla="*/ 654473 h 2884077"/>
              <a:gd name="connsiteX2" fmla="*/ 1523999 w 8527062"/>
              <a:gd name="connsiteY2" fmla="*/ 2584873 h 2884077"/>
              <a:gd name="connsiteX3" fmla="*/ 2870199 w 8527062"/>
              <a:gd name="connsiteY3" fmla="*/ 1712807 h 2884077"/>
              <a:gd name="connsiteX4" fmla="*/ 3928533 w 8527062"/>
              <a:gd name="connsiteY4" fmla="*/ 1289473 h 2884077"/>
              <a:gd name="connsiteX5" fmla="*/ 4817532 w 8527062"/>
              <a:gd name="connsiteY5" fmla="*/ 1899073 h 2884077"/>
              <a:gd name="connsiteX6" fmla="*/ 7044266 w 8527062"/>
              <a:gd name="connsiteY6" fmla="*/ 1069339 h 2884077"/>
              <a:gd name="connsiteX7" fmla="*/ 7620000 w 8527062"/>
              <a:gd name="connsiteY7" fmla="*/ 2872740 h 2884077"/>
              <a:gd name="connsiteX8" fmla="*/ 8229600 w 8527062"/>
              <a:gd name="connsiteY8" fmla="*/ 44873 h 2884077"/>
              <a:gd name="connsiteX9" fmla="*/ 8525933 w 8527062"/>
              <a:gd name="connsiteY9" fmla="*/ 1086273 h 2884077"/>
              <a:gd name="connsiteX0" fmla="*/ 0 w 8527062"/>
              <a:gd name="connsiteY0" fmla="*/ 1221740 h 2609220"/>
              <a:gd name="connsiteX1" fmla="*/ 719666 w 8527062"/>
              <a:gd name="connsiteY1" fmla="*/ 654473 h 2609220"/>
              <a:gd name="connsiteX2" fmla="*/ 1523999 w 8527062"/>
              <a:gd name="connsiteY2" fmla="*/ 2584873 h 2609220"/>
              <a:gd name="connsiteX3" fmla="*/ 2870199 w 8527062"/>
              <a:gd name="connsiteY3" fmla="*/ 1712807 h 2609220"/>
              <a:gd name="connsiteX4" fmla="*/ 3928533 w 8527062"/>
              <a:gd name="connsiteY4" fmla="*/ 1289473 h 2609220"/>
              <a:gd name="connsiteX5" fmla="*/ 4817532 w 8527062"/>
              <a:gd name="connsiteY5" fmla="*/ 1899073 h 2609220"/>
              <a:gd name="connsiteX6" fmla="*/ 7044266 w 8527062"/>
              <a:gd name="connsiteY6" fmla="*/ 1069339 h 2609220"/>
              <a:gd name="connsiteX7" fmla="*/ 8229600 w 8527062"/>
              <a:gd name="connsiteY7" fmla="*/ 44873 h 2609220"/>
              <a:gd name="connsiteX8" fmla="*/ 8525933 w 8527062"/>
              <a:gd name="connsiteY8" fmla="*/ 1086273 h 2609220"/>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7044266 w 8526584"/>
              <a:gd name="connsiteY6" fmla="*/ 443722 h 1983603"/>
              <a:gd name="connsiteX7" fmla="*/ 8100190 w 8526584"/>
              <a:gd name="connsiteY7" fmla="*/ 850123 h 1983603"/>
              <a:gd name="connsiteX8" fmla="*/ 8525933 w 8526584"/>
              <a:gd name="connsiteY8" fmla="*/ 460656 h 1983603"/>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6906768 w 8526584"/>
              <a:gd name="connsiteY6" fmla="*/ 502989 h 1983603"/>
              <a:gd name="connsiteX7" fmla="*/ 8100190 w 8526584"/>
              <a:gd name="connsiteY7" fmla="*/ 850123 h 1983603"/>
              <a:gd name="connsiteX8" fmla="*/ 8525933 w 8526584"/>
              <a:gd name="connsiteY8" fmla="*/ 460656 h 1983603"/>
              <a:gd name="connsiteX0" fmla="*/ 0 w 8526584"/>
              <a:gd name="connsiteY0" fmla="*/ 148404 h 1513499"/>
              <a:gd name="connsiteX1" fmla="*/ 768195 w 8526584"/>
              <a:gd name="connsiteY1" fmla="*/ 377004 h 1513499"/>
              <a:gd name="connsiteX2" fmla="*/ 1523999 w 8526584"/>
              <a:gd name="connsiteY2" fmla="*/ 1511537 h 1513499"/>
              <a:gd name="connsiteX3" fmla="*/ 2870199 w 8526584"/>
              <a:gd name="connsiteY3" fmla="*/ 639471 h 1513499"/>
              <a:gd name="connsiteX4" fmla="*/ 3928533 w 8526584"/>
              <a:gd name="connsiteY4" fmla="*/ 216137 h 1513499"/>
              <a:gd name="connsiteX5" fmla="*/ 4817532 w 8526584"/>
              <a:gd name="connsiteY5" fmla="*/ 825737 h 1513499"/>
              <a:gd name="connsiteX6" fmla="*/ 6906768 w 8526584"/>
              <a:gd name="connsiteY6" fmla="*/ 55270 h 1513499"/>
              <a:gd name="connsiteX7" fmla="*/ 8100190 w 8526584"/>
              <a:gd name="connsiteY7" fmla="*/ 402404 h 1513499"/>
              <a:gd name="connsiteX8" fmla="*/ 8525933 w 8526584"/>
              <a:gd name="connsiteY8" fmla="*/ 12937 h 1513499"/>
              <a:gd name="connsiteX0" fmla="*/ 0 w 8526584"/>
              <a:gd name="connsiteY0" fmla="*/ 148404 h 1302454"/>
              <a:gd name="connsiteX1" fmla="*/ 768195 w 8526584"/>
              <a:gd name="connsiteY1" fmla="*/ 377004 h 1302454"/>
              <a:gd name="connsiteX2" fmla="*/ 1750467 w 8526584"/>
              <a:gd name="connsiteY2" fmla="*/ 1299870 h 1302454"/>
              <a:gd name="connsiteX3" fmla="*/ 2870199 w 8526584"/>
              <a:gd name="connsiteY3" fmla="*/ 639471 h 1302454"/>
              <a:gd name="connsiteX4" fmla="*/ 3928533 w 8526584"/>
              <a:gd name="connsiteY4" fmla="*/ 216137 h 1302454"/>
              <a:gd name="connsiteX5" fmla="*/ 4817532 w 8526584"/>
              <a:gd name="connsiteY5" fmla="*/ 825737 h 1302454"/>
              <a:gd name="connsiteX6" fmla="*/ 6906768 w 8526584"/>
              <a:gd name="connsiteY6" fmla="*/ 55270 h 1302454"/>
              <a:gd name="connsiteX7" fmla="*/ 8100190 w 8526584"/>
              <a:gd name="connsiteY7" fmla="*/ 402404 h 1302454"/>
              <a:gd name="connsiteX8" fmla="*/ 8525933 w 8526584"/>
              <a:gd name="connsiteY8" fmla="*/ 12937 h 1302454"/>
              <a:gd name="connsiteX0" fmla="*/ 0 w 8526584"/>
              <a:gd name="connsiteY0" fmla="*/ 148404 h 1319420"/>
              <a:gd name="connsiteX1" fmla="*/ 768195 w 8526584"/>
              <a:gd name="connsiteY1" fmla="*/ 377004 h 1319420"/>
              <a:gd name="connsiteX2" fmla="*/ 1750467 w 8526584"/>
              <a:gd name="connsiteY2" fmla="*/ 1299870 h 1319420"/>
              <a:gd name="connsiteX3" fmla="*/ 3088580 w 8526584"/>
              <a:gd name="connsiteY3" fmla="*/ 944271 h 1319420"/>
              <a:gd name="connsiteX4" fmla="*/ 3928533 w 8526584"/>
              <a:gd name="connsiteY4" fmla="*/ 216137 h 1319420"/>
              <a:gd name="connsiteX5" fmla="*/ 4817532 w 8526584"/>
              <a:gd name="connsiteY5" fmla="*/ 825737 h 1319420"/>
              <a:gd name="connsiteX6" fmla="*/ 6906768 w 8526584"/>
              <a:gd name="connsiteY6" fmla="*/ 55270 h 1319420"/>
              <a:gd name="connsiteX7" fmla="*/ 8100190 w 8526584"/>
              <a:gd name="connsiteY7" fmla="*/ 402404 h 1319420"/>
              <a:gd name="connsiteX8" fmla="*/ 8525933 w 8526584"/>
              <a:gd name="connsiteY8" fmla="*/ 12937 h 1319420"/>
              <a:gd name="connsiteX0" fmla="*/ 0 w 8526191"/>
              <a:gd name="connsiteY0" fmla="*/ 139702 h 1310718"/>
              <a:gd name="connsiteX1" fmla="*/ 768195 w 8526191"/>
              <a:gd name="connsiteY1" fmla="*/ 368302 h 1310718"/>
              <a:gd name="connsiteX2" fmla="*/ 1750467 w 8526191"/>
              <a:gd name="connsiteY2" fmla="*/ 1291168 h 1310718"/>
              <a:gd name="connsiteX3" fmla="*/ 3088580 w 8526191"/>
              <a:gd name="connsiteY3" fmla="*/ 935569 h 1310718"/>
              <a:gd name="connsiteX4" fmla="*/ 3928533 w 8526191"/>
              <a:gd name="connsiteY4" fmla="*/ 207435 h 1310718"/>
              <a:gd name="connsiteX5" fmla="*/ 4817532 w 8526191"/>
              <a:gd name="connsiteY5" fmla="*/ 817035 h 1310718"/>
              <a:gd name="connsiteX6" fmla="*/ 6906768 w 8526191"/>
              <a:gd name="connsiteY6" fmla="*/ 46568 h 1310718"/>
              <a:gd name="connsiteX7" fmla="*/ 7639165 w 8526191"/>
              <a:gd name="connsiteY7" fmla="*/ 833969 h 1310718"/>
              <a:gd name="connsiteX8" fmla="*/ 8525933 w 8526191"/>
              <a:gd name="connsiteY8" fmla="*/ 4235 h 1310718"/>
              <a:gd name="connsiteX0" fmla="*/ 0 w 8526305"/>
              <a:gd name="connsiteY0" fmla="*/ 138725 h 1309741"/>
              <a:gd name="connsiteX1" fmla="*/ 768195 w 8526305"/>
              <a:gd name="connsiteY1" fmla="*/ 367325 h 1309741"/>
              <a:gd name="connsiteX2" fmla="*/ 1750467 w 8526305"/>
              <a:gd name="connsiteY2" fmla="*/ 1290191 h 1309741"/>
              <a:gd name="connsiteX3" fmla="*/ 3088580 w 8526305"/>
              <a:gd name="connsiteY3" fmla="*/ 934592 h 1309741"/>
              <a:gd name="connsiteX4" fmla="*/ 3928533 w 8526305"/>
              <a:gd name="connsiteY4" fmla="*/ 206458 h 1309741"/>
              <a:gd name="connsiteX5" fmla="*/ 4817532 w 8526305"/>
              <a:gd name="connsiteY5" fmla="*/ 816058 h 1309741"/>
              <a:gd name="connsiteX6" fmla="*/ 6906768 w 8526305"/>
              <a:gd name="connsiteY6" fmla="*/ 45591 h 1309741"/>
              <a:gd name="connsiteX7" fmla="*/ 7639165 w 8526305"/>
              <a:gd name="connsiteY7" fmla="*/ 832992 h 1309741"/>
              <a:gd name="connsiteX8" fmla="*/ 8525933 w 8526305"/>
              <a:gd name="connsiteY8" fmla="*/ 3258 h 1309741"/>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906768 w 8526504"/>
              <a:gd name="connsiteY6" fmla="*/ 48028 h 1312178"/>
              <a:gd name="connsiteX7" fmla="*/ 7825193 w 8526504"/>
              <a:gd name="connsiteY7" fmla="*/ 479829 h 1312178"/>
              <a:gd name="connsiteX8" fmla="*/ 8525933 w 8526504"/>
              <a:gd name="connsiteY8" fmla="*/ 5695 h 1312178"/>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858239 w 8526504"/>
              <a:gd name="connsiteY6" fmla="*/ 776161 h 1312178"/>
              <a:gd name="connsiteX7" fmla="*/ 7825193 w 8526504"/>
              <a:gd name="connsiteY7" fmla="*/ 479829 h 1312178"/>
              <a:gd name="connsiteX8" fmla="*/ 8525933 w 8526504"/>
              <a:gd name="connsiteY8" fmla="*/ 5695 h 1312178"/>
              <a:gd name="connsiteX0" fmla="*/ 0 w 8526504"/>
              <a:gd name="connsiteY0" fmla="*/ 141162 h 1403304"/>
              <a:gd name="connsiteX1" fmla="*/ 768195 w 8526504"/>
              <a:gd name="connsiteY1" fmla="*/ 369762 h 1403304"/>
              <a:gd name="connsiteX2" fmla="*/ 1750467 w 8526504"/>
              <a:gd name="connsiteY2" fmla="*/ 1292628 h 1403304"/>
              <a:gd name="connsiteX3" fmla="*/ 3088580 w 8526504"/>
              <a:gd name="connsiteY3" fmla="*/ 937029 h 1403304"/>
              <a:gd name="connsiteX4" fmla="*/ 3920445 w 8526504"/>
              <a:gd name="connsiteY4" fmla="*/ 1402695 h 1403304"/>
              <a:gd name="connsiteX5" fmla="*/ 4817532 w 8526504"/>
              <a:gd name="connsiteY5" fmla="*/ 818495 h 1403304"/>
              <a:gd name="connsiteX6" fmla="*/ 6858239 w 8526504"/>
              <a:gd name="connsiteY6" fmla="*/ 776161 h 1403304"/>
              <a:gd name="connsiteX7" fmla="*/ 7825193 w 8526504"/>
              <a:gd name="connsiteY7" fmla="*/ 479829 h 1403304"/>
              <a:gd name="connsiteX8" fmla="*/ 8525933 w 8526504"/>
              <a:gd name="connsiteY8" fmla="*/ 5695 h 1403304"/>
              <a:gd name="connsiteX0" fmla="*/ 0 w 8526519"/>
              <a:gd name="connsiteY0" fmla="*/ 141162 h 1403304"/>
              <a:gd name="connsiteX1" fmla="*/ 768195 w 8526519"/>
              <a:gd name="connsiteY1" fmla="*/ 369762 h 1403304"/>
              <a:gd name="connsiteX2" fmla="*/ 1750467 w 8526519"/>
              <a:gd name="connsiteY2" fmla="*/ 1292628 h 1403304"/>
              <a:gd name="connsiteX3" fmla="*/ 3088580 w 8526519"/>
              <a:gd name="connsiteY3" fmla="*/ 937029 h 1403304"/>
              <a:gd name="connsiteX4" fmla="*/ 3920445 w 8526519"/>
              <a:gd name="connsiteY4" fmla="*/ 1402695 h 1403304"/>
              <a:gd name="connsiteX5" fmla="*/ 4817532 w 8526519"/>
              <a:gd name="connsiteY5" fmla="*/ 818495 h 1403304"/>
              <a:gd name="connsiteX6" fmla="*/ 6858239 w 8526519"/>
              <a:gd name="connsiteY6" fmla="*/ 776161 h 1403304"/>
              <a:gd name="connsiteX7" fmla="*/ 7833674 w 8526519"/>
              <a:gd name="connsiteY7" fmla="*/ 479829 h 1403304"/>
              <a:gd name="connsiteX8" fmla="*/ 8525933 w 8526519"/>
              <a:gd name="connsiteY8" fmla="*/ 5695 h 1403304"/>
              <a:gd name="connsiteX0" fmla="*/ 0 w 8526583"/>
              <a:gd name="connsiteY0" fmla="*/ 139934 h 1402076"/>
              <a:gd name="connsiteX1" fmla="*/ 768195 w 8526583"/>
              <a:gd name="connsiteY1" fmla="*/ 368534 h 1402076"/>
              <a:gd name="connsiteX2" fmla="*/ 1750467 w 8526583"/>
              <a:gd name="connsiteY2" fmla="*/ 1291400 h 1402076"/>
              <a:gd name="connsiteX3" fmla="*/ 3088580 w 8526583"/>
              <a:gd name="connsiteY3" fmla="*/ 935801 h 1402076"/>
              <a:gd name="connsiteX4" fmla="*/ 3920445 w 8526583"/>
              <a:gd name="connsiteY4" fmla="*/ 1401467 h 1402076"/>
              <a:gd name="connsiteX5" fmla="*/ 4817532 w 8526583"/>
              <a:gd name="connsiteY5" fmla="*/ 817267 h 1402076"/>
              <a:gd name="connsiteX6" fmla="*/ 6858239 w 8526583"/>
              <a:gd name="connsiteY6" fmla="*/ 774933 h 1402076"/>
              <a:gd name="connsiteX7" fmla="*/ 7833674 w 8526583"/>
              <a:gd name="connsiteY7" fmla="*/ 478601 h 1402076"/>
              <a:gd name="connsiteX8" fmla="*/ 8525933 w 8526583"/>
              <a:gd name="connsiteY8" fmla="*/ 4467 h 1402076"/>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858239 w 8526097"/>
              <a:gd name="connsiteY6" fmla="*/ 772138 h 1399281"/>
              <a:gd name="connsiteX7" fmla="*/ 7053442 w 8526097"/>
              <a:gd name="connsiteY7" fmla="*/ 1177142 h 1399281"/>
              <a:gd name="connsiteX8" fmla="*/ 8525933 w 8526097"/>
              <a:gd name="connsiteY8" fmla="*/ 1672 h 1399281"/>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298507 w 8526097"/>
              <a:gd name="connsiteY6" fmla="*/ 789894 h 1399281"/>
              <a:gd name="connsiteX7" fmla="*/ 7053442 w 8526097"/>
              <a:gd name="connsiteY7" fmla="*/ 1177142 h 1399281"/>
              <a:gd name="connsiteX8" fmla="*/ 8525933 w 8526097"/>
              <a:gd name="connsiteY8" fmla="*/ 1672 h 1399281"/>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5832064 w 8526149"/>
              <a:gd name="connsiteY6" fmla="*/ 541632 h 1399594"/>
              <a:gd name="connsiteX7" fmla="*/ 7053442 w 8526149"/>
              <a:gd name="connsiteY7" fmla="*/ 1177455 h 1399594"/>
              <a:gd name="connsiteX8" fmla="*/ 8525933 w 8526149"/>
              <a:gd name="connsiteY8" fmla="*/ 1985 h 1399594"/>
              <a:gd name="connsiteX0" fmla="*/ 0 w 7757954"/>
              <a:gd name="connsiteY0" fmla="*/ 366052 h 1399594"/>
              <a:gd name="connsiteX1" fmla="*/ 982272 w 7757954"/>
              <a:gd name="connsiteY1" fmla="*/ 1288918 h 1399594"/>
              <a:gd name="connsiteX2" fmla="*/ 2320385 w 7757954"/>
              <a:gd name="connsiteY2" fmla="*/ 933319 h 1399594"/>
              <a:gd name="connsiteX3" fmla="*/ 3152250 w 7757954"/>
              <a:gd name="connsiteY3" fmla="*/ 1398985 h 1399594"/>
              <a:gd name="connsiteX4" fmla="*/ 4049337 w 7757954"/>
              <a:gd name="connsiteY4" fmla="*/ 814785 h 1399594"/>
              <a:gd name="connsiteX5" fmla="*/ 5063869 w 7757954"/>
              <a:gd name="connsiteY5" fmla="*/ 541632 h 1399594"/>
              <a:gd name="connsiteX6" fmla="*/ 6285247 w 7757954"/>
              <a:gd name="connsiteY6" fmla="*/ 1177455 h 1399594"/>
              <a:gd name="connsiteX7" fmla="*/ 7757738 w 7757954"/>
              <a:gd name="connsiteY7" fmla="*/ 1985 h 139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7954" h="1399594">
                <a:moveTo>
                  <a:pt x="0" y="366052"/>
                </a:moveTo>
                <a:cubicBezTo>
                  <a:pt x="291745" y="557963"/>
                  <a:pt x="595541" y="1194374"/>
                  <a:pt x="982272" y="1288918"/>
                </a:cubicBezTo>
                <a:cubicBezTo>
                  <a:pt x="1369003" y="1383463"/>
                  <a:pt x="1958722" y="914975"/>
                  <a:pt x="2320385" y="933319"/>
                </a:cubicBezTo>
                <a:cubicBezTo>
                  <a:pt x="2682048" y="951664"/>
                  <a:pt x="2864091" y="1418741"/>
                  <a:pt x="3152250" y="1398985"/>
                </a:cubicBezTo>
                <a:cubicBezTo>
                  <a:pt x="3440409" y="1379229"/>
                  <a:pt x="3730734" y="957677"/>
                  <a:pt x="4049337" y="814785"/>
                </a:cubicBezTo>
                <a:cubicBezTo>
                  <a:pt x="4367940" y="671893"/>
                  <a:pt x="4691217" y="481187"/>
                  <a:pt x="5063869" y="541632"/>
                </a:cubicBezTo>
                <a:cubicBezTo>
                  <a:pt x="5436521" y="602077"/>
                  <a:pt x="5851726" y="1130245"/>
                  <a:pt x="6285247" y="1177455"/>
                </a:cubicBezTo>
                <a:cubicBezTo>
                  <a:pt x="6874334" y="1260874"/>
                  <a:pt x="7773966" y="-57987"/>
                  <a:pt x="7757738" y="1985"/>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1204F89-67E6-2520-9CB7-C11AD96E6395}"/>
              </a:ext>
            </a:extLst>
          </p:cNvPr>
          <p:cNvSpPr/>
          <p:nvPr/>
        </p:nvSpPr>
        <p:spPr>
          <a:xfrm>
            <a:off x="8757014" y="1501315"/>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20E3F99-5E93-DCB1-5438-4A8D42DA25E5}"/>
              </a:ext>
            </a:extLst>
          </p:cNvPr>
          <p:cNvSpPr/>
          <p:nvPr/>
        </p:nvSpPr>
        <p:spPr>
          <a:xfrm>
            <a:off x="8757014" y="4023647"/>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81DDF22-4015-B62D-15E4-53D55BFB533D}"/>
              </a:ext>
            </a:extLst>
          </p:cNvPr>
          <p:cNvCxnSpPr>
            <a:cxnSpLocks/>
            <a:stCxn id="14" idx="5"/>
          </p:cNvCxnSpPr>
          <p:nvPr/>
        </p:nvCxnSpPr>
        <p:spPr>
          <a:xfrm>
            <a:off x="8014046" y="3388306"/>
            <a:ext cx="742967" cy="666811"/>
          </a:xfrm>
          <a:prstGeom prst="line">
            <a:avLst/>
          </a:prstGeom>
          <a:ln w="9525">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4ADE077-5C44-29DF-0132-D3CEA80605F9}"/>
              </a:ext>
            </a:extLst>
          </p:cNvPr>
          <p:cNvSpPr>
            <a:spLocks noChangeAspect="1"/>
          </p:cNvSpPr>
          <p:nvPr/>
        </p:nvSpPr>
        <p:spPr>
          <a:xfrm>
            <a:off x="6631286" y="2071709"/>
            <a:ext cx="2407458" cy="2492074"/>
          </a:xfrm>
          <a:prstGeom prst="ellipse">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0672CFA-7F0E-A719-10B0-29AE35096E30}"/>
              </a:ext>
            </a:extLst>
          </p:cNvPr>
          <p:cNvSpPr/>
          <p:nvPr/>
        </p:nvSpPr>
        <p:spPr>
          <a:xfrm>
            <a:off x="7905645" y="3279905"/>
            <a:ext cx="127000" cy="127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484D63C-CCDB-0923-AC0F-BC6DCC85B056}"/>
              </a:ext>
            </a:extLst>
          </p:cNvPr>
          <p:cNvSpPr txBox="1"/>
          <p:nvPr/>
        </p:nvSpPr>
        <p:spPr>
          <a:xfrm>
            <a:off x="8757013" y="4362829"/>
            <a:ext cx="3167775" cy="1754326"/>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The potential emitted by charge A at time t’ expands spherically at field speed @. </a:t>
            </a:r>
          </a:p>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Action occurs when the potential sphere intersects charge B at time t.</a:t>
            </a:r>
            <a:endParaRPr lang="en-US" dirty="0">
              <a:solidFill>
                <a:srgbClr val="00B050"/>
              </a:solidFill>
            </a:endParaRPr>
          </a:p>
        </p:txBody>
      </p:sp>
      <p:sp>
        <p:nvSpPr>
          <p:cNvPr id="16" name="TextBox 15">
            <a:extLst>
              <a:ext uri="{FF2B5EF4-FFF2-40B4-BE49-F238E27FC236}">
                <a16:creationId xmlns:a16="http://schemas.microsoft.com/office/drawing/2014/main" id="{2FB06A3B-C8A7-7640-2EE9-203EA6BD717B}"/>
              </a:ext>
            </a:extLst>
          </p:cNvPr>
          <p:cNvSpPr txBox="1"/>
          <p:nvPr/>
        </p:nvSpPr>
        <p:spPr>
          <a:xfrm>
            <a:off x="7670738" y="3428273"/>
            <a:ext cx="651065"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A(t’)</a:t>
            </a:r>
            <a:endParaRPr lang="en-US" dirty="0">
              <a:solidFill>
                <a:srgbClr val="00B050"/>
              </a:solidFill>
            </a:endParaRPr>
          </a:p>
        </p:txBody>
      </p:sp>
      <p:sp>
        <p:nvSpPr>
          <p:cNvPr id="19" name="TextBox 18">
            <a:extLst>
              <a:ext uri="{FF2B5EF4-FFF2-40B4-BE49-F238E27FC236}">
                <a16:creationId xmlns:a16="http://schemas.microsoft.com/office/drawing/2014/main" id="{499A2693-D878-2253-1439-ED993C1F2AD5}"/>
              </a:ext>
            </a:extLst>
          </p:cNvPr>
          <p:cNvSpPr txBox="1"/>
          <p:nvPr/>
        </p:nvSpPr>
        <p:spPr>
          <a:xfrm>
            <a:off x="8852554" y="1396124"/>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A(t)</a:t>
            </a:r>
            <a:endParaRPr lang="en-US" dirty="0">
              <a:solidFill>
                <a:srgbClr val="00B050"/>
              </a:solidFill>
            </a:endParaRPr>
          </a:p>
        </p:txBody>
      </p:sp>
      <p:sp>
        <p:nvSpPr>
          <p:cNvPr id="20" name="TextBox 19">
            <a:extLst>
              <a:ext uri="{FF2B5EF4-FFF2-40B4-BE49-F238E27FC236}">
                <a16:creationId xmlns:a16="http://schemas.microsoft.com/office/drawing/2014/main" id="{328F02D2-95BB-4767-7DBC-B06A0A6115E7}"/>
              </a:ext>
            </a:extLst>
          </p:cNvPr>
          <p:cNvSpPr txBox="1"/>
          <p:nvPr/>
        </p:nvSpPr>
        <p:spPr>
          <a:xfrm>
            <a:off x="8902807" y="3905269"/>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B(t)</a:t>
            </a:r>
            <a:endParaRPr lang="en-US" dirty="0">
              <a:solidFill>
                <a:srgbClr val="00B050"/>
              </a:solidFill>
            </a:endParaRPr>
          </a:p>
        </p:txBody>
      </p:sp>
      <p:sp>
        <p:nvSpPr>
          <p:cNvPr id="21" name="TextBox 20">
            <a:extLst>
              <a:ext uri="{FF2B5EF4-FFF2-40B4-BE49-F238E27FC236}">
                <a16:creationId xmlns:a16="http://schemas.microsoft.com/office/drawing/2014/main" id="{5C915F9D-42F7-1C6D-E114-D633D6E4C109}"/>
              </a:ext>
            </a:extLst>
          </p:cNvPr>
          <p:cNvSpPr txBox="1"/>
          <p:nvPr/>
        </p:nvSpPr>
        <p:spPr>
          <a:xfrm>
            <a:off x="1487931" y="1497594"/>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a:t>
            </a:r>
            <a:endParaRPr lang="en-US" dirty="0">
              <a:solidFill>
                <a:srgbClr val="00B050"/>
              </a:solidFill>
            </a:endParaRPr>
          </a:p>
        </p:txBody>
      </p:sp>
      <p:sp>
        <p:nvSpPr>
          <p:cNvPr id="22" name="TextBox 21">
            <a:extLst>
              <a:ext uri="{FF2B5EF4-FFF2-40B4-BE49-F238E27FC236}">
                <a16:creationId xmlns:a16="http://schemas.microsoft.com/office/drawing/2014/main" id="{82FA558D-A9BC-01CE-74CD-F383AA8AFB6C}"/>
              </a:ext>
            </a:extLst>
          </p:cNvPr>
          <p:cNvSpPr txBox="1"/>
          <p:nvPr/>
        </p:nvSpPr>
        <p:spPr>
          <a:xfrm>
            <a:off x="1540715" y="4129816"/>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B</a:t>
            </a:r>
            <a:endParaRPr lang="en-US" dirty="0">
              <a:solidFill>
                <a:srgbClr val="00B050"/>
              </a:solidFill>
            </a:endParaRPr>
          </a:p>
        </p:txBody>
      </p:sp>
      <p:sp>
        <p:nvSpPr>
          <p:cNvPr id="25" name="Rectangle 24">
            <a:extLst>
              <a:ext uri="{FF2B5EF4-FFF2-40B4-BE49-F238E27FC236}">
                <a16:creationId xmlns:a16="http://schemas.microsoft.com/office/drawing/2014/main" id="{B4DF9014-6E71-4887-15FC-288C0BE2E472}"/>
              </a:ext>
            </a:extLst>
          </p:cNvPr>
          <p:cNvSpPr/>
          <p:nvPr/>
        </p:nvSpPr>
        <p:spPr>
          <a:xfrm>
            <a:off x="2750180" y="307606"/>
            <a:ext cx="6849952" cy="523220"/>
          </a:xfrm>
          <a:prstGeom prst="rect">
            <a:avLst/>
          </a:prstGeom>
          <a:solidFill>
            <a:srgbClr val="7030A0"/>
          </a:solidFill>
        </p:spPr>
        <p:txBody>
          <a:bodyPr wrap="none">
            <a:spAutoFit/>
          </a:bodyPr>
          <a:lstStyle/>
          <a:p>
            <a:pPr algn="ctr"/>
            <a:r>
              <a:rPr lang="en-US" sz="2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Path History and Action</a:t>
            </a:r>
            <a:endParaRPr lang="en-US" sz="2800" b="1" baseline="30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2" name="Group 1">
            <a:extLst>
              <a:ext uri="{FF2B5EF4-FFF2-40B4-BE49-F238E27FC236}">
                <a16:creationId xmlns:a16="http://schemas.microsoft.com/office/drawing/2014/main" id="{8513F8A2-0C1C-FA83-EB1D-12942054ECC6}"/>
              </a:ext>
            </a:extLst>
          </p:cNvPr>
          <p:cNvGrpSpPr/>
          <p:nvPr/>
        </p:nvGrpSpPr>
        <p:grpSpPr>
          <a:xfrm>
            <a:off x="28129" y="1077673"/>
            <a:ext cx="11664338" cy="5685100"/>
            <a:chOff x="28129" y="1077673"/>
            <a:chExt cx="11664338" cy="5685100"/>
          </a:xfrm>
        </p:grpSpPr>
        <p:cxnSp>
          <p:nvCxnSpPr>
            <p:cNvPr id="3" name="Straight Arrow Connector 2">
              <a:extLst>
                <a:ext uri="{FF2B5EF4-FFF2-40B4-BE49-F238E27FC236}">
                  <a16:creationId xmlns:a16="http://schemas.microsoft.com/office/drawing/2014/main" id="{F0E8E829-2926-9AC8-8FBE-CD87D209F5BD}"/>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D50F6F6C-E0DD-959D-833A-36F07808AC1D}"/>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DB020C7-9F2F-9DAE-DC6F-0F4AB0106806}"/>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8" name="TextBox 7">
              <a:extLst>
                <a:ext uri="{FF2B5EF4-FFF2-40B4-BE49-F238E27FC236}">
                  <a16:creationId xmlns:a16="http://schemas.microsoft.com/office/drawing/2014/main" id="{9833DACC-1D55-AD72-1025-41BEFCBBEFC1}"/>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grpSp>
    </p:spTree>
    <p:extLst>
      <p:ext uri="{BB962C8B-B14F-4D97-AF65-F5344CB8AC3E}">
        <p14:creationId xmlns:p14="http://schemas.microsoft.com/office/powerpoint/2010/main" val="2649229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557E8D0E-7530-B118-1DC6-82906B4F6D15}"/>
              </a:ext>
            </a:extLst>
          </p:cNvPr>
          <p:cNvSpPr/>
          <p:nvPr/>
        </p:nvSpPr>
        <p:spPr>
          <a:xfrm>
            <a:off x="1846365" y="2189506"/>
            <a:ext cx="8910291" cy="1486748"/>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7807396"/>
              <a:gd name="connsiteY0" fmla="*/ 654473 h 3128935"/>
              <a:gd name="connsiteX1" fmla="*/ 804333 w 7807396"/>
              <a:gd name="connsiteY1" fmla="*/ 2584873 h 3128935"/>
              <a:gd name="connsiteX2" fmla="*/ 1464733 w 7807396"/>
              <a:gd name="connsiteY2" fmla="*/ 121072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807396"/>
              <a:gd name="connsiteY0" fmla="*/ 654473 h 3128935"/>
              <a:gd name="connsiteX1" fmla="*/ 804333 w 7807396"/>
              <a:gd name="connsiteY1" fmla="*/ 2584873 h 3128935"/>
              <a:gd name="connsiteX2" fmla="*/ 1507976 w 7807396"/>
              <a:gd name="connsiteY2" fmla="*/ 1370450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764153"/>
              <a:gd name="connsiteY0" fmla="*/ 1360644 h 3128935"/>
              <a:gd name="connsiteX1" fmla="*/ 761090 w 7764153"/>
              <a:gd name="connsiteY1" fmla="*/ 2584873 h 3128935"/>
              <a:gd name="connsiteX2" fmla="*/ 1464733 w 7764153"/>
              <a:gd name="connsiteY2" fmla="*/ 1370450 h 3128935"/>
              <a:gd name="connsiteX3" fmla="*/ 2107290 w 7764153"/>
              <a:gd name="connsiteY3" fmla="*/ 1712807 h 3128935"/>
              <a:gd name="connsiteX4" fmla="*/ 3165624 w 7764153"/>
              <a:gd name="connsiteY4" fmla="*/ 1289473 h 3128935"/>
              <a:gd name="connsiteX5" fmla="*/ 3631215 w 7764153"/>
              <a:gd name="connsiteY5" fmla="*/ 2476967 h 3128935"/>
              <a:gd name="connsiteX6" fmla="*/ 4054623 w 7764153"/>
              <a:gd name="connsiteY6" fmla="*/ 1899073 h 3128935"/>
              <a:gd name="connsiteX7" fmla="*/ 4926691 w 7764153"/>
              <a:gd name="connsiteY7" fmla="*/ 3118273 h 3128935"/>
              <a:gd name="connsiteX8" fmla="*/ 6281357 w 7764153"/>
              <a:gd name="connsiteY8" fmla="*/ 1069339 h 3128935"/>
              <a:gd name="connsiteX9" fmla="*/ 6857091 w 7764153"/>
              <a:gd name="connsiteY9" fmla="*/ 2872740 h 3128935"/>
              <a:gd name="connsiteX10" fmla="*/ 7466691 w 7764153"/>
              <a:gd name="connsiteY10" fmla="*/ 44873 h 3128935"/>
              <a:gd name="connsiteX11" fmla="*/ 7763024 w 7764153"/>
              <a:gd name="connsiteY11" fmla="*/ 1086273 h 3128935"/>
              <a:gd name="connsiteX0" fmla="*/ 0 w 7764153"/>
              <a:gd name="connsiteY0" fmla="*/ 1360644 h 2883635"/>
              <a:gd name="connsiteX1" fmla="*/ 761090 w 7764153"/>
              <a:gd name="connsiteY1" fmla="*/ 2584873 h 2883635"/>
              <a:gd name="connsiteX2" fmla="*/ 1464733 w 7764153"/>
              <a:gd name="connsiteY2" fmla="*/ 1370450 h 2883635"/>
              <a:gd name="connsiteX3" fmla="*/ 2107290 w 7764153"/>
              <a:gd name="connsiteY3" fmla="*/ 1712807 h 2883635"/>
              <a:gd name="connsiteX4" fmla="*/ 3165624 w 7764153"/>
              <a:gd name="connsiteY4" fmla="*/ 1289473 h 2883635"/>
              <a:gd name="connsiteX5" fmla="*/ 3631215 w 7764153"/>
              <a:gd name="connsiteY5" fmla="*/ 2476967 h 2883635"/>
              <a:gd name="connsiteX6" fmla="*/ 4054623 w 7764153"/>
              <a:gd name="connsiteY6" fmla="*/ 1899073 h 2883635"/>
              <a:gd name="connsiteX7" fmla="*/ 4969935 w 7764153"/>
              <a:gd name="connsiteY7" fmla="*/ 2375889 h 2883635"/>
              <a:gd name="connsiteX8" fmla="*/ 6281357 w 7764153"/>
              <a:gd name="connsiteY8" fmla="*/ 1069339 h 2883635"/>
              <a:gd name="connsiteX9" fmla="*/ 6857091 w 7764153"/>
              <a:gd name="connsiteY9" fmla="*/ 2872740 h 2883635"/>
              <a:gd name="connsiteX10" fmla="*/ 7466691 w 7764153"/>
              <a:gd name="connsiteY10" fmla="*/ 44873 h 2883635"/>
              <a:gd name="connsiteX11" fmla="*/ 7763024 w 7764153"/>
              <a:gd name="connsiteY11" fmla="*/ 1086273 h 2883635"/>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631215 w 7764153"/>
              <a:gd name="connsiteY5" fmla="*/ 182737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562026 w 7764153"/>
              <a:gd name="connsiteY5" fmla="*/ 141091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 name="connsiteX0" fmla="*/ 0 w 9591223"/>
              <a:gd name="connsiteY0" fmla="*/ 690113 h 2224449"/>
              <a:gd name="connsiteX1" fmla="*/ 2588160 w 9591223"/>
              <a:gd name="connsiteY1" fmla="*/ 1935283 h 2224449"/>
              <a:gd name="connsiteX2" fmla="*/ 3291803 w 9591223"/>
              <a:gd name="connsiteY2" fmla="*/ 720860 h 2224449"/>
              <a:gd name="connsiteX3" fmla="*/ 3934360 w 9591223"/>
              <a:gd name="connsiteY3" fmla="*/ 1063217 h 2224449"/>
              <a:gd name="connsiteX4" fmla="*/ 4992694 w 9591223"/>
              <a:gd name="connsiteY4" fmla="*/ 639883 h 2224449"/>
              <a:gd name="connsiteX5" fmla="*/ 5389096 w 9591223"/>
              <a:gd name="connsiteY5" fmla="*/ 1410917 h 2224449"/>
              <a:gd name="connsiteX6" fmla="*/ 5881693 w 9591223"/>
              <a:gd name="connsiteY6" fmla="*/ 1249483 h 2224449"/>
              <a:gd name="connsiteX7" fmla="*/ 6797005 w 9591223"/>
              <a:gd name="connsiteY7" fmla="*/ 1726299 h 2224449"/>
              <a:gd name="connsiteX8" fmla="*/ 8108427 w 9591223"/>
              <a:gd name="connsiteY8" fmla="*/ 419749 h 2224449"/>
              <a:gd name="connsiteX9" fmla="*/ 8684161 w 9591223"/>
              <a:gd name="connsiteY9" fmla="*/ 2223150 h 2224449"/>
              <a:gd name="connsiteX10" fmla="*/ 9293762 w 9591223"/>
              <a:gd name="connsiteY10" fmla="*/ 83346 h 2224449"/>
              <a:gd name="connsiteX11" fmla="*/ 9590094 w 9591223"/>
              <a:gd name="connsiteY11" fmla="*/ 436683 h 2224449"/>
              <a:gd name="connsiteX0" fmla="*/ 0 w 9591223"/>
              <a:gd name="connsiteY0" fmla="*/ 690113 h 2224449"/>
              <a:gd name="connsiteX1" fmla="*/ 2588160 w 9591223"/>
              <a:gd name="connsiteY1" fmla="*/ 1935283 h 2224449"/>
              <a:gd name="connsiteX2" fmla="*/ 3291803 w 9591223"/>
              <a:gd name="connsiteY2" fmla="*/ 720860 h 2224449"/>
              <a:gd name="connsiteX3" fmla="*/ 3934360 w 9591223"/>
              <a:gd name="connsiteY3" fmla="*/ 1063217 h 2224449"/>
              <a:gd name="connsiteX4" fmla="*/ 4992694 w 9591223"/>
              <a:gd name="connsiteY4" fmla="*/ 639883 h 2224449"/>
              <a:gd name="connsiteX5" fmla="*/ 5881693 w 9591223"/>
              <a:gd name="connsiteY5" fmla="*/ 1249483 h 2224449"/>
              <a:gd name="connsiteX6" fmla="*/ 6797005 w 9591223"/>
              <a:gd name="connsiteY6" fmla="*/ 1726299 h 2224449"/>
              <a:gd name="connsiteX7" fmla="*/ 8108427 w 9591223"/>
              <a:gd name="connsiteY7" fmla="*/ 419749 h 2224449"/>
              <a:gd name="connsiteX8" fmla="*/ 8684161 w 9591223"/>
              <a:gd name="connsiteY8" fmla="*/ 2223150 h 2224449"/>
              <a:gd name="connsiteX9" fmla="*/ 9293762 w 9591223"/>
              <a:gd name="connsiteY9" fmla="*/ 83346 h 2224449"/>
              <a:gd name="connsiteX10" fmla="*/ 9590094 w 9591223"/>
              <a:gd name="connsiteY10" fmla="*/ 436683 h 2224449"/>
              <a:gd name="connsiteX0" fmla="*/ 0 w 9591223"/>
              <a:gd name="connsiteY0" fmla="*/ 690113 h 2224449"/>
              <a:gd name="connsiteX1" fmla="*/ 2588160 w 9591223"/>
              <a:gd name="connsiteY1" fmla="*/ 1935283 h 2224449"/>
              <a:gd name="connsiteX2" fmla="*/ 3291803 w 9591223"/>
              <a:gd name="connsiteY2" fmla="*/ 720860 h 2224449"/>
              <a:gd name="connsiteX3" fmla="*/ 3934360 w 9591223"/>
              <a:gd name="connsiteY3" fmla="*/ 1063217 h 2224449"/>
              <a:gd name="connsiteX4" fmla="*/ 4992694 w 9591223"/>
              <a:gd name="connsiteY4" fmla="*/ 639883 h 2224449"/>
              <a:gd name="connsiteX5" fmla="*/ 6118678 w 9591223"/>
              <a:gd name="connsiteY5" fmla="*/ 1067999 h 2224449"/>
              <a:gd name="connsiteX6" fmla="*/ 6797005 w 9591223"/>
              <a:gd name="connsiteY6" fmla="*/ 1726299 h 2224449"/>
              <a:gd name="connsiteX7" fmla="*/ 8108427 w 9591223"/>
              <a:gd name="connsiteY7" fmla="*/ 419749 h 2224449"/>
              <a:gd name="connsiteX8" fmla="*/ 8684161 w 9591223"/>
              <a:gd name="connsiteY8" fmla="*/ 2223150 h 2224449"/>
              <a:gd name="connsiteX9" fmla="*/ 9293762 w 9591223"/>
              <a:gd name="connsiteY9" fmla="*/ 83346 h 2224449"/>
              <a:gd name="connsiteX10" fmla="*/ 9590094 w 9591223"/>
              <a:gd name="connsiteY10" fmla="*/ 436683 h 2224449"/>
              <a:gd name="connsiteX0" fmla="*/ 0 w 9591223"/>
              <a:gd name="connsiteY0" fmla="*/ 690113 h 2224597"/>
              <a:gd name="connsiteX1" fmla="*/ 2588160 w 9591223"/>
              <a:gd name="connsiteY1" fmla="*/ 1935283 h 2224597"/>
              <a:gd name="connsiteX2" fmla="*/ 3291803 w 9591223"/>
              <a:gd name="connsiteY2" fmla="*/ 720860 h 2224597"/>
              <a:gd name="connsiteX3" fmla="*/ 3934360 w 9591223"/>
              <a:gd name="connsiteY3" fmla="*/ 1063217 h 2224597"/>
              <a:gd name="connsiteX4" fmla="*/ 4992694 w 9591223"/>
              <a:gd name="connsiteY4" fmla="*/ 639883 h 2224597"/>
              <a:gd name="connsiteX5" fmla="*/ 6118678 w 9591223"/>
              <a:gd name="connsiteY5" fmla="*/ 1067999 h 2224597"/>
              <a:gd name="connsiteX6" fmla="*/ 6812296 w 9591223"/>
              <a:gd name="connsiteY6" fmla="*/ 602494 h 2224597"/>
              <a:gd name="connsiteX7" fmla="*/ 8108427 w 9591223"/>
              <a:gd name="connsiteY7" fmla="*/ 419749 h 2224597"/>
              <a:gd name="connsiteX8" fmla="*/ 8684161 w 9591223"/>
              <a:gd name="connsiteY8" fmla="*/ 2223150 h 2224597"/>
              <a:gd name="connsiteX9" fmla="*/ 9293762 w 9591223"/>
              <a:gd name="connsiteY9" fmla="*/ 83346 h 2224597"/>
              <a:gd name="connsiteX10" fmla="*/ 9590094 w 9591223"/>
              <a:gd name="connsiteY10" fmla="*/ 436683 h 2224597"/>
              <a:gd name="connsiteX0" fmla="*/ 0 w 9591223"/>
              <a:gd name="connsiteY0" fmla="*/ 690113 h 1935301"/>
              <a:gd name="connsiteX1" fmla="*/ 2588160 w 9591223"/>
              <a:gd name="connsiteY1" fmla="*/ 1935283 h 1935301"/>
              <a:gd name="connsiteX2" fmla="*/ 3291803 w 9591223"/>
              <a:gd name="connsiteY2" fmla="*/ 720860 h 1935301"/>
              <a:gd name="connsiteX3" fmla="*/ 3934360 w 9591223"/>
              <a:gd name="connsiteY3" fmla="*/ 1063217 h 1935301"/>
              <a:gd name="connsiteX4" fmla="*/ 4992694 w 9591223"/>
              <a:gd name="connsiteY4" fmla="*/ 639883 h 1935301"/>
              <a:gd name="connsiteX5" fmla="*/ 6118678 w 9591223"/>
              <a:gd name="connsiteY5" fmla="*/ 1067999 h 1935301"/>
              <a:gd name="connsiteX6" fmla="*/ 6812296 w 9591223"/>
              <a:gd name="connsiteY6" fmla="*/ 602494 h 1935301"/>
              <a:gd name="connsiteX7" fmla="*/ 8108427 w 9591223"/>
              <a:gd name="connsiteY7" fmla="*/ 419749 h 1935301"/>
              <a:gd name="connsiteX8" fmla="*/ 9293762 w 9591223"/>
              <a:gd name="connsiteY8" fmla="*/ 83346 h 1935301"/>
              <a:gd name="connsiteX9" fmla="*/ 9590094 w 9591223"/>
              <a:gd name="connsiteY9" fmla="*/ 436683 h 1935301"/>
              <a:gd name="connsiteX0" fmla="*/ 0 w 9591223"/>
              <a:gd name="connsiteY0" fmla="*/ 690113 h 1935301"/>
              <a:gd name="connsiteX1" fmla="*/ 2588160 w 9591223"/>
              <a:gd name="connsiteY1" fmla="*/ 1935283 h 1935301"/>
              <a:gd name="connsiteX2" fmla="*/ 3291803 w 9591223"/>
              <a:gd name="connsiteY2" fmla="*/ 720860 h 1935301"/>
              <a:gd name="connsiteX3" fmla="*/ 3934360 w 9591223"/>
              <a:gd name="connsiteY3" fmla="*/ 1063217 h 1935301"/>
              <a:gd name="connsiteX4" fmla="*/ 4992694 w 9591223"/>
              <a:gd name="connsiteY4" fmla="*/ 639883 h 1935301"/>
              <a:gd name="connsiteX5" fmla="*/ 6118678 w 9591223"/>
              <a:gd name="connsiteY5" fmla="*/ 1067999 h 1935301"/>
              <a:gd name="connsiteX6" fmla="*/ 6812296 w 9591223"/>
              <a:gd name="connsiteY6" fmla="*/ 602494 h 1935301"/>
              <a:gd name="connsiteX7" fmla="*/ 7986113 w 9591223"/>
              <a:gd name="connsiteY7" fmla="*/ 245245 h 1935301"/>
              <a:gd name="connsiteX8" fmla="*/ 9293762 w 9591223"/>
              <a:gd name="connsiteY8" fmla="*/ 83346 h 1935301"/>
              <a:gd name="connsiteX9" fmla="*/ 9590094 w 9591223"/>
              <a:gd name="connsiteY9" fmla="*/ 436683 h 1935301"/>
              <a:gd name="connsiteX0" fmla="*/ 0 w 9590329"/>
              <a:gd name="connsiteY0" fmla="*/ 451367 h 1696555"/>
              <a:gd name="connsiteX1" fmla="*/ 2588160 w 9590329"/>
              <a:gd name="connsiteY1" fmla="*/ 1696537 h 1696555"/>
              <a:gd name="connsiteX2" fmla="*/ 3291803 w 9590329"/>
              <a:gd name="connsiteY2" fmla="*/ 482114 h 1696555"/>
              <a:gd name="connsiteX3" fmla="*/ 3934360 w 9590329"/>
              <a:gd name="connsiteY3" fmla="*/ 824471 h 1696555"/>
              <a:gd name="connsiteX4" fmla="*/ 4992694 w 9590329"/>
              <a:gd name="connsiteY4" fmla="*/ 401137 h 1696555"/>
              <a:gd name="connsiteX5" fmla="*/ 6118678 w 9590329"/>
              <a:gd name="connsiteY5" fmla="*/ 829253 h 1696555"/>
              <a:gd name="connsiteX6" fmla="*/ 6812296 w 9590329"/>
              <a:gd name="connsiteY6" fmla="*/ 363748 h 1696555"/>
              <a:gd name="connsiteX7" fmla="*/ 7986113 w 9590329"/>
              <a:gd name="connsiteY7" fmla="*/ 6499 h 1696555"/>
              <a:gd name="connsiteX8" fmla="*/ 8628678 w 9590329"/>
              <a:gd name="connsiteY8" fmla="*/ 675238 h 1696555"/>
              <a:gd name="connsiteX9" fmla="*/ 9590094 w 9590329"/>
              <a:gd name="connsiteY9" fmla="*/ 197937 h 1696555"/>
              <a:gd name="connsiteX0" fmla="*/ 0 w 9590329"/>
              <a:gd name="connsiteY0" fmla="*/ 437657 h 1682845"/>
              <a:gd name="connsiteX1" fmla="*/ 2588160 w 9590329"/>
              <a:gd name="connsiteY1" fmla="*/ 1682827 h 1682845"/>
              <a:gd name="connsiteX2" fmla="*/ 3291803 w 9590329"/>
              <a:gd name="connsiteY2" fmla="*/ 468404 h 1682845"/>
              <a:gd name="connsiteX3" fmla="*/ 3934360 w 9590329"/>
              <a:gd name="connsiteY3" fmla="*/ 810761 h 1682845"/>
              <a:gd name="connsiteX4" fmla="*/ 4992694 w 9590329"/>
              <a:gd name="connsiteY4" fmla="*/ 387427 h 1682845"/>
              <a:gd name="connsiteX5" fmla="*/ 6118678 w 9590329"/>
              <a:gd name="connsiteY5" fmla="*/ 815543 h 1682845"/>
              <a:gd name="connsiteX6" fmla="*/ 6812296 w 9590329"/>
              <a:gd name="connsiteY6" fmla="*/ 350038 h 1682845"/>
              <a:gd name="connsiteX7" fmla="*/ 7259872 w 9590329"/>
              <a:gd name="connsiteY7" fmla="*/ 6749 h 1682845"/>
              <a:gd name="connsiteX8" fmla="*/ 8628678 w 9590329"/>
              <a:gd name="connsiteY8" fmla="*/ 661528 h 1682845"/>
              <a:gd name="connsiteX9" fmla="*/ 9590094 w 9590329"/>
              <a:gd name="connsiteY9" fmla="*/ 184227 h 1682845"/>
              <a:gd name="connsiteX0" fmla="*/ 0 w 9590329"/>
              <a:gd name="connsiteY0" fmla="*/ 446732 h 1691920"/>
              <a:gd name="connsiteX1" fmla="*/ 2588160 w 9590329"/>
              <a:gd name="connsiteY1" fmla="*/ 1691902 h 1691920"/>
              <a:gd name="connsiteX2" fmla="*/ 3291803 w 9590329"/>
              <a:gd name="connsiteY2" fmla="*/ 477479 h 1691920"/>
              <a:gd name="connsiteX3" fmla="*/ 3934360 w 9590329"/>
              <a:gd name="connsiteY3" fmla="*/ 819836 h 1691920"/>
              <a:gd name="connsiteX4" fmla="*/ 4992694 w 9590329"/>
              <a:gd name="connsiteY4" fmla="*/ 396502 h 1691920"/>
              <a:gd name="connsiteX5" fmla="*/ 6118678 w 9590329"/>
              <a:gd name="connsiteY5" fmla="*/ 824618 h 1691920"/>
              <a:gd name="connsiteX6" fmla="*/ 6506511 w 9590329"/>
              <a:gd name="connsiteY6" fmla="*/ 254410 h 1691920"/>
              <a:gd name="connsiteX7" fmla="*/ 7259872 w 9590329"/>
              <a:gd name="connsiteY7" fmla="*/ 15824 h 1691920"/>
              <a:gd name="connsiteX8" fmla="*/ 8628678 w 9590329"/>
              <a:gd name="connsiteY8" fmla="*/ 670603 h 1691920"/>
              <a:gd name="connsiteX9" fmla="*/ 9590094 w 9590329"/>
              <a:gd name="connsiteY9" fmla="*/ 193302 h 1691920"/>
              <a:gd name="connsiteX0" fmla="*/ 0 w 9590329"/>
              <a:gd name="connsiteY0" fmla="*/ 430908 h 1676096"/>
              <a:gd name="connsiteX1" fmla="*/ 2588160 w 9590329"/>
              <a:gd name="connsiteY1" fmla="*/ 1676078 h 1676096"/>
              <a:gd name="connsiteX2" fmla="*/ 3291803 w 9590329"/>
              <a:gd name="connsiteY2" fmla="*/ 461655 h 1676096"/>
              <a:gd name="connsiteX3" fmla="*/ 3934360 w 9590329"/>
              <a:gd name="connsiteY3" fmla="*/ 804012 h 1676096"/>
              <a:gd name="connsiteX4" fmla="*/ 4992694 w 9590329"/>
              <a:gd name="connsiteY4" fmla="*/ 380678 h 1676096"/>
              <a:gd name="connsiteX5" fmla="*/ 6118678 w 9590329"/>
              <a:gd name="connsiteY5" fmla="*/ 808794 h 1676096"/>
              <a:gd name="connsiteX6" fmla="*/ 7259872 w 9590329"/>
              <a:gd name="connsiteY6" fmla="*/ 0 h 1676096"/>
              <a:gd name="connsiteX7" fmla="*/ 8628678 w 9590329"/>
              <a:gd name="connsiteY7" fmla="*/ 654779 h 1676096"/>
              <a:gd name="connsiteX8" fmla="*/ 9590094 w 9590329"/>
              <a:gd name="connsiteY8" fmla="*/ 177478 h 1676096"/>
              <a:gd name="connsiteX0" fmla="*/ 0 w 9590329"/>
              <a:gd name="connsiteY0" fmla="*/ 431390 h 1676578"/>
              <a:gd name="connsiteX1" fmla="*/ 2588160 w 9590329"/>
              <a:gd name="connsiteY1" fmla="*/ 1676560 h 1676578"/>
              <a:gd name="connsiteX2" fmla="*/ 3291803 w 9590329"/>
              <a:gd name="connsiteY2" fmla="*/ 462137 h 1676578"/>
              <a:gd name="connsiteX3" fmla="*/ 3934360 w 9590329"/>
              <a:gd name="connsiteY3" fmla="*/ 804494 h 1676578"/>
              <a:gd name="connsiteX4" fmla="*/ 4992694 w 9590329"/>
              <a:gd name="connsiteY4" fmla="*/ 381160 h 1676578"/>
              <a:gd name="connsiteX5" fmla="*/ 6111034 w 9590329"/>
              <a:gd name="connsiteY5" fmla="*/ 781355 h 1676578"/>
              <a:gd name="connsiteX6" fmla="*/ 7259872 w 9590329"/>
              <a:gd name="connsiteY6" fmla="*/ 482 h 1676578"/>
              <a:gd name="connsiteX7" fmla="*/ 8628678 w 9590329"/>
              <a:gd name="connsiteY7" fmla="*/ 655261 h 1676578"/>
              <a:gd name="connsiteX8" fmla="*/ 9590094 w 9590329"/>
              <a:gd name="connsiteY8" fmla="*/ 177960 h 1676578"/>
              <a:gd name="connsiteX0" fmla="*/ 0 w 9590329"/>
              <a:gd name="connsiteY0" fmla="*/ 431390 h 992544"/>
              <a:gd name="connsiteX1" fmla="*/ 2297663 w 9590329"/>
              <a:gd name="connsiteY1" fmla="*/ 992506 h 992544"/>
              <a:gd name="connsiteX2" fmla="*/ 3291803 w 9590329"/>
              <a:gd name="connsiteY2" fmla="*/ 462137 h 992544"/>
              <a:gd name="connsiteX3" fmla="*/ 3934360 w 9590329"/>
              <a:gd name="connsiteY3" fmla="*/ 804494 h 992544"/>
              <a:gd name="connsiteX4" fmla="*/ 4992694 w 9590329"/>
              <a:gd name="connsiteY4" fmla="*/ 381160 h 992544"/>
              <a:gd name="connsiteX5" fmla="*/ 6111034 w 9590329"/>
              <a:gd name="connsiteY5" fmla="*/ 781355 h 992544"/>
              <a:gd name="connsiteX6" fmla="*/ 7259872 w 9590329"/>
              <a:gd name="connsiteY6" fmla="*/ 482 h 992544"/>
              <a:gd name="connsiteX7" fmla="*/ 8628678 w 9590329"/>
              <a:gd name="connsiteY7" fmla="*/ 655261 h 992544"/>
              <a:gd name="connsiteX8" fmla="*/ 9590094 w 9590329"/>
              <a:gd name="connsiteY8" fmla="*/ 177960 h 992544"/>
              <a:gd name="connsiteX0" fmla="*/ 0 w 9590329"/>
              <a:gd name="connsiteY0" fmla="*/ 431390 h 943687"/>
              <a:gd name="connsiteX1" fmla="*/ 1594356 w 9590329"/>
              <a:gd name="connsiteY1" fmla="*/ 943645 h 943687"/>
              <a:gd name="connsiteX2" fmla="*/ 3291803 w 9590329"/>
              <a:gd name="connsiteY2" fmla="*/ 462137 h 943687"/>
              <a:gd name="connsiteX3" fmla="*/ 3934360 w 9590329"/>
              <a:gd name="connsiteY3" fmla="*/ 804494 h 943687"/>
              <a:gd name="connsiteX4" fmla="*/ 4992694 w 9590329"/>
              <a:gd name="connsiteY4" fmla="*/ 381160 h 943687"/>
              <a:gd name="connsiteX5" fmla="*/ 6111034 w 9590329"/>
              <a:gd name="connsiteY5" fmla="*/ 781355 h 943687"/>
              <a:gd name="connsiteX6" fmla="*/ 7259872 w 9590329"/>
              <a:gd name="connsiteY6" fmla="*/ 482 h 943687"/>
              <a:gd name="connsiteX7" fmla="*/ 8628678 w 9590329"/>
              <a:gd name="connsiteY7" fmla="*/ 655261 h 943687"/>
              <a:gd name="connsiteX8" fmla="*/ 9590094 w 9590329"/>
              <a:gd name="connsiteY8" fmla="*/ 177960 h 943687"/>
              <a:gd name="connsiteX0" fmla="*/ 0 w 9590324"/>
              <a:gd name="connsiteY0" fmla="*/ 431448 h 943745"/>
              <a:gd name="connsiteX1" fmla="*/ 1594356 w 9590324"/>
              <a:gd name="connsiteY1" fmla="*/ 943703 h 943745"/>
              <a:gd name="connsiteX2" fmla="*/ 3291803 w 9590324"/>
              <a:gd name="connsiteY2" fmla="*/ 462195 h 943745"/>
              <a:gd name="connsiteX3" fmla="*/ 3934360 w 9590324"/>
              <a:gd name="connsiteY3" fmla="*/ 804552 h 943745"/>
              <a:gd name="connsiteX4" fmla="*/ 4992694 w 9590324"/>
              <a:gd name="connsiteY4" fmla="*/ 381218 h 943745"/>
              <a:gd name="connsiteX5" fmla="*/ 6111034 w 9590324"/>
              <a:gd name="connsiteY5" fmla="*/ 781413 h 943745"/>
              <a:gd name="connsiteX6" fmla="*/ 7259872 w 9590324"/>
              <a:gd name="connsiteY6" fmla="*/ 540 h 943745"/>
              <a:gd name="connsiteX7" fmla="*/ 8605744 w 9590324"/>
              <a:gd name="connsiteY7" fmla="*/ 648339 h 943745"/>
              <a:gd name="connsiteX8" fmla="*/ 9590094 w 9590324"/>
              <a:gd name="connsiteY8" fmla="*/ 178018 h 943745"/>
              <a:gd name="connsiteX0" fmla="*/ 0 w 9590391"/>
              <a:gd name="connsiteY0" fmla="*/ 431448 h 943745"/>
              <a:gd name="connsiteX1" fmla="*/ 1594356 w 9590391"/>
              <a:gd name="connsiteY1" fmla="*/ 943703 h 943745"/>
              <a:gd name="connsiteX2" fmla="*/ 3291803 w 9590391"/>
              <a:gd name="connsiteY2" fmla="*/ 462195 h 943745"/>
              <a:gd name="connsiteX3" fmla="*/ 3934360 w 9590391"/>
              <a:gd name="connsiteY3" fmla="*/ 804552 h 943745"/>
              <a:gd name="connsiteX4" fmla="*/ 4992694 w 9590391"/>
              <a:gd name="connsiteY4" fmla="*/ 381218 h 943745"/>
              <a:gd name="connsiteX5" fmla="*/ 6111034 w 9590391"/>
              <a:gd name="connsiteY5" fmla="*/ 781413 h 943745"/>
              <a:gd name="connsiteX6" fmla="*/ 7259872 w 9590391"/>
              <a:gd name="connsiteY6" fmla="*/ 540 h 943745"/>
              <a:gd name="connsiteX7" fmla="*/ 8605744 w 9590391"/>
              <a:gd name="connsiteY7" fmla="*/ 648339 h 943745"/>
              <a:gd name="connsiteX8" fmla="*/ 9590094 w 9590391"/>
              <a:gd name="connsiteY8" fmla="*/ 178018 h 943745"/>
              <a:gd name="connsiteX0" fmla="*/ 0 w 9590391"/>
              <a:gd name="connsiteY0" fmla="*/ 410526 h 922823"/>
              <a:gd name="connsiteX1" fmla="*/ 1594356 w 9590391"/>
              <a:gd name="connsiteY1" fmla="*/ 922781 h 922823"/>
              <a:gd name="connsiteX2" fmla="*/ 3291803 w 9590391"/>
              <a:gd name="connsiteY2" fmla="*/ 441273 h 922823"/>
              <a:gd name="connsiteX3" fmla="*/ 3934360 w 9590391"/>
              <a:gd name="connsiteY3" fmla="*/ 783630 h 922823"/>
              <a:gd name="connsiteX4" fmla="*/ 4992694 w 9590391"/>
              <a:gd name="connsiteY4" fmla="*/ 360296 h 922823"/>
              <a:gd name="connsiteX5" fmla="*/ 6111034 w 9590391"/>
              <a:gd name="connsiteY5" fmla="*/ 760491 h 922823"/>
              <a:gd name="connsiteX6" fmla="*/ 7114624 w 9590391"/>
              <a:gd name="connsiteY6" fmla="*/ 559 h 922823"/>
              <a:gd name="connsiteX7" fmla="*/ 8605744 w 9590391"/>
              <a:gd name="connsiteY7" fmla="*/ 627417 h 922823"/>
              <a:gd name="connsiteX8" fmla="*/ 9590094 w 9590391"/>
              <a:gd name="connsiteY8" fmla="*/ 157096 h 922823"/>
              <a:gd name="connsiteX0" fmla="*/ 0 w 9590375"/>
              <a:gd name="connsiteY0" fmla="*/ 412411 h 924708"/>
              <a:gd name="connsiteX1" fmla="*/ 1594356 w 9590375"/>
              <a:gd name="connsiteY1" fmla="*/ 924666 h 924708"/>
              <a:gd name="connsiteX2" fmla="*/ 3291803 w 9590375"/>
              <a:gd name="connsiteY2" fmla="*/ 443158 h 924708"/>
              <a:gd name="connsiteX3" fmla="*/ 3934360 w 9590375"/>
              <a:gd name="connsiteY3" fmla="*/ 785515 h 924708"/>
              <a:gd name="connsiteX4" fmla="*/ 4992694 w 9590375"/>
              <a:gd name="connsiteY4" fmla="*/ 362181 h 924708"/>
              <a:gd name="connsiteX5" fmla="*/ 6111034 w 9590375"/>
              <a:gd name="connsiteY5" fmla="*/ 762376 h 924708"/>
              <a:gd name="connsiteX6" fmla="*/ 7114624 w 9590375"/>
              <a:gd name="connsiteY6" fmla="*/ 2444 h 924708"/>
              <a:gd name="connsiteX7" fmla="*/ 8567521 w 9590375"/>
              <a:gd name="connsiteY7" fmla="*/ 503659 h 924708"/>
              <a:gd name="connsiteX8" fmla="*/ 9590094 w 9590375"/>
              <a:gd name="connsiteY8" fmla="*/ 158981 h 924708"/>
              <a:gd name="connsiteX0" fmla="*/ 0 w 9590398"/>
              <a:gd name="connsiteY0" fmla="*/ 412411 h 924708"/>
              <a:gd name="connsiteX1" fmla="*/ 1594356 w 9590398"/>
              <a:gd name="connsiteY1" fmla="*/ 924666 h 924708"/>
              <a:gd name="connsiteX2" fmla="*/ 3291803 w 9590398"/>
              <a:gd name="connsiteY2" fmla="*/ 443158 h 924708"/>
              <a:gd name="connsiteX3" fmla="*/ 3934360 w 9590398"/>
              <a:gd name="connsiteY3" fmla="*/ 785515 h 924708"/>
              <a:gd name="connsiteX4" fmla="*/ 4992694 w 9590398"/>
              <a:gd name="connsiteY4" fmla="*/ 362181 h 924708"/>
              <a:gd name="connsiteX5" fmla="*/ 6111034 w 9590398"/>
              <a:gd name="connsiteY5" fmla="*/ 762376 h 924708"/>
              <a:gd name="connsiteX6" fmla="*/ 7114624 w 9590398"/>
              <a:gd name="connsiteY6" fmla="*/ 2444 h 924708"/>
              <a:gd name="connsiteX7" fmla="*/ 8567521 w 9590398"/>
              <a:gd name="connsiteY7" fmla="*/ 503659 h 924708"/>
              <a:gd name="connsiteX8" fmla="*/ 9590094 w 9590398"/>
              <a:gd name="connsiteY8" fmla="*/ 158981 h 924708"/>
              <a:gd name="connsiteX0" fmla="*/ 0 w 9590421"/>
              <a:gd name="connsiteY0" fmla="*/ 410465 h 922762"/>
              <a:gd name="connsiteX1" fmla="*/ 1594356 w 9590421"/>
              <a:gd name="connsiteY1" fmla="*/ 922720 h 922762"/>
              <a:gd name="connsiteX2" fmla="*/ 3291803 w 9590421"/>
              <a:gd name="connsiteY2" fmla="*/ 441212 h 922762"/>
              <a:gd name="connsiteX3" fmla="*/ 3934360 w 9590421"/>
              <a:gd name="connsiteY3" fmla="*/ 783569 h 922762"/>
              <a:gd name="connsiteX4" fmla="*/ 4992694 w 9590421"/>
              <a:gd name="connsiteY4" fmla="*/ 360235 h 922762"/>
              <a:gd name="connsiteX5" fmla="*/ 6111034 w 9590421"/>
              <a:gd name="connsiteY5" fmla="*/ 760430 h 922762"/>
              <a:gd name="connsiteX6" fmla="*/ 7114624 w 9590421"/>
              <a:gd name="connsiteY6" fmla="*/ 498 h 922762"/>
              <a:gd name="connsiteX7" fmla="*/ 8613390 w 9590421"/>
              <a:gd name="connsiteY7" fmla="*/ 634336 h 922762"/>
              <a:gd name="connsiteX8" fmla="*/ 9590094 w 9590421"/>
              <a:gd name="connsiteY8" fmla="*/ 157035 h 922762"/>
              <a:gd name="connsiteX0" fmla="*/ 0 w 9758531"/>
              <a:gd name="connsiteY0" fmla="*/ 974451 h 1486748"/>
              <a:gd name="connsiteX1" fmla="*/ 1594356 w 9758531"/>
              <a:gd name="connsiteY1" fmla="*/ 1486706 h 1486748"/>
              <a:gd name="connsiteX2" fmla="*/ 3291803 w 9758531"/>
              <a:gd name="connsiteY2" fmla="*/ 1005198 h 1486748"/>
              <a:gd name="connsiteX3" fmla="*/ 3934360 w 9758531"/>
              <a:gd name="connsiteY3" fmla="*/ 1347555 h 1486748"/>
              <a:gd name="connsiteX4" fmla="*/ 4992694 w 9758531"/>
              <a:gd name="connsiteY4" fmla="*/ 924221 h 1486748"/>
              <a:gd name="connsiteX5" fmla="*/ 6111034 w 9758531"/>
              <a:gd name="connsiteY5" fmla="*/ 1324416 h 1486748"/>
              <a:gd name="connsiteX6" fmla="*/ 7114624 w 9758531"/>
              <a:gd name="connsiteY6" fmla="*/ 564484 h 1486748"/>
              <a:gd name="connsiteX7" fmla="*/ 8613390 w 9758531"/>
              <a:gd name="connsiteY7" fmla="*/ 1198322 h 1486748"/>
              <a:gd name="connsiteX8" fmla="*/ 9758275 w 9758531"/>
              <a:gd name="connsiteY8" fmla="*/ 2066 h 1486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58531" h="1486748">
                <a:moveTo>
                  <a:pt x="0" y="974451"/>
                </a:moveTo>
                <a:cubicBezTo>
                  <a:pt x="254000" y="1201640"/>
                  <a:pt x="1045722" y="1481582"/>
                  <a:pt x="1594356" y="1486706"/>
                </a:cubicBezTo>
                <a:cubicBezTo>
                  <a:pt x="2142990" y="1491830"/>
                  <a:pt x="2901802" y="1028390"/>
                  <a:pt x="3291803" y="1005198"/>
                </a:cubicBezTo>
                <a:cubicBezTo>
                  <a:pt x="3681804" y="982006"/>
                  <a:pt x="3650878" y="1361051"/>
                  <a:pt x="3934360" y="1347555"/>
                </a:cubicBezTo>
                <a:cubicBezTo>
                  <a:pt x="4217842" y="1334059"/>
                  <a:pt x="4629915" y="928077"/>
                  <a:pt x="4992694" y="924221"/>
                </a:cubicBezTo>
                <a:cubicBezTo>
                  <a:pt x="5355473" y="920365"/>
                  <a:pt x="5757379" y="1384372"/>
                  <a:pt x="6111034" y="1324416"/>
                </a:cubicBezTo>
                <a:cubicBezTo>
                  <a:pt x="6464689" y="1264460"/>
                  <a:pt x="6697565" y="585500"/>
                  <a:pt x="7114624" y="564484"/>
                </a:cubicBezTo>
                <a:cubicBezTo>
                  <a:pt x="7531683" y="543468"/>
                  <a:pt x="8366446" y="1195500"/>
                  <a:pt x="8613390" y="1198322"/>
                </a:cubicBezTo>
                <a:cubicBezTo>
                  <a:pt x="9016653" y="1207705"/>
                  <a:pt x="9774503" y="-57906"/>
                  <a:pt x="9758275" y="2066"/>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00FF"/>
              </a:highlight>
            </a:endParaRPr>
          </a:p>
        </p:txBody>
      </p:sp>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6" name="Freeform 15">
            <a:extLst>
              <a:ext uri="{FF2B5EF4-FFF2-40B4-BE49-F238E27FC236}">
                <a16:creationId xmlns:a16="http://schemas.microsoft.com/office/drawing/2014/main" id="{226B2D26-F692-894E-9B09-F57FBB5CB2A3}"/>
              </a:ext>
            </a:extLst>
          </p:cNvPr>
          <p:cNvSpPr/>
          <p:nvPr/>
        </p:nvSpPr>
        <p:spPr>
          <a:xfrm>
            <a:off x="1782624" y="4134709"/>
            <a:ext cx="8925159" cy="1399594"/>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28935"/>
              <a:gd name="connsiteX1" fmla="*/ 719666 w 8527062"/>
              <a:gd name="connsiteY1" fmla="*/ 654473 h 3128935"/>
              <a:gd name="connsiteX2" fmla="*/ 1523999 w 8527062"/>
              <a:gd name="connsiteY2" fmla="*/ 2584873 h 3128935"/>
              <a:gd name="connsiteX3" fmla="*/ 2870199 w 8527062"/>
              <a:gd name="connsiteY3" fmla="*/ 1712807 h 3128935"/>
              <a:gd name="connsiteX4" fmla="*/ 3928533 w 8527062"/>
              <a:gd name="connsiteY4" fmla="*/ 1289473 h 3128935"/>
              <a:gd name="connsiteX5" fmla="*/ 4394124 w 8527062"/>
              <a:gd name="connsiteY5" fmla="*/ 2476967 h 3128935"/>
              <a:gd name="connsiteX6" fmla="*/ 4817532 w 8527062"/>
              <a:gd name="connsiteY6" fmla="*/ 1899073 h 3128935"/>
              <a:gd name="connsiteX7" fmla="*/ 5689600 w 8527062"/>
              <a:gd name="connsiteY7" fmla="*/ 3118273 h 3128935"/>
              <a:gd name="connsiteX8" fmla="*/ 7044266 w 8527062"/>
              <a:gd name="connsiteY8" fmla="*/ 1069339 h 3128935"/>
              <a:gd name="connsiteX9" fmla="*/ 7620000 w 8527062"/>
              <a:gd name="connsiteY9" fmla="*/ 2872740 h 3128935"/>
              <a:gd name="connsiteX10" fmla="*/ 8229600 w 8527062"/>
              <a:gd name="connsiteY10" fmla="*/ 44873 h 3128935"/>
              <a:gd name="connsiteX11" fmla="*/ 8525933 w 8527062"/>
              <a:gd name="connsiteY11" fmla="*/ 1086273 h 3128935"/>
              <a:gd name="connsiteX0" fmla="*/ 0 w 8527062"/>
              <a:gd name="connsiteY0" fmla="*/ 1221740 h 3130725"/>
              <a:gd name="connsiteX1" fmla="*/ 719666 w 8527062"/>
              <a:gd name="connsiteY1" fmla="*/ 654473 h 3130725"/>
              <a:gd name="connsiteX2" fmla="*/ 1523999 w 8527062"/>
              <a:gd name="connsiteY2" fmla="*/ 2584873 h 3130725"/>
              <a:gd name="connsiteX3" fmla="*/ 2870199 w 8527062"/>
              <a:gd name="connsiteY3" fmla="*/ 1712807 h 3130725"/>
              <a:gd name="connsiteX4" fmla="*/ 3928533 w 8527062"/>
              <a:gd name="connsiteY4" fmla="*/ 1289473 h 3130725"/>
              <a:gd name="connsiteX5" fmla="*/ 4817532 w 8527062"/>
              <a:gd name="connsiteY5" fmla="*/ 1899073 h 3130725"/>
              <a:gd name="connsiteX6" fmla="*/ 5689600 w 8527062"/>
              <a:gd name="connsiteY6" fmla="*/ 3118273 h 3130725"/>
              <a:gd name="connsiteX7" fmla="*/ 7044266 w 8527062"/>
              <a:gd name="connsiteY7" fmla="*/ 1069339 h 3130725"/>
              <a:gd name="connsiteX8" fmla="*/ 7620000 w 8527062"/>
              <a:gd name="connsiteY8" fmla="*/ 2872740 h 3130725"/>
              <a:gd name="connsiteX9" fmla="*/ 8229600 w 8527062"/>
              <a:gd name="connsiteY9" fmla="*/ 44873 h 3130725"/>
              <a:gd name="connsiteX10" fmla="*/ 8525933 w 8527062"/>
              <a:gd name="connsiteY10" fmla="*/ 1086273 h 3130725"/>
              <a:gd name="connsiteX0" fmla="*/ 0 w 8527062"/>
              <a:gd name="connsiteY0" fmla="*/ 1221740 h 2884077"/>
              <a:gd name="connsiteX1" fmla="*/ 719666 w 8527062"/>
              <a:gd name="connsiteY1" fmla="*/ 654473 h 2884077"/>
              <a:gd name="connsiteX2" fmla="*/ 1523999 w 8527062"/>
              <a:gd name="connsiteY2" fmla="*/ 2584873 h 2884077"/>
              <a:gd name="connsiteX3" fmla="*/ 2870199 w 8527062"/>
              <a:gd name="connsiteY3" fmla="*/ 1712807 h 2884077"/>
              <a:gd name="connsiteX4" fmla="*/ 3928533 w 8527062"/>
              <a:gd name="connsiteY4" fmla="*/ 1289473 h 2884077"/>
              <a:gd name="connsiteX5" fmla="*/ 4817532 w 8527062"/>
              <a:gd name="connsiteY5" fmla="*/ 1899073 h 2884077"/>
              <a:gd name="connsiteX6" fmla="*/ 7044266 w 8527062"/>
              <a:gd name="connsiteY6" fmla="*/ 1069339 h 2884077"/>
              <a:gd name="connsiteX7" fmla="*/ 7620000 w 8527062"/>
              <a:gd name="connsiteY7" fmla="*/ 2872740 h 2884077"/>
              <a:gd name="connsiteX8" fmla="*/ 8229600 w 8527062"/>
              <a:gd name="connsiteY8" fmla="*/ 44873 h 2884077"/>
              <a:gd name="connsiteX9" fmla="*/ 8525933 w 8527062"/>
              <a:gd name="connsiteY9" fmla="*/ 1086273 h 2884077"/>
              <a:gd name="connsiteX0" fmla="*/ 0 w 8527062"/>
              <a:gd name="connsiteY0" fmla="*/ 1221740 h 2609220"/>
              <a:gd name="connsiteX1" fmla="*/ 719666 w 8527062"/>
              <a:gd name="connsiteY1" fmla="*/ 654473 h 2609220"/>
              <a:gd name="connsiteX2" fmla="*/ 1523999 w 8527062"/>
              <a:gd name="connsiteY2" fmla="*/ 2584873 h 2609220"/>
              <a:gd name="connsiteX3" fmla="*/ 2870199 w 8527062"/>
              <a:gd name="connsiteY3" fmla="*/ 1712807 h 2609220"/>
              <a:gd name="connsiteX4" fmla="*/ 3928533 w 8527062"/>
              <a:gd name="connsiteY4" fmla="*/ 1289473 h 2609220"/>
              <a:gd name="connsiteX5" fmla="*/ 4817532 w 8527062"/>
              <a:gd name="connsiteY5" fmla="*/ 1899073 h 2609220"/>
              <a:gd name="connsiteX6" fmla="*/ 7044266 w 8527062"/>
              <a:gd name="connsiteY6" fmla="*/ 1069339 h 2609220"/>
              <a:gd name="connsiteX7" fmla="*/ 8229600 w 8527062"/>
              <a:gd name="connsiteY7" fmla="*/ 44873 h 2609220"/>
              <a:gd name="connsiteX8" fmla="*/ 8525933 w 8527062"/>
              <a:gd name="connsiteY8" fmla="*/ 1086273 h 2609220"/>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7044266 w 8526584"/>
              <a:gd name="connsiteY6" fmla="*/ 443722 h 1983603"/>
              <a:gd name="connsiteX7" fmla="*/ 8100190 w 8526584"/>
              <a:gd name="connsiteY7" fmla="*/ 850123 h 1983603"/>
              <a:gd name="connsiteX8" fmla="*/ 8525933 w 8526584"/>
              <a:gd name="connsiteY8" fmla="*/ 460656 h 1983603"/>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6906768 w 8526584"/>
              <a:gd name="connsiteY6" fmla="*/ 502989 h 1983603"/>
              <a:gd name="connsiteX7" fmla="*/ 8100190 w 8526584"/>
              <a:gd name="connsiteY7" fmla="*/ 850123 h 1983603"/>
              <a:gd name="connsiteX8" fmla="*/ 8525933 w 8526584"/>
              <a:gd name="connsiteY8" fmla="*/ 460656 h 1983603"/>
              <a:gd name="connsiteX0" fmla="*/ 0 w 8526584"/>
              <a:gd name="connsiteY0" fmla="*/ 148404 h 1513499"/>
              <a:gd name="connsiteX1" fmla="*/ 768195 w 8526584"/>
              <a:gd name="connsiteY1" fmla="*/ 377004 h 1513499"/>
              <a:gd name="connsiteX2" fmla="*/ 1523999 w 8526584"/>
              <a:gd name="connsiteY2" fmla="*/ 1511537 h 1513499"/>
              <a:gd name="connsiteX3" fmla="*/ 2870199 w 8526584"/>
              <a:gd name="connsiteY3" fmla="*/ 639471 h 1513499"/>
              <a:gd name="connsiteX4" fmla="*/ 3928533 w 8526584"/>
              <a:gd name="connsiteY4" fmla="*/ 216137 h 1513499"/>
              <a:gd name="connsiteX5" fmla="*/ 4817532 w 8526584"/>
              <a:gd name="connsiteY5" fmla="*/ 825737 h 1513499"/>
              <a:gd name="connsiteX6" fmla="*/ 6906768 w 8526584"/>
              <a:gd name="connsiteY6" fmla="*/ 55270 h 1513499"/>
              <a:gd name="connsiteX7" fmla="*/ 8100190 w 8526584"/>
              <a:gd name="connsiteY7" fmla="*/ 402404 h 1513499"/>
              <a:gd name="connsiteX8" fmla="*/ 8525933 w 8526584"/>
              <a:gd name="connsiteY8" fmla="*/ 12937 h 1513499"/>
              <a:gd name="connsiteX0" fmla="*/ 0 w 8526584"/>
              <a:gd name="connsiteY0" fmla="*/ 148404 h 1302454"/>
              <a:gd name="connsiteX1" fmla="*/ 768195 w 8526584"/>
              <a:gd name="connsiteY1" fmla="*/ 377004 h 1302454"/>
              <a:gd name="connsiteX2" fmla="*/ 1750467 w 8526584"/>
              <a:gd name="connsiteY2" fmla="*/ 1299870 h 1302454"/>
              <a:gd name="connsiteX3" fmla="*/ 2870199 w 8526584"/>
              <a:gd name="connsiteY3" fmla="*/ 639471 h 1302454"/>
              <a:gd name="connsiteX4" fmla="*/ 3928533 w 8526584"/>
              <a:gd name="connsiteY4" fmla="*/ 216137 h 1302454"/>
              <a:gd name="connsiteX5" fmla="*/ 4817532 w 8526584"/>
              <a:gd name="connsiteY5" fmla="*/ 825737 h 1302454"/>
              <a:gd name="connsiteX6" fmla="*/ 6906768 w 8526584"/>
              <a:gd name="connsiteY6" fmla="*/ 55270 h 1302454"/>
              <a:gd name="connsiteX7" fmla="*/ 8100190 w 8526584"/>
              <a:gd name="connsiteY7" fmla="*/ 402404 h 1302454"/>
              <a:gd name="connsiteX8" fmla="*/ 8525933 w 8526584"/>
              <a:gd name="connsiteY8" fmla="*/ 12937 h 1302454"/>
              <a:gd name="connsiteX0" fmla="*/ 0 w 8526584"/>
              <a:gd name="connsiteY0" fmla="*/ 148404 h 1319420"/>
              <a:gd name="connsiteX1" fmla="*/ 768195 w 8526584"/>
              <a:gd name="connsiteY1" fmla="*/ 377004 h 1319420"/>
              <a:gd name="connsiteX2" fmla="*/ 1750467 w 8526584"/>
              <a:gd name="connsiteY2" fmla="*/ 1299870 h 1319420"/>
              <a:gd name="connsiteX3" fmla="*/ 3088580 w 8526584"/>
              <a:gd name="connsiteY3" fmla="*/ 944271 h 1319420"/>
              <a:gd name="connsiteX4" fmla="*/ 3928533 w 8526584"/>
              <a:gd name="connsiteY4" fmla="*/ 216137 h 1319420"/>
              <a:gd name="connsiteX5" fmla="*/ 4817532 w 8526584"/>
              <a:gd name="connsiteY5" fmla="*/ 825737 h 1319420"/>
              <a:gd name="connsiteX6" fmla="*/ 6906768 w 8526584"/>
              <a:gd name="connsiteY6" fmla="*/ 55270 h 1319420"/>
              <a:gd name="connsiteX7" fmla="*/ 8100190 w 8526584"/>
              <a:gd name="connsiteY7" fmla="*/ 402404 h 1319420"/>
              <a:gd name="connsiteX8" fmla="*/ 8525933 w 8526584"/>
              <a:gd name="connsiteY8" fmla="*/ 12937 h 1319420"/>
              <a:gd name="connsiteX0" fmla="*/ 0 w 8526191"/>
              <a:gd name="connsiteY0" fmla="*/ 139702 h 1310718"/>
              <a:gd name="connsiteX1" fmla="*/ 768195 w 8526191"/>
              <a:gd name="connsiteY1" fmla="*/ 368302 h 1310718"/>
              <a:gd name="connsiteX2" fmla="*/ 1750467 w 8526191"/>
              <a:gd name="connsiteY2" fmla="*/ 1291168 h 1310718"/>
              <a:gd name="connsiteX3" fmla="*/ 3088580 w 8526191"/>
              <a:gd name="connsiteY3" fmla="*/ 935569 h 1310718"/>
              <a:gd name="connsiteX4" fmla="*/ 3928533 w 8526191"/>
              <a:gd name="connsiteY4" fmla="*/ 207435 h 1310718"/>
              <a:gd name="connsiteX5" fmla="*/ 4817532 w 8526191"/>
              <a:gd name="connsiteY5" fmla="*/ 817035 h 1310718"/>
              <a:gd name="connsiteX6" fmla="*/ 6906768 w 8526191"/>
              <a:gd name="connsiteY6" fmla="*/ 46568 h 1310718"/>
              <a:gd name="connsiteX7" fmla="*/ 7639165 w 8526191"/>
              <a:gd name="connsiteY7" fmla="*/ 833969 h 1310718"/>
              <a:gd name="connsiteX8" fmla="*/ 8525933 w 8526191"/>
              <a:gd name="connsiteY8" fmla="*/ 4235 h 1310718"/>
              <a:gd name="connsiteX0" fmla="*/ 0 w 8526305"/>
              <a:gd name="connsiteY0" fmla="*/ 138725 h 1309741"/>
              <a:gd name="connsiteX1" fmla="*/ 768195 w 8526305"/>
              <a:gd name="connsiteY1" fmla="*/ 367325 h 1309741"/>
              <a:gd name="connsiteX2" fmla="*/ 1750467 w 8526305"/>
              <a:gd name="connsiteY2" fmla="*/ 1290191 h 1309741"/>
              <a:gd name="connsiteX3" fmla="*/ 3088580 w 8526305"/>
              <a:gd name="connsiteY3" fmla="*/ 934592 h 1309741"/>
              <a:gd name="connsiteX4" fmla="*/ 3928533 w 8526305"/>
              <a:gd name="connsiteY4" fmla="*/ 206458 h 1309741"/>
              <a:gd name="connsiteX5" fmla="*/ 4817532 w 8526305"/>
              <a:gd name="connsiteY5" fmla="*/ 816058 h 1309741"/>
              <a:gd name="connsiteX6" fmla="*/ 6906768 w 8526305"/>
              <a:gd name="connsiteY6" fmla="*/ 45591 h 1309741"/>
              <a:gd name="connsiteX7" fmla="*/ 7639165 w 8526305"/>
              <a:gd name="connsiteY7" fmla="*/ 832992 h 1309741"/>
              <a:gd name="connsiteX8" fmla="*/ 8525933 w 8526305"/>
              <a:gd name="connsiteY8" fmla="*/ 3258 h 1309741"/>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906768 w 8526504"/>
              <a:gd name="connsiteY6" fmla="*/ 48028 h 1312178"/>
              <a:gd name="connsiteX7" fmla="*/ 7825193 w 8526504"/>
              <a:gd name="connsiteY7" fmla="*/ 479829 h 1312178"/>
              <a:gd name="connsiteX8" fmla="*/ 8525933 w 8526504"/>
              <a:gd name="connsiteY8" fmla="*/ 5695 h 1312178"/>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858239 w 8526504"/>
              <a:gd name="connsiteY6" fmla="*/ 776161 h 1312178"/>
              <a:gd name="connsiteX7" fmla="*/ 7825193 w 8526504"/>
              <a:gd name="connsiteY7" fmla="*/ 479829 h 1312178"/>
              <a:gd name="connsiteX8" fmla="*/ 8525933 w 8526504"/>
              <a:gd name="connsiteY8" fmla="*/ 5695 h 1312178"/>
              <a:gd name="connsiteX0" fmla="*/ 0 w 8526504"/>
              <a:gd name="connsiteY0" fmla="*/ 141162 h 1403304"/>
              <a:gd name="connsiteX1" fmla="*/ 768195 w 8526504"/>
              <a:gd name="connsiteY1" fmla="*/ 369762 h 1403304"/>
              <a:gd name="connsiteX2" fmla="*/ 1750467 w 8526504"/>
              <a:gd name="connsiteY2" fmla="*/ 1292628 h 1403304"/>
              <a:gd name="connsiteX3" fmla="*/ 3088580 w 8526504"/>
              <a:gd name="connsiteY3" fmla="*/ 937029 h 1403304"/>
              <a:gd name="connsiteX4" fmla="*/ 3920445 w 8526504"/>
              <a:gd name="connsiteY4" fmla="*/ 1402695 h 1403304"/>
              <a:gd name="connsiteX5" fmla="*/ 4817532 w 8526504"/>
              <a:gd name="connsiteY5" fmla="*/ 818495 h 1403304"/>
              <a:gd name="connsiteX6" fmla="*/ 6858239 w 8526504"/>
              <a:gd name="connsiteY6" fmla="*/ 776161 h 1403304"/>
              <a:gd name="connsiteX7" fmla="*/ 7825193 w 8526504"/>
              <a:gd name="connsiteY7" fmla="*/ 479829 h 1403304"/>
              <a:gd name="connsiteX8" fmla="*/ 8525933 w 8526504"/>
              <a:gd name="connsiteY8" fmla="*/ 5695 h 1403304"/>
              <a:gd name="connsiteX0" fmla="*/ 0 w 8526519"/>
              <a:gd name="connsiteY0" fmla="*/ 141162 h 1403304"/>
              <a:gd name="connsiteX1" fmla="*/ 768195 w 8526519"/>
              <a:gd name="connsiteY1" fmla="*/ 369762 h 1403304"/>
              <a:gd name="connsiteX2" fmla="*/ 1750467 w 8526519"/>
              <a:gd name="connsiteY2" fmla="*/ 1292628 h 1403304"/>
              <a:gd name="connsiteX3" fmla="*/ 3088580 w 8526519"/>
              <a:gd name="connsiteY3" fmla="*/ 937029 h 1403304"/>
              <a:gd name="connsiteX4" fmla="*/ 3920445 w 8526519"/>
              <a:gd name="connsiteY4" fmla="*/ 1402695 h 1403304"/>
              <a:gd name="connsiteX5" fmla="*/ 4817532 w 8526519"/>
              <a:gd name="connsiteY5" fmla="*/ 818495 h 1403304"/>
              <a:gd name="connsiteX6" fmla="*/ 6858239 w 8526519"/>
              <a:gd name="connsiteY6" fmla="*/ 776161 h 1403304"/>
              <a:gd name="connsiteX7" fmla="*/ 7833674 w 8526519"/>
              <a:gd name="connsiteY7" fmla="*/ 479829 h 1403304"/>
              <a:gd name="connsiteX8" fmla="*/ 8525933 w 8526519"/>
              <a:gd name="connsiteY8" fmla="*/ 5695 h 1403304"/>
              <a:gd name="connsiteX0" fmla="*/ 0 w 8526583"/>
              <a:gd name="connsiteY0" fmla="*/ 139934 h 1402076"/>
              <a:gd name="connsiteX1" fmla="*/ 768195 w 8526583"/>
              <a:gd name="connsiteY1" fmla="*/ 368534 h 1402076"/>
              <a:gd name="connsiteX2" fmla="*/ 1750467 w 8526583"/>
              <a:gd name="connsiteY2" fmla="*/ 1291400 h 1402076"/>
              <a:gd name="connsiteX3" fmla="*/ 3088580 w 8526583"/>
              <a:gd name="connsiteY3" fmla="*/ 935801 h 1402076"/>
              <a:gd name="connsiteX4" fmla="*/ 3920445 w 8526583"/>
              <a:gd name="connsiteY4" fmla="*/ 1401467 h 1402076"/>
              <a:gd name="connsiteX5" fmla="*/ 4817532 w 8526583"/>
              <a:gd name="connsiteY5" fmla="*/ 817267 h 1402076"/>
              <a:gd name="connsiteX6" fmla="*/ 6858239 w 8526583"/>
              <a:gd name="connsiteY6" fmla="*/ 774933 h 1402076"/>
              <a:gd name="connsiteX7" fmla="*/ 7833674 w 8526583"/>
              <a:gd name="connsiteY7" fmla="*/ 478601 h 1402076"/>
              <a:gd name="connsiteX8" fmla="*/ 8525933 w 8526583"/>
              <a:gd name="connsiteY8" fmla="*/ 4467 h 1402076"/>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858239 w 8526097"/>
              <a:gd name="connsiteY6" fmla="*/ 772138 h 1399281"/>
              <a:gd name="connsiteX7" fmla="*/ 7053442 w 8526097"/>
              <a:gd name="connsiteY7" fmla="*/ 1177142 h 1399281"/>
              <a:gd name="connsiteX8" fmla="*/ 8525933 w 8526097"/>
              <a:gd name="connsiteY8" fmla="*/ 1672 h 1399281"/>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298507 w 8526097"/>
              <a:gd name="connsiteY6" fmla="*/ 789894 h 1399281"/>
              <a:gd name="connsiteX7" fmla="*/ 7053442 w 8526097"/>
              <a:gd name="connsiteY7" fmla="*/ 1177142 h 1399281"/>
              <a:gd name="connsiteX8" fmla="*/ 8525933 w 8526097"/>
              <a:gd name="connsiteY8" fmla="*/ 1672 h 1399281"/>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5832064 w 8526149"/>
              <a:gd name="connsiteY6" fmla="*/ 541632 h 1399594"/>
              <a:gd name="connsiteX7" fmla="*/ 7053442 w 8526149"/>
              <a:gd name="connsiteY7" fmla="*/ 1177455 h 1399594"/>
              <a:gd name="connsiteX8" fmla="*/ 8525933 w 8526149"/>
              <a:gd name="connsiteY8" fmla="*/ 1985 h 139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6149" h="1399594">
                <a:moveTo>
                  <a:pt x="0" y="137452"/>
                </a:moveTo>
                <a:cubicBezTo>
                  <a:pt x="219427" y="544557"/>
                  <a:pt x="476451" y="174141"/>
                  <a:pt x="768195" y="366052"/>
                </a:cubicBezTo>
                <a:cubicBezTo>
                  <a:pt x="1059940" y="557963"/>
                  <a:pt x="1363736" y="1194374"/>
                  <a:pt x="1750467" y="1288918"/>
                </a:cubicBezTo>
                <a:cubicBezTo>
                  <a:pt x="2137198" y="1383463"/>
                  <a:pt x="2726917" y="914975"/>
                  <a:pt x="3088580" y="933319"/>
                </a:cubicBezTo>
                <a:cubicBezTo>
                  <a:pt x="3450243" y="951664"/>
                  <a:pt x="3632286" y="1418741"/>
                  <a:pt x="3920445" y="1398985"/>
                </a:cubicBezTo>
                <a:cubicBezTo>
                  <a:pt x="4208604" y="1379229"/>
                  <a:pt x="4498929" y="957677"/>
                  <a:pt x="4817532" y="814785"/>
                </a:cubicBezTo>
                <a:cubicBezTo>
                  <a:pt x="5136135" y="671893"/>
                  <a:pt x="5459412" y="481187"/>
                  <a:pt x="5832064" y="541632"/>
                </a:cubicBezTo>
                <a:cubicBezTo>
                  <a:pt x="6204716" y="602077"/>
                  <a:pt x="6619921" y="1130245"/>
                  <a:pt x="7053442" y="1177455"/>
                </a:cubicBezTo>
                <a:cubicBezTo>
                  <a:pt x="7642529" y="1260874"/>
                  <a:pt x="8542161" y="-57987"/>
                  <a:pt x="8525933" y="1985"/>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0592434B-85D0-0A41-95DD-A29D1D3E92A7}"/>
              </a:ext>
            </a:extLst>
          </p:cNvPr>
          <p:cNvSpPr/>
          <p:nvPr/>
        </p:nvSpPr>
        <p:spPr>
          <a:xfrm>
            <a:off x="10603891" y="4096074"/>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2F7BF73-EB2C-9D42-97FB-D39FDCC924EB}"/>
              </a:ext>
            </a:extLst>
          </p:cNvPr>
          <p:cNvSpPr txBox="1"/>
          <p:nvPr/>
        </p:nvSpPr>
        <p:spPr>
          <a:xfrm>
            <a:off x="10730890" y="3966061"/>
            <a:ext cx="6952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A120AE69-6043-195E-40C7-43C019B9D3A9}"/>
              </a:ext>
            </a:extLst>
          </p:cNvPr>
          <p:cNvGrpSpPr/>
          <p:nvPr/>
        </p:nvGrpSpPr>
        <p:grpSpPr>
          <a:xfrm>
            <a:off x="8478163" y="2144136"/>
            <a:ext cx="2407458" cy="2492074"/>
            <a:chOff x="8478163" y="2144136"/>
            <a:chExt cx="2407458" cy="2492074"/>
          </a:xfrm>
        </p:grpSpPr>
        <p:cxnSp>
          <p:nvCxnSpPr>
            <p:cNvPr id="24" name="Straight Connector 23">
              <a:extLst>
                <a:ext uri="{FF2B5EF4-FFF2-40B4-BE49-F238E27FC236}">
                  <a16:creationId xmlns:a16="http://schemas.microsoft.com/office/drawing/2014/main" id="{3A19E039-1667-254C-809A-972BBA46D65C}"/>
                </a:ext>
              </a:extLst>
            </p:cNvPr>
            <p:cNvCxnSpPr>
              <a:cxnSpLocks/>
            </p:cNvCxnSpPr>
            <p:nvPr/>
          </p:nvCxnSpPr>
          <p:spPr>
            <a:xfrm>
              <a:off x="9708404" y="3401438"/>
              <a:ext cx="895487" cy="749289"/>
            </a:xfrm>
            <a:prstGeom prst="line">
              <a:avLst/>
            </a:prstGeom>
            <a:ln w="12700">
              <a:solidFill>
                <a:srgbClr val="00B05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38418338-F1E6-81D9-6A8C-D7EB7AA9DDA2}"/>
                </a:ext>
              </a:extLst>
            </p:cNvPr>
            <p:cNvSpPr>
              <a:spLocks noChangeAspect="1"/>
            </p:cNvSpPr>
            <p:nvPr/>
          </p:nvSpPr>
          <p:spPr>
            <a:xfrm>
              <a:off x="8478163" y="2144136"/>
              <a:ext cx="2407458" cy="2492074"/>
            </a:xfrm>
            <a:prstGeom prst="ellipse">
              <a:avLst/>
            </a:prstGeom>
            <a:noFill/>
            <a:ln w="127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9" name="TextBox 28">
            <a:extLst>
              <a:ext uri="{FF2B5EF4-FFF2-40B4-BE49-F238E27FC236}">
                <a16:creationId xmlns:a16="http://schemas.microsoft.com/office/drawing/2014/main" id="{2C329E1C-5E54-9E3C-A6FA-AE50E16EEB85}"/>
              </a:ext>
            </a:extLst>
          </p:cNvPr>
          <p:cNvSpPr txBox="1"/>
          <p:nvPr/>
        </p:nvSpPr>
        <p:spPr>
          <a:xfrm>
            <a:off x="9371821" y="3442283"/>
            <a:ext cx="6510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A(t’)</a:t>
            </a:r>
            <a:endPar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grpSp>
        <p:nvGrpSpPr>
          <p:cNvPr id="40" name="Group 39">
            <a:extLst>
              <a:ext uri="{FF2B5EF4-FFF2-40B4-BE49-F238E27FC236}">
                <a16:creationId xmlns:a16="http://schemas.microsoft.com/office/drawing/2014/main" id="{C105AAA1-FA00-79D8-70E9-DB832351B5E2}"/>
              </a:ext>
            </a:extLst>
          </p:cNvPr>
          <p:cNvGrpSpPr/>
          <p:nvPr/>
        </p:nvGrpSpPr>
        <p:grpSpPr>
          <a:xfrm rot="14400000">
            <a:off x="5977397" y="3480831"/>
            <a:ext cx="2514783" cy="2603171"/>
            <a:chOff x="8478163" y="2144136"/>
            <a:chExt cx="2407458" cy="2492074"/>
          </a:xfrm>
        </p:grpSpPr>
        <p:cxnSp>
          <p:nvCxnSpPr>
            <p:cNvPr id="41" name="Straight Connector 40">
              <a:extLst>
                <a:ext uri="{FF2B5EF4-FFF2-40B4-BE49-F238E27FC236}">
                  <a16:creationId xmlns:a16="http://schemas.microsoft.com/office/drawing/2014/main" id="{48D05E5C-4059-6EC7-1299-E52A65F46E3D}"/>
                </a:ext>
              </a:extLst>
            </p:cNvPr>
            <p:cNvCxnSpPr>
              <a:cxnSpLocks/>
            </p:cNvCxnSpPr>
            <p:nvPr/>
          </p:nvCxnSpPr>
          <p:spPr>
            <a:xfrm rot="5400000" flipV="1">
              <a:off x="9777616" y="3271712"/>
              <a:ext cx="787430" cy="925856"/>
            </a:xfrm>
            <a:prstGeom prst="line">
              <a:avLst/>
            </a:prstGeom>
            <a:ln w="12700">
              <a:solidFill>
                <a:srgbClr val="FFFF0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8174E055-9EC2-40B6-B317-43A23011EC49}"/>
                </a:ext>
              </a:extLst>
            </p:cNvPr>
            <p:cNvSpPr>
              <a:spLocks noChangeAspect="1"/>
            </p:cNvSpPr>
            <p:nvPr/>
          </p:nvSpPr>
          <p:spPr>
            <a:xfrm>
              <a:off x="8478163" y="2144136"/>
              <a:ext cx="2407458" cy="2492074"/>
            </a:xfrm>
            <a:prstGeom prst="ellipse">
              <a:avLst/>
            </a:prstGeom>
            <a:noFill/>
            <a:ln w="12700">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8" name="TextBox 27">
            <a:extLst>
              <a:ext uri="{FF2B5EF4-FFF2-40B4-BE49-F238E27FC236}">
                <a16:creationId xmlns:a16="http://schemas.microsoft.com/office/drawing/2014/main" id="{B86BBAD0-86F6-0D58-180C-6EA1BDCC33FE}"/>
              </a:ext>
            </a:extLst>
          </p:cNvPr>
          <p:cNvSpPr txBox="1"/>
          <p:nvPr/>
        </p:nvSpPr>
        <p:spPr>
          <a:xfrm>
            <a:off x="1701386" y="943686"/>
            <a:ext cx="9982877" cy="1200329"/>
          </a:xfrm>
          <a:prstGeom prst="rect">
            <a:avLst/>
          </a:prstGeom>
          <a:noFill/>
        </p:spPr>
        <p:txBody>
          <a:bodyPr wrap="square">
            <a:spAutoFit/>
          </a:bodyPr>
          <a:lstStyle/>
          <a:p>
            <a:pPr marL="285750" indent="-285750">
              <a:buFont typeface="Arial" panose="020B0604020202020204" pitchFamily="34" charset="0"/>
              <a:buChar char="•"/>
            </a:pPr>
            <a:r>
              <a:rPr kumimoji="0" lang="en-US"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It is fascinating to conceptualize continuous feedback with a delay.</a:t>
            </a:r>
          </a:p>
          <a:p>
            <a:pPr marL="285750" indent="-285750">
              <a:buFont typeface="Arial" panose="020B0604020202020204" pitchFamily="34" charset="0"/>
              <a:buChar char="•"/>
            </a:pPr>
            <a:r>
              <a:rPr kumimoji="0" lang="en-US"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Action upon A changes A’s path which changes the sphere stream A emits.  </a:t>
            </a:r>
          </a:p>
          <a:p>
            <a:pPr marL="285750" indent="-285750">
              <a:buFont typeface="Arial" panose="020B0604020202020204" pitchFamily="34" charset="0"/>
              <a:buChar char="•"/>
            </a:pPr>
            <a:r>
              <a:rPr kumimoji="0" lang="en-US"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After a travel time, which is also path dependent, action will occur at B and change B’s path. </a:t>
            </a:r>
          </a:p>
          <a:p>
            <a:pPr marL="285750" indent="-285750">
              <a:buFont typeface="Arial" panose="020B0604020202020204" pitchFamily="34" charset="0"/>
              <a:buChar char="•"/>
            </a:pPr>
            <a:r>
              <a:rPr kumimoji="0" lang="en-US"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And so on. This is all continuous feedback.</a:t>
            </a:r>
          </a:p>
        </p:txBody>
      </p:sp>
      <p:sp>
        <p:nvSpPr>
          <p:cNvPr id="6" name="Oval 5">
            <a:extLst>
              <a:ext uri="{FF2B5EF4-FFF2-40B4-BE49-F238E27FC236}">
                <a16:creationId xmlns:a16="http://schemas.microsoft.com/office/drawing/2014/main" id="{AC0CFD16-199C-C379-61A7-C2D95EDE2034}"/>
              </a:ext>
            </a:extLst>
          </p:cNvPr>
          <p:cNvSpPr/>
          <p:nvPr/>
        </p:nvSpPr>
        <p:spPr>
          <a:xfrm>
            <a:off x="10693156" y="2135598"/>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4832E6C-887E-D39B-AAC8-6B87F8F0377B}"/>
              </a:ext>
            </a:extLst>
          </p:cNvPr>
          <p:cNvSpPr txBox="1"/>
          <p:nvPr/>
        </p:nvSpPr>
        <p:spPr>
          <a:xfrm>
            <a:off x="10800886" y="2014432"/>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A(t)</a:t>
            </a:r>
            <a:endParaRPr lang="en-US" dirty="0">
              <a:solidFill>
                <a:srgbClr val="00B050"/>
              </a:solidFill>
            </a:endParaRPr>
          </a:p>
        </p:txBody>
      </p:sp>
      <p:sp>
        <p:nvSpPr>
          <p:cNvPr id="9" name="TextBox 8">
            <a:extLst>
              <a:ext uri="{FF2B5EF4-FFF2-40B4-BE49-F238E27FC236}">
                <a16:creationId xmlns:a16="http://schemas.microsoft.com/office/drawing/2014/main" id="{3FBBB3C0-9EF9-2269-F804-566738A12135}"/>
              </a:ext>
            </a:extLst>
          </p:cNvPr>
          <p:cNvSpPr txBox="1"/>
          <p:nvPr/>
        </p:nvSpPr>
        <p:spPr>
          <a:xfrm>
            <a:off x="1478723" y="2832065"/>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A</a:t>
            </a:r>
            <a:endParaRPr lang="en-US" dirty="0">
              <a:solidFill>
                <a:srgbClr val="00B050"/>
              </a:solidFill>
            </a:endParaRPr>
          </a:p>
        </p:txBody>
      </p:sp>
      <p:sp>
        <p:nvSpPr>
          <p:cNvPr id="10" name="TextBox 9">
            <a:extLst>
              <a:ext uri="{FF2B5EF4-FFF2-40B4-BE49-F238E27FC236}">
                <a16:creationId xmlns:a16="http://schemas.microsoft.com/office/drawing/2014/main" id="{5AD88C91-2B9D-6C66-4521-C91A0EBE16F1}"/>
              </a:ext>
            </a:extLst>
          </p:cNvPr>
          <p:cNvSpPr txBox="1"/>
          <p:nvPr/>
        </p:nvSpPr>
        <p:spPr>
          <a:xfrm>
            <a:off x="1422915" y="4079961"/>
            <a:ext cx="654112" cy="369332"/>
          </a:xfrm>
          <a:prstGeom prst="rect">
            <a:avLst/>
          </a:prstGeom>
          <a:noFill/>
        </p:spPr>
        <p:txBody>
          <a:bodyPr wrap="square">
            <a:spAutoFit/>
          </a:bodyPr>
          <a:lstStyle/>
          <a:p>
            <a:r>
              <a:rPr lang="en-US"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B</a:t>
            </a:r>
            <a:endParaRPr lang="en-US" dirty="0">
              <a:solidFill>
                <a:srgbClr val="00B050"/>
              </a:solidFill>
            </a:endParaRPr>
          </a:p>
        </p:txBody>
      </p:sp>
      <p:sp>
        <p:nvSpPr>
          <p:cNvPr id="11" name="Rectangle 10">
            <a:extLst>
              <a:ext uri="{FF2B5EF4-FFF2-40B4-BE49-F238E27FC236}">
                <a16:creationId xmlns:a16="http://schemas.microsoft.com/office/drawing/2014/main" id="{408E88E8-1AC1-3859-ED6E-998C354C18AF}"/>
              </a:ext>
            </a:extLst>
          </p:cNvPr>
          <p:cNvSpPr/>
          <p:nvPr/>
        </p:nvSpPr>
        <p:spPr>
          <a:xfrm>
            <a:off x="3306195" y="258919"/>
            <a:ext cx="6849952" cy="523220"/>
          </a:xfrm>
          <a:prstGeom prst="rect">
            <a:avLst/>
          </a:prstGeom>
          <a:solidFill>
            <a:srgbClr val="7030A0"/>
          </a:solidFill>
        </p:spPr>
        <p:txBody>
          <a:bodyPr wrap="none">
            <a:spAutoFit/>
          </a:bodyPr>
          <a:lstStyle/>
          <a:p>
            <a:pPr algn="ctr"/>
            <a:r>
              <a:rPr lang="en-US" sz="2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Path History and Action</a:t>
            </a:r>
            <a:endParaRPr lang="en-US" sz="2800" b="1" baseline="30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4" name="Group 13">
            <a:extLst>
              <a:ext uri="{FF2B5EF4-FFF2-40B4-BE49-F238E27FC236}">
                <a16:creationId xmlns:a16="http://schemas.microsoft.com/office/drawing/2014/main" id="{7A05C4D2-699B-5F84-92AE-09238BDBF4E8}"/>
              </a:ext>
            </a:extLst>
          </p:cNvPr>
          <p:cNvGrpSpPr/>
          <p:nvPr/>
        </p:nvGrpSpPr>
        <p:grpSpPr>
          <a:xfrm>
            <a:off x="28129" y="1077673"/>
            <a:ext cx="11664338" cy="5685100"/>
            <a:chOff x="28129" y="1077673"/>
            <a:chExt cx="11664338" cy="5685100"/>
          </a:xfrm>
        </p:grpSpPr>
        <p:cxnSp>
          <p:nvCxnSpPr>
            <p:cNvPr id="15" name="Straight Arrow Connector 14">
              <a:extLst>
                <a:ext uri="{FF2B5EF4-FFF2-40B4-BE49-F238E27FC236}">
                  <a16:creationId xmlns:a16="http://schemas.microsoft.com/office/drawing/2014/main" id="{6F7FA685-0220-0300-5C81-7977AB43778D}"/>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DAAADDE-3685-65B3-881A-0143943C0267}"/>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AA0C0F5-147D-A6B2-DBB6-6DCB0FFF6BAE}"/>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20" name="TextBox 19">
              <a:extLst>
                <a:ext uri="{FF2B5EF4-FFF2-40B4-BE49-F238E27FC236}">
                  <a16:creationId xmlns:a16="http://schemas.microsoft.com/office/drawing/2014/main" id="{84C36D57-9425-3680-6F8D-295F2518BF54}"/>
                </a:ext>
              </a:extLst>
            </p:cNvPr>
            <p:cNvSpPr txBox="1"/>
            <p:nvPr/>
          </p:nvSpPr>
          <p:spPr>
            <a:xfrm>
              <a:off x="28129" y="3162375"/>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grpSp>
    </p:spTree>
    <p:extLst>
      <p:ext uri="{BB962C8B-B14F-4D97-AF65-F5344CB8AC3E}">
        <p14:creationId xmlns:p14="http://schemas.microsoft.com/office/powerpoint/2010/main" val="1541260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3" name="TextBox 12">
            <a:extLst>
              <a:ext uri="{FF2B5EF4-FFF2-40B4-BE49-F238E27FC236}">
                <a16:creationId xmlns:a16="http://schemas.microsoft.com/office/drawing/2014/main" id="{2C3F4604-6C2F-0E4E-9DD3-4F5C89FF51AB}"/>
              </a:ext>
            </a:extLst>
          </p:cNvPr>
          <p:cNvSpPr txBox="1"/>
          <p:nvPr/>
        </p:nvSpPr>
        <p:spPr>
          <a:xfrm>
            <a:off x="34242" y="1364712"/>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sp>
        <p:nvSpPr>
          <p:cNvPr id="14" name="Freeform 13">
            <a:extLst>
              <a:ext uri="{FF2B5EF4-FFF2-40B4-BE49-F238E27FC236}">
                <a16:creationId xmlns:a16="http://schemas.microsoft.com/office/drawing/2014/main" id="{6D478F86-6608-8240-A60F-2B5B4B14CE42}"/>
              </a:ext>
            </a:extLst>
          </p:cNvPr>
          <p:cNvSpPr/>
          <p:nvPr/>
        </p:nvSpPr>
        <p:spPr>
          <a:xfrm>
            <a:off x="1731801" y="528698"/>
            <a:ext cx="8926114" cy="3142552"/>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49871"/>
              <a:gd name="connsiteX1" fmla="*/ 719666 w 8527062"/>
              <a:gd name="connsiteY1" fmla="*/ 654473 h 3149871"/>
              <a:gd name="connsiteX2" fmla="*/ 1523999 w 8527062"/>
              <a:gd name="connsiteY2" fmla="*/ 2584873 h 3149871"/>
              <a:gd name="connsiteX3" fmla="*/ 2184399 w 8527062"/>
              <a:gd name="connsiteY3" fmla="*/ 121072 h 3149871"/>
              <a:gd name="connsiteX4" fmla="*/ 3060096 w 8527062"/>
              <a:gd name="connsiteY4" fmla="*/ 3136090 h 3149871"/>
              <a:gd name="connsiteX5" fmla="*/ 3928533 w 8527062"/>
              <a:gd name="connsiteY5" fmla="*/ 1289473 h 3149871"/>
              <a:gd name="connsiteX6" fmla="*/ 4394124 w 8527062"/>
              <a:gd name="connsiteY6" fmla="*/ 2476967 h 3149871"/>
              <a:gd name="connsiteX7" fmla="*/ 4817532 w 8527062"/>
              <a:gd name="connsiteY7" fmla="*/ 1899073 h 3149871"/>
              <a:gd name="connsiteX8" fmla="*/ 5689600 w 8527062"/>
              <a:gd name="connsiteY8" fmla="*/ 3118273 h 3149871"/>
              <a:gd name="connsiteX9" fmla="*/ 7044266 w 8527062"/>
              <a:gd name="connsiteY9" fmla="*/ 1069339 h 3149871"/>
              <a:gd name="connsiteX10" fmla="*/ 7620000 w 8527062"/>
              <a:gd name="connsiteY10" fmla="*/ 2872740 h 3149871"/>
              <a:gd name="connsiteX11" fmla="*/ 8229600 w 8527062"/>
              <a:gd name="connsiteY11" fmla="*/ 44873 h 3149871"/>
              <a:gd name="connsiteX12" fmla="*/ 8525933 w 8527062"/>
              <a:gd name="connsiteY12" fmla="*/ 1086273 h 3149871"/>
              <a:gd name="connsiteX0" fmla="*/ 0 w 8527062"/>
              <a:gd name="connsiteY0" fmla="*/ 1221740 h 3142552"/>
              <a:gd name="connsiteX1" fmla="*/ 719666 w 8527062"/>
              <a:gd name="connsiteY1" fmla="*/ 654473 h 3142552"/>
              <a:gd name="connsiteX2" fmla="*/ 1523999 w 8527062"/>
              <a:gd name="connsiteY2" fmla="*/ 2584873 h 3142552"/>
              <a:gd name="connsiteX3" fmla="*/ 2198719 w 8527062"/>
              <a:gd name="connsiteY3" fmla="*/ 510816 h 3142552"/>
              <a:gd name="connsiteX4" fmla="*/ 3060096 w 8527062"/>
              <a:gd name="connsiteY4" fmla="*/ 3136090 h 3142552"/>
              <a:gd name="connsiteX5" fmla="*/ 3928533 w 8527062"/>
              <a:gd name="connsiteY5" fmla="*/ 1289473 h 3142552"/>
              <a:gd name="connsiteX6" fmla="*/ 4394124 w 8527062"/>
              <a:gd name="connsiteY6" fmla="*/ 2476967 h 3142552"/>
              <a:gd name="connsiteX7" fmla="*/ 4817532 w 8527062"/>
              <a:gd name="connsiteY7" fmla="*/ 1899073 h 3142552"/>
              <a:gd name="connsiteX8" fmla="*/ 5689600 w 8527062"/>
              <a:gd name="connsiteY8" fmla="*/ 3118273 h 3142552"/>
              <a:gd name="connsiteX9" fmla="*/ 7044266 w 8527062"/>
              <a:gd name="connsiteY9" fmla="*/ 1069339 h 3142552"/>
              <a:gd name="connsiteX10" fmla="*/ 7620000 w 8527062"/>
              <a:gd name="connsiteY10" fmla="*/ 2872740 h 3142552"/>
              <a:gd name="connsiteX11" fmla="*/ 8229600 w 8527062"/>
              <a:gd name="connsiteY11" fmla="*/ 44873 h 3142552"/>
              <a:gd name="connsiteX12" fmla="*/ 8525933 w 8527062"/>
              <a:gd name="connsiteY12" fmla="*/ 1086273 h 314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27062" h="3142552">
                <a:moveTo>
                  <a:pt x="0" y="1221740"/>
                </a:moveTo>
                <a:cubicBezTo>
                  <a:pt x="219427" y="1628845"/>
                  <a:pt x="465666" y="427284"/>
                  <a:pt x="719666" y="654473"/>
                </a:cubicBezTo>
                <a:cubicBezTo>
                  <a:pt x="973666" y="881662"/>
                  <a:pt x="1277490" y="2608816"/>
                  <a:pt x="1523999" y="2584873"/>
                </a:cubicBezTo>
                <a:cubicBezTo>
                  <a:pt x="1770508" y="2560930"/>
                  <a:pt x="1942703" y="418947"/>
                  <a:pt x="2198719" y="510816"/>
                </a:cubicBezTo>
                <a:cubicBezTo>
                  <a:pt x="2454735" y="602685"/>
                  <a:pt x="2771794" y="3006314"/>
                  <a:pt x="3060096" y="3136090"/>
                </a:cubicBezTo>
                <a:cubicBezTo>
                  <a:pt x="3348398" y="3265866"/>
                  <a:pt x="3706195" y="1399327"/>
                  <a:pt x="3928533" y="1289473"/>
                </a:cubicBezTo>
                <a:cubicBezTo>
                  <a:pt x="4150871" y="1179619"/>
                  <a:pt x="4281235" y="2158056"/>
                  <a:pt x="4394124" y="2476967"/>
                </a:cubicBezTo>
                <a:cubicBezTo>
                  <a:pt x="4507013" y="2795878"/>
                  <a:pt x="4601619" y="1792189"/>
                  <a:pt x="4817532" y="1899073"/>
                </a:cubicBezTo>
                <a:cubicBezTo>
                  <a:pt x="5033445" y="2005957"/>
                  <a:pt x="5318478" y="3256562"/>
                  <a:pt x="5689600" y="3118273"/>
                </a:cubicBezTo>
                <a:cubicBezTo>
                  <a:pt x="6060722" y="2979984"/>
                  <a:pt x="6722533" y="1110261"/>
                  <a:pt x="7044266" y="1069339"/>
                </a:cubicBezTo>
                <a:cubicBezTo>
                  <a:pt x="7365999" y="1028417"/>
                  <a:pt x="7422444" y="3043484"/>
                  <a:pt x="7620000" y="2872740"/>
                </a:cubicBezTo>
                <a:cubicBezTo>
                  <a:pt x="7817556" y="2701996"/>
                  <a:pt x="8078611" y="342617"/>
                  <a:pt x="8229600" y="44873"/>
                </a:cubicBezTo>
                <a:cubicBezTo>
                  <a:pt x="8380589" y="-252871"/>
                  <a:pt x="8542161" y="1026301"/>
                  <a:pt x="8525933" y="1086273"/>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5">
            <a:extLst>
              <a:ext uri="{FF2B5EF4-FFF2-40B4-BE49-F238E27FC236}">
                <a16:creationId xmlns:a16="http://schemas.microsoft.com/office/drawing/2014/main" id="{226B2D26-F692-894E-9B09-F57FBB5CB2A3}"/>
              </a:ext>
            </a:extLst>
          </p:cNvPr>
          <p:cNvSpPr/>
          <p:nvPr/>
        </p:nvSpPr>
        <p:spPr>
          <a:xfrm>
            <a:off x="1782624" y="4134709"/>
            <a:ext cx="8925159" cy="1399594"/>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28935"/>
              <a:gd name="connsiteX1" fmla="*/ 719666 w 8527062"/>
              <a:gd name="connsiteY1" fmla="*/ 654473 h 3128935"/>
              <a:gd name="connsiteX2" fmla="*/ 1523999 w 8527062"/>
              <a:gd name="connsiteY2" fmla="*/ 2584873 h 3128935"/>
              <a:gd name="connsiteX3" fmla="*/ 2870199 w 8527062"/>
              <a:gd name="connsiteY3" fmla="*/ 1712807 h 3128935"/>
              <a:gd name="connsiteX4" fmla="*/ 3928533 w 8527062"/>
              <a:gd name="connsiteY4" fmla="*/ 1289473 h 3128935"/>
              <a:gd name="connsiteX5" fmla="*/ 4394124 w 8527062"/>
              <a:gd name="connsiteY5" fmla="*/ 2476967 h 3128935"/>
              <a:gd name="connsiteX6" fmla="*/ 4817532 w 8527062"/>
              <a:gd name="connsiteY6" fmla="*/ 1899073 h 3128935"/>
              <a:gd name="connsiteX7" fmla="*/ 5689600 w 8527062"/>
              <a:gd name="connsiteY7" fmla="*/ 3118273 h 3128935"/>
              <a:gd name="connsiteX8" fmla="*/ 7044266 w 8527062"/>
              <a:gd name="connsiteY8" fmla="*/ 1069339 h 3128935"/>
              <a:gd name="connsiteX9" fmla="*/ 7620000 w 8527062"/>
              <a:gd name="connsiteY9" fmla="*/ 2872740 h 3128935"/>
              <a:gd name="connsiteX10" fmla="*/ 8229600 w 8527062"/>
              <a:gd name="connsiteY10" fmla="*/ 44873 h 3128935"/>
              <a:gd name="connsiteX11" fmla="*/ 8525933 w 8527062"/>
              <a:gd name="connsiteY11" fmla="*/ 1086273 h 3128935"/>
              <a:gd name="connsiteX0" fmla="*/ 0 w 8527062"/>
              <a:gd name="connsiteY0" fmla="*/ 1221740 h 3130725"/>
              <a:gd name="connsiteX1" fmla="*/ 719666 w 8527062"/>
              <a:gd name="connsiteY1" fmla="*/ 654473 h 3130725"/>
              <a:gd name="connsiteX2" fmla="*/ 1523999 w 8527062"/>
              <a:gd name="connsiteY2" fmla="*/ 2584873 h 3130725"/>
              <a:gd name="connsiteX3" fmla="*/ 2870199 w 8527062"/>
              <a:gd name="connsiteY3" fmla="*/ 1712807 h 3130725"/>
              <a:gd name="connsiteX4" fmla="*/ 3928533 w 8527062"/>
              <a:gd name="connsiteY4" fmla="*/ 1289473 h 3130725"/>
              <a:gd name="connsiteX5" fmla="*/ 4817532 w 8527062"/>
              <a:gd name="connsiteY5" fmla="*/ 1899073 h 3130725"/>
              <a:gd name="connsiteX6" fmla="*/ 5689600 w 8527062"/>
              <a:gd name="connsiteY6" fmla="*/ 3118273 h 3130725"/>
              <a:gd name="connsiteX7" fmla="*/ 7044266 w 8527062"/>
              <a:gd name="connsiteY7" fmla="*/ 1069339 h 3130725"/>
              <a:gd name="connsiteX8" fmla="*/ 7620000 w 8527062"/>
              <a:gd name="connsiteY8" fmla="*/ 2872740 h 3130725"/>
              <a:gd name="connsiteX9" fmla="*/ 8229600 w 8527062"/>
              <a:gd name="connsiteY9" fmla="*/ 44873 h 3130725"/>
              <a:gd name="connsiteX10" fmla="*/ 8525933 w 8527062"/>
              <a:gd name="connsiteY10" fmla="*/ 1086273 h 3130725"/>
              <a:gd name="connsiteX0" fmla="*/ 0 w 8527062"/>
              <a:gd name="connsiteY0" fmla="*/ 1221740 h 2884077"/>
              <a:gd name="connsiteX1" fmla="*/ 719666 w 8527062"/>
              <a:gd name="connsiteY1" fmla="*/ 654473 h 2884077"/>
              <a:gd name="connsiteX2" fmla="*/ 1523999 w 8527062"/>
              <a:gd name="connsiteY2" fmla="*/ 2584873 h 2884077"/>
              <a:gd name="connsiteX3" fmla="*/ 2870199 w 8527062"/>
              <a:gd name="connsiteY3" fmla="*/ 1712807 h 2884077"/>
              <a:gd name="connsiteX4" fmla="*/ 3928533 w 8527062"/>
              <a:gd name="connsiteY4" fmla="*/ 1289473 h 2884077"/>
              <a:gd name="connsiteX5" fmla="*/ 4817532 w 8527062"/>
              <a:gd name="connsiteY5" fmla="*/ 1899073 h 2884077"/>
              <a:gd name="connsiteX6" fmla="*/ 7044266 w 8527062"/>
              <a:gd name="connsiteY6" fmla="*/ 1069339 h 2884077"/>
              <a:gd name="connsiteX7" fmla="*/ 7620000 w 8527062"/>
              <a:gd name="connsiteY7" fmla="*/ 2872740 h 2884077"/>
              <a:gd name="connsiteX8" fmla="*/ 8229600 w 8527062"/>
              <a:gd name="connsiteY8" fmla="*/ 44873 h 2884077"/>
              <a:gd name="connsiteX9" fmla="*/ 8525933 w 8527062"/>
              <a:gd name="connsiteY9" fmla="*/ 1086273 h 2884077"/>
              <a:gd name="connsiteX0" fmla="*/ 0 w 8527062"/>
              <a:gd name="connsiteY0" fmla="*/ 1221740 h 2609220"/>
              <a:gd name="connsiteX1" fmla="*/ 719666 w 8527062"/>
              <a:gd name="connsiteY1" fmla="*/ 654473 h 2609220"/>
              <a:gd name="connsiteX2" fmla="*/ 1523999 w 8527062"/>
              <a:gd name="connsiteY2" fmla="*/ 2584873 h 2609220"/>
              <a:gd name="connsiteX3" fmla="*/ 2870199 w 8527062"/>
              <a:gd name="connsiteY3" fmla="*/ 1712807 h 2609220"/>
              <a:gd name="connsiteX4" fmla="*/ 3928533 w 8527062"/>
              <a:gd name="connsiteY4" fmla="*/ 1289473 h 2609220"/>
              <a:gd name="connsiteX5" fmla="*/ 4817532 w 8527062"/>
              <a:gd name="connsiteY5" fmla="*/ 1899073 h 2609220"/>
              <a:gd name="connsiteX6" fmla="*/ 7044266 w 8527062"/>
              <a:gd name="connsiteY6" fmla="*/ 1069339 h 2609220"/>
              <a:gd name="connsiteX7" fmla="*/ 8229600 w 8527062"/>
              <a:gd name="connsiteY7" fmla="*/ 44873 h 2609220"/>
              <a:gd name="connsiteX8" fmla="*/ 8525933 w 8527062"/>
              <a:gd name="connsiteY8" fmla="*/ 1086273 h 2609220"/>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7044266 w 8526584"/>
              <a:gd name="connsiteY6" fmla="*/ 443722 h 1983603"/>
              <a:gd name="connsiteX7" fmla="*/ 8100190 w 8526584"/>
              <a:gd name="connsiteY7" fmla="*/ 850123 h 1983603"/>
              <a:gd name="connsiteX8" fmla="*/ 8525933 w 8526584"/>
              <a:gd name="connsiteY8" fmla="*/ 460656 h 1983603"/>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6906768 w 8526584"/>
              <a:gd name="connsiteY6" fmla="*/ 502989 h 1983603"/>
              <a:gd name="connsiteX7" fmla="*/ 8100190 w 8526584"/>
              <a:gd name="connsiteY7" fmla="*/ 850123 h 1983603"/>
              <a:gd name="connsiteX8" fmla="*/ 8525933 w 8526584"/>
              <a:gd name="connsiteY8" fmla="*/ 460656 h 1983603"/>
              <a:gd name="connsiteX0" fmla="*/ 0 w 8526584"/>
              <a:gd name="connsiteY0" fmla="*/ 148404 h 1513499"/>
              <a:gd name="connsiteX1" fmla="*/ 768195 w 8526584"/>
              <a:gd name="connsiteY1" fmla="*/ 377004 h 1513499"/>
              <a:gd name="connsiteX2" fmla="*/ 1523999 w 8526584"/>
              <a:gd name="connsiteY2" fmla="*/ 1511537 h 1513499"/>
              <a:gd name="connsiteX3" fmla="*/ 2870199 w 8526584"/>
              <a:gd name="connsiteY3" fmla="*/ 639471 h 1513499"/>
              <a:gd name="connsiteX4" fmla="*/ 3928533 w 8526584"/>
              <a:gd name="connsiteY4" fmla="*/ 216137 h 1513499"/>
              <a:gd name="connsiteX5" fmla="*/ 4817532 w 8526584"/>
              <a:gd name="connsiteY5" fmla="*/ 825737 h 1513499"/>
              <a:gd name="connsiteX6" fmla="*/ 6906768 w 8526584"/>
              <a:gd name="connsiteY6" fmla="*/ 55270 h 1513499"/>
              <a:gd name="connsiteX7" fmla="*/ 8100190 w 8526584"/>
              <a:gd name="connsiteY7" fmla="*/ 402404 h 1513499"/>
              <a:gd name="connsiteX8" fmla="*/ 8525933 w 8526584"/>
              <a:gd name="connsiteY8" fmla="*/ 12937 h 1513499"/>
              <a:gd name="connsiteX0" fmla="*/ 0 w 8526584"/>
              <a:gd name="connsiteY0" fmla="*/ 148404 h 1302454"/>
              <a:gd name="connsiteX1" fmla="*/ 768195 w 8526584"/>
              <a:gd name="connsiteY1" fmla="*/ 377004 h 1302454"/>
              <a:gd name="connsiteX2" fmla="*/ 1750467 w 8526584"/>
              <a:gd name="connsiteY2" fmla="*/ 1299870 h 1302454"/>
              <a:gd name="connsiteX3" fmla="*/ 2870199 w 8526584"/>
              <a:gd name="connsiteY3" fmla="*/ 639471 h 1302454"/>
              <a:gd name="connsiteX4" fmla="*/ 3928533 w 8526584"/>
              <a:gd name="connsiteY4" fmla="*/ 216137 h 1302454"/>
              <a:gd name="connsiteX5" fmla="*/ 4817532 w 8526584"/>
              <a:gd name="connsiteY5" fmla="*/ 825737 h 1302454"/>
              <a:gd name="connsiteX6" fmla="*/ 6906768 w 8526584"/>
              <a:gd name="connsiteY6" fmla="*/ 55270 h 1302454"/>
              <a:gd name="connsiteX7" fmla="*/ 8100190 w 8526584"/>
              <a:gd name="connsiteY7" fmla="*/ 402404 h 1302454"/>
              <a:gd name="connsiteX8" fmla="*/ 8525933 w 8526584"/>
              <a:gd name="connsiteY8" fmla="*/ 12937 h 1302454"/>
              <a:gd name="connsiteX0" fmla="*/ 0 w 8526584"/>
              <a:gd name="connsiteY0" fmla="*/ 148404 h 1319420"/>
              <a:gd name="connsiteX1" fmla="*/ 768195 w 8526584"/>
              <a:gd name="connsiteY1" fmla="*/ 377004 h 1319420"/>
              <a:gd name="connsiteX2" fmla="*/ 1750467 w 8526584"/>
              <a:gd name="connsiteY2" fmla="*/ 1299870 h 1319420"/>
              <a:gd name="connsiteX3" fmla="*/ 3088580 w 8526584"/>
              <a:gd name="connsiteY3" fmla="*/ 944271 h 1319420"/>
              <a:gd name="connsiteX4" fmla="*/ 3928533 w 8526584"/>
              <a:gd name="connsiteY4" fmla="*/ 216137 h 1319420"/>
              <a:gd name="connsiteX5" fmla="*/ 4817532 w 8526584"/>
              <a:gd name="connsiteY5" fmla="*/ 825737 h 1319420"/>
              <a:gd name="connsiteX6" fmla="*/ 6906768 w 8526584"/>
              <a:gd name="connsiteY6" fmla="*/ 55270 h 1319420"/>
              <a:gd name="connsiteX7" fmla="*/ 8100190 w 8526584"/>
              <a:gd name="connsiteY7" fmla="*/ 402404 h 1319420"/>
              <a:gd name="connsiteX8" fmla="*/ 8525933 w 8526584"/>
              <a:gd name="connsiteY8" fmla="*/ 12937 h 1319420"/>
              <a:gd name="connsiteX0" fmla="*/ 0 w 8526191"/>
              <a:gd name="connsiteY0" fmla="*/ 139702 h 1310718"/>
              <a:gd name="connsiteX1" fmla="*/ 768195 w 8526191"/>
              <a:gd name="connsiteY1" fmla="*/ 368302 h 1310718"/>
              <a:gd name="connsiteX2" fmla="*/ 1750467 w 8526191"/>
              <a:gd name="connsiteY2" fmla="*/ 1291168 h 1310718"/>
              <a:gd name="connsiteX3" fmla="*/ 3088580 w 8526191"/>
              <a:gd name="connsiteY3" fmla="*/ 935569 h 1310718"/>
              <a:gd name="connsiteX4" fmla="*/ 3928533 w 8526191"/>
              <a:gd name="connsiteY4" fmla="*/ 207435 h 1310718"/>
              <a:gd name="connsiteX5" fmla="*/ 4817532 w 8526191"/>
              <a:gd name="connsiteY5" fmla="*/ 817035 h 1310718"/>
              <a:gd name="connsiteX6" fmla="*/ 6906768 w 8526191"/>
              <a:gd name="connsiteY6" fmla="*/ 46568 h 1310718"/>
              <a:gd name="connsiteX7" fmla="*/ 7639165 w 8526191"/>
              <a:gd name="connsiteY7" fmla="*/ 833969 h 1310718"/>
              <a:gd name="connsiteX8" fmla="*/ 8525933 w 8526191"/>
              <a:gd name="connsiteY8" fmla="*/ 4235 h 1310718"/>
              <a:gd name="connsiteX0" fmla="*/ 0 w 8526305"/>
              <a:gd name="connsiteY0" fmla="*/ 138725 h 1309741"/>
              <a:gd name="connsiteX1" fmla="*/ 768195 w 8526305"/>
              <a:gd name="connsiteY1" fmla="*/ 367325 h 1309741"/>
              <a:gd name="connsiteX2" fmla="*/ 1750467 w 8526305"/>
              <a:gd name="connsiteY2" fmla="*/ 1290191 h 1309741"/>
              <a:gd name="connsiteX3" fmla="*/ 3088580 w 8526305"/>
              <a:gd name="connsiteY3" fmla="*/ 934592 h 1309741"/>
              <a:gd name="connsiteX4" fmla="*/ 3928533 w 8526305"/>
              <a:gd name="connsiteY4" fmla="*/ 206458 h 1309741"/>
              <a:gd name="connsiteX5" fmla="*/ 4817532 w 8526305"/>
              <a:gd name="connsiteY5" fmla="*/ 816058 h 1309741"/>
              <a:gd name="connsiteX6" fmla="*/ 6906768 w 8526305"/>
              <a:gd name="connsiteY6" fmla="*/ 45591 h 1309741"/>
              <a:gd name="connsiteX7" fmla="*/ 7639165 w 8526305"/>
              <a:gd name="connsiteY7" fmla="*/ 832992 h 1309741"/>
              <a:gd name="connsiteX8" fmla="*/ 8525933 w 8526305"/>
              <a:gd name="connsiteY8" fmla="*/ 3258 h 1309741"/>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906768 w 8526504"/>
              <a:gd name="connsiteY6" fmla="*/ 48028 h 1312178"/>
              <a:gd name="connsiteX7" fmla="*/ 7825193 w 8526504"/>
              <a:gd name="connsiteY7" fmla="*/ 479829 h 1312178"/>
              <a:gd name="connsiteX8" fmla="*/ 8525933 w 8526504"/>
              <a:gd name="connsiteY8" fmla="*/ 5695 h 1312178"/>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858239 w 8526504"/>
              <a:gd name="connsiteY6" fmla="*/ 776161 h 1312178"/>
              <a:gd name="connsiteX7" fmla="*/ 7825193 w 8526504"/>
              <a:gd name="connsiteY7" fmla="*/ 479829 h 1312178"/>
              <a:gd name="connsiteX8" fmla="*/ 8525933 w 8526504"/>
              <a:gd name="connsiteY8" fmla="*/ 5695 h 1312178"/>
              <a:gd name="connsiteX0" fmla="*/ 0 w 8526504"/>
              <a:gd name="connsiteY0" fmla="*/ 141162 h 1403304"/>
              <a:gd name="connsiteX1" fmla="*/ 768195 w 8526504"/>
              <a:gd name="connsiteY1" fmla="*/ 369762 h 1403304"/>
              <a:gd name="connsiteX2" fmla="*/ 1750467 w 8526504"/>
              <a:gd name="connsiteY2" fmla="*/ 1292628 h 1403304"/>
              <a:gd name="connsiteX3" fmla="*/ 3088580 w 8526504"/>
              <a:gd name="connsiteY3" fmla="*/ 937029 h 1403304"/>
              <a:gd name="connsiteX4" fmla="*/ 3920445 w 8526504"/>
              <a:gd name="connsiteY4" fmla="*/ 1402695 h 1403304"/>
              <a:gd name="connsiteX5" fmla="*/ 4817532 w 8526504"/>
              <a:gd name="connsiteY5" fmla="*/ 818495 h 1403304"/>
              <a:gd name="connsiteX6" fmla="*/ 6858239 w 8526504"/>
              <a:gd name="connsiteY6" fmla="*/ 776161 h 1403304"/>
              <a:gd name="connsiteX7" fmla="*/ 7825193 w 8526504"/>
              <a:gd name="connsiteY7" fmla="*/ 479829 h 1403304"/>
              <a:gd name="connsiteX8" fmla="*/ 8525933 w 8526504"/>
              <a:gd name="connsiteY8" fmla="*/ 5695 h 1403304"/>
              <a:gd name="connsiteX0" fmla="*/ 0 w 8526519"/>
              <a:gd name="connsiteY0" fmla="*/ 141162 h 1403304"/>
              <a:gd name="connsiteX1" fmla="*/ 768195 w 8526519"/>
              <a:gd name="connsiteY1" fmla="*/ 369762 h 1403304"/>
              <a:gd name="connsiteX2" fmla="*/ 1750467 w 8526519"/>
              <a:gd name="connsiteY2" fmla="*/ 1292628 h 1403304"/>
              <a:gd name="connsiteX3" fmla="*/ 3088580 w 8526519"/>
              <a:gd name="connsiteY3" fmla="*/ 937029 h 1403304"/>
              <a:gd name="connsiteX4" fmla="*/ 3920445 w 8526519"/>
              <a:gd name="connsiteY4" fmla="*/ 1402695 h 1403304"/>
              <a:gd name="connsiteX5" fmla="*/ 4817532 w 8526519"/>
              <a:gd name="connsiteY5" fmla="*/ 818495 h 1403304"/>
              <a:gd name="connsiteX6" fmla="*/ 6858239 w 8526519"/>
              <a:gd name="connsiteY6" fmla="*/ 776161 h 1403304"/>
              <a:gd name="connsiteX7" fmla="*/ 7833674 w 8526519"/>
              <a:gd name="connsiteY7" fmla="*/ 479829 h 1403304"/>
              <a:gd name="connsiteX8" fmla="*/ 8525933 w 8526519"/>
              <a:gd name="connsiteY8" fmla="*/ 5695 h 1403304"/>
              <a:gd name="connsiteX0" fmla="*/ 0 w 8526583"/>
              <a:gd name="connsiteY0" fmla="*/ 139934 h 1402076"/>
              <a:gd name="connsiteX1" fmla="*/ 768195 w 8526583"/>
              <a:gd name="connsiteY1" fmla="*/ 368534 h 1402076"/>
              <a:gd name="connsiteX2" fmla="*/ 1750467 w 8526583"/>
              <a:gd name="connsiteY2" fmla="*/ 1291400 h 1402076"/>
              <a:gd name="connsiteX3" fmla="*/ 3088580 w 8526583"/>
              <a:gd name="connsiteY3" fmla="*/ 935801 h 1402076"/>
              <a:gd name="connsiteX4" fmla="*/ 3920445 w 8526583"/>
              <a:gd name="connsiteY4" fmla="*/ 1401467 h 1402076"/>
              <a:gd name="connsiteX5" fmla="*/ 4817532 w 8526583"/>
              <a:gd name="connsiteY5" fmla="*/ 817267 h 1402076"/>
              <a:gd name="connsiteX6" fmla="*/ 6858239 w 8526583"/>
              <a:gd name="connsiteY6" fmla="*/ 774933 h 1402076"/>
              <a:gd name="connsiteX7" fmla="*/ 7833674 w 8526583"/>
              <a:gd name="connsiteY7" fmla="*/ 478601 h 1402076"/>
              <a:gd name="connsiteX8" fmla="*/ 8525933 w 8526583"/>
              <a:gd name="connsiteY8" fmla="*/ 4467 h 1402076"/>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858239 w 8526097"/>
              <a:gd name="connsiteY6" fmla="*/ 772138 h 1399281"/>
              <a:gd name="connsiteX7" fmla="*/ 7053442 w 8526097"/>
              <a:gd name="connsiteY7" fmla="*/ 1177142 h 1399281"/>
              <a:gd name="connsiteX8" fmla="*/ 8525933 w 8526097"/>
              <a:gd name="connsiteY8" fmla="*/ 1672 h 1399281"/>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298507 w 8526097"/>
              <a:gd name="connsiteY6" fmla="*/ 789894 h 1399281"/>
              <a:gd name="connsiteX7" fmla="*/ 7053442 w 8526097"/>
              <a:gd name="connsiteY7" fmla="*/ 1177142 h 1399281"/>
              <a:gd name="connsiteX8" fmla="*/ 8525933 w 8526097"/>
              <a:gd name="connsiteY8" fmla="*/ 1672 h 1399281"/>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5832064 w 8526149"/>
              <a:gd name="connsiteY6" fmla="*/ 541632 h 1399594"/>
              <a:gd name="connsiteX7" fmla="*/ 7053442 w 8526149"/>
              <a:gd name="connsiteY7" fmla="*/ 1177455 h 1399594"/>
              <a:gd name="connsiteX8" fmla="*/ 8525933 w 8526149"/>
              <a:gd name="connsiteY8" fmla="*/ 1985 h 139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6149" h="1399594">
                <a:moveTo>
                  <a:pt x="0" y="137452"/>
                </a:moveTo>
                <a:cubicBezTo>
                  <a:pt x="219427" y="544557"/>
                  <a:pt x="476451" y="174141"/>
                  <a:pt x="768195" y="366052"/>
                </a:cubicBezTo>
                <a:cubicBezTo>
                  <a:pt x="1059940" y="557963"/>
                  <a:pt x="1363736" y="1194374"/>
                  <a:pt x="1750467" y="1288918"/>
                </a:cubicBezTo>
                <a:cubicBezTo>
                  <a:pt x="2137198" y="1383463"/>
                  <a:pt x="2726917" y="914975"/>
                  <a:pt x="3088580" y="933319"/>
                </a:cubicBezTo>
                <a:cubicBezTo>
                  <a:pt x="3450243" y="951664"/>
                  <a:pt x="3632286" y="1418741"/>
                  <a:pt x="3920445" y="1398985"/>
                </a:cubicBezTo>
                <a:cubicBezTo>
                  <a:pt x="4208604" y="1379229"/>
                  <a:pt x="4498929" y="957677"/>
                  <a:pt x="4817532" y="814785"/>
                </a:cubicBezTo>
                <a:cubicBezTo>
                  <a:pt x="5136135" y="671893"/>
                  <a:pt x="5459412" y="481187"/>
                  <a:pt x="5832064" y="541632"/>
                </a:cubicBezTo>
                <a:cubicBezTo>
                  <a:pt x="6204716" y="602077"/>
                  <a:pt x="6619921" y="1130245"/>
                  <a:pt x="7053442" y="1177455"/>
                </a:cubicBezTo>
                <a:cubicBezTo>
                  <a:pt x="7642529" y="1260874"/>
                  <a:pt x="8542161" y="-57987"/>
                  <a:pt x="8525933" y="1985"/>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BE4CDC90-4B2E-BE41-BB9D-A84675F3A2FE}"/>
              </a:ext>
            </a:extLst>
          </p:cNvPr>
          <p:cNvSpPr/>
          <p:nvPr/>
        </p:nvSpPr>
        <p:spPr>
          <a:xfrm>
            <a:off x="10603891" y="1573742"/>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0592434B-85D0-0A41-95DD-A29D1D3E92A7}"/>
              </a:ext>
            </a:extLst>
          </p:cNvPr>
          <p:cNvSpPr/>
          <p:nvPr/>
        </p:nvSpPr>
        <p:spPr>
          <a:xfrm>
            <a:off x="10603891" y="4096074"/>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7B549753-C2CD-8744-8435-2E08FD32BDEB}"/>
              </a:ext>
            </a:extLst>
          </p:cNvPr>
          <p:cNvSpPr txBox="1"/>
          <p:nvPr/>
        </p:nvSpPr>
        <p:spPr>
          <a:xfrm>
            <a:off x="10730890" y="1476105"/>
            <a:ext cx="9343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2F7BF73-EB2C-9D42-97FB-D39FDCC924EB}"/>
              </a:ext>
            </a:extLst>
          </p:cNvPr>
          <p:cNvSpPr txBox="1"/>
          <p:nvPr/>
        </p:nvSpPr>
        <p:spPr>
          <a:xfrm>
            <a:off x="10730890" y="3966061"/>
            <a:ext cx="6952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A120AE69-6043-195E-40C7-43C019B9D3A9}"/>
              </a:ext>
            </a:extLst>
          </p:cNvPr>
          <p:cNvGrpSpPr/>
          <p:nvPr/>
        </p:nvGrpSpPr>
        <p:grpSpPr>
          <a:xfrm>
            <a:off x="8478163" y="2144136"/>
            <a:ext cx="2407458" cy="2492074"/>
            <a:chOff x="8478163" y="2144136"/>
            <a:chExt cx="2407458" cy="2492074"/>
          </a:xfrm>
        </p:grpSpPr>
        <p:cxnSp>
          <p:nvCxnSpPr>
            <p:cNvPr id="24" name="Straight Connector 23">
              <a:extLst>
                <a:ext uri="{FF2B5EF4-FFF2-40B4-BE49-F238E27FC236}">
                  <a16:creationId xmlns:a16="http://schemas.microsoft.com/office/drawing/2014/main" id="{3A19E039-1667-254C-809A-972BBA46D65C}"/>
                </a:ext>
              </a:extLst>
            </p:cNvPr>
            <p:cNvCxnSpPr>
              <a:cxnSpLocks/>
              <a:stCxn id="14" idx="10"/>
            </p:cNvCxnSpPr>
            <p:nvPr/>
          </p:nvCxnSpPr>
          <p:spPr>
            <a:xfrm>
              <a:off x="9708404" y="3401438"/>
              <a:ext cx="895487" cy="749289"/>
            </a:xfrm>
            <a:prstGeom prst="line">
              <a:avLst/>
            </a:prstGeom>
            <a:ln w="12700">
              <a:solidFill>
                <a:srgbClr val="00B05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38418338-F1E6-81D9-6A8C-D7EB7AA9DDA2}"/>
                </a:ext>
              </a:extLst>
            </p:cNvPr>
            <p:cNvSpPr>
              <a:spLocks noChangeAspect="1"/>
            </p:cNvSpPr>
            <p:nvPr/>
          </p:nvSpPr>
          <p:spPr>
            <a:xfrm>
              <a:off x="8478163" y="2144136"/>
              <a:ext cx="2407458" cy="2492074"/>
            </a:xfrm>
            <a:prstGeom prst="ellipse">
              <a:avLst/>
            </a:prstGeom>
            <a:noFill/>
            <a:ln w="127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8" name="TextBox 27">
            <a:extLst>
              <a:ext uri="{FF2B5EF4-FFF2-40B4-BE49-F238E27FC236}">
                <a16:creationId xmlns:a16="http://schemas.microsoft.com/office/drawing/2014/main" id="{B86BBAD0-86F6-0D58-180C-6EA1BDCC33FE}"/>
              </a:ext>
            </a:extLst>
          </p:cNvPr>
          <p:cNvSpPr txBox="1"/>
          <p:nvPr/>
        </p:nvSpPr>
        <p:spPr>
          <a:xfrm>
            <a:off x="8920911" y="5287891"/>
            <a:ext cx="3178569"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potential  emitted by A at time t’ causes action upon intersecting B at time t.</a:t>
            </a:r>
            <a:endPar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2C329E1C-5E54-9E3C-A6FA-AE50E16EEB85}"/>
              </a:ext>
            </a:extLst>
          </p:cNvPr>
          <p:cNvSpPr txBox="1"/>
          <p:nvPr/>
        </p:nvSpPr>
        <p:spPr>
          <a:xfrm>
            <a:off x="9371821" y="3442283"/>
            <a:ext cx="6510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A(t’)</a:t>
            </a:r>
            <a:endPar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1D286D70-C171-9F97-4EF6-3BE92F6BF451}"/>
              </a:ext>
            </a:extLst>
          </p:cNvPr>
          <p:cNvGrpSpPr/>
          <p:nvPr/>
        </p:nvGrpSpPr>
        <p:grpSpPr>
          <a:xfrm rot="14820000">
            <a:off x="131862" y="2197166"/>
            <a:ext cx="4517194" cy="4517194"/>
            <a:chOff x="8478163" y="2144136"/>
            <a:chExt cx="2407458" cy="2492074"/>
          </a:xfrm>
        </p:grpSpPr>
        <p:cxnSp>
          <p:nvCxnSpPr>
            <p:cNvPr id="34" name="Straight Connector 33">
              <a:extLst>
                <a:ext uri="{FF2B5EF4-FFF2-40B4-BE49-F238E27FC236}">
                  <a16:creationId xmlns:a16="http://schemas.microsoft.com/office/drawing/2014/main" id="{8592FA4B-D9A7-6E33-AB7A-56BCD3E75DEC}"/>
                </a:ext>
              </a:extLst>
            </p:cNvPr>
            <p:cNvCxnSpPr>
              <a:cxnSpLocks/>
            </p:cNvCxnSpPr>
            <p:nvPr/>
          </p:nvCxnSpPr>
          <p:spPr>
            <a:xfrm rot="5400000" flipV="1">
              <a:off x="9777616" y="3271712"/>
              <a:ext cx="787430" cy="925856"/>
            </a:xfrm>
            <a:prstGeom prst="line">
              <a:avLst/>
            </a:prstGeom>
            <a:ln w="12700">
              <a:solidFill>
                <a:srgbClr val="FFFF0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1C61822-C414-6D43-5771-23FAB0629304}"/>
                </a:ext>
              </a:extLst>
            </p:cNvPr>
            <p:cNvSpPr>
              <a:spLocks noChangeAspect="1"/>
            </p:cNvSpPr>
            <p:nvPr/>
          </p:nvSpPr>
          <p:spPr>
            <a:xfrm>
              <a:off x="8478163" y="2144136"/>
              <a:ext cx="2407458" cy="2492074"/>
            </a:xfrm>
            <a:prstGeom prst="ellipse">
              <a:avLst/>
            </a:prstGeom>
            <a:noFill/>
            <a:ln w="12700">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C03937C6-921F-C709-6C11-E769E0AA1568}"/>
              </a:ext>
            </a:extLst>
          </p:cNvPr>
          <p:cNvGrpSpPr/>
          <p:nvPr/>
        </p:nvGrpSpPr>
        <p:grpSpPr>
          <a:xfrm rot="2700000">
            <a:off x="3514592" y="1820537"/>
            <a:ext cx="3277648" cy="3392849"/>
            <a:chOff x="8478163" y="2144136"/>
            <a:chExt cx="2407458" cy="2492074"/>
          </a:xfrm>
        </p:grpSpPr>
        <p:cxnSp>
          <p:nvCxnSpPr>
            <p:cNvPr id="37" name="Straight Connector 36">
              <a:extLst>
                <a:ext uri="{FF2B5EF4-FFF2-40B4-BE49-F238E27FC236}">
                  <a16:creationId xmlns:a16="http://schemas.microsoft.com/office/drawing/2014/main" id="{BA8BF2BD-3FCE-A586-601D-1E4026152CB6}"/>
                </a:ext>
              </a:extLst>
            </p:cNvPr>
            <p:cNvCxnSpPr>
              <a:cxnSpLocks/>
            </p:cNvCxnSpPr>
            <p:nvPr/>
          </p:nvCxnSpPr>
          <p:spPr>
            <a:xfrm>
              <a:off x="9696014" y="3413828"/>
              <a:ext cx="895487" cy="749289"/>
            </a:xfrm>
            <a:prstGeom prst="line">
              <a:avLst/>
            </a:prstGeom>
            <a:ln w="12700">
              <a:solidFill>
                <a:srgbClr val="00B05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9DC53165-740B-C795-C0DF-F1A1A73F6F36}"/>
                </a:ext>
              </a:extLst>
            </p:cNvPr>
            <p:cNvSpPr>
              <a:spLocks noChangeAspect="1"/>
            </p:cNvSpPr>
            <p:nvPr/>
          </p:nvSpPr>
          <p:spPr>
            <a:xfrm>
              <a:off x="8478163" y="2144136"/>
              <a:ext cx="2407458" cy="2492074"/>
            </a:xfrm>
            <a:prstGeom prst="ellipse">
              <a:avLst/>
            </a:prstGeom>
            <a:noFill/>
            <a:ln w="127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40" name="Group 39">
            <a:extLst>
              <a:ext uri="{FF2B5EF4-FFF2-40B4-BE49-F238E27FC236}">
                <a16:creationId xmlns:a16="http://schemas.microsoft.com/office/drawing/2014/main" id="{C105AAA1-FA00-79D8-70E9-DB832351B5E2}"/>
              </a:ext>
            </a:extLst>
          </p:cNvPr>
          <p:cNvGrpSpPr/>
          <p:nvPr/>
        </p:nvGrpSpPr>
        <p:grpSpPr>
          <a:xfrm rot="14400000">
            <a:off x="5977397" y="3480831"/>
            <a:ext cx="2514783" cy="2603171"/>
            <a:chOff x="8478163" y="2144136"/>
            <a:chExt cx="2407458" cy="2492074"/>
          </a:xfrm>
        </p:grpSpPr>
        <p:cxnSp>
          <p:nvCxnSpPr>
            <p:cNvPr id="41" name="Straight Connector 40">
              <a:extLst>
                <a:ext uri="{FF2B5EF4-FFF2-40B4-BE49-F238E27FC236}">
                  <a16:creationId xmlns:a16="http://schemas.microsoft.com/office/drawing/2014/main" id="{48D05E5C-4059-6EC7-1299-E52A65F46E3D}"/>
                </a:ext>
              </a:extLst>
            </p:cNvPr>
            <p:cNvCxnSpPr>
              <a:cxnSpLocks/>
            </p:cNvCxnSpPr>
            <p:nvPr/>
          </p:nvCxnSpPr>
          <p:spPr>
            <a:xfrm rot="5400000" flipV="1">
              <a:off x="9777616" y="3271712"/>
              <a:ext cx="787430" cy="925856"/>
            </a:xfrm>
            <a:prstGeom prst="line">
              <a:avLst/>
            </a:prstGeom>
            <a:ln w="12700">
              <a:solidFill>
                <a:srgbClr val="FFFF0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8174E055-9EC2-40B6-B317-43A23011EC49}"/>
                </a:ext>
              </a:extLst>
            </p:cNvPr>
            <p:cNvSpPr>
              <a:spLocks noChangeAspect="1"/>
            </p:cNvSpPr>
            <p:nvPr/>
          </p:nvSpPr>
          <p:spPr>
            <a:xfrm>
              <a:off x="8478163" y="2144136"/>
              <a:ext cx="2407458" cy="2492074"/>
            </a:xfrm>
            <a:prstGeom prst="ellipse">
              <a:avLst/>
            </a:prstGeom>
            <a:noFill/>
            <a:ln w="12700">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 name="Rectangle 3">
            <a:extLst>
              <a:ext uri="{FF2B5EF4-FFF2-40B4-BE49-F238E27FC236}">
                <a16:creationId xmlns:a16="http://schemas.microsoft.com/office/drawing/2014/main" id="{ADBBA491-EC7F-B7A8-024F-1F1EB3434C26}"/>
              </a:ext>
            </a:extLst>
          </p:cNvPr>
          <p:cNvSpPr/>
          <p:nvPr/>
        </p:nvSpPr>
        <p:spPr>
          <a:xfrm>
            <a:off x="2750180" y="307606"/>
            <a:ext cx="6849952" cy="523220"/>
          </a:xfrm>
          <a:prstGeom prst="rect">
            <a:avLst/>
          </a:prstGeom>
          <a:solidFill>
            <a:srgbClr val="7030A0"/>
          </a:solidFill>
        </p:spPr>
        <p:txBody>
          <a:bodyPr wrap="none">
            <a:spAutoFit/>
          </a:bodyPr>
          <a:lstStyle/>
          <a:p>
            <a:pPr algn="ctr"/>
            <a:r>
              <a:rPr lang="en-US" sz="2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Path History and Action</a:t>
            </a:r>
            <a:endParaRPr lang="en-US" sz="2800" b="1" baseline="30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6" name="Group 5">
            <a:extLst>
              <a:ext uri="{FF2B5EF4-FFF2-40B4-BE49-F238E27FC236}">
                <a16:creationId xmlns:a16="http://schemas.microsoft.com/office/drawing/2014/main" id="{99AA8219-E43E-724C-056B-B18383E44D07}"/>
              </a:ext>
            </a:extLst>
          </p:cNvPr>
          <p:cNvGrpSpPr/>
          <p:nvPr/>
        </p:nvGrpSpPr>
        <p:grpSpPr>
          <a:xfrm>
            <a:off x="546653" y="1077673"/>
            <a:ext cx="11145814" cy="5685100"/>
            <a:chOff x="546653" y="1077673"/>
            <a:chExt cx="11145814" cy="5685100"/>
          </a:xfrm>
        </p:grpSpPr>
        <p:cxnSp>
          <p:nvCxnSpPr>
            <p:cNvPr id="7" name="Straight Arrow Connector 6">
              <a:extLst>
                <a:ext uri="{FF2B5EF4-FFF2-40B4-BE49-F238E27FC236}">
                  <a16:creationId xmlns:a16="http://schemas.microsoft.com/office/drawing/2014/main" id="{D656FE40-D181-9F96-4B12-1D4A1600D94D}"/>
                </a:ext>
              </a:extLst>
            </p:cNvPr>
            <p:cNvCxnSpPr>
              <a:cxnSpLocks/>
            </p:cNvCxnSpPr>
            <p:nvPr/>
          </p:nvCxnSpPr>
          <p:spPr>
            <a:xfrm>
              <a:off x="546653" y="6376584"/>
              <a:ext cx="11145814"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8B296C3-B87D-78ED-4E26-EC9E5A291FD0}"/>
                </a:ext>
              </a:extLst>
            </p:cNvPr>
            <p:cNvCxnSpPr>
              <a:cxnSpLocks/>
            </p:cNvCxnSpPr>
            <p:nvPr/>
          </p:nvCxnSpPr>
          <p:spPr>
            <a:xfrm flipV="1">
              <a:off x="1249796" y="1077673"/>
              <a:ext cx="0" cy="568510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9CBD38-2A34-BF6B-7AF0-E9DF4ADD0FDF}"/>
                </a:ext>
              </a:extLst>
            </p:cNvPr>
            <p:cNvSpPr txBox="1"/>
            <p:nvPr/>
          </p:nvSpPr>
          <p:spPr>
            <a:xfrm>
              <a:off x="5075642" y="6393441"/>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grpSp>
    </p:spTree>
    <p:extLst>
      <p:ext uri="{BB962C8B-B14F-4D97-AF65-F5344CB8AC3E}">
        <p14:creationId xmlns:p14="http://schemas.microsoft.com/office/powerpoint/2010/main" val="3036832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089B0C-3E0D-1D7D-7623-E8C4B9A7F9B0}"/>
              </a:ext>
            </a:extLst>
          </p:cNvPr>
          <p:cNvSpPr txBox="1"/>
          <p:nvPr/>
        </p:nvSpPr>
        <p:spPr>
          <a:xfrm>
            <a:off x="2821353" y="1411102"/>
            <a:ext cx="9253416"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 1D Euclidean line with exactly two (2) point potentials emitters and field speed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symmetry point in a binary assembly is when point potential speed </a:t>
            </a: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 @. </a:t>
            </a:r>
            <a:endParaRPr kumimoji="0" lang="en-US" sz="1800" b="1"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the binary symmetry point correspond to the 1:1 symmetry point in the 1/r curve as well (x=1/y, y=1/x)? I suspect it may.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one-sided integrals above and below r=1 increase symmetrically.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this why orbital equations scale with |v| and 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If </a:t>
            </a: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 (opposite polarity)</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potentials launch at large r, and speed +delta, delta near 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Will they reach |v| very near @ at r=1?</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What is the ultimate velocity as they pass through each other?</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Symmetry with binaries suggests v = @ pi / 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If </a:t>
            </a: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cis (same polarity)</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potentials launch to each other with a speed &gt;&gt; @ + delta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the r = 1 case where they would reverse course or cross depending on delta?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Cis vs. Trans point potentials are a profound asymmetry in nature.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Kinda profound, but if the point potential is boosted it can cross the 1/1 location.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Note: radius and velocity are intertwined.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5" name="Group 4">
            <a:extLst>
              <a:ext uri="{FF2B5EF4-FFF2-40B4-BE49-F238E27FC236}">
                <a16:creationId xmlns:a16="http://schemas.microsoft.com/office/drawing/2014/main" id="{28EB18A8-8B6A-033D-A4AD-86FBADCB4D4A}"/>
              </a:ext>
            </a:extLst>
          </p:cNvPr>
          <p:cNvGrpSpPr/>
          <p:nvPr/>
        </p:nvGrpSpPr>
        <p:grpSpPr>
          <a:xfrm>
            <a:off x="206726" y="2055446"/>
            <a:ext cx="2409149" cy="2409149"/>
            <a:chOff x="499534" y="804333"/>
            <a:chExt cx="5080000" cy="5080000"/>
          </a:xfrm>
        </p:grpSpPr>
        <p:pic>
          <p:nvPicPr>
            <p:cNvPr id="3" name="Picture 2">
              <a:extLst>
                <a:ext uri="{FF2B5EF4-FFF2-40B4-BE49-F238E27FC236}">
                  <a16:creationId xmlns:a16="http://schemas.microsoft.com/office/drawing/2014/main" id="{13746C96-5BF1-B22B-CA42-106D1B63333F}"/>
                </a:ext>
              </a:extLst>
            </p:cNvPr>
            <p:cNvPicPr>
              <a:picLocks noChangeAspect="1"/>
            </p:cNvPicPr>
            <p:nvPr/>
          </p:nvPicPr>
          <p:blipFill>
            <a:blip r:embed="rId3"/>
            <a:stretch>
              <a:fillRect/>
            </a:stretch>
          </p:blipFill>
          <p:spPr>
            <a:xfrm>
              <a:off x="499534" y="804333"/>
              <a:ext cx="5080000" cy="5080000"/>
            </a:xfrm>
            <a:prstGeom prst="rect">
              <a:avLst/>
            </a:prstGeom>
          </p:spPr>
        </p:pic>
        <p:cxnSp>
          <p:nvCxnSpPr>
            <p:cNvPr id="6" name="Straight Connector 5">
              <a:extLst>
                <a:ext uri="{FF2B5EF4-FFF2-40B4-BE49-F238E27FC236}">
                  <a16:creationId xmlns:a16="http://schemas.microsoft.com/office/drawing/2014/main" id="{EE364915-3AF3-C9A5-4E25-440B57D56073}"/>
                </a:ext>
              </a:extLst>
            </p:cNvPr>
            <p:cNvCxnSpPr/>
            <p:nvPr/>
          </p:nvCxnSpPr>
          <p:spPr>
            <a:xfrm flipV="1">
              <a:off x="499534" y="804333"/>
              <a:ext cx="5080000" cy="5080000"/>
            </a:xfrm>
            <a:prstGeom prst="line">
              <a:avLst/>
            </a:prstGeom>
            <a:ln w="38100">
              <a:solidFill>
                <a:srgbClr val="0070C0"/>
              </a:solidFill>
              <a:prstDash val="sysDash"/>
            </a:ln>
          </p:spPr>
          <p:style>
            <a:lnRef idx="1">
              <a:schemeClr val="accent1"/>
            </a:lnRef>
            <a:fillRef idx="0">
              <a:schemeClr val="accent1"/>
            </a:fillRef>
            <a:effectRef idx="0">
              <a:schemeClr val="accent1"/>
            </a:effectRef>
            <a:fontRef idx="minor">
              <a:schemeClr val="tx1"/>
            </a:fontRef>
          </p:style>
        </p:cxnSp>
      </p:grpSp>
      <p:sp>
        <p:nvSpPr>
          <p:cNvPr id="7" name="Title 4">
            <a:extLst>
              <a:ext uri="{FF2B5EF4-FFF2-40B4-BE49-F238E27FC236}">
                <a16:creationId xmlns:a16="http://schemas.microsoft.com/office/drawing/2014/main" id="{82AADF08-A238-0E6D-347B-D5A2BAE919D0}"/>
              </a:ext>
            </a:extLst>
          </p:cNvPr>
          <p:cNvSpPr txBox="1">
            <a:spLocks/>
          </p:cNvSpPr>
          <p:nvPr/>
        </p:nvSpPr>
        <p:spPr>
          <a:xfrm>
            <a:off x="796730" y="91586"/>
            <a:ext cx="10854481" cy="777875"/>
          </a:xfrm>
          <a:prstGeom prst="rect">
            <a:avLst/>
          </a:prstGeom>
          <a:solidFill>
            <a:srgbClr val="7030A0"/>
          </a:solidFill>
          <a:ln>
            <a:noFill/>
          </a:ln>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Brainstorming the Radius of Potential</a:t>
            </a:r>
          </a:p>
        </p:txBody>
      </p:sp>
    </p:spTree>
    <p:extLst>
      <p:ext uri="{BB962C8B-B14F-4D97-AF65-F5344CB8AC3E}">
        <p14:creationId xmlns:p14="http://schemas.microsoft.com/office/powerpoint/2010/main" val="3190063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96E919E2-812D-C716-7A6E-78657A604D1E}"/>
            </a:ext>
          </a:extLst>
        </p:cNvPr>
        <p:cNvGrpSpPr/>
        <p:nvPr/>
      </p:nvGrpSpPr>
      <p:grpSpPr>
        <a:xfrm>
          <a:off x="0" y="0"/>
          <a:ext cx="0" cy="0"/>
          <a:chOff x="0" y="0"/>
          <a:chExt cx="0" cy="0"/>
        </a:xfrm>
      </p:grpSpPr>
      <p:sp>
        <p:nvSpPr>
          <p:cNvPr id="34" name="Freeform 33">
            <a:extLst>
              <a:ext uri="{FF2B5EF4-FFF2-40B4-BE49-F238E27FC236}">
                <a16:creationId xmlns:a16="http://schemas.microsoft.com/office/drawing/2014/main" id="{9FEB1C17-EE9E-6374-14E0-DF4B04BB34CC}"/>
              </a:ext>
            </a:extLst>
          </p:cNvPr>
          <p:cNvSpPr/>
          <p:nvPr/>
        </p:nvSpPr>
        <p:spPr>
          <a:xfrm>
            <a:off x="-6319" y="5018197"/>
            <a:ext cx="7089264" cy="822993"/>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28935"/>
              <a:gd name="connsiteX1" fmla="*/ 719666 w 8527062"/>
              <a:gd name="connsiteY1" fmla="*/ 654473 h 3128935"/>
              <a:gd name="connsiteX2" fmla="*/ 1523999 w 8527062"/>
              <a:gd name="connsiteY2" fmla="*/ 2584873 h 3128935"/>
              <a:gd name="connsiteX3" fmla="*/ 2870199 w 8527062"/>
              <a:gd name="connsiteY3" fmla="*/ 1712807 h 3128935"/>
              <a:gd name="connsiteX4" fmla="*/ 3928533 w 8527062"/>
              <a:gd name="connsiteY4" fmla="*/ 1289473 h 3128935"/>
              <a:gd name="connsiteX5" fmla="*/ 4394124 w 8527062"/>
              <a:gd name="connsiteY5" fmla="*/ 2476967 h 3128935"/>
              <a:gd name="connsiteX6" fmla="*/ 4817532 w 8527062"/>
              <a:gd name="connsiteY6" fmla="*/ 1899073 h 3128935"/>
              <a:gd name="connsiteX7" fmla="*/ 5689600 w 8527062"/>
              <a:gd name="connsiteY7" fmla="*/ 3118273 h 3128935"/>
              <a:gd name="connsiteX8" fmla="*/ 7044266 w 8527062"/>
              <a:gd name="connsiteY8" fmla="*/ 1069339 h 3128935"/>
              <a:gd name="connsiteX9" fmla="*/ 7620000 w 8527062"/>
              <a:gd name="connsiteY9" fmla="*/ 2872740 h 3128935"/>
              <a:gd name="connsiteX10" fmla="*/ 8229600 w 8527062"/>
              <a:gd name="connsiteY10" fmla="*/ 44873 h 3128935"/>
              <a:gd name="connsiteX11" fmla="*/ 8525933 w 8527062"/>
              <a:gd name="connsiteY11" fmla="*/ 1086273 h 3128935"/>
              <a:gd name="connsiteX0" fmla="*/ 0 w 8527062"/>
              <a:gd name="connsiteY0" fmla="*/ 1221740 h 3130725"/>
              <a:gd name="connsiteX1" fmla="*/ 719666 w 8527062"/>
              <a:gd name="connsiteY1" fmla="*/ 654473 h 3130725"/>
              <a:gd name="connsiteX2" fmla="*/ 1523999 w 8527062"/>
              <a:gd name="connsiteY2" fmla="*/ 2584873 h 3130725"/>
              <a:gd name="connsiteX3" fmla="*/ 2870199 w 8527062"/>
              <a:gd name="connsiteY3" fmla="*/ 1712807 h 3130725"/>
              <a:gd name="connsiteX4" fmla="*/ 3928533 w 8527062"/>
              <a:gd name="connsiteY4" fmla="*/ 1289473 h 3130725"/>
              <a:gd name="connsiteX5" fmla="*/ 4817532 w 8527062"/>
              <a:gd name="connsiteY5" fmla="*/ 1899073 h 3130725"/>
              <a:gd name="connsiteX6" fmla="*/ 5689600 w 8527062"/>
              <a:gd name="connsiteY6" fmla="*/ 3118273 h 3130725"/>
              <a:gd name="connsiteX7" fmla="*/ 7044266 w 8527062"/>
              <a:gd name="connsiteY7" fmla="*/ 1069339 h 3130725"/>
              <a:gd name="connsiteX8" fmla="*/ 7620000 w 8527062"/>
              <a:gd name="connsiteY8" fmla="*/ 2872740 h 3130725"/>
              <a:gd name="connsiteX9" fmla="*/ 8229600 w 8527062"/>
              <a:gd name="connsiteY9" fmla="*/ 44873 h 3130725"/>
              <a:gd name="connsiteX10" fmla="*/ 8525933 w 8527062"/>
              <a:gd name="connsiteY10" fmla="*/ 1086273 h 3130725"/>
              <a:gd name="connsiteX0" fmla="*/ 0 w 8527062"/>
              <a:gd name="connsiteY0" fmla="*/ 1221740 h 2884077"/>
              <a:gd name="connsiteX1" fmla="*/ 719666 w 8527062"/>
              <a:gd name="connsiteY1" fmla="*/ 654473 h 2884077"/>
              <a:gd name="connsiteX2" fmla="*/ 1523999 w 8527062"/>
              <a:gd name="connsiteY2" fmla="*/ 2584873 h 2884077"/>
              <a:gd name="connsiteX3" fmla="*/ 2870199 w 8527062"/>
              <a:gd name="connsiteY3" fmla="*/ 1712807 h 2884077"/>
              <a:gd name="connsiteX4" fmla="*/ 3928533 w 8527062"/>
              <a:gd name="connsiteY4" fmla="*/ 1289473 h 2884077"/>
              <a:gd name="connsiteX5" fmla="*/ 4817532 w 8527062"/>
              <a:gd name="connsiteY5" fmla="*/ 1899073 h 2884077"/>
              <a:gd name="connsiteX6" fmla="*/ 7044266 w 8527062"/>
              <a:gd name="connsiteY6" fmla="*/ 1069339 h 2884077"/>
              <a:gd name="connsiteX7" fmla="*/ 7620000 w 8527062"/>
              <a:gd name="connsiteY7" fmla="*/ 2872740 h 2884077"/>
              <a:gd name="connsiteX8" fmla="*/ 8229600 w 8527062"/>
              <a:gd name="connsiteY8" fmla="*/ 44873 h 2884077"/>
              <a:gd name="connsiteX9" fmla="*/ 8525933 w 8527062"/>
              <a:gd name="connsiteY9" fmla="*/ 1086273 h 2884077"/>
              <a:gd name="connsiteX0" fmla="*/ 0 w 8527062"/>
              <a:gd name="connsiteY0" fmla="*/ 1221740 h 2609220"/>
              <a:gd name="connsiteX1" fmla="*/ 719666 w 8527062"/>
              <a:gd name="connsiteY1" fmla="*/ 654473 h 2609220"/>
              <a:gd name="connsiteX2" fmla="*/ 1523999 w 8527062"/>
              <a:gd name="connsiteY2" fmla="*/ 2584873 h 2609220"/>
              <a:gd name="connsiteX3" fmla="*/ 2870199 w 8527062"/>
              <a:gd name="connsiteY3" fmla="*/ 1712807 h 2609220"/>
              <a:gd name="connsiteX4" fmla="*/ 3928533 w 8527062"/>
              <a:gd name="connsiteY4" fmla="*/ 1289473 h 2609220"/>
              <a:gd name="connsiteX5" fmla="*/ 4817532 w 8527062"/>
              <a:gd name="connsiteY5" fmla="*/ 1899073 h 2609220"/>
              <a:gd name="connsiteX6" fmla="*/ 7044266 w 8527062"/>
              <a:gd name="connsiteY6" fmla="*/ 1069339 h 2609220"/>
              <a:gd name="connsiteX7" fmla="*/ 8229600 w 8527062"/>
              <a:gd name="connsiteY7" fmla="*/ 44873 h 2609220"/>
              <a:gd name="connsiteX8" fmla="*/ 8525933 w 8527062"/>
              <a:gd name="connsiteY8" fmla="*/ 1086273 h 2609220"/>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7044266 w 8526584"/>
              <a:gd name="connsiteY6" fmla="*/ 443722 h 1983603"/>
              <a:gd name="connsiteX7" fmla="*/ 8100190 w 8526584"/>
              <a:gd name="connsiteY7" fmla="*/ 850123 h 1983603"/>
              <a:gd name="connsiteX8" fmla="*/ 8525933 w 8526584"/>
              <a:gd name="connsiteY8" fmla="*/ 460656 h 1983603"/>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6906768 w 8526584"/>
              <a:gd name="connsiteY6" fmla="*/ 502989 h 1983603"/>
              <a:gd name="connsiteX7" fmla="*/ 8100190 w 8526584"/>
              <a:gd name="connsiteY7" fmla="*/ 850123 h 1983603"/>
              <a:gd name="connsiteX8" fmla="*/ 8525933 w 8526584"/>
              <a:gd name="connsiteY8" fmla="*/ 460656 h 1983603"/>
              <a:gd name="connsiteX0" fmla="*/ 0 w 8526584"/>
              <a:gd name="connsiteY0" fmla="*/ 148404 h 1513499"/>
              <a:gd name="connsiteX1" fmla="*/ 768195 w 8526584"/>
              <a:gd name="connsiteY1" fmla="*/ 377004 h 1513499"/>
              <a:gd name="connsiteX2" fmla="*/ 1523999 w 8526584"/>
              <a:gd name="connsiteY2" fmla="*/ 1511537 h 1513499"/>
              <a:gd name="connsiteX3" fmla="*/ 2870199 w 8526584"/>
              <a:gd name="connsiteY3" fmla="*/ 639471 h 1513499"/>
              <a:gd name="connsiteX4" fmla="*/ 3928533 w 8526584"/>
              <a:gd name="connsiteY4" fmla="*/ 216137 h 1513499"/>
              <a:gd name="connsiteX5" fmla="*/ 4817532 w 8526584"/>
              <a:gd name="connsiteY5" fmla="*/ 825737 h 1513499"/>
              <a:gd name="connsiteX6" fmla="*/ 6906768 w 8526584"/>
              <a:gd name="connsiteY6" fmla="*/ 55270 h 1513499"/>
              <a:gd name="connsiteX7" fmla="*/ 8100190 w 8526584"/>
              <a:gd name="connsiteY7" fmla="*/ 402404 h 1513499"/>
              <a:gd name="connsiteX8" fmla="*/ 8525933 w 8526584"/>
              <a:gd name="connsiteY8" fmla="*/ 12937 h 1513499"/>
              <a:gd name="connsiteX0" fmla="*/ 0 w 8526584"/>
              <a:gd name="connsiteY0" fmla="*/ 148404 h 1302454"/>
              <a:gd name="connsiteX1" fmla="*/ 768195 w 8526584"/>
              <a:gd name="connsiteY1" fmla="*/ 377004 h 1302454"/>
              <a:gd name="connsiteX2" fmla="*/ 1750467 w 8526584"/>
              <a:gd name="connsiteY2" fmla="*/ 1299870 h 1302454"/>
              <a:gd name="connsiteX3" fmla="*/ 2870199 w 8526584"/>
              <a:gd name="connsiteY3" fmla="*/ 639471 h 1302454"/>
              <a:gd name="connsiteX4" fmla="*/ 3928533 w 8526584"/>
              <a:gd name="connsiteY4" fmla="*/ 216137 h 1302454"/>
              <a:gd name="connsiteX5" fmla="*/ 4817532 w 8526584"/>
              <a:gd name="connsiteY5" fmla="*/ 825737 h 1302454"/>
              <a:gd name="connsiteX6" fmla="*/ 6906768 w 8526584"/>
              <a:gd name="connsiteY6" fmla="*/ 55270 h 1302454"/>
              <a:gd name="connsiteX7" fmla="*/ 8100190 w 8526584"/>
              <a:gd name="connsiteY7" fmla="*/ 402404 h 1302454"/>
              <a:gd name="connsiteX8" fmla="*/ 8525933 w 8526584"/>
              <a:gd name="connsiteY8" fmla="*/ 12937 h 1302454"/>
              <a:gd name="connsiteX0" fmla="*/ 0 w 8526584"/>
              <a:gd name="connsiteY0" fmla="*/ 148404 h 1319420"/>
              <a:gd name="connsiteX1" fmla="*/ 768195 w 8526584"/>
              <a:gd name="connsiteY1" fmla="*/ 377004 h 1319420"/>
              <a:gd name="connsiteX2" fmla="*/ 1750467 w 8526584"/>
              <a:gd name="connsiteY2" fmla="*/ 1299870 h 1319420"/>
              <a:gd name="connsiteX3" fmla="*/ 3088580 w 8526584"/>
              <a:gd name="connsiteY3" fmla="*/ 944271 h 1319420"/>
              <a:gd name="connsiteX4" fmla="*/ 3928533 w 8526584"/>
              <a:gd name="connsiteY4" fmla="*/ 216137 h 1319420"/>
              <a:gd name="connsiteX5" fmla="*/ 4817532 w 8526584"/>
              <a:gd name="connsiteY5" fmla="*/ 825737 h 1319420"/>
              <a:gd name="connsiteX6" fmla="*/ 6906768 w 8526584"/>
              <a:gd name="connsiteY6" fmla="*/ 55270 h 1319420"/>
              <a:gd name="connsiteX7" fmla="*/ 8100190 w 8526584"/>
              <a:gd name="connsiteY7" fmla="*/ 402404 h 1319420"/>
              <a:gd name="connsiteX8" fmla="*/ 8525933 w 8526584"/>
              <a:gd name="connsiteY8" fmla="*/ 12937 h 1319420"/>
              <a:gd name="connsiteX0" fmla="*/ 0 w 8526191"/>
              <a:gd name="connsiteY0" fmla="*/ 139702 h 1310718"/>
              <a:gd name="connsiteX1" fmla="*/ 768195 w 8526191"/>
              <a:gd name="connsiteY1" fmla="*/ 368302 h 1310718"/>
              <a:gd name="connsiteX2" fmla="*/ 1750467 w 8526191"/>
              <a:gd name="connsiteY2" fmla="*/ 1291168 h 1310718"/>
              <a:gd name="connsiteX3" fmla="*/ 3088580 w 8526191"/>
              <a:gd name="connsiteY3" fmla="*/ 935569 h 1310718"/>
              <a:gd name="connsiteX4" fmla="*/ 3928533 w 8526191"/>
              <a:gd name="connsiteY4" fmla="*/ 207435 h 1310718"/>
              <a:gd name="connsiteX5" fmla="*/ 4817532 w 8526191"/>
              <a:gd name="connsiteY5" fmla="*/ 817035 h 1310718"/>
              <a:gd name="connsiteX6" fmla="*/ 6906768 w 8526191"/>
              <a:gd name="connsiteY6" fmla="*/ 46568 h 1310718"/>
              <a:gd name="connsiteX7" fmla="*/ 7639165 w 8526191"/>
              <a:gd name="connsiteY7" fmla="*/ 833969 h 1310718"/>
              <a:gd name="connsiteX8" fmla="*/ 8525933 w 8526191"/>
              <a:gd name="connsiteY8" fmla="*/ 4235 h 1310718"/>
              <a:gd name="connsiteX0" fmla="*/ 0 w 8526305"/>
              <a:gd name="connsiteY0" fmla="*/ 138725 h 1309741"/>
              <a:gd name="connsiteX1" fmla="*/ 768195 w 8526305"/>
              <a:gd name="connsiteY1" fmla="*/ 367325 h 1309741"/>
              <a:gd name="connsiteX2" fmla="*/ 1750467 w 8526305"/>
              <a:gd name="connsiteY2" fmla="*/ 1290191 h 1309741"/>
              <a:gd name="connsiteX3" fmla="*/ 3088580 w 8526305"/>
              <a:gd name="connsiteY3" fmla="*/ 934592 h 1309741"/>
              <a:gd name="connsiteX4" fmla="*/ 3928533 w 8526305"/>
              <a:gd name="connsiteY4" fmla="*/ 206458 h 1309741"/>
              <a:gd name="connsiteX5" fmla="*/ 4817532 w 8526305"/>
              <a:gd name="connsiteY5" fmla="*/ 816058 h 1309741"/>
              <a:gd name="connsiteX6" fmla="*/ 6906768 w 8526305"/>
              <a:gd name="connsiteY6" fmla="*/ 45591 h 1309741"/>
              <a:gd name="connsiteX7" fmla="*/ 7639165 w 8526305"/>
              <a:gd name="connsiteY7" fmla="*/ 832992 h 1309741"/>
              <a:gd name="connsiteX8" fmla="*/ 8525933 w 8526305"/>
              <a:gd name="connsiteY8" fmla="*/ 3258 h 1309741"/>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906768 w 8526504"/>
              <a:gd name="connsiteY6" fmla="*/ 48028 h 1312178"/>
              <a:gd name="connsiteX7" fmla="*/ 7825193 w 8526504"/>
              <a:gd name="connsiteY7" fmla="*/ 479829 h 1312178"/>
              <a:gd name="connsiteX8" fmla="*/ 8525933 w 8526504"/>
              <a:gd name="connsiteY8" fmla="*/ 5695 h 1312178"/>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858239 w 8526504"/>
              <a:gd name="connsiteY6" fmla="*/ 776161 h 1312178"/>
              <a:gd name="connsiteX7" fmla="*/ 7825193 w 8526504"/>
              <a:gd name="connsiteY7" fmla="*/ 479829 h 1312178"/>
              <a:gd name="connsiteX8" fmla="*/ 8525933 w 8526504"/>
              <a:gd name="connsiteY8" fmla="*/ 5695 h 1312178"/>
              <a:gd name="connsiteX0" fmla="*/ 0 w 8526504"/>
              <a:gd name="connsiteY0" fmla="*/ 141162 h 1403304"/>
              <a:gd name="connsiteX1" fmla="*/ 768195 w 8526504"/>
              <a:gd name="connsiteY1" fmla="*/ 369762 h 1403304"/>
              <a:gd name="connsiteX2" fmla="*/ 1750467 w 8526504"/>
              <a:gd name="connsiteY2" fmla="*/ 1292628 h 1403304"/>
              <a:gd name="connsiteX3" fmla="*/ 3088580 w 8526504"/>
              <a:gd name="connsiteY3" fmla="*/ 937029 h 1403304"/>
              <a:gd name="connsiteX4" fmla="*/ 3920445 w 8526504"/>
              <a:gd name="connsiteY4" fmla="*/ 1402695 h 1403304"/>
              <a:gd name="connsiteX5" fmla="*/ 4817532 w 8526504"/>
              <a:gd name="connsiteY5" fmla="*/ 818495 h 1403304"/>
              <a:gd name="connsiteX6" fmla="*/ 6858239 w 8526504"/>
              <a:gd name="connsiteY6" fmla="*/ 776161 h 1403304"/>
              <a:gd name="connsiteX7" fmla="*/ 7825193 w 8526504"/>
              <a:gd name="connsiteY7" fmla="*/ 479829 h 1403304"/>
              <a:gd name="connsiteX8" fmla="*/ 8525933 w 8526504"/>
              <a:gd name="connsiteY8" fmla="*/ 5695 h 1403304"/>
              <a:gd name="connsiteX0" fmla="*/ 0 w 8526519"/>
              <a:gd name="connsiteY0" fmla="*/ 141162 h 1403304"/>
              <a:gd name="connsiteX1" fmla="*/ 768195 w 8526519"/>
              <a:gd name="connsiteY1" fmla="*/ 369762 h 1403304"/>
              <a:gd name="connsiteX2" fmla="*/ 1750467 w 8526519"/>
              <a:gd name="connsiteY2" fmla="*/ 1292628 h 1403304"/>
              <a:gd name="connsiteX3" fmla="*/ 3088580 w 8526519"/>
              <a:gd name="connsiteY3" fmla="*/ 937029 h 1403304"/>
              <a:gd name="connsiteX4" fmla="*/ 3920445 w 8526519"/>
              <a:gd name="connsiteY4" fmla="*/ 1402695 h 1403304"/>
              <a:gd name="connsiteX5" fmla="*/ 4817532 w 8526519"/>
              <a:gd name="connsiteY5" fmla="*/ 818495 h 1403304"/>
              <a:gd name="connsiteX6" fmla="*/ 6858239 w 8526519"/>
              <a:gd name="connsiteY6" fmla="*/ 776161 h 1403304"/>
              <a:gd name="connsiteX7" fmla="*/ 7833674 w 8526519"/>
              <a:gd name="connsiteY7" fmla="*/ 479829 h 1403304"/>
              <a:gd name="connsiteX8" fmla="*/ 8525933 w 8526519"/>
              <a:gd name="connsiteY8" fmla="*/ 5695 h 1403304"/>
              <a:gd name="connsiteX0" fmla="*/ 0 w 8526583"/>
              <a:gd name="connsiteY0" fmla="*/ 139934 h 1402076"/>
              <a:gd name="connsiteX1" fmla="*/ 768195 w 8526583"/>
              <a:gd name="connsiteY1" fmla="*/ 368534 h 1402076"/>
              <a:gd name="connsiteX2" fmla="*/ 1750467 w 8526583"/>
              <a:gd name="connsiteY2" fmla="*/ 1291400 h 1402076"/>
              <a:gd name="connsiteX3" fmla="*/ 3088580 w 8526583"/>
              <a:gd name="connsiteY3" fmla="*/ 935801 h 1402076"/>
              <a:gd name="connsiteX4" fmla="*/ 3920445 w 8526583"/>
              <a:gd name="connsiteY4" fmla="*/ 1401467 h 1402076"/>
              <a:gd name="connsiteX5" fmla="*/ 4817532 w 8526583"/>
              <a:gd name="connsiteY5" fmla="*/ 817267 h 1402076"/>
              <a:gd name="connsiteX6" fmla="*/ 6858239 w 8526583"/>
              <a:gd name="connsiteY6" fmla="*/ 774933 h 1402076"/>
              <a:gd name="connsiteX7" fmla="*/ 7833674 w 8526583"/>
              <a:gd name="connsiteY7" fmla="*/ 478601 h 1402076"/>
              <a:gd name="connsiteX8" fmla="*/ 8525933 w 8526583"/>
              <a:gd name="connsiteY8" fmla="*/ 4467 h 1402076"/>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858239 w 8526097"/>
              <a:gd name="connsiteY6" fmla="*/ 772138 h 1399281"/>
              <a:gd name="connsiteX7" fmla="*/ 7053442 w 8526097"/>
              <a:gd name="connsiteY7" fmla="*/ 1177142 h 1399281"/>
              <a:gd name="connsiteX8" fmla="*/ 8525933 w 8526097"/>
              <a:gd name="connsiteY8" fmla="*/ 1672 h 1399281"/>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298507 w 8526097"/>
              <a:gd name="connsiteY6" fmla="*/ 789894 h 1399281"/>
              <a:gd name="connsiteX7" fmla="*/ 7053442 w 8526097"/>
              <a:gd name="connsiteY7" fmla="*/ 1177142 h 1399281"/>
              <a:gd name="connsiteX8" fmla="*/ 8525933 w 8526097"/>
              <a:gd name="connsiteY8" fmla="*/ 1672 h 1399281"/>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5832064 w 8526149"/>
              <a:gd name="connsiteY6" fmla="*/ 541632 h 1399594"/>
              <a:gd name="connsiteX7" fmla="*/ 7053442 w 8526149"/>
              <a:gd name="connsiteY7" fmla="*/ 1177455 h 1399594"/>
              <a:gd name="connsiteX8" fmla="*/ 8525933 w 8526149"/>
              <a:gd name="connsiteY8" fmla="*/ 1985 h 1399594"/>
              <a:gd name="connsiteX0" fmla="*/ 0 w 7757954"/>
              <a:gd name="connsiteY0" fmla="*/ 366052 h 1399594"/>
              <a:gd name="connsiteX1" fmla="*/ 982272 w 7757954"/>
              <a:gd name="connsiteY1" fmla="*/ 1288918 h 1399594"/>
              <a:gd name="connsiteX2" fmla="*/ 2320385 w 7757954"/>
              <a:gd name="connsiteY2" fmla="*/ 933319 h 1399594"/>
              <a:gd name="connsiteX3" fmla="*/ 3152250 w 7757954"/>
              <a:gd name="connsiteY3" fmla="*/ 1398985 h 1399594"/>
              <a:gd name="connsiteX4" fmla="*/ 4049337 w 7757954"/>
              <a:gd name="connsiteY4" fmla="*/ 814785 h 1399594"/>
              <a:gd name="connsiteX5" fmla="*/ 5063869 w 7757954"/>
              <a:gd name="connsiteY5" fmla="*/ 541632 h 1399594"/>
              <a:gd name="connsiteX6" fmla="*/ 6285247 w 7757954"/>
              <a:gd name="connsiteY6" fmla="*/ 1177455 h 1399594"/>
              <a:gd name="connsiteX7" fmla="*/ 7757738 w 7757954"/>
              <a:gd name="connsiteY7" fmla="*/ 1985 h 1399594"/>
              <a:gd name="connsiteX0" fmla="*/ 0 w 7757980"/>
              <a:gd name="connsiteY0" fmla="*/ 373243 h 1406785"/>
              <a:gd name="connsiteX1" fmla="*/ 982272 w 7757980"/>
              <a:gd name="connsiteY1" fmla="*/ 1296109 h 1406785"/>
              <a:gd name="connsiteX2" fmla="*/ 2320385 w 7757980"/>
              <a:gd name="connsiteY2" fmla="*/ 940510 h 1406785"/>
              <a:gd name="connsiteX3" fmla="*/ 3152250 w 7757980"/>
              <a:gd name="connsiteY3" fmla="*/ 1406176 h 1406785"/>
              <a:gd name="connsiteX4" fmla="*/ 4049337 w 7757980"/>
              <a:gd name="connsiteY4" fmla="*/ 821976 h 1406785"/>
              <a:gd name="connsiteX5" fmla="*/ 5063869 w 7757980"/>
              <a:gd name="connsiteY5" fmla="*/ 548823 h 1406785"/>
              <a:gd name="connsiteX6" fmla="*/ 6384691 w 7757980"/>
              <a:gd name="connsiteY6" fmla="*/ 122579 h 1406785"/>
              <a:gd name="connsiteX7" fmla="*/ 7757738 w 7757980"/>
              <a:gd name="connsiteY7" fmla="*/ 9176 h 1406785"/>
              <a:gd name="connsiteX0" fmla="*/ 0 w 7757980"/>
              <a:gd name="connsiteY0" fmla="*/ 373243 h 1315453"/>
              <a:gd name="connsiteX1" fmla="*/ 982272 w 7757980"/>
              <a:gd name="connsiteY1" fmla="*/ 1296109 h 1315453"/>
              <a:gd name="connsiteX2" fmla="*/ 2320385 w 7757980"/>
              <a:gd name="connsiteY2" fmla="*/ 940510 h 1315453"/>
              <a:gd name="connsiteX3" fmla="*/ 3121174 w 7757980"/>
              <a:gd name="connsiteY3" fmla="*/ 236198 h 1315453"/>
              <a:gd name="connsiteX4" fmla="*/ 4049337 w 7757980"/>
              <a:gd name="connsiteY4" fmla="*/ 821976 h 1315453"/>
              <a:gd name="connsiteX5" fmla="*/ 5063869 w 7757980"/>
              <a:gd name="connsiteY5" fmla="*/ 548823 h 1315453"/>
              <a:gd name="connsiteX6" fmla="*/ 6384691 w 7757980"/>
              <a:gd name="connsiteY6" fmla="*/ 122579 h 1315453"/>
              <a:gd name="connsiteX7" fmla="*/ 7757738 w 7757980"/>
              <a:gd name="connsiteY7" fmla="*/ 9176 h 1315453"/>
              <a:gd name="connsiteX0" fmla="*/ 0 w 7757980"/>
              <a:gd name="connsiteY0" fmla="*/ 373243 h 941467"/>
              <a:gd name="connsiteX1" fmla="*/ 913905 w 7757980"/>
              <a:gd name="connsiteY1" fmla="*/ 52298 h 941467"/>
              <a:gd name="connsiteX2" fmla="*/ 2320385 w 7757980"/>
              <a:gd name="connsiteY2" fmla="*/ 940510 h 941467"/>
              <a:gd name="connsiteX3" fmla="*/ 3121174 w 7757980"/>
              <a:gd name="connsiteY3" fmla="*/ 236198 h 941467"/>
              <a:gd name="connsiteX4" fmla="*/ 4049337 w 7757980"/>
              <a:gd name="connsiteY4" fmla="*/ 821976 h 941467"/>
              <a:gd name="connsiteX5" fmla="*/ 5063869 w 7757980"/>
              <a:gd name="connsiteY5" fmla="*/ 548823 h 941467"/>
              <a:gd name="connsiteX6" fmla="*/ 6384691 w 7757980"/>
              <a:gd name="connsiteY6" fmla="*/ 122579 h 941467"/>
              <a:gd name="connsiteX7" fmla="*/ 7757738 w 7757980"/>
              <a:gd name="connsiteY7" fmla="*/ 9176 h 941467"/>
              <a:gd name="connsiteX0" fmla="*/ 0 w 7757980"/>
              <a:gd name="connsiteY0" fmla="*/ 373243 h 830176"/>
              <a:gd name="connsiteX1" fmla="*/ 913905 w 7757980"/>
              <a:gd name="connsiteY1" fmla="*/ 52298 h 830176"/>
              <a:gd name="connsiteX2" fmla="*/ 1959902 w 7757980"/>
              <a:gd name="connsiteY2" fmla="*/ 758766 h 830176"/>
              <a:gd name="connsiteX3" fmla="*/ 3121174 w 7757980"/>
              <a:gd name="connsiteY3" fmla="*/ 236198 h 830176"/>
              <a:gd name="connsiteX4" fmla="*/ 4049337 w 7757980"/>
              <a:gd name="connsiteY4" fmla="*/ 821976 h 830176"/>
              <a:gd name="connsiteX5" fmla="*/ 5063869 w 7757980"/>
              <a:gd name="connsiteY5" fmla="*/ 548823 h 830176"/>
              <a:gd name="connsiteX6" fmla="*/ 6384691 w 7757980"/>
              <a:gd name="connsiteY6" fmla="*/ 122579 h 830176"/>
              <a:gd name="connsiteX7" fmla="*/ 7757738 w 7757980"/>
              <a:gd name="connsiteY7" fmla="*/ 9176 h 830176"/>
              <a:gd name="connsiteX0" fmla="*/ 0 w 7757980"/>
              <a:gd name="connsiteY0" fmla="*/ 373243 h 821989"/>
              <a:gd name="connsiteX1" fmla="*/ 913905 w 7757980"/>
              <a:gd name="connsiteY1" fmla="*/ 52298 h 821989"/>
              <a:gd name="connsiteX2" fmla="*/ 1959902 w 7757980"/>
              <a:gd name="connsiteY2" fmla="*/ 758766 h 821989"/>
              <a:gd name="connsiteX3" fmla="*/ 3121174 w 7757980"/>
              <a:gd name="connsiteY3" fmla="*/ 236198 h 821989"/>
              <a:gd name="connsiteX4" fmla="*/ 4049337 w 7757980"/>
              <a:gd name="connsiteY4" fmla="*/ 821976 h 821989"/>
              <a:gd name="connsiteX5" fmla="*/ 5039008 w 7757980"/>
              <a:gd name="connsiteY5" fmla="*/ 253488 h 821989"/>
              <a:gd name="connsiteX6" fmla="*/ 6384691 w 7757980"/>
              <a:gd name="connsiteY6" fmla="*/ 122579 h 821989"/>
              <a:gd name="connsiteX7" fmla="*/ 7757738 w 7757980"/>
              <a:gd name="connsiteY7" fmla="*/ 9176 h 821989"/>
              <a:gd name="connsiteX0" fmla="*/ 0 w 7757980"/>
              <a:gd name="connsiteY0" fmla="*/ 373243 h 823461"/>
              <a:gd name="connsiteX1" fmla="*/ 913905 w 7757980"/>
              <a:gd name="connsiteY1" fmla="*/ 52298 h 823461"/>
              <a:gd name="connsiteX2" fmla="*/ 1959902 w 7757980"/>
              <a:gd name="connsiteY2" fmla="*/ 758766 h 823461"/>
              <a:gd name="connsiteX3" fmla="*/ 3121174 w 7757980"/>
              <a:gd name="connsiteY3" fmla="*/ 236198 h 823461"/>
              <a:gd name="connsiteX4" fmla="*/ 4049337 w 7757980"/>
              <a:gd name="connsiteY4" fmla="*/ 821976 h 823461"/>
              <a:gd name="connsiteX5" fmla="*/ 5194389 w 7757980"/>
              <a:gd name="connsiteY5" fmla="*/ 395475 h 823461"/>
              <a:gd name="connsiteX6" fmla="*/ 6384691 w 7757980"/>
              <a:gd name="connsiteY6" fmla="*/ 122579 h 823461"/>
              <a:gd name="connsiteX7" fmla="*/ 7757738 w 7757980"/>
              <a:gd name="connsiteY7" fmla="*/ 9176 h 823461"/>
              <a:gd name="connsiteX0" fmla="*/ 0 w 7757977"/>
              <a:gd name="connsiteY0" fmla="*/ 371277 h 821443"/>
              <a:gd name="connsiteX1" fmla="*/ 913905 w 7757977"/>
              <a:gd name="connsiteY1" fmla="*/ 50332 h 821443"/>
              <a:gd name="connsiteX2" fmla="*/ 1959902 w 7757977"/>
              <a:gd name="connsiteY2" fmla="*/ 756800 h 821443"/>
              <a:gd name="connsiteX3" fmla="*/ 3121174 w 7757977"/>
              <a:gd name="connsiteY3" fmla="*/ 234232 h 821443"/>
              <a:gd name="connsiteX4" fmla="*/ 4049337 w 7757977"/>
              <a:gd name="connsiteY4" fmla="*/ 820010 h 821443"/>
              <a:gd name="connsiteX5" fmla="*/ 5194389 w 7757977"/>
              <a:gd name="connsiteY5" fmla="*/ 393509 h 821443"/>
              <a:gd name="connsiteX6" fmla="*/ 6372260 w 7757977"/>
              <a:gd name="connsiteY6" fmla="*/ 200126 h 821443"/>
              <a:gd name="connsiteX7" fmla="*/ 7757738 w 7757977"/>
              <a:gd name="connsiteY7" fmla="*/ 7210 h 821443"/>
              <a:gd name="connsiteX0" fmla="*/ 0 w 7757973"/>
              <a:gd name="connsiteY0" fmla="*/ 374269 h 824435"/>
              <a:gd name="connsiteX1" fmla="*/ 913905 w 7757973"/>
              <a:gd name="connsiteY1" fmla="*/ 53324 h 824435"/>
              <a:gd name="connsiteX2" fmla="*/ 1959902 w 7757973"/>
              <a:gd name="connsiteY2" fmla="*/ 759792 h 824435"/>
              <a:gd name="connsiteX3" fmla="*/ 3121174 w 7757973"/>
              <a:gd name="connsiteY3" fmla="*/ 237224 h 824435"/>
              <a:gd name="connsiteX4" fmla="*/ 4049337 w 7757973"/>
              <a:gd name="connsiteY4" fmla="*/ 823002 h 824435"/>
              <a:gd name="connsiteX5" fmla="*/ 5194389 w 7757973"/>
              <a:gd name="connsiteY5" fmla="*/ 396501 h 824435"/>
              <a:gd name="connsiteX6" fmla="*/ 6372260 w 7757973"/>
              <a:gd name="connsiteY6" fmla="*/ 203118 h 824435"/>
              <a:gd name="connsiteX7" fmla="*/ 7757738 w 7757973"/>
              <a:gd name="connsiteY7" fmla="*/ 10202 h 824435"/>
              <a:gd name="connsiteX0" fmla="*/ 0 w 7757943"/>
              <a:gd name="connsiteY0" fmla="*/ 368453 h 818619"/>
              <a:gd name="connsiteX1" fmla="*/ 913905 w 7757943"/>
              <a:gd name="connsiteY1" fmla="*/ 47508 h 818619"/>
              <a:gd name="connsiteX2" fmla="*/ 1959902 w 7757943"/>
              <a:gd name="connsiteY2" fmla="*/ 753976 h 818619"/>
              <a:gd name="connsiteX3" fmla="*/ 3121174 w 7757943"/>
              <a:gd name="connsiteY3" fmla="*/ 231408 h 818619"/>
              <a:gd name="connsiteX4" fmla="*/ 4049337 w 7757943"/>
              <a:gd name="connsiteY4" fmla="*/ 817186 h 818619"/>
              <a:gd name="connsiteX5" fmla="*/ 5194389 w 7757943"/>
              <a:gd name="connsiteY5" fmla="*/ 390685 h 818619"/>
              <a:gd name="connsiteX6" fmla="*/ 6372260 w 7757943"/>
              <a:gd name="connsiteY6" fmla="*/ 197302 h 818619"/>
              <a:gd name="connsiteX7" fmla="*/ 7757738 w 7757943"/>
              <a:gd name="connsiteY7" fmla="*/ 4386 h 818619"/>
              <a:gd name="connsiteX0" fmla="*/ 0 w 7757944"/>
              <a:gd name="connsiteY0" fmla="*/ 368453 h 819716"/>
              <a:gd name="connsiteX1" fmla="*/ 913905 w 7757944"/>
              <a:gd name="connsiteY1" fmla="*/ 47508 h 819716"/>
              <a:gd name="connsiteX2" fmla="*/ 1959902 w 7757944"/>
              <a:gd name="connsiteY2" fmla="*/ 753976 h 819716"/>
              <a:gd name="connsiteX3" fmla="*/ 3121174 w 7757944"/>
              <a:gd name="connsiteY3" fmla="*/ 231408 h 819716"/>
              <a:gd name="connsiteX4" fmla="*/ 4049337 w 7757944"/>
              <a:gd name="connsiteY4" fmla="*/ 817186 h 819716"/>
              <a:gd name="connsiteX5" fmla="*/ 5194389 w 7757944"/>
              <a:gd name="connsiteY5" fmla="*/ 390685 h 819716"/>
              <a:gd name="connsiteX6" fmla="*/ 6372260 w 7757944"/>
              <a:gd name="connsiteY6" fmla="*/ 197302 h 819716"/>
              <a:gd name="connsiteX7" fmla="*/ 7757738 w 7757944"/>
              <a:gd name="connsiteY7" fmla="*/ 4386 h 819716"/>
              <a:gd name="connsiteX0" fmla="*/ 0 w 7757946"/>
              <a:gd name="connsiteY0" fmla="*/ 371730 h 822993"/>
              <a:gd name="connsiteX1" fmla="*/ 913905 w 7757946"/>
              <a:gd name="connsiteY1" fmla="*/ 50785 h 822993"/>
              <a:gd name="connsiteX2" fmla="*/ 1959902 w 7757946"/>
              <a:gd name="connsiteY2" fmla="*/ 757253 h 822993"/>
              <a:gd name="connsiteX3" fmla="*/ 3121174 w 7757946"/>
              <a:gd name="connsiteY3" fmla="*/ 234685 h 822993"/>
              <a:gd name="connsiteX4" fmla="*/ 4049337 w 7757946"/>
              <a:gd name="connsiteY4" fmla="*/ 820463 h 822993"/>
              <a:gd name="connsiteX5" fmla="*/ 5194389 w 7757946"/>
              <a:gd name="connsiteY5" fmla="*/ 393962 h 822993"/>
              <a:gd name="connsiteX6" fmla="*/ 6372260 w 7757946"/>
              <a:gd name="connsiteY6" fmla="*/ 200579 h 822993"/>
              <a:gd name="connsiteX7" fmla="*/ 7757738 w 7757946"/>
              <a:gd name="connsiteY7" fmla="*/ 7663 h 822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7946" h="822993">
                <a:moveTo>
                  <a:pt x="0" y="371730"/>
                </a:moveTo>
                <a:cubicBezTo>
                  <a:pt x="291745" y="563641"/>
                  <a:pt x="587255" y="-13469"/>
                  <a:pt x="913905" y="50785"/>
                </a:cubicBezTo>
                <a:cubicBezTo>
                  <a:pt x="1240555" y="115039"/>
                  <a:pt x="1592024" y="726603"/>
                  <a:pt x="1959902" y="757253"/>
                </a:cubicBezTo>
                <a:cubicBezTo>
                  <a:pt x="2327780" y="787903"/>
                  <a:pt x="2772935" y="224150"/>
                  <a:pt x="3121174" y="234685"/>
                </a:cubicBezTo>
                <a:cubicBezTo>
                  <a:pt x="3469413" y="245220"/>
                  <a:pt x="3703801" y="793917"/>
                  <a:pt x="4049337" y="820463"/>
                </a:cubicBezTo>
                <a:cubicBezTo>
                  <a:pt x="4394873" y="847009"/>
                  <a:pt x="5037198" y="661982"/>
                  <a:pt x="5194389" y="393962"/>
                </a:cubicBezTo>
                <a:cubicBezTo>
                  <a:pt x="5351580" y="125942"/>
                  <a:pt x="5938739" y="153369"/>
                  <a:pt x="6372260" y="200579"/>
                </a:cubicBezTo>
                <a:cubicBezTo>
                  <a:pt x="6837043" y="261280"/>
                  <a:pt x="7773966" y="-52309"/>
                  <a:pt x="7757738" y="7663"/>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33DF3D55-999F-17C8-E647-A925ABFD4B29}"/>
              </a:ext>
            </a:extLst>
          </p:cNvPr>
          <p:cNvCxnSpPr>
            <a:cxnSpLocks/>
          </p:cNvCxnSpPr>
          <p:nvPr/>
        </p:nvCxnSpPr>
        <p:spPr>
          <a:xfrm>
            <a:off x="7091183" y="0"/>
            <a:ext cx="0" cy="6858000"/>
          </a:xfrm>
          <a:prstGeom prst="line">
            <a:avLst/>
          </a:prstGeom>
          <a:ln>
            <a:solidFill>
              <a:schemeClr val="bg1"/>
            </a:solidFill>
            <a:prstDash val="solid"/>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1" name="Footer Placeholder 3">
            <a:extLst>
              <a:ext uri="{FF2B5EF4-FFF2-40B4-BE49-F238E27FC236}">
                <a16:creationId xmlns:a16="http://schemas.microsoft.com/office/drawing/2014/main" id="{27AA374C-C403-AE7C-8C5A-C9260FD31350}"/>
              </a:ext>
            </a:extLst>
          </p:cNvPr>
          <p:cNvSpPr txBox="1">
            <a:spLocks/>
          </p:cNvSpPr>
          <p:nvPr/>
        </p:nvSpPr>
        <p:spPr>
          <a:xfrm>
            <a:off x="10842796" y="6424816"/>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6" name="Freeform 5">
            <a:extLst>
              <a:ext uri="{FF2B5EF4-FFF2-40B4-BE49-F238E27FC236}">
                <a16:creationId xmlns:a16="http://schemas.microsoft.com/office/drawing/2014/main" id="{58C91A8E-32A3-E6C9-3B21-6258314CE1E0}"/>
              </a:ext>
            </a:extLst>
          </p:cNvPr>
          <p:cNvSpPr/>
          <p:nvPr/>
        </p:nvSpPr>
        <p:spPr>
          <a:xfrm>
            <a:off x="-6326" y="628062"/>
            <a:ext cx="7089271" cy="2224449"/>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7807396"/>
              <a:gd name="connsiteY0" fmla="*/ 654473 h 3128935"/>
              <a:gd name="connsiteX1" fmla="*/ 804333 w 7807396"/>
              <a:gd name="connsiteY1" fmla="*/ 2584873 h 3128935"/>
              <a:gd name="connsiteX2" fmla="*/ 1464733 w 7807396"/>
              <a:gd name="connsiteY2" fmla="*/ 121072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807396"/>
              <a:gd name="connsiteY0" fmla="*/ 654473 h 3128935"/>
              <a:gd name="connsiteX1" fmla="*/ 804333 w 7807396"/>
              <a:gd name="connsiteY1" fmla="*/ 2584873 h 3128935"/>
              <a:gd name="connsiteX2" fmla="*/ 1507976 w 7807396"/>
              <a:gd name="connsiteY2" fmla="*/ 1370450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764153"/>
              <a:gd name="connsiteY0" fmla="*/ 1360644 h 3128935"/>
              <a:gd name="connsiteX1" fmla="*/ 761090 w 7764153"/>
              <a:gd name="connsiteY1" fmla="*/ 2584873 h 3128935"/>
              <a:gd name="connsiteX2" fmla="*/ 1464733 w 7764153"/>
              <a:gd name="connsiteY2" fmla="*/ 1370450 h 3128935"/>
              <a:gd name="connsiteX3" fmla="*/ 2107290 w 7764153"/>
              <a:gd name="connsiteY3" fmla="*/ 1712807 h 3128935"/>
              <a:gd name="connsiteX4" fmla="*/ 3165624 w 7764153"/>
              <a:gd name="connsiteY4" fmla="*/ 1289473 h 3128935"/>
              <a:gd name="connsiteX5" fmla="*/ 3631215 w 7764153"/>
              <a:gd name="connsiteY5" fmla="*/ 2476967 h 3128935"/>
              <a:gd name="connsiteX6" fmla="*/ 4054623 w 7764153"/>
              <a:gd name="connsiteY6" fmla="*/ 1899073 h 3128935"/>
              <a:gd name="connsiteX7" fmla="*/ 4926691 w 7764153"/>
              <a:gd name="connsiteY7" fmla="*/ 3118273 h 3128935"/>
              <a:gd name="connsiteX8" fmla="*/ 6281357 w 7764153"/>
              <a:gd name="connsiteY8" fmla="*/ 1069339 h 3128935"/>
              <a:gd name="connsiteX9" fmla="*/ 6857091 w 7764153"/>
              <a:gd name="connsiteY9" fmla="*/ 2872740 h 3128935"/>
              <a:gd name="connsiteX10" fmla="*/ 7466691 w 7764153"/>
              <a:gd name="connsiteY10" fmla="*/ 44873 h 3128935"/>
              <a:gd name="connsiteX11" fmla="*/ 7763024 w 7764153"/>
              <a:gd name="connsiteY11" fmla="*/ 1086273 h 3128935"/>
              <a:gd name="connsiteX0" fmla="*/ 0 w 7764153"/>
              <a:gd name="connsiteY0" fmla="*/ 1360644 h 2883635"/>
              <a:gd name="connsiteX1" fmla="*/ 761090 w 7764153"/>
              <a:gd name="connsiteY1" fmla="*/ 2584873 h 2883635"/>
              <a:gd name="connsiteX2" fmla="*/ 1464733 w 7764153"/>
              <a:gd name="connsiteY2" fmla="*/ 1370450 h 2883635"/>
              <a:gd name="connsiteX3" fmla="*/ 2107290 w 7764153"/>
              <a:gd name="connsiteY3" fmla="*/ 1712807 h 2883635"/>
              <a:gd name="connsiteX4" fmla="*/ 3165624 w 7764153"/>
              <a:gd name="connsiteY4" fmla="*/ 1289473 h 2883635"/>
              <a:gd name="connsiteX5" fmla="*/ 3631215 w 7764153"/>
              <a:gd name="connsiteY5" fmla="*/ 2476967 h 2883635"/>
              <a:gd name="connsiteX6" fmla="*/ 4054623 w 7764153"/>
              <a:gd name="connsiteY6" fmla="*/ 1899073 h 2883635"/>
              <a:gd name="connsiteX7" fmla="*/ 4969935 w 7764153"/>
              <a:gd name="connsiteY7" fmla="*/ 2375889 h 2883635"/>
              <a:gd name="connsiteX8" fmla="*/ 6281357 w 7764153"/>
              <a:gd name="connsiteY8" fmla="*/ 1069339 h 2883635"/>
              <a:gd name="connsiteX9" fmla="*/ 6857091 w 7764153"/>
              <a:gd name="connsiteY9" fmla="*/ 2872740 h 2883635"/>
              <a:gd name="connsiteX10" fmla="*/ 7466691 w 7764153"/>
              <a:gd name="connsiteY10" fmla="*/ 44873 h 2883635"/>
              <a:gd name="connsiteX11" fmla="*/ 7763024 w 7764153"/>
              <a:gd name="connsiteY11" fmla="*/ 1086273 h 2883635"/>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631215 w 7764153"/>
              <a:gd name="connsiteY5" fmla="*/ 182737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562026 w 7764153"/>
              <a:gd name="connsiteY5" fmla="*/ 141091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64153" h="2224449">
                <a:moveTo>
                  <a:pt x="0" y="711054"/>
                </a:moveTo>
                <a:cubicBezTo>
                  <a:pt x="254000" y="938243"/>
                  <a:pt x="516968" y="1933649"/>
                  <a:pt x="761090" y="1935283"/>
                </a:cubicBezTo>
                <a:cubicBezTo>
                  <a:pt x="1005212" y="1936917"/>
                  <a:pt x="1240366" y="866204"/>
                  <a:pt x="1464733" y="720860"/>
                </a:cubicBezTo>
                <a:cubicBezTo>
                  <a:pt x="1689100" y="575516"/>
                  <a:pt x="1823808" y="1076713"/>
                  <a:pt x="2107290" y="1063217"/>
                </a:cubicBezTo>
                <a:cubicBezTo>
                  <a:pt x="2390772" y="1049721"/>
                  <a:pt x="2923168" y="581933"/>
                  <a:pt x="3165624" y="639883"/>
                </a:cubicBezTo>
                <a:cubicBezTo>
                  <a:pt x="3408080" y="697833"/>
                  <a:pt x="3449137" y="1092006"/>
                  <a:pt x="3562026" y="1410917"/>
                </a:cubicBezTo>
                <a:cubicBezTo>
                  <a:pt x="3674915" y="1729828"/>
                  <a:pt x="3819972" y="1196919"/>
                  <a:pt x="4054623" y="1249483"/>
                </a:cubicBezTo>
                <a:cubicBezTo>
                  <a:pt x="4289275" y="1302047"/>
                  <a:pt x="4598813" y="1864588"/>
                  <a:pt x="4969935" y="1726299"/>
                </a:cubicBezTo>
                <a:cubicBezTo>
                  <a:pt x="5341057" y="1588010"/>
                  <a:pt x="5966831" y="336941"/>
                  <a:pt x="6281357" y="419749"/>
                </a:cubicBezTo>
                <a:cubicBezTo>
                  <a:pt x="6595883" y="502557"/>
                  <a:pt x="6659535" y="2279217"/>
                  <a:pt x="6857091" y="2223150"/>
                </a:cubicBezTo>
                <a:cubicBezTo>
                  <a:pt x="7054647" y="2167083"/>
                  <a:pt x="7315703" y="381090"/>
                  <a:pt x="7466692" y="83346"/>
                </a:cubicBezTo>
                <a:cubicBezTo>
                  <a:pt x="7617681" y="-214398"/>
                  <a:pt x="7779252" y="376711"/>
                  <a:pt x="7763024" y="43668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510BA2CB-DE8D-42AC-CE1A-16118C17D521}"/>
              </a:ext>
            </a:extLst>
          </p:cNvPr>
          <p:cNvSpPr/>
          <p:nvPr/>
        </p:nvSpPr>
        <p:spPr>
          <a:xfrm>
            <a:off x="-6326" y="2439669"/>
            <a:ext cx="7089271" cy="1399594"/>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28935"/>
              <a:gd name="connsiteX1" fmla="*/ 719666 w 8527062"/>
              <a:gd name="connsiteY1" fmla="*/ 654473 h 3128935"/>
              <a:gd name="connsiteX2" fmla="*/ 1523999 w 8527062"/>
              <a:gd name="connsiteY2" fmla="*/ 2584873 h 3128935"/>
              <a:gd name="connsiteX3" fmla="*/ 2870199 w 8527062"/>
              <a:gd name="connsiteY3" fmla="*/ 1712807 h 3128935"/>
              <a:gd name="connsiteX4" fmla="*/ 3928533 w 8527062"/>
              <a:gd name="connsiteY4" fmla="*/ 1289473 h 3128935"/>
              <a:gd name="connsiteX5" fmla="*/ 4394124 w 8527062"/>
              <a:gd name="connsiteY5" fmla="*/ 2476967 h 3128935"/>
              <a:gd name="connsiteX6" fmla="*/ 4817532 w 8527062"/>
              <a:gd name="connsiteY6" fmla="*/ 1899073 h 3128935"/>
              <a:gd name="connsiteX7" fmla="*/ 5689600 w 8527062"/>
              <a:gd name="connsiteY7" fmla="*/ 3118273 h 3128935"/>
              <a:gd name="connsiteX8" fmla="*/ 7044266 w 8527062"/>
              <a:gd name="connsiteY8" fmla="*/ 1069339 h 3128935"/>
              <a:gd name="connsiteX9" fmla="*/ 7620000 w 8527062"/>
              <a:gd name="connsiteY9" fmla="*/ 2872740 h 3128935"/>
              <a:gd name="connsiteX10" fmla="*/ 8229600 w 8527062"/>
              <a:gd name="connsiteY10" fmla="*/ 44873 h 3128935"/>
              <a:gd name="connsiteX11" fmla="*/ 8525933 w 8527062"/>
              <a:gd name="connsiteY11" fmla="*/ 1086273 h 3128935"/>
              <a:gd name="connsiteX0" fmla="*/ 0 w 8527062"/>
              <a:gd name="connsiteY0" fmla="*/ 1221740 h 3130725"/>
              <a:gd name="connsiteX1" fmla="*/ 719666 w 8527062"/>
              <a:gd name="connsiteY1" fmla="*/ 654473 h 3130725"/>
              <a:gd name="connsiteX2" fmla="*/ 1523999 w 8527062"/>
              <a:gd name="connsiteY2" fmla="*/ 2584873 h 3130725"/>
              <a:gd name="connsiteX3" fmla="*/ 2870199 w 8527062"/>
              <a:gd name="connsiteY3" fmla="*/ 1712807 h 3130725"/>
              <a:gd name="connsiteX4" fmla="*/ 3928533 w 8527062"/>
              <a:gd name="connsiteY4" fmla="*/ 1289473 h 3130725"/>
              <a:gd name="connsiteX5" fmla="*/ 4817532 w 8527062"/>
              <a:gd name="connsiteY5" fmla="*/ 1899073 h 3130725"/>
              <a:gd name="connsiteX6" fmla="*/ 5689600 w 8527062"/>
              <a:gd name="connsiteY6" fmla="*/ 3118273 h 3130725"/>
              <a:gd name="connsiteX7" fmla="*/ 7044266 w 8527062"/>
              <a:gd name="connsiteY7" fmla="*/ 1069339 h 3130725"/>
              <a:gd name="connsiteX8" fmla="*/ 7620000 w 8527062"/>
              <a:gd name="connsiteY8" fmla="*/ 2872740 h 3130725"/>
              <a:gd name="connsiteX9" fmla="*/ 8229600 w 8527062"/>
              <a:gd name="connsiteY9" fmla="*/ 44873 h 3130725"/>
              <a:gd name="connsiteX10" fmla="*/ 8525933 w 8527062"/>
              <a:gd name="connsiteY10" fmla="*/ 1086273 h 3130725"/>
              <a:gd name="connsiteX0" fmla="*/ 0 w 8527062"/>
              <a:gd name="connsiteY0" fmla="*/ 1221740 h 2884077"/>
              <a:gd name="connsiteX1" fmla="*/ 719666 w 8527062"/>
              <a:gd name="connsiteY1" fmla="*/ 654473 h 2884077"/>
              <a:gd name="connsiteX2" fmla="*/ 1523999 w 8527062"/>
              <a:gd name="connsiteY2" fmla="*/ 2584873 h 2884077"/>
              <a:gd name="connsiteX3" fmla="*/ 2870199 w 8527062"/>
              <a:gd name="connsiteY3" fmla="*/ 1712807 h 2884077"/>
              <a:gd name="connsiteX4" fmla="*/ 3928533 w 8527062"/>
              <a:gd name="connsiteY4" fmla="*/ 1289473 h 2884077"/>
              <a:gd name="connsiteX5" fmla="*/ 4817532 w 8527062"/>
              <a:gd name="connsiteY5" fmla="*/ 1899073 h 2884077"/>
              <a:gd name="connsiteX6" fmla="*/ 7044266 w 8527062"/>
              <a:gd name="connsiteY6" fmla="*/ 1069339 h 2884077"/>
              <a:gd name="connsiteX7" fmla="*/ 7620000 w 8527062"/>
              <a:gd name="connsiteY7" fmla="*/ 2872740 h 2884077"/>
              <a:gd name="connsiteX8" fmla="*/ 8229600 w 8527062"/>
              <a:gd name="connsiteY8" fmla="*/ 44873 h 2884077"/>
              <a:gd name="connsiteX9" fmla="*/ 8525933 w 8527062"/>
              <a:gd name="connsiteY9" fmla="*/ 1086273 h 2884077"/>
              <a:gd name="connsiteX0" fmla="*/ 0 w 8527062"/>
              <a:gd name="connsiteY0" fmla="*/ 1221740 h 2609220"/>
              <a:gd name="connsiteX1" fmla="*/ 719666 w 8527062"/>
              <a:gd name="connsiteY1" fmla="*/ 654473 h 2609220"/>
              <a:gd name="connsiteX2" fmla="*/ 1523999 w 8527062"/>
              <a:gd name="connsiteY2" fmla="*/ 2584873 h 2609220"/>
              <a:gd name="connsiteX3" fmla="*/ 2870199 w 8527062"/>
              <a:gd name="connsiteY3" fmla="*/ 1712807 h 2609220"/>
              <a:gd name="connsiteX4" fmla="*/ 3928533 w 8527062"/>
              <a:gd name="connsiteY4" fmla="*/ 1289473 h 2609220"/>
              <a:gd name="connsiteX5" fmla="*/ 4817532 w 8527062"/>
              <a:gd name="connsiteY5" fmla="*/ 1899073 h 2609220"/>
              <a:gd name="connsiteX6" fmla="*/ 7044266 w 8527062"/>
              <a:gd name="connsiteY6" fmla="*/ 1069339 h 2609220"/>
              <a:gd name="connsiteX7" fmla="*/ 8229600 w 8527062"/>
              <a:gd name="connsiteY7" fmla="*/ 44873 h 2609220"/>
              <a:gd name="connsiteX8" fmla="*/ 8525933 w 8527062"/>
              <a:gd name="connsiteY8" fmla="*/ 1086273 h 2609220"/>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7044266 w 8526584"/>
              <a:gd name="connsiteY6" fmla="*/ 443722 h 1983603"/>
              <a:gd name="connsiteX7" fmla="*/ 8100190 w 8526584"/>
              <a:gd name="connsiteY7" fmla="*/ 850123 h 1983603"/>
              <a:gd name="connsiteX8" fmla="*/ 8525933 w 8526584"/>
              <a:gd name="connsiteY8" fmla="*/ 460656 h 1983603"/>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6906768 w 8526584"/>
              <a:gd name="connsiteY6" fmla="*/ 502989 h 1983603"/>
              <a:gd name="connsiteX7" fmla="*/ 8100190 w 8526584"/>
              <a:gd name="connsiteY7" fmla="*/ 850123 h 1983603"/>
              <a:gd name="connsiteX8" fmla="*/ 8525933 w 8526584"/>
              <a:gd name="connsiteY8" fmla="*/ 460656 h 1983603"/>
              <a:gd name="connsiteX0" fmla="*/ 0 w 8526584"/>
              <a:gd name="connsiteY0" fmla="*/ 148404 h 1513499"/>
              <a:gd name="connsiteX1" fmla="*/ 768195 w 8526584"/>
              <a:gd name="connsiteY1" fmla="*/ 377004 h 1513499"/>
              <a:gd name="connsiteX2" fmla="*/ 1523999 w 8526584"/>
              <a:gd name="connsiteY2" fmla="*/ 1511537 h 1513499"/>
              <a:gd name="connsiteX3" fmla="*/ 2870199 w 8526584"/>
              <a:gd name="connsiteY3" fmla="*/ 639471 h 1513499"/>
              <a:gd name="connsiteX4" fmla="*/ 3928533 w 8526584"/>
              <a:gd name="connsiteY4" fmla="*/ 216137 h 1513499"/>
              <a:gd name="connsiteX5" fmla="*/ 4817532 w 8526584"/>
              <a:gd name="connsiteY5" fmla="*/ 825737 h 1513499"/>
              <a:gd name="connsiteX6" fmla="*/ 6906768 w 8526584"/>
              <a:gd name="connsiteY6" fmla="*/ 55270 h 1513499"/>
              <a:gd name="connsiteX7" fmla="*/ 8100190 w 8526584"/>
              <a:gd name="connsiteY7" fmla="*/ 402404 h 1513499"/>
              <a:gd name="connsiteX8" fmla="*/ 8525933 w 8526584"/>
              <a:gd name="connsiteY8" fmla="*/ 12937 h 1513499"/>
              <a:gd name="connsiteX0" fmla="*/ 0 w 8526584"/>
              <a:gd name="connsiteY0" fmla="*/ 148404 h 1302454"/>
              <a:gd name="connsiteX1" fmla="*/ 768195 w 8526584"/>
              <a:gd name="connsiteY1" fmla="*/ 377004 h 1302454"/>
              <a:gd name="connsiteX2" fmla="*/ 1750467 w 8526584"/>
              <a:gd name="connsiteY2" fmla="*/ 1299870 h 1302454"/>
              <a:gd name="connsiteX3" fmla="*/ 2870199 w 8526584"/>
              <a:gd name="connsiteY3" fmla="*/ 639471 h 1302454"/>
              <a:gd name="connsiteX4" fmla="*/ 3928533 w 8526584"/>
              <a:gd name="connsiteY4" fmla="*/ 216137 h 1302454"/>
              <a:gd name="connsiteX5" fmla="*/ 4817532 w 8526584"/>
              <a:gd name="connsiteY5" fmla="*/ 825737 h 1302454"/>
              <a:gd name="connsiteX6" fmla="*/ 6906768 w 8526584"/>
              <a:gd name="connsiteY6" fmla="*/ 55270 h 1302454"/>
              <a:gd name="connsiteX7" fmla="*/ 8100190 w 8526584"/>
              <a:gd name="connsiteY7" fmla="*/ 402404 h 1302454"/>
              <a:gd name="connsiteX8" fmla="*/ 8525933 w 8526584"/>
              <a:gd name="connsiteY8" fmla="*/ 12937 h 1302454"/>
              <a:gd name="connsiteX0" fmla="*/ 0 w 8526584"/>
              <a:gd name="connsiteY0" fmla="*/ 148404 h 1319420"/>
              <a:gd name="connsiteX1" fmla="*/ 768195 w 8526584"/>
              <a:gd name="connsiteY1" fmla="*/ 377004 h 1319420"/>
              <a:gd name="connsiteX2" fmla="*/ 1750467 w 8526584"/>
              <a:gd name="connsiteY2" fmla="*/ 1299870 h 1319420"/>
              <a:gd name="connsiteX3" fmla="*/ 3088580 w 8526584"/>
              <a:gd name="connsiteY3" fmla="*/ 944271 h 1319420"/>
              <a:gd name="connsiteX4" fmla="*/ 3928533 w 8526584"/>
              <a:gd name="connsiteY4" fmla="*/ 216137 h 1319420"/>
              <a:gd name="connsiteX5" fmla="*/ 4817532 w 8526584"/>
              <a:gd name="connsiteY5" fmla="*/ 825737 h 1319420"/>
              <a:gd name="connsiteX6" fmla="*/ 6906768 w 8526584"/>
              <a:gd name="connsiteY6" fmla="*/ 55270 h 1319420"/>
              <a:gd name="connsiteX7" fmla="*/ 8100190 w 8526584"/>
              <a:gd name="connsiteY7" fmla="*/ 402404 h 1319420"/>
              <a:gd name="connsiteX8" fmla="*/ 8525933 w 8526584"/>
              <a:gd name="connsiteY8" fmla="*/ 12937 h 1319420"/>
              <a:gd name="connsiteX0" fmla="*/ 0 w 8526191"/>
              <a:gd name="connsiteY0" fmla="*/ 139702 h 1310718"/>
              <a:gd name="connsiteX1" fmla="*/ 768195 w 8526191"/>
              <a:gd name="connsiteY1" fmla="*/ 368302 h 1310718"/>
              <a:gd name="connsiteX2" fmla="*/ 1750467 w 8526191"/>
              <a:gd name="connsiteY2" fmla="*/ 1291168 h 1310718"/>
              <a:gd name="connsiteX3" fmla="*/ 3088580 w 8526191"/>
              <a:gd name="connsiteY3" fmla="*/ 935569 h 1310718"/>
              <a:gd name="connsiteX4" fmla="*/ 3928533 w 8526191"/>
              <a:gd name="connsiteY4" fmla="*/ 207435 h 1310718"/>
              <a:gd name="connsiteX5" fmla="*/ 4817532 w 8526191"/>
              <a:gd name="connsiteY5" fmla="*/ 817035 h 1310718"/>
              <a:gd name="connsiteX6" fmla="*/ 6906768 w 8526191"/>
              <a:gd name="connsiteY6" fmla="*/ 46568 h 1310718"/>
              <a:gd name="connsiteX7" fmla="*/ 7639165 w 8526191"/>
              <a:gd name="connsiteY7" fmla="*/ 833969 h 1310718"/>
              <a:gd name="connsiteX8" fmla="*/ 8525933 w 8526191"/>
              <a:gd name="connsiteY8" fmla="*/ 4235 h 1310718"/>
              <a:gd name="connsiteX0" fmla="*/ 0 w 8526305"/>
              <a:gd name="connsiteY0" fmla="*/ 138725 h 1309741"/>
              <a:gd name="connsiteX1" fmla="*/ 768195 w 8526305"/>
              <a:gd name="connsiteY1" fmla="*/ 367325 h 1309741"/>
              <a:gd name="connsiteX2" fmla="*/ 1750467 w 8526305"/>
              <a:gd name="connsiteY2" fmla="*/ 1290191 h 1309741"/>
              <a:gd name="connsiteX3" fmla="*/ 3088580 w 8526305"/>
              <a:gd name="connsiteY3" fmla="*/ 934592 h 1309741"/>
              <a:gd name="connsiteX4" fmla="*/ 3928533 w 8526305"/>
              <a:gd name="connsiteY4" fmla="*/ 206458 h 1309741"/>
              <a:gd name="connsiteX5" fmla="*/ 4817532 w 8526305"/>
              <a:gd name="connsiteY5" fmla="*/ 816058 h 1309741"/>
              <a:gd name="connsiteX6" fmla="*/ 6906768 w 8526305"/>
              <a:gd name="connsiteY6" fmla="*/ 45591 h 1309741"/>
              <a:gd name="connsiteX7" fmla="*/ 7639165 w 8526305"/>
              <a:gd name="connsiteY7" fmla="*/ 832992 h 1309741"/>
              <a:gd name="connsiteX8" fmla="*/ 8525933 w 8526305"/>
              <a:gd name="connsiteY8" fmla="*/ 3258 h 1309741"/>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906768 w 8526504"/>
              <a:gd name="connsiteY6" fmla="*/ 48028 h 1312178"/>
              <a:gd name="connsiteX7" fmla="*/ 7825193 w 8526504"/>
              <a:gd name="connsiteY7" fmla="*/ 479829 h 1312178"/>
              <a:gd name="connsiteX8" fmla="*/ 8525933 w 8526504"/>
              <a:gd name="connsiteY8" fmla="*/ 5695 h 1312178"/>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858239 w 8526504"/>
              <a:gd name="connsiteY6" fmla="*/ 776161 h 1312178"/>
              <a:gd name="connsiteX7" fmla="*/ 7825193 w 8526504"/>
              <a:gd name="connsiteY7" fmla="*/ 479829 h 1312178"/>
              <a:gd name="connsiteX8" fmla="*/ 8525933 w 8526504"/>
              <a:gd name="connsiteY8" fmla="*/ 5695 h 1312178"/>
              <a:gd name="connsiteX0" fmla="*/ 0 w 8526504"/>
              <a:gd name="connsiteY0" fmla="*/ 141162 h 1403304"/>
              <a:gd name="connsiteX1" fmla="*/ 768195 w 8526504"/>
              <a:gd name="connsiteY1" fmla="*/ 369762 h 1403304"/>
              <a:gd name="connsiteX2" fmla="*/ 1750467 w 8526504"/>
              <a:gd name="connsiteY2" fmla="*/ 1292628 h 1403304"/>
              <a:gd name="connsiteX3" fmla="*/ 3088580 w 8526504"/>
              <a:gd name="connsiteY3" fmla="*/ 937029 h 1403304"/>
              <a:gd name="connsiteX4" fmla="*/ 3920445 w 8526504"/>
              <a:gd name="connsiteY4" fmla="*/ 1402695 h 1403304"/>
              <a:gd name="connsiteX5" fmla="*/ 4817532 w 8526504"/>
              <a:gd name="connsiteY5" fmla="*/ 818495 h 1403304"/>
              <a:gd name="connsiteX6" fmla="*/ 6858239 w 8526504"/>
              <a:gd name="connsiteY6" fmla="*/ 776161 h 1403304"/>
              <a:gd name="connsiteX7" fmla="*/ 7825193 w 8526504"/>
              <a:gd name="connsiteY7" fmla="*/ 479829 h 1403304"/>
              <a:gd name="connsiteX8" fmla="*/ 8525933 w 8526504"/>
              <a:gd name="connsiteY8" fmla="*/ 5695 h 1403304"/>
              <a:gd name="connsiteX0" fmla="*/ 0 w 8526519"/>
              <a:gd name="connsiteY0" fmla="*/ 141162 h 1403304"/>
              <a:gd name="connsiteX1" fmla="*/ 768195 w 8526519"/>
              <a:gd name="connsiteY1" fmla="*/ 369762 h 1403304"/>
              <a:gd name="connsiteX2" fmla="*/ 1750467 w 8526519"/>
              <a:gd name="connsiteY2" fmla="*/ 1292628 h 1403304"/>
              <a:gd name="connsiteX3" fmla="*/ 3088580 w 8526519"/>
              <a:gd name="connsiteY3" fmla="*/ 937029 h 1403304"/>
              <a:gd name="connsiteX4" fmla="*/ 3920445 w 8526519"/>
              <a:gd name="connsiteY4" fmla="*/ 1402695 h 1403304"/>
              <a:gd name="connsiteX5" fmla="*/ 4817532 w 8526519"/>
              <a:gd name="connsiteY5" fmla="*/ 818495 h 1403304"/>
              <a:gd name="connsiteX6" fmla="*/ 6858239 w 8526519"/>
              <a:gd name="connsiteY6" fmla="*/ 776161 h 1403304"/>
              <a:gd name="connsiteX7" fmla="*/ 7833674 w 8526519"/>
              <a:gd name="connsiteY7" fmla="*/ 479829 h 1403304"/>
              <a:gd name="connsiteX8" fmla="*/ 8525933 w 8526519"/>
              <a:gd name="connsiteY8" fmla="*/ 5695 h 1403304"/>
              <a:gd name="connsiteX0" fmla="*/ 0 w 8526583"/>
              <a:gd name="connsiteY0" fmla="*/ 139934 h 1402076"/>
              <a:gd name="connsiteX1" fmla="*/ 768195 w 8526583"/>
              <a:gd name="connsiteY1" fmla="*/ 368534 h 1402076"/>
              <a:gd name="connsiteX2" fmla="*/ 1750467 w 8526583"/>
              <a:gd name="connsiteY2" fmla="*/ 1291400 h 1402076"/>
              <a:gd name="connsiteX3" fmla="*/ 3088580 w 8526583"/>
              <a:gd name="connsiteY3" fmla="*/ 935801 h 1402076"/>
              <a:gd name="connsiteX4" fmla="*/ 3920445 w 8526583"/>
              <a:gd name="connsiteY4" fmla="*/ 1401467 h 1402076"/>
              <a:gd name="connsiteX5" fmla="*/ 4817532 w 8526583"/>
              <a:gd name="connsiteY5" fmla="*/ 817267 h 1402076"/>
              <a:gd name="connsiteX6" fmla="*/ 6858239 w 8526583"/>
              <a:gd name="connsiteY6" fmla="*/ 774933 h 1402076"/>
              <a:gd name="connsiteX7" fmla="*/ 7833674 w 8526583"/>
              <a:gd name="connsiteY7" fmla="*/ 478601 h 1402076"/>
              <a:gd name="connsiteX8" fmla="*/ 8525933 w 8526583"/>
              <a:gd name="connsiteY8" fmla="*/ 4467 h 1402076"/>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858239 w 8526097"/>
              <a:gd name="connsiteY6" fmla="*/ 772138 h 1399281"/>
              <a:gd name="connsiteX7" fmla="*/ 7053442 w 8526097"/>
              <a:gd name="connsiteY7" fmla="*/ 1177142 h 1399281"/>
              <a:gd name="connsiteX8" fmla="*/ 8525933 w 8526097"/>
              <a:gd name="connsiteY8" fmla="*/ 1672 h 1399281"/>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298507 w 8526097"/>
              <a:gd name="connsiteY6" fmla="*/ 789894 h 1399281"/>
              <a:gd name="connsiteX7" fmla="*/ 7053442 w 8526097"/>
              <a:gd name="connsiteY7" fmla="*/ 1177142 h 1399281"/>
              <a:gd name="connsiteX8" fmla="*/ 8525933 w 8526097"/>
              <a:gd name="connsiteY8" fmla="*/ 1672 h 1399281"/>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5832064 w 8526149"/>
              <a:gd name="connsiteY6" fmla="*/ 541632 h 1399594"/>
              <a:gd name="connsiteX7" fmla="*/ 7053442 w 8526149"/>
              <a:gd name="connsiteY7" fmla="*/ 1177455 h 1399594"/>
              <a:gd name="connsiteX8" fmla="*/ 8525933 w 8526149"/>
              <a:gd name="connsiteY8" fmla="*/ 1985 h 1399594"/>
              <a:gd name="connsiteX0" fmla="*/ 0 w 7757954"/>
              <a:gd name="connsiteY0" fmla="*/ 366052 h 1399594"/>
              <a:gd name="connsiteX1" fmla="*/ 982272 w 7757954"/>
              <a:gd name="connsiteY1" fmla="*/ 1288918 h 1399594"/>
              <a:gd name="connsiteX2" fmla="*/ 2320385 w 7757954"/>
              <a:gd name="connsiteY2" fmla="*/ 933319 h 1399594"/>
              <a:gd name="connsiteX3" fmla="*/ 3152250 w 7757954"/>
              <a:gd name="connsiteY3" fmla="*/ 1398985 h 1399594"/>
              <a:gd name="connsiteX4" fmla="*/ 4049337 w 7757954"/>
              <a:gd name="connsiteY4" fmla="*/ 814785 h 1399594"/>
              <a:gd name="connsiteX5" fmla="*/ 5063869 w 7757954"/>
              <a:gd name="connsiteY5" fmla="*/ 541632 h 1399594"/>
              <a:gd name="connsiteX6" fmla="*/ 6285247 w 7757954"/>
              <a:gd name="connsiteY6" fmla="*/ 1177455 h 1399594"/>
              <a:gd name="connsiteX7" fmla="*/ 7757738 w 7757954"/>
              <a:gd name="connsiteY7" fmla="*/ 1985 h 139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7954" h="1399594">
                <a:moveTo>
                  <a:pt x="0" y="366052"/>
                </a:moveTo>
                <a:cubicBezTo>
                  <a:pt x="291745" y="557963"/>
                  <a:pt x="595541" y="1194374"/>
                  <a:pt x="982272" y="1288918"/>
                </a:cubicBezTo>
                <a:cubicBezTo>
                  <a:pt x="1369003" y="1383463"/>
                  <a:pt x="1958722" y="914975"/>
                  <a:pt x="2320385" y="933319"/>
                </a:cubicBezTo>
                <a:cubicBezTo>
                  <a:pt x="2682048" y="951664"/>
                  <a:pt x="2864091" y="1418741"/>
                  <a:pt x="3152250" y="1398985"/>
                </a:cubicBezTo>
                <a:cubicBezTo>
                  <a:pt x="3440409" y="1379229"/>
                  <a:pt x="3730734" y="957677"/>
                  <a:pt x="4049337" y="814785"/>
                </a:cubicBezTo>
                <a:cubicBezTo>
                  <a:pt x="4367940" y="671893"/>
                  <a:pt x="4691217" y="481187"/>
                  <a:pt x="5063869" y="541632"/>
                </a:cubicBezTo>
                <a:cubicBezTo>
                  <a:pt x="5436521" y="602077"/>
                  <a:pt x="5851726" y="1130245"/>
                  <a:pt x="6285247" y="1177455"/>
                </a:cubicBezTo>
                <a:cubicBezTo>
                  <a:pt x="6874334" y="1260874"/>
                  <a:pt x="7773966" y="-57987"/>
                  <a:pt x="7757738" y="1985"/>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8F11F0-CD68-B68F-145C-42747F6BA3CB}"/>
              </a:ext>
            </a:extLst>
          </p:cNvPr>
          <p:cNvSpPr>
            <a:spLocks noChangeAspect="1"/>
          </p:cNvSpPr>
          <p:nvPr/>
        </p:nvSpPr>
        <p:spPr>
          <a:xfrm>
            <a:off x="7002037" y="1009122"/>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BC2B4CC-1274-7B5E-9B1C-D914D507A56F}"/>
              </a:ext>
            </a:extLst>
          </p:cNvPr>
          <p:cNvSpPr>
            <a:spLocks noChangeAspect="1"/>
          </p:cNvSpPr>
          <p:nvPr/>
        </p:nvSpPr>
        <p:spPr>
          <a:xfrm>
            <a:off x="7002037" y="4970024"/>
            <a:ext cx="182880" cy="1828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9427490-B6E9-7801-97EB-47C4A21F9FE6}"/>
              </a:ext>
            </a:extLst>
          </p:cNvPr>
          <p:cNvSpPr/>
          <p:nvPr/>
        </p:nvSpPr>
        <p:spPr>
          <a:xfrm>
            <a:off x="2457264" y="52433"/>
            <a:ext cx="3284810" cy="523220"/>
          </a:xfrm>
          <a:prstGeom prst="rect">
            <a:avLst/>
          </a:prstGeom>
          <a:solidFill>
            <a:srgbClr val="7030A0"/>
          </a:solidFill>
        </p:spPr>
        <p:txBody>
          <a:bodyPr wrap="none">
            <a:spAutoFit/>
          </a:bodyPr>
          <a:lstStyle/>
          <a:p>
            <a:pPr algn="ctr"/>
            <a:r>
              <a:rPr lang="en-US" sz="2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Model of Nature</a:t>
            </a:r>
            <a:endParaRPr lang="en-US" sz="2800" b="1" baseline="30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 name="Straight Arrow Connector 2">
            <a:extLst>
              <a:ext uri="{FF2B5EF4-FFF2-40B4-BE49-F238E27FC236}">
                <a16:creationId xmlns:a16="http://schemas.microsoft.com/office/drawing/2014/main" id="{EB763B1F-F575-913F-DB72-76ED511A0D0B}"/>
              </a:ext>
            </a:extLst>
          </p:cNvPr>
          <p:cNvCxnSpPr>
            <a:cxnSpLocks/>
          </p:cNvCxnSpPr>
          <p:nvPr/>
        </p:nvCxnSpPr>
        <p:spPr>
          <a:xfrm>
            <a:off x="0" y="6297400"/>
            <a:ext cx="12192000" cy="0"/>
          </a:xfrm>
          <a:prstGeom prst="straightConnector1">
            <a:avLst/>
          </a:prstGeom>
          <a:ln w="38100">
            <a:solidFill>
              <a:schemeClr val="bg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90A4078-7CAB-D43F-FE11-DE676579B333}"/>
              </a:ext>
            </a:extLst>
          </p:cNvPr>
          <p:cNvCxnSpPr>
            <a:cxnSpLocks/>
          </p:cNvCxnSpPr>
          <p:nvPr/>
        </p:nvCxnSpPr>
        <p:spPr>
          <a:xfrm flipV="1">
            <a:off x="1249796" y="21500"/>
            <a:ext cx="0" cy="6836500"/>
          </a:xfrm>
          <a:prstGeom prst="straightConnector1">
            <a:avLst/>
          </a:prstGeom>
          <a:ln w="38100">
            <a:solidFill>
              <a:schemeClr val="bg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3EE6640-E2D5-2697-152F-1AC92ACF6299}"/>
              </a:ext>
            </a:extLst>
          </p:cNvPr>
          <p:cNvSpPr txBox="1"/>
          <p:nvPr/>
        </p:nvSpPr>
        <p:spPr>
          <a:xfrm>
            <a:off x="2050550" y="6388664"/>
            <a:ext cx="4098238" cy="4374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Linear Forward Moving Time</a:t>
            </a:r>
          </a:p>
        </p:txBody>
      </p:sp>
      <p:sp>
        <p:nvSpPr>
          <p:cNvPr id="8" name="TextBox 7">
            <a:extLst>
              <a:ext uri="{FF2B5EF4-FFF2-40B4-BE49-F238E27FC236}">
                <a16:creationId xmlns:a16="http://schemas.microsoft.com/office/drawing/2014/main" id="{C7F4CB60-409A-DA93-8D6D-DBB74A32F30C}"/>
              </a:ext>
            </a:extLst>
          </p:cNvPr>
          <p:cNvSpPr txBox="1"/>
          <p:nvPr/>
        </p:nvSpPr>
        <p:spPr>
          <a:xfrm>
            <a:off x="-20471" y="24"/>
            <a:ext cx="1191352" cy="109356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sp>
        <p:nvSpPr>
          <p:cNvPr id="17" name="TextBox 16">
            <a:extLst>
              <a:ext uri="{FF2B5EF4-FFF2-40B4-BE49-F238E27FC236}">
                <a16:creationId xmlns:a16="http://schemas.microsoft.com/office/drawing/2014/main" id="{F4E68F9E-0E13-E904-E4B5-DEC42C339288}"/>
              </a:ext>
            </a:extLst>
          </p:cNvPr>
          <p:cNvSpPr txBox="1"/>
          <p:nvPr/>
        </p:nvSpPr>
        <p:spPr>
          <a:xfrm>
            <a:off x="6187636" y="5392688"/>
            <a:ext cx="8851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 = </a:t>
            </a:r>
            <a:r>
              <a:rPr lang="en-US"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a:t>
            </a:r>
            <a:r>
              <a:rPr lang="en-US" baseline="-25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now</a:t>
            </a:r>
            <a:endParaRPr kumimoji="0" lang="en-US" sz="1800" b="0" i="0" u="none" strike="noStrike" kern="1200" cap="none" spc="0" normalizeH="0" baseline="-25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1" name="Freeform 30">
            <a:extLst>
              <a:ext uri="{FF2B5EF4-FFF2-40B4-BE49-F238E27FC236}">
                <a16:creationId xmlns:a16="http://schemas.microsoft.com/office/drawing/2014/main" id="{EBDD718E-B038-498A-81E1-4720CA22C4E4}"/>
              </a:ext>
            </a:extLst>
          </p:cNvPr>
          <p:cNvSpPr/>
          <p:nvPr/>
        </p:nvSpPr>
        <p:spPr>
          <a:xfrm>
            <a:off x="-6152" y="3658724"/>
            <a:ext cx="7089097" cy="1153222"/>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7807396"/>
              <a:gd name="connsiteY0" fmla="*/ 654473 h 3128935"/>
              <a:gd name="connsiteX1" fmla="*/ 804333 w 7807396"/>
              <a:gd name="connsiteY1" fmla="*/ 2584873 h 3128935"/>
              <a:gd name="connsiteX2" fmla="*/ 1464733 w 7807396"/>
              <a:gd name="connsiteY2" fmla="*/ 121072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807396"/>
              <a:gd name="connsiteY0" fmla="*/ 654473 h 3128935"/>
              <a:gd name="connsiteX1" fmla="*/ 804333 w 7807396"/>
              <a:gd name="connsiteY1" fmla="*/ 2584873 h 3128935"/>
              <a:gd name="connsiteX2" fmla="*/ 1507976 w 7807396"/>
              <a:gd name="connsiteY2" fmla="*/ 1370450 h 3128935"/>
              <a:gd name="connsiteX3" fmla="*/ 2150533 w 7807396"/>
              <a:gd name="connsiteY3" fmla="*/ 1712807 h 3128935"/>
              <a:gd name="connsiteX4" fmla="*/ 3208867 w 7807396"/>
              <a:gd name="connsiteY4" fmla="*/ 1289473 h 3128935"/>
              <a:gd name="connsiteX5" fmla="*/ 3674458 w 7807396"/>
              <a:gd name="connsiteY5" fmla="*/ 2476967 h 3128935"/>
              <a:gd name="connsiteX6" fmla="*/ 4097866 w 7807396"/>
              <a:gd name="connsiteY6" fmla="*/ 1899073 h 3128935"/>
              <a:gd name="connsiteX7" fmla="*/ 4969934 w 7807396"/>
              <a:gd name="connsiteY7" fmla="*/ 3118273 h 3128935"/>
              <a:gd name="connsiteX8" fmla="*/ 6324600 w 7807396"/>
              <a:gd name="connsiteY8" fmla="*/ 1069339 h 3128935"/>
              <a:gd name="connsiteX9" fmla="*/ 6900334 w 7807396"/>
              <a:gd name="connsiteY9" fmla="*/ 2872740 h 3128935"/>
              <a:gd name="connsiteX10" fmla="*/ 7509934 w 7807396"/>
              <a:gd name="connsiteY10" fmla="*/ 44873 h 3128935"/>
              <a:gd name="connsiteX11" fmla="*/ 7806267 w 7807396"/>
              <a:gd name="connsiteY11" fmla="*/ 1086273 h 3128935"/>
              <a:gd name="connsiteX0" fmla="*/ 0 w 7764153"/>
              <a:gd name="connsiteY0" fmla="*/ 1360644 h 3128935"/>
              <a:gd name="connsiteX1" fmla="*/ 761090 w 7764153"/>
              <a:gd name="connsiteY1" fmla="*/ 2584873 h 3128935"/>
              <a:gd name="connsiteX2" fmla="*/ 1464733 w 7764153"/>
              <a:gd name="connsiteY2" fmla="*/ 1370450 h 3128935"/>
              <a:gd name="connsiteX3" fmla="*/ 2107290 w 7764153"/>
              <a:gd name="connsiteY3" fmla="*/ 1712807 h 3128935"/>
              <a:gd name="connsiteX4" fmla="*/ 3165624 w 7764153"/>
              <a:gd name="connsiteY4" fmla="*/ 1289473 h 3128935"/>
              <a:gd name="connsiteX5" fmla="*/ 3631215 w 7764153"/>
              <a:gd name="connsiteY5" fmla="*/ 2476967 h 3128935"/>
              <a:gd name="connsiteX6" fmla="*/ 4054623 w 7764153"/>
              <a:gd name="connsiteY6" fmla="*/ 1899073 h 3128935"/>
              <a:gd name="connsiteX7" fmla="*/ 4926691 w 7764153"/>
              <a:gd name="connsiteY7" fmla="*/ 3118273 h 3128935"/>
              <a:gd name="connsiteX8" fmla="*/ 6281357 w 7764153"/>
              <a:gd name="connsiteY8" fmla="*/ 1069339 h 3128935"/>
              <a:gd name="connsiteX9" fmla="*/ 6857091 w 7764153"/>
              <a:gd name="connsiteY9" fmla="*/ 2872740 h 3128935"/>
              <a:gd name="connsiteX10" fmla="*/ 7466691 w 7764153"/>
              <a:gd name="connsiteY10" fmla="*/ 44873 h 3128935"/>
              <a:gd name="connsiteX11" fmla="*/ 7763024 w 7764153"/>
              <a:gd name="connsiteY11" fmla="*/ 1086273 h 3128935"/>
              <a:gd name="connsiteX0" fmla="*/ 0 w 7764153"/>
              <a:gd name="connsiteY0" fmla="*/ 1360644 h 2883635"/>
              <a:gd name="connsiteX1" fmla="*/ 761090 w 7764153"/>
              <a:gd name="connsiteY1" fmla="*/ 2584873 h 2883635"/>
              <a:gd name="connsiteX2" fmla="*/ 1464733 w 7764153"/>
              <a:gd name="connsiteY2" fmla="*/ 1370450 h 2883635"/>
              <a:gd name="connsiteX3" fmla="*/ 2107290 w 7764153"/>
              <a:gd name="connsiteY3" fmla="*/ 1712807 h 2883635"/>
              <a:gd name="connsiteX4" fmla="*/ 3165624 w 7764153"/>
              <a:gd name="connsiteY4" fmla="*/ 1289473 h 2883635"/>
              <a:gd name="connsiteX5" fmla="*/ 3631215 w 7764153"/>
              <a:gd name="connsiteY5" fmla="*/ 2476967 h 2883635"/>
              <a:gd name="connsiteX6" fmla="*/ 4054623 w 7764153"/>
              <a:gd name="connsiteY6" fmla="*/ 1899073 h 2883635"/>
              <a:gd name="connsiteX7" fmla="*/ 4969935 w 7764153"/>
              <a:gd name="connsiteY7" fmla="*/ 2375889 h 2883635"/>
              <a:gd name="connsiteX8" fmla="*/ 6281357 w 7764153"/>
              <a:gd name="connsiteY8" fmla="*/ 1069339 h 2883635"/>
              <a:gd name="connsiteX9" fmla="*/ 6857091 w 7764153"/>
              <a:gd name="connsiteY9" fmla="*/ 2872740 h 2883635"/>
              <a:gd name="connsiteX10" fmla="*/ 7466691 w 7764153"/>
              <a:gd name="connsiteY10" fmla="*/ 44873 h 2883635"/>
              <a:gd name="connsiteX11" fmla="*/ 7763024 w 7764153"/>
              <a:gd name="connsiteY11" fmla="*/ 1086273 h 2883635"/>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631215 w 7764153"/>
              <a:gd name="connsiteY5" fmla="*/ 182737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 name="connsiteX0" fmla="*/ 0 w 7764153"/>
              <a:gd name="connsiteY0" fmla="*/ 711054 h 2224449"/>
              <a:gd name="connsiteX1" fmla="*/ 761090 w 7764153"/>
              <a:gd name="connsiteY1" fmla="*/ 1935283 h 2224449"/>
              <a:gd name="connsiteX2" fmla="*/ 1464733 w 7764153"/>
              <a:gd name="connsiteY2" fmla="*/ 720860 h 2224449"/>
              <a:gd name="connsiteX3" fmla="*/ 2107290 w 7764153"/>
              <a:gd name="connsiteY3" fmla="*/ 1063217 h 2224449"/>
              <a:gd name="connsiteX4" fmla="*/ 3165624 w 7764153"/>
              <a:gd name="connsiteY4" fmla="*/ 639883 h 2224449"/>
              <a:gd name="connsiteX5" fmla="*/ 3562026 w 7764153"/>
              <a:gd name="connsiteY5" fmla="*/ 1410917 h 2224449"/>
              <a:gd name="connsiteX6" fmla="*/ 4054623 w 7764153"/>
              <a:gd name="connsiteY6" fmla="*/ 1249483 h 2224449"/>
              <a:gd name="connsiteX7" fmla="*/ 4969935 w 7764153"/>
              <a:gd name="connsiteY7" fmla="*/ 1726299 h 2224449"/>
              <a:gd name="connsiteX8" fmla="*/ 6281357 w 7764153"/>
              <a:gd name="connsiteY8" fmla="*/ 419749 h 2224449"/>
              <a:gd name="connsiteX9" fmla="*/ 6857091 w 7764153"/>
              <a:gd name="connsiteY9" fmla="*/ 2223150 h 2224449"/>
              <a:gd name="connsiteX10" fmla="*/ 7466692 w 7764153"/>
              <a:gd name="connsiteY10" fmla="*/ 83346 h 2224449"/>
              <a:gd name="connsiteX11" fmla="*/ 7763024 w 7764153"/>
              <a:gd name="connsiteY11" fmla="*/ 436683 h 2224449"/>
              <a:gd name="connsiteX0" fmla="*/ 0 w 7764153"/>
              <a:gd name="connsiteY0" fmla="*/ 711054 h 2263997"/>
              <a:gd name="connsiteX1" fmla="*/ 761090 w 7764153"/>
              <a:gd name="connsiteY1" fmla="*/ 1935283 h 2263997"/>
              <a:gd name="connsiteX2" fmla="*/ 1464733 w 7764153"/>
              <a:gd name="connsiteY2" fmla="*/ 720860 h 2263997"/>
              <a:gd name="connsiteX3" fmla="*/ 2107290 w 7764153"/>
              <a:gd name="connsiteY3" fmla="*/ 1063217 h 2263997"/>
              <a:gd name="connsiteX4" fmla="*/ 3165624 w 7764153"/>
              <a:gd name="connsiteY4" fmla="*/ 639883 h 2263997"/>
              <a:gd name="connsiteX5" fmla="*/ 3562026 w 7764153"/>
              <a:gd name="connsiteY5" fmla="*/ 1410917 h 2263997"/>
              <a:gd name="connsiteX6" fmla="*/ 4054623 w 7764153"/>
              <a:gd name="connsiteY6" fmla="*/ 1249483 h 2263997"/>
              <a:gd name="connsiteX7" fmla="*/ 4969935 w 7764153"/>
              <a:gd name="connsiteY7" fmla="*/ 1726299 h 2263997"/>
              <a:gd name="connsiteX8" fmla="*/ 6209182 w 7764153"/>
              <a:gd name="connsiteY8" fmla="*/ 1507144 h 2263997"/>
              <a:gd name="connsiteX9" fmla="*/ 6857091 w 7764153"/>
              <a:gd name="connsiteY9" fmla="*/ 2223150 h 2263997"/>
              <a:gd name="connsiteX10" fmla="*/ 7466692 w 7764153"/>
              <a:gd name="connsiteY10" fmla="*/ 83346 h 2263997"/>
              <a:gd name="connsiteX11" fmla="*/ 7763024 w 7764153"/>
              <a:gd name="connsiteY11" fmla="*/ 436683 h 2263997"/>
              <a:gd name="connsiteX0" fmla="*/ 0 w 7764153"/>
              <a:gd name="connsiteY0" fmla="*/ 711054 h 1935284"/>
              <a:gd name="connsiteX1" fmla="*/ 761090 w 7764153"/>
              <a:gd name="connsiteY1" fmla="*/ 1935283 h 1935284"/>
              <a:gd name="connsiteX2" fmla="*/ 1464733 w 7764153"/>
              <a:gd name="connsiteY2" fmla="*/ 720860 h 1935284"/>
              <a:gd name="connsiteX3" fmla="*/ 2107290 w 7764153"/>
              <a:gd name="connsiteY3" fmla="*/ 1063217 h 1935284"/>
              <a:gd name="connsiteX4" fmla="*/ 3165624 w 7764153"/>
              <a:gd name="connsiteY4" fmla="*/ 639883 h 1935284"/>
              <a:gd name="connsiteX5" fmla="*/ 3562026 w 7764153"/>
              <a:gd name="connsiteY5" fmla="*/ 1410917 h 1935284"/>
              <a:gd name="connsiteX6" fmla="*/ 4054623 w 7764153"/>
              <a:gd name="connsiteY6" fmla="*/ 1249483 h 1935284"/>
              <a:gd name="connsiteX7" fmla="*/ 4969935 w 7764153"/>
              <a:gd name="connsiteY7" fmla="*/ 1726299 h 1935284"/>
              <a:gd name="connsiteX8" fmla="*/ 6209182 w 7764153"/>
              <a:gd name="connsiteY8" fmla="*/ 1507144 h 1935284"/>
              <a:gd name="connsiteX9" fmla="*/ 6622518 w 7764153"/>
              <a:gd name="connsiteY9" fmla="*/ 855669 h 1935284"/>
              <a:gd name="connsiteX10" fmla="*/ 7466692 w 7764153"/>
              <a:gd name="connsiteY10" fmla="*/ 83346 h 1935284"/>
              <a:gd name="connsiteX11" fmla="*/ 7763024 w 7764153"/>
              <a:gd name="connsiteY11" fmla="*/ 436683 h 1935284"/>
              <a:gd name="connsiteX0" fmla="*/ 0 w 7763962"/>
              <a:gd name="connsiteY0" fmla="*/ 293357 h 1517587"/>
              <a:gd name="connsiteX1" fmla="*/ 761090 w 7763962"/>
              <a:gd name="connsiteY1" fmla="*/ 1517586 h 1517587"/>
              <a:gd name="connsiteX2" fmla="*/ 1464733 w 7763962"/>
              <a:gd name="connsiteY2" fmla="*/ 303163 h 1517587"/>
              <a:gd name="connsiteX3" fmla="*/ 2107290 w 7763962"/>
              <a:gd name="connsiteY3" fmla="*/ 645520 h 1517587"/>
              <a:gd name="connsiteX4" fmla="*/ 3165624 w 7763962"/>
              <a:gd name="connsiteY4" fmla="*/ 222186 h 1517587"/>
              <a:gd name="connsiteX5" fmla="*/ 3562026 w 7763962"/>
              <a:gd name="connsiteY5" fmla="*/ 993220 h 1517587"/>
              <a:gd name="connsiteX6" fmla="*/ 4054623 w 7763962"/>
              <a:gd name="connsiteY6" fmla="*/ 831786 h 1517587"/>
              <a:gd name="connsiteX7" fmla="*/ 4969935 w 7763962"/>
              <a:gd name="connsiteY7" fmla="*/ 1308602 h 1517587"/>
              <a:gd name="connsiteX8" fmla="*/ 6209182 w 7763962"/>
              <a:gd name="connsiteY8" fmla="*/ 1089447 h 1517587"/>
              <a:gd name="connsiteX9" fmla="*/ 6622518 w 7763962"/>
              <a:gd name="connsiteY9" fmla="*/ 437972 h 1517587"/>
              <a:gd name="connsiteX10" fmla="*/ 7430603 w 7763962"/>
              <a:gd name="connsiteY10" fmla="*/ 332914 h 1517587"/>
              <a:gd name="connsiteX11" fmla="*/ 7763024 w 7763962"/>
              <a:gd name="connsiteY11" fmla="*/ 18986 h 1517587"/>
              <a:gd name="connsiteX0" fmla="*/ 0 w 7763962"/>
              <a:gd name="connsiteY0" fmla="*/ 293357 h 1517587"/>
              <a:gd name="connsiteX1" fmla="*/ 761090 w 7763962"/>
              <a:gd name="connsiteY1" fmla="*/ 1517586 h 1517587"/>
              <a:gd name="connsiteX2" fmla="*/ 1464733 w 7763962"/>
              <a:gd name="connsiteY2" fmla="*/ 303163 h 1517587"/>
              <a:gd name="connsiteX3" fmla="*/ 2107290 w 7763962"/>
              <a:gd name="connsiteY3" fmla="*/ 645520 h 1517587"/>
              <a:gd name="connsiteX4" fmla="*/ 3165624 w 7763962"/>
              <a:gd name="connsiteY4" fmla="*/ 222186 h 1517587"/>
              <a:gd name="connsiteX5" fmla="*/ 3562026 w 7763962"/>
              <a:gd name="connsiteY5" fmla="*/ 993220 h 1517587"/>
              <a:gd name="connsiteX6" fmla="*/ 4054623 w 7763962"/>
              <a:gd name="connsiteY6" fmla="*/ 831786 h 1517587"/>
              <a:gd name="connsiteX7" fmla="*/ 4969935 w 7763962"/>
              <a:gd name="connsiteY7" fmla="*/ 1308602 h 1517587"/>
              <a:gd name="connsiteX8" fmla="*/ 6046785 w 7763962"/>
              <a:gd name="connsiteY8" fmla="*/ 998831 h 1517587"/>
              <a:gd name="connsiteX9" fmla="*/ 6622518 w 7763962"/>
              <a:gd name="connsiteY9" fmla="*/ 437972 h 1517587"/>
              <a:gd name="connsiteX10" fmla="*/ 7430603 w 7763962"/>
              <a:gd name="connsiteY10" fmla="*/ 332914 h 1517587"/>
              <a:gd name="connsiteX11" fmla="*/ 7763024 w 7763962"/>
              <a:gd name="connsiteY11" fmla="*/ 18986 h 1517587"/>
              <a:gd name="connsiteX0" fmla="*/ 0 w 7763962"/>
              <a:gd name="connsiteY0" fmla="*/ 293357 h 1517587"/>
              <a:gd name="connsiteX1" fmla="*/ 761090 w 7763962"/>
              <a:gd name="connsiteY1" fmla="*/ 1517586 h 1517587"/>
              <a:gd name="connsiteX2" fmla="*/ 1464733 w 7763962"/>
              <a:gd name="connsiteY2" fmla="*/ 303163 h 1517587"/>
              <a:gd name="connsiteX3" fmla="*/ 2107290 w 7763962"/>
              <a:gd name="connsiteY3" fmla="*/ 645520 h 1517587"/>
              <a:gd name="connsiteX4" fmla="*/ 3165624 w 7763962"/>
              <a:gd name="connsiteY4" fmla="*/ 222186 h 1517587"/>
              <a:gd name="connsiteX5" fmla="*/ 3562026 w 7763962"/>
              <a:gd name="connsiteY5" fmla="*/ 993220 h 1517587"/>
              <a:gd name="connsiteX6" fmla="*/ 4054623 w 7763962"/>
              <a:gd name="connsiteY6" fmla="*/ 831786 h 1517587"/>
              <a:gd name="connsiteX7" fmla="*/ 5312774 w 7763962"/>
              <a:gd name="connsiteY7" fmla="*/ 715478 h 1517587"/>
              <a:gd name="connsiteX8" fmla="*/ 6046785 w 7763962"/>
              <a:gd name="connsiteY8" fmla="*/ 998831 h 1517587"/>
              <a:gd name="connsiteX9" fmla="*/ 6622518 w 7763962"/>
              <a:gd name="connsiteY9" fmla="*/ 437972 h 1517587"/>
              <a:gd name="connsiteX10" fmla="*/ 7430603 w 7763962"/>
              <a:gd name="connsiteY10" fmla="*/ 332914 h 1517587"/>
              <a:gd name="connsiteX11" fmla="*/ 7763024 w 7763962"/>
              <a:gd name="connsiteY11" fmla="*/ 18986 h 1517587"/>
              <a:gd name="connsiteX0" fmla="*/ 0 w 7763962"/>
              <a:gd name="connsiteY0" fmla="*/ 293357 h 1517587"/>
              <a:gd name="connsiteX1" fmla="*/ 761090 w 7763962"/>
              <a:gd name="connsiteY1" fmla="*/ 1517586 h 1517587"/>
              <a:gd name="connsiteX2" fmla="*/ 1464733 w 7763962"/>
              <a:gd name="connsiteY2" fmla="*/ 303163 h 1517587"/>
              <a:gd name="connsiteX3" fmla="*/ 2107290 w 7763962"/>
              <a:gd name="connsiteY3" fmla="*/ 645520 h 1517587"/>
              <a:gd name="connsiteX4" fmla="*/ 3165624 w 7763962"/>
              <a:gd name="connsiteY4" fmla="*/ 222186 h 1517587"/>
              <a:gd name="connsiteX5" fmla="*/ 3562026 w 7763962"/>
              <a:gd name="connsiteY5" fmla="*/ 993220 h 1517587"/>
              <a:gd name="connsiteX6" fmla="*/ 4514748 w 7763962"/>
              <a:gd name="connsiteY6" fmla="*/ 922402 h 1517587"/>
              <a:gd name="connsiteX7" fmla="*/ 5312774 w 7763962"/>
              <a:gd name="connsiteY7" fmla="*/ 715478 h 1517587"/>
              <a:gd name="connsiteX8" fmla="*/ 6046785 w 7763962"/>
              <a:gd name="connsiteY8" fmla="*/ 998831 h 1517587"/>
              <a:gd name="connsiteX9" fmla="*/ 6622518 w 7763962"/>
              <a:gd name="connsiteY9" fmla="*/ 437972 h 1517587"/>
              <a:gd name="connsiteX10" fmla="*/ 7430603 w 7763962"/>
              <a:gd name="connsiteY10" fmla="*/ 332914 h 1517587"/>
              <a:gd name="connsiteX11" fmla="*/ 7763024 w 7763962"/>
              <a:gd name="connsiteY11" fmla="*/ 18986 h 1517587"/>
              <a:gd name="connsiteX0" fmla="*/ 0 w 7763962"/>
              <a:gd name="connsiteY0" fmla="*/ 293357 h 1517587"/>
              <a:gd name="connsiteX1" fmla="*/ 761090 w 7763962"/>
              <a:gd name="connsiteY1" fmla="*/ 1517586 h 1517587"/>
              <a:gd name="connsiteX2" fmla="*/ 1464733 w 7763962"/>
              <a:gd name="connsiteY2" fmla="*/ 303163 h 1517587"/>
              <a:gd name="connsiteX3" fmla="*/ 2107290 w 7763962"/>
              <a:gd name="connsiteY3" fmla="*/ 645520 h 1517587"/>
              <a:gd name="connsiteX4" fmla="*/ 2849852 w 7763962"/>
              <a:gd name="connsiteY4" fmla="*/ 1153062 h 1517587"/>
              <a:gd name="connsiteX5" fmla="*/ 3562026 w 7763962"/>
              <a:gd name="connsiteY5" fmla="*/ 993220 h 1517587"/>
              <a:gd name="connsiteX6" fmla="*/ 4514748 w 7763962"/>
              <a:gd name="connsiteY6" fmla="*/ 922402 h 1517587"/>
              <a:gd name="connsiteX7" fmla="*/ 5312774 w 7763962"/>
              <a:gd name="connsiteY7" fmla="*/ 715478 h 1517587"/>
              <a:gd name="connsiteX8" fmla="*/ 6046785 w 7763962"/>
              <a:gd name="connsiteY8" fmla="*/ 998831 h 1517587"/>
              <a:gd name="connsiteX9" fmla="*/ 6622518 w 7763962"/>
              <a:gd name="connsiteY9" fmla="*/ 437972 h 1517587"/>
              <a:gd name="connsiteX10" fmla="*/ 7430603 w 7763962"/>
              <a:gd name="connsiteY10" fmla="*/ 332914 h 1517587"/>
              <a:gd name="connsiteX11" fmla="*/ 7763024 w 7763962"/>
              <a:gd name="connsiteY11" fmla="*/ 18986 h 1517587"/>
              <a:gd name="connsiteX0" fmla="*/ 0 w 7763962"/>
              <a:gd name="connsiteY0" fmla="*/ 293357 h 1517587"/>
              <a:gd name="connsiteX1" fmla="*/ 761090 w 7763962"/>
              <a:gd name="connsiteY1" fmla="*/ 1517586 h 1517587"/>
              <a:gd name="connsiteX2" fmla="*/ 1464733 w 7763962"/>
              <a:gd name="connsiteY2" fmla="*/ 303163 h 1517587"/>
              <a:gd name="connsiteX3" fmla="*/ 2332842 w 7763962"/>
              <a:gd name="connsiteY3" fmla="*/ 579617 h 1517587"/>
              <a:gd name="connsiteX4" fmla="*/ 2849852 w 7763962"/>
              <a:gd name="connsiteY4" fmla="*/ 1153062 h 1517587"/>
              <a:gd name="connsiteX5" fmla="*/ 3562026 w 7763962"/>
              <a:gd name="connsiteY5" fmla="*/ 993220 h 1517587"/>
              <a:gd name="connsiteX6" fmla="*/ 4514748 w 7763962"/>
              <a:gd name="connsiteY6" fmla="*/ 922402 h 1517587"/>
              <a:gd name="connsiteX7" fmla="*/ 5312774 w 7763962"/>
              <a:gd name="connsiteY7" fmla="*/ 715478 h 1517587"/>
              <a:gd name="connsiteX8" fmla="*/ 6046785 w 7763962"/>
              <a:gd name="connsiteY8" fmla="*/ 998831 h 1517587"/>
              <a:gd name="connsiteX9" fmla="*/ 6622518 w 7763962"/>
              <a:gd name="connsiteY9" fmla="*/ 437972 h 1517587"/>
              <a:gd name="connsiteX10" fmla="*/ 7430603 w 7763962"/>
              <a:gd name="connsiteY10" fmla="*/ 332914 h 1517587"/>
              <a:gd name="connsiteX11" fmla="*/ 7763024 w 7763962"/>
              <a:gd name="connsiteY11" fmla="*/ 18986 h 1517587"/>
              <a:gd name="connsiteX0" fmla="*/ 0 w 7763962"/>
              <a:gd name="connsiteY0" fmla="*/ 293357 h 1543063"/>
              <a:gd name="connsiteX1" fmla="*/ 761090 w 7763962"/>
              <a:gd name="connsiteY1" fmla="*/ 1517586 h 1543063"/>
              <a:gd name="connsiteX2" fmla="*/ 1825503 w 7763962"/>
              <a:gd name="connsiteY2" fmla="*/ 1081255 h 1543063"/>
              <a:gd name="connsiteX3" fmla="*/ 2332842 w 7763962"/>
              <a:gd name="connsiteY3" fmla="*/ 579617 h 1543063"/>
              <a:gd name="connsiteX4" fmla="*/ 2849852 w 7763962"/>
              <a:gd name="connsiteY4" fmla="*/ 1153062 h 1543063"/>
              <a:gd name="connsiteX5" fmla="*/ 3562026 w 7763962"/>
              <a:gd name="connsiteY5" fmla="*/ 993220 h 1543063"/>
              <a:gd name="connsiteX6" fmla="*/ 4514748 w 7763962"/>
              <a:gd name="connsiteY6" fmla="*/ 922402 h 1543063"/>
              <a:gd name="connsiteX7" fmla="*/ 5312774 w 7763962"/>
              <a:gd name="connsiteY7" fmla="*/ 715478 h 1543063"/>
              <a:gd name="connsiteX8" fmla="*/ 6046785 w 7763962"/>
              <a:gd name="connsiteY8" fmla="*/ 998831 h 1543063"/>
              <a:gd name="connsiteX9" fmla="*/ 6622518 w 7763962"/>
              <a:gd name="connsiteY9" fmla="*/ 437972 h 1543063"/>
              <a:gd name="connsiteX10" fmla="*/ 7430603 w 7763962"/>
              <a:gd name="connsiteY10" fmla="*/ 332914 h 1543063"/>
              <a:gd name="connsiteX11" fmla="*/ 7763024 w 7763962"/>
              <a:gd name="connsiteY11" fmla="*/ 18986 h 1543063"/>
              <a:gd name="connsiteX0" fmla="*/ 0 w 7763962"/>
              <a:gd name="connsiteY0" fmla="*/ 293357 h 1167970"/>
              <a:gd name="connsiteX1" fmla="*/ 1121860 w 7763962"/>
              <a:gd name="connsiteY1" fmla="*/ 466878 h 1167970"/>
              <a:gd name="connsiteX2" fmla="*/ 1825503 w 7763962"/>
              <a:gd name="connsiteY2" fmla="*/ 1081255 h 1167970"/>
              <a:gd name="connsiteX3" fmla="*/ 2332842 w 7763962"/>
              <a:gd name="connsiteY3" fmla="*/ 579617 h 1167970"/>
              <a:gd name="connsiteX4" fmla="*/ 2849852 w 7763962"/>
              <a:gd name="connsiteY4" fmla="*/ 1153062 h 1167970"/>
              <a:gd name="connsiteX5" fmla="*/ 3562026 w 7763962"/>
              <a:gd name="connsiteY5" fmla="*/ 993220 h 1167970"/>
              <a:gd name="connsiteX6" fmla="*/ 4514748 w 7763962"/>
              <a:gd name="connsiteY6" fmla="*/ 922402 h 1167970"/>
              <a:gd name="connsiteX7" fmla="*/ 5312774 w 7763962"/>
              <a:gd name="connsiteY7" fmla="*/ 715478 h 1167970"/>
              <a:gd name="connsiteX8" fmla="*/ 6046785 w 7763962"/>
              <a:gd name="connsiteY8" fmla="*/ 998831 h 1167970"/>
              <a:gd name="connsiteX9" fmla="*/ 6622518 w 7763962"/>
              <a:gd name="connsiteY9" fmla="*/ 437972 h 1167970"/>
              <a:gd name="connsiteX10" fmla="*/ 7430603 w 7763962"/>
              <a:gd name="connsiteY10" fmla="*/ 332914 h 1167970"/>
              <a:gd name="connsiteX11" fmla="*/ 7763024 w 7763962"/>
              <a:gd name="connsiteY11" fmla="*/ 18986 h 1167970"/>
              <a:gd name="connsiteX0" fmla="*/ 0 w 7763962"/>
              <a:gd name="connsiteY0" fmla="*/ 293357 h 1153222"/>
              <a:gd name="connsiteX1" fmla="*/ 1121860 w 7763962"/>
              <a:gd name="connsiteY1" fmla="*/ 466878 h 1153222"/>
              <a:gd name="connsiteX2" fmla="*/ 1825503 w 7763962"/>
              <a:gd name="connsiteY2" fmla="*/ 1081255 h 1153222"/>
              <a:gd name="connsiteX3" fmla="*/ 2332842 w 7763962"/>
              <a:gd name="connsiteY3" fmla="*/ 579617 h 1153222"/>
              <a:gd name="connsiteX4" fmla="*/ 2849852 w 7763962"/>
              <a:gd name="connsiteY4" fmla="*/ 1153062 h 1153222"/>
              <a:gd name="connsiteX5" fmla="*/ 3555805 w 7763962"/>
              <a:gd name="connsiteY5" fmla="*/ 641090 h 1153222"/>
              <a:gd name="connsiteX6" fmla="*/ 4514748 w 7763962"/>
              <a:gd name="connsiteY6" fmla="*/ 922402 h 1153222"/>
              <a:gd name="connsiteX7" fmla="*/ 5312774 w 7763962"/>
              <a:gd name="connsiteY7" fmla="*/ 715478 h 1153222"/>
              <a:gd name="connsiteX8" fmla="*/ 6046785 w 7763962"/>
              <a:gd name="connsiteY8" fmla="*/ 998831 h 1153222"/>
              <a:gd name="connsiteX9" fmla="*/ 6622518 w 7763962"/>
              <a:gd name="connsiteY9" fmla="*/ 437972 h 1153222"/>
              <a:gd name="connsiteX10" fmla="*/ 7430603 w 7763962"/>
              <a:gd name="connsiteY10" fmla="*/ 332914 h 1153222"/>
              <a:gd name="connsiteX11" fmla="*/ 7763024 w 7763962"/>
              <a:gd name="connsiteY11" fmla="*/ 18986 h 115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63962" h="1153222">
                <a:moveTo>
                  <a:pt x="0" y="293357"/>
                </a:moveTo>
                <a:cubicBezTo>
                  <a:pt x="254000" y="520546"/>
                  <a:pt x="817610" y="335562"/>
                  <a:pt x="1121860" y="466878"/>
                </a:cubicBezTo>
                <a:cubicBezTo>
                  <a:pt x="1426110" y="598194"/>
                  <a:pt x="1623673" y="1062465"/>
                  <a:pt x="1825503" y="1081255"/>
                </a:cubicBezTo>
                <a:cubicBezTo>
                  <a:pt x="2027333" y="1100045"/>
                  <a:pt x="2162117" y="567649"/>
                  <a:pt x="2332842" y="579617"/>
                </a:cubicBezTo>
                <a:cubicBezTo>
                  <a:pt x="2503567" y="591585"/>
                  <a:pt x="2646025" y="1142817"/>
                  <a:pt x="2849852" y="1153062"/>
                </a:cubicBezTo>
                <a:cubicBezTo>
                  <a:pt x="3053679" y="1163307"/>
                  <a:pt x="3278322" y="679533"/>
                  <a:pt x="3555805" y="641090"/>
                </a:cubicBezTo>
                <a:cubicBezTo>
                  <a:pt x="3833288" y="602647"/>
                  <a:pt x="4221920" y="910004"/>
                  <a:pt x="4514748" y="922402"/>
                </a:cubicBezTo>
                <a:cubicBezTo>
                  <a:pt x="4807576" y="934800"/>
                  <a:pt x="5057435" y="702740"/>
                  <a:pt x="5312774" y="715478"/>
                </a:cubicBezTo>
                <a:cubicBezTo>
                  <a:pt x="5568114" y="728216"/>
                  <a:pt x="5828494" y="1045082"/>
                  <a:pt x="6046785" y="998831"/>
                </a:cubicBezTo>
                <a:cubicBezTo>
                  <a:pt x="6265076" y="952580"/>
                  <a:pt x="6391882" y="548958"/>
                  <a:pt x="6622518" y="437972"/>
                </a:cubicBezTo>
                <a:cubicBezTo>
                  <a:pt x="6853154" y="326986"/>
                  <a:pt x="7279614" y="630658"/>
                  <a:pt x="7430603" y="332914"/>
                </a:cubicBezTo>
                <a:cubicBezTo>
                  <a:pt x="7581592" y="35170"/>
                  <a:pt x="7779252" y="-40986"/>
                  <a:pt x="7763024" y="18986"/>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52BC428-A99B-91EE-DF01-3864DEC4D4BF}"/>
              </a:ext>
            </a:extLst>
          </p:cNvPr>
          <p:cNvSpPr>
            <a:spLocks noChangeAspect="1"/>
          </p:cNvSpPr>
          <p:nvPr/>
        </p:nvSpPr>
        <p:spPr>
          <a:xfrm>
            <a:off x="7002037" y="3599619"/>
            <a:ext cx="182880" cy="1828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FBFF3EA-59F3-C535-EFC4-37E6E9B87AAA}"/>
              </a:ext>
            </a:extLst>
          </p:cNvPr>
          <p:cNvSpPr>
            <a:spLocks noChangeAspect="1"/>
          </p:cNvSpPr>
          <p:nvPr/>
        </p:nvSpPr>
        <p:spPr>
          <a:xfrm>
            <a:off x="7002037" y="2399243"/>
            <a:ext cx="182880" cy="18288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A61F73B-4578-41C1-C8EB-DAA0E81D6643}"/>
              </a:ext>
            </a:extLst>
          </p:cNvPr>
          <p:cNvSpPr txBox="1"/>
          <p:nvPr/>
        </p:nvSpPr>
        <p:spPr>
          <a:xfrm>
            <a:off x="7766488" y="314043"/>
            <a:ext cx="4144429" cy="5632311"/>
          </a:xfrm>
          <a:prstGeom prst="rect">
            <a:avLst/>
          </a:prstGeom>
          <a:noFill/>
        </p:spPr>
        <p:txBody>
          <a:bodyPr wrap="square" rtlCol="0">
            <a:spAutoFit/>
          </a:bodyPr>
          <a:lstStyle/>
          <a:p>
            <a:pPr marR="0" lvl="0" defTabSz="914400" rtl="0" eaLnBrk="1" fontAlgn="auto" latinLnBrk="0" hangingPunct="1">
              <a:lnSpc>
                <a:spcPct val="100000"/>
              </a:lnSpc>
              <a:spcBef>
                <a:spcPts val="0"/>
              </a:spcBef>
              <a:spcAft>
                <a:spcPts val="0"/>
              </a:spcAft>
              <a:buClrTx/>
              <a:buSzTx/>
              <a:tabLst/>
              <a:defRPr/>
            </a:pPr>
            <a:r>
              <a:rPr kumimoji="0" lang="en-US" sz="1200" b="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Time</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linear (1D)</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f</a:t>
            </a:r>
            <a:r>
              <a:rPr kumimoji="0" lang="en-US" sz="120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orward</a:t>
            </a: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moving</a:t>
            </a:r>
          </a:p>
          <a:p>
            <a:pPr marR="0" lvl="0" defTabSz="914400" rtl="0" eaLnBrk="1" fontAlgn="auto" latinLnBrk="0" hangingPunct="1">
              <a:lnSpc>
                <a:spcPct val="100000"/>
              </a:lnSpc>
              <a:spcBef>
                <a:spcPts val="0"/>
              </a:spcBef>
              <a:spcAft>
                <a:spcPts val="0"/>
              </a:spcAft>
              <a:buClrTx/>
              <a:buSzTx/>
              <a:tabLst/>
              <a:defRPr/>
            </a:pPr>
            <a:r>
              <a:rPr lang="en-US" sz="1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Absolute Space</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3D Euclidean</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no origin, orientation, translation. </a:t>
            </a:r>
          </a:p>
          <a:p>
            <a:pPr marR="0" lvl="0" defTabSz="914400" rtl="0" eaLnBrk="1" fontAlgn="auto" latinLnBrk="0" hangingPunct="1">
              <a:lnSpc>
                <a:spcPct val="100000"/>
              </a:lnSpc>
              <a:spcBef>
                <a:spcPts val="0"/>
              </a:spcBef>
              <a:spcAft>
                <a:spcPts val="0"/>
              </a:spcAft>
              <a:buClrTx/>
              <a:buSzTx/>
              <a:tabLst/>
              <a:defRPr/>
            </a:pPr>
            <a:r>
              <a:rPr lang="en-US" sz="1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Point Potential Emitter/Receivers</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equal and opposite</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constant rate emitters</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potential receivers</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travels establish a path in R4</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may travel faster than emission</a:t>
            </a:r>
          </a:p>
          <a:p>
            <a:pPr marR="0" lvl="0" defTabSz="914400" rtl="0" eaLnBrk="1" fontAlgn="auto" latinLnBrk="0" hangingPunct="1">
              <a:lnSpc>
                <a:spcPct val="100000"/>
              </a:lnSpc>
              <a:spcBef>
                <a:spcPts val="0"/>
              </a:spcBef>
              <a:spcAft>
                <a:spcPts val="0"/>
              </a:spcAft>
              <a:buClrTx/>
              <a:buSzTx/>
              <a:tabLst/>
              <a:defRPr/>
            </a:pPr>
            <a:r>
              <a:rPr lang="en-US" sz="1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Paths of a Point Potential</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continuous history in time and space</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path = all [</a:t>
            </a:r>
            <a:r>
              <a:rPr lang="en-US" sz="12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q,t,x,y,z,x’,y’,z</a:t>
            </a: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 for all t &lt; </a:t>
            </a:r>
            <a:r>
              <a:rPr lang="en-US" sz="12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a:t>
            </a:r>
            <a:r>
              <a:rPr lang="en-US" sz="1200" baseline="-25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now</a:t>
            </a:r>
            <a:endPar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endParaRPr>
          </a:p>
          <a:p>
            <a:pPr>
              <a:defRPr/>
            </a:pPr>
            <a:r>
              <a:rPr lang="en-US" sz="1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Emission</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origin is on path</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constant rate potential emission</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	Dirac delta q/v</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	Dirac sphere stream (1/r curve)</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expands at field speed @.  r = @t</a:t>
            </a:r>
          </a:p>
          <a:p>
            <a:pPr>
              <a:defRPr/>
            </a:pPr>
            <a:r>
              <a:rPr lang="en-US" sz="1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Action</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action occurs at t = </a:t>
            </a:r>
            <a:r>
              <a:rPr lang="en-US" sz="12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a:t>
            </a:r>
            <a:r>
              <a:rPr lang="en-US" sz="1200" baseline="-25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now</a:t>
            </a:r>
            <a:endParaRPr kumimoji="0" lang="en-US" sz="1200" u="none" strike="noStrike" kern="1200" cap="none" spc="0" normalizeH="0" baseline="-25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lvl="1">
              <a:defRPr/>
            </a:pP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r>
              <a:rPr kumimoji="0" lang="en-US" sz="120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q,t,s,s</a:t>
            </a: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intersection with sphere stream</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superposition</a:t>
            </a:r>
          </a:p>
          <a:p>
            <a:pPr lvl="1">
              <a:defRPr/>
            </a:pP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net action </a:t>
            </a: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determines </a:t>
            </a: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path change</a:t>
            </a:r>
          </a:p>
          <a:p>
            <a:pPr marR="0" lvl="0" defTabSz="914400" rtl="0" eaLnBrk="1" fontAlgn="auto" latinLnBrk="0" hangingPunct="1">
              <a:lnSpc>
                <a:spcPct val="100000"/>
              </a:lnSpc>
              <a:spcBef>
                <a:spcPts val="0"/>
              </a:spcBef>
              <a:spcAft>
                <a:spcPts val="0"/>
              </a:spcAft>
              <a:buClrTx/>
              <a:buSzTx/>
              <a:tabLst/>
              <a:defRPr/>
            </a:pPr>
            <a:r>
              <a:rPr kumimoji="0" lang="en-US" sz="1200" b="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Densities (Large Scale)</a:t>
            </a:r>
          </a:p>
          <a:p>
            <a:pPr lvl="1">
              <a:defRPr/>
            </a:pP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population per volume</a:t>
            </a:r>
          </a:p>
          <a:p>
            <a:pPr lvl="1">
              <a:defRPr/>
            </a:pPr>
            <a:r>
              <a:rPr lang="en-US" sz="12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energy carried by point potentials</a:t>
            </a:r>
          </a:p>
          <a:p>
            <a:pPr lvl="1">
              <a:defRPr/>
            </a:pPr>
            <a:r>
              <a:rPr kumimoji="0" lang="en-US" sz="120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population distribution (50/50)</a:t>
            </a:r>
          </a:p>
        </p:txBody>
      </p:sp>
    </p:spTree>
    <p:extLst>
      <p:ext uri="{BB962C8B-B14F-4D97-AF65-F5344CB8AC3E}">
        <p14:creationId xmlns:p14="http://schemas.microsoft.com/office/powerpoint/2010/main" val="3144987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374783327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04AC981-79ED-95B2-006C-1F07F7D102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D5C38C-76F4-C791-A566-84A8B395A016}"/>
              </a:ext>
            </a:extLst>
          </p:cNvPr>
          <p:cNvSpPr txBox="1"/>
          <p:nvPr/>
        </p:nvSpPr>
        <p:spPr>
          <a:xfrm>
            <a:off x="0" y="358254"/>
            <a:ext cx="12191999" cy="2785378"/>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Helvetica Neue UltraLight" panose="02000206000000020004" pitchFamily="2" charset="0"/>
                <a:ea typeface="Helvetica Neue UltraLight" panose="02000206000000020004" pitchFamily="2" charset="0"/>
                <a:cs typeface="Helvetica Neue" panose="02000503000000020004" pitchFamily="2" charset="0"/>
              </a:rPr>
              <a:t>neoclassical.ai</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Solving Zeno’s Paradox</a:t>
            </a: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464736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CB0C588-8647-6C8C-8DC7-F162DDF8BF26}"/>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D8055493-6465-E03D-4E0E-CA86B923D2DB}"/>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232D04D3-E71C-CAE2-097F-314B5E11C0F3}"/>
              </a:ext>
            </a:extLst>
          </p:cNvPr>
          <p:cNvSpPr/>
          <p:nvPr/>
        </p:nvSpPr>
        <p:spPr>
          <a:xfrm>
            <a:off x="680197" y="309028"/>
            <a:ext cx="11009488"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Nature’s Solution to Zeno’s Paradox and the 1/r Potential Curve</a:t>
            </a:r>
          </a:p>
        </p:txBody>
      </p:sp>
      <p:sp>
        <p:nvSpPr>
          <p:cNvPr id="2" name="TextBox 1">
            <a:extLst>
              <a:ext uri="{FF2B5EF4-FFF2-40B4-BE49-F238E27FC236}">
                <a16:creationId xmlns:a16="http://schemas.microsoft.com/office/drawing/2014/main" id="{5B66C1A2-52BD-EA60-BE8F-C5D3C8F732D2}"/>
              </a:ext>
            </a:extLst>
          </p:cNvPr>
          <p:cNvSpPr txBox="1"/>
          <p:nvPr/>
        </p:nvSpPr>
        <p:spPr>
          <a:xfrm>
            <a:off x="337206" y="907318"/>
            <a:ext cx="11695463" cy="4124206"/>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Nature is a pure geometry defined by continuous paths of equal and opposite point potentials. It’s a path theory! </a:t>
            </a:r>
          </a:p>
          <a:p>
            <a:pPr marL="457200"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path is an open ended string headed by a point potential emitter/receiver. (Nature </a:t>
            </a:r>
            <a:r>
              <a:rPr kumimoji="0" lang="en-US" sz="16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echos</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many scales)</a:t>
            </a: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Emission is constant q/t</a:t>
            </a: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Action occurs when a receiver intersects a sphere stream. (superposition applies)</a:t>
            </a: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t=now of curvy paths in s (graph).</a:t>
            </a: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because point potentials can exceed their own field speed, we have a symmetry breaking point between two regions, as a bonus we get a maximum curvature in a binary (or orbiting/translating binary)</a:t>
            </a: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ideal binary (and ideal elliptical?) has symmetry such that the point potentials must experience the equivalent action. When v=0 and no axial rotation (holy cow now we also have to compute the effects of a rotation of the binary around one other dimension.</a:t>
            </a: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There may be equivalent geometrical models. Or models that express these concepts in more abstract mathematical terms. That itself is kind of </a:t>
            </a:r>
            <a:r>
              <a:rPr kumimoji="0" lang="en-US" sz="16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mindblowing</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We think we are reality. In a sense we are a simulation of reality.</a:t>
            </a:r>
          </a:p>
          <a:p>
            <a:pPr marL="914400" lvl="1" indent="-457200">
              <a:buFont typeface="Arial" panose="020B0604020202020204" pitchFamily="34" charset="0"/>
              <a:buChar char="•"/>
              <a:defRPr/>
            </a:pPr>
            <a:endParaRPr lang="en-US" sz="16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endParaRPr>
          </a:p>
          <a:p>
            <a:pPr marL="914400" lvl="1" indent="-457200">
              <a:buFont typeface="Arial" panose="020B0604020202020204" pitchFamily="34" charset="0"/>
              <a:buChar char="•"/>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Put these points on copies of my new this is nature slide in this deck.</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0680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B3A6F17-EFE6-B51A-A63A-3B70333495A1}"/>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68EB2D01-BE54-DC86-BCD1-1E32DA2C4000}"/>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F2D335EE-90BE-310F-3F30-68D612074B92}"/>
              </a:ext>
            </a:extLst>
          </p:cNvPr>
          <p:cNvSpPr/>
          <p:nvPr/>
        </p:nvSpPr>
        <p:spPr>
          <a:xfrm>
            <a:off x="680197" y="309028"/>
            <a:ext cx="11009488"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Nature’s Solution to Zeno’s Paradox and the 1/r Potential Curve</a:t>
            </a:r>
          </a:p>
        </p:txBody>
      </p:sp>
      <p:sp>
        <p:nvSpPr>
          <p:cNvPr id="2" name="TextBox 1">
            <a:extLst>
              <a:ext uri="{FF2B5EF4-FFF2-40B4-BE49-F238E27FC236}">
                <a16:creationId xmlns:a16="http://schemas.microsoft.com/office/drawing/2014/main" id="{CBF92790-EC27-682A-21D0-5C88069D4333}"/>
              </a:ext>
            </a:extLst>
          </p:cNvPr>
          <p:cNvSpPr txBox="1"/>
          <p:nvPr/>
        </p:nvSpPr>
        <p:spPr>
          <a:xfrm>
            <a:off x="337206" y="907318"/>
            <a:ext cx="11695463" cy="510909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1/r curve is how the geometry of potential works in nature.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reason Zeno’s Paradox is solved is that nature is not constrained so that every point potential relationship be on a 1/r potential curve.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potentials routinely pass through 1/r potential curves on a per relationship basis.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Argument via superposition: the receiver point potential has infinite (check) solutions on the vector line defined by E&gt;A.</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And that is only one relationship. There are a countable infinity of relationships.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what about v&gt;@.  If it became isolated and all potential was it’s own repelling potential, well then what?  It would accelerate to some limit or infinite? Have to calculate the force from the 1/r curve given the energy just somehow edged v &gt;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It’s sort of like it would ride it’s own surf, continuously accelerating but by smaller amounts. what is the integral of 1/r?  ln(r)?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potentials can move through Dirac sphere streams and vice versa</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 point potential is always intersecting at least one Dirac sphere from all other point potentials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point potential has vector velocities a) on the geodesic and b) on the line to the point of emission of each intersecting sphere stream.</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And as your velocity adjusts, you are either surfing farther away in time, steady time, or closer in time to the point of emission.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hmm, that’s interesting. the surfer doesn’t really see a 1/r curve.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3966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764AD85F-4248-DE78-FCB4-518C065121A3}"/>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0464A0FC-8CE3-207B-0E49-C582E93BE77D}"/>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59C47AE8-E40E-D333-CCEE-591287A99ACE}"/>
              </a:ext>
            </a:extLst>
          </p:cNvPr>
          <p:cNvSpPr/>
          <p:nvPr/>
        </p:nvSpPr>
        <p:spPr>
          <a:xfrm>
            <a:off x="680197" y="309028"/>
            <a:ext cx="11009488"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Nature’s Solution to Zeno’s Paradox and the 1/r Potential Curve</a:t>
            </a:r>
          </a:p>
        </p:txBody>
      </p:sp>
      <p:sp>
        <p:nvSpPr>
          <p:cNvPr id="2" name="TextBox 1">
            <a:extLst>
              <a:ext uri="{FF2B5EF4-FFF2-40B4-BE49-F238E27FC236}">
                <a16:creationId xmlns:a16="http://schemas.microsoft.com/office/drawing/2014/main" id="{C4927378-5D67-46E3-234B-AEB36EE62C4E}"/>
              </a:ext>
            </a:extLst>
          </p:cNvPr>
          <p:cNvSpPr txBox="1"/>
          <p:nvPr/>
        </p:nvSpPr>
        <p:spPr>
          <a:xfrm>
            <a:off x="337206" y="907318"/>
            <a:ext cx="11695463" cy="92333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Zeno’s paradox</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7DA6E5F-7441-6233-DACB-330BCC7593FF}"/>
              </a:ext>
            </a:extLst>
          </p:cNvPr>
          <p:cNvPicPr>
            <a:picLocks noChangeAspect="1"/>
          </p:cNvPicPr>
          <p:nvPr/>
        </p:nvPicPr>
        <p:blipFill>
          <a:blip r:embed="rId2"/>
          <a:stretch>
            <a:fillRect/>
          </a:stretch>
        </p:blipFill>
        <p:spPr>
          <a:xfrm>
            <a:off x="5353693" y="1155560"/>
            <a:ext cx="6572599" cy="5004080"/>
          </a:xfrm>
          <a:prstGeom prst="rect">
            <a:avLst/>
          </a:prstGeom>
        </p:spPr>
      </p:pic>
    </p:spTree>
    <p:extLst>
      <p:ext uri="{BB962C8B-B14F-4D97-AF65-F5344CB8AC3E}">
        <p14:creationId xmlns:p14="http://schemas.microsoft.com/office/powerpoint/2010/main" val="1428032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94461D54-C3D4-6173-7074-88B839FAD340}"/>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9BBE5192-E5D5-0FFC-28EA-A41B850A703E}"/>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93EAC0C0-7BBE-0357-9019-856A0FC9E286}"/>
              </a:ext>
            </a:extLst>
          </p:cNvPr>
          <p:cNvSpPr/>
          <p:nvPr/>
        </p:nvSpPr>
        <p:spPr>
          <a:xfrm>
            <a:off x="680197" y="309028"/>
            <a:ext cx="11009488"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Nature’s Solution to Zeno’s Paradox and the 1/r Potential Curve</a:t>
            </a:r>
          </a:p>
        </p:txBody>
      </p:sp>
      <p:sp>
        <p:nvSpPr>
          <p:cNvPr id="2" name="TextBox 1">
            <a:extLst>
              <a:ext uri="{FF2B5EF4-FFF2-40B4-BE49-F238E27FC236}">
                <a16:creationId xmlns:a16="http://schemas.microsoft.com/office/drawing/2014/main" id="{F8E0EEDC-0BCA-3889-91A4-77BD378C2B04}"/>
              </a:ext>
            </a:extLst>
          </p:cNvPr>
          <p:cNvSpPr txBox="1"/>
          <p:nvPr/>
        </p:nvSpPr>
        <p:spPr>
          <a:xfrm>
            <a:off x="337206" y="907318"/>
            <a:ext cx="11695463" cy="1754326"/>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add a 1/r curve – positive and negative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expand this into a set of slides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search for meme’s.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check references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aha – I had this idea in my geometry of nature </a:t>
            </a:r>
            <a:r>
              <a:rPr kumimoji="0" lang="en-US" sz="1400" b="0" i="0" u="none" strike="noStrike" kern="1200" cap="none" spc="0" normalizeH="0" baseline="0" noProof="0" dirty="0" err="1">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mindmap</a:t>
            </a:r>
            <a:r>
              <a:rPr kumimoji="0" lang="en-US" sz="14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3366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39B5145-C7CC-4CCE-487E-4254D67A4F7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CFBDE84-924A-E8FB-3BA9-FBAA104E7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56E144F-032B-6022-3543-526B3E6F1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44DE0F-0C17-6919-233B-D98BD654A0DB}"/>
              </a:ext>
            </a:extLst>
          </p:cNvPr>
          <p:cNvSpPr>
            <a:spLocks noGrp="1"/>
          </p:cNvSpPr>
          <p:nvPr>
            <p:ph type="ctrTitle"/>
          </p:nvPr>
        </p:nvSpPr>
        <p:spPr>
          <a:xfrm>
            <a:off x="1524000" y="1122362"/>
            <a:ext cx="9144000" cy="2840037"/>
          </a:xfrm>
        </p:spPr>
        <p:txBody>
          <a:bodyPr>
            <a:normAutofit/>
          </a:bodyPr>
          <a:lstStyle/>
          <a:p>
            <a:r>
              <a:rPr lang="en-US" sz="5800" dirty="0"/>
              <a:t>Imagine. </a:t>
            </a:r>
            <a:br>
              <a:rPr lang="en-US" sz="5800" dirty="0"/>
            </a:br>
            <a:r>
              <a:rPr lang="en-US" sz="5800" dirty="0"/>
              <a:t>Visualize. </a:t>
            </a:r>
            <a:br>
              <a:rPr lang="en-US" sz="5800" dirty="0"/>
            </a:br>
            <a:r>
              <a:rPr lang="en-US" sz="5800" dirty="0"/>
              <a:t>Represent.</a:t>
            </a:r>
          </a:p>
        </p:txBody>
      </p:sp>
      <p:cxnSp>
        <p:nvCxnSpPr>
          <p:cNvPr id="13" name="Straight Connector 12">
            <a:extLst>
              <a:ext uri="{FF2B5EF4-FFF2-40B4-BE49-F238E27FC236}">
                <a16:creationId xmlns:a16="http://schemas.microsoft.com/office/drawing/2014/main" id="{99EC64F2-D776-BF3D-FBD9-93D13C26D9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7F93D-7588-EB6D-94E1-96EFF9F59E48}"/>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n</a:t>
            </a:r>
            <a:r>
              <a:rPr kumimoji="0" lang="en-US" sz="1200" b="0" i="0" u="none" strike="noStrike" kern="1200" cap="none" spc="0" normalizeH="0" baseline="0" noProof="0" dirty="0" err="1">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eoclassical.ai</a:t>
            </a:r>
            <a:endPar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53085019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7589</TotalTime>
  <Words>3574</Words>
  <Application>Microsoft Macintosh PowerPoint</Application>
  <PresentationFormat>Widescreen</PresentationFormat>
  <Paragraphs>323</Paragraphs>
  <Slides>20</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Calibri Light</vt:lpstr>
      <vt:lpstr>Helvetica Neue</vt:lpstr>
      <vt:lpstr>Helvetica Neue Condensed Black</vt:lpstr>
      <vt:lpstr>Helvetica Neue UltraLight</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PowerPoint Presentation</vt:lpstr>
      <vt:lpstr>PowerPoint Presentation</vt:lpstr>
      <vt:lpstr>PowerPoint Presentation</vt:lpstr>
      <vt:lpstr>PowerPoint Presentation</vt:lpstr>
      <vt:lpstr>Imagine.  Visualize.  Represent.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351</cp:revision>
  <cp:lastPrinted>2022-09-07T12:10:19Z</cp:lastPrinted>
  <dcterms:created xsi:type="dcterms:W3CDTF">2022-02-05T18:41:13Z</dcterms:created>
  <dcterms:modified xsi:type="dcterms:W3CDTF">2024-11-28T02:11:33Z</dcterms:modified>
</cp:coreProperties>
</file>