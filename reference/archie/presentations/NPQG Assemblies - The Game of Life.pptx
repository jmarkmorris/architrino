
<file path=[Content_Types].xml><?xml version="1.0" encoding="utf-8"?>
<Types xmlns="http://schemas.openxmlformats.org/package/2006/content-types">
  <Default Extension="gif" ContentType="image/gif"/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838" r:id="rId2"/>
    <p:sldId id="825" r:id="rId3"/>
    <p:sldId id="824" r:id="rId4"/>
    <p:sldId id="831" r:id="rId5"/>
    <p:sldId id="835" r:id="rId6"/>
    <p:sldId id="832" r:id="rId7"/>
    <p:sldId id="833" r:id="rId8"/>
    <p:sldId id="834" r:id="rId9"/>
    <p:sldId id="828" r:id="rId10"/>
    <p:sldId id="827" r:id="rId11"/>
    <p:sldId id="83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FF85FF"/>
    <a:srgbClr val="FF8A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84315"/>
  </p:normalViewPr>
  <p:slideViewPr>
    <p:cSldViewPr snapToGrid="0" snapToObjects="1">
      <p:cViewPr varScale="1">
        <p:scale>
          <a:sx n="106" d="100"/>
          <a:sy n="106" d="100"/>
        </p:scale>
        <p:origin x="1992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1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7747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436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2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705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4928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8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9217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8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722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163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77ACA5-3691-8FEB-0266-8D47BBCCF4C6}"/>
              </a:ext>
            </a:extLst>
          </p:cNvPr>
          <p:cNvSpPr txBox="1"/>
          <p:nvPr/>
        </p:nvSpPr>
        <p:spPr>
          <a:xfrm>
            <a:off x="0" y="1357476"/>
            <a:ext cx="12191999" cy="2657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The Game of Life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Conway and Nature</a:t>
            </a:r>
          </a:p>
        </p:txBody>
      </p:sp>
      <p:pic>
        <p:nvPicPr>
          <p:cNvPr id="4" name="Audio 4.m4a">
            <a:hlinkClick r:id="" action="ppaction://media"/>
            <a:extLst>
              <a:ext uri="{FF2B5EF4-FFF2-40B4-BE49-F238E27FC236}">
                <a16:creationId xmlns:a16="http://schemas.microsoft.com/office/drawing/2014/main" id="{517B54EF-D7B1-E948-D130-5B2C54B785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79536" y="7453964"/>
            <a:ext cx="812800" cy="812800"/>
          </a:xfrm>
          <a:prstGeom prst="rect">
            <a:avLst/>
          </a:prstGeom>
        </p:spPr>
      </p:pic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154205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485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0A47216-4DD3-BF6C-D7BA-1ED8C0A72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6920" y="892862"/>
            <a:ext cx="7798160" cy="5068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A3292E-AA0C-30C1-CC58-7578C10E4DC0}"/>
              </a:ext>
            </a:extLst>
          </p:cNvPr>
          <p:cNvSpPr txBox="1"/>
          <p:nvPr/>
        </p:nvSpPr>
        <p:spPr>
          <a:xfrm>
            <a:off x="1477170" y="6065438"/>
            <a:ext cx="92376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John Horton Conway FRS (26 December 1937 – 11 April 2020)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5D9A62-426A-2A73-030F-D602B5E700E6}"/>
              </a:ext>
            </a:extLst>
          </p:cNvPr>
          <p:cNvSpPr txBox="1"/>
          <p:nvPr/>
        </p:nvSpPr>
        <p:spPr>
          <a:xfrm>
            <a:off x="116186" y="292152"/>
            <a:ext cx="11959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Game of Life is a cellular automaton devised by the British mathematician John Horton Conway in 1970.</a:t>
            </a:r>
          </a:p>
        </p:txBody>
      </p:sp>
      <p:sp>
        <p:nvSpPr>
          <p:cNvPr id="1027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1378518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DE75655-EC5B-156B-0B2A-3C6FAE97F54B}"/>
              </a:ext>
            </a:extLst>
          </p:cNvPr>
          <p:cNvSpPr txBox="1"/>
          <p:nvPr/>
        </p:nvSpPr>
        <p:spPr>
          <a:xfrm>
            <a:off x="116237" y="4095418"/>
            <a:ext cx="120757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Conway’s Game of Life Universe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Classically, the Game of Life plays out in an infinite, two-dimensional orthogonal grid of square cells.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cell is in one of two possible states, live or dead.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meta player interacts by creating an initial configuration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Time moves forward only in discrete time steps.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evolution is determined by the initial grid state, requiring no further input.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Meta player(s) may passively observe the initial configuration and how the grid evolves.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F17CF3-5DAE-68C3-B4A1-B9A23BA0C178}"/>
              </a:ext>
            </a:extLst>
          </p:cNvPr>
          <p:cNvSpPr txBox="1"/>
          <p:nvPr/>
        </p:nvSpPr>
        <p:spPr>
          <a:xfrm>
            <a:off x="895685" y="1142305"/>
            <a:ext cx="1328979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90AF9A-CF7B-6EE5-B158-291EC97AFE80}"/>
              </a:ext>
            </a:extLst>
          </p:cNvPr>
          <p:cNvSpPr txBox="1"/>
          <p:nvPr/>
        </p:nvSpPr>
        <p:spPr>
          <a:xfrm>
            <a:off x="3546004" y="1142305"/>
            <a:ext cx="2005310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Initial State — 0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9BE6F2-135F-A584-3597-DDE885A88477}"/>
              </a:ext>
            </a:extLst>
          </p:cNvPr>
          <p:cNvSpPr txBox="1"/>
          <p:nvPr/>
        </p:nvSpPr>
        <p:spPr>
          <a:xfrm>
            <a:off x="6666974" y="11423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1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15B9FC-E53D-0C4F-E42E-E16037254E23}"/>
              </a:ext>
            </a:extLst>
          </p:cNvPr>
          <p:cNvSpPr txBox="1"/>
          <p:nvPr/>
        </p:nvSpPr>
        <p:spPr>
          <a:xfrm>
            <a:off x="9639844" y="11423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N</a:t>
            </a:r>
            <a:endParaRPr lang="en-US" dirty="0"/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FBB8D77-17CA-9E25-40F6-2187680AE78A}"/>
              </a:ext>
            </a:extLst>
          </p:cNvPr>
          <p:cNvSpPr/>
          <p:nvPr/>
        </p:nvSpPr>
        <p:spPr>
          <a:xfrm rot="16200000">
            <a:off x="2838947" y="-1604187"/>
            <a:ext cx="433953" cy="5176760"/>
          </a:xfrm>
          <a:prstGeom prst="rightBrace">
            <a:avLst>
              <a:gd name="adj1" fmla="val 40476"/>
              <a:gd name="adj2" fmla="val 50000"/>
            </a:avLst>
          </a:prstGeom>
          <a:noFill/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2D7CB152-358A-F906-7CC4-816981C01F31}"/>
              </a:ext>
            </a:extLst>
          </p:cNvPr>
          <p:cNvSpPr/>
          <p:nvPr/>
        </p:nvSpPr>
        <p:spPr>
          <a:xfrm rot="16200000">
            <a:off x="8461864" y="-1940033"/>
            <a:ext cx="433953" cy="5848449"/>
          </a:xfrm>
          <a:prstGeom prst="rightBrace">
            <a:avLst>
              <a:gd name="adj1" fmla="val 40476"/>
              <a:gd name="adj2" fmla="val 50000"/>
            </a:avLst>
          </a:prstGeom>
          <a:noFill/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21EF82-06E4-D0AB-36F9-2B82B8A93A17}"/>
              </a:ext>
            </a:extLst>
          </p:cNvPr>
          <p:cNvSpPr txBox="1"/>
          <p:nvPr/>
        </p:nvSpPr>
        <p:spPr>
          <a:xfrm>
            <a:off x="2145562" y="206115"/>
            <a:ext cx="18375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Universe</a:t>
            </a:r>
            <a:endParaRPr lang="en-US" sz="2800" dirty="0">
              <a:solidFill>
                <a:srgbClr val="FF7E79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5BDD8E-11A5-06FA-7BEC-37DFC9619EEC}"/>
              </a:ext>
            </a:extLst>
          </p:cNvPr>
          <p:cNvSpPr txBox="1"/>
          <p:nvPr/>
        </p:nvSpPr>
        <p:spPr>
          <a:xfrm>
            <a:off x="7761114" y="206115"/>
            <a:ext cx="18375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</a:t>
            </a:r>
            <a:endParaRPr lang="en-US" sz="2800" dirty="0"/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461E574-21DE-F62F-FD55-44CF49BD28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53786"/>
              </p:ext>
            </p:extLst>
          </p:nvPr>
        </p:nvGraphicFramePr>
        <p:xfrm>
          <a:off x="467544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B2D322BC-6A05-B6A0-1070-9E14098BF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836523"/>
              </p:ext>
            </p:extLst>
          </p:nvPr>
        </p:nvGraphicFramePr>
        <p:xfrm>
          <a:off x="3448954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4A429455-F4CA-68DB-F8FF-EB7B26486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7030359"/>
              </p:ext>
            </p:extLst>
          </p:nvPr>
        </p:nvGraphicFramePr>
        <p:xfrm>
          <a:off x="6430364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D179225-8F42-A947-6220-562025912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632342"/>
              </p:ext>
            </p:extLst>
          </p:nvPr>
        </p:nvGraphicFramePr>
        <p:xfrm>
          <a:off x="9411775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sp>
        <p:nvSpPr>
          <p:cNvPr id="31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3906230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D0F17CF3-5DAE-68C3-B4A1-B9A23BA0C178}"/>
              </a:ext>
            </a:extLst>
          </p:cNvPr>
          <p:cNvSpPr txBox="1"/>
          <p:nvPr/>
        </p:nvSpPr>
        <p:spPr>
          <a:xfrm>
            <a:off x="895685" y="1142305"/>
            <a:ext cx="1328979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90AF9A-CF7B-6EE5-B158-291EC97AFE80}"/>
              </a:ext>
            </a:extLst>
          </p:cNvPr>
          <p:cNvSpPr txBox="1"/>
          <p:nvPr/>
        </p:nvSpPr>
        <p:spPr>
          <a:xfrm>
            <a:off x="3546004" y="1142305"/>
            <a:ext cx="2005310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Initial State — 0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9BE6F2-135F-A584-3597-DDE885A88477}"/>
              </a:ext>
            </a:extLst>
          </p:cNvPr>
          <p:cNvSpPr txBox="1"/>
          <p:nvPr/>
        </p:nvSpPr>
        <p:spPr>
          <a:xfrm>
            <a:off x="6666974" y="11423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1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15B9FC-E53D-0C4F-E42E-E16037254E23}"/>
              </a:ext>
            </a:extLst>
          </p:cNvPr>
          <p:cNvSpPr txBox="1"/>
          <p:nvPr/>
        </p:nvSpPr>
        <p:spPr>
          <a:xfrm>
            <a:off x="9639844" y="11423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2</a:t>
            </a:r>
            <a:endParaRPr lang="en-US" dirty="0"/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FBB8D77-17CA-9E25-40F6-2187680AE78A}"/>
              </a:ext>
            </a:extLst>
          </p:cNvPr>
          <p:cNvSpPr/>
          <p:nvPr/>
        </p:nvSpPr>
        <p:spPr>
          <a:xfrm rot="16200000">
            <a:off x="2838947" y="-1604187"/>
            <a:ext cx="433953" cy="5176760"/>
          </a:xfrm>
          <a:prstGeom prst="rightBrace">
            <a:avLst>
              <a:gd name="adj1" fmla="val 40476"/>
              <a:gd name="adj2" fmla="val 50000"/>
            </a:avLst>
          </a:prstGeom>
          <a:noFill/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2D7CB152-358A-F906-7CC4-816981C01F31}"/>
              </a:ext>
            </a:extLst>
          </p:cNvPr>
          <p:cNvSpPr/>
          <p:nvPr/>
        </p:nvSpPr>
        <p:spPr>
          <a:xfrm rot="16200000">
            <a:off x="8461864" y="-1940033"/>
            <a:ext cx="433953" cy="5848449"/>
          </a:xfrm>
          <a:prstGeom prst="rightBrace">
            <a:avLst>
              <a:gd name="adj1" fmla="val 40476"/>
              <a:gd name="adj2" fmla="val 50000"/>
            </a:avLst>
          </a:prstGeom>
          <a:noFill/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21EF82-06E4-D0AB-36F9-2B82B8A93A17}"/>
              </a:ext>
            </a:extLst>
          </p:cNvPr>
          <p:cNvSpPr txBox="1"/>
          <p:nvPr/>
        </p:nvSpPr>
        <p:spPr>
          <a:xfrm>
            <a:off x="2145562" y="206115"/>
            <a:ext cx="18375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Universe</a:t>
            </a:r>
            <a:endParaRPr lang="en-US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5BDD8E-11A5-06FA-7BEC-37DFC9619EEC}"/>
              </a:ext>
            </a:extLst>
          </p:cNvPr>
          <p:cNvSpPr txBox="1"/>
          <p:nvPr/>
        </p:nvSpPr>
        <p:spPr>
          <a:xfrm>
            <a:off x="7761114" y="206115"/>
            <a:ext cx="18375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</a:t>
            </a:r>
            <a:endParaRPr lang="en-US" sz="2800" dirty="0">
              <a:solidFill>
                <a:srgbClr val="FF7E79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461E574-21DE-F62F-FD55-44CF49BD28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430394"/>
              </p:ext>
            </p:extLst>
          </p:nvPr>
        </p:nvGraphicFramePr>
        <p:xfrm>
          <a:off x="467544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B2D322BC-6A05-B6A0-1070-9E14098BF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239611"/>
              </p:ext>
            </p:extLst>
          </p:nvPr>
        </p:nvGraphicFramePr>
        <p:xfrm>
          <a:off x="3448954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4A429455-F4CA-68DB-F8FF-EB7B26486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284283"/>
              </p:ext>
            </p:extLst>
          </p:nvPr>
        </p:nvGraphicFramePr>
        <p:xfrm>
          <a:off x="6430364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D179225-8F42-A947-6220-562025912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586607"/>
              </p:ext>
            </p:extLst>
          </p:nvPr>
        </p:nvGraphicFramePr>
        <p:xfrm>
          <a:off x="9411775" y="16681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8DA696C-503A-5149-B213-C4F454ECADB9}"/>
              </a:ext>
            </a:extLst>
          </p:cNvPr>
          <p:cNvSpPr txBox="1"/>
          <p:nvPr/>
        </p:nvSpPr>
        <p:spPr>
          <a:xfrm>
            <a:off x="318432" y="3945962"/>
            <a:ext cx="1178761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Conway’s Game of </a:t>
            </a:r>
            <a:r>
              <a:rPr lang="en-US" sz="2000" b="1" dirty="0" err="1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Life</a:t>
            </a:r>
            <a:r>
              <a:rPr lang="en-US" sz="2000" b="1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Rules</a:t>
            </a:r>
            <a:r>
              <a:rPr lang="en-US" sz="2000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Every cell interacts with its eight surrounding neighbors.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each time step, the following transitions occur: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live cell with fewer than two live neighbors dies, as if by underpopulation.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live cell with two or three live neighbors lives on to the next evolution step.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live cell with more than three live neighbors dies, as if by overpopulation.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dead cell with exactly three live neighbors becomes a live cell, as if by reproduction.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first evolution step is created by applying the rules to every cell in the initial grid.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rules are applied each time step to create a new evolution step.</a:t>
            </a:r>
            <a:endParaRPr lang="en-US" sz="1100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643881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2CFDF-36BB-E543-1E37-9381DCC16964}"/>
              </a:ext>
            </a:extLst>
          </p:cNvPr>
          <p:cNvSpPr txBox="1">
            <a:spLocks/>
          </p:cNvSpPr>
          <p:nvPr/>
        </p:nvSpPr>
        <p:spPr>
          <a:xfrm>
            <a:off x="781820" y="239533"/>
            <a:ext cx="11597488" cy="80835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Conway’s Cell Life State Diagram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38736C2-3AA7-DB7B-E13D-7DAD0186ED80}"/>
              </a:ext>
            </a:extLst>
          </p:cNvPr>
          <p:cNvSpPr/>
          <p:nvPr/>
        </p:nvSpPr>
        <p:spPr>
          <a:xfrm>
            <a:off x="3572358" y="2767876"/>
            <a:ext cx="1836549" cy="183654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dead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FFCBBA-13D0-D0A1-682D-08E2B2279C74}"/>
              </a:ext>
            </a:extLst>
          </p:cNvPr>
          <p:cNvSpPr/>
          <p:nvPr/>
        </p:nvSpPr>
        <p:spPr>
          <a:xfrm>
            <a:off x="6723680" y="2767876"/>
            <a:ext cx="1836549" cy="1836549"/>
          </a:xfrm>
          <a:prstGeom prst="ellipse">
            <a:avLst/>
          </a:prstGeom>
          <a:solidFill>
            <a:srgbClr val="00B050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live</a:t>
            </a:r>
          </a:p>
        </p:txBody>
      </p:sp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03DA57CF-1706-A086-E895-1718D7409256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408907" y="3686151"/>
            <a:ext cx="1314773" cy="12700"/>
          </a:xfrm>
          <a:prstGeom prst="curvedConnector3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8238624-30ED-1198-413F-C71F57FC674C}"/>
              </a:ext>
            </a:extLst>
          </p:cNvPr>
          <p:cNvSpPr txBox="1"/>
          <p:nvPr/>
        </p:nvSpPr>
        <p:spPr>
          <a:xfrm>
            <a:off x="5836494" y="324081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{3}</a:t>
            </a:r>
          </a:p>
        </p:txBody>
      </p: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391675E3-C28C-12CA-2757-5CBDAD4C7C10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 rot="16200000" flipH="1" flipV="1">
            <a:off x="3572358" y="2767875"/>
            <a:ext cx="918275" cy="918275"/>
          </a:xfrm>
          <a:prstGeom prst="curvedConnector4">
            <a:avLst>
              <a:gd name="adj1" fmla="val -55275"/>
              <a:gd name="adj2" fmla="val 157806"/>
            </a:avLst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9C3E77B-B5C7-37C5-F4C1-A1A598206616}"/>
              </a:ext>
            </a:extLst>
          </p:cNvPr>
          <p:cNvSpPr txBox="1"/>
          <p:nvPr/>
        </p:nvSpPr>
        <p:spPr>
          <a:xfrm>
            <a:off x="2741954" y="1816485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{0,1,2,  4,5,6,7,8}</a:t>
            </a:r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A5E417F2-8F45-8AEE-F41B-6456BB1A856A}"/>
              </a:ext>
            </a:extLst>
          </p:cNvPr>
          <p:cNvCxnSpPr>
            <a:cxnSpLocks/>
            <a:stCxn id="5" idx="6"/>
            <a:endCxn id="5" idx="0"/>
          </p:cNvCxnSpPr>
          <p:nvPr/>
        </p:nvCxnSpPr>
        <p:spPr>
          <a:xfrm flipH="1" flipV="1">
            <a:off x="7641955" y="2767876"/>
            <a:ext cx="918274" cy="918275"/>
          </a:xfrm>
          <a:prstGeom prst="curvedConnector4">
            <a:avLst>
              <a:gd name="adj1" fmla="val -60338"/>
              <a:gd name="adj2" fmla="val 156119"/>
            </a:avLst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2EF65E9-C59D-C013-FD1F-F9B46CEF7DEF}"/>
              </a:ext>
            </a:extLst>
          </p:cNvPr>
          <p:cNvSpPr txBox="1"/>
          <p:nvPr/>
        </p:nvSpPr>
        <p:spPr>
          <a:xfrm>
            <a:off x="8032042" y="1816485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{2,3}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885F1A-176E-3370-E320-9DE0254807F1}"/>
              </a:ext>
            </a:extLst>
          </p:cNvPr>
          <p:cNvSpPr txBox="1"/>
          <p:nvPr/>
        </p:nvSpPr>
        <p:spPr>
          <a:xfrm>
            <a:off x="5296222" y="5440780"/>
            <a:ext cx="1936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{0,1,  4,5,6,7,8}</a:t>
            </a:r>
            <a:endParaRPr lang="en-US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FCA6C91-3897-0483-DEC6-E3EF6F2587A3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>
            <a:off x="6066294" y="3028764"/>
            <a:ext cx="12700" cy="3151322"/>
          </a:xfrm>
          <a:prstGeom prst="curvedConnector3">
            <a:avLst>
              <a:gd name="adj1" fmla="val 5949150"/>
            </a:avLst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1369217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D0F17CF3-5DAE-68C3-B4A1-B9A23BA0C178}"/>
              </a:ext>
            </a:extLst>
          </p:cNvPr>
          <p:cNvSpPr txBox="1"/>
          <p:nvPr/>
        </p:nvSpPr>
        <p:spPr>
          <a:xfrm>
            <a:off x="926682" y="716105"/>
            <a:ext cx="1328979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90AF9A-CF7B-6EE5-B158-291EC97AFE80}"/>
              </a:ext>
            </a:extLst>
          </p:cNvPr>
          <p:cNvSpPr txBox="1"/>
          <p:nvPr/>
        </p:nvSpPr>
        <p:spPr>
          <a:xfrm>
            <a:off x="3577001" y="716105"/>
            <a:ext cx="2005310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Initial State — 0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9BE6F2-135F-A584-3597-DDE885A88477}"/>
              </a:ext>
            </a:extLst>
          </p:cNvPr>
          <p:cNvSpPr txBox="1"/>
          <p:nvPr/>
        </p:nvSpPr>
        <p:spPr>
          <a:xfrm>
            <a:off x="6697971" y="7161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1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15B9FC-E53D-0C4F-E42E-E16037254E23}"/>
              </a:ext>
            </a:extLst>
          </p:cNvPr>
          <p:cNvSpPr txBox="1"/>
          <p:nvPr/>
        </p:nvSpPr>
        <p:spPr>
          <a:xfrm>
            <a:off x="9670841" y="7161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2</a:t>
            </a:r>
            <a:endParaRPr lang="en-US" dirty="0"/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461E574-21DE-F62F-FD55-44CF49BD28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17243"/>
              </p:ext>
            </p:extLst>
          </p:nvPr>
        </p:nvGraphicFramePr>
        <p:xfrm>
          <a:off x="498541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B2D322BC-6A05-B6A0-1070-9E14098BF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284365"/>
              </p:ext>
            </p:extLst>
          </p:nvPr>
        </p:nvGraphicFramePr>
        <p:xfrm>
          <a:off x="3479951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4A429455-F4CA-68DB-F8FF-EB7B26486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342575"/>
              </p:ext>
            </p:extLst>
          </p:nvPr>
        </p:nvGraphicFramePr>
        <p:xfrm>
          <a:off x="6461361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D179225-8F42-A947-6220-562025912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912289"/>
              </p:ext>
            </p:extLst>
          </p:nvPr>
        </p:nvGraphicFramePr>
        <p:xfrm>
          <a:off x="9442772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16218A3-1733-B54F-FA1D-B323DC34C519}"/>
              </a:ext>
            </a:extLst>
          </p:cNvPr>
          <p:cNvSpPr txBox="1"/>
          <p:nvPr/>
        </p:nvSpPr>
        <p:spPr>
          <a:xfrm>
            <a:off x="453985" y="3813183"/>
            <a:ext cx="2281467" cy="646331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3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F4ED75-9810-99A4-5449-496FBFEC936C}"/>
              </a:ext>
            </a:extLst>
          </p:cNvPr>
          <p:cNvSpPr txBox="1"/>
          <p:nvPr/>
        </p:nvSpPr>
        <p:spPr>
          <a:xfrm>
            <a:off x="3577001" y="3813183"/>
            <a:ext cx="2005310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4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9D0A0-6D5B-8017-2EA3-794E7264E469}"/>
              </a:ext>
            </a:extLst>
          </p:cNvPr>
          <p:cNvSpPr txBox="1"/>
          <p:nvPr/>
        </p:nvSpPr>
        <p:spPr>
          <a:xfrm>
            <a:off x="6697971" y="3813183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5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4008D6-F6E1-2BB2-BA71-2E7980335B51}"/>
              </a:ext>
            </a:extLst>
          </p:cNvPr>
          <p:cNvSpPr txBox="1"/>
          <p:nvPr/>
        </p:nvSpPr>
        <p:spPr>
          <a:xfrm>
            <a:off x="9670841" y="3813183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47A1EB2-2CB2-DD09-3A52-041D3A54DA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568475"/>
              </p:ext>
            </p:extLst>
          </p:nvPr>
        </p:nvGraphicFramePr>
        <p:xfrm>
          <a:off x="498541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629FACE-297E-0FDC-DDE2-591943F6E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753739"/>
              </p:ext>
            </p:extLst>
          </p:nvPr>
        </p:nvGraphicFramePr>
        <p:xfrm>
          <a:off x="3479951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CB1FD-B231-7646-7B31-4C3BA3BC3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334661"/>
              </p:ext>
            </p:extLst>
          </p:nvPr>
        </p:nvGraphicFramePr>
        <p:xfrm>
          <a:off x="6461361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60706AB-0665-CB46-5EF0-0845EC459E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165922"/>
              </p:ext>
            </p:extLst>
          </p:nvPr>
        </p:nvGraphicFramePr>
        <p:xfrm>
          <a:off x="9442772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9ADE562-0E39-D80E-FDE8-E66393A03390}"/>
              </a:ext>
            </a:extLst>
          </p:cNvPr>
          <p:cNvSpPr txBox="1"/>
          <p:nvPr/>
        </p:nvSpPr>
        <p:spPr>
          <a:xfrm>
            <a:off x="4466701" y="37905"/>
            <a:ext cx="30988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Glider</a:t>
            </a:r>
            <a:endParaRPr lang="en-US" sz="2800" dirty="0"/>
          </a:p>
        </p:txBody>
      </p:sp>
      <p:sp>
        <p:nvSpPr>
          <p:cNvPr id="31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830229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9ADE562-0E39-D80E-FDE8-E66393A03390}"/>
              </a:ext>
            </a:extLst>
          </p:cNvPr>
          <p:cNvSpPr txBox="1"/>
          <p:nvPr/>
        </p:nvSpPr>
        <p:spPr>
          <a:xfrm>
            <a:off x="2265942" y="340123"/>
            <a:ext cx="7428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Aspects of Conway’s Game of Life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A3FA09-983D-1B2B-DCDD-7C91DBC7E633}"/>
              </a:ext>
            </a:extLst>
          </p:cNvPr>
          <p:cNvSpPr txBox="1"/>
          <p:nvPr/>
        </p:nvSpPr>
        <p:spPr>
          <a:xfrm>
            <a:off x="202194" y="1683209"/>
            <a:ext cx="117876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Consider each glider as an </a:t>
            </a:r>
            <a:r>
              <a:rPr lang="en-US" sz="2400" b="1" i="1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assembly-like pattern</a:t>
            </a:r>
            <a:r>
              <a:rPr lang="en-US" sz="2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live cells.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glider appears to live on as it moves across an empty grid.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cells are temporary; most last only a few time steps.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pattern keeps its identity while the cells turn over.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Conway's Life, </a:t>
            </a:r>
            <a:r>
              <a:rPr lang="en-US" sz="2400" b="1" i="1" dirty="0">
                <a:solidFill>
                  <a:srgbClr val="FF7E7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provenance</a:t>
            </a:r>
            <a:r>
              <a:rPr lang="en-US" sz="24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means a live cell exists at one grid location for one tick, many ticks, or forever.</a:t>
            </a:r>
          </a:p>
          <a:p>
            <a:endParaRPr lang="en-US" sz="2400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227155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D0F17CF3-5DAE-68C3-B4A1-B9A23BA0C178}"/>
              </a:ext>
            </a:extLst>
          </p:cNvPr>
          <p:cNvSpPr txBox="1"/>
          <p:nvPr/>
        </p:nvSpPr>
        <p:spPr>
          <a:xfrm>
            <a:off x="926682" y="716105"/>
            <a:ext cx="1328979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90AF9A-CF7B-6EE5-B158-291EC97AFE80}"/>
              </a:ext>
            </a:extLst>
          </p:cNvPr>
          <p:cNvSpPr txBox="1"/>
          <p:nvPr/>
        </p:nvSpPr>
        <p:spPr>
          <a:xfrm>
            <a:off x="3577001" y="716105"/>
            <a:ext cx="2005310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Initial State — 0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9BE6F2-135F-A584-3597-DDE885A88477}"/>
              </a:ext>
            </a:extLst>
          </p:cNvPr>
          <p:cNvSpPr txBox="1"/>
          <p:nvPr/>
        </p:nvSpPr>
        <p:spPr>
          <a:xfrm>
            <a:off x="6697971" y="7161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1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15B9FC-E53D-0C4F-E42E-E16037254E23}"/>
              </a:ext>
            </a:extLst>
          </p:cNvPr>
          <p:cNvSpPr txBox="1"/>
          <p:nvPr/>
        </p:nvSpPr>
        <p:spPr>
          <a:xfrm>
            <a:off x="9670841" y="716105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2</a:t>
            </a:r>
            <a:endParaRPr lang="en-US" dirty="0"/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461E574-21DE-F62F-FD55-44CF49BD2887}"/>
              </a:ext>
            </a:extLst>
          </p:cNvPr>
          <p:cNvGraphicFramePr>
            <a:graphicFrameLocks noGrp="1"/>
          </p:cNvGraphicFramePr>
          <p:nvPr/>
        </p:nvGraphicFramePr>
        <p:xfrm>
          <a:off x="498541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B2D322BC-6A05-B6A0-1070-9E14098BF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818694"/>
              </p:ext>
            </p:extLst>
          </p:nvPr>
        </p:nvGraphicFramePr>
        <p:xfrm>
          <a:off x="3479951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4A429455-F4CA-68DB-F8FF-EB7B26486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7775919"/>
              </p:ext>
            </p:extLst>
          </p:nvPr>
        </p:nvGraphicFramePr>
        <p:xfrm>
          <a:off x="6461361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D179225-8F42-A947-6220-562025912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909396"/>
              </p:ext>
            </p:extLst>
          </p:nvPr>
        </p:nvGraphicFramePr>
        <p:xfrm>
          <a:off x="9442772" y="1241986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16218A3-1733-B54F-FA1D-B323DC34C519}"/>
              </a:ext>
            </a:extLst>
          </p:cNvPr>
          <p:cNvSpPr txBox="1"/>
          <p:nvPr/>
        </p:nvSpPr>
        <p:spPr>
          <a:xfrm>
            <a:off x="453985" y="3813183"/>
            <a:ext cx="2281467" cy="646331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3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F4ED75-9810-99A4-5449-496FBFEC936C}"/>
              </a:ext>
            </a:extLst>
          </p:cNvPr>
          <p:cNvSpPr txBox="1"/>
          <p:nvPr/>
        </p:nvSpPr>
        <p:spPr>
          <a:xfrm>
            <a:off x="3577001" y="3813183"/>
            <a:ext cx="2005310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4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9D0A0-6D5B-8017-2EA3-794E7264E469}"/>
              </a:ext>
            </a:extLst>
          </p:cNvPr>
          <p:cNvSpPr txBox="1"/>
          <p:nvPr/>
        </p:nvSpPr>
        <p:spPr>
          <a:xfrm>
            <a:off x="6697971" y="3813183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5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4008D6-F6E1-2BB2-BA71-2E7980335B51}"/>
              </a:ext>
            </a:extLst>
          </p:cNvPr>
          <p:cNvSpPr txBox="1"/>
          <p:nvPr/>
        </p:nvSpPr>
        <p:spPr>
          <a:xfrm>
            <a:off x="9670841" y="3813183"/>
            <a:ext cx="1735155" cy="369332"/>
          </a:xfrm>
          <a:prstGeom prst="rect">
            <a:avLst/>
          </a:prstGeom>
          <a:noFill/>
        </p:spPr>
        <p:txBody>
          <a:bodyPr wrap="square" anchor="t" anchorCtr="1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Evolution — 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47A1EB2-2CB2-DD09-3A52-041D3A54DA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305270"/>
              </p:ext>
            </p:extLst>
          </p:nvPr>
        </p:nvGraphicFramePr>
        <p:xfrm>
          <a:off x="498541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629FACE-297E-0FDC-DDE2-591943F6E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908759"/>
              </p:ext>
            </p:extLst>
          </p:nvPr>
        </p:nvGraphicFramePr>
        <p:xfrm>
          <a:off x="3479951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CB1FD-B231-7646-7B31-4C3BA3BC3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670675"/>
              </p:ext>
            </p:extLst>
          </p:nvPr>
        </p:nvGraphicFramePr>
        <p:xfrm>
          <a:off x="6461361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60706AB-0665-CB46-5EF0-0845EC459E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072405"/>
              </p:ext>
            </p:extLst>
          </p:nvPr>
        </p:nvGraphicFramePr>
        <p:xfrm>
          <a:off x="9442772" y="4339064"/>
          <a:ext cx="21912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15">
                  <a:extLst>
                    <a:ext uri="{9D8B030D-6E8A-4147-A177-3AD203B41FA5}">
                      <a16:colId xmlns:a16="http://schemas.microsoft.com/office/drawing/2014/main" val="24267970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991145301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978980914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2296274480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975676106"/>
                    </a:ext>
                  </a:extLst>
                </a:gridCol>
                <a:gridCol w="365215">
                  <a:extLst>
                    <a:ext uri="{9D8B030D-6E8A-4147-A177-3AD203B41FA5}">
                      <a16:colId xmlns:a16="http://schemas.microsoft.com/office/drawing/2014/main" val="1116194281"/>
                    </a:ext>
                  </a:extLst>
                </a:gridCol>
              </a:tblGrid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212022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138261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279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234374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16940"/>
                  </a:ext>
                </a:extLst>
              </a:tr>
              <a:tr h="228768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72433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9ADE562-0E39-D80E-FDE8-E66393A03390}"/>
              </a:ext>
            </a:extLst>
          </p:cNvPr>
          <p:cNvSpPr txBox="1"/>
          <p:nvPr/>
        </p:nvSpPr>
        <p:spPr>
          <a:xfrm>
            <a:off x="1942332" y="36336"/>
            <a:ext cx="848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Glider with Evolutionary Step Lineage</a:t>
            </a:r>
            <a:endParaRPr lang="en-US" sz="2800" dirty="0"/>
          </a:p>
        </p:txBody>
      </p:sp>
      <p:sp>
        <p:nvSpPr>
          <p:cNvPr id="31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1787452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34408CB6-F8DA-2819-40C2-45FD6D205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880" y="1043628"/>
            <a:ext cx="5769573" cy="4154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BB8015-F790-F752-FD42-D4B6F2878CFF}"/>
              </a:ext>
            </a:extLst>
          </p:cNvPr>
          <p:cNvSpPr txBox="1"/>
          <p:nvPr/>
        </p:nvSpPr>
        <p:spPr>
          <a:xfrm>
            <a:off x="2903150" y="5279201"/>
            <a:ext cx="625895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Gosper's glider gun creating gliders</a:t>
            </a:r>
          </a:p>
          <a:p>
            <a:pPr algn="r"/>
            <a:endParaRPr lang="en-US" sz="1600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6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Wikipedia</a:t>
            </a:r>
            <a:endParaRPr lang="en-US" sz="2800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7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566126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8BB8015-F790-F752-FD42-D4B6F2878CFF}"/>
              </a:ext>
            </a:extLst>
          </p:cNvPr>
          <p:cNvSpPr txBox="1"/>
          <p:nvPr/>
        </p:nvSpPr>
        <p:spPr>
          <a:xfrm>
            <a:off x="2298068" y="377385"/>
            <a:ext cx="7580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Game of Life on the surface of a toroidal trefoil knot</a:t>
            </a:r>
            <a:br>
              <a:rPr lang="en-US" sz="20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6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Wikipedia</a:t>
            </a:r>
            <a:endParaRPr lang="en-US" sz="3200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122" name="Picture 2" descr="Game of Life on the surface of a trefoil knot">
            <a:extLst>
              <a:ext uri="{FF2B5EF4-FFF2-40B4-BE49-F238E27FC236}">
                <a16:creationId xmlns:a16="http://schemas.microsoft.com/office/drawing/2014/main" id="{C5755AF4-F99E-7903-694B-A19EAD207D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1137" y="1271329"/>
            <a:ext cx="5694630" cy="504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2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2963605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2CFDF-36BB-E543-1E37-9381DCC16964}"/>
              </a:ext>
            </a:extLst>
          </p:cNvPr>
          <p:cNvSpPr txBox="1">
            <a:spLocks/>
          </p:cNvSpPr>
          <p:nvPr/>
        </p:nvSpPr>
        <p:spPr>
          <a:xfrm>
            <a:off x="316871" y="106045"/>
            <a:ext cx="11597488" cy="80835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Game of Life is only an analogy</a:t>
            </a:r>
          </a:p>
        </p:txBody>
      </p:sp>
      <p:graphicFrame>
        <p:nvGraphicFramePr>
          <p:cNvPr id="3" name="Content Placeholder 3">
            <a:extLst>
              <a:ext uri="{FF2B5EF4-FFF2-40B4-BE49-F238E27FC236}">
                <a16:creationId xmlns:a16="http://schemas.microsoft.com/office/drawing/2014/main" id="{26383BE7-F26D-0AD2-8225-3B8198ED79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238572"/>
              </p:ext>
            </p:extLst>
          </p:nvPr>
        </p:nvGraphicFramePr>
        <p:xfrm>
          <a:off x="292489" y="1020763"/>
          <a:ext cx="11621869" cy="5110444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2143115">
                  <a:extLst>
                    <a:ext uri="{9D8B030D-6E8A-4147-A177-3AD203B41FA5}">
                      <a16:colId xmlns:a16="http://schemas.microsoft.com/office/drawing/2014/main" val="116762248"/>
                    </a:ext>
                  </a:extLst>
                </a:gridCol>
                <a:gridCol w="4626069">
                  <a:extLst>
                    <a:ext uri="{9D8B030D-6E8A-4147-A177-3AD203B41FA5}">
                      <a16:colId xmlns:a16="http://schemas.microsoft.com/office/drawing/2014/main" val="1211009920"/>
                    </a:ext>
                  </a:extLst>
                </a:gridCol>
                <a:gridCol w="4852685">
                  <a:extLst>
                    <a:ext uri="{9D8B030D-6E8A-4147-A177-3AD203B41FA5}">
                      <a16:colId xmlns:a16="http://schemas.microsoft.com/office/drawing/2014/main" val="1871164787"/>
                    </a:ext>
                  </a:extLst>
                </a:gridCol>
              </a:tblGrid>
              <a:tr h="39678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Conway's Game of Life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AAA master equation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145992"/>
                  </a:ext>
                </a:extLst>
              </a:tr>
              <a:tr h="396788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What changes?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Cell states switch between live and dead.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Architrino paths evolve continuously.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5001177"/>
                  </a:ext>
                </a:extLst>
              </a:tr>
              <a:tr h="396788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The grid updates one tick at a time.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Time changes continuously, not in ticks.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0278766"/>
                  </a:ext>
                </a:extLst>
              </a:tr>
              <a:tr h="88000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Rule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 local neighbor rule chooses the next state.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An action law selects the allowed path history.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755239"/>
                  </a:ext>
                </a:extLst>
              </a:tr>
              <a:tr h="61000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Origin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 meta player chooses an initial pattern.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Architrinos are persistent primitives, not cells born from a grid.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791324"/>
                  </a:ext>
                </a:extLst>
              </a:tr>
              <a:tr h="135000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What survives?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Patterns such as gliders can persist while their cells turn over.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Assemblies can persist while architrinos keep continuous provenance.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438559"/>
                  </a:ext>
                </a:extLst>
              </a:tr>
              <a:tr h="105000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Lesson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Simple rules can produce surprising structure.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The analogy helps intuition, but AAA is not a cellular automaton.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0317306"/>
                  </a:ext>
                </a:extLst>
              </a:tr>
            </a:tbl>
          </a:graphicData>
        </a:graphic>
      </p:graphicFrame>
      <p:sp>
        <p:nvSpPr>
          <p:cNvPr id="4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1459071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21108</TotalTime>
  <Words>666</Words>
  <Application>Microsoft Macintosh PowerPoint</Application>
  <PresentationFormat>Widescreen</PresentationFormat>
  <Paragraphs>146</Paragraphs>
  <Slides>11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Helvetica Neue</vt:lpstr>
      <vt:lpstr>Helvetica Neue Condensed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365</cp:revision>
  <cp:lastPrinted>2022-09-07T12:10:19Z</cp:lastPrinted>
  <dcterms:created xsi:type="dcterms:W3CDTF">2022-02-05T18:41:13Z</dcterms:created>
  <dcterms:modified xsi:type="dcterms:W3CDTF">2026-07-03T18:37:13Z</dcterms:modified>
</cp:coreProperties>
</file>