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838" r:id="rId2"/>
    <p:sldId id="825" r:id="rId3"/>
    <p:sldId id="824" r:id="rId4"/>
    <p:sldId id="831" r:id="rId5"/>
    <p:sldId id="835" r:id="rId6"/>
    <p:sldId id="832" r:id="rId7"/>
    <p:sldId id="833" r:id="rId8"/>
    <p:sldId id="834" r:id="rId9"/>
    <p:sldId id="828" r:id="rId10"/>
    <p:sldId id="827" r:id="rId11"/>
    <p:sldId id="839" r:id="rId18"/>
    <p:sldId id="8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85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266"/>
    <p:restoredTop sz="84315"/>
  </p:normalViewPr>
  <p:slideViewPr>
    <p:cSldViewPr snapToGrid="0" snapToObjects="1">
      <p:cViewPr varScale="1">
        <p:scale>
          <a:sx n="106" d="100"/>
          <a:sy n="106" d="100"/>
        </p:scale>
        <p:origin x="199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notesMaster" Target="notesMasters/notesMaster1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tableStyles" Target="tableStyles.xml" /><ns0:Relationship Id="rId2" Type="http://schemas.openxmlformats.org/officeDocument/2006/relationships/slide" Target="slides/slide1.xml" /><ns0:Relationship Id="rId16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viewProps" Target="viewProps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presProps" Target="presProps.xml" /><ns0:Relationship Id="rId18" Type="http://schemas.openxmlformats.org/officeDocument/2006/relationships/slide" Target="slides/slide12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'1.0' encoding='utf-8'?>
<ns0:Relationships xmlns:ns0="http://schemas.openxmlformats.org/package/2006/relationships"><ns0:Relationship Id="rId2" Type="http://schemas.openxmlformats.org/officeDocument/2006/relationships/slide" Target="../slides/slide12.xml" /><ns0:Relationship Id="rId1" Type="http://schemas.openxmlformats.org/officeDocument/2006/relationships/notesMaster" Target="../notesMasters/notesMaster1.xml" />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74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36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2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92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82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21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8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7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63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ns2:creationId val="1902163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2.xml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695739"/>
            <a:ext cx="12191999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The Game of Life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Conway and Nature</a:t>
            </a:r>
          </a:p>
        </p:txBody>
      </p:sp>
      <p:pic>
        <p:nvPicPr>
          <p:cNvPr id="4" name="Audio 4.m4a">
            <a:hlinkClick r:id="" action="ppaction://media"/>
            <a:extLst>
              <a:ext uri="{FF2B5EF4-FFF2-40B4-BE49-F238E27FC236}">
                <a16:creationId xmlns:a16="http://schemas.microsoft.com/office/drawing/2014/main" id="{517B54EF-D7B1-E948-D130-5B2C54B785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9536" y="745396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5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A47216-4DD3-BF6C-D7BA-1ED8C0A72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920" y="892862"/>
            <a:ext cx="7798160" cy="506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575926-AC14-8579-99B8-E4C7F3E6DD16}"/>
              </a:ext>
            </a:extLst>
          </p:cNvPr>
          <p:cNvSpPr txBox="1"/>
          <p:nvPr/>
        </p:nvSpPr>
        <p:spPr>
          <a:xfrm>
            <a:off x="3047246" y="6466752"/>
            <a:ext cx="6097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src</a:t>
            </a:r>
            <a:r>
              <a:rPr lang="en-US" sz="1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quanta and </a:t>
            </a:r>
            <a:r>
              <a:rPr lang="en-US" sz="14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endParaRPr lang="en-US" sz="14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3292E-AA0C-30C1-CC58-7578C10E4DC0}"/>
              </a:ext>
            </a:extLst>
          </p:cNvPr>
          <p:cNvSpPr txBox="1"/>
          <p:nvPr/>
        </p:nvSpPr>
        <p:spPr>
          <a:xfrm>
            <a:off x="1477170" y="6065438"/>
            <a:ext cx="9237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John Horton Conway FRS (26 December 1937 – 11 April 2020)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D9A62-426A-2A73-030F-D602B5E700E6}"/>
              </a:ext>
            </a:extLst>
          </p:cNvPr>
          <p:cNvSpPr txBox="1"/>
          <p:nvPr/>
        </p:nvSpPr>
        <p:spPr>
          <a:xfrm>
            <a:off x="116186" y="292152"/>
            <a:ext cx="11959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Game of Life is a cellular automaton devised by the British mathematician John Horton Conway in 1970.</a:t>
            </a:r>
          </a:p>
        </p:txBody>
      </p:sp>
    </p:spTree>
    <p:extLst>
      <p:ext uri="{BB962C8B-B14F-4D97-AF65-F5344CB8AC3E}">
        <p14:creationId xmlns:p14="http://schemas.microsoft.com/office/powerpoint/2010/main" val="13785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E75655-EC5B-156B-0B2A-3C6FAE97F54B}"/>
              </a:ext>
            </a:extLst>
          </p:cNvPr>
          <p:cNvSpPr txBox="1"/>
          <p:nvPr/>
        </p:nvSpPr>
        <p:spPr>
          <a:xfrm>
            <a:off x="116237" y="4095418"/>
            <a:ext cx="120757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Conway’s Game of Life Universe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Classically, the Game of Life plays out in an infinite, two-dimensional orthogonal grid of square cells.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cell is in one of two possible states, live or dead.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meta player interacts by creating an initial configuration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moves forward only in discrete time steps.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evolution is determined by the initial grid state, requiring no further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Meta player(s) may passively observe the initial configuration and how the grid evolves. </a:t>
            </a:r>
          </a:p>
          <a:p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src</a:t>
            </a:r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16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edited by JMM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895685" y="11423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46004" y="11423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6697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3984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N</a:t>
            </a:r>
            <a:endParaRPr lang="en-US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FBB8D77-17CA-9E25-40F6-2187680AE78A}"/>
              </a:ext>
            </a:extLst>
          </p:cNvPr>
          <p:cNvSpPr/>
          <p:nvPr/>
        </p:nvSpPr>
        <p:spPr>
          <a:xfrm rot="16200000">
            <a:off x="2838947" y="-1604187"/>
            <a:ext cx="433953" cy="5176760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2D7CB152-358A-F906-7CC4-816981C01F31}"/>
              </a:ext>
            </a:extLst>
          </p:cNvPr>
          <p:cNvSpPr/>
          <p:nvPr/>
        </p:nvSpPr>
        <p:spPr>
          <a:xfrm rot="16200000">
            <a:off x="8461864" y="-1940033"/>
            <a:ext cx="433953" cy="5848449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21EF82-06E4-D0AB-36F9-2B82B8A93A17}"/>
              </a:ext>
            </a:extLst>
          </p:cNvPr>
          <p:cNvSpPr txBox="1"/>
          <p:nvPr/>
        </p:nvSpPr>
        <p:spPr>
          <a:xfrm>
            <a:off x="2145562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Universe</a:t>
            </a:r>
            <a:endParaRPr lang="en-US" sz="2800" dirty="0">
              <a:solidFill>
                <a:srgbClr val="FF7E7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BDD8E-11A5-06FA-7BEC-37DFC9619EEC}"/>
              </a:ext>
            </a:extLst>
          </p:cNvPr>
          <p:cNvSpPr txBox="1"/>
          <p:nvPr/>
        </p:nvSpPr>
        <p:spPr>
          <a:xfrm>
            <a:off x="7761114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Rules</a:t>
            </a:r>
            <a:endParaRPr lang="en-US" sz="28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53786"/>
              </p:ext>
            </p:extLst>
          </p:nvPr>
        </p:nvGraphicFramePr>
        <p:xfrm>
          <a:off x="46754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836523"/>
              </p:ext>
            </p:extLst>
          </p:nvPr>
        </p:nvGraphicFramePr>
        <p:xfrm>
          <a:off x="344895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030359"/>
              </p:ext>
            </p:extLst>
          </p:nvPr>
        </p:nvGraphicFramePr>
        <p:xfrm>
          <a:off x="643036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632342"/>
              </p:ext>
            </p:extLst>
          </p:nvPr>
        </p:nvGraphicFramePr>
        <p:xfrm>
          <a:off x="9411775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23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895685" y="11423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46004" y="11423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6697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39844" y="11423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2</a:t>
            </a:r>
            <a:endParaRPr lang="en-US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FBB8D77-17CA-9E25-40F6-2187680AE78A}"/>
              </a:ext>
            </a:extLst>
          </p:cNvPr>
          <p:cNvSpPr/>
          <p:nvPr/>
        </p:nvSpPr>
        <p:spPr>
          <a:xfrm rot="16200000">
            <a:off x="2838947" y="-1604187"/>
            <a:ext cx="433953" cy="5176760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2D7CB152-358A-F906-7CC4-816981C01F31}"/>
              </a:ext>
            </a:extLst>
          </p:cNvPr>
          <p:cNvSpPr/>
          <p:nvPr/>
        </p:nvSpPr>
        <p:spPr>
          <a:xfrm rot="16200000">
            <a:off x="8461864" y="-1940033"/>
            <a:ext cx="433953" cy="5848449"/>
          </a:xfrm>
          <a:prstGeom prst="rightBrace">
            <a:avLst>
              <a:gd name="adj1" fmla="val 40476"/>
              <a:gd name="adj2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21EF82-06E4-D0AB-36F9-2B82B8A93A17}"/>
              </a:ext>
            </a:extLst>
          </p:cNvPr>
          <p:cNvSpPr txBox="1"/>
          <p:nvPr/>
        </p:nvSpPr>
        <p:spPr>
          <a:xfrm>
            <a:off x="2145562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Universe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5BDD8E-11A5-06FA-7BEC-37DFC9619EEC}"/>
              </a:ext>
            </a:extLst>
          </p:cNvPr>
          <p:cNvSpPr txBox="1"/>
          <p:nvPr/>
        </p:nvSpPr>
        <p:spPr>
          <a:xfrm>
            <a:off x="7761114" y="206115"/>
            <a:ext cx="183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Rules</a:t>
            </a:r>
            <a:endParaRPr lang="en-US" sz="2800" dirty="0">
              <a:solidFill>
                <a:srgbClr val="FF7E79"/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30394"/>
              </p:ext>
            </p:extLst>
          </p:nvPr>
        </p:nvGraphicFramePr>
        <p:xfrm>
          <a:off x="46754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39611"/>
              </p:ext>
            </p:extLst>
          </p:nvPr>
        </p:nvGraphicFramePr>
        <p:xfrm>
          <a:off x="344895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84283"/>
              </p:ext>
            </p:extLst>
          </p:nvPr>
        </p:nvGraphicFramePr>
        <p:xfrm>
          <a:off x="6430364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586607"/>
              </p:ext>
            </p:extLst>
          </p:nvPr>
        </p:nvGraphicFramePr>
        <p:xfrm>
          <a:off x="9411775" y="16681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8DA696C-503A-5149-B213-C4F454ECADB9}"/>
              </a:ext>
            </a:extLst>
          </p:cNvPr>
          <p:cNvSpPr txBox="1"/>
          <p:nvPr/>
        </p:nvSpPr>
        <p:spPr>
          <a:xfrm>
            <a:off x="318432" y="3945962"/>
            <a:ext cx="117876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Conway’s Game of </a:t>
            </a:r>
            <a:r>
              <a:rPr lang="en-US" sz="2000" b="1" dirty="0" err="1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</a:t>
            </a:r>
            <a:r>
              <a:rPr lang="en-US" sz="2000" b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Rules</a:t>
            </a:r>
            <a:r>
              <a:rPr lang="en-US" sz="2000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 cell interacts with its eight surrounding neighbors.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each time step, the following transitions occur: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live cell with fewer than two live neighbors dies, as if by underpopulation.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live cell with two or three live neighbors lives on to the next evolution step.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live cell with more than three live neighbors dies, as if by overpopulation.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 dead cell with exactly three live neighbors becomes a live cell, as if by reproduction.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first evolution step is created by applying the rules to every cell in the initial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rules are applied each time step to create a new evolution step.                     </a:t>
            </a:r>
            <a:r>
              <a:rPr lang="en-US" sz="11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src</a:t>
            </a:r>
            <a:r>
              <a:rPr lang="en-US" sz="11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11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r>
              <a:rPr lang="en-US" sz="11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edited by JMM</a:t>
            </a:r>
          </a:p>
        </p:txBody>
      </p:sp>
    </p:spTree>
    <p:extLst>
      <p:ext uri="{BB962C8B-B14F-4D97-AF65-F5344CB8AC3E}">
        <p14:creationId xmlns:p14="http://schemas.microsoft.com/office/powerpoint/2010/main" val="64388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CFDF-36BB-E543-1E37-9381DCC16964}"/>
              </a:ext>
            </a:extLst>
          </p:cNvPr>
          <p:cNvSpPr txBox="1">
            <a:spLocks/>
          </p:cNvSpPr>
          <p:nvPr/>
        </p:nvSpPr>
        <p:spPr>
          <a:xfrm>
            <a:off x="781820" y="239533"/>
            <a:ext cx="11597488" cy="80835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Conway’s Cell Life State Diagram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8736C2-3AA7-DB7B-E13D-7DAD0186ED80}"/>
              </a:ext>
            </a:extLst>
          </p:cNvPr>
          <p:cNvSpPr/>
          <p:nvPr/>
        </p:nvSpPr>
        <p:spPr>
          <a:xfrm>
            <a:off x="3572358" y="2767876"/>
            <a:ext cx="1836549" cy="18365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dead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FFCBBA-13D0-D0A1-682D-08E2B2279C74}"/>
              </a:ext>
            </a:extLst>
          </p:cNvPr>
          <p:cNvSpPr/>
          <p:nvPr/>
        </p:nvSpPr>
        <p:spPr>
          <a:xfrm>
            <a:off x="6723680" y="2767876"/>
            <a:ext cx="1836549" cy="1836549"/>
          </a:xfrm>
          <a:prstGeom prst="ellipse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3DA57CF-1706-A086-E895-1718D7409256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5408907" y="3686151"/>
            <a:ext cx="1314773" cy="12700"/>
          </a:xfrm>
          <a:prstGeom prst="curvedConnector3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238624-30ED-1198-413F-C71F57FC674C}"/>
              </a:ext>
            </a:extLst>
          </p:cNvPr>
          <p:cNvSpPr txBox="1"/>
          <p:nvPr/>
        </p:nvSpPr>
        <p:spPr>
          <a:xfrm>
            <a:off x="5836494" y="324081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{3}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391675E3-C28C-12CA-2757-5CBDAD4C7C10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 rot="16200000" flipH="1" flipV="1">
            <a:off x="3572358" y="2767875"/>
            <a:ext cx="918275" cy="918275"/>
          </a:xfrm>
          <a:prstGeom prst="curvedConnector4">
            <a:avLst>
              <a:gd name="adj1" fmla="val -55275"/>
              <a:gd name="adj2" fmla="val 157806"/>
            </a:avLst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C3E77B-B5C7-37C5-F4C1-A1A598206616}"/>
              </a:ext>
            </a:extLst>
          </p:cNvPr>
          <p:cNvSpPr txBox="1"/>
          <p:nvPr/>
        </p:nvSpPr>
        <p:spPr>
          <a:xfrm>
            <a:off x="2741954" y="1816485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{0,1,2,  4,5,6,7,8}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5E417F2-8F45-8AEE-F41B-6456BB1A856A}"/>
              </a:ext>
            </a:extLst>
          </p:cNvPr>
          <p:cNvCxnSpPr>
            <a:cxnSpLocks/>
            <a:stCxn id="5" idx="6"/>
            <a:endCxn id="5" idx="0"/>
          </p:cNvCxnSpPr>
          <p:nvPr/>
        </p:nvCxnSpPr>
        <p:spPr>
          <a:xfrm flipH="1" flipV="1">
            <a:off x="7641955" y="2767876"/>
            <a:ext cx="918274" cy="918275"/>
          </a:xfrm>
          <a:prstGeom prst="curvedConnector4">
            <a:avLst>
              <a:gd name="adj1" fmla="val -60338"/>
              <a:gd name="adj2" fmla="val 156119"/>
            </a:avLst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F65E9-C59D-C013-FD1F-F9B46CEF7DEF}"/>
              </a:ext>
            </a:extLst>
          </p:cNvPr>
          <p:cNvSpPr txBox="1"/>
          <p:nvPr/>
        </p:nvSpPr>
        <p:spPr>
          <a:xfrm>
            <a:off x="8032042" y="181648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{2,3}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885F1A-176E-3370-E320-9DE0254807F1}"/>
              </a:ext>
            </a:extLst>
          </p:cNvPr>
          <p:cNvSpPr txBox="1"/>
          <p:nvPr/>
        </p:nvSpPr>
        <p:spPr>
          <a:xfrm>
            <a:off x="5296222" y="5440780"/>
            <a:ext cx="1936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{0,1,  4,5,6,7,8}</a:t>
            </a:r>
            <a:endParaRPr lang="en-US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FFCA6C91-3897-0483-DEC6-E3EF6F2587A3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>
            <a:off x="6066294" y="3028764"/>
            <a:ext cx="12700" cy="3151322"/>
          </a:xfrm>
          <a:prstGeom prst="curvedConnector3">
            <a:avLst>
              <a:gd name="adj1" fmla="val 5949150"/>
            </a:avLst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21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926682" y="7161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77001" y="7161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9797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7084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2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7243"/>
              </p:ext>
            </p:extLst>
          </p:nvPr>
        </p:nvGraphicFramePr>
        <p:xfrm>
          <a:off x="49854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284365"/>
              </p:ext>
            </p:extLst>
          </p:nvPr>
        </p:nvGraphicFramePr>
        <p:xfrm>
          <a:off x="347995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42575"/>
              </p:ext>
            </p:extLst>
          </p:nvPr>
        </p:nvGraphicFramePr>
        <p:xfrm>
          <a:off x="646136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912289"/>
              </p:ext>
            </p:extLst>
          </p:nvPr>
        </p:nvGraphicFramePr>
        <p:xfrm>
          <a:off x="9442772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6218A3-1733-B54F-FA1D-B323DC34C519}"/>
              </a:ext>
            </a:extLst>
          </p:cNvPr>
          <p:cNvSpPr txBox="1"/>
          <p:nvPr/>
        </p:nvSpPr>
        <p:spPr>
          <a:xfrm>
            <a:off x="453985" y="3813183"/>
            <a:ext cx="2281467" cy="64633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3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4ED75-9810-99A4-5449-496FBFEC936C}"/>
              </a:ext>
            </a:extLst>
          </p:cNvPr>
          <p:cNvSpPr txBox="1"/>
          <p:nvPr/>
        </p:nvSpPr>
        <p:spPr>
          <a:xfrm>
            <a:off x="3577001" y="3813183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9D0A0-6D5B-8017-2EA3-794E7264E469}"/>
              </a:ext>
            </a:extLst>
          </p:cNvPr>
          <p:cNvSpPr txBox="1"/>
          <p:nvPr/>
        </p:nvSpPr>
        <p:spPr>
          <a:xfrm>
            <a:off x="669797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008D6-F6E1-2BB2-BA71-2E7980335B51}"/>
              </a:ext>
            </a:extLst>
          </p:cNvPr>
          <p:cNvSpPr txBox="1"/>
          <p:nvPr/>
        </p:nvSpPr>
        <p:spPr>
          <a:xfrm>
            <a:off x="967084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6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7A1EB2-2CB2-DD09-3A52-041D3A54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568475"/>
              </p:ext>
            </p:extLst>
          </p:nvPr>
        </p:nvGraphicFramePr>
        <p:xfrm>
          <a:off x="49854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29FACE-297E-0FDC-DDE2-591943F6E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753739"/>
              </p:ext>
            </p:extLst>
          </p:nvPr>
        </p:nvGraphicFramePr>
        <p:xfrm>
          <a:off x="347995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CB1FD-B231-7646-7B31-4C3BA3BC3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34661"/>
              </p:ext>
            </p:extLst>
          </p:nvPr>
        </p:nvGraphicFramePr>
        <p:xfrm>
          <a:off x="646136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0706AB-0665-CB46-5EF0-0845EC459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65922"/>
              </p:ext>
            </p:extLst>
          </p:nvPr>
        </p:nvGraphicFramePr>
        <p:xfrm>
          <a:off x="9442772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9ADE562-0E39-D80E-FDE8-E66393A03390}"/>
              </a:ext>
            </a:extLst>
          </p:cNvPr>
          <p:cNvSpPr txBox="1"/>
          <p:nvPr/>
        </p:nvSpPr>
        <p:spPr>
          <a:xfrm>
            <a:off x="4466701" y="37905"/>
            <a:ext cx="3098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Glider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022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9ADE562-0E39-D80E-FDE8-E66393A03390}"/>
              </a:ext>
            </a:extLst>
          </p:cNvPr>
          <p:cNvSpPr txBox="1"/>
          <p:nvPr/>
        </p:nvSpPr>
        <p:spPr>
          <a:xfrm>
            <a:off x="2265942" y="340123"/>
            <a:ext cx="7428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Aspects of Conway’s Game of Life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3FA09-983D-1B2B-DCDD-7C91DBC7E633}"/>
              </a:ext>
            </a:extLst>
          </p:cNvPr>
          <p:cNvSpPr txBox="1"/>
          <p:nvPr/>
        </p:nvSpPr>
        <p:spPr>
          <a:xfrm>
            <a:off x="202194" y="1683209"/>
            <a:ext cx="117876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 each glider as an </a:t>
            </a:r>
            <a:r>
              <a:rPr lang="en-US" sz="2400" b="1" i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live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glider assembly appears to live on, moving upon an infinite empty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Yet the cells in each glider are ephemeral with brief lifetimes of a few time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sz="2400" b="1" i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</a:t>
            </a: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cells self replicates, via an ever-changing set of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Individual cells have provenance only during their lifetime.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Conway’s life, </a:t>
            </a:r>
            <a:r>
              <a:rPr lang="en-US" sz="2400" b="1" i="1" dirty="0">
                <a:solidFill>
                  <a:srgbClr val="FF7E7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provenance</a:t>
            </a:r>
            <a:r>
              <a:rPr lang="en-US" sz="2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means a life exists in one and only one cell for their lifetime, whether it is one tick, many ticks, or forever.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Let’s label the cells with the evolution step in which they were born...</a:t>
            </a:r>
            <a:endParaRPr lang="en-US" sz="12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55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F17CF3-5DAE-68C3-B4A1-B9A23BA0C178}"/>
              </a:ext>
            </a:extLst>
          </p:cNvPr>
          <p:cNvSpPr txBox="1"/>
          <p:nvPr/>
        </p:nvSpPr>
        <p:spPr>
          <a:xfrm>
            <a:off x="926682" y="716105"/>
            <a:ext cx="1328979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Grid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0AF9A-CF7B-6EE5-B158-291EC97AFE80}"/>
              </a:ext>
            </a:extLst>
          </p:cNvPr>
          <p:cNvSpPr txBox="1"/>
          <p:nvPr/>
        </p:nvSpPr>
        <p:spPr>
          <a:xfrm>
            <a:off x="3577001" y="716105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 State — 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E6F2-135F-A584-3597-DDE885A88477}"/>
              </a:ext>
            </a:extLst>
          </p:cNvPr>
          <p:cNvSpPr txBox="1"/>
          <p:nvPr/>
        </p:nvSpPr>
        <p:spPr>
          <a:xfrm>
            <a:off x="669797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15B9FC-E53D-0C4F-E42E-E16037254E23}"/>
              </a:ext>
            </a:extLst>
          </p:cNvPr>
          <p:cNvSpPr txBox="1"/>
          <p:nvPr/>
        </p:nvSpPr>
        <p:spPr>
          <a:xfrm>
            <a:off x="9670841" y="716105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2</a:t>
            </a:r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461E574-21DE-F62F-FD55-44CF49BD2887}"/>
              </a:ext>
            </a:extLst>
          </p:cNvPr>
          <p:cNvGraphicFramePr>
            <a:graphicFrameLocks noGrp="1"/>
          </p:cNvGraphicFramePr>
          <p:nvPr/>
        </p:nvGraphicFramePr>
        <p:xfrm>
          <a:off x="49854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D322BC-6A05-B6A0-1070-9E14098BF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18694"/>
              </p:ext>
            </p:extLst>
          </p:nvPr>
        </p:nvGraphicFramePr>
        <p:xfrm>
          <a:off x="347995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429455-F4CA-68DB-F8FF-EB7B2648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775919"/>
              </p:ext>
            </p:extLst>
          </p:nvPr>
        </p:nvGraphicFramePr>
        <p:xfrm>
          <a:off x="6461361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D179225-8F42-A947-6220-562025912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909396"/>
              </p:ext>
            </p:extLst>
          </p:nvPr>
        </p:nvGraphicFramePr>
        <p:xfrm>
          <a:off x="9442772" y="1241986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6218A3-1733-B54F-FA1D-B323DC34C519}"/>
              </a:ext>
            </a:extLst>
          </p:cNvPr>
          <p:cNvSpPr txBox="1"/>
          <p:nvPr/>
        </p:nvSpPr>
        <p:spPr>
          <a:xfrm>
            <a:off x="453985" y="3813183"/>
            <a:ext cx="2281467" cy="64633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3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4ED75-9810-99A4-5449-496FBFEC936C}"/>
              </a:ext>
            </a:extLst>
          </p:cNvPr>
          <p:cNvSpPr txBox="1"/>
          <p:nvPr/>
        </p:nvSpPr>
        <p:spPr>
          <a:xfrm>
            <a:off x="3577001" y="3813183"/>
            <a:ext cx="2005310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9D0A0-6D5B-8017-2EA3-794E7264E469}"/>
              </a:ext>
            </a:extLst>
          </p:cNvPr>
          <p:cNvSpPr txBox="1"/>
          <p:nvPr/>
        </p:nvSpPr>
        <p:spPr>
          <a:xfrm>
            <a:off x="669797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008D6-F6E1-2BB2-BA71-2E7980335B51}"/>
              </a:ext>
            </a:extLst>
          </p:cNvPr>
          <p:cNvSpPr txBox="1"/>
          <p:nvPr/>
        </p:nvSpPr>
        <p:spPr>
          <a:xfrm>
            <a:off x="9670841" y="3813183"/>
            <a:ext cx="1735155" cy="36933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— 6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7A1EB2-2CB2-DD09-3A52-041D3A54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305270"/>
              </p:ext>
            </p:extLst>
          </p:nvPr>
        </p:nvGraphicFramePr>
        <p:xfrm>
          <a:off x="49854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29FACE-297E-0FDC-DDE2-591943F6E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908759"/>
              </p:ext>
            </p:extLst>
          </p:nvPr>
        </p:nvGraphicFramePr>
        <p:xfrm>
          <a:off x="347995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CB1FD-B231-7646-7B31-4C3BA3BC3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70675"/>
              </p:ext>
            </p:extLst>
          </p:nvPr>
        </p:nvGraphicFramePr>
        <p:xfrm>
          <a:off x="6461361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0706AB-0665-CB46-5EF0-0845EC459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72405"/>
              </p:ext>
            </p:extLst>
          </p:nvPr>
        </p:nvGraphicFramePr>
        <p:xfrm>
          <a:off x="9442772" y="4339064"/>
          <a:ext cx="21912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15">
                  <a:extLst>
                    <a:ext uri="{9D8B030D-6E8A-4147-A177-3AD203B41FA5}">
                      <a16:colId xmlns:a16="http://schemas.microsoft.com/office/drawing/2014/main" val="24267970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991145301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978980914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2296274480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975676106"/>
                    </a:ext>
                  </a:extLst>
                </a:gridCol>
                <a:gridCol w="365215">
                  <a:extLst>
                    <a:ext uri="{9D8B030D-6E8A-4147-A177-3AD203B41FA5}">
                      <a16:colId xmlns:a16="http://schemas.microsoft.com/office/drawing/2014/main" val="1116194281"/>
                    </a:ext>
                  </a:extLst>
                </a:gridCol>
              </a:tblGrid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212022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38261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79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34374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6940"/>
                  </a:ext>
                </a:extLst>
              </a:tr>
              <a:tr h="22876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3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9ADE562-0E39-D80E-FDE8-E66393A03390}"/>
              </a:ext>
            </a:extLst>
          </p:cNvPr>
          <p:cNvSpPr txBox="1"/>
          <p:nvPr/>
        </p:nvSpPr>
        <p:spPr>
          <a:xfrm>
            <a:off x="1942332" y="36336"/>
            <a:ext cx="848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Glider with Evolutionary Step Lineage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745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4408CB6-F8DA-2819-40C2-45FD6D205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880" y="1043628"/>
            <a:ext cx="5769573" cy="415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BB8015-F790-F752-FD42-D4B6F2878CFF}"/>
              </a:ext>
            </a:extLst>
          </p:cNvPr>
          <p:cNvSpPr txBox="1"/>
          <p:nvPr/>
        </p:nvSpPr>
        <p:spPr>
          <a:xfrm>
            <a:off x="2903150" y="5279201"/>
            <a:ext cx="6258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Gosper's glider gun creating gliders</a:t>
            </a:r>
          </a:p>
          <a:p>
            <a:pPr algn="r"/>
            <a:endParaRPr lang="en-US" sz="16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endParaRPr lang="en-US" sz="28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2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BB8015-F790-F752-FD42-D4B6F2878CFF}"/>
              </a:ext>
            </a:extLst>
          </p:cNvPr>
          <p:cNvSpPr txBox="1"/>
          <p:nvPr/>
        </p:nvSpPr>
        <p:spPr>
          <a:xfrm>
            <a:off x="2298068" y="377385"/>
            <a:ext cx="7580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Game of Life on the surface of a toroidal trefoil knot</a:t>
            </a:r>
            <a:br>
              <a:rPr lang="en-US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6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Wikipedia</a:t>
            </a:r>
            <a:endParaRPr lang="en-US" sz="32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122" name="Picture 2" descr="Game of Life on the surface of a trefoil knot">
            <a:extLst>
              <a:ext uri="{FF2B5EF4-FFF2-40B4-BE49-F238E27FC236}">
                <a16:creationId xmlns:a16="http://schemas.microsoft.com/office/drawing/2014/main" id="{C5755AF4-F99E-7903-694B-A19EAD207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137" y="1271329"/>
            <a:ext cx="5694630" cy="504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60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CFDF-36BB-E543-1E37-9381DCC16964}"/>
              </a:ext>
            </a:extLst>
          </p:cNvPr>
          <p:cNvSpPr txBox="1">
            <a:spLocks/>
          </p:cNvSpPr>
          <p:nvPr/>
        </p:nvSpPr>
        <p:spPr>
          <a:xfrm>
            <a:off x="316871" y="106045"/>
            <a:ext cx="11597488" cy="80835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 Differential : </a:t>
            </a:r>
            <a:r>
              <a:rPr lang="en-US" sz="5400" b="1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Conway v. Nature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26383BE7-F26D-0AD2-8225-3B8198ED79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360400"/>
              </p:ext>
            </p:extLst>
          </p:nvPr>
        </p:nvGraphicFramePr>
        <p:xfrm>
          <a:off x="292489" y="936539"/>
          <a:ext cx="11621869" cy="5753429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143115">
                  <a:extLst>
                    <a:ext uri="{9D8B030D-6E8A-4147-A177-3AD203B41FA5}">
                      <a16:colId xmlns:a16="http://schemas.microsoft.com/office/drawing/2014/main" val="116762248"/>
                    </a:ext>
                  </a:extLst>
                </a:gridCol>
                <a:gridCol w="4626069">
                  <a:extLst>
                    <a:ext uri="{9D8B030D-6E8A-4147-A177-3AD203B41FA5}">
                      <a16:colId xmlns:a16="http://schemas.microsoft.com/office/drawing/2014/main" val="1211009920"/>
                    </a:ext>
                  </a:extLst>
                </a:gridCol>
                <a:gridCol w="4852685">
                  <a:extLst>
                    <a:ext uri="{9D8B030D-6E8A-4147-A177-3AD203B41FA5}">
                      <a16:colId xmlns:a16="http://schemas.microsoft.com/office/drawing/2014/main" val="1871164787"/>
                    </a:ext>
                  </a:extLst>
                </a:gridCol>
              </a:tblGrid>
              <a:tr h="3967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145992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Spatial 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2D cellular grid of 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Continuous 3D Euclidean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001177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Temporal 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Forward moving discrete time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Forward moving continuous linear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278766"/>
                  </a:ext>
                </a:extLst>
              </a:tr>
              <a:tr h="99197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Origin story and initial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 meta player initiates the life by establishing an initial pattern to launch the game.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Point potentials are indestructible and have no origin or death rule. There are no known initial conditions of the universe.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755239"/>
                  </a:ext>
                </a:extLst>
              </a:tr>
              <a:tr h="69437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Evolution and Emergence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Discrete evolution and emergence from stepwise evolution rules.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Continuous evolution and emergence from continuous evolution laws of 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791324"/>
                  </a:ext>
                </a:extLst>
              </a:tr>
              <a:tr h="158715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Evolution Equation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Discrete state transition of entire grid based upon a ruleset about local (neighboring) population.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 point potentials maintain a relationship between each other and themselves.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Action depends on location (</a:t>
                      </a:r>
                      <a:r>
                        <a:rPr lang="en-US" sz="1800" dirty="0" err="1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x,y,z,t</a:t>
                      </a: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) and velocity for both emitter and receiver.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Net action is determined by superposition.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38559"/>
                  </a:ext>
                </a:extLst>
              </a:tr>
              <a:tr h="12895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Provenance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From a cell perspective there is birth, ongoing life, and death.</a:t>
                      </a:r>
                    </a:p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From an assembly perspective there can be ongoing ”life”.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Each point potential follows a continuous path through Euclidean time and space.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The path history includes the path inside assemblies and through reactions.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17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071639"/>
      </p:ext>
    </p:extLst>
  </p:cSld>
  <p:clrMapOvr>
    <a:masterClrMapping/>
  </p:clrMapOvr>
</p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7030A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itle 1">
            <a:extLst>
              <a:ext uri="{FF2B5EF4-FFF2-40B4-BE49-F238E27FC236}">
                <ns2:creationId id="{1B32CFDF-36BB-E543-1E37-9381DCC16964}"/>
              </a:ext>
            </a:extLst>
          </ns0:cNvPr>
          <ns0:cNvSpPr txBox="1">
            <a:spLocks/>
          </ns0:cNvSpPr>
          <ns0:nvPr/>
        </ns0:nvSpPr>
        <ns0:spPr>
          <a:xfrm>
            <a:off x="316871" y="106045"/>
            <a:ext cx="11597488" cy="808355"/>
          </a:xfrm>
          <a:prstGeom prst="rect">
            <a:avLst/>
          </a:prstGeom>
        </ns0:spPr>
        <ns0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Game of Life is only an analogy</a:t>
            </a:r>
          </a:p>
        </ns0:txBody>
      </ns0:sp>
      <ns0:graphicFrame>
        <ns0:nvGraphicFramePr>
          <ns0:cNvPr id="3" name="Content Placeholder 3">
            <a:extLst>
              <a:ext uri="{FF2B5EF4-FFF2-40B4-BE49-F238E27FC236}">
                <ns2:creationId id="{26383BE7-F26D-0AD2-8225-3B8198ED790D}"/>
              </a:ext>
            </a:extLst>
          </ns0:cNvPr>
          <ns0:cNvGraphicFramePr>
            <a:graphicFrameLocks/>
          </ns0:cNvGraphicFramePr>
          <ns0:nvPr>
            <ns0:extLst>
              <ns0:ext uri="{D42A27DB-BD31-4B8C-83A1-F6EECF244321}">
                <ns3:modId val="3219360400"/>
              </ns0:ext>
            </ns0:extLst>
          </ns0:nvPr>
        </ns0:nvGraphicFramePr>
        <ns0:xfrm>
          <a:off x="292489" y="936539"/>
          <a:ext cx="11621869" cy="5753429"/>
        </ns0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143115">
                  <a:extLst>
                    <a:ext uri="{9D8B030D-6E8A-4147-A177-3AD203B41FA5}">
                      <ns2:colId val="116762248"/>
                    </a:ext>
                  </a:extLst>
                </a:gridCol>
                <a:gridCol w="4626069">
                  <a:extLst>
                    <a:ext uri="{9D8B030D-6E8A-4147-A177-3AD203B41FA5}">
                      <ns2:colId val="1211009920"/>
                    </a:ext>
                  </a:extLst>
                </a:gridCol>
                <a:gridCol w="4852685">
                  <a:extLst>
                    <a:ext uri="{9D8B030D-6E8A-4147-A177-3AD203B41FA5}">
                      <ns2:colId val="1871164787"/>
                    </a:ext>
                  </a:extLst>
                </a:gridCol>
              </a:tblGrid>
              <a:tr h="3967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Conway's Game of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AAA master equation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1536145992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What changes?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Cell states switch between live and dead.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Architrino paths evolve continuously.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2145001177"/>
                  </a:ext>
                </a:extLst>
              </a:tr>
              <a:tr h="39678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The grid updates one tick at a time.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 changes continuously, not in ticks.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3430278766"/>
                  </a:ext>
                </a:extLst>
              </a:tr>
              <a:tr h="99197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 local neighbor rule chooses the next state.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 action law selects the allowed path history.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3515755239"/>
                  </a:ext>
                </a:extLst>
              </a:tr>
              <a:tr h="69437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Origin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 meta player chooses an initial pattern.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Architrinos are persistent primitives, not cells born from a grid.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1789791324"/>
                  </a:ext>
                </a:extLst>
              </a:tr>
              <a:tr h="158715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What survives?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Patterns such as gliders can persist while their cells turn over.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Assemblies can persist while architrinos keep continuous provenance.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218438559"/>
                  </a:ext>
                </a:extLst>
              </a:tr>
              <a:tr h="12895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Lesson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Simple rules can produce surprising structure.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The analogy helps intuition, but AAA is not a cellular automaton.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2:rowId val="1510317306"/>
                  </a:ext>
                </a:extLst>
              </a:tr>
            </a:tbl>
          </a:graphicData>
        </a:graphic>
      </ns0:graphicFrame>
    </ns0:spTree>
    <ns0:extLst>
      <ns0:ext uri="{BB962C8B-B14F-4D97-AF65-F5344CB8AC3E}">
        <ns3:creationId val="1459071639"/>
      </ns0:ext>
    </ns0:extLst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21103</ep:TotalTime>
  <ep:Words>787</ep:Words>
  <ep:Application>Microsoft Macintosh PowerPoint</ep:Application>
  <ep:PresentationFormat>Widescreen</ep:PresentationFormat>
  <ep:Paragraphs>149</ep:Paragraphs>
  <ep:Slides>12</ep:Slides>
  <ep:Notes>11</ep:Notes>
  <ep:HiddenSlides>0</ep:HiddenSlides>
  <ep:MMClips>1</ep:MMClips>
  <ep:ScaleCrop>false</ep:ScaleCrop>
  <ep: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ep:HeadingPairs>
  <ep:TitlesOfParts>
    <vt:vector size="17" baseType="lpstr">
      <vt:lpstr>Arial</vt:lpstr>
      <vt:lpstr>Calibri</vt:lpstr>
      <vt:lpstr>Calibri Light</vt:lpstr>
      <vt:lpstr>Helvetica Neue</vt:lpstr>
      <vt:lpstr>Helvetica Neue Condensed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ep:TitlesOfParts>
  <ep:Company/>
  <ep:LinksUpToDate>false</ep:LinksUpToDate>
  <ep:SharedDoc>false</ep:SharedDoc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362</cp:revision>
  <cp:lastPrinted>2022-09-07T12:10:19Z</cp:lastPrinted>
  <dcterms:created xsi:type="dcterms:W3CDTF">2022-02-05T18:41:13Z</dcterms:created>
  <dcterms:modified xsi:type="dcterms:W3CDTF">2026-07-03T17:27:56Z</dcterms:modified>
</cp:coreProperties>
</file>