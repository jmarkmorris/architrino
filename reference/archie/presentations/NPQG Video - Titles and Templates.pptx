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2" r:id="rId2"/>
  </p:sldMasterIdLst>
  <p:notesMasterIdLst>
    <p:notesMasterId r:id="rId24"/>
  </p:notesMasterIdLst>
  <p:sldIdLst>
    <p:sldId id="836" r:id="rId3"/>
    <p:sldId id="840" r:id="rId4"/>
    <p:sldId id="842" r:id="rId5"/>
    <p:sldId id="807" r:id="rId6"/>
    <p:sldId id="844" r:id="rId7"/>
    <p:sldId id="837" r:id="rId8"/>
    <p:sldId id="896" r:id="rId9"/>
    <p:sldId id="898" r:id="rId10"/>
    <p:sldId id="828" r:id="rId11"/>
    <p:sldId id="830" r:id="rId12"/>
    <p:sldId id="831" r:id="rId13"/>
    <p:sldId id="832" r:id="rId14"/>
    <p:sldId id="839" r:id="rId15"/>
    <p:sldId id="838" r:id="rId16"/>
    <p:sldId id="877" r:id="rId17"/>
    <p:sldId id="901" r:id="rId18"/>
    <p:sldId id="902" r:id="rId19"/>
    <p:sldId id="899" r:id="rId20"/>
    <p:sldId id="872" r:id="rId21"/>
    <p:sldId id="897" r:id="rId22"/>
    <p:sldId id="83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4386"/>
    <p:restoredTop sz="96327"/>
  </p:normalViewPr>
  <p:slideViewPr>
    <p:cSldViewPr snapToGrid="0">
      <p:cViewPr varScale="1">
        <p:scale>
          <a:sx n="182" d="100"/>
          <a:sy n="182" d="100"/>
        </p:scale>
        <p:origin x="336" y="168"/>
      </p:cViewPr>
      <p:guideLst/>
    </p:cSldViewPr>
  </p:slideViewPr>
  <p:notesTextViewPr>
    <p:cViewPr>
      <p:scale>
        <a:sx n="1" d="1"/>
        <a:sy n="1" d="1"/>
      </p:scale>
      <p:origin x="0" y="0"/>
    </p:cViewPr>
  </p:notesTextViewPr>
  <p:sorterViewPr>
    <p:cViewPr>
      <p:scale>
        <a:sx n="1" d="1"/>
        <a:sy n="1" d="1"/>
      </p:scale>
      <p:origin x="0" y="0"/>
    </p:cViewPr>
  </p:sorterViewPr>
  <p:notesViewPr>
    <p:cSldViewPr snapToGrid="0">
      <p:cViewPr varScale="1">
        <p:scale>
          <a:sx n="137" d="100"/>
          <a:sy n="137" d="100"/>
        </p:scale>
        <p:origin x="4744"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6EB331-76C4-5A4A-B8BA-732AEDFD2294}" type="datetimeFigureOut">
              <a:rPr lang="en-US" smtClean="0"/>
              <a:t>7/3/26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65E6C3-0568-A144-A148-671892FA1E9E}" type="slidenum">
              <a:rPr lang="en-US" smtClean="0"/>
              <a:t>‹#›</a:t>
            </a:fld>
            <a:endParaRPr lang="en-US"/>
          </a:p>
        </p:txBody>
      </p:sp>
    </p:spTree>
    <p:extLst>
      <p:ext uri="{BB962C8B-B14F-4D97-AF65-F5344CB8AC3E}">
        <p14:creationId xmlns:p14="http://schemas.microsoft.com/office/powerpoint/2010/main" val="42776549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019337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91106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22720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013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22720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07504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4B1E8-D851-D84E-7B7C-6439BBC268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3B2B5A-3E8D-C2B6-E83D-FE1C54E139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2FFD2B-3BE4-7995-3BA2-7C6897531428}"/>
              </a:ext>
            </a:extLst>
          </p:cNvPr>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a:extLst>
              <a:ext uri="{FF2B5EF4-FFF2-40B4-BE49-F238E27FC236}">
                <a16:creationId xmlns:a16="http://schemas.microsoft.com/office/drawing/2014/main" id="{DC0CCDEB-4B10-6EC0-E077-07752AEED93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652314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4B0F0-77B6-4D7A-FAF1-4DE3A2124C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319350-C19A-7970-F031-2DD8621A7A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F8C618-C9E5-273E-F7EE-431BF5EA7928}"/>
              </a:ext>
            </a:extLst>
          </p:cNvPr>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a:extLst>
              <a:ext uri="{FF2B5EF4-FFF2-40B4-BE49-F238E27FC236}">
                <a16:creationId xmlns:a16="http://schemas.microsoft.com/office/drawing/2014/main" id="{1DC088BA-7716-6EBB-91EB-BFD60B9DCD5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73644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84906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10355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019140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358054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065342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013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F65E6C3-0568-A144-A148-671892FA1E9E}" type="slidenum">
              <a:rPr lang="en-US" smtClean="0"/>
              <a:t>15</a:t>
            </a:fld>
            <a:endParaRPr lang="en-US"/>
          </a:p>
        </p:txBody>
      </p:sp>
    </p:spTree>
    <p:extLst>
      <p:ext uri="{BB962C8B-B14F-4D97-AF65-F5344CB8AC3E}">
        <p14:creationId xmlns:p14="http://schemas.microsoft.com/office/powerpoint/2010/main" val="23824632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A522D-D6C9-2895-99CC-0CD9F0B80D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91F06F-B507-A14E-ADB0-571995A1E9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4F6548-3E2E-AB07-1CDA-BB0830649FD0}"/>
              </a:ext>
            </a:extLst>
          </p:cNvPr>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78846C4-F3E6-9CA8-842F-D860DD4DF79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85DD313D-973B-0204-98D3-BA1AECB0180C}"/>
              </a:ext>
            </a:extLst>
          </p:cNvPr>
          <p:cNvSpPr txBox="1"/>
          <p:nvPr/>
        </p:nvSpPr>
        <p:spPr>
          <a:xfrm>
            <a:off x="8191500" y="464701"/>
            <a:ext cx="18554700" cy="8679299"/>
          </a:xfrm>
          <a:prstGeom prst="rect">
            <a:avLst/>
          </a:prstGeom>
          <a:noFill/>
        </p:spPr>
        <p:txBody>
          <a:bodyPr wrap="square">
            <a:spAutoFit/>
          </a:bodyPr>
          <a:lstStyle/>
          <a:p>
            <a:r>
              <a:rPr lang="en-US" dirty="0">
                <a:solidFill>
                  <a:schemeClr val="bg1"/>
                </a:solidFill>
              </a:rPr>
              <a:t>I'll elaborate on each concept, now including Metamorphosis:</a:t>
            </a:r>
          </a:p>
          <a:p>
            <a:endParaRPr lang="en-US" dirty="0">
              <a:solidFill>
                <a:schemeClr val="bg1"/>
              </a:solidFill>
            </a:endParaRPr>
          </a:p>
          <a:p>
            <a:r>
              <a:rPr lang="en-US" dirty="0">
                <a:solidFill>
                  <a:schemeClr val="bg1"/>
                </a:solidFill>
              </a:rPr>
              <a:t>* **Crisis**: A moment of intense difficulty that demands change or decisive action. More than just a problem, a crisis represents a critical juncture where existing structures, beliefs, or ways of functioning become unsustainable. It forces an individual or system to confront fundamental weaknesses, requiring radical adaptation. Like a pressure point in a system, a crisis reveals vulnerabilities while simultaneously offering an opportunity for profound transformation. The Chinese character for crisis (</a:t>
            </a:r>
            <a:r>
              <a:rPr lang="en-US" dirty="0" err="1">
                <a:solidFill>
                  <a:schemeClr val="bg1"/>
                </a:solidFill>
              </a:rPr>
              <a:t>危机</a:t>
            </a:r>
            <a:r>
              <a:rPr lang="en-US" dirty="0">
                <a:solidFill>
                  <a:schemeClr val="bg1"/>
                </a:solidFill>
              </a:rPr>
              <a:t>) beautifully captures this duality - combining the symbols for "danger" and "opportunity".</a:t>
            </a:r>
          </a:p>
          <a:p>
            <a:endParaRPr lang="en-US" dirty="0">
              <a:solidFill>
                <a:schemeClr val="bg1"/>
              </a:solidFill>
            </a:endParaRPr>
          </a:p>
          <a:p>
            <a:r>
              <a:rPr lang="en-US" dirty="0">
                <a:solidFill>
                  <a:schemeClr val="bg1"/>
                </a:solidFill>
              </a:rPr>
              <a:t>* **Narcissus**: Beyond mere self-absorption, Narcissus embodies the psychological journey of confronting one's illusions. In the Greek myth, he becomes so entranced by his own reflection that he cannot move, symbolizing the paralysis of ego and self-deception. His transformation occurs through a painful recognition - a moment of seeing oneself so clearly that the previous self-image shatters. The myth suggests that true self-awareness requires breaking through the mirror of self-delusion, often at the cost of previous comfortable narratives.</a:t>
            </a:r>
          </a:p>
          <a:p>
            <a:endParaRPr lang="en-US" dirty="0">
              <a:solidFill>
                <a:schemeClr val="bg1"/>
              </a:solidFill>
            </a:endParaRPr>
          </a:p>
          <a:p>
            <a:r>
              <a:rPr lang="en-US" dirty="0">
                <a:solidFill>
                  <a:schemeClr val="bg1"/>
                </a:solidFill>
              </a:rPr>
              <a:t>* **Sisyphus**: More than a symbol of futility, Sisyphus represents existential heroism. Albert Camus interpreted this myth as a profound statement of human dignity - finding meaning not in the achievement, but in the struggle itself. Each time Sisyphus pushes the boulder up the mountain, only to watch it roll down, he embodies human resilience. The value is not in completing the task, but in the conscious, defiant act of continuing. He becomes a hero not through success, but through persistent awareness and acceptance of his condition.</a:t>
            </a:r>
          </a:p>
          <a:p>
            <a:endParaRPr lang="en-US" dirty="0">
              <a:solidFill>
                <a:schemeClr val="bg1"/>
              </a:solidFill>
            </a:endParaRPr>
          </a:p>
          <a:p>
            <a:r>
              <a:rPr lang="en-US" dirty="0">
                <a:solidFill>
                  <a:schemeClr val="bg1"/>
                </a:solidFill>
              </a:rPr>
              <a:t>* **Chrysalis**: A remarkable metaphor of absolute transformation. During metamorphosis, the caterpillar doesn't simply change - it completely liquefies inside its cocoon, breaking down to its most fundamental cellular components before reconstructing itself as a butterfly. This isn't gradual modification, but total dissolution and reconstruction. It represents the most radical form of personal change: surrendering entirely to the process of transformation, trusting in an inherent blueprint of potential.</a:t>
            </a:r>
          </a:p>
          <a:p>
            <a:endParaRPr lang="en-US" dirty="0">
              <a:solidFill>
                <a:schemeClr val="bg1"/>
              </a:solidFill>
            </a:endParaRPr>
          </a:p>
          <a:p>
            <a:r>
              <a:rPr lang="en-US" dirty="0">
                <a:solidFill>
                  <a:schemeClr val="bg1"/>
                </a:solidFill>
              </a:rPr>
              <a:t>* **Metamorphosis**: Beyond physical change, metamorphosis represents fundamental, often irreversible transformation. Unlike simple growth or adaptation, metamorphosis involves a complete restructuring of identity, capabilities, and essence. In nature, it's seen in organisms like butterflies or frogs that undergo dramatic, non-linear changes. Psychologically, it represents profound shifts in consciousness, where one's entire perception of self and reality is fundamentally reorganized.</a:t>
            </a:r>
          </a:p>
          <a:p>
            <a:endParaRPr lang="en-US" dirty="0">
              <a:solidFill>
                <a:schemeClr val="bg1"/>
              </a:solidFill>
            </a:endParaRPr>
          </a:p>
          <a:p>
            <a:r>
              <a:rPr lang="en-US" dirty="0">
                <a:solidFill>
                  <a:schemeClr val="bg1"/>
                </a:solidFill>
              </a:rPr>
              <a:t>* **Phoenix**: The archetypal symbol of regenerative power. Rising from its own ashes, the Phoenix doesn't merely survive destruction - it is reborn through it. This myth suggests that true renewal requires complete surrender, allowing everything to burn away so that something more essential and powerful can emerge. It's not about restoration to a previous state, but about transcendence - becoming something fundamentally new through the very process of destruction.</a:t>
            </a:r>
          </a:p>
          <a:p>
            <a:endParaRPr lang="en-US" dirty="0">
              <a:solidFill>
                <a:schemeClr val="bg1"/>
              </a:solidFill>
            </a:endParaRPr>
          </a:p>
          <a:p>
            <a:r>
              <a:rPr lang="en-US" dirty="0">
                <a:solidFill>
                  <a:schemeClr val="bg1"/>
                </a:solidFill>
              </a:rPr>
              <a:t>These concepts are interconnected threads in a larger narrative of human potential - they speak to our capacity for radical transformation, resilience, and the profound potential for renewal that exists within apparent destruction.</a:t>
            </a:r>
          </a:p>
          <a:p>
            <a:endParaRPr lang="en-US" dirty="0">
              <a:solidFill>
                <a:schemeClr val="bg1"/>
              </a:solidFill>
            </a:endParaRPr>
          </a:p>
          <a:p>
            <a:r>
              <a:rPr lang="en-US" dirty="0">
                <a:solidFill>
                  <a:schemeClr val="bg1"/>
                </a:solidFill>
              </a:rPr>
              <a:t>Would you like me to delve deeper into any of these concepts or explore their psychological and philosophical implications further?</a:t>
            </a:r>
          </a:p>
        </p:txBody>
      </p:sp>
    </p:spTree>
    <p:extLst>
      <p:ext uri="{BB962C8B-B14F-4D97-AF65-F5344CB8AC3E}">
        <p14:creationId xmlns:p14="http://schemas.microsoft.com/office/powerpoint/2010/main" val="18201525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6C339-CDEE-0656-5CA3-64361A1F8D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A1B6AE-EFDB-0CDD-79E2-F16EE6083F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95624C-DB64-F757-8E9A-A1B344EC2B8F}"/>
              </a:ext>
            </a:extLst>
          </p:cNvPr>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3EA04BD9-F6C8-384E-DD86-7AABD07FE81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31AB5358-B3CA-D14B-E6D7-72651E495D61}"/>
              </a:ext>
            </a:extLst>
          </p:cNvPr>
          <p:cNvSpPr txBox="1"/>
          <p:nvPr/>
        </p:nvSpPr>
        <p:spPr>
          <a:xfrm>
            <a:off x="8191500" y="464701"/>
            <a:ext cx="18554700" cy="8679299"/>
          </a:xfrm>
          <a:prstGeom prst="rect">
            <a:avLst/>
          </a:prstGeom>
          <a:noFill/>
        </p:spPr>
        <p:txBody>
          <a:bodyPr wrap="square">
            <a:spAutoFit/>
          </a:bodyPr>
          <a:lstStyle/>
          <a:p>
            <a:r>
              <a:rPr lang="en-US" dirty="0">
                <a:solidFill>
                  <a:schemeClr val="bg1"/>
                </a:solidFill>
              </a:rPr>
              <a:t>I'll elaborate on each concept, now including Metamorphosis:</a:t>
            </a:r>
          </a:p>
          <a:p>
            <a:endParaRPr lang="en-US" dirty="0">
              <a:solidFill>
                <a:schemeClr val="bg1"/>
              </a:solidFill>
            </a:endParaRPr>
          </a:p>
          <a:p>
            <a:r>
              <a:rPr lang="en-US" dirty="0">
                <a:solidFill>
                  <a:schemeClr val="bg1"/>
                </a:solidFill>
              </a:rPr>
              <a:t>* **Crisis**: A moment of intense difficulty that demands change or decisive action. More than just a problem, a crisis represents a critical juncture where existing structures, beliefs, or ways of functioning become unsustainable. It forces an individual or system to confront fundamental weaknesses, requiring radical adaptation. Like a pressure point in a system, a crisis reveals vulnerabilities while simultaneously offering an opportunity for profound transformation. The Chinese character for crisis (</a:t>
            </a:r>
            <a:r>
              <a:rPr lang="en-US" dirty="0" err="1">
                <a:solidFill>
                  <a:schemeClr val="bg1"/>
                </a:solidFill>
              </a:rPr>
              <a:t>危机</a:t>
            </a:r>
            <a:r>
              <a:rPr lang="en-US" dirty="0">
                <a:solidFill>
                  <a:schemeClr val="bg1"/>
                </a:solidFill>
              </a:rPr>
              <a:t>) beautifully captures this duality - combining the symbols for "danger" and "opportunity".</a:t>
            </a:r>
          </a:p>
          <a:p>
            <a:endParaRPr lang="en-US" dirty="0">
              <a:solidFill>
                <a:schemeClr val="bg1"/>
              </a:solidFill>
            </a:endParaRPr>
          </a:p>
          <a:p>
            <a:r>
              <a:rPr lang="en-US" dirty="0">
                <a:solidFill>
                  <a:schemeClr val="bg1"/>
                </a:solidFill>
              </a:rPr>
              <a:t>* **Narcissus**: Beyond mere self-absorption, Narcissus embodies the psychological journey of confronting one's illusions. In the Greek myth, he becomes so entranced by his own reflection that he cannot move, symbolizing the paralysis of ego and self-deception. His transformation occurs through a painful recognition - a moment of seeing oneself so clearly that the previous self-image shatters. The myth suggests that true self-awareness requires breaking through the mirror of self-delusion, often at the cost of previous comfortable narratives.</a:t>
            </a:r>
          </a:p>
          <a:p>
            <a:endParaRPr lang="en-US" dirty="0">
              <a:solidFill>
                <a:schemeClr val="bg1"/>
              </a:solidFill>
            </a:endParaRPr>
          </a:p>
          <a:p>
            <a:r>
              <a:rPr lang="en-US" dirty="0">
                <a:solidFill>
                  <a:schemeClr val="bg1"/>
                </a:solidFill>
              </a:rPr>
              <a:t>* **Sisyphus**: More than a symbol of futility, Sisyphus represents existential heroism. Albert Camus interpreted this myth as a profound statement of human dignity - finding meaning not in the achievement, but in the struggle itself. Each time Sisyphus pushes the boulder up the mountain, only to watch it roll down, he embodies human resilience. The value is not in completing the task, but in the conscious, defiant act of continuing. He becomes a hero not through success, but through persistent awareness and acceptance of his condition.</a:t>
            </a:r>
          </a:p>
          <a:p>
            <a:endParaRPr lang="en-US" dirty="0">
              <a:solidFill>
                <a:schemeClr val="bg1"/>
              </a:solidFill>
            </a:endParaRPr>
          </a:p>
          <a:p>
            <a:r>
              <a:rPr lang="en-US" dirty="0">
                <a:solidFill>
                  <a:schemeClr val="bg1"/>
                </a:solidFill>
              </a:rPr>
              <a:t>* **Chrysalis**: A remarkable metaphor of absolute transformation. During metamorphosis, the caterpillar doesn't simply change - it completely liquefies inside its cocoon, breaking down to its most fundamental cellular components before reconstructing itself as a butterfly. This isn't gradual modification, but total dissolution and reconstruction. It represents the most radical form of personal change: surrendering entirely to the process of transformation, trusting in an inherent blueprint of potential.</a:t>
            </a:r>
          </a:p>
          <a:p>
            <a:endParaRPr lang="en-US" dirty="0">
              <a:solidFill>
                <a:schemeClr val="bg1"/>
              </a:solidFill>
            </a:endParaRPr>
          </a:p>
          <a:p>
            <a:r>
              <a:rPr lang="en-US" dirty="0">
                <a:solidFill>
                  <a:schemeClr val="bg1"/>
                </a:solidFill>
              </a:rPr>
              <a:t>* **Metamorphosis**: Beyond physical change, metamorphosis represents fundamental, often irreversible transformation. Unlike simple growth or adaptation, metamorphosis involves a complete restructuring of identity, capabilities, and essence. In nature, it's seen in organisms like butterflies or frogs that undergo dramatic, non-linear changes. Psychologically, it represents profound shifts in consciousness, where one's entire perception of self and reality is fundamentally reorganized.</a:t>
            </a:r>
          </a:p>
          <a:p>
            <a:endParaRPr lang="en-US" dirty="0">
              <a:solidFill>
                <a:schemeClr val="bg1"/>
              </a:solidFill>
            </a:endParaRPr>
          </a:p>
          <a:p>
            <a:r>
              <a:rPr lang="en-US" dirty="0">
                <a:solidFill>
                  <a:schemeClr val="bg1"/>
                </a:solidFill>
              </a:rPr>
              <a:t>* **Phoenix**: The archetypal symbol of regenerative power. Rising from its own ashes, the Phoenix doesn't merely survive destruction - it is reborn through it. This myth suggests that true renewal requires complete surrender, allowing everything to burn away so that something more essential and powerful can emerge. It's not about restoration to a previous state, but about transcendence - becoming something fundamentally new through the very process of destruction.</a:t>
            </a:r>
          </a:p>
          <a:p>
            <a:endParaRPr lang="en-US" dirty="0">
              <a:solidFill>
                <a:schemeClr val="bg1"/>
              </a:solidFill>
            </a:endParaRPr>
          </a:p>
          <a:p>
            <a:r>
              <a:rPr lang="en-US" dirty="0">
                <a:solidFill>
                  <a:schemeClr val="bg1"/>
                </a:solidFill>
              </a:rPr>
              <a:t>These concepts are interconnected threads in a larger narrative of human potential - they speak to our capacity for radical transformation, resilience, and the profound potential for renewal that exists within apparent destruction.</a:t>
            </a:r>
          </a:p>
          <a:p>
            <a:endParaRPr lang="en-US" dirty="0">
              <a:solidFill>
                <a:schemeClr val="bg1"/>
              </a:solidFill>
            </a:endParaRPr>
          </a:p>
          <a:p>
            <a:r>
              <a:rPr lang="en-US" dirty="0">
                <a:solidFill>
                  <a:schemeClr val="bg1"/>
                </a:solidFill>
              </a:rPr>
              <a:t>Would you like me to delve deeper into any of these concepts or explore their psychological and philosophical implications further?</a:t>
            </a:r>
          </a:p>
        </p:txBody>
      </p:sp>
    </p:spTree>
    <p:extLst>
      <p:ext uri="{BB962C8B-B14F-4D97-AF65-F5344CB8AC3E}">
        <p14:creationId xmlns:p14="http://schemas.microsoft.com/office/powerpoint/2010/main" val="24832947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721E1-C2D6-758A-6BA9-E341CCCB81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542004-BDD8-5DD7-14B1-A1DC56D4D1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722ED9-309F-2684-C174-C1135B0BA87D}"/>
              </a:ext>
            </a:extLst>
          </p:cNvPr>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a:extLst>
              <a:ext uri="{FF2B5EF4-FFF2-40B4-BE49-F238E27FC236}">
                <a16:creationId xmlns:a16="http://schemas.microsoft.com/office/drawing/2014/main" id="{61231FD7-7F74-3713-D776-1DA197AD607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933283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5C7FB-050B-BA06-9466-466A158186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5481FD-714A-C518-285D-8372FD9ED8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CBE4BF-7B1A-7644-44A7-8BA16B25A738}"/>
              </a:ext>
            </a:extLst>
          </p:cNvPr>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a:extLst>
              <a:ext uri="{FF2B5EF4-FFF2-40B4-BE49-F238E27FC236}">
                <a16:creationId xmlns:a16="http://schemas.microsoft.com/office/drawing/2014/main" id="{8BE149EC-7B02-F8F4-066D-01223D4CEF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84648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13D5C-BB7A-7DEA-4763-176A16ACC0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666860-9C26-4436-F4C0-5099E2051D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5D2E8C-FE8B-272C-8CED-371101DE58F4}"/>
              </a:ext>
            </a:extLst>
          </p:cNvPr>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a:extLst>
              <a:ext uri="{FF2B5EF4-FFF2-40B4-BE49-F238E27FC236}">
                <a16:creationId xmlns:a16="http://schemas.microsoft.com/office/drawing/2014/main" id="{566B43D9-6234-6ABA-F15C-98C5B461DCA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115300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812839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BB3A9-9E4D-1B45-B3D5-CA3715227F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4A437C-6978-EF42-B683-287B0BCC68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2736A90-6A63-474E-AE00-47FF46C1C73E}"/>
              </a:ext>
            </a:extLst>
          </p:cNvPr>
          <p:cNvSpPr>
            <a:spLocks noGrp="1"/>
          </p:cNvSpPr>
          <p:nvPr>
            <p:ph type="dt" sz="half" idx="10"/>
          </p:nvPr>
        </p:nvSpPr>
        <p:spPr/>
        <p:txBody>
          <a:bodyPr/>
          <a:lstStyle/>
          <a:p>
            <a:fld id="{CB70D3E6-D921-5B44-AC8D-B7FDAFC8A532}" type="datetimeFigureOut">
              <a:rPr lang="en-US" smtClean="0"/>
              <a:t>7/3/26</a:t>
            </a:fld>
            <a:endParaRPr lang="en-US"/>
          </a:p>
        </p:txBody>
      </p:sp>
      <p:sp>
        <p:nvSpPr>
          <p:cNvPr id="5" name="Footer Placeholder 4">
            <a:extLst>
              <a:ext uri="{FF2B5EF4-FFF2-40B4-BE49-F238E27FC236}">
                <a16:creationId xmlns:a16="http://schemas.microsoft.com/office/drawing/2014/main" id="{1D9A6875-C7C8-8141-9B12-87599614E5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FF87BB-FFE9-4F4E-9787-48475824CC8E}"/>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7971171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7A8A-0845-AD47-90A8-18776E7495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85297E-D5E0-6745-91A9-52029EE302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79309D-6084-C74B-884A-230D6CFAC619}"/>
              </a:ext>
            </a:extLst>
          </p:cNvPr>
          <p:cNvSpPr>
            <a:spLocks noGrp="1"/>
          </p:cNvSpPr>
          <p:nvPr>
            <p:ph type="dt" sz="half" idx="10"/>
          </p:nvPr>
        </p:nvSpPr>
        <p:spPr/>
        <p:txBody>
          <a:bodyPr/>
          <a:lstStyle/>
          <a:p>
            <a:fld id="{CB70D3E6-D921-5B44-AC8D-B7FDAFC8A532}" type="datetimeFigureOut">
              <a:rPr lang="en-US" smtClean="0"/>
              <a:t>7/3/26</a:t>
            </a:fld>
            <a:endParaRPr lang="en-US"/>
          </a:p>
        </p:txBody>
      </p:sp>
      <p:sp>
        <p:nvSpPr>
          <p:cNvPr id="5" name="Footer Placeholder 4">
            <a:extLst>
              <a:ext uri="{FF2B5EF4-FFF2-40B4-BE49-F238E27FC236}">
                <a16:creationId xmlns:a16="http://schemas.microsoft.com/office/drawing/2014/main" id="{0F105DDE-4455-5940-ADF4-C579F78A20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064C6E-4C44-A641-B028-04035B812AA6}"/>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1915432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5E37A-D8BF-D64A-8216-7ABA6C5836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F406964-1DAB-F14D-8D48-DEDCBF1951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ED9634-1414-224C-B6B9-3F0D98D672C3}"/>
              </a:ext>
            </a:extLst>
          </p:cNvPr>
          <p:cNvSpPr>
            <a:spLocks noGrp="1"/>
          </p:cNvSpPr>
          <p:nvPr>
            <p:ph type="dt" sz="half" idx="10"/>
          </p:nvPr>
        </p:nvSpPr>
        <p:spPr/>
        <p:txBody>
          <a:bodyPr/>
          <a:lstStyle/>
          <a:p>
            <a:fld id="{CB70D3E6-D921-5B44-AC8D-B7FDAFC8A532}" type="datetimeFigureOut">
              <a:rPr lang="en-US" smtClean="0"/>
              <a:t>7/3/26</a:t>
            </a:fld>
            <a:endParaRPr lang="en-US"/>
          </a:p>
        </p:txBody>
      </p:sp>
      <p:sp>
        <p:nvSpPr>
          <p:cNvPr id="5" name="Footer Placeholder 4">
            <a:extLst>
              <a:ext uri="{FF2B5EF4-FFF2-40B4-BE49-F238E27FC236}">
                <a16:creationId xmlns:a16="http://schemas.microsoft.com/office/drawing/2014/main" id="{A8157A06-C042-C649-8823-09CD9E4923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B72125-B186-EA4F-87C1-D421E15E6F0E}"/>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27047851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A32C6-604D-5245-AF13-1117649C05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F3D95E-DB7F-8741-AA7E-E9FECF96C0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4FF041-1EE3-1840-9A00-F30BE067B9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1E2B0A9-40F9-DB4D-BDC1-10F58EBA8438}"/>
              </a:ext>
            </a:extLst>
          </p:cNvPr>
          <p:cNvSpPr>
            <a:spLocks noGrp="1"/>
          </p:cNvSpPr>
          <p:nvPr>
            <p:ph type="dt" sz="half" idx="10"/>
          </p:nvPr>
        </p:nvSpPr>
        <p:spPr/>
        <p:txBody>
          <a:bodyPr/>
          <a:lstStyle/>
          <a:p>
            <a:fld id="{CB70D3E6-D921-5B44-AC8D-B7FDAFC8A532}" type="datetimeFigureOut">
              <a:rPr lang="en-US" smtClean="0"/>
              <a:t>7/3/26</a:t>
            </a:fld>
            <a:endParaRPr lang="en-US"/>
          </a:p>
        </p:txBody>
      </p:sp>
      <p:sp>
        <p:nvSpPr>
          <p:cNvPr id="6" name="Footer Placeholder 5">
            <a:extLst>
              <a:ext uri="{FF2B5EF4-FFF2-40B4-BE49-F238E27FC236}">
                <a16:creationId xmlns:a16="http://schemas.microsoft.com/office/drawing/2014/main" id="{4D45749E-ED3B-3643-8D22-DA2D88FFDE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4183C9-D2C9-CE44-B58B-ACE8898D0D03}"/>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15994819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A45A6-44FE-3848-88E8-5552DDC45A9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EDC7C1F-E9B4-4E48-ACFC-DC65D66179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CFE821-3558-AB4C-948F-6C6990D147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74632-D045-5A44-BB14-E3D5737A29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E5E05E-D502-E74B-91AF-BB193D328C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B03287E-662E-F54F-9162-3F755DD60CA2}"/>
              </a:ext>
            </a:extLst>
          </p:cNvPr>
          <p:cNvSpPr>
            <a:spLocks noGrp="1"/>
          </p:cNvSpPr>
          <p:nvPr>
            <p:ph type="dt" sz="half" idx="10"/>
          </p:nvPr>
        </p:nvSpPr>
        <p:spPr/>
        <p:txBody>
          <a:bodyPr/>
          <a:lstStyle/>
          <a:p>
            <a:fld id="{CB70D3E6-D921-5B44-AC8D-B7FDAFC8A532}" type="datetimeFigureOut">
              <a:rPr lang="en-US" smtClean="0"/>
              <a:t>7/3/26</a:t>
            </a:fld>
            <a:endParaRPr lang="en-US"/>
          </a:p>
        </p:txBody>
      </p:sp>
      <p:sp>
        <p:nvSpPr>
          <p:cNvPr id="8" name="Footer Placeholder 7">
            <a:extLst>
              <a:ext uri="{FF2B5EF4-FFF2-40B4-BE49-F238E27FC236}">
                <a16:creationId xmlns:a16="http://schemas.microsoft.com/office/drawing/2014/main" id="{B68BB5FE-E651-1B4F-8E93-FD794E8A5E6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DAAD7C8-64AF-684B-98B6-D6D6714A29C1}"/>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25767803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DC2D9-851F-F94A-83EC-CAB57992066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3BF4D5-34AD-5A43-853F-006AD601FD76}"/>
              </a:ext>
            </a:extLst>
          </p:cNvPr>
          <p:cNvSpPr>
            <a:spLocks noGrp="1"/>
          </p:cNvSpPr>
          <p:nvPr>
            <p:ph type="dt" sz="half" idx="10"/>
          </p:nvPr>
        </p:nvSpPr>
        <p:spPr/>
        <p:txBody>
          <a:bodyPr/>
          <a:lstStyle/>
          <a:p>
            <a:fld id="{CB70D3E6-D921-5B44-AC8D-B7FDAFC8A532}" type="datetimeFigureOut">
              <a:rPr lang="en-US" smtClean="0"/>
              <a:t>7/3/26</a:t>
            </a:fld>
            <a:endParaRPr lang="en-US"/>
          </a:p>
        </p:txBody>
      </p:sp>
      <p:sp>
        <p:nvSpPr>
          <p:cNvPr id="4" name="Footer Placeholder 3">
            <a:extLst>
              <a:ext uri="{FF2B5EF4-FFF2-40B4-BE49-F238E27FC236}">
                <a16:creationId xmlns:a16="http://schemas.microsoft.com/office/drawing/2014/main" id="{67670C52-9CA4-AB4F-957A-7AAD4E25932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A441625-0652-EB4F-8E04-6C9011365173}"/>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21279130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592881-FA37-DD45-860A-EA6B38C3108A}"/>
              </a:ext>
            </a:extLst>
          </p:cNvPr>
          <p:cNvSpPr>
            <a:spLocks noGrp="1"/>
          </p:cNvSpPr>
          <p:nvPr>
            <p:ph type="dt" sz="half" idx="10"/>
          </p:nvPr>
        </p:nvSpPr>
        <p:spPr/>
        <p:txBody>
          <a:bodyPr/>
          <a:lstStyle/>
          <a:p>
            <a:fld id="{CB70D3E6-D921-5B44-AC8D-B7FDAFC8A532}" type="datetimeFigureOut">
              <a:rPr lang="en-US" smtClean="0"/>
              <a:t>7/3/26</a:t>
            </a:fld>
            <a:endParaRPr lang="en-US"/>
          </a:p>
        </p:txBody>
      </p:sp>
      <p:sp>
        <p:nvSpPr>
          <p:cNvPr id="3" name="Footer Placeholder 2">
            <a:extLst>
              <a:ext uri="{FF2B5EF4-FFF2-40B4-BE49-F238E27FC236}">
                <a16:creationId xmlns:a16="http://schemas.microsoft.com/office/drawing/2014/main" id="{A4652DC6-52F3-8040-8665-17D023390D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E9CEF52-EC52-6C42-81BD-397B5CE038F7}"/>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39075197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60788-9DB9-6745-96CF-A7A1862275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0E3299F-D119-D449-BD57-1CE490CB51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3BB0FB-61B4-DC45-9D1E-63F99E6ABC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F87701-43E6-A248-ABD9-E1C49D62242F}"/>
              </a:ext>
            </a:extLst>
          </p:cNvPr>
          <p:cNvSpPr>
            <a:spLocks noGrp="1"/>
          </p:cNvSpPr>
          <p:nvPr>
            <p:ph type="dt" sz="half" idx="10"/>
          </p:nvPr>
        </p:nvSpPr>
        <p:spPr/>
        <p:txBody>
          <a:bodyPr/>
          <a:lstStyle/>
          <a:p>
            <a:fld id="{CB70D3E6-D921-5B44-AC8D-B7FDAFC8A532}" type="datetimeFigureOut">
              <a:rPr lang="en-US" smtClean="0"/>
              <a:t>7/3/26</a:t>
            </a:fld>
            <a:endParaRPr lang="en-US"/>
          </a:p>
        </p:txBody>
      </p:sp>
      <p:sp>
        <p:nvSpPr>
          <p:cNvPr id="6" name="Footer Placeholder 5">
            <a:extLst>
              <a:ext uri="{FF2B5EF4-FFF2-40B4-BE49-F238E27FC236}">
                <a16:creationId xmlns:a16="http://schemas.microsoft.com/office/drawing/2014/main" id="{DFD6954C-9DFB-264A-A710-D12E71DB3A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188770-2503-8F4E-AFC6-6941CC59F7C1}"/>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4390440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3FF65-890A-1A47-B873-C56E2C7DF2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D05E9CE-538C-294A-A814-80A50548B2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33C7C9D-B309-CF46-90D8-B95DD6C2DC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97CA5D-F1C9-604D-83E1-2E60AE6E200D}"/>
              </a:ext>
            </a:extLst>
          </p:cNvPr>
          <p:cNvSpPr>
            <a:spLocks noGrp="1"/>
          </p:cNvSpPr>
          <p:nvPr>
            <p:ph type="dt" sz="half" idx="10"/>
          </p:nvPr>
        </p:nvSpPr>
        <p:spPr/>
        <p:txBody>
          <a:bodyPr/>
          <a:lstStyle/>
          <a:p>
            <a:fld id="{CB70D3E6-D921-5B44-AC8D-B7FDAFC8A532}" type="datetimeFigureOut">
              <a:rPr lang="en-US" smtClean="0"/>
              <a:t>7/3/26</a:t>
            </a:fld>
            <a:endParaRPr lang="en-US"/>
          </a:p>
        </p:txBody>
      </p:sp>
      <p:sp>
        <p:nvSpPr>
          <p:cNvPr id="6" name="Footer Placeholder 5">
            <a:extLst>
              <a:ext uri="{FF2B5EF4-FFF2-40B4-BE49-F238E27FC236}">
                <a16:creationId xmlns:a16="http://schemas.microsoft.com/office/drawing/2014/main" id="{BC9BE16D-FB3D-AA41-B06D-73A0FCDFBA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19839D-F44C-4B47-9DFE-D154851F5510}"/>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2204029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5DFD1-B5EF-8445-B336-8B2E596E207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086E7C-46AA-9440-8F1F-C1AD5E8EC2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762E40-F60A-404F-9DB3-AC863A0E0847}"/>
              </a:ext>
            </a:extLst>
          </p:cNvPr>
          <p:cNvSpPr>
            <a:spLocks noGrp="1"/>
          </p:cNvSpPr>
          <p:nvPr>
            <p:ph type="dt" sz="half" idx="10"/>
          </p:nvPr>
        </p:nvSpPr>
        <p:spPr/>
        <p:txBody>
          <a:bodyPr/>
          <a:lstStyle/>
          <a:p>
            <a:fld id="{CB70D3E6-D921-5B44-AC8D-B7FDAFC8A532}" type="datetimeFigureOut">
              <a:rPr lang="en-US" smtClean="0"/>
              <a:t>7/3/26</a:t>
            </a:fld>
            <a:endParaRPr lang="en-US"/>
          </a:p>
        </p:txBody>
      </p:sp>
      <p:sp>
        <p:nvSpPr>
          <p:cNvPr id="5" name="Footer Placeholder 4">
            <a:extLst>
              <a:ext uri="{FF2B5EF4-FFF2-40B4-BE49-F238E27FC236}">
                <a16:creationId xmlns:a16="http://schemas.microsoft.com/office/drawing/2014/main" id="{156ABF7D-A207-9243-8354-69D0FCFAAC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C5599E-5B81-624B-A60C-D22AF58B66FB}"/>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5792364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4BC040-CE85-6347-809B-760E676EF4C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7DD51C-FD4B-524F-8054-62599D261A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E9F735-3187-1341-AE2A-1316DEDA7CE8}"/>
              </a:ext>
            </a:extLst>
          </p:cNvPr>
          <p:cNvSpPr>
            <a:spLocks noGrp="1"/>
          </p:cNvSpPr>
          <p:nvPr>
            <p:ph type="dt" sz="half" idx="10"/>
          </p:nvPr>
        </p:nvSpPr>
        <p:spPr/>
        <p:txBody>
          <a:bodyPr/>
          <a:lstStyle/>
          <a:p>
            <a:fld id="{CB70D3E6-D921-5B44-AC8D-B7FDAFC8A532}" type="datetimeFigureOut">
              <a:rPr lang="en-US" smtClean="0"/>
              <a:t>7/3/26</a:t>
            </a:fld>
            <a:endParaRPr lang="en-US"/>
          </a:p>
        </p:txBody>
      </p:sp>
      <p:sp>
        <p:nvSpPr>
          <p:cNvPr id="5" name="Footer Placeholder 4">
            <a:extLst>
              <a:ext uri="{FF2B5EF4-FFF2-40B4-BE49-F238E27FC236}">
                <a16:creationId xmlns:a16="http://schemas.microsoft.com/office/drawing/2014/main" id="{D08F8F3D-1D9D-EF45-9F9C-E682715F66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FDF4D4-99B2-C24C-BCFF-B3AB3F96C740}"/>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7775695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C2668-EBEB-AE41-BF76-89062B014B13}"/>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C8C28A4C-0805-8E44-B54E-3B6F671F8D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93B74C2-6265-7F41-BB8F-D8A0A0C89A63}"/>
              </a:ext>
            </a:extLst>
          </p:cNvPr>
          <p:cNvSpPr>
            <a:spLocks noGrp="1"/>
          </p:cNvSpPr>
          <p:nvPr>
            <p:ph type="dt" sz="half" idx="10"/>
          </p:nvPr>
        </p:nvSpPr>
        <p:spPr/>
        <p:txBody>
          <a:bodyPr/>
          <a:lstStyle/>
          <a:p>
            <a:fld id="{B1CFC895-F8E0-4049-8BEE-E5499394E46C}" type="datetime1">
              <a:rPr lang="en-US" smtClean="0"/>
              <a:t>7/3/26</a:t>
            </a:fld>
            <a:endParaRPr lang="en-US"/>
          </a:p>
        </p:txBody>
      </p:sp>
      <p:sp>
        <p:nvSpPr>
          <p:cNvPr id="5" name="Footer Placeholder 4">
            <a:extLst>
              <a:ext uri="{FF2B5EF4-FFF2-40B4-BE49-F238E27FC236}">
                <a16:creationId xmlns:a16="http://schemas.microsoft.com/office/drawing/2014/main" id="{74C53590-4180-6C42-A6BF-707655C15A1D}"/>
              </a:ext>
            </a:extLst>
          </p:cNvPr>
          <p:cNvSpPr>
            <a:spLocks noGrp="1"/>
          </p:cNvSpPr>
          <p:nvPr>
            <p:ph type="ftr" sz="quarter" idx="11"/>
          </p:nvPr>
        </p:nvSpPr>
        <p:spPr/>
        <p:txBody>
          <a:bodyPr/>
          <a:lstStyle>
            <a:lvl1pPr>
              <a:defRPr/>
            </a:lvl1pPr>
          </a:lstStyle>
          <a:p>
            <a:r>
              <a:rPr lang="en-US"/>
              <a:t>J Mark Morris - Model of Nature - April 2019</a:t>
            </a:r>
          </a:p>
        </p:txBody>
      </p:sp>
      <p:sp>
        <p:nvSpPr>
          <p:cNvPr id="6" name="Slide Number Placeholder 5">
            <a:extLst>
              <a:ext uri="{FF2B5EF4-FFF2-40B4-BE49-F238E27FC236}">
                <a16:creationId xmlns:a16="http://schemas.microsoft.com/office/drawing/2014/main" id="{93A81401-8545-2D4E-A7FB-31AFC7A8DB71}"/>
              </a:ext>
            </a:extLst>
          </p:cNvPr>
          <p:cNvSpPr>
            <a:spLocks noGrp="1"/>
          </p:cNvSpPr>
          <p:nvPr>
            <p:ph type="sldNum" sz="quarter" idx="12"/>
          </p:nvPr>
        </p:nvSpPr>
        <p:spPr/>
        <p:txBody>
          <a:bodyPr/>
          <a:lstStyle/>
          <a:p>
            <a:fld id="{D73D4D4B-2FF7-BE46-958C-B004BD45EF6F}" type="slidenum">
              <a:rPr lang="en-US" smtClean="0"/>
              <a:t>‹#›</a:t>
            </a:fld>
            <a:endParaRPr lang="en-US"/>
          </a:p>
        </p:txBody>
      </p:sp>
    </p:spTree>
    <p:extLst>
      <p:ext uri="{BB962C8B-B14F-4D97-AF65-F5344CB8AC3E}">
        <p14:creationId xmlns:p14="http://schemas.microsoft.com/office/powerpoint/2010/main" val="2073663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560F9-C770-5C4C-9C93-102EC332DBA4}"/>
              </a:ext>
            </a:extLst>
          </p:cNvPr>
          <p:cNvSpPr>
            <a:spLocks noGrp="1"/>
          </p:cNvSpPr>
          <p:nvPr>
            <p:ph type="title"/>
          </p:nvPr>
        </p:nvSpPr>
        <p:spPr>
          <a:xfrm>
            <a:off x="838200" y="365125"/>
            <a:ext cx="10515600" cy="777875"/>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0D38EDA-56F1-1C40-B81E-28B921C4E99F}"/>
              </a:ext>
            </a:extLst>
          </p:cNvPr>
          <p:cNvSpPr>
            <a:spLocks noGrp="1"/>
          </p:cNvSpPr>
          <p:nvPr>
            <p:ph idx="1"/>
          </p:nvPr>
        </p:nvSpPr>
        <p:spPr>
          <a:xfrm>
            <a:off x="838200" y="1295400"/>
            <a:ext cx="10515600" cy="488156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AD42772-5D80-F641-A1BB-6048573C4E88}"/>
              </a:ext>
            </a:extLst>
          </p:cNvPr>
          <p:cNvSpPr>
            <a:spLocks noGrp="1"/>
          </p:cNvSpPr>
          <p:nvPr>
            <p:ph type="dt" sz="half" idx="10"/>
          </p:nvPr>
        </p:nvSpPr>
        <p:spPr/>
        <p:txBody>
          <a:bodyPr/>
          <a:lstStyle/>
          <a:p>
            <a:fld id="{A91F55E2-A889-F24B-B1FE-1E878178F308}" type="datetime1">
              <a:rPr lang="en-US" smtClean="0"/>
              <a:t>7/3/26</a:t>
            </a:fld>
            <a:endParaRPr lang="en-US"/>
          </a:p>
        </p:txBody>
      </p:sp>
      <p:sp>
        <p:nvSpPr>
          <p:cNvPr id="5" name="Footer Placeholder 4">
            <a:extLst>
              <a:ext uri="{FF2B5EF4-FFF2-40B4-BE49-F238E27FC236}">
                <a16:creationId xmlns:a16="http://schemas.microsoft.com/office/drawing/2014/main" id="{C68FC4AF-90CF-484C-B6C7-5CE1A016FB49}"/>
              </a:ext>
            </a:extLst>
          </p:cNvPr>
          <p:cNvSpPr>
            <a:spLocks noGrp="1"/>
          </p:cNvSpPr>
          <p:nvPr>
            <p:ph type="ftr" sz="quarter" idx="11"/>
          </p:nvPr>
        </p:nvSpPr>
        <p:spPr/>
        <p:txBody>
          <a:bodyPr/>
          <a:lstStyle/>
          <a:p>
            <a:r>
              <a:rPr lang="en-US"/>
              <a:t>J Mark Morris - Model of Nature - April 2019</a:t>
            </a:r>
          </a:p>
        </p:txBody>
      </p:sp>
      <p:sp>
        <p:nvSpPr>
          <p:cNvPr id="6" name="Slide Number Placeholder 5">
            <a:extLst>
              <a:ext uri="{FF2B5EF4-FFF2-40B4-BE49-F238E27FC236}">
                <a16:creationId xmlns:a16="http://schemas.microsoft.com/office/drawing/2014/main" id="{8169AF1E-33D8-3041-A601-1384C718A8B5}"/>
              </a:ext>
            </a:extLst>
          </p:cNvPr>
          <p:cNvSpPr>
            <a:spLocks noGrp="1"/>
          </p:cNvSpPr>
          <p:nvPr>
            <p:ph type="sldNum" sz="quarter" idx="12"/>
          </p:nvPr>
        </p:nvSpPr>
        <p:spPr/>
        <p:txBody>
          <a:bodyPr/>
          <a:lstStyle/>
          <a:p>
            <a:fld id="{D73D4D4B-2FF7-BE46-958C-B004BD45EF6F}" type="slidenum">
              <a:rPr lang="en-US" smtClean="0"/>
              <a:t>‹#›</a:t>
            </a:fld>
            <a:endParaRPr lang="en-US"/>
          </a:p>
        </p:txBody>
      </p:sp>
    </p:spTree>
    <p:extLst>
      <p:ext uri="{BB962C8B-B14F-4D97-AF65-F5344CB8AC3E}">
        <p14:creationId xmlns:p14="http://schemas.microsoft.com/office/powerpoint/2010/main" val="3537191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1822D-6D7A-1342-98EF-890C6F2DA174}"/>
              </a:ext>
            </a:extLst>
          </p:cNvPr>
          <p:cNvSpPr>
            <a:spLocks noGrp="1"/>
          </p:cNvSpPr>
          <p:nvPr>
            <p:ph type="title"/>
          </p:nvPr>
        </p:nvSpPr>
        <p:spPr>
          <a:xfrm>
            <a:off x="838200" y="365125"/>
            <a:ext cx="10515600" cy="777875"/>
          </a:xfrm>
        </p:spPr>
        <p:txBody>
          <a:bodyPr/>
          <a:lstStyle/>
          <a:p>
            <a:r>
              <a:rPr lang="en-US"/>
              <a:t>Click to edit Master title style</a:t>
            </a:r>
          </a:p>
        </p:txBody>
      </p:sp>
      <p:sp>
        <p:nvSpPr>
          <p:cNvPr id="3" name="Date Placeholder 2">
            <a:extLst>
              <a:ext uri="{FF2B5EF4-FFF2-40B4-BE49-F238E27FC236}">
                <a16:creationId xmlns:a16="http://schemas.microsoft.com/office/drawing/2014/main" id="{74CF19EA-9170-5B4B-814F-7425C8E22823}"/>
              </a:ext>
            </a:extLst>
          </p:cNvPr>
          <p:cNvSpPr>
            <a:spLocks noGrp="1"/>
          </p:cNvSpPr>
          <p:nvPr>
            <p:ph type="dt" sz="half" idx="10"/>
          </p:nvPr>
        </p:nvSpPr>
        <p:spPr/>
        <p:txBody>
          <a:bodyPr/>
          <a:lstStyle/>
          <a:p>
            <a:fld id="{C6E8461C-3391-334C-9885-001B32D724C4}" type="datetime1">
              <a:rPr lang="en-US" smtClean="0"/>
              <a:t>7/3/26</a:t>
            </a:fld>
            <a:endParaRPr lang="en-US"/>
          </a:p>
        </p:txBody>
      </p:sp>
      <p:sp>
        <p:nvSpPr>
          <p:cNvPr id="4" name="Footer Placeholder 3">
            <a:extLst>
              <a:ext uri="{FF2B5EF4-FFF2-40B4-BE49-F238E27FC236}">
                <a16:creationId xmlns:a16="http://schemas.microsoft.com/office/drawing/2014/main" id="{5882B1FB-ECDF-AD43-9020-0267ED91C04E}"/>
              </a:ext>
            </a:extLst>
          </p:cNvPr>
          <p:cNvSpPr>
            <a:spLocks noGrp="1"/>
          </p:cNvSpPr>
          <p:nvPr>
            <p:ph type="ftr" sz="quarter" idx="11"/>
          </p:nvPr>
        </p:nvSpPr>
        <p:spPr/>
        <p:txBody>
          <a:bodyPr/>
          <a:lstStyle>
            <a:lvl1pPr>
              <a:defRPr/>
            </a:lvl1pPr>
          </a:lstStyle>
          <a:p>
            <a:r>
              <a:rPr lang="en-US"/>
              <a:t>J Mark Morris - Model of Nature - April 2019</a:t>
            </a:r>
          </a:p>
        </p:txBody>
      </p:sp>
      <p:sp>
        <p:nvSpPr>
          <p:cNvPr id="5" name="Slide Number Placeholder 4">
            <a:extLst>
              <a:ext uri="{FF2B5EF4-FFF2-40B4-BE49-F238E27FC236}">
                <a16:creationId xmlns:a16="http://schemas.microsoft.com/office/drawing/2014/main" id="{D949C470-5AF0-5246-81E7-95EAEE5639EF}"/>
              </a:ext>
            </a:extLst>
          </p:cNvPr>
          <p:cNvSpPr>
            <a:spLocks noGrp="1"/>
          </p:cNvSpPr>
          <p:nvPr>
            <p:ph type="sldNum" sz="quarter" idx="12"/>
          </p:nvPr>
        </p:nvSpPr>
        <p:spPr/>
        <p:txBody>
          <a:bodyPr/>
          <a:lstStyle/>
          <a:p>
            <a:fld id="{D73D4D4B-2FF7-BE46-958C-B004BD45EF6F}" type="slidenum">
              <a:rPr lang="en-US" smtClean="0"/>
              <a:t>‹#›</a:t>
            </a:fld>
            <a:endParaRPr lang="en-US"/>
          </a:p>
        </p:txBody>
      </p:sp>
    </p:spTree>
    <p:extLst>
      <p:ext uri="{BB962C8B-B14F-4D97-AF65-F5344CB8AC3E}">
        <p14:creationId xmlns:p14="http://schemas.microsoft.com/office/powerpoint/2010/main" val="3154260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14B483-3334-204F-ADDF-2B9BC6A8D9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BFCC4CF-F19A-1848-8467-61B9807ACF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128E2E-CB42-B64B-A2AC-B8713F8A0E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70D3E6-D921-5B44-AC8D-B7FDAFC8A532}" type="datetimeFigureOut">
              <a:rPr lang="en-US" smtClean="0"/>
              <a:t>7/3/26</a:t>
            </a:fld>
            <a:endParaRPr lang="en-US"/>
          </a:p>
        </p:txBody>
      </p:sp>
      <p:sp>
        <p:nvSpPr>
          <p:cNvPr id="5" name="Footer Placeholder 4">
            <a:extLst>
              <a:ext uri="{FF2B5EF4-FFF2-40B4-BE49-F238E27FC236}">
                <a16:creationId xmlns:a16="http://schemas.microsoft.com/office/drawing/2014/main" id="{2AA830BA-8B9E-D54E-AA7F-1B6C247B3A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E3634F2-31DD-3F49-A362-988026E566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E7AC70-81D3-9F4C-9FBF-EEB91175D34A}" type="slidenum">
              <a:rPr lang="en-US" smtClean="0"/>
              <a:t>‹#›</a:t>
            </a:fld>
            <a:endParaRPr lang="en-US"/>
          </a:p>
        </p:txBody>
      </p:sp>
    </p:spTree>
    <p:extLst>
      <p:ext uri="{BB962C8B-B14F-4D97-AF65-F5344CB8AC3E}">
        <p14:creationId xmlns:p14="http://schemas.microsoft.com/office/powerpoint/2010/main" val="6315374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79A1DB-155B-0846-9CED-8B75F56E0E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D69736F-08D5-7643-A656-ABAEB9457A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433D04-66F5-D74B-8EEA-459FDC00D1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stStyle>
          <a:p>
            <a:fld id="{2005EE61-3907-C44D-8624-D47E09E871DB}" type="datetime1">
              <a:rPr lang="en-US" smtClean="0"/>
              <a:t>7/3/26</a:t>
            </a:fld>
            <a:endParaRPr lang="en-US"/>
          </a:p>
        </p:txBody>
      </p:sp>
      <p:sp>
        <p:nvSpPr>
          <p:cNvPr id="5" name="Footer Placeholder 4">
            <a:extLst>
              <a:ext uri="{FF2B5EF4-FFF2-40B4-BE49-F238E27FC236}">
                <a16:creationId xmlns:a16="http://schemas.microsoft.com/office/drawing/2014/main" id="{9FDE6E67-6F97-E149-8437-635D11E7ED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t>J Mark Morris - Model of Nature - April 2019</a:t>
            </a:r>
          </a:p>
        </p:txBody>
      </p:sp>
      <p:sp>
        <p:nvSpPr>
          <p:cNvPr id="6" name="Slide Number Placeholder 5">
            <a:extLst>
              <a:ext uri="{FF2B5EF4-FFF2-40B4-BE49-F238E27FC236}">
                <a16:creationId xmlns:a16="http://schemas.microsoft.com/office/drawing/2014/main" id="{D585CC1E-0AB1-F34A-83C6-0956BF9B4A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stStyle>
          <a:p>
            <a:fld id="{D73D4D4B-2FF7-BE46-958C-B004BD45EF6F}" type="slidenum">
              <a:rPr lang="en-US" smtClean="0"/>
              <a:pPr/>
              <a:t>‹#›</a:t>
            </a:fld>
            <a:endParaRPr lang="en-US"/>
          </a:p>
        </p:txBody>
      </p:sp>
    </p:spTree>
    <p:extLst>
      <p:ext uri="{BB962C8B-B14F-4D97-AF65-F5344CB8AC3E}">
        <p14:creationId xmlns:p14="http://schemas.microsoft.com/office/powerpoint/2010/main" val="273686025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Lst>
  <p:hf sldNum="0" hdr="0" dt="0"/>
  <p:txStyles>
    <p:titleStyle>
      <a:lvl1pPr algn="l" defTabSz="914400" rtl="0" eaLnBrk="1" latinLnBrk="0" hangingPunct="1">
        <a:lnSpc>
          <a:spcPct val="90000"/>
        </a:lnSpc>
        <a:spcBef>
          <a:spcPct val="0"/>
        </a:spcBef>
        <a:buNone/>
        <a:defRPr sz="44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3.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7ACA5-3691-8FEB-0266-8D47BBCCF4C6}"/>
              </a:ext>
            </a:extLst>
          </p:cNvPr>
          <p:cNvSpPr txBox="1"/>
          <p:nvPr/>
        </p:nvSpPr>
        <p:spPr>
          <a:xfrm>
            <a:off x="0" y="1163324"/>
            <a:ext cx="12191999" cy="2913618"/>
          </a:xfrm>
          <a:prstGeom prst="rect">
            <a:avLst/>
          </a:prstGeom>
          <a:noFill/>
        </p:spPr>
        <p:txBody>
          <a:bodyPr wrap="square" rtlCol="0">
            <a:spAutoFit/>
          </a:bodyPr>
          <a:lstStyle/>
          <a:p>
            <a:pPr marL="0" marR="0" lvl="0" indent="0" algn="ctr" defTabSz="914400" rtl="0" eaLnBrk="1" fontAlgn="auto" latinLnBrk="0" hangingPunct="1">
              <a:lnSpc>
                <a:spcPts val="11000"/>
              </a:lnSpc>
              <a:spcBef>
                <a:spcPts val="0"/>
              </a:spcBef>
              <a:spcAft>
                <a:spcPts val="0"/>
              </a:spcAft>
              <a:buClrTx/>
              <a:buSzTx/>
              <a:buFontTx/>
              <a:buNone/>
              <a:tabLst/>
              <a:defRPr/>
            </a:pPr>
            <a:r>
              <a:rPr kumimoji="0" lang="en-US" sz="11500" b="1" i="0" u="none" strike="noStrike" kern="1200" cap="none" spc="0" normalizeH="0" baseline="0" noProof="0" dirty="0">
                <a:ln>
                  <a:noFill/>
                </a:ln>
                <a:solidFill>
                  <a:schemeClr val="bg1"/>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Title Slide Collection</a:t>
            </a:r>
            <a:endParaRPr kumimoji="0" lang="en-US" sz="9600" b="1" i="0" u="none" strike="noStrike" kern="1200" cap="none" spc="0" normalizeH="0" baseline="0" noProof="0" dirty="0">
              <a:ln>
                <a:noFill/>
              </a:ln>
              <a:solidFill>
                <a:schemeClr val="bg1"/>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3310603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7ACA5-3691-8FEB-0266-8D47BBCCF4C6}"/>
              </a:ext>
            </a:extLst>
          </p:cNvPr>
          <p:cNvSpPr txBox="1"/>
          <p:nvPr/>
        </p:nvSpPr>
        <p:spPr>
          <a:xfrm>
            <a:off x="0" y="92992"/>
            <a:ext cx="12191999" cy="5478423"/>
          </a:xfrm>
          <a:prstGeom prst="rect">
            <a:avLst/>
          </a:prstGeom>
          <a:noFill/>
        </p:spPr>
        <p:txBody>
          <a:bodyPr wrap="square" rtlCol="0">
            <a:spAutoFit/>
          </a:bodyPr>
          <a:lstStyle/>
          <a:p>
            <a:pPr algn="ctr">
              <a:lnSpc>
                <a:spcPts val="11000"/>
              </a:lnSpc>
              <a:defRPr/>
            </a:pPr>
            <a:r>
              <a:rPr kumimoji="0" lang="en-US" sz="8800" u="none" strike="noStrike" kern="1200" cap="none" spc="0" normalizeH="0" baseline="0" noProof="0" dirty="0">
                <a:ln>
                  <a:noFill/>
                </a:ln>
                <a:solidFill>
                  <a:prstClr val="white"/>
                </a:solidFill>
                <a:effectLst/>
                <a:uLnTx/>
                <a:uFillTx/>
                <a:latin typeface="Helvetica Neue Thin" panose="020B0403020202020204" pitchFamily="34" charset="0"/>
                <a:ea typeface="Helvetica Neue Thin" panose="020B0403020202020204" pitchFamily="34" charset="0"/>
                <a:cs typeface="Helvetica Neue" panose="02000503000000020004" pitchFamily="2" charset="0"/>
              </a:rPr>
              <a:t>neoclassical.ai</a:t>
            </a:r>
          </a:p>
          <a:p>
            <a:pPr marL="0" marR="0" lvl="0" indent="0" algn="ctr" defTabSz="914400" rtl="0" eaLnBrk="1" fontAlgn="auto" latinLnBrk="0" hangingPunct="1">
              <a:lnSpc>
                <a:spcPts val="11000"/>
              </a:lnSpc>
              <a:spcBef>
                <a:spcPts val="0"/>
              </a:spcBef>
              <a:spcAft>
                <a:spcPts val="0"/>
              </a:spcAft>
              <a:buClrTx/>
              <a:buSzTx/>
              <a:buFontTx/>
              <a:buNone/>
              <a:tabLst/>
              <a:defRPr/>
            </a:pPr>
            <a:r>
              <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Crisis in Physics</a:t>
            </a:r>
          </a:p>
          <a:p>
            <a:pPr marL="0" marR="0" lvl="0" indent="0" algn="ctr" defTabSz="914400" rtl="0" eaLnBrk="1" fontAlgn="auto" latinLnBrk="0" hangingPunct="1">
              <a:lnSpc>
                <a:spcPts val="10000"/>
              </a:lnSpc>
              <a:spcBef>
                <a:spcPts val="0"/>
              </a:spcBef>
              <a:spcAft>
                <a:spcPts val="0"/>
              </a:spcAft>
              <a:buClrTx/>
              <a:buSzTx/>
              <a:buFontTx/>
              <a:buNone/>
              <a:tabLst/>
              <a:defRPr/>
            </a:pPr>
            <a:r>
              <a:rPr lang="en-US" sz="9600" b="1" dirty="0">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Newton’s Views on Space, Time, &amp; Motion</a:t>
            </a:r>
          </a:p>
        </p:txBody>
      </p:sp>
      <p:pic>
        <p:nvPicPr>
          <p:cNvPr id="3" name="Picture 2">
            <a:extLst>
              <a:ext uri="{FF2B5EF4-FFF2-40B4-BE49-F238E27FC236}">
                <a16:creationId xmlns:a16="http://schemas.microsoft.com/office/drawing/2014/main" id="{608F758E-94B5-074B-1301-340B594BAE0E}"/>
              </a:ext>
            </a:extLst>
          </p:cNvPr>
          <p:cNvPicPr>
            <a:picLocks noChangeAspect="1"/>
          </p:cNvPicPr>
          <p:nvPr/>
        </p:nvPicPr>
        <p:blipFill>
          <a:blip r:embed="rId3"/>
          <a:stretch>
            <a:fillRect/>
          </a:stretch>
        </p:blipFill>
        <p:spPr>
          <a:xfrm>
            <a:off x="3228974" y="5976573"/>
            <a:ext cx="5734051" cy="683735"/>
          </a:xfrm>
          <a:prstGeom prst="rect">
            <a:avLst/>
          </a:prstGeom>
        </p:spPr>
      </p:pic>
      <p:sp>
        <p:nvSpPr>
          <p:cNvPr id="4" name="TextBox 3">
            <a:extLst>
              <a:ext uri="{FF2B5EF4-FFF2-40B4-BE49-F238E27FC236}">
                <a16:creationId xmlns:a16="http://schemas.microsoft.com/office/drawing/2014/main" id="{CB18998F-2FD9-0C21-DB11-0772A53D8050}"/>
              </a:ext>
            </a:extLst>
          </p:cNvPr>
          <p:cNvSpPr txBox="1"/>
          <p:nvPr/>
        </p:nvSpPr>
        <p:spPr>
          <a:xfrm>
            <a:off x="4450555" y="5607241"/>
            <a:ext cx="3176511" cy="369332"/>
          </a:xfrm>
          <a:prstGeom prst="rect">
            <a:avLst/>
          </a:prstGeom>
          <a:noFill/>
        </p:spPr>
        <p:txBody>
          <a:bodyPr wrap="none" rtlCol="0">
            <a:spAutoFit/>
          </a:bodyPr>
          <a:lstStyle/>
          <a:p>
            <a:r>
              <a:rPr lang="en-US" i="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Review of an article from the:</a:t>
            </a:r>
          </a:p>
        </p:txBody>
      </p:sp>
    </p:spTree>
    <p:extLst>
      <p:ext uri="{BB962C8B-B14F-4D97-AF65-F5344CB8AC3E}">
        <p14:creationId xmlns:p14="http://schemas.microsoft.com/office/powerpoint/2010/main" val="3941009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7ACA5-3691-8FEB-0266-8D47BBCCF4C6}"/>
              </a:ext>
            </a:extLst>
          </p:cNvPr>
          <p:cNvSpPr txBox="1"/>
          <p:nvPr/>
        </p:nvSpPr>
        <p:spPr>
          <a:xfrm>
            <a:off x="1" y="91440"/>
            <a:ext cx="12191999" cy="5478423"/>
          </a:xfrm>
          <a:prstGeom prst="rect">
            <a:avLst/>
          </a:prstGeom>
          <a:noFill/>
        </p:spPr>
        <p:txBody>
          <a:bodyPr wrap="square" rtlCol="0">
            <a:spAutoFit/>
          </a:bodyPr>
          <a:lstStyle/>
          <a:p>
            <a:pPr algn="ctr">
              <a:lnSpc>
                <a:spcPts val="11000"/>
              </a:lnSpc>
              <a:defRPr/>
            </a:pPr>
            <a:r>
              <a:rPr kumimoji="0" lang="en-US" sz="9600" u="none" strike="noStrike" kern="1200" cap="none" spc="0" normalizeH="0" baseline="0" noProof="0" dirty="0">
                <a:ln>
                  <a:noFill/>
                </a:ln>
                <a:solidFill>
                  <a:prstClr val="white"/>
                </a:solidFill>
                <a:effectLst/>
                <a:uLnTx/>
                <a:uFillTx/>
                <a:latin typeface="Helvetica Neue Thin" panose="020B0403020202020204" pitchFamily="34" charset="0"/>
                <a:ea typeface="Helvetica Neue Thin" panose="020B0403020202020204" pitchFamily="34" charset="0"/>
                <a:cs typeface="Helvetica Neue" panose="02000503000000020004" pitchFamily="2" charset="0"/>
              </a:rPr>
              <a:t>neoclassical.ai</a:t>
            </a:r>
          </a:p>
          <a:p>
            <a:pPr marL="0" marR="0" lvl="0" indent="0" algn="ctr" defTabSz="914400" rtl="0" eaLnBrk="1" fontAlgn="auto" latinLnBrk="0" hangingPunct="1">
              <a:lnSpc>
                <a:spcPts val="11000"/>
              </a:lnSpc>
              <a:spcBef>
                <a:spcPts val="0"/>
              </a:spcBef>
              <a:spcAft>
                <a:spcPts val="0"/>
              </a:spcAft>
              <a:buClrTx/>
              <a:buSzTx/>
              <a:buFontTx/>
              <a:buNone/>
              <a:tabLst/>
              <a:defRPr/>
            </a:pPr>
            <a:r>
              <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Crisis in Physics</a:t>
            </a:r>
          </a:p>
          <a:p>
            <a:pPr marL="0" marR="0" lvl="0" indent="0" algn="ctr" defTabSz="914400" rtl="0" eaLnBrk="1" fontAlgn="auto" latinLnBrk="0" hangingPunct="1">
              <a:lnSpc>
                <a:spcPts val="10000"/>
              </a:lnSpc>
              <a:spcBef>
                <a:spcPts val="0"/>
              </a:spcBef>
              <a:spcAft>
                <a:spcPts val="0"/>
              </a:spcAft>
              <a:buClrTx/>
              <a:buSzTx/>
              <a:buFontTx/>
              <a:buNone/>
              <a:tabLst/>
              <a:defRPr/>
            </a:pPr>
            <a:r>
              <a:rPr lang="en-US" sz="9600" b="1" dirty="0">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Ethan Siegel on </a:t>
            </a:r>
            <a:br>
              <a:rPr lang="en-US" sz="9600" b="1" dirty="0">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br>
            <a:r>
              <a:rPr lang="en-US" sz="9600" b="1" dirty="0">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Universe Expansion</a:t>
            </a:r>
          </a:p>
        </p:txBody>
      </p:sp>
      <p:cxnSp>
        <p:nvCxnSpPr>
          <p:cNvPr id="9" name="Straight Connector 8">
            <a:extLst>
              <a:ext uri="{FF2B5EF4-FFF2-40B4-BE49-F238E27FC236}">
                <a16:creationId xmlns:a16="http://schemas.microsoft.com/office/drawing/2014/main" id="{B7531AA8-BC8D-3FA1-88EA-A0EF15521F67}"/>
              </a:ext>
            </a:extLst>
          </p:cNvPr>
          <p:cNvCxnSpPr>
            <a:cxnSpLocks/>
          </p:cNvCxnSpPr>
          <p:nvPr/>
        </p:nvCxnSpPr>
        <p:spPr>
          <a:xfrm flipV="1">
            <a:off x="986367" y="4218330"/>
            <a:ext cx="4614333" cy="1075267"/>
          </a:xfrm>
          <a:prstGeom prst="line">
            <a:avLst/>
          </a:prstGeom>
          <a:ln w="1905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CEF2825-EF07-0BB5-9470-127560E7B9E1}"/>
              </a:ext>
            </a:extLst>
          </p:cNvPr>
          <p:cNvCxnSpPr>
            <a:cxnSpLocks/>
          </p:cNvCxnSpPr>
          <p:nvPr/>
        </p:nvCxnSpPr>
        <p:spPr>
          <a:xfrm flipH="1" flipV="1">
            <a:off x="986367" y="4218330"/>
            <a:ext cx="4614333" cy="1075267"/>
          </a:xfrm>
          <a:prstGeom prst="line">
            <a:avLst/>
          </a:prstGeom>
          <a:ln w="19050">
            <a:solidFill>
              <a:schemeClr val="bg1"/>
            </a:solidFill>
            <a:prstDash val="sysDot"/>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25FA6717-7C61-4FFB-16E8-7DAD12D507D6}"/>
              </a:ext>
            </a:extLst>
          </p:cNvPr>
          <p:cNvPicPr>
            <a:picLocks noChangeAspect="1"/>
          </p:cNvPicPr>
          <p:nvPr/>
        </p:nvPicPr>
        <p:blipFill rotWithShape="1">
          <a:blip r:embed="rId3"/>
          <a:srcRect l="29316" t="26752" r="27171" b="30584"/>
          <a:stretch/>
        </p:blipFill>
        <p:spPr>
          <a:xfrm>
            <a:off x="4841553" y="5629936"/>
            <a:ext cx="2115332" cy="1185186"/>
          </a:xfrm>
          <a:prstGeom prst="rect">
            <a:avLst/>
          </a:prstGeom>
        </p:spPr>
      </p:pic>
    </p:spTree>
    <p:extLst>
      <p:ext uri="{BB962C8B-B14F-4D97-AF65-F5344CB8AC3E}">
        <p14:creationId xmlns:p14="http://schemas.microsoft.com/office/powerpoint/2010/main" val="7131623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7ACA5-3691-8FEB-0266-8D47BBCCF4C6}"/>
              </a:ext>
            </a:extLst>
          </p:cNvPr>
          <p:cNvSpPr txBox="1"/>
          <p:nvPr/>
        </p:nvSpPr>
        <p:spPr>
          <a:xfrm>
            <a:off x="1" y="91440"/>
            <a:ext cx="12191999" cy="4324261"/>
          </a:xfrm>
          <a:prstGeom prst="rect">
            <a:avLst/>
          </a:prstGeom>
          <a:noFill/>
        </p:spPr>
        <p:txBody>
          <a:bodyPr wrap="square" rtlCol="0">
            <a:spAutoFit/>
          </a:bodyPr>
          <a:lstStyle/>
          <a:p>
            <a:pPr algn="ctr">
              <a:lnSpc>
                <a:spcPts val="11000"/>
              </a:lnSpc>
              <a:defRPr/>
            </a:pPr>
            <a:r>
              <a:rPr kumimoji="0" lang="en-US" sz="9600" u="none" strike="noStrike" kern="1200" cap="none" spc="0" normalizeH="0" baseline="0" noProof="0" dirty="0">
                <a:ln>
                  <a:noFill/>
                </a:ln>
                <a:solidFill>
                  <a:prstClr val="white"/>
                </a:solidFill>
                <a:effectLst/>
                <a:uLnTx/>
                <a:uFillTx/>
                <a:latin typeface="Helvetica Neue Thin" panose="020B0403020202020204" pitchFamily="34" charset="0"/>
                <a:ea typeface="Helvetica Neue Thin" panose="020B0403020202020204" pitchFamily="34" charset="0"/>
                <a:cs typeface="Helvetica Neue" panose="02000503000000020004" pitchFamily="2" charset="0"/>
              </a:rPr>
              <a:t>neoclassical.ai</a:t>
            </a:r>
          </a:p>
          <a:p>
            <a:pPr marL="0" marR="0" lvl="0" indent="0" algn="ctr" defTabSz="914400" rtl="0" eaLnBrk="1" fontAlgn="auto" latinLnBrk="0" hangingPunct="1">
              <a:lnSpc>
                <a:spcPts val="11000"/>
              </a:lnSpc>
              <a:spcBef>
                <a:spcPts val="0"/>
              </a:spcBef>
              <a:spcAft>
                <a:spcPts val="0"/>
              </a:spcAft>
              <a:buClrTx/>
              <a:buSzTx/>
              <a:buFontTx/>
              <a:buNone/>
              <a:tabLst/>
              <a:defRPr/>
            </a:pPr>
            <a:r>
              <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Crisis in Physics</a:t>
            </a:r>
            <a:br>
              <a:rPr kumimoji="0" lang="en-US" sz="9600" b="1" i="0" u="none" strike="noStrike" kern="1200" cap="none" spc="0" normalizeH="0" baseline="0" noProof="0" dirty="0">
                <a:ln>
                  <a:noFill/>
                </a:ln>
                <a:solidFill>
                  <a:srgbClr val="FF0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br>
            <a:r>
              <a:rPr lang="en-US" sz="9600" b="1" dirty="0">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Public F</a:t>
            </a:r>
            <a:r>
              <a:rPr kumimoji="0" lang="en-US" sz="9600" b="1" i="0" u="none" strike="noStrike" kern="1200" cap="none" spc="0" normalizeH="0" baseline="0" noProof="0" dirty="0" err="1">
                <a:ln>
                  <a:noFill/>
                </a:ln>
                <a:solidFill>
                  <a:srgbClr val="FF0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unding</a:t>
            </a:r>
            <a:r>
              <a:rPr kumimoji="0" lang="en-US" sz="9600" b="1" i="0" u="none" strike="noStrike" kern="1200" cap="none" spc="0" normalizeH="0" baseline="0" noProof="0" dirty="0">
                <a:ln>
                  <a:noFill/>
                </a:ln>
                <a:solidFill>
                  <a:srgbClr val="FF0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 Failure</a:t>
            </a:r>
          </a:p>
        </p:txBody>
      </p:sp>
      <p:pic>
        <p:nvPicPr>
          <p:cNvPr id="4" name="Audio 4.m4a">
            <a:hlinkClick r:id="" action="ppaction://media"/>
            <a:extLst>
              <a:ext uri="{FF2B5EF4-FFF2-40B4-BE49-F238E27FC236}">
                <a16:creationId xmlns:a16="http://schemas.microsoft.com/office/drawing/2014/main" id="{517B54EF-D7B1-E948-D130-5B2C54B785C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3379536" y="7453964"/>
            <a:ext cx="812800" cy="812800"/>
          </a:xfrm>
          <a:prstGeom prst="rect">
            <a:avLst/>
          </a:prstGeom>
        </p:spPr>
      </p:pic>
    </p:spTree>
    <p:extLst>
      <p:ext uri="{BB962C8B-B14F-4D97-AF65-F5344CB8AC3E}">
        <p14:creationId xmlns:p14="http://schemas.microsoft.com/office/powerpoint/2010/main" val="2348934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8485"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7ACA5-3691-8FEB-0266-8D47BBCCF4C6}"/>
              </a:ext>
            </a:extLst>
          </p:cNvPr>
          <p:cNvSpPr txBox="1"/>
          <p:nvPr/>
        </p:nvSpPr>
        <p:spPr>
          <a:xfrm>
            <a:off x="0" y="91440"/>
            <a:ext cx="12191999" cy="5478423"/>
          </a:xfrm>
          <a:prstGeom prst="rect">
            <a:avLst/>
          </a:prstGeom>
          <a:noFill/>
        </p:spPr>
        <p:txBody>
          <a:bodyPr wrap="square" rtlCol="0">
            <a:spAutoFit/>
          </a:bodyPr>
          <a:lstStyle/>
          <a:p>
            <a:pPr algn="ctr">
              <a:lnSpc>
                <a:spcPts val="11000"/>
              </a:lnSpc>
              <a:defRPr/>
            </a:pPr>
            <a:r>
              <a:rPr kumimoji="0" lang="en-US" sz="9600" u="none" strike="noStrike" kern="1200" cap="none" spc="0" normalizeH="0" baseline="0" noProof="0" dirty="0">
                <a:ln>
                  <a:noFill/>
                </a:ln>
                <a:solidFill>
                  <a:prstClr val="white"/>
                </a:solidFill>
                <a:effectLst/>
                <a:uLnTx/>
                <a:uFillTx/>
                <a:latin typeface="Helvetica Neue Thin" panose="020B0403020202020204" pitchFamily="34" charset="0"/>
                <a:ea typeface="Helvetica Neue Thin" panose="020B0403020202020204" pitchFamily="34" charset="0"/>
                <a:cs typeface="Helvetica Neue" panose="02000503000000020004" pitchFamily="2" charset="0"/>
              </a:rPr>
              <a:t>neoclassical.ai</a:t>
            </a:r>
          </a:p>
          <a:p>
            <a:pPr marL="0" marR="0" lvl="0" indent="0" algn="ctr" defTabSz="914400" rtl="0" eaLnBrk="1" fontAlgn="auto" latinLnBrk="0" hangingPunct="1">
              <a:lnSpc>
                <a:spcPts val="11000"/>
              </a:lnSpc>
              <a:spcBef>
                <a:spcPts val="0"/>
              </a:spcBef>
              <a:spcAft>
                <a:spcPts val="0"/>
              </a:spcAft>
              <a:buClrTx/>
              <a:buSzTx/>
              <a:buFontTx/>
              <a:buNone/>
              <a:tabLst/>
              <a:defRPr/>
            </a:pPr>
            <a:r>
              <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Crisis in Physics</a:t>
            </a: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11500" b="1" i="0" u="none" strike="noStrike" kern="1200" cap="none" spc="0" normalizeH="0" baseline="0" noProof="0" dirty="0">
                <a:ln>
                  <a:noFill/>
                </a:ln>
                <a:solidFill>
                  <a:srgbClr val="FF0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150 Years of</a:t>
            </a:r>
            <a:br>
              <a:rPr kumimoji="0" lang="en-US" sz="11500" b="1" i="0" u="none" strike="noStrike" kern="1200" cap="none" spc="0" normalizeH="0" baseline="0" noProof="0" dirty="0">
                <a:ln>
                  <a:noFill/>
                </a:ln>
                <a:solidFill>
                  <a:srgbClr val="FF0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br>
            <a:r>
              <a:rPr kumimoji="0" lang="en-US" sz="11500" b="1" i="0" u="none" strike="noStrike" kern="1200" cap="none" spc="0" normalizeH="0" baseline="0" noProof="0" dirty="0">
                <a:ln>
                  <a:noFill/>
                </a:ln>
                <a:solidFill>
                  <a:srgbClr val="FF0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Misinterpretation</a:t>
            </a:r>
          </a:p>
        </p:txBody>
      </p:sp>
    </p:spTree>
    <p:extLst>
      <p:ext uri="{BB962C8B-B14F-4D97-AF65-F5344CB8AC3E}">
        <p14:creationId xmlns:p14="http://schemas.microsoft.com/office/powerpoint/2010/main" val="1599249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7ACA5-3691-8FEB-0266-8D47BBCCF4C6}"/>
              </a:ext>
            </a:extLst>
          </p:cNvPr>
          <p:cNvSpPr txBox="1"/>
          <p:nvPr/>
        </p:nvSpPr>
        <p:spPr>
          <a:xfrm>
            <a:off x="1" y="91440"/>
            <a:ext cx="12191999" cy="5478423"/>
          </a:xfrm>
          <a:prstGeom prst="rect">
            <a:avLst/>
          </a:prstGeom>
          <a:noFill/>
        </p:spPr>
        <p:txBody>
          <a:bodyPr wrap="square" rtlCol="0">
            <a:spAutoFit/>
          </a:bodyPr>
          <a:lstStyle/>
          <a:p>
            <a:pPr algn="ctr">
              <a:lnSpc>
                <a:spcPts val="11000"/>
              </a:lnSpc>
              <a:defRPr/>
            </a:pPr>
            <a:r>
              <a:rPr kumimoji="0" lang="en-US" sz="9600" u="none" strike="noStrike" kern="1200" cap="none" spc="0" normalizeH="0" baseline="0" noProof="0" dirty="0">
                <a:ln>
                  <a:noFill/>
                </a:ln>
                <a:solidFill>
                  <a:prstClr val="white"/>
                </a:solidFill>
                <a:effectLst/>
                <a:uLnTx/>
                <a:uFillTx/>
                <a:latin typeface="Helvetica Neue Thin" panose="020B0403020202020204" pitchFamily="34" charset="0"/>
                <a:ea typeface="Helvetica Neue Thin" panose="020B0403020202020204" pitchFamily="34" charset="0"/>
                <a:cs typeface="Helvetica Neue" panose="02000503000000020004" pitchFamily="2" charset="0"/>
              </a:rPr>
              <a:t>neoclassical.ai</a:t>
            </a:r>
          </a:p>
          <a:p>
            <a:pPr marL="0" marR="0" lvl="0" indent="0" algn="ctr" defTabSz="914400" rtl="0" eaLnBrk="1" fontAlgn="auto" latinLnBrk="0" hangingPunct="1">
              <a:lnSpc>
                <a:spcPts val="11000"/>
              </a:lnSpc>
              <a:spcBef>
                <a:spcPts val="0"/>
              </a:spcBef>
              <a:spcAft>
                <a:spcPts val="0"/>
              </a:spcAft>
              <a:buClrTx/>
              <a:buSzTx/>
              <a:buFontTx/>
              <a:buNone/>
              <a:tabLst/>
              <a:defRPr/>
            </a:pPr>
            <a:r>
              <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Crisis in Physics</a:t>
            </a: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11500" b="1" i="0" u="none" strike="noStrike" kern="1200" cap="none" spc="0" normalizeH="0" baseline="0" noProof="0" dirty="0">
                <a:ln>
                  <a:noFill/>
                </a:ln>
                <a:solidFill>
                  <a:srgbClr val="FF0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Dr. Flip </a:t>
            </a:r>
            <a:r>
              <a:rPr kumimoji="0" lang="en-US" sz="11500" b="1" i="0" u="none" strike="noStrike" kern="1200" cap="none" spc="0" normalizeH="0" baseline="0" noProof="0" dirty="0" err="1">
                <a:ln>
                  <a:noFill/>
                </a:ln>
                <a:solidFill>
                  <a:srgbClr val="FF0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Tenado</a:t>
            </a:r>
            <a:endParaRPr kumimoji="0" lang="en-US" sz="11500" b="1" i="0" u="none" strike="noStrike" kern="1200" cap="none" spc="0" normalizeH="0" baseline="0" noProof="0" dirty="0">
              <a:ln>
                <a:noFill/>
              </a:ln>
              <a:solidFill>
                <a:srgbClr val="FF0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11500" b="1" i="0" u="none" strike="noStrike" kern="1200" cap="none" spc="0" normalizeH="0" baseline="0" noProof="0" dirty="0">
                <a:ln>
                  <a:noFill/>
                </a:ln>
                <a:solidFill>
                  <a:srgbClr val="FF0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at Per</a:t>
            </a:r>
            <a:r>
              <a:rPr lang="en-US" sz="11500" b="1" dirty="0" err="1">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imeter</a:t>
            </a:r>
            <a:r>
              <a:rPr lang="en-US" sz="11500" b="1" dirty="0">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 2024</a:t>
            </a:r>
            <a:endParaRPr kumimoji="0" lang="en-US" sz="11500" b="1" i="0" u="none" strike="noStrike" kern="1200" cap="none" spc="0" normalizeH="0" baseline="0" noProof="0" dirty="0">
              <a:ln>
                <a:noFill/>
              </a:ln>
              <a:solidFill>
                <a:srgbClr val="FF0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473784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8BD2D8D3-4FC2-5B46-4A44-7A2085023C6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97EE182-5C47-C603-7102-03C62C1E8913}"/>
              </a:ext>
            </a:extLst>
          </p:cNvPr>
          <p:cNvSpPr txBox="1"/>
          <p:nvPr/>
        </p:nvSpPr>
        <p:spPr>
          <a:xfrm>
            <a:off x="0" y="91440"/>
            <a:ext cx="12191999" cy="6673302"/>
          </a:xfrm>
          <a:prstGeom prst="rect">
            <a:avLst/>
          </a:prstGeom>
          <a:noFill/>
        </p:spPr>
        <p:txBody>
          <a:bodyPr wrap="square" rtlCol="0">
            <a:spAutoFit/>
          </a:bodyPr>
          <a:lstStyle/>
          <a:p>
            <a:pPr algn="ctr">
              <a:lnSpc>
                <a:spcPts val="11000"/>
              </a:lnSpc>
              <a:defRPr/>
            </a:pPr>
            <a:r>
              <a:rPr kumimoji="0" lang="en-US" sz="9600" u="none" strike="noStrike" kern="1200" cap="none" spc="0" normalizeH="0" baseline="0" noProof="0" dirty="0">
                <a:ln>
                  <a:noFill/>
                </a:ln>
                <a:solidFill>
                  <a:prstClr val="white"/>
                </a:solidFill>
                <a:effectLst/>
                <a:uLnTx/>
                <a:uFillTx/>
                <a:latin typeface="Helvetica Neue Thin" panose="020B0403020202020204" pitchFamily="34" charset="0"/>
                <a:ea typeface="Helvetica Neue Thin" panose="020B0403020202020204" pitchFamily="34" charset="0"/>
                <a:cs typeface="Helvetica Neue" panose="02000503000000020004" pitchFamily="2" charset="0"/>
              </a:rPr>
              <a:t>neoclassical.ai</a:t>
            </a:r>
          </a:p>
          <a:p>
            <a:pPr marL="0" marR="0" lvl="0" indent="0" algn="ctr" defTabSz="914400" rtl="0" eaLnBrk="1" fontAlgn="auto" latinLnBrk="0" hangingPunct="1">
              <a:lnSpc>
                <a:spcPts val="11000"/>
              </a:lnSpc>
              <a:spcBef>
                <a:spcPts val="0"/>
              </a:spcBef>
              <a:spcAft>
                <a:spcPts val="0"/>
              </a:spcAft>
              <a:buClrTx/>
              <a:buSzTx/>
              <a:buFontTx/>
              <a:buNone/>
              <a:tabLst/>
              <a:defRPr/>
            </a:pPr>
            <a:r>
              <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Crisis in Physics</a:t>
            </a:r>
          </a:p>
          <a:p>
            <a:pPr marL="0" marR="0" lvl="0" indent="0" algn="ctr" defTabSz="914400" rtl="0" eaLnBrk="1" fontAlgn="auto" latinLnBrk="0" hangingPunct="1">
              <a:lnSpc>
                <a:spcPts val="10000"/>
              </a:lnSpc>
              <a:spcBef>
                <a:spcPts val="0"/>
              </a:spcBef>
              <a:spcAft>
                <a:spcPts val="0"/>
              </a:spcAft>
              <a:buClrTx/>
              <a:buSzTx/>
              <a:buFontTx/>
              <a:buNone/>
              <a:tabLst/>
              <a:defRPr/>
            </a:pPr>
            <a:r>
              <a:rPr lang="en-US" sz="11500" b="1" dirty="0">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Dr. David Kaiser</a:t>
            </a: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11500" b="1" i="0" u="none" strike="noStrike" kern="1200" cap="none" spc="0" normalizeH="0" baseline="0" noProof="0" dirty="0">
                <a:ln>
                  <a:noFill/>
                </a:ln>
                <a:solidFill>
                  <a:srgbClr val="FF0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Aether History</a:t>
            </a:r>
          </a:p>
          <a:p>
            <a:pPr marL="0" marR="0" lvl="0" indent="0" algn="ctr" defTabSz="914400" rtl="0" eaLnBrk="1" fontAlgn="auto" latinLnBrk="0" hangingPunct="1">
              <a:lnSpc>
                <a:spcPts val="10000"/>
              </a:lnSpc>
              <a:spcBef>
                <a:spcPts val="0"/>
              </a:spcBef>
              <a:spcAft>
                <a:spcPts val="0"/>
              </a:spcAft>
              <a:buClrTx/>
              <a:buSzTx/>
              <a:buFontTx/>
              <a:buNone/>
              <a:tabLst/>
              <a:defRPr/>
            </a:pPr>
            <a:endParaRPr kumimoji="0" lang="en-US" sz="8000" b="1" i="0" u="none" strike="noStrike" kern="1200" cap="none" spc="0" normalizeH="0" baseline="0" noProof="0" dirty="0">
              <a:ln>
                <a:noFill/>
              </a:ln>
              <a:solidFill>
                <a:srgbClr val="FF8AD8"/>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38983373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2CB8459F-9206-7CBC-FAD7-B1088E4DEBE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F371C28-8E58-2334-EE8D-181D406BE474}"/>
              </a:ext>
            </a:extLst>
          </p:cNvPr>
          <p:cNvSpPr txBox="1"/>
          <p:nvPr/>
        </p:nvSpPr>
        <p:spPr>
          <a:xfrm>
            <a:off x="0" y="91440"/>
            <a:ext cx="12191999" cy="6673302"/>
          </a:xfrm>
          <a:prstGeom prst="rect">
            <a:avLst/>
          </a:prstGeom>
          <a:noFill/>
        </p:spPr>
        <p:txBody>
          <a:bodyPr wrap="square" rtlCol="0">
            <a:spAutoFit/>
          </a:bodyPr>
          <a:lstStyle/>
          <a:p>
            <a:pPr algn="ctr">
              <a:lnSpc>
                <a:spcPts val="11000"/>
              </a:lnSpc>
              <a:defRPr/>
            </a:pPr>
            <a:r>
              <a:rPr kumimoji="0" lang="en-US" sz="9600" u="none" strike="noStrike" kern="1200" cap="none" spc="0" normalizeH="0" baseline="0" noProof="0" dirty="0">
                <a:ln>
                  <a:noFill/>
                </a:ln>
                <a:solidFill>
                  <a:prstClr val="white"/>
                </a:solidFill>
                <a:effectLst/>
                <a:uLnTx/>
                <a:uFillTx/>
                <a:latin typeface="Helvetica Neue Thin" panose="020B0403020202020204" pitchFamily="34" charset="0"/>
                <a:ea typeface="Helvetica Neue Thin" panose="020B0403020202020204" pitchFamily="34" charset="0"/>
                <a:cs typeface="Helvetica Neue" panose="02000503000000020004" pitchFamily="2" charset="0"/>
              </a:rPr>
              <a:t>neoclassical.ai</a:t>
            </a:r>
          </a:p>
          <a:p>
            <a:pPr marL="0" marR="0" lvl="0" indent="0" algn="ctr" defTabSz="914400" rtl="0" eaLnBrk="1" fontAlgn="auto" latinLnBrk="0" hangingPunct="1">
              <a:lnSpc>
                <a:spcPts val="11000"/>
              </a:lnSpc>
              <a:spcBef>
                <a:spcPts val="0"/>
              </a:spcBef>
              <a:spcAft>
                <a:spcPts val="0"/>
              </a:spcAft>
              <a:buClrTx/>
              <a:buSzTx/>
              <a:buFontTx/>
              <a:buNone/>
              <a:tabLst/>
              <a:defRPr/>
            </a:pPr>
            <a:r>
              <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Crisis in Physics</a:t>
            </a:r>
          </a:p>
          <a:p>
            <a:pPr marL="0" marR="0" lvl="0" indent="0" algn="ctr" defTabSz="914400" rtl="0" eaLnBrk="1" fontAlgn="auto" latinLnBrk="0" hangingPunct="1">
              <a:lnSpc>
                <a:spcPts val="10000"/>
              </a:lnSpc>
              <a:spcBef>
                <a:spcPts val="0"/>
              </a:spcBef>
              <a:spcAft>
                <a:spcPts val="0"/>
              </a:spcAft>
              <a:buClrTx/>
              <a:buSzTx/>
              <a:buFontTx/>
              <a:buNone/>
              <a:tabLst/>
              <a:defRPr/>
            </a:pPr>
            <a:r>
              <a:rPr lang="en-US" sz="9600" b="1" dirty="0">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Phil Halper, et al.</a:t>
            </a: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0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Black Hole Alternatives</a:t>
            </a:r>
          </a:p>
          <a:p>
            <a:pPr marL="0" marR="0" lvl="0" indent="0" algn="ctr" defTabSz="914400" rtl="0" eaLnBrk="1" fontAlgn="auto" latinLnBrk="0" hangingPunct="1">
              <a:lnSpc>
                <a:spcPts val="10000"/>
              </a:lnSpc>
              <a:spcBef>
                <a:spcPts val="0"/>
              </a:spcBef>
              <a:spcAft>
                <a:spcPts val="0"/>
              </a:spcAft>
              <a:buClrTx/>
              <a:buSzTx/>
              <a:buFontTx/>
              <a:buNone/>
              <a:tabLst/>
              <a:defRPr/>
            </a:pPr>
            <a:endParaRPr kumimoji="0" lang="en-US" sz="8000" b="1" i="0" u="none" strike="noStrike" kern="1200" cap="none" spc="0" normalizeH="0" baseline="0" noProof="0" dirty="0">
              <a:ln>
                <a:noFill/>
              </a:ln>
              <a:solidFill>
                <a:srgbClr val="FF8AD8"/>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769894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7ACA5-3691-8FEB-0266-8D47BBCCF4C6}"/>
              </a:ext>
            </a:extLst>
          </p:cNvPr>
          <p:cNvSpPr txBox="1"/>
          <p:nvPr/>
        </p:nvSpPr>
        <p:spPr>
          <a:xfrm>
            <a:off x="1" y="91440"/>
            <a:ext cx="12191999" cy="5478423"/>
          </a:xfrm>
          <a:prstGeom prst="rect">
            <a:avLst/>
          </a:prstGeom>
          <a:noFill/>
        </p:spPr>
        <p:txBody>
          <a:bodyPr wrap="square" rtlCol="0">
            <a:spAutoFit/>
          </a:bodyPr>
          <a:lstStyle/>
          <a:p>
            <a:pPr algn="ctr">
              <a:lnSpc>
                <a:spcPts val="11000"/>
              </a:lnSpc>
              <a:defRPr/>
            </a:pPr>
            <a:r>
              <a:rPr kumimoji="0" lang="en-US" sz="9600" u="none" strike="noStrike" kern="1200" cap="none" spc="0" normalizeH="0" baseline="0" noProof="0" dirty="0">
                <a:ln>
                  <a:noFill/>
                </a:ln>
                <a:solidFill>
                  <a:prstClr val="white"/>
                </a:solidFill>
                <a:effectLst/>
                <a:uLnTx/>
                <a:uFillTx/>
                <a:latin typeface="Helvetica Neue Thin" panose="020B0403020202020204" pitchFamily="34" charset="0"/>
                <a:ea typeface="Helvetica Neue Thin" panose="020B0403020202020204" pitchFamily="34" charset="0"/>
                <a:cs typeface="Helvetica Neue" panose="02000503000000020004" pitchFamily="2" charset="0"/>
              </a:rPr>
              <a:t>neoclassical.ai</a:t>
            </a:r>
          </a:p>
          <a:p>
            <a:pPr marL="0" marR="0" lvl="0" indent="0" algn="ctr" defTabSz="914400" rtl="0" eaLnBrk="1" fontAlgn="auto" latinLnBrk="0" hangingPunct="1">
              <a:lnSpc>
                <a:spcPts val="11000"/>
              </a:lnSpc>
              <a:spcBef>
                <a:spcPts val="0"/>
              </a:spcBef>
              <a:spcAft>
                <a:spcPts val="0"/>
              </a:spcAft>
              <a:buClrTx/>
              <a:buSzTx/>
              <a:buFontTx/>
              <a:buNone/>
              <a:tabLst/>
              <a:defRPr/>
            </a:pPr>
            <a:r>
              <a:rPr lang="en-US" sz="11500" b="1" dirty="0">
                <a:solidFill>
                  <a:prstClr val="white"/>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New Physics</a:t>
            </a:r>
            <a:endPar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You Can Solve Nature</a:t>
            </a: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and the Universe </a:t>
            </a:r>
            <a:r>
              <a:rPr kumimoji="0" lang="en-US" sz="96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1</a:t>
            </a:r>
          </a:p>
        </p:txBody>
      </p:sp>
    </p:spTree>
    <p:extLst>
      <p:ext uri="{BB962C8B-B14F-4D97-AF65-F5344CB8AC3E}">
        <p14:creationId xmlns:p14="http://schemas.microsoft.com/office/powerpoint/2010/main" val="3882716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7ACA5-3691-8FEB-0266-8D47BBCCF4C6}"/>
              </a:ext>
            </a:extLst>
          </p:cNvPr>
          <p:cNvSpPr txBox="1"/>
          <p:nvPr/>
        </p:nvSpPr>
        <p:spPr>
          <a:xfrm>
            <a:off x="0" y="91440"/>
            <a:ext cx="12191999" cy="5478423"/>
          </a:xfrm>
          <a:prstGeom prst="rect">
            <a:avLst/>
          </a:prstGeom>
          <a:noFill/>
        </p:spPr>
        <p:txBody>
          <a:bodyPr wrap="square" rtlCol="0">
            <a:spAutoFit/>
          </a:bodyPr>
          <a:lstStyle/>
          <a:p>
            <a:pPr algn="ctr">
              <a:lnSpc>
                <a:spcPts val="11000"/>
              </a:lnSpc>
              <a:defRPr/>
            </a:pPr>
            <a:r>
              <a:rPr kumimoji="0" lang="en-US" sz="9600" u="none" strike="noStrike" kern="1200" cap="none" spc="0" normalizeH="0" baseline="0" noProof="0" dirty="0">
                <a:ln>
                  <a:noFill/>
                </a:ln>
                <a:solidFill>
                  <a:prstClr val="white"/>
                </a:solidFill>
                <a:effectLst/>
                <a:uLnTx/>
                <a:uFillTx/>
                <a:latin typeface="Helvetica Neue Thin" panose="020B0403020202020204" pitchFamily="34" charset="0"/>
                <a:ea typeface="Helvetica Neue Thin" panose="020B0403020202020204" pitchFamily="34" charset="0"/>
                <a:cs typeface="Helvetica Neue" panose="02000503000000020004" pitchFamily="2" charset="0"/>
              </a:rPr>
              <a:t>neoclassical.ai</a:t>
            </a:r>
          </a:p>
          <a:p>
            <a:pPr marL="0" marR="0" lvl="0" indent="0" algn="ctr" defTabSz="914400" rtl="0" eaLnBrk="1" fontAlgn="auto" latinLnBrk="0" hangingPunct="1">
              <a:lnSpc>
                <a:spcPts val="11000"/>
              </a:lnSpc>
              <a:spcBef>
                <a:spcPts val="0"/>
              </a:spcBef>
              <a:spcAft>
                <a:spcPts val="0"/>
              </a:spcAft>
              <a:buClrTx/>
              <a:buSzTx/>
              <a:buFontTx/>
              <a:buNone/>
              <a:tabLst/>
              <a:defRPr/>
            </a:pPr>
            <a:r>
              <a:rPr lang="en-US" sz="11500" b="1" dirty="0">
                <a:solidFill>
                  <a:prstClr val="white"/>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New Physics</a:t>
            </a:r>
            <a:endPar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You Can Solve Nature</a:t>
            </a: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and the Universe </a:t>
            </a:r>
            <a:r>
              <a:rPr kumimoji="0" lang="en-US" sz="96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2</a:t>
            </a:r>
          </a:p>
        </p:txBody>
      </p:sp>
    </p:spTree>
    <p:extLst>
      <p:ext uri="{BB962C8B-B14F-4D97-AF65-F5344CB8AC3E}">
        <p14:creationId xmlns:p14="http://schemas.microsoft.com/office/powerpoint/2010/main" val="23566241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7ACA5-3691-8FEB-0266-8D47BBCCF4C6}"/>
              </a:ext>
            </a:extLst>
          </p:cNvPr>
          <p:cNvSpPr txBox="1"/>
          <p:nvPr/>
        </p:nvSpPr>
        <p:spPr>
          <a:xfrm>
            <a:off x="1" y="91440"/>
            <a:ext cx="12191999" cy="5478423"/>
          </a:xfrm>
          <a:prstGeom prst="rect">
            <a:avLst/>
          </a:prstGeom>
          <a:noFill/>
        </p:spPr>
        <p:txBody>
          <a:bodyPr wrap="square" rtlCol="0">
            <a:spAutoFit/>
          </a:bodyPr>
          <a:lstStyle/>
          <a:p>
            <a:pPr algn="ctr">
              <a:lnSpc>
                <a:spcPts val="11000"/>
              </a:lnSpc>
              <a:defRPr/>
            </a:pPr>
            <a:r>
              <a:rPr kumimoji="0" lang="en-US" sz="9600" u="none" strike="noStrike" kern="1200" cap="none" spc="0" normalizeH="0" baseline="0" noProof="0" dirty="0">
                <a:ln>
                  <a:noFill/>
                </a:ln>
                <a:solidFill>
                  <a:prstClr val="white"/>
                </a:solidFill>
                <a:effectLst/>
                <a:uLnTx/>
                <a:uFillTx/>
                <a:latin typeface="Helvetica Neue Thin" panose="020B0403020202020204" pitchFamily="34" charset="0"/>
                <a:ea typeface="Helvetica Neue Thin" panose="020B0403020202020204" pitchFamily="34" charset="0"/>
                <a:cs typeface="Helvetica Neue" panose="02000503000000020004" pitchFamily="2" charset="0"/>
              </a:rPr>
              <a:t>neoclassical.ai</a:t>
            </a:r>
          </a:p>
          <a:p>
            <a:pPr marL="0" marR="0" lvl="0" indent="0" algn="ctr" defTabSz="914400" rtl="0" eaLnBrk="1" fontAlgn="auto" latinLnBrk="0" hangingPunct="1">
              <a:lnSpc>
                <a:spcPts val="11000"/>
              </a:lnSpc>
              <a:spcBef>
                <a:spcPts val="0"/>
              </a:spcBef>
              <a:spcAft>
                <a:spcPts val="0"/>
              </a:spcAft>
              <a:buClrTx/>
              <a:buSzTx/>
              <a:buFontTx/>
              <a:buNone/>
              <a:tabLst/>
              <a:defRPr/>
            </a:pPr>
            <a:r>
              <a:rPr lang="en-US" sz="11500" b="1" dirty="0">
                <a:solidFill>
                  <a:prstClr val="white"/>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New Physics</a:t>
            </a:r>
            <a:endPar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You Can Solve Nature</a:t>
            </a: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and the Universe </a:t>
            </a:r>
            <a:r>
              <a:rPr kumimoji="0" lang="en-US" sz="96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3</a:t>
            </a:r>
          </a:p>
        </p:txBody>
      </p:sp>
    </p:spTree>
    <p:extLst>
      <p:ext uri="{BB962C8B-B14F-4D97-AF65-F5344CB8AC3E}">
        <p14:creationId xmlns:p14="http://schemas.microsoft.com/office/powerpoint/2010/main" val="31730460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7ACA5-3691-8FEB-0266-8D47BBCCF4C6}"/>
              </a:ext>
            </a:extLst>
          </p:cNvPr>
          <p:cNvSpPr txBox="1"/>
          <p:nvPr/>
        </p:nvSpPr>
        <p:spPr>
          <a:xfrm>
            <a:off x="1" y="91440"/>
            <a:ext cx="12191999" cy="5478423"/>
          </a:xfrm>
          <a:prstGeom prst="rect">
            <a:avLst/>
          </a:prstGeom>
          <a:noFill/>
        </p:spPr>
        <p:txBody>
          <a:bodyPr wrap="square" rtlCol="0">
            <a:spAutoFit/>
          </a:bodyPr>
          <a:lstStyle/>
          <a:p>
            <a:pPr algn="ctr">
              <a:lnSpc>
                <a:spcPts val="11000"/>
              </a:lnSpc>
              <a:defRPr/>
            </a:pPr>
            <a:r>
              <a:rPr kumimoji="0" lang="en-US" sz="9600" u="none" strike="noStrike" kern="1200" cap="none" spc="0" normalizeH="0" baseline="0" noProof="0" dirty="0">
                <a:ln>
                  <a:noFill/>
                </a:ln>
                <a:solidFill>
                  <a:prstClr val="white"/>
                </a:solidFill>
                <a:effectLst/>
                <a:uLnTx/>
                <a:uFillTx/>
                <a:latin typeface="Helvetica Neue Thin" panose="020B0403020202020204" pitchFamily="34" charset="0"/>
                <a:ea typeface="Helvetica Neue Thin" panose="020B0403020202020204" pitchFamily="34" charset="0"/>
                <a:cs typeface="Helvetica Neue" panose="02000503000000020004" pitchFamily="2" charset="0"/>
              </a:rPr>
              <a:t>neoclassical.ai</a:t>
            </a:r>
          </a:p>
          <a:p>
            <a:pPr marL="0" marR="0" lvl="0" indent="0" algn="ctr" defTabSz="914400" rtl="0" eaLnBrk="1" fontAlgn="auto" latinLnBrk="0" hangingPunct="1">
              <a:lnSpc>
                <a:spcPts val="11000"/>
              </a:lnSpc>
              <a:spcBef>
                <a:spcPts val="0"/>
              </a:spcBef>
              <a:spcAft>
                <a:spcPts val="0"/>
              </a:spcAft>
              <a:buClrTx/>
              <a:buSzTx/>
              <a:buFontTx/>
              <a:buNone/>
              <a:tabLst/>
              <a:defRPr/>
            </a:pPr>
            <a:r>
              <a:rPr lang="en-US" sz="11500" b="1" dirty="0">
                <a:solidFill>
                  <a:prstClr val="white"/>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New Physics</a:t>
            </a:r>
            <a:endPar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You Can Solve Nature</a:t>
            </a: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and the Universe </a:t>
            </a:r>
            <a:r>
              <a:rPr kumimoji="0" lang="en-US" sz="96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4</a:t>
            </a:r>
          </a:p>
        </p:txBody>
      </p:sp>
    </p:spTree>
    <p:extLst>
      <p:ext uri="{BB962C8B-B14F-4D97-AF65-F5344CB8AC3E}">
        <p14:creationId xmlns:p14="http://schemas.microsoft.com/office/powerpoint/2010/main" val="3452473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7ACA5-3691-8FEB-0266-8D47BBCCF4C6}"/>
              </a:ext>
            </a:extLst>
          </p:cNvPr>
          <p:cNvSpPr txBox="1"/>
          <p:nvPr/>
        </p:nvSpPr>
        <p:spPr>
          <a:xfrm>
            <a:off x="1" y="91440"/>
            <a:ext cx="12191999" cy="5478423"/>
          </a:xfrm>
          <a:prstGeom prst="rect">
            <a:avLst/>
          </a:prstGeom>
          <a:noFill/>
        </p:spPr>
        <p:txBody>
          <a:bodyPr wrap="square" rtlCol="0">
            <a:spAutoFit/>
          </a:bodyPr>
          <a:lstStyle/>
          <a:p>
            <a:pPr algn="ctr">
              <a:lnSpc>
                <a:spcPts val="11000"/>
              </a:lnSpc>
              <a:defRPr/>
            </a:pPr>
            <a:r>
              <a:rPr kumimoji="0" lang="en-US" sz="9600" u="none" strike="noStrike" kern="1200" cap="none" spc="0" normalizeH="0" baseline="0" noProof="0" dirty="0">
                <a:ln>
                  <a:noFill/>
                </a:ln>
                <a:solidFill>
                  <a:prstClr val="white"/>
                </a:solidFill>
                <a:effectLst/>
                <a:uLnTx/>
                <a:uFillTx/>
                <a:latin typeface="Helvetica Neue Thin" panose="020B0403020202020204" pitchFamily="34" charset="0"/>
                <a:ea typeface="Helvetica Neue Thin" panose="020B0403020202020204" pitchFamily="34" charset="0"/>
                <a:cs typeface="Helvetica Neue" panose="02000503000000020004" pitchFamily="2" charset="0"/>
              </a:rPr>
              <a:t>neoclassical.ai</a:t>
            </a:r>
          </a:p>
          <a:p>
            <a:pPr marL="0" marR="0" lvl="0" indent="0" algn="ctr" defTabSz="914400" rtl="0" eaLnBrk="1" fontAlgn="auto" latinLnBrk="0" hangingPunct="1">
              <a:lnSpc>
                <a:spcPts val="11000"/>
              </a:lnSpc>
              <a:spcBef>
                <a:spcPts val="0"/>
              </a:spcBef>
              <a:spcAft>
                <a:spcPts val="0"/>
              </a:spcAft>
              <a:buClrTx/>
              <a:buSzTx/>
              <a:buFontTx/>
              <a:buNone/>
              <a:tabLst/>
              <a:defRPr/>
            </a:pPr>
            <a:r>
              <a:rPr lang="en-US" sz="11500" b="1" dirty="0">
                <a:solidFill>
                  <a:prstClr val="white"/>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New Physics</a:t>
            </a:r>
            <a:endPar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115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Point Potentials Experiment </a:t>
            </a:r>
            <a:r>
              <a:rPr kumimoji="0" lang="en-US" sz="11500" b="1" i="0" u="none" strike="noStrike" kern="1200" cap="none" spc="0" normalizeH="0" baseline="0" noProof="0" dirty="0">
                <a:ln>
                  <a:noFill/>
                </a:ln>
                <a:solidFill>
                  <a:srgbClr val="00B0F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#1</a:t>
            </a:r>
          </a:p>
        </p:txBody>
      </p:sp>
    </p:spTree>
    <p:extLst>
      <p:ext uri="{BB962C8B-B14F-4D97-AF65-F5344CB8AC3E}">
        <p14:creationId xmlns:p14="http://schemas.microsoft.com/office/powerpoint/2010/main" val="9210202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7ACA5-3691-8FEB-0266-8D47BBCCF4C6}"/>
              </a:ext>
            </a:extLst>
          </p:cNvPr>
          <p:cNvSpPr txBox="1"/>
          <p:nvPr/>
        </p:nvSpPr>
        <p:spPr>
          <a:xfrm>
            <a:off x="0" y="91440"/>
            <a:ext cx="12191999" cy="5478423"/>
          </a:xfrm>
          <a:prstGeom prst="rect">
            <a:avLst/>
          </a:prstGeom>
          <a:noFill/>
        </p:spPr>
        <p:txBody>
          <a:bodyPr wrap="square" rtlCol="0">
            <a:spAutoFit/>
          </a:bodyPr>
          <a:lstStyle/>
          <a:p>
            <a:pPr algn="ctr">
              <a:lnSpc>
                <a:spcPts val="11000"/>
              </a:lnSpc>
              <a:defRPr/>
            </a:pPr>
            <a:r>
              <a:rPr kumimoji="0" lang="en-US" sz="9600" u="none" strike="noStrike" kern="1200" cap="none" spc="0" normalizeH="0" baseline="0" noProof="0" dirty="0">
                <a:ln>
                  <a:noFill/>
                </a:ln>
                <a:solidFill>
                  <a:prstClr val="white"/>
                </a:solidFill>
                <a:effectLst/>
                <a:uLnTx/>
                <a:uFillTx/>
                <a:latin typeface="Helvetica Neue Thin" panose="020B0403020202020204" pitchFamily="34" charset="0"/>
                <a:ea typeface="Helvetica Neue Thin" panose="020B0403020202020204" pitchFamily="34" charset="0"/>
                <a:cs typeface="Helvetica Neue" panose="02000503000000020004" pitchFamily="2" charset="0"/>
              </a:rPr>
              <a:t>neoclassical.ai</a:t>
            </a:r>
          </a:p>
          <a:p>
            <a:pPr marL="0" marR="0" lvl="0" indent="0" algn="ctr" defTabSz="914400" rtl="0" eaLnBrk="1" fontAlgn="auto" latinLnBrk="0" hangingPunct="1">
              <a:lnSpc>
                <a:spcPts val="11000"/>
              </a:lnSpc>
              <a:spcBef>
                <a:spcPts val="0"/>
              </a:spcBef>
              <a:spcAft>
                <a:spcPts val="0"/>
              </a:spcAft>
              <a:buClrTx/>
              <a:buSzTx/>
              <a:buFontTx/>
              <a:buNone/>
              <a:tabLst/>
              <a:defRPr/>
            </a:pPr>
            <a:r>
              <a:rPr lang="en-US" sz="11500" b="1" dirty="0">
                <a:solidFill>
                  <a:prstClr val="white"/>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New Physics</a:t>
            </a:r>
            <a:endPar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115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Conway’s </a:t>
            </a: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115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Game of Life</a:t>
            </a:r>
          </a:p>
        </p:txBody>
      </p:sp>
      <p:pic>
        <p:nvPicPr>
          <p:cNvPr id="4" name="Audio 4.m4a">
            <a:hlinkClick r:id="" action="ppaction://media"/>
            <a:extLst>
              <a:ext uri="{FF2B5EF4-FFF2-40B4-BE49-F238E27FC236}">
                <a16:creationId xmlns:a16="http://schemas.microsoft.com/office/drawing/2014/main" id="{517B54EF-D7B1-E948-D130-5B2C54B785C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3379536" y="7453964"/>
            <a:ext cx="812800" cy="812800"/>
          </a:xfrm>
          <a:prstGeom prst="rect">
            <a:avLst/>
          </a:prstGeom>
        </p:spPr>
      </p:pic>
    </p:spTree>
    <p:extLst>
      <p:ext uri="{BB962C8B-B14F-4D97-AF65-F5344CB8AC3E}">
        <p14:creationId xmlns:p14="http://schemas.microsoft.com/office/powerpoint/2010/main" val="1542055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8485"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8DABE02-FEC0-2F1C-7988-24EADFD765A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BD731982-FC66-60FC-160D-1276BA6354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A9BBF2ED-75A8-CF2B-116D-772D13AE96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734" y="321733"/>
            <a:ext cx="11573488" cy="6214534"/>
          </a:xfrm>
          <a:prstGeom prst="rect">
            <a:avLst/>
          </a:prstGeom>
          <a:solidFill>
            <a:schemeClr val="bg1">
              <a:lumMod val="75000"/>
              <a:lumOff val="25000"/>
            </a:schemeClr>
          </a:solidFill>
          <a:ln w="127000" cap="sq" cmpd="thinThick">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0212831-CBF6-4E57-77FE-DD87FF067B1B}"/>
              </a:ext>
            </a:extLst>
          </p:cNvPr>
          <p:cNvSpPr>
            <a:spLocks noGrp="1"/>
          </p:cNvSpPr>
          <p:nvPr>
            <p:ph type="ctrTitle"/>
          </p:nvPr>
        </p:nvSpPr>
        <p:spPr>
          <a:xfrm>
            <a:off x="1524000" y="1122362"/>
            <a:ext cx="9144000" cy="2840037"/>
          </a:xfrm>
        </p:spPr>
        <p:txBody>
          <a:bodyPr>
            <a:normAutofit/>
          </a:bodyPr>
          <a:lstStyle/>
          <a:p>
            <a:r>
              <a:rPr lang="en-US" sz="5800" dirty="0"/>
              <a:t>Queue</a:t>
            </a:r>
            <a:br>
              <a:rPr lang="en-US" sz="5800" dirty="0"/>
            </a:br>
            <a:endParaRPr lang="en-US" sz="5800" dirty="0"/>
          </a:p>
        </p:txBody>
      </p:sp>
      <p:sp>
        <p:nvSpPr>
          <p:cNvPr id="3" name="Subtitle 2">
            <a:extLst>
              <a:ext uri="{FF2B5EF4-FFF2-40B4-BE49-F238E27FC236}">
                <a16:creationId xmlns:a16="http://schemas.microsoft.com/office/drawing/2014/main" id="{C3870AC6-70BC-82C8-1E9B-7DE0338EA5D5}"/>
              </a:ext>
            </a:extLst>
          </p:cNvPr>
          <p:cNvSpPr>
            <a:spLocks noGrp="1"/>
          </p:cNvSpPr>
          <p:nvPr>
            <p:ph type="subTitle" idx="1"/>
          </p:nvPr>
        </p:nvSpPr>
        <p:spPr>
          <a:xfrm>
            <a:off x="1524000" y="4256436"/>
            <a:ext cx="9144000" cy="1600818"/>
          </a:xfrm>
        </p:spPr>
        <p:txBody>
          <a:bodyPr>
            <a:normAutofit/>
          </a:bodyPr>
          <a:lstStyle/>
          <a:p>
            <a:r>
              <a:rPr lang="en-US" dirty="0"/>
              <a:t>x</a:t>
            </a:r>
          </a:p>
        </p:txBody>
      </p:sp>
      <p:cxnSp>
        <p:nvCxnSpPr>
          <p:cNvPr id="13" name="Straight Connector 12">
            <a:extLst>
              <a:ext uri="{FF2B5EF4-FFF2-40B4-BE49-F238E27FC236}">
                <a16:creationId xmlns:a16="http://schemas.microsoft.com/office/drawing/2014/main" id="{CBCD6E9C-4871-0110-73B4-D22E7F58AC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4400" y="4109417"/>
            <a:ext cx="2743200" cy="0"/>
          </a:xfrm>
          <a:prstGeom prst="line">
            <a:avLst/>
          </a:prstGeom>
          <a:ln w="12700">
            <a:solidFill>
              <a:schemeClr val="tx1">
                <a:lumMod val="85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5A99E6CE-07A3-B231-3F78-D9BC59EF8852}"/>
              </a:ext>
            </a:extLst>
          </p:cNvPr>
          <p:cNvSpPr>
            <a:spLocks noGrp="1"/>
          </p:cNvSpPr>
          <p:nvPr>
            <p:ph type="ftr" sz="quarter" idx="11"/>
          </p:nvPr>
        </p:nvSpPr>
        <p:spPr>
          <a:xfrm>
            <a:off x="4038600" y="6159710"/>
            <a:ext cx="411480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 – neoclassical.ai</a:t>
            </a:r>
          </a:p>
        </p:txBody>
      </p:sp>
    </p:spTree>
    <p:extLst>
      <p:ext uri="{BB962C8B-B14F-4D97-AF65-F5344CB8AC3E}">
        <p14:creationId xmlns:p14="http://schemas.microsoft.com/office/powerpoint/2010/main" val="4156127991"/>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B4E97244-526B-D579-3264-791A5D9EC1C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E3321C3-8FFD-6191-310D-A33C5C540DA8}"/>
              </a:ext>
            </a:extLst>
          </p:cNvPr>
          <p:cNvSpPr txBox="1"/>
          <p:nvPr/>
        </p:nvSpPr>
        <p:spPr>
          <a:xfrm>
            <a:off x="0" y="91440"/>
            <a:ext cx="12191999" cy="5550237"/>
          </a:xfrm>
          <a:prstGeom prst="rect">
            <a:avLst/>
          </a:prstGeom>
          <a:noFill/>
        </p:spPr>
        <p:txBody>
          <a:bodyPr wrap="square" rtlCol="0">
            <a:spAutoFit/>
          </a:bodyPr>
          <a:lstStyle/>
          <a:p>
            <a:pPr algn="ctr">
              <a:lnSpc>
                <a:spcPts val="11000"/>
              </a:lnSpc>
              <a:defRPr/>
            </a:pPr>
            <a:r>
              <a:rPr kumimoji="0" lang="en-US" sz="9600" u="none" strike="noStrike" kern="1200" cap="none" spc="0" normalizeH="0" baseline="0" noProof="0" dirty="0">
                <a:ln>
                  <a:noFill/>
                </a:ln>
                <a:solidFill>
                  <a:prstClr val="white"/>
                </a:solidFill>
                <a:effectLst/>
                <a:uLnTx/>
                <a:uFillTx/>
                <a:latin typeface="Helvetica Neue Thin" panose="020B0403020202020204" pitchFamily="34" charset="0"/>
                <a:ea typeface="Helvetica Neue Thin" panose="020B0403020202020204" pitchFamily="34" charset="0"/>
                <a:cs typeface="Helvetica Neue" panose="02000503000000020004" pitchFamily="2" charset="0"/>
              </a:rPr>
              <a:t>neoclassical.ai</a:t>
            </a:r>
          </a:p>
          <a:p>
            <a:pPr marL="0" marR="0" lvl="0" indent="0" algn="ctr" defTabSz="914400" rtl="0" eaLnBrk="1" fontAlgn="auto" latinLnBrk="0" hangingPunct="1">
              <a:lnSpc>
                <a:spcPts val="11000"/>
              </a:lnSpc>
              <a:spcBef>
                <a:spcPts val="0"/>
              </a:spcBef>
              <a:spcAft>
                <a:spcPts val="0"/>
              </a:spcAft>
              <a:buClrTx/>
              <a:buSzTx/>
              <a:buFontTx/>
              <a:buNone/>
              <a:tabLst/>
              <a:defRPr/>
            </a:pPr>
            <a:r>
              <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Crisis in Physics</a:t>
            </a:r>
          </a:p>
          <a:p>
            <a:pPr marL="0" marR="0" lvl="0" indent="0" algn="ctr" defTabSz="914400" rtl="0" eaLnBrk="1" fontAlgn="auto" latinLnBrk="0" hangingPunct="1">
              <a:lnSpc>
                <a:spcPts val="10000"/>
              </a:lnSpc>
              <a:spcBef>
                <a:spcPts val="0"/>
              </a:spcBef>
              <a:spcAft>
                <a:spcPts val="0"/>
              </a:spcAft>
              <a:buClrTx/>
              <a:buSzTx/>
              <a:buFontTx/>
              <a:buNone/>
              <a:tabLst/>
              <a:defRPr/>
            </a:pPr>
            <a:r>
              <a:rPr lang="en-US" sz="8800" b="1" dirty="0">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Dr. Sabine </a:t>
            </a:r>
            <a:r>
              <a:rPr lang="en-US" sz="8800" b="1" dirty="0" err="1">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Hossenfelder</a:t>
            </a:r>
            <a:endParaRPr lang="en-US" sz="8800" b="1" dirty="0">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a:p>
            <a:pPr algn="ctr">
              <a:defRPr/>
            </a:pPr>
            <a:r>
              <a:rPr lang="en-US" sz="8800" b="1" dirty="0">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Why Physics is Dying</a:t>
            </a:r>
            <a:endParaRPr kumimoji="0" lang="en-US" sz="9600" b="1" i="0" u="none" strike="noStrike" kern="1200" cap="none" spc="0" normalizeH="0" baseline="0" noProof="0" dirty="0">
              <a:ln>
                <a:noFill/>
              </a:ln>
              <a:solidFill>
                <a:srgbClr val="FF8AD8"/>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
        <p:nvSpPr>
          <p:cNvPr id="4" name="TextBox 3">
            <a:extLst>
              <a:ext uri="{FF2B5EF4-FFF2-40B4-BE49-F238E27FC236}">
                <a16:creationId xmlns:a16="http://schemas.microsoft.com/office/drawing/2014/main" id="{6D6D88E4-3EDA-D4DA-2E0A-9AA83030F9E2}"/>
              </a:ext>
            </a:extLst>
          </p:cNvPr>
          <p:cNvSpPr txBox="1"/>
          <p:nvPr/>
        </p:nvSpPr>
        <p:spPr>
          <a:xfrm>
            <a:off x="13369638" y="-2711143"/>
            <a:ext cx="10903526" cy="12280285"/>
          </a:xfrm>
          <a:prstGeom prst="rect">
            <a:avLst/>
          </a:prstGeom>
          <a:noFill/>
        </p:spPr>
        <p:txBody>
          <a:bodyPr wrap="square">
            <a:spAutoFit/>
          </a:bodyPr>
          <a:lstStyle/>
          <a:p>
            <a:endParaRPr lang="en-US" dirty="0">
              <a:solidFill>
                <a:schemeClr val="bg1"/>
              </a:solidFill>
            </a:endParaRPr>
          </a:p>
          <a:p>
            <a:pPr marL="285750" indent="-285750">
              <a:buFont typeface="Arial" panose="020B0604020202020204" pitchFamily="34" charset="0"/>
              <a:buChar char="•"/>
            </a:pPr>
            <a:r>
              <a:rPr lang="en-US" dirty="0">
                <a:solidFill>
                  <a:schemeClr val="bg1"/>
                </a:solidFill>
              </a:rPr>
              <a:t>**Sisyphus**: More than a symbol of futility, Sisyphus represents existential heroism. Albert Camus interpreted this myth as a profound statement of human dignity - finding meaning not in the achievement, but in the struggle itself. Each time Sisyphus pushes the boulder up the mountain, only to watch it roll down, he embodies human resilience. The value is not in completing the task, but in the conscious, defiant act of continuing. He becomes a hero not through success, but through persistent awareness and acceptance of his condition.</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 **Narcissus**: Beyond mere self-absorption, Narcissus embodies the psychological journey of confronting one's illusions. In the Greek myth, he becomes so entranced by his own reflection that he cannot move, symbolizing the paralysis of ego and self-deception. His transformation occurs through a painful recognition - a moment of seeing oneself so clearly that the previous self-image shatters. The myth suggests that true self-awareness requires breaking through the mirror of self-delusion, often at the cost of previous comfortable narratives.</a:t>
            </a:r>
          </a:p>
          <a:p>
            <a:endParaRPr lang="en-US" dirty="0">
              <a:solidFill>
                <a:schemeClr val="bg1"/>
              </a:solidFill>
            </a:endParaRPr>
          </a:p>
          <a:p>
            <a:pPr marL="285750" indent="-285750">
              <a:buFont typeface="Arial" panose="020B0604020202020204" pitchFamily="34" charset="0"/>
              <a:buChar char="•"/>
            </a:pPr>
            <a:r>
              <a:rPr lang="en-US" dirty="0">
                <a:solidFill>
                  <a:schemeClr val="bg1"/>
                </a:solidFill>
              </a:rPr>
              <a:t>**Crisis**: A moment of intense difficulty that demands change or decisive action. More than just a problem, a crisis represents a critical juncture where existing structures, beliefs, or ways of functioning become unsustainable. It forces an individual or system to confront fundamental weaknesses, requiring radical adaptation. Like a pressure point in a system, a crisis reveals vulnerabilities while simultaneously offering an opportunity for profound transformation. The Chinese character for crisis (</a:t>
            </a:r>
            <a:r>
              <a:rPr lang="en-US" dirty="0" err="1">
                <a:solidFill>
                  <a:schemeClr val="bg1"/>
                </a:solidFill>
              </a:rPr>
              <a:t>危机</a:t>
            </a:r>
            <a:r>
              <a:rPr lang="en-US" dirty="0">
                <a:solidFill>
                  <a:schemeClr val="bg1"/>
                </a:solidFill>
              </a:rPr>
              <a:t>) beautifully captures this duality - combining the symbols for "danger" and "opportunity".</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**Chrysalis**: A remarkable metaphor of absolute transformation. During metamorphosis, the caterpillar doesn't simply change - it completely liquefies inside its cocoon, breaking down to its most fundamental cellular components before reconstructing itself as a butterfly. This isn't gradual modification, but total dissolution and reconstruction. It represents the most radical form of personal change: surrendering entirely to the process of transformation, trusting in an inherent blueprint of potential.</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 **Metamorphosis**: Beyond physical change, metamorphosis represents fundamental, often irreversible transformation. Unlike simple growth or adaptation, metamorphosis involves a complete restructuring of identity, capabilities, and essence. In nature, it's seen in organisms like butterflies or frogs that undergo dramatic, non-linear changes. Psychologically, it represents profound shifts in consciousness, where one's entire perception of self and reality is fundamentally reorganized.</a:t>
            </a:r>
          </a:p>
          <a:p>
            <a:endParaRPr lang="en-US" dirty="0">
              <a:solidFill>
                <a:schemeClr val="bg1"/>
              </a:solidFill>
            </a:endParaRPr>
          </a:p>
          <a:p>
            <a:pPr marL="285750" indent="-285750">
              <a:buFont typeface="Arial" panose="020B0604020202020204" pitchFamily="34" charset="0"/>
              <a:buChar char="•"/>
            </a:pPr>
            <a:r>
              <a:rPr lang="en-US" dirty="0">
                <a:solidFill>
                  <a:schemeClr val="bg1"/>
                </a:solidFill>
              </a:rPr>
              <a:t>* **Phoenix**: The archetypal symbol of regenerative power. Rising from its own ashes, the Phoenix doesn't merely survive destruction - it is reborn through it. This myth suggests that true renewal requires complete surrender, allowing everything to burn away so that something more essential and powerful can emerge. It's not about restoration to a previous state, but about transcendence - becoming something fundamentally new through the very process of destruction.</a:t>
            </a:r>
          </a:p>
          <a:p>
            <a:pPr marL="285750" indent="-285750">
              <a:buFont typeface="Arial" panose="020B0604020202020204" pitchFamily="34" charset="0"/>
              <a:buChar char="•"/>
            </a:pPr>
            <a:endParaRPr lang="en-US" dirty="0">
              <a:solidFill>
                <a:schemeClr val="bg1"/>
              </a:solidFill>
            </a:endParaRPr>
          </a:p>
          <a:p>
            <a:endParaRPr lang="en-US" dirty="0">
              <a:solidFill>
                <a:schemeClr val="bg1"/>
              </a:solidFill>
            </a:endParaRPr>
          </a:p>
          <a:p>
            <a:r>
              <a:rPr lang="en-US" dirty="0">
                <a:solidFill>
                  <a:schemeClr val="bg1"/>
                </a:solidFill>
              </a:rPr>
              <a:t>These concepts are interconnected threads in a larger narrative of human potential - they speak to our capacity for radical transformation, resilience, and the profound potential for renewal that exists within apparent destruction.</a:t>
            </a:r>
          </a:p>
          <a:p>
            <a:endParaRPr lang="en-US" dirty="0">
              <a:solidFill>
                <a:schemeClr val="bg1"/>
              </a:solidFill>
            </a:endParaRPr>
          </a:p>
        </p:txBody>
      </p:sp>
    </p:spTree>
    <p:extLst>
      <p:ext uri="{BB962C8B-B14F-4D97-AF65-F5344CB8AC3E}">
        <p14:creationId xmlns:p14="http://schemas.microsoft.com/office/powerpoint/2010/main" val="14003255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3CA06703-8282-FBA4-B131-78D3E40119E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6FE6A9C-5863-591F-3901-98E63EEE2FD9}"/>
              </a:ext>
            </a:extLst>
          </p:cNvPr>
          <p:cNvSpPr txBox="1"/>
          <p:nvPr/>
        </p:nvSpPr>
        <p:spPr>
          <a:xfrm>
            <a:off x="0" y="91440"/>
            <a:ext cx="12191999" cy="6042680"/>
          </a:xfrm>
          <a:prstGeom prst="rect">
            <a:avLst/>
          </a:prstGeom>
          <a:noFill/>
        </p:spPr>
        <p:txBody>
          <a:bodyPr wrap="square" rtlCol="0">
            <a:spAutoFit/>
          </a:bodyPr>
          <a:lstStyle/>
          <a:p>
            <a:pPr algn="ctr">
              <a:lnSpc>
                <a:spcPts val="11000"/>
              </a:lnSpc>
              <a:defRPr/>
            </a:pPr>
            <a:r>
              <a:rPr kumimoji="0" lang="en-US" sz="9600" u="none" strike="noStrike" kern="1200" cap="none" spc="0" normalizeH="0" baseline="0" noProof="0" dirty="0">
                <a:ln>
                  <a:noFill/>
                </a:ln>
                <a:solidFill>
                  <a:prstClr val="white"/>
                </a:solidFill>
                <a:effectLst/>
                <a:uLnTx/>
                <a:uFillTx/>
                <a:latin typeface="Helvetica Neue Thin" panose="020B0403020202020204" pitchFamily="34" charset="0"/>
                <a:ea typeface="Helvetica Neue Thin" panose="020B0403020202020204" pitchFamily="34" charset="0"/>
                <a:cs typeface="Helvetica Neue" panose="02000503000000020004" pitchFamily="2" charset="0"/>
              </a:rPr>
              <a:t>neoclassical.ai</a:t>
            </a:r>
          </a:p>
          <a:p>
            <a:pPr marL="0" marR="0" lvl="0" indent="0" algn="ctr" defTabSz="914400" rtl="0" eaLnBrk="1" fontAlgn="auto" latinLnBrk="0" hangingPunct="1">
              <a:lnSpc>
                <a:spcPts val="11000"/>
              </a:lnSpc>
              <a:spcBef>
                <a:spcPts val="0"/>
              </a:spcBef>
              <a:spcAft>
                <a:spcPts val="0"/>
              </a:spcAft>
              <a:buClrTx/>
              <a:buSzTx/>
              <a:buFontTx/>
              <a:buNone/>
              <a:tabLst/>
              <a:defRPr/>
            </a:pPr>
            <a:r>
              <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Crisis in Physics</a:t>
            </a:r>
          </a:p>
          <a:p>
            <a:pPr marL="0" marR="0" lvl="0" indent="0" algn="ctr" defTabSz="914400" rtl="0" eaLnBrk="1" fontAlgn="auto" latinLnBrk="0" hangingPunct="1">
              <a:lnSpc>
                <a:spcPts val="10000"/>
              </a:lnSpc>
              <a:spcBef>
                <a:spcPts val="0"/>
              </a:spcBef>
              <a:spcAft>
                <a:spcPts val="0"/>
              </a:spcAft>
              <a:buClrTx/>
              <a:buSzTx/>
              <a:buFontTx/>
              <a:buNone/>
              <a:tabLst/>
              <a:defRPr/>
            </a:pPr>
            <a:r>
              <a:rPr lang="en-US" sz="8800" b="1" dirty="0">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Dr. Sabine </a:t>
            </a:r>
            <a:r>
              <a:rPr lang="en-US" sz="8800" b="1" dirty="0" err="1">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Hossenfelder</a:t>
            </a:r>
            <a:endParaRPr lang="en-US" sz="8800" b="1" dirty="0">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a:p>
            <a:pPr algn="ctr">
              <a:defRPr/>
            </a:pPr>
            <a:r>
              <a:rPr lang="en-US" sz="6000" b="1" dirty="0">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Sisyphus, Narcissus, Crisis, </a:t>
            </a:r>
            <a:br>
              <a:rPr lang="en-US" sz="6000" b="1" dirty="0">
                <a:solidFill>
                  <a:srgbClr val="FFC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br>
            <a:r>
              <a:rPr lang="en-US" sz="6000" b="1" dirty="0">
                <a:solidFill>
                  <a:srgbClr val="FFC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Chrysalis, Metamorphosis, Phoenix </a:t>
            </a:r>
            <a:endParaRPr kumimoji="0" lang="en-US" sz="6600" b="1" i="0" u="none" strike="noStrike" kern="1200" cap="none" spc="0" normalizeH="0" baseline="0" noProof="0" dirty="0">
              <a:ln>
                <a:noFill/>
              </a:ln>
              <a:solidFill>
                <a:srgbClr val="FF8AD8"/>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
        <p:nvSpPr>
          <p:cNvPr id="4" name="TextBox 3">
            <a:extLst>
              <a:ext uri="{FF2B5EF4-FFF2-40B4-BE49-F238E27FC236}">
                <a16:creationId xmlns:a16="http://schemas.microsoft.com/office/drawing/2014/main" id="{92F36F80-43EE-02DA-E127-D996EF1B6D71}"/>
              </a:ext>
            </a:extLst>
          </p:cNvPr>
          <p:cNvSpPr txBox="1"/>
          <p:nvPr/>
        </p:nvSpPr>
        <p:spPr>
          <a:xfrm>
            <a:off x="13369638" y="-2711143"/>
            <a:ext cx="10903526" cy="12280285"/>
          </a:xfrm>
          <a:prstGeom prst="rect">
            <a:avLst/>
          </a:prstGeom>
          <a:noFill/>
        </p:spPr>
        <p:txBody>
          <a:bodyPr wrap="square">
            <a:spAutoFit/>
          </a:bodyPr>
          <a:lstStyle/>
          <a:p>
            <a:endParaRPr lang="en-US" dirty="0">
              <a:solidFill>
                <a:schemeClr val="bg1"/>
              </a:solidFill>
            </a:endParaRPr>
          </a:p>
          <a:p>
            <a:pPr marL="285750" indent="-285750">
              <a:buFont typeface="Arial" panose="020B0604020202020204" pitchFamily="34" charset="0"/>
              <a:buChar char="•"/>
            </a:pPr>
            <a:r>
              <a:rPr lang="en-US" dirty="0">
                <a:solidFill>
                  <a:schemeClr val="bg1"/>
                </a:solidFill>
              </a:rPr>
              <a:t>**Sisyphus**: More than a symbol of futility, Sisyphus represents existential heroism. Albert Camus interpreted this myth as a profound statement of human dignity - finding meaning not in the achievement, but in the struggle itself. Each time Sisyphus pushes the boulder up the mountain, only to watch it roll down, he embodies human resilience. The value is not in completing the task, but in the conscious, defiant act of continuing. He becomes a hero not through success, but through persistent awareness and acceptance of his condition.</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 **Narcissus**: Beyond mere self-absorption, Narcissus embodies the psychological journey of confronting one's illusions. In the Greek myth, he becomes so entranced by his own reflection that he cannot move, symbolizing the paralysis of ego and self-deception. His transformation occurs through a painful recognition - a moment of seeing oneself so clearly that the previous self-image shatters. The myth suggests that true self-awareness requires breaking through the mirror of self-delusion, often at the cost of previous comfortable narratives.</a:t>
            </a:r>
          </a:p>
          <a:p>
            <a:endParaRPr lang="en-US" dirty="0">
              <a:solidFill>
                <a:schemeClr val="bg1"/>
              </a:solidFill>
            </a:endParaRPr>
          </a:p>
          <a:p>
            <a:pPr marL="285750" indent="-285750">
              <a:buFont typeface="Arial" panose="020B0604020202020204" pitchFamily="34" charset="0"/>
              <a:buChar char="•"/>
            </a:pPr>
            <a:r>
              <a:rPr lang="en-US" dirty="0">
                <a:solidFill>
                  <a:schemeClr val="bg1"/>
                </a:solidFill>
              </a:rPr>
              <a:t>**Crisis**: A moment of intense difficulty that demands change or decisive action. More than just a problem, a crisis represents a critical juncture where existing structures, beliefs, or ways of functioning become unsustainable. It forces an individual or system to confront fundamental weaknesses, requiring radical adaptation. Like a pressure point in a system, a crisis reveals vulnerabilities while simultaneously offering an opportunity for profound transformation. The Chinese character for crisis (</a:t>
            </a:r>
            <a:r>
              <a:rPr lang="en-US" dirty="0" err="1">
                <a:solidFill>
                  <a:schemeClr val="bg1"/>
                </a:solidFill>
              </a:rPr>
              <a:t>危机</a:t>
            </a:r>
            <a:r>
              <a:rPr lang="en-US" dirty="0">
                <a:solidFill>
                  <a:schemeClr val="bg1"/>
                </a:solidFill>
              </a:rPr>
              <a:t>) beautifully captures this duality - combining the symbols for "danger" and "opportunity".</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**Chrysalis**: A remarkable metaphor of absolute transformation. During metamorphosis, the caterpillar doesn't simply change - it completely liquefies inside its cocoon, breaking down to its most fundamental cellular components before reconstructing itself as a butterfly. This isn't gradual modification, but total dissolution and reconstruction. It represents the most radical form of personal change: surrendering entirely to the process of transformation, trusting in an inherent blueprint of potential.</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 **Metamorphosis**: Beyond physical change, metamorphosis represents fundamental, often irreversible transformation. Unlike simple growth or adaptation, metamorphosis involves a complete restructuring of identity, capabilities, and essence. In nature, it's seen in organisms like butterflies or frogs that undergo dramatic, non-linear changes. Psychologically, it represents profound shifts in consciousness, where one's entire perception of self and reality is fundamentally reorganized.</a:t>
            </a:r>
          </a:p>
          <a:p>
            <a:endParaRPr lang="en-US" dirty="0">
              <a:solidFill>
                <a:schemeClr val="bg1"/>
              </a:solidFill>
            </a:endParaRPr>
          </a:p>
          <a:p>
            <a:pPr marL="285750" indent="-285750">
              <a:buFont typeface="Arial" panose="020B0604020202020204" pitchFamily="34" charset="0"/>
              <a:buChar char="•"/>
            </a:pPr>
            <a:r>
              <a:rPr lang="en-US" dirty="0">
                <a:solidFill>
                  <a:schemeClr val="bg1"/>
                </a:solidFill>
              </a:rPr>
              <a:t>* **Phoenix**: The archetypal symbol of regenerative power. Rising from its own ashes, the Phoenix doesn't merely survive destruction - it is reborn through it. This myth suggests that true renewal requires complete surrender, allowing everything to burn away so that something more essential and powerful can emerge. It's not about restoration to a previous state, but about transcendence - becoming something fundamentally new through the very process of destruction.</a:t>
            </a:r>
          </a:p>
          <a:p>
            <a:pPr marL="285750" indent="-285750">
              <a:buFont typeface="Arial" panose="020B0604020202020204" pitchFamily="34" charset="0"/>
              <a:buChar char="•"/>
            </a:pPr>
            <a:endParaRPr lang="en-US" dirty="0">
              <a:solidFill>
                <a:schemeClr val="bg1"/>
              </a:solidFill>
            </a:endParaRPr>
          </a:p>
          <a:p>
            <a:endParaRPr lang="en-US" dirty="0">
              <a:solidFill>
                <a:schemeClr val="bg1"/>
              </a:solidFill>
            </a:endParaRPr>
          </a:p>
          <a:p>
            <a:r>
              <a:rPr lang="en-US" dirty="0">
                <a:solidFill>
                  <a:schemeClr val="bg1"/>
                </a:solidFill>
              </a:rPr>
              <a:t>These concepts are interconnected threads in a larger narrative of human potential - they speak to our capacity for radical transformation, resilience, and the profound potential for renewal that exists within apparent destruction.</a:t>
            </a:r>
          </a:p>
          <a:p>
            <a:endParaRPr lang="en-US" dirty="0">
              <a:solidFill>
                <a:schemeClr val="bg1"/>
              </a:solidFill>
            </a:endParaRPr>
          </a:p>
        </p:txBody>
      </p:sp>
    </p:spTree>
    <p:extLst>
      <p:ext uri="{BB962C8B-B14F-4D97-AF65-F5344CB8AC3E}">
        <p14:creationId xmlns:p14="http://schemas.microsoft.com/office/powerpoint/2010/main" val="8287850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BE1882C9-77CE-BA45-5FB6-7F6B1C00FBD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F9FD831-7748-830F-C71E-E247DF4D6136}"/>
              </a:ext>
            </a:extLst>
          </p:cNvPr>
          <p:cNvSpPr txBox="1"/>
          <p:nvPr/>
        </p:nvSpPr>
        <p:spPr>
          <a:xfrm>
            <a:off x="0" y="91440"/>
            <a:ext cx="12191999" cy="6673302"/>
          </a:xfrm>
          <a:prstGeom prst="rect">
            <a:avLst/>
          </a:prstGeom>
          <a:noFill/>
        </p:spPr>
        <p:txBody>
          <a:bodyPr wrap="square" rtlCol="0">
            <a:spAutoFit/>
          </a:bodyPr>
          <a:lstStyle/>
          <a:p>
            <a:pPr algn="ctr">
              <a:lnSpc>
                <a:spcPts val="11000"/>
              </a:lnSpc>
              <a:defRPr/>
            </a:pPr>
            <a:r>
              <a:rPr kumimoji="0" lang="en-US" sz="9600" u="none" strike="noStrike" kern="1200" cap="none" spc="0" normalizeH="0" baseline="0" noProof="0" dirty="0">
                <a:ln>
                  <a:noFill/>
                </a:ln>
                <a:solidFill>
                  <a:prstClr val="white"/>
                </a:solidFill>
                <a:effectLst/>
                <a:uLnTx/>
                <a:uFillTx/>
                <a:latin typeface="Helvetica Neue Thin" panose="020B0403020202020204" pitchFamily="34" charset="0"/>
                <a:ea typeface="Helvetica Neue Thin" panose="020B0403020202020204" pitchFamily="34" charset="0"/>
                <a:cs typeface="Helvetica Neue" panose="02000503000000020004" pitchFamily="2" charset="0"/>
              </a:rPr>
              <a:t>neoclassical.ai</a:t>
            </a:r>
          </a:p>
          <a:p>
            <a:pPr marL="0" marR="0" lvl="0" indent="0" algn="ctr" defTabSz="914400" rtl="0" eaLnBrk="1" fontAlgn="auto" latinLnBrk="0" hangingPunct="1">
              <a:lnSpc>
                <a:spcPts val="11000"/>
              </a:lnSpc>
              <a:spcBef>
                <a:spcPts val="0"/>
              </a:spcBef>
              <a:spcAft>
                <a:spcPts val="0"/>
              </a:spcAft>
              <a:buClrTx/>
              <a:buSzTx/>
              <a:buFontTx/>
              <a:buNone/>
              <a:tabLst/>
              <a:defRPr/>
            </a:pPr>
            <a:r>
              <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Crisis in Physics</a:t>
            </a:r>
          </a:p>
          <a:p>
            <a:pPr marL="0" marR="0" lvl="0" indent="0" algn="ctr" defTabSz="914400" rtl="0" eaLnBrk="1" fontAlgn="auto" latinLnBrk="0" hangingPunct="1">
              <a:lnSpc>
                <a:spcPts val="10000"/>
              </a:lnSpc>
              <a:spcBef>
                <a:spcPts val="0"/>
              </a:spcBef>
              <a:spcAft>
                <a:spcPts val="0"/>
              </a:spcAft>
              <a:buClrTx/>
              <a:buSzTx/>
              <a:buFontTx/>
              <a:buNone/>
              <a:tabLst/>
              <a:defRPr/>
            </a:pPr>
            <a:r>
              <a:rPr lang="en-US" sz="9600" b="1" dirty="0">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Dr. Claudia de </a:t>
            </a:r>
            <a:r>
              <a:rPr lang="en-US" sz="9600" b="1" dirty="0" err="1">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Rham</a:t>
            </a:r>
            <a:endParaRPr lang="en-US" sz="9600" b="1" dirty="0">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a:p>
            <a:pPr marL="0" marR="0" lvl="0" indent="0" algn="ctr" defTabSz="914400" rtl="0" eaLnBrk="1" fontAlgn="auto" latinLnBrk="0" hangingPunct="1">
              <a:lnSpc>
                <a:spcPts val="10000"/>
              </a:lnSpc>
              <a:spcBef>
                <a:spcPts val="0"/>
              </a:spcBef>
              <a:spcAft>
                <a:spcPts val="0"/>
              </a:spcAft>
              <a:buClrTx/>
              <a:buSzTx/>
              <a:buFontTx/>
              <a:buNone/>
              <a:tabLst/>
              <a:defRPr/>
            </a:pPr>
            <a:r>
              <a:rPr lang="en-US" sz="9600" b="1" dirty="0">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at Perimeter 2024</a:t>
            </a:r>
          </a:p>
          <a:p>
            <a:pPr marL="0" marR="0" lvl="0" indent="0" algn="ctr" defTabSz="914400" rtl="0" eaLnBrk="1" fontAlgn="auto" latinLnBrk="0" hangingPunct="1">
              <a:lnSpc>
                <a:spcPts val="10000"/>
              </a:lnSpc>
              <a:spcBef>
                <a:spcPts val="0"/>
              </a:spcBef>
              <a:spcAft>
                <a:spcPts val="0"/>
              </a:spcAft>
              <a:buClrTx/>
              <a:buSzTx/>
              <a:buFontTx/>
              <a:buNone/>
              <a:tabLst/>
              <a:defRPr/>
            </a:pPr>
            <a:endParaRPr kumimoji="0" lang="en-US" sz="8000" b="1" i="0" u="none" strike="noStrike" kern="1200" cap="none" spc="0" normalizeH="0" baseline="0" noProof="0" dirty="0">
              <a:ln>
                <a:noFill/>
              </a:ln>
              <a:solidFill>
                <a:srgbClr val="FF8AD8"/>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15093060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D7FFE285-9A08-F2F9-EF12-7400E379677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F5FD3ED-5619-E4E8-F86D-E93273D443B3}"/>
              </a:ext>
            </a:extLst>
          </p:cNvPr>
          <p:cNvSpPr txBox="1"/>
          <p:nvPr/>
        </p:nvSpPr>
        <p:spPr>
          <a:xfrm>
            <a:off x="0" y="91440"/>
            <a:ext cx="12191999" cy="5478423"/>
          </a:xfrm>
          <a:prstGeom prst="rect">
            <a:avLst/>
          </a:prstGeom>
          <a:noFill/>
        </p:spPr>
        <p:txBody>
          <a:bodyPr wrap="square" rtlCol="0">
            <a:spAutoFit/>
          </a:bodyPr>
          <a:lstStyle/>
          <a:p>
            <a:pPr algn="ctr">
              <a:lnSpc>
                <a:spcPts val="11000"/>
              </a:lnSpc>
              <a:defRPr/>
            </a:pPr>
            <a:r>
              <a:rPr kumimoji="0" lang="en-US" sz="9600" u="none" strike="noStrike" kern="1200" cap="none" spc="0" normalizeH="0" baseline="0" noProof="0" dirty="0">
                <a:ln>
                  <a:noFill/>
                </a:ln>
                <a:solidFill>
                  <a:prstClr val="white"/>
                </a:solidFill>
                <a:effectLst/>
                <a:uLnTx/>
                <a:uFillTx/>
                <a:latin typeface="Helvetica Neue Thin" panose="020B0403020202020204" pitchFamily="34" charset="0"/>
                <a:ea typeface="Helvetica Neue Thin" panose="020B0403020202020204" pitchFamily="34" charset="0"/>
                <a:cs typeface="Helvetica Neue" panose="02000503000000020004" pitchFamily="2" charset="0"/>
              </a:rPr>
              <a:t>neoclassical.ai</a:t>
            </a:r>
          </a:p>
          <a:p>
            <a:pPr algn="ctr">
              <a:lnSpc>
                <a:spcPts val="10000"/>
              </a:lnSpc>
              <a:defRPr/>
            </a:pPr>
            <a:r>
              <a:rPr lang="en-US" sz="11500" b="1" dirty="0">
                <a:solidFill>
                  <a:prstClr val="white"/>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New Physics</a:t>
            </a:r>
            <a:endPar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115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The Binary</a:t>
            </a: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115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Game of Life</a:t>
            </a:r>
            <a:endParaRPr kumimoji="0" lang="en-US" sz="11500" b="1" i="0" u="none" strike="noStrike" kern="1200" cap="none" spc="0" normalizeH="0" baseline="0" noProof="0" dirty="0">
              <a:ln>
                <a:noFill/>
              </a:ln>
              <a:solidFill>
                <a:srgbClr val="FF8AD8"/>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42502197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97562E83-9294-BF8B-CF72-BC3C97B88B2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5CF185C-9A2C-34BB-0E6E-62D58065332C}"/>
              </a:ext>
            </a:extLst>
          </p:cNvPr>
          <p:cNvSpPr txBox="1"/>
          <p:nvPr/>
        </p:nvSpPr>
        <p:spPr>
          <a:xfrm>
            <a:off x="0" y="91440"/>
            <a:ext cx="12191999" cy="6673302"/>
          </a:xfrm>
          <a:prstGeom prst="rect">
            <a:avLst/>
          </a:prstGeom>
          <a:noFill/>
        </p:spPr>
        <p:txBody>
          <a:bodyPr wrap="square" rtlCol="0">
            <a:spAutoFit/>
          </a:bodyPr>
          <a:lstStyle/>
          <a:p>
            <a:pPr algn="ctr">
              <a:lnSpc>
                <a:spcPts val="11000"/>
              </a:lnSpc>
              <a:defRPr/>
            </a:pPr>
            <a:r>
              <a:rPr kumimoji="0" lang="en-US" sz="9600" u="none" strike="noStrike" kern="1200" cap="none" spc="0" normalizeH="0" baseline="0" noProof="0" dirty="0">
                <a:ln>
                  <a:noFill/>
                </a:ln>
                <a:solidFill>
                  <a:prstClr val="white"/>
                </a:solidFill>
                <a:effectLst/>
                <a:uLnTx/>
                <a:uFillTx/>
                <a:latin typeface="Helvetica Neue Thin" panose="020B0403020202020204" pitchFamily="34" charset="0"/>
                <a:ea typeface="Helvetica Neue Thin" panose="020B0403020202020204" pitchFamily="34" charset="0"/>
                <a:cs typeface="Helvetica Neue" panose="02000503000000020004" pitchFamily="2" charset="0"/>
              </a:rPr>
              <a:t>neoclassical.ai</a:t>
            </a:r>
          </a:p>
          <a:p>
            <a:pPr marL="0" marR="0" lvl="0" indent="0" algn="ctr" defTabSz="914400" rtl="0" eaLnBrk="1" fontAlgn="auto" latinLnBrk="0" hangingPunct="1">
              <a:lnSpc>
                <a:spcPts val="11000"/>
              </a:lnSpc>
              <a:spcBef>
                <a:spcPts val="0"/>
              </a:spcBef>
              <a:spcAft>
                <a:spcPts val="0"/>
              </a:spcAft>
              <a:buClrTx/>
              <a:buSzTx/>
              <a:buFontTx/>
              <a:buNone/>
              <a:tabLst/>
              <a:defRPr/>
            </a:pPr>
            <a:r>
              <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Crisis in Physics</a:t>
            </a:r>
          </a:p>
          <a:p>
            <a:pPr marL="0" marR="0" lvl="0" indent="0" algn="ctr" defTabSz="914400" rtl="0" eaLnBrk="1" fontAlgn="auto" latinLnBrk="0" hangingPunct="1">
              <a:lnSpc>
                <a:spcPts val="10000"/>
              </a:lnSpc>
              <a:spcBef>
                <a:spcPts val="0"/>
              </a:spcBef>
              <a:spcAft>
                <a:spcPts val="0"/>
              </a:spcAft>
              <a:buClrTx/>
              <a:buSzTx/>
              <a:buFontTx/>
              <a:buNone/>
              <a:tabLst/>
              <a:defRPr/>
            </a:pPr>
            <a:r>
              <a:rPr lang="en-US" sz="11500" b="1" dirty="0">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name</a:t>
            </a: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115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video title</a:t>
            </a:r>
          </a:p>
          <a:p>
            <a:pPr marL="0" marR="0" lvl="0" indent="0" algn="ctr" defTabSz="914400" rtl="0" eaLnBrk="1" fontAlgn="auto" latinLnBrk="0" hangingPunct="1">
              <a:lnSpc>
                <a:spcPts val="10000"/>
              </a:lnSpc>
              <a:spcBef>
                <a:spcPts val="0"/>
              </a:spcBef>
              <a:spcAft>
                <a:spcPts val="0"/>
              </a:spcAft>
              <a:buClrTx/>
              <a:buSzTx/>
              <a:buFontTx/>
              <a:buNone/>
              <a:tabLst/>
              <a:defRPr/>
            </a:pPr>
            <a:endParaRPr kumimoji="0" lang="en-US" sz="8000" b="1" i="0" u="none" strike="noStrike" kern="1200" cap="none" spc="0" normalizeH="0" baseline="0" noProof="0" dirty="0">
              <a:ln>
                <a:noFill/>
              </a:ln>
              <a:solidFill>
                <a:srgbClr val="FF8AD8"/>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19431554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7ACA5-3691-8FEB-0266-8D47BBCCF4C6}"/>
              </a:ext>
            </a:extLst>
          </p:cNvPr>
          <p:cNvSpPr txBox="1"/>
          <p:nvPr/>
        </p:nvSpPr>
        <p:spPr>
          <a:xfrm>
            <a:off x="0" y="91440"/>
            <a:ext cx="12191999" cy="5606663"/>
          </a:xfrm>
          <a:prstGeom prst="rect">
            <a:avLst/>
          </a:prstGeom>
          <a:noFill/>
        </p:spPr>
        <p:txBody>
          <a:bodyPr wrap="square" rtlCol="0">
            <a:spAutoFit/>
          </a:bodyPr>
          <a:lstStyle/>
          <a:p>
            <a:pPr algn="ctr">
              <a:lnSpc>
                <a:spcPts val="11000"/>
              </a:lnSpc>
              <a:defRPr/>
            </a:pPr>
            <a:r>
              <a:rPr kumimoji="0" lang="en-US" sz="9600" u="none" strike="noStrike" kern="1200" cap="none" spc="0" normalizeH="0" baseline="0" noProof="0" dirty="0">
                <a:ln>
                  <a:noFill/>
                </a:ln>
                <a:solidFill>
                  <a:prstClr val="white"/>
                </a:solidFill>
                <a:effectLst/>
                <a:uLnTx/>
                <a:uFillTx/>
                <a:latin typeface="Helvetica Neue Thin" panose="020B0403020202020204" pitchFamily="34" charset="0"/>
                <a:ea typeface="Helvetica Neue Thin" panose="020B0403020202020204" pitchFamily="34" charset="0"/>
                <a:cs typeface="Helvetica Neue" panose="02000503000000020004" pitchFamily="2" charset="0"/>
              </a:rPr>
              <a:t>neoclassical.ai</a:t>
            </a:r>
          </a:p>
          <a:p>
            <a:pPr marL="0" marR="0" lvl="0" indent="0" algn="ctr" defTabSz="914400" rtl="0" eaLnBrk="1" fontAlgn="auto" latinLnBrk="0" hangingPunct="1">
              <a:lnSpc>
                <a:spcPts val="11000"/>
              </a:lnSpc>
              <a:spcBef>
                <a:spcPts val="0"/>
              </a:spcBef>
              <a:spcAft>
                <a:spcPts val="0"/>
              </a:spcAft>
              <a:buClrTx/>
              <a:buSzTx/>
              <a:buFontTx/>
              <a:buNone/>
              <a:tabLst/>
              <a:defRPr/>
            </a:pPr>
            <a:r>
              <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Crisis in Physics</a:t>
            </a:r>
            <a:br>
              <a:rPr kumimoji="0" lang="en-US" sz="96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br>
            <a:r>
              <a:rPr kumimoji="0" lang="en-US" sz="9600" b="1" i="0" u="none" strike="noStrike" kern="1200" cap="none" spc="0" normalizeH="0" baseline="0" noProof="0" dirty="0">
                <a:ln>
                  <a:noFill/>
                </a:ln>
                <a:solidFill>
                  <a:srgbClr val="FF0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Physicist, Heal Thyself</a:t>
            </a:r>
          </a:p>
          <a:p>
            <a:pPr marL="0" marR="0" lvl="0" indent="0" algn="ctr" defTabSz="914400" rtl="0" eaLnBrk="1" fontAlgn="auto" latinLnBrk="0" hangingPunct="1">
              <a:lnSpc>
                <a:spcPts val="10000"/>
              </a:lnSpc>
              <a:spcBef>
                <a:spcPts val="0"/>
              </a:spcBef>
              <a:spcAft>
                <a:spcPts val="0"/>
              </a:spcAft>
              <a:buClrTx/>
              <a:buSzTx/>
              <a:buFontTx/>
              <a:buNone/>
              <a:tabLst/>
              <a:defRPr/>
            </a:pPr>
            <a:r>
              <a:rPr lang="en-US" sz="9600" b="1" i="0" kern="1200" spc="0" baseline="0" dirty="0">
                <a:ln>
                  <a:noFill/>
                </a:ln>
                <a:solidFill>
                  <a:srgbClr val="FFC000"/>
                </a:solidFill>
                <a:effectLst/>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Take the L</a:t>
            </a:r>
            <a:endParaRPr kumimoji="0" lang="en-US" sz="96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3996681802"/>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wrap="none">
        <a:spAutoFit/>
      </a:bodyPr>
      <a:lstStyle>
        <a:defPPr algn="l">
          <a:defRPr sz="2400" dirty="0" smtClean="0">
            <a:latin typeface="Helvetica Neue" panose="02000503000000020004" pitchFamily="2" charset="0"/>
            <a:ea typeface="Helvetica Neue" panose="02000503000000020004" pitchFamily="2" charset="0"/>
            <a:cs typeface="Helvetica Neue" panose="02000503000000020004" pitchFamily="2" charset="0"/>
          </a:defRPr>
        </a:defPPr>
      </a:lstStyle>
    </a:spDef>
    <a:txDef>
      <a:spPr>
        <a:noFill/>
      </a:spPr>
      <a:bodyPr wrap="none" rtlCol="0">
        <a:spAutoFit/>
      </a:bodyPr>
      <a:lstStyle>
        <a:defPPr algn="l">
          <a:defRPr dirty="0" smtClean="0">
            <a:latin typeface="Helvetica Neue" panose="02000503000000020004" pitchFamily="2" charset="0"/>
            <a:ea typeface="Helvetica Neue" panose="02000503000000020004" pitchFamily="2" charset="0"/>
            <a:cs typeface="Helvetica Neue" panose="02000503000000020004" pitchFamily="2"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555</TotalTime>
  <Words>4341</Words>
  <Application>Microsoft Macintosh PowerPoint</Application>
  <PresentationFormat>Widescreen</PresentationFormat>
  <Paragraphs>374</Paragraphs>
  <Slides>21</Slides>
  <Notes>21</Notes>
  <HiddenSlides>0</HiddenSlides>
  <MMClips>2</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21</vt:i4>
      </vt:variant>
    </vt:vector>
  </HeadingPairs>
  <TitlesOfParts>
    <vt:vector size="30" baseType="lpstr">
      <vt:lpstr>Aptos</vt:lpstr>
      <vt:lpstr>Arial</vt:lpstr>
      <vt:lpstr>Calibri</vt:lpstr>
      <vt:lpstr>Calibri Light</vt:lpstr>
      <vt:lpstr>Helvetica Neue</vt:lpstr>
      <vt:lpstr>Helvetica Neue Condensed Black</vt:lpstr>
      <vt:lpstr>Helvetica Neue Thin</vt:lpstr>
      <vt:lpstr>1_Office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Queue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Mark Morris</dc:creator>
  <cp:lastModifiedBy>Mark Morris</cp:lastModifiedBy>
  <cp:revision>48</cp:revision>
  <dcterms:created xsi:type="dcterms:W3CDTF">2024-02-19T20:51:27Z</dcterms:created>
  <dcterms:modified xsi:type="dcterms:W3CDTF">2026-07-03T17:18:44Z</dcterms:modified>
</cp:coreProperties>
</file>