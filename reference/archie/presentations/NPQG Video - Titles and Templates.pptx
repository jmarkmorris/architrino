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72" r:id="rId2"/>
  </p:sldMasterIdLst>
  <p:notesMasterIdLst>
    <p:notesMasterId r:id="rId24"/>
  </p:notesMasterIdLst>
  <p:sldIdLst>
    <p:sldId id="836" r:id="rId3"/>
    <p:sldId id="840" r:id="rId4"/>
    <p:sldId id="842" r:id="rId5"/>
    <p:sldId id="807" r:id="rId6"/>
    <p:sldId id="844" r:id="rId7"/>
    <p:sldId id="837" r:id="rId8"/>
    <p:sldId id="896" r:id="rId9"/>
    <p:sldId id="898" r:id="rId10"/>
    <p:sldId id="828" r:id="rId11"/>
    <p:sldId id="830" r:id="rId12"/>
    <p:sldId id="831" r:id="rId13"/>
    <p:sldId id="832" r:id="rId14"/>
    <p:sldId id="839" r:id="rId15"/>
    <p:sldId id="838" r:id="rId16"/>
    <p:sldId id="877" r:id="rId17"/>
    <p:sldId id="901" r:id="rId18"/>
    <p:sldId id="902" r:id="rId19"/>
    <p:sldId id="899" r:id="rId20"/>
    <p:sldId id="872" r:id="rId21"/>
    <p:sldId id="897" r:id="rId22"/>
    <p:sldId id="83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4386"/>
    <p:restoredTop sz="96327"/>
  </p:normalViewPr>
  <p:slideViewPr>
    <p:cSldViewPr snapToGrid="0">
      <p:cViewPr varScale="1">
        <p:scale>
          <a:sx n="182" d="100"/>
          <a:sy n="182" d="100"/>
        </p:scale>
        <p:origin x="336" y="168"/>
      </p:cViewPr>
      <p:guideLst/>
    </p:cSldViewPr>
  </p:slideViewPr>
  <p:notesTextViewPr>
    <p:cViewPr>
      <p:scale>
        <a:sx n="1" d="1"/>
        <a:sy n="1" d="1"/>
      </p:scale>
      <p:origin x="0" y="0"/>
    </p:cViewPr>
  </p:notesTextViewPr>
  <p:sorterViewPr>
    <p:cViewPr>
      <p:scale>
        <a:sx n="1" d="1"/>
        <a:sy n="1" d="1"/>
      </p:scale>
      <p:origin x="0" y="0"/>
    </p:cViewPr>
  </p:sorterViewPr>
  <p:notesViewPr>
    <p:cSldViewPr snapToGrid="0">
      <p:cViewPr varScale="1">
        <p:scale>
          <a:sx n="137" d="100"/>
          <a:sy n="137" d="100"/>
        </p:scale>
        <p:origin x="4744"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6EB331-76C4-5A4A-B8BA-732AEDFD2294}"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65E6C3-0568-A144-A148-671892FA1E9E}" type="slidenum">
              <a:rPr lang="en-US" smtClean="0"/>
              <a:t>‹#›</a:t>
            </a:fld>
            <a:endParaRPr lang="en-US"/>
          </a:p>
        </p:txBody>
      </p:sp>
    </p:spTree>
    <p:extLst>
      <p:ext uri="{BB962C8B-B14F-4D97-AF65-F5344CB8AC3E}">
        <p14:creationId xmlns:p14="http://schemas.microsoft.com/office/powerpoint/2010/main" val="42776549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1933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91106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22720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22720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07504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4B1E8-D851-D84E-7B7C-6439BBC26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3B2B5A-3E8D-C2B6-E83D-FE1C54E139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FFD2B-3BE4-7995-3BA2-7C6897531428}"/>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DC0CCDEB-4B10-6EC0-E077-07752AEED93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52314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4B0F0-77B6-4D7A-FAF1-4DE3A2124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19350-C19A-7970-F031-2DD8621A7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8C618-C9E5-273E-F7EE-431BF5EA7928}"/>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1DC088BA-7716-6EBB-91EB-BFD60B9DCD5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7364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8490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1035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19140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35805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065342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F65E6C3-0568-A144-A148-671892FA1E9E}" type="slidenum">
              <a:rPr lang="en-US" smtClean="0"/>
              <a:t>15</a:t>
            </a:fld>
            <a:endParaRPr lang="en-US"/>
          </a:p>
        </p:txBody>
      </p:sp>
    </p:spTree>
    <p:extLst>
      <p:ext uri="{BB962C8B-B14F-4D97-AF65-F5344CB8AC3E}">
        <p14:creationId xmlns:p14="http://schemas.microsoft.com/office/powerpoint/2010/main" val="2382463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522D-D6C9-2895-99CC-0CD9F0B80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1F06F-B507-A14E-ADB0-571995A1E9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F6548-3E2E-AB07-1CDA-BB0830649FD0}"/>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E78846C4-F3E6-9CA8-842F-D860DD4DF7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5DD313D-973B-0204-98D3-BA1AECB0180C}"/>
              </a:ext>
            </a:extLst>
          </p:cNvPr>
          <p:cNvSpPr txBox="1"/>
          <p:nvPr/>
        </p:nvSpPr>
        <p:spPr>
          <a:xfrm>
            <a:off x="8191500" y="464701"/>
            <a:ext cx="18554700" cy="8679299"/>
          </a:xfrm>
          <a:prstGeom prst="rect">
            <a:avLst/>
          </a:prstGeom>
          <a:noFill/>
        </p:spPr>
        <p:txBody>
          <a:bodyPr wrap="square">
            <a:spAutoFit/>
          </a:bodyPr>
          <a:lstStyle/>
          <a:p>
            <a:r>
              <a:rPr lang="en-US" dirty="0">
                <a:solidFill>
                  <a:schemeClr val="bg1"/>
                </a:solidFill>
              </a:rPr>
              <a:t>I'll elaborate on each concept, now including Metamorphosis:</a:t>
            </a:r>
          </a:p>
          <a:p>
            <a:endParaRPr lang="en-US" dirty="0">
              <a:solidFill>
                <a:schemeClr val="bg1"/>
              </a:solidFill>
            </a:endParaRPr>
          </a:p>
          <a:p>
            <a:r>
              <a:rPr lang="en-US" dirty="0">
                <a:solidFill>
                  <a:schemeClr val="bg1"/>
                </a:solidFill>
              </a:rPr>
              <a:t>* **Crisis**: A moment of intense difficulty that demands change or decisive action. More than just a problem, a crisis represents a critical juncture where existing structures, beliefs, or ways of functioning become unsustainable. It forces an individual or system to confront fundamental weaknesses, requiring radical adaptation. Like a pressure point in a system, a crisis reveals vulnerabilities while simultaneously offering an opportunity for profound transformation. The Chinese character for crisis (</a:t>
            </a:r>
            <a:r>
              <a:rPr lang="en-US" dirty="0" err="1">
                <a:solidFill>
                  <a:schemeClr val="bg1"/>
                </a:solidFill>
              </a:rPr>
              <a:t>危机</a:t>
            </a:r>
            <a:r>
              <a:rPr lang="en-US" dirty="0">
                <a:solidFill>
                  <a:schemeClr val="bg1"/>
                </a:solidFill>
              </a:rPr>
              <a:t>) beautifully captures this duality - combining the symbols for "danger" and "opportunity".</a:t>
            </a:r>
          </a:p>
          <a:p>
            <a:endParaRPr lang="en-US" dirty="0">
              <a:solidFill>
                <a:schemeClr val="bg1"/>
              </a:solidFill>
            </a:endParaRPr>
          </a:p>
          <a:p>
            <a:r>
              <a:rPr lang="en-US" dirty="0">
                <a:solidFill>
                  <a:schemeClr val="bg1"/>
                </a:solidFill>
              </a:rPr>
              <a:t>* **Narcissus**: Beyond mere self-absorption, Narcissus embodies the psychological journey of confronting one's illusions. In the Greek myth, he becomes so entranced by his own reflection that he cannot move, symbolizing the paralysis of ego and self-deception. His transformation occurs through a painful recognition - a moment of seeing oneself so clearly that the previous self-image shatters. The myth suggests that true self-awareness requires breaking through the mirror of self-delusion, often at the cost of previous comfortable narratives.</a:t>
            </a:r>
          </a:p>
          <a:p>
            <a:endParaRPr lang="en-US" dirty="0">
              <a:solidFill>
                <a:schemeClr val="bg1"/>
              </a:solidFill>
            </a:endParaRPr>
          </a:p>
          <a:p>
            <a:r>
              <a:rPr lang="en-US" dirty="0">
                <a:solidFill>
                  <a:schemeClr val="bg1"/>
                </a:solidFill>
              </a:rPr>
              <a:t>* **Sisyphus**: More than a symbol of futility, Sisyphus represents existential heroism. Albert Camus interpreted this myth as a profound statement of human dignity - finding meaning not in the achievement, but in the struggle itself. Each time Sisyphus pushes the boulder up the mountain, only to watch it roll down, he embodies human resilience. The value is not in completing the task, but in the conscious, defiant act of continuing. He becomes a hero not through success, but through persistent awareness and acceptance of his condition.</a:t>
            </a:r>
          </a:p>
          <a:p>
            <a:endParaRPr lang="en-US" dirty="0">
              <a:solidFill>
                <a:schemeClr val="bg1"/>
              </a:solidFill>
            </a:endParaRPr>
          </a:p>
          <a:p>
            <a:r>
              <a:rPr lang="en-US" dirty="0">
                <a:solidFill>
                  <a:schemeClr val="bg1"/>
                </a:solidFill>
              </a:rPr>
              <a:t>* **Chrysalis**: A remarkable metaphor of absolute transformation. During metamorphosis, the caterpillar doesn't simply change - it completely liquefies inside its cocoon, breaking down to its most fundamental cellular components before reconstructing itself as a butterfly. This isn't gradual modification, but total dissolution and reconstruction. It represents the most radical form of personal change: surrendering entirely to the process of transformation, trusting in an inherent blueprint of potential.</a:t>
            </a:r>
          </a:p>
          <a:p>
            <a:endParaRPr lang="en-US" dirty="0">
              <a:solidFill>
                <a:schemeClr val="bg1"/>
              </a:solidFill>
            </a:endParaRPr>
          </a:p>
          <a:p>
            <a:r>
              <a:rPr lang="en-US" dirty="0">
                <a:solidFill>
                  <a:schemeClr val="bg1"/>
                </a:solidFill>
              </a:rPr>
              <a:t>* **Metamorphosis**: Beyond physical change, metamorphosis represents fundamental, often irreversible transformation. Unlike simple growth or adaptation, metamorphosis involves a complete restructuring of identity, capabilities, and essence. In nature, it's seen in organisms like butterflies or frogs that undergo dramatic, non-linear changes. Psychologically, it represents profound shifts in consciousness, where one's entire perception of self and reality is fundamentally reorganized.</a:t>
            </a:r>
          </a:p>
          <a:p>
            <a:endParaRPr lang="en-US" dirty="0">
              <a:solidFill>
                <a:schemeClr val="bg1"/>
              </a:solidFill>
            </a:endParaRPr>
          </a:p>
          <a:p>
            <a:r>
              <a:rPr lang="en-US" dirty="0">
                <a:solidFill>
                  <a:schemeClr val="bg1"/>
                </a:solidFill>
              </a:rPr>
              <a:t>* **Phoenix**: The archetypal symbol of regenerative power. Rising from its own ashes, the Phoenix doesn't merely survive destruction - it is reborn through it. This myth suggests that true renewal requires complete surrender, allowing everything to burn away so that something more essential and powerful can emerge. It's not about restoration to a previous state, but about transcendence - becoming something fundamentally new through the very process of destruction.</a:t>
            </a:r>
          </a:p>
          <a:p>
            <a:endParaRPr lang="en-US" dirty="0">
              <a:solidFill>
                <a:schemeClr val="bg1"/>
              </a:solidFill>
            </a:endParaRPr>
          </a:p>
          <a:p>
            <a:r>
              <a:rPr lang="en-US" dirty="0">
                <a:solidFill>
                  <a:schemeClr val="bg1"/>
                </a:solidFill>
              </a:rPr>
              <a:t>These concepts are interconnected threads in a larger narrative of human potential - they speak to our capacity for radical transformation, resilience, and the profound potential for renewal that exists within apparent destruction.</a:t>
            </a:r>
          </a:p>
          <a:p>
            <a:endParaRPr lang="en-US" dirty="0">
              <a:solidFill>
                <a:schemeClr val="bg1"/>
              </a:solidFill>
            </a:endParaRPr>
          </a:p>
          <a:p>
            <a:r>
              <a:rPr lang="en-US" dirty="0">
                <a:solidFill>
                  <a:schemeClr val="bg1"/>
                </a:solidFill>
              </a:rPr>
              <a:t>Would you like me to delve deeper into any of these concepts or explore their psychological and philosophical implications further?</a:t>
            </a:r>
          </a:p>
        </p:txBody>
      </p:sp>
    </p:spTree>
    <p:extLst>
      <p:ext uri="{BB962C8B-B14F-4D97-AF65-F5344CB8AC3E}">
        <p14:creationId xmlns:p14="http://schemas.microsoft.com/office/powerpoint/2010/main" val="18201525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6C339-CDEE-0656-5CA3-64361A1F8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A1B6AE-EFDB-0CDD-79E2-F16EE6083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95624C-DB64-F757-8E9A-A1B344EC2B8F}"/>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EA04BD9-F6C8-384E-DD86-7AABD07FE81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31AB5358-B3CA-D14B-E6D7-72651E495D61}"/>
              </a:ext>
            </a:extLst>
          </p:cNvPr>
          <p:cNvSpPr txBox="1"/>
          <p:nvPr/>
        </p:nvSpPr>
        <p:spPr>
          <a:xfrm>
            <a:off x="8191500" y="464701"/>
            <a:ext cx="18554700" cy="8679299"/>
          </a:xfrm>
          <a:prstGeom prst="rect">
            <a:avLst/>
          </a:prstGeom>
          <a:noFill/>
        </p:spPr>
        <p:txBody>
          <a:bodyPr wrap="square">
            <a:spAutoFit/>
          </a:bodyPr>
          <a:lstStyle/>
          <a:p>
            <a:r>
              <a:rPr lang="en-US" dirty="0">
                <a:solidFill>
                  <a:schemeClr val="bg1"/>
                </a:solidFill>
              </a:rPr>
              <a:t>I'll elaborate on each concept, now including Metamorphosis:</a:t>
            </a:r>
          </a:p>
          <a:p>
            <a:endParaRPr lang="en-US" dirty="0">
              <a:solidFill>
                <a:schemeClr val="bg1"/>
              </a:solidFill>
            </a:endParaRPr>
          </a:p>
          <a:p>
            <a:r>
              <a:rPr lang="en-US" dirty="0">
                <a:solidFill>
                  <a:schemeClr val="bg1"/>
                </a:solidFill>
              </a:rPr>
              <a:t>* **Crisis**: A moment of intense difficulty that demands change or decisive action. More than just a problem, a crisis represents a critical juncture where existing structures, beliefs, or ways of functioning become unsustainable. It forces an individual or system to confront fundamental weaknesses, requiring radical adaptation. Like a pressure point in a system, a crisis reveals vulnerabilities while simultaneously offering an opportunity for profound transformation. The Chinese character for crisis (</a:t>
            </a:r>
            <a:r>
              <a:rPr lang="en-US" dirty="0" err="1">
                <a:solidFill>
                  <a:schemeClr val="bg1"/>
                </a:solidFill>
              </a:rPr>
              <a:t>危机</a:t>
            </a:r>
            <a:r>
              <a:rPr lang="en-US" dirty="0">
                <a:solidFill>
                  <a:schemeClr val="bg1"/>
                </a:solidFill>
              </a:rPr>
              <a:t>) beautifully captures this duality - combining the symbols for "danger" and "opportunity".</a:t>
            </a:r>
          </a:p>
          <a:p>
            <a:endParaRPr lang="en-US" dirty="0">
              <a:solidFill>
                <a:schemeClr val="bg1"/>
              </a:solidFill>
            </a:endParaRPr>
          </a:p>
          <a:p>
            <a:r>
              <a:rPr lang="en-US" dirty="0">
                <a:solidFill>
                  <a:schemeClr val="bg1"/>
                </a:solidFill>
              </a:rPr>
              <a:t>* **Narcissus**: Beyond mere self-absorption, Narcissus embodies the psychological journey of confronting one's illusions. In the Greek myth, he becomes so entranced by his own reflection that he cannot move, symbolizing the paralysis of ego and self-deception. His transformation occurs through a painful recognition - a moment of seeing oneself so clearly that the previous self-image shatters. The myth suggests that true self-awareness requires breaking through the mirror of self-delusion, often at the cost of previous comfortable narratives.</a:t>
            </a:r>
          </a:p>
          <a:p>
            <a:endParaRPr lang="en-US" dirty="0">
              <a:solidFill>
                <a:schemeClr val="bg1"/>
              </a:solidFill>
            </a:endParaRPr>
          </a:p>
          <a:p>
            <a:r>
              <a:rPr lang="en-US" dirty="0">
                <a:solidFill>
                  <a:schemeClr val="bg1"/>
                </a:solidFill>
              </a:rPr>
              <a:t>* **Sisyphus**: More than a symbol of futility, Sisyphus represents existential heroism. Albert Camus interpreted this myth as a profound statement of human dignity - finding meaning not in the achievement, but in the struggle itself. Each time Sisyphus pushes the boulder up the mountain, only to watch it roll down, he embodies human resilience. The value is not in completing the task, but in the conscious, defiant act of continuing. He becomes a hero not through success, but through persistent awareness and acceptance of his condition.</a:t>
            </a:r>
          </a:p>
          <a:p>
            <a:endParaRPr lang="en-US" dirty="0">
              <a:solidFill>
                <a:schemeClr val="bg1"/>
              </a:solidFill>
            </a:endParaRPr>
          </a:p>
          <a:p>
            <a:r>
              <a:rPr lang="en-US" dirty="0">
                <a:solidFill>
                  <a:schemeClr val="bg1"/>
                </a:solidFill>
              </a:rPr>
              <a:t>* **Chrysalis**: A remarkable metaphor of absolute transformation. During metamorphosis, the caterpillar doesn't simply change - it completely liquefies inside its cocoon, breaking down to its most fundamental cellular components before reconstructing itself as a butterfly. This isn't gradual modification, but total dissolution and reconstruction. It represents the most radical form of personal change: surrendering entirely to the process of transformation, trusting in an inherent blueprint of potential.</a:t>
            </a:r>
          </a:p>
          <a:p>
            <a:endParaRPr lang="en-US" dirty="0">
              <a:solidFill>
                <a:schemeClr val="bg1"/>
              </a:solidFill>
            </a:endParaRPr>
          </a:p>
          <a:p>
            <a:r>
              <a:rPr lang="en-US" dirty="0">
                <a:solidFill>
                  <a:schemeClr val="bg1"/>
                </a:solidFill>
              </a:rPr>
              <a:t>* **Metamorphosis**: Beyond physical change, metamorphosis represents fundamental, often irreversible transformation. Unlike simple growth or adaptation, metamorphosis involves a complete restructuring of identity, capabilities, and essence. In nature, it's seen in organisms like butterflies or frogs that undergo dramatic, non-linear changes. Psychologically, it represents profound shifts in consciousness, where one's entire perception of self and reality is fundamentally reorganized.</a:t>
            </a:r>
          </a:p>
          <a:p>
            <a:endParaRPr lang="en-US" dirty="0">
              <a:solidFill>
                <a:schemeClr val="bg1"/>
              </a:solidFill>
            </a:endParaRPr>
          </a:p>
          <a:p>
            <a:r>
              <a:rPr lang="en-US" dirty="0">
                <a:solidFill>
                  <a:schemeClr val="bg1"/>
                </a:solidFill>
              </a:rPr>
              <a:t>* **Phoenix**: The archetypal symbol of regenerative power. Rising from its own ashes, the Phoenix doesn't merely survive destruction - it is reborn through it. This myth suggests that true renewal requires complete surrender, allowing everything to burn away so that something more essential and powerful can emerge. It's not about restoration to a previous state, but about transcendence - becoming something fundamentally new through the very process of destruction.</a:t>
            </a:r>
          </a:p>
          <a:p>
            <a:endParaRPr lang="en-US" dirty="0">
              <a:solidFill>
                <a:schemeClr val="bg1"/>
              </a:solidFill>
            </a:endParaRPr>
          </a:p>
          <a:p>
            <a:r>
              <a:rPr lang="en-US" dirty="0">
                <a:solidFill>
                  <a:schemeClr val="bg1"/>
                </a:solidFill>
              </a:rPr>
              <a:t>These concepts are interconnected threads in a larger narrative of human potential - they speak to our capacity for radical transformation, resilience, and the profound potential for renewal that exists within apparent destruction.</a:t>
            </a:r>
          </a:p>
          <a:p>
            <a:endParaRPr lang="en-US" dirty="0">
              <a:solidFill>
                <a:schemeClr val="bg1"/>
              </a:solidFill>
            </a:endParaRPr>
          </a:p>
          <a:p>
            <a:r>
              <a:rPr lang="en-US" dirty="0">
                <a:solidFill>
                  <a:schemeClr val="bg1"/>
                </a:solidFill>
              </a:rPr>
              <a:t>Would you like me to delve deeper into any of these concepts or explore their psychological and philosophical implications further?</a:t>
            </a:r>
          </a:p>
        </p:txBody>
      </p:sp>
    </p:spTree>
    <p:extLst>
      <p:ext uri="{BB962C8B-B14F-4D97-AF65-F5344CB8AC3E}">
        <p14:creationId xmlns:p14="http://schemas.microsoft.com/office/powerpoint/2010/main" val="24832947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721E1-C2D6-758A-6BA9-E341CCCB81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542004-BDD8-5DD7-14B1-A1DC56D4D1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722ED9-309F-2684-C174-C1135B0BA87D}"/>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61231FD7-7F74-3713-D776-1DA197AD607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33283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5C7FB-050B-BA06-9466-466A158186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481FD-714A-C518-285D-8372FD9ED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CBE4BF-7B1A-7644-44A7-8BA16B25A738}"/>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8BE149EC-7B02-F8F4-066D-01223D4CEF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84648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13D5C-BB7A-7DEA-4763-176A16ACC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66860-9C26-4436-F4C0-5099E2051D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5D2E8C-FE8B-272C-8CED-371101DE58F4}"/>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566B43D9-6234-6ABA-F15C-98C5B461DCA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1530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81283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79711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9154323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04785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599481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5767803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1279130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907519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390440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204029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579236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7775695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2073663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537191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1542607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63153745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27368602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1163324"/>
            <a:ext cx="12191999" cy="291361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schemeClr val="bg1"/>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Title Slide Collection</a:t>
            </a:r>
            <a:endParaRPr kumimoji="0" lang="en-US" sz="9600" b="1" i="0" u="none" strike="noStrike" kern="1200" cap="none" spc="0" normalizeH="0" baseline="0" noProof="0" dirty="0">
              <a:ln>
                <a:noFill/>
              </a:ln>
              <a:solidFill>
                <a:schemeClr val="bg1"/>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310603461"/>
      </p:ext>
    </p:extLst>
  </p:cSld>
  <p:clrMapOvr>
    <a:masterClrMapping/>
  </p:clrMapOvr>
</p:sld>
</file>

<file path=ppt/slides/slide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92992"/>
            <a:ext cx="12191999" cy="5478423"/>
          </a:xfrm>
          <a:prstGeom prst="rect">
            <a:avLst/>
          </a:prstGeom>
          <a:noFill/>
        </p:spPr>
        <p:txBody>
          <a:bodyPr wrap="square" rtlCol="0">
            <a:spAutoFit/>
          </a:bodyPr>
          <a:lstStyle/>
          <a:p>
            <a:pPr algn="ctr">
              <a:lnSpc>
                <a:spcPts val="11000"/>
              </a:lnSpc>
              <a:defRPr/>
            </a:pPr>
            <a:r>
              <a:rPr kumimoji="0" lang="en-US" sz="88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Newton’s Views on Space, Time, &amp; Motion</a:t>
            </a:r>
          </a:p>
        </p:txBody>
      </p:sp>
      <p:pic>
        <p:nvPicPr>
          <p:cNvPr id="3" name="Picture 2">
            <a:extLst>
              <a:ext uri="{FF2B5EF4-FFF2-40B4-BE49-F238E27FC236}">
                <a16:creationId id="{608F758E-94B5-074B-1301-340B594BAE0E}"/>
              </a:ext>
            </a:extLst>
          </p:cNvPr>
          <p:cNvPicPr>
            <a:picLocks noChangeAspect="1"/>
          </p:cNvPicPr>
          <p:nvPr/>
        </p:nvPicPr>
        <p:blipFill>
          <a:blip r:embed="rId3"/>
          <a:stretch>
            <a:fillRect/>
          </a:stretch>
        </p:blipFill>
        <p:spPr>
          <a:xfrm>
            <a:off x="3228974" y="5976573"/>
            <a:ext cx="5734051" cy="683735"/>
          </a:xfrm>
          <a:prstGeom prst="rect">
            <a:avLst/>
          </a:prstGeom>
        </p:spPr>
      </p:pic>
      <p:sp>
        <p:nvSpPr>
          <p:cNvPr id="4" name="TextBox 3">
            <a:extLst>
              <a:ext uri="{FF2B5EF4-FFF2-40B4-BE49-F238E27FC236}">
                <a16:creationId id="{CB18998F-2FD9-0C21-DB11-0772A53D8050}"/>
              </a:ext>
            </a:extLst>
          </p:cNvPr>
          <p:cNvSpPr txBox="1"/>
          <p:nvPr/>
        </p:nvSpPr>
        <p:spPr>
          <a:xfrm>
            <a:off x="4450555" y="5607241"/>
            <a:ext cx="3176511" cy="369332"/>
          </a:xfrm>
          <a:prstGeom prst="rect">
            <a:avLst/>
          </a:prstGeom>
          <a:noFill/>
        </p:spPr>
        <p:txBody>
          <a:bodyPr wrap="none" rtlCol="0">
            <a:spAutoFit/>
          </a:bodyPr>
          <a:lstStyle/>
          <a:p>
            <a:r>
              <a:rPr lang="en-US"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Review of an article from the:</a:t>
            </a:r>
          </a:p>
        </p:txBody>
      </p:sp>
      <p:sp>
        <p:nvSpPr>
          <p:cNvPr id="5"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941009621"/>
      </p:ext>
    </p:extLst>
  </p:cSld>
  <p:clrMapOvr>
    <a:masterClrMapping/>
  </p:clrMapOvr>
</p:sld>
</file>

<file path=ppt/slides/slide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Ethan Siegel on </a:t>
            </a:r>
            <a:b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Universe Expansion</a:t>
            </a:r>
          </a:p>
        </p:txBody>
      </p:sp>
      <p:cxnSp>
        <p:nvCxnSpPr>
          <p:cNvPr id="9" name="Straight Connector 8">
            <a:extLst>
              <a:ext uri="{FF2B5EF4-FFF2-40B4-BE49-F238E27FC236}">
                <a16:creationId id="{B7531AA8-BC8D-3FA1-88EA-A0EF15521F67}"/>
              </a:ext>
            </a:extLst>
          </p:cNvPr>
          <p:cNvCxnSpPr>
            <a:cxnSpLocks/>
          </p:cNvCxnSpPr>
          <p:nvPr/>
        </p:nvCxnSpPr>
        <p:spPr>
          <a:xfrm flipV="1">
            <a:off x="986367" y="4218330"/>
            <a:ext cx="4614333" cy="1075267"/>
          </a:xfrm>
          <a:prstGeom prst="line">
            <a:avLst/>
          </a:prstGeom>
          <a:ln w="19050">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id="{4CEF2825-EF07-0BB5-9470-127560E7B9E1}"/>
              </a:ext>
            </a:extLst>
          </p:cNvPr>
          <p:cNvCxnSpPr>
            <a:cxnSpLocks/>
          </p:cNvCxnSpPr>
          <p:nvPr/>
        </p:nvCxnSpPr>
        <p:spPr>
          <a:xfrm flipH="1" flipV="1">
            <a:off x="986367" y="4218330"/>
            <a:ext cx="4614333" cy="1075267"/>
          </a:xfrm>
          <a:prstGeom prst="line">
            <a:avLst/>
          </a:prstGeom>
          <a:ln w="1905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id="{25FA6717-7C61-4FFB-16E8-7DAD12D507D6}"/>
              </a:ext>
            </a:extLst>
          </p:cNvPr>
          <p:cNvPicPr>
            <a:picLocks noChangeAspect="1"/>
          </p:cNvPicPr>
          <p:nvPr/>
        </p:nvPicPr>
        <p:blipFill rotWithShape="1">
          <a:blip r:embed="rId3"/>
          <a:srcRect l="29316" t="26752" r="27171" b="30584"/>
          <a:stretch/>
        </p:blipFill>
        <p:spPr>
          <a:xfrm>
            <a:off x="4841553" y="5629936"/>
            <a:ext cx="2115332" cy="1185186"/>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713162349"/>
      </p:ext>
    </p:extLst>
  </p:cSld>
  <p:clrMapOvr>
    <a:masterClrMapping/>
  </p:clrMapOvr>
</p:sld>
</file>

<file path=ppt/slides/slide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4324261"/>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br>
              <a:rPr kumimoji="0" lang="en-US" sz="96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Public F</a:t>
            </a:r>
            <a:r>
              <a:rPr kumimoji="0" lang="en-US" sz="9600" b="1" i="0" u="none" strike="noStrike" kern="1200" cap="none" spc="0" normalizeH="0" baseline="0" noProof="0" dirty="0" err="1">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unding</a:t>
            </a:r>
            <a:r>
              <a:rPr kumimoji="0" lang="en-US" sz="96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 Failure</a:t>
            </a:r>
          </a:p>
        </p:txBody>
      </p:sp>
      <p:pic>
        <p:nvPicPr>
          <p:cNvPr id="4" name="Audio 4.m4a">
            <a:hlinkClick r:id="" action="ppaction://media"/>
            <a:extLst>
              <a:ext uri="{FF2B5EF4-FFF2-40B4-BE49-F238E27FC236}">
                <a16:creationId id="{517B54EF-D7B1-E948-D130-5B2C54B785CA}"/>
              </a:ext>
            </a:extLst>
          </p:cNvPr>
          <p:cNvPicPr>
            <a:picLocks noChangeAspect="1"/>
          </p:cNvPicPr>
          <p:nvPr>
            <a:audioFile r:link="rId2"/>
            <p:extLst>
              <p:ext uri="{DAA4B4D4-6D71-4841-9C94-3DE7FCFB9230}">
                <ns4:media r:embed="rId1"/>
              </p:ext>
            </p:extLst>
          </p:nvPr>
        </p:nvPicPr>
        <p:blipFill>
          <a:blip r:embed="rId5"/>
          <a:stretch>
            <a:fillRect/>
          </a:stretch>
        </p:blipFill>
        <p:spPr>
          <a:xfrm>
            <a:off x="3379536" y="7453964"/>
            <a:ext cx="812800" cy="81280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348934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485"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150 Years of</a:t>
            </a:r>
            <a:b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Misinterpretation</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599249240"/>
      </p:ext>
    </p:extLst>
  </p:cSld>
  <p:clrMapOvr>
    <a:masterClrMapping/>
  </p:clrMapOvr>
</p:sld>
</file>

<file path=ppt/slides/slide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Dr. Flip </a:t>
            </a:r>
            <a:r>
              <a:rPr kumimoji="0" lang="en-US" sz="11500" b="1" i="0" u="none" strike="noStrike" kern="1200" cap="none" spc="0" normalizeH="0" baseline="0" noProof="0" dirty="0" err="1">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Tenado</a:t>
            </a:r>
            <a:endPar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at Per</a:t>
            </a:r>
            <a:r>
              <a:rPr lang="en-US" sz="11500" b="1" dirty="0" err="1">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imeter</a:t>
            </a:r>
            <a:r>
              <a:rPr lang="en-US" sz="115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 2024</a:t>
            </a:r>
            <a:endPar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473784197"/>
      </p:ext>
    </p:extLst>
  </p:cSld>
  <p:clrMapOvr>
    <a:masterClrMapping/>
  </p:clrMapOvr>
</p:sld>
</file>

<file path=ppt/slides/slide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8BD2D8D3-4FC2-5B46-4A44-7A2085023C6B}"/>
            </a:ext>
          </a:extLst>
        </p:cNvPr>
        <p:cNvGrpSpPr/>
        <p:nvPr/>
      </p:nvGrpSpPr>
      <p:grpSpPr>
        <a:xfrm>
          <a:off x="0" y="0"/>
          <a:ext cx="0" cy="0"/>
          <a:chOff x="0" y="0"/>
          <a:chExt cx="0" cy="0"/>
        </a:xfrm>
      </p:grpSpPr>
      <p:sp>
        <p:nvSpPr>
          <p:cNvPr id="2" name="TextBox 1">
            <a:extLst>
              <a:ext uri="{FF2B5EF4-FFF2-40B4-BE49-F238E27FC236}">
                <a16:creationId id="{697EE182-5C47-C603-7102-03C62C1E8913}"/>
              </a:ext>
            </a:extLst>
          </p:cNvPr>
          <p:cNvSpPr txBox="1"/>
          <p:nvPr/>
        </p:nvSpPr>
        <p:spPr>
          <a:xfrm>
            <a:off x="0" y="91440"/>
            <a:ext cx="12191999" cy="6673302"/>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115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Dr. David Kaiser</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Aether History</a:t>
            </a:r>
          </a:p>
          <a:p>
            <a:pPr marL="0" marR="0" lvl="0" indent="0" algn="ctr" defTabSz="914400" rtl="0" eaLnBrk="1" fontAlgn="auto" latinLnBrk="0" hangingPunct="1">
              <a:lnSpc>
                <a:spcPts val="10000"/>
              </a:lnSpc>
              <a:spcBef>
                <a:spcPts val="0"/>
              </a:spcBef>
              <a:spcAft>
                <a:spcPts val="0"/>
              </a:spcAft>
              <a:buClrTx/>
              <a:buSzTx/>
              <a:buFontTx/>
              <a:buNone/>
              <a:tabLst/>
              <a:defRPr/>
            </a:pP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898337369"/>
      </p:ext>
    </p:extLst>
  </p:cSld>
  <p:clrMapOvr>
    <a:masterClrMapping/>
  </p:clrMapOvr>
</p:sld>
</file>

<file path=ppt/slides/slide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2CB8459F-9206-7CBC-FAD7-B1088E4DEBEF}"/>
            </a:ext>
          </a:extLst>
        </p:cNvPr>
        <p:cNvGrpSpPr/>
        <p:nvPr/>
      </p:nvGrpSpPr>
      <p:grpSpPr>
        <a:xfrm>
          <a:off x="0" y="0"/>
          <a:ext cx="0" cy="0"/>
          <a:chOff x="0" y="0"/>
          <a:chExt cx="0" cy="0"/>
        </a:xfrm>
      </p:grpSpPr>
      <p:sp>
        <p:nvSpPr>
          <p:cNvPr id="2" name="TextBox 1">
            <a:extLst>
              <a:ext uri="{FF2B5EF4-FFF2-40B4-BE49-F238E27FC236}">
                <a16:creationId id="{7F371C28-8E58-2334-EE8D-181D406BE474}"/>
              </a:ext>
            </a:extLst>
          </p:cNvPr>
          <p:cNvSpPr txBox="1"/>
          <p:nvPr/>
        </p:nvSpPr>
        <p:spPr>
          <a:xfrm>
            <a:off x="0" y="91440"/>
            <a:ext cx="12191999" cy="6673302"/>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Phil Halper, et al.</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Black Hole Alternatives</a:t>
            </a:r>
          </a:p>
          <a:p>
            <a:pPr marL="0" marR="0" lvl="0" indent="0" algn="ctr" defTabSz="914400" rtl="0" eaLnBrk="1" fontAlgn="auto" latinLnBrk="0" hangingPunct="1">
              <a:lnSpc>
                <a:spcPts val="10000"/>
              </a:lnSpc>
              <a:spcBef>
                <a:spcPts val="0"/>
              </a:spcBef>
              <a:spcAft>
                <a:spcPts val="0"/>
              </a:spcAft>
              <a:buClrTx/>
              <a:buSzTx/>
              <a:buFontTx/>
              <a:buNone/>
              <a:tabLst/>
              <a:defRPr/>
            </a:pP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769894471"/>
      </p:ext>
    </p:extLst>
  </p:cSld>
  <p:clrMapOvr>
    <a:masterClrMapping/>
  </p:clrMapOvr>
</p:sld>
</file>

<file path=ppt/slides/slide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You Can Solve Nature</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the Universe </a:t>
            </a:r>
            <a:r>
              <a:rPr kumimoji="0" lang="en-US" sz="96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1</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882716158"/>
      </p:ext>
    </p:extLst>
  </p:cSld>
  <p:clrMapOvr>
    <a:masterClrMapping/>
  </p:clrMapOvr>
</p:sld>
</file>

<file path=ppt/slides/slide1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You Can Solve Nature</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the Universe </a:t>
            </a:r>
            <a:r>
              <a:rPr kumimoji="0" lang="en-US" sz="96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2</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2356624188"/>
      </p:ext>
    </p:extLst>
  </p:cSld>
  <p:clrMapOvr>
    <a:masterClrMapping/>
  </p:clrMapOvr>
</p:sld>
</file>

<file path=ppt/slides/slide1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You Can Solve Nature</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the Universe </a:t>
            </a:r>
            <a:r>
              <a:rPr kumimoji="0" lang="en-US" sz="96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3</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173046040"/>
      </p:ext>
    </p:extLst>
  </p:cSld>
  <p:clrMapOvr>
    <a:masterClrMapping/>
  </p:clrMapOvr>
</p:sld>
</file>

<file path=ppt/slides/slide1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You Can Solve Nature</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the Universe </a:t>
            </a:r>
            <a:r>
              <a:rPr kumimoji="0" lang="en-US" sz="96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4</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452473203"/>
      </p:ext>
    </p:extLst>
  </p:cSld>
  <p:clrMapOvr>
    <a:masterClrMapping/>
  </p:clrMapOvr>
</p:sld>
</file>

<file path=ppt/slides/slide1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1"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Architrinos Experiment </a:t>
            </a:r>
            <a:r>
              <a:rPr kumimoji="0" lang="en-US" sz="11500" b="1" i="0" u="none" strike="noStrike" kern="1200" cap="none" spc="0" normalizeH="0" baseline="0" noProof="0" dirty="0">
                <a:ln>
                  <a:noFill/>
                </a:ln>
                <a:solidFill>
                  <a:srgbClr val="00B0F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#1</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921020280"/>
      </p:ext>
    </p:extLst>
  </p:cSld>
  <p:clrMapOvr>
    <a:masterClrMapping/>
  </p:clrMapOvr>
</p:sld>
</file>

<file path=ppt/slides/slide1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Conway’s </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Game of Life</a:t>
            </a:r>
          </a:p>
        </p:txBody>
      </p:sp>
      <p:pic>
        <p:nvPicPr>
          <p:cNvPr id="4" name="Audio 4.m4a">
            <a:hlinkClick r:id="" action="ppaction://media"/>
            <a:extLst>
              <a:ext uri="{FF2B5EF4-FFF2-40B4-BE49-F238E27FC236}">
                <a16:creationId id="{517B54EF-D7B1-E948-D130-5B2C54B785CA}"/>
              </a:ext>
            </a:extLst>
          </p:cNvPr>
          <p:cNvPicPr>
            <a:picLocks noChangeAspect="1"/>
          </p:cNvPicPr>
          <p:nvPr>
            <a:audioFile r:link="rId2"/>
            <p:extLst>
              <p:ext uri="{DAA4B4D4-6D71-4841-9C94-3DE7FCFB9230}">
                <ns4:media r:embed="rId1"/>
              </p:ext>
            </p:extLst>
          </p:nvPr>
        </p:nvPicPr>
        <p:blipFill>
          <a:blip r:embed="rId5"/>
          <a:stretch>
            <a:fillRect/>
          </a:stretch>
        </p:blipFill>
        <p:spPr>
          <a:xfrm>
            <a:off x="3379536" y="7453964"/>
            <a:ext cx="812800" cy="812800"/>
          </a:xfrm>
          <a:prstGeom prst="rect">
            <a:avLst/>
          </a:prstGeom>
        </p:spPr>
      </p:pic>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154205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485"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4"/>
                </p:tgtEl>
              </p:cMediaNode>
            </p:audio>
          </p:childTnLst>
        </p:cTn>
      </p:par>
    </p:tnLst>
  </p:timing>
</p:sld>
</file>

<file path=ppt/slides/slide15.xml><?xml version="1.0" encoding="utf-8"?>
<p:sld xmlns:a="http://schemas.openxmlformats.org/drawingml/2006/main" xmlns:a16="http://schemas.microsoft.com/office/drawing/2014/main" xmlns:ns3="http://schemas.microsoft.com/office/drawing/2017/decorative" xmlns:ns4="http://schemas.microsoft.com/office/powerpoint/2015/main" xmlns:ns5="http://schemas.microsoft.com/office/powerpoint/2010/main" xmlns:p="http://schemas.openxmlformats.org/presentationml/2006/main">
  <p:cSld>
    <p:bg>
      <p:bgPr>
        <a:solidFill>
          <a:schemeClr val="tx1"/>
        </a:solidFill>
        <a:effectLst/>
      </p:bgPr>
    </p:bg>
    <p:spTree>
      <p:nvGrpSpPr>
        <p:cNvPr id="1" name="">
          <a:extLst>
            <a:ext uri="{FF2B5EF4-FFF2-40B4-BE49-F238E27FC236}">
              <a16:creationId id="{98DABE02-FEC0-2F1C-7988-24EADFD765AB}"/>
            </a:ext>
          </a:extLst>
        </p:cNvPr>
        <p:cNvGrpSpPr/>
        <p:nvPr/>
      </p:nvGrpSpPr>
      <p:grpSpPr>
        <a:xfrm>
          <a:off x="0" y="0"/>
          <a:ext cx="0" cy="0"/>
          <a:chOff x="0" y="0"/>
          <a:chExt cx="0" cy="0"/>
        </a:xfrm>
      </p:grpSpPr>
      <p:sp>
        <p:nvSpPr>
          <p:cNvPr id="9" name="Rectangle 8">
            <a:extLst>
              <a:ext uri="{FF2B5EF4-FFF2-40B4-BE49-F238E27FC236}">
                <a16:creationId id="{BD731982-FC66-60FC-160D-1276BA6354E5}"/>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id="{A9BBF2ED-75A8-CF2B-116D-772D13AE96EB}"/>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id="{40212831-CBF6-4E57-77FE-DD87FF067B1B}"/>
              </a:ext>
            </a:extLst>
          </p:cNvPr>
          <p:cNvSpPr>
            <a:spLocks noGrp="1"/>
          </p:cNvSpPr>
          <p:nvPr>
            <p:ph type="ctrTitle"/>
          </p:nvPr>
        </p:nvSpPr>
        <p:spPr>
          <a:xfrm>
            <a:off x="1524000" y="1122362"/>
            <a:ext cx="9144000" cy="2840037"/>
          </a:xfrm>
        </p:spPr>
        <p:txBody>
          <a:bodyPr>
            <a:normAutofit/>
          </a:bodyPr>
          <a:lstStyle/>
          <a:p>
            <a:r>
              <a:rPr lang="en-US" sz="5800" dirty="0"/>
              <a:t>Queue</a:t>
            </a:r>
            <a:br>
              <a:rPr lang="en-US" sz="5800" dirty="0"/>
            </a:br>
            <a:endParaRPr lang="en-US" sz="5800" dirty="0"/>
          </a:p>
        </p:txBody>
      </p:sp>
      <p:sp>
        <p:nvSpPr>
          <p:cNvPr id="3" name="Subtitle 2">
            <a:extLst>
              <a:ext uri="{FF2B5EF4-FFF2-40B4-BE49-F238E27FC236}">
                <a16:creationId id="{C3870AC6-70BC-82C8-1E9B-7DE0338EA5D5}"/>
              </a:ext>
            </a:extLst>
          </p:cNvPr>
          <p:cNvSpPr>
            <a:spLocks noGrp="1"/>
          </p:cNvSpPr>
          <p:nvPr>
            <p:ph type="subTitle" idx="1"/>
          </p:nvPr>
        </p:nvSpPr>
        <p:spPr>
          <a:xfrm>
            <a:off x="1524000" y="4256436"/>
            <a:ext cx="9144000" cy="1600818"/>
          </a:xfrm>
        </p:spPr>
        <p:txBody>
          <a:bodyPr>
            <a:normAutofit/>
          </a:bodyPr>
          <a:lstStyle/>
          <a:p>
            <a:r>
              <a:rPr lang="en-US" dirty="0"/>
              <a:t>x</a:t>
            </a:r>
          </a:p>
        </p:txBody>
      </p:sp>
      <p:cxnSp>
        <p:nvCxnSpPr>
          <p:cNvPr id="13" name="Straight Connector 12">
            <a:extLst>
              <a:ext uri="{FF2B5EF4-FFF2-40B4-BE49-F238E27FC236}">
                <a16:creationId id="{CBCD6E9C-4871-0110-73B4-D22E7F58AC6C}"/>
              </a:ext>
              <a:ext uri="{C183D7F6-B498-43B3-948B-1728B52AA6E4}">
                <ns3:decorative val="1"/>
              </a:ext>
            </a:extLst>
          </p:cNvPr>
          <p:cNvCxnSpPr>
            <a:cxnSpLocks noGrp="1" noRot="1" noChangeAspect="1" noMove="1" noResize="1" noEditPoints="1" noAdjustHandles="1" noChangeArrowheads="1" noChangeShapeType="1"/>
          </p:cNvCxnSpPr>
          <p:nvPr>
            <p:extLst>
              <p:ext uri="{386F3935-93C4-4BCD-93E2-E3B085C9AB24}">
                <ns4:designElem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id="{5A99E6CE-07A3-B231-3F78-D9BC59EF8852}"/>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5:creationId val="4156127991"/>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B4E97244-526B-D579-3264-791A5D9EC1C9}"/>
            </a:ext>
          </a:extLst>
        </p:cNvPr>
        <p:cNvGrpSpPr/>
        <p:nvPr/>
      </p:nvGrpSpPr>
      <p:grpSpPr>
        <a:xfrm>
          <a:off x="0" y="0"/>
          <a:ext cx="0" cy="0"/>
          <a:chOff x="0" y="0"/>
          <a:chExt cx="0" cy="0"/>
        </a:xfrm>
      </p:grpSpPr>
      <p:sp>
        <p:nvSpPr>
          <p:cNvPr id="2" name="TextBox 1">
            <a:extLst>
              <a:ext uri="{FF2B5EF4-FFF2-40B4-BE49-F238E27FC236}">
                <a16:creationId id="{3E3321C3-8FFD-6191-310D-A33C5C540DA8}"/>
              </a:ext>
            </a:extLst>
          </p:cNvPr>
          <p:cNvSpPr txBox="1"/>
          <p:nvPr/>
        </p:nvSpPr>
        <p:spPr>
          <a:xfrm>
            <a:off x="0" y="91440"/>
            <a:ext cx="12191999" cy="5550237"/>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88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Dr. Sabine </a:t>
            </a:r>
            <a:r>
              <a:rPr lang="en-US" sz="8800" b="1" dirty="0" err="1">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Hossenfelder</a:t>
            </a:r>
            <a:endParaRPr lang="en-US" sz="88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algn="ctr">
              <a:defRPr/>
            </a:pPr>
            <a:r>
              <a:rPr lang="en-US" sz="88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Why Physics is Dying</a:t>
            </a:r>
            <a:endPar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4" name="TextBox 3">
            <a:extLst>
              <a:ext uri="{FF2B5EF4-FFF2-40B4-BE49-F238E27FC236}">
                <a16:creationId id="{6D6D88E4-3EDA-D4DA-2E0A-9AA83030F9E2}"/>
              </a:ext>
            </a:extLst>
          </p:cNvPr>
          <p:cNvSpPr txBox="1"/>
          <p:nvPr/>
        </p:nvSpPr>
        <p:spPr>
          <a:xfrm>
            <a:off x="13369638" y="-2711143"/>
            <a:ext cx="10903526" cy="12280285"/>
          </a:xfrm>
          <a:prstGeom prst="rect">
            <a:avLst/>
          </a:prstGeom>
          <a:noFill/>
        </p:spPr>
        <p:txBody>
          <a:bodyPr wrap="square">
            <a:spAutoFit/>
          </a:bodyPr>
          <a:lstStyle/>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**Sisyphus**: More than a symbol of futility, Sisyphus represents existential heroism. Albert Camus interpreted this myth as a profound statement of human dignity - finding meaning not in the achievement, but in the struggle itself. Each time Sisyphus pushes the boulder up the mountain, only to watch it roll down, he embodies human resilience. The value is not in completing the task, but in the conscious, defiant act of continuing. He becomes a hero not through success, but through persistent awareness and acceptance of his condition.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 **Narcissus**: Beyond mere self-absorption, Narcissus embodies the psychological journey of confronting one's illusions. In the Greek myth, he becomes so entranced by his own reflection that he cannot move, symbolizing the paralysis of ego and self-deception. His transformation occurs through a painful recognition - a moment of seeing oneself so clearly that the previous self-image shatters. The myth suggests that true self-awareness requires breaking through the mirror of self-delusion, often at the cost of previous comfortable narratives.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**Crisis**: A moment of intense difficulty that demands change or decisive action. More than just a problem, a crisis represents a critical juncture where existing structures, beliefs, or ways of functioning become unsustainable. It forces an individual or system to confront fundamental weaknesses, requiring radical adaptation. Like a pressure point in a system, a crisis reveals vulnerabilities while simultaneously offering an opportunity for profound transformation. The Chinese character for crisis (</a:t>
            </a:r>
            <a:r>
              <a:rPr lang="en-US" dirty="0" err="1">
                <a:solidFill>
                  <a:schemeClr val="bg1"/>
                </a:solidFill>
              </a:rPr>
              <a:t>危机</a:t>
            </a:r>
            <a:r>
              <a:rPr lang="en-US" dirty="0">
                <a:solidFill>
                  <a:schemeClr val="bg1"/>
                </a:solidFill>
              </a:rPr>
              <a:t>) beautifully captures this duality - combining the symbols for "danger" and "opportunity".</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**Chrysalis**: A remarkable metaphor of absolute transformation. During metamorphosis, the caterpillar doesn't simply change - it completely liquefies inside its cocoon, breaking down to its most fundamental cellular components before reconstructing itself as a butterfly. This isn't gradual modification, but total dissolution and reconstruction. It represents the most radical form of personal change: surrendering entirely to the process of transformation, trusting in an inherent blueprint of potential.</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 **Metamorphosis**: Beyond physical change, metamorphosis represents fundamental, often irreversible transformation. Unlike simple growth or adaptation, metamorphosis involves a complete restructuring of identity, capabilities, and essence. In nature, it's seen in organisms like butterflies or frogs that undergo dramatic, non-linear changes. Psychologically, it represents profound shifts in consciousness, where one's entire perception of self and reality is fundamentally reorganized.</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 **Phoenix**: The archetypal symbol of regenerative power. Rising from its own ashes, the Phoenix doesn't merely survive destruction - it is reborn through it. This myth suggests that true renewal requires complete surrender, allowing everything to burn away so that something more essential and powerful can emerge. It's not about restoration to a previous state, but about transcendence - becoming something fundamentally new through the very process of destruction.</a:t>
            </a:r>
          </a:p>
          <a:p>
            <a:pPr marL="285750" indent="-285750">
              <a:buFont typeface="Arial" panose="020B0604020202020204" pitchFamily="34" charset="0"/>
              <a:buChar char="•"/>
            </a:pPr>
            <a:endParaRPr lang="en-US" dirty="0">
              <a:solidFill>
                <a:schemeClr val="bg1"/>
              </a:solidFill>
            </a:endParaRPr>
          </a:p>
          <a:p>
            <a:endParaRPr lang="en-US" dirty="0">
              <a:solidFill>
                <a:schemeClr val="bg1"/>
              </a:solidFill>
            </a:endParaRPr>
          </a:p>
          <a:p>
            <a:r>
              <a:rPr lang="en-US" dirty="0">
                <a:solidFill>
                  <a:schemeClr val="bg1"/>
                </a:solidFill>
              </a:rPr>
              <a:t>These concepts are interconnected threads in a larger narrative of human potential - they speak to our capacity for radical transformation, resilience, and the profound potential for renewal that exists within apparent destruction.</a:t>
            </a:r>
          </a:p>
          <a:p>
            <a:endParaRPr lang="en-US" dirty="0">
              <a:solidFill>
                <a:schemeClr val="bg1"/>
              </a:solidFill>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400325508"/>
      </p:ext>
    </p:extLst>
  </p:cSld>
  <p:clrMapOvr>
    <a:masterClrMapping/>
  </p:clrMapOvr>
</p:sld>
</file>

<file path=ppt/slides/slide1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3CA06703-8282-FBA4-B131-78D3E40119E3}"/>
            </a:ext>
          </a:extLst>
        </p:cNvPr>
        <p:cNvGrpSpPr/>
        <p:nvPr/>
      </p:nvGrpSpPr>
      <p:grpSpPr>
        <a:xfrm>
          <a:off x="0" y="0"/>
          <a:ext cx="0" cy="0"/>
          <a:chOff x="0" y="0"/>
          <a:chExt cx="0" cy="0"/>
        </a:xfrm>
      </p:grpSpPr>
      <p:sp>
        <p:nvSpPr>
          <p:cNvPr id="2" name="TextBox 1">
            <a:extLst>
              <a:ext uri="{FF2B5EF4-FFF2-40B4-BE49-F238E27FC236}">
                <a16:creationId id="{D6FE6A9C-5863-591F-3901-98E63EEE2FD9}"/>
              </a:ext>
            </a:extLst>
          </p:cNvPr>
          <p:cNvSpPr txBox="1"/>
          <p:nvPr/>
        </p:nvSpPr>
        <p:spPr>
          <a:xfrm>
            <a:off x="0" y="91440"/>
            <a:ext cx="12191999" cy="6042680"/>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88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Dr. Sabine </a:t>
            </a:r>
            <a:r>
              <a:rPr lang="en-US" sz="8800" b="1" dirty="0" err="1">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Hossenfelder</a:t>
            </a:r>
            <a:endParaRPr lang="en-US" sz="88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algn="ctr">
              <a:defRPr/>
            </a:pPr>
            <a:r>
              <a:rPr lang="en-US" sz="60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Sisyphus, Narcissus, Crisis, </a:t>
            </a:r>
            <a:br>
              <a:rPr lang="en-US" sz="6000" b="1" dirty="0">
                <a:solidFill>
                  <a:srgbClr val="FFC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r>
              <a:rPr lang="en-US" sz="6000" b="1" dirty="0">
                <a:solidFill>
                  <a:srgbClr val="FFC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Chrysalis, Metamorphosis, Phoenix </a:t>
            </a:r>
            <a:endParaRPr kumimoji="0" lang="en-US" sz="6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4" name="TextBox 3">
            <a:extLst>
              <a:ext uri="{FF2B5EF4-FFF2-40B4-BE49-F238E27FC236}">
                <a16:creationId id="{92F36F80-43EE-02DA-E127-D996EF1B6D71}"/>
              </a:ext>
            </a:extLst>
          </p:cNvPr>
          <p:cNvSpPr txBox="1"/>
          <p:nvPr/>
        </p:nvSpPr>
        <p:spPr>
          <a:xfrm>
            <a:off x="13369638" y="-2711143"/>
            <a:ext cx="10903526" cy="12280285"/>
          </a:xfrm>
          <a:prstGeom prst="rect">
            <a:avLst/>
          </a:prstGeom>
          <a:noFill/>
        </p:spPr>
        <p:txBody>
          <a:bodyPr wrap="square">
            <a:spAutoFit/>
          </a:bodyPr>
          <a:lstStyle/>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**Sisyphus**: More than a symbol of futility, Sisyphus represents existential heroism. Albert Camus interpreted this myth as a profound statement of human dignity - finding meaning not in the achievement, but in the struggle itself. Each time Sisyphus pushes the boulder up the mountain, only to watch it roll down, he embodies human resilience. The value is not in completing the task, but in the conscious, defiant act of continuing. He becomes a hero not through success, but through persistent awareness and acceptance of his condition.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 **Narcissus**: Beyond mere self-absorption, Narcissus embodies the psychological journey of confronting one's illusions. In the Greek myth, he becomes so entranced by his own reflection that he cannot move, symbolizing the paralysis of ego and self-deception. His transformation occurs through a painful recognition - a moment of seeing oneself so clearly that the previous self-image shatters. The myth suggests that true self-awareness requires breaking through the mirror of self-delusion, often at the cost of previous comfortable narratives.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**Crisis**: A moment of intense difficulty that demands change or decisive action. More than just a problem, a crisis represents a critical juncture where existing structures, beliefs, or ways of functioning become unsustainable. It forces an individual or system to confront fundamental weaknesses, requiring radical adaptation. Like a pressure point in a system, a crisis reveals vulnerabilities while simultaneously offering an opportunity for profound transformation. The Chinese character for crisis (</a:t>
            </a:r>
            <a:r>
              <a:rPr lang="en-US" dirty="0" err="1">
                <a:solidFill>
                  <a:schemeClr val="bg1"/>
                </a:solidFill>
              </a:rPr>
              <a:t>危机</a:t>
            </a:r>
            <a:r>
              <a:rPr lang="en-US" dirty="0">
                <a:solidFill>
                  <a:schemeClr val="bg1"/>
                </a:solidFill>
              </a:rPr>
              <a:t>) beautifully captures this duality - combining the symbols for "danger" and "opportunity".</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**Chrysalis**: A remarkable metaphor of absolute transformation. During metamorphosis, the caterpillar doesn't simply change - it completely liquefies inside its cocoon, breaking down to its most fundamental cellular components before reconstructing itself as a butterfly. This isn't gradual modification, but total dissolution and reconstruction. It represents the most radical form of personal change: surrendering entirely to the process of transformation, trusting in an inherent blueprint of potential.</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 **Metamorphosis**: Beyond physical change, metamorphosis represents fundamental, often irreversible transformation. Unlike simple growth or adaptation, metamorphosis involves a complete restructuring of identity, capabilities, and essence. In nature, it's seen in organisms like butterflies or frogs that undergo dramatic, non-linear changes. Psychologically, it represents profound shifts in consciousness, where one's entire perception of self and reality is fundamentally reorganized.</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 **Phoenix**: The archetypal symbol of regenerative power. Rising from its own ashes, the Phoenix doesn't merely survive destruction - it is reborn through it. This myth suggests that true renewal requires complete surrender, allowing everything to burn away so that something more essential and powerful can emerge. It's not about restoration to a previous state, but about transcendence - becoming something fundamentally new through the very process of destruction.</a:t>
            </a:r>
          </a:p>
          <a:p>
            <a:pPr marL="285750" indent="-285750">
              <a:buFont typeface="Arial" panose="020B0604020202020204" pitchFamily="34" charset="0"/>
              <a:buChar char="•"/>
            </a:pPr>
            <a:endParaRPr lang="en-US" dirty="0">
              <a:solidFill>
                <a:schemeClr val="bg1"/>
              </a:solidFill>
            </a:endParaRPr>
          </a:p>
          <a:p>
            <a:endParaRPr lang="en-US" dirty="0">
              <a:solidFill>
                <a:schemeClr val="bg1"/>
              </a:solidFill>
            </a:endParaRPr>
          </a:p>
          <a:p>
            <a:r>
              <a:rPr lang="en-US" dirty="0">
                <a:solidFill>
                  <a:schemeClr val="bg1"/>
                </a:solidFill>
              </a:rPr>
              <a:t>These concepts are interconnected threads in a larger narrative of human potential - they speak to our capacity for radical transformation, resilience, and the profound potential for renewal that exists within apparent destruction.</a:t>
            </a:r>
          </a:p>
          <a:p>
            <a:endParaRPr lang="en-US" dirty="0">
              <a:solidFill>
                <a:schemeClr val="bg1"/>
              </a:solidFill>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828785009"/>
      </p:ext>
    </p:extLst>
  </p:cSld>
  <p:clrMapOvr>
    <a:masterClrMapping/>
  </p:clrMapOvr>
</p:sld>
</file>

<file path=ppt/slides/slide1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BE1882C9-77CE-BA45-5FB6-7F6B1C00FBDB}"/>
            </a:ext>
          </a:extLst>
        </p:cNvPr>
        <p:cNvGrpSpPr/>
        <p:nvPr/>
      </p:nvGrpSpPr>
      <p:grpSpPr>
        <a:xfrm>
          <a:off x="0" y="0"/>
          <a:ext cx="0" cy="0"/>
          <a:chOff x="0" y="0"/>
          <a:chExt cx="0" cy="0"/>
        </a:xfrm>
      </p:grpSpPr>
      <p:sp>
        <p:nvSpPr>
          <p:cNvPr id="2" name="TextBox 1">
            <a:extLst>
              <a:ext uri="{FF2B5EF4-FFF2-40B4-BE49-F238E27FC236}">
                <a16:creationId id="{3F9FD831-7748-830F-C71E-E247DF4D6136}"/>
              </a:ext>
            </a:extLst>
          </p:cNvPr>
          <p:cNvSpPr txBox="1"/>
          <p:nvPr/>
        </p:nvSpPr>
        <p:spPr>
          <a:xfrm>
            <a:off x="0" y="91440"/>
            <a:ext cx="12191999" cy="6673302"/>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Dr. Claudia de </a:t>
            </a:r>
            <a:r>
              <a:rPr lang="en-US" sz="9600" b="1" dirty="0" err="1">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Rham</a:t>
            </a:r>
            <a:endPar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at Perimeter 2024</a:t>
            </a:r>
          </a:p>
          <a:p>
            <a:pPr marL="0" marR="0" lvl="0" indent="0" algn="ctr" defTabSz="914400" rtl="0" eaLnBrk="1" fontAlgn="auto" latinLnBrk="0" hangingPunct="1">
              <a:lnSpc>
                <a:spcPts val="10000"/>
              </a:lnSpc>
              <a:spcBef>
                <a:spcPts val="0"/>
              </a:spcBef>
              <a:spcAft>
                <a:spcPts val="0"/>
              </a:spcAft>
              <a:buClrTx/>
              <a:buSzTx/>
              <a:buFontTx/>
              <a:buNone/>
              <a:tabLst/>
              <a:defRPr/>
            </a:pP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509306095"/>
      </p:ext>
    </p:extLst>
  </p:cSld>
  <p:clrMapOvr>
    <a:masterClrMapping/>
  </p:clrMapOvr>
</p:sld>
</file>

<file path=ppt/slides/slide1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D7FFE285-9A08-F2F9-EF12-7400E3796776}"/>
            </a:ext>
          </a:extLst>
        </p:cNvPr>
        <p:cNvGrpSpPr/>
        <p:nvPr/>
      </p:nvGrpSpPr>
      <p:grpSpPr>
        <a:xfrm>
          <a:off x="0" y="0"/>
          <a:ext cx="0" cy="0"/>
          <a:chOff x="0" y="0"/>
          <a:chExt cx="0" cy="0"/>
        </a:xfrm>
      </p:grpSpPr>
      <p:sp>
        <p:nvSpPr>
          <p:cNvPr id="2" name="TextBox 1">
            <a:extLst>
              <a:ext uri="{FF2B5EF4-FFF2-40B4-BE49-F238E27FC236}">
                <a16:creationId id="{AF5FD3ED-5619-E4E8-F86D-E93273D443B3}"/>
              </a:ext>
            </a:extLst>
          </p:cNvPr>
          <p:cNvSpPr txBox="1"/>
          <p:nvPr/>
        </p:nvSpPr>
        <p:spPr>
          <a:xfrm>
            <a:off x="0" y="91440"/>
            <a:ext cx="12191999" cy="547842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algn="ctr">
              <a:lnSpc>
                <a:spcPts val="10000"/>
              </a:lnSpc>
              <a:defRPr/>
            </a:pPr>
            <a:r>
              <a:rPr lang="en-US" sz="11500" b="1" dirty="0">
                <a:solidFill>
                  <a:prstClr val="white"/>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New Physics</a:t>
            </a:r>
            <a:endPar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The Binary</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Game of Life</a:t>
            </a:r>
            <a:endParaRPr kumimoji="0" lang="en-US" sz="115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4250219711"/>
      </p:ext>
    </p:extLst>
  </p:cSld>
  <p:clrMapOvr>
    <a:masterClrMapping/>
  </p:clrMapOvr>
</p:sld>
</file>

<file path=ppt/slides/slide2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97562E83-9294-BF8B-CF72-BC3C97B88B22}"/>
            </a:ext>
          </a:extLst>
        </p:cNvPr>
        <p:cNvGrpSpPr/>
        <p:nvPr/>
      </p:nvGrpSpPr>
      <p:grpSpPr>
        <a:xfrm>
          <a:off x="0" y="0"/>
          <a:ext cx="0" cy="0"/>
          <a:chOff x="0" y="0"/>
          <a:chExt cx="0" cy="0"/>
        </a:xfrm>
      </p:grpSpPr>
      <p:sp>
        <p:nvSpPr>
          <p:cNvPr id="2" name="TextBox 1">
            <a:extLst>
              <a:ext uri="{FF2B5EF4-FFF2-40B4-BE49-F238E27FC236}">
                <a16:creationId id="{F5CF185C-9A2C-34BB-0E6E-62D58065332C}"/>
              </a:ext>
            </a:extLst>
          </p:cNvPr>
          <p:cNvSpPr txBox="1"/>
          <p:nvPr/>
        </p:nvSpPr>
        <p:spPr>
          <a:xfrm>
            <a:off x="0" y="91440"/>
            <a:ext cx="12191999" cy="6673302"/>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11500" b="1" dirty="0">
                <a:solidFill>
                  <a:srgbClr val="FF0000"/>
                </a:solidFill>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name</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115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video title</a:t>
            </a:r>
          </a:p>
          <a:p>
            <a:pPr marL="0" marR="0" lvl="0" indent="0" algn="ctr" defTabSz="914400" rtl="0" eaLnBrk="1" fontAlgn="auto" latinLnBrk="0" hangingPunct="1">
              <a:lnSpc>
                <a:spcPts val="10000"/>
              </a:lnSpc>
              <a:spcBef>
                <a:spcPts val="0"/>
              </a:spcBef>
              <a:spcAft>
                <a:spcPts val="0"/>
              </a:spcAft>
              <a:buClrTx/>
              <a:buSzTx/>
              <a:buFontTx/>
              <a:buNone/>
              <a:tabLst/>
              <a:defRPr/>
            </a:pP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943155439"/>
      </p:ext>
    </p:extLst>
  </p:cSld>
  <p:clrMapOvr>
    <a:masterClrMapping/>
  </p:clrMapOvr>
</p:sld>
</file>

<file path=ppt/slides/slide2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91440"/>
            <a:ext cx="12191999" cy="5606663"/>
          </a:xfrm>
          <a:prstGeom prst="rect">
            <a:avLst/>
          </a:prstGeom>
          <a:noFill/>
        </p:spPr>
        <p:txBody>
          <a:bodyPr wrap="square" rtlCol="0">
            <a:spAutoFit/>
          </a:bodyPr>
          <a:lstStyle/>
          <a:p>
            <a:pPr algn="ctr">
              <a:lnSpc>
                <a:spcPts val="11000"/>
              </a:lnSpc>
              <a:defRPr/>
            </a:pPr>
            <a:r>
              <a:rPr kumimoji="0" lang="en-US" sz="9600" u="none" strike="noStrike" kern="1200" cap="none" spc="0" normalizeH="0" baseline="0" noProof="0" dirty="0">
                <a:ln>
                  <a:noFill/>
                </a:ln>
                <a:solidFill>
                  <a:prstClr val="white"/>
                </a:solidFill>
                <a:effectLst/>
                <a:uLnTx/>
                <a:uFillTx/>
                <a:latin typeface="Helvetica Neue Thin" panose="020B0403020202020204" pitchFamily="34" charset="0"/>
                <a:ea typeface="Helvetica Neue Thin" panose="020B0403020202020204" pitchFamily="34" charset="0"/>
                <a:cs typeface="Helvetica Neue" panose="02000503000000020004" pitchFamily="2" charset="0"/>
              </a:rPr>
              <a:t/>
            </a:r>
          </a:p>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Crisis in Physics</a:t>
            </a:r>
            <a:br>
              <a:rPr kumimoji="0" lang="en-US" sz="9600" b="1" i="0" u="none" strike="noStrike" kern="1200" cap="none" spc="0" normalizeH="0" baseline="0" noProof="0" dirty="0">
                <a:ln>
                  <a:noFill/>
                </a:ln>
                <a:solidFill>
                  <a:prstClr val="white"/>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r>
              <a:rPr kumimoji="0" lang="en-US" sz="9600" b="1" i="0" u="none" strike="noStrike" kern="1200" cap="none" spc="0" normalizeH="0" baseline="0" noProof="0" dirty="0">
                <a:ln>
                  <a:noFill/>
                </a:ln>
                <a:solidFill>
                  <a:srgbClr val="FF0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Physicist, Heal Thyself</a:t>
            </a:r>
          </a:p>
          <a:p>
            <a:pPr marL="0" marR="0" lvl="0" indent="0" algn="ctr" defTabSz="914400" rtl="0" eaLnBrk="1" fontAlgn="auto" latinLnBrk="0" hangingPunct="1">
              <a:lnSpc>
                <a:spcPts val="10000"/>
              </a:lnSpc>
              <a:spcBef>
                <a:spcPts val="0"/>
              </a:spcBef>
              <a:spcAft>
                <a:spcPts val="0"/>
              </a:spcAft>
              <a:buClrTx/>
              <a:buSzTx/>
              <a:buFontTx/>
              <a:buNone/>
              <a:tabLst/>
              <a:defRPr/>
            </a:pPr>
            <a:r>
              <a:rPr lang="en-US" sz="9600" b="1" i="0" kern="1200" spc="0" baseline="0" dirty="0">
                <a:ln>
                  <a:noFill/>
                </a:ln>
                <a:solidFill>
                  <a:srgbClr val="FFC000"/>
                </a:solidFill>
                <a:effectLst/>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Take the L</a:t>
            </a:r>
            <a:endPar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99668180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555</TotalTime>
  <Words>4341</Words>
  <Application>Microsoft Macintosh PowerPoint</Application>
  <PresentationFormat>Widescreen</PresentationFormat>
  <Paragraphs>374</Paragraphs>
  <Slides>21</Slides>
  <Notes>21</Notes>
  <HiddenSlides>0</HiddenSlides>
  <MMClips>2</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21</vt:i4>
      </vt:variant>
    </vt:vector>
  </HeadingPairs>
  <TitlesOfParts>
    <vt:vector size="30" baseType="lpstr">
      <vt:lpstr>Aptos</vt:lpstr>
      <vt:lpstr>Arial</vt:lpstr>
      <vt:lpstr>Calibri</vt:lpstr>
      <vt:lpstr>Calibri Light</vt:lpstr>
      <vt:lpstr>Helvetica Neue</vt:lpstr>
      <vt:lpstr>Helvetica Neue Condensed Black</vt:lpstr>
      <vt:lpstr>Helvetica Neue Thin</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Queue </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48</cp:revision>
  <dcterms:created xsi:type="dcterms:W3CDTF">2024-02-19T20:51:27Z</dcterms:created>
  <dcterms:modified xsi:type="dcterms:W3CDTF">2026-07-03T17:18:44Z</dcterms:modified>
</cp:coreProperties>
</file>