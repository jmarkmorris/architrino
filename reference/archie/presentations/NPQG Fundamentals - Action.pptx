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884" r:id="rId2"/>
    <p:sldId id="808" r:id="rId3"/>
    <p:sldId id="842" r:id="rId4"/>
    <p:sldId id="819" r:id="rId5"/>
    <p:sldId id="844" r:id="rId6"/>
    <p:sldId id="757" r:id="rId7"/>
    <p:sldId id="820" r:id="rId8"/>
    <p:sldId id="821" r:id="rId9"/>
    <p:sldId id="809" r:id="rId10"/>
    <p:sldId id="839" r:id="rId11"/>
    <p:sldId id="840" r:id="rId12"/>
    <p:sldId id="817" r:id="rId13"/>
    <p:sldId id="816" r:id="rId14"/>
    <p:sldId id="815" r:id="rId15"/>
    <p:sldId id="843"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85FF"/>
    <a:srgbClr val="FF8AD8"/>
    <a:srgbClr val="FF7E7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AF606853-7671-496A-8E4F-DF71F8EC918B}" styleName="Dark Style 1 - Accent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horzBarState="maximized">
    <p:restoredLeft sz="5266"/>
    <p:restoredTop sz="97363"/>
  </p:normalViewPr>
  <p:slideViewPr>
    <p:cSldViewPr snapToGrid="0" snapToObjects="1">
      <p:cViewPr varScale="1">
        <p:scale>
          <a:sx n="127" d="100"/>
          <a:sy n="127" d="100"/>
        </p:scale>
        <p:origin x="1192" y="19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E66B9D9-E5B3-094E-A57C-CEB795FF4B80}" type="doc">
      <dgm:prSet loTypeId="urn:microsoft.com/office/officeart/2005/8/layout/hierarchy2" loCatId="" qsTypeId="urn:microsoft.com/office/officeart/2005/8/quickstyle/simple1" qsCatId="simple" csTypeId="urn:microsoft.com/office/officeart/2005/8/colors/accent1_2" csCatId="accent1" phldr="1"/>
      <dgm:spPr/>
      <dgm:t>
        <a:bodyPr/>
        <a:lstStyle/>
        <a:p>
          <a:endParaRPr lang="en-US"/>
        </a:p>
      </dgm:t>
    </dgm:pt>
    <dgm:pt modelId="{D2AC8428-D1A8-4A4F-ADFE-9D9346205280}">
      <dgm:prSet phldrT="[Text]"/>
      <dgm:spPr>
        <a:ln w="38100">
          <a:solidFill>
            <a:schemeClr val="bg1"/>
          </a:solidFill>
        </a:ln>
      </dgm:spPr>
      <dgm:t>
        <a:bodyPr/>
        <a:lstStyle/>
        <a:p>
          <a:r>
            <a:rPr lang="en-US" b="1" i="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Related topics:</a:t>
          </a:r>
          <a:endParaRPr lang="en-US" b="1" dirty="0"/>
        </a:p>
      </dgm:t>
    </dgm:pt>
    <dgm:pt modelId="{FB2F176B-6F2E-D04C-BFFE-629AC84ED696}" type="parTrans" cxnId="{E7EAD77D-21AD-FC46-8B4B-D1882DAE9A2A}">
      <dgm:prSet/>
      <dgm:spPr/>
      <dgm:t>
        <a:bodyPr/>
        <a:lstStyle/>
        <a:p>
          <a:endParaRPr lang="en-US" b="1"/>
        </a:p>
      </dgm:t>
    </dgm:pt>
    <dgm:pt modelId="{F76A0B5B-04AC-ED45-9467-4E0DE52B83A8}" type="sibTrans" cxnId="{E7EAD77D-21AD-FC46-8B4B-D1882DAE9A2A}">
      <dgm:prSet/>
      <dgm:spPr/>
      <dgm:t>
        <a:bodyPr/>
        <a:lstStyle/>
        <a:p>
          <a:endParaRPr lang="en-US" b="1"/>
        </a:p>
      </dgm:t>
    </dgm:pt>
    <dgm:pt modelId="{2B488192-A2A5-0E4D-A664-F8084B259E1F}">
      <dgm:prSet/>
      <dgm:spPr>
        <a:ln w="38100">
          <a:solidFill>
            <a:schemeClr val="bg1"/>
          </a:solidFill>
        </a:ln>
      </dgm:spPr>
      <dgm:t>
        <a:bodyPr/>
        <a:lstStyle/>
        <a:p>
          <a:r>
            <a:rPr lang="en-US" b="1" i="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Topology</a:t>
          </a:r>
        </a:p>
      </dgm:t>
    </dgm:pt>
    <dgm:pt modelId="{C91CA114-5E06-5A41-BADB-02B8992C1855}" type="parTrans" cxnId="{D8E92368-F0AC-674C-A2E4-DA81E0A2B540}">
      <dgm:prSet/>
      <dgm:spPr>
        <a:ln w="38100">
          <a:solidFill>
            <a:schemeClr val="bg1"/>
          </a:solidFill>
        </a:ln>
      </dgm:spPr>
      <dgm:t>
        <a:bodyPr/>
        <a:lstStyle/>
        <a:p>
          <a:endParaRPr lang="en-US" b="1"/>
        </a:p>
      </dgm:t>
    </dgm:pt>
    <dgm:pt modelId="{246E69AA-11ED-804E-BB1A-1CAFDC3B7387}" type="sibTrans" cxnId="{D8E92368-F0AC-674C-A2E4-DA81E0A2B540}">
      <dgm:prSet/>
      <dgm:spPr/>
      <dgm:t>
        <a:bodyPr/>
        <a:lstStyle/>
        <a:p>
          <a:endParaRPr lang="en-US" b="1"/>
        </a:p>
      </dgm:t>
    </dgm:pt>
    <dgm:pt modelId="{69C854A7-3B04-FE4C-9F19-F21D74AFCB9A}">
      <dgm:prSet phldrT="[Text]"/>
      <dgm:spPr>
        <a:ln w="38100">
          <a:solidFill>
            <a:schemeClr val="bg1"/>
          </a:solidFill>
        </a:ln>
      </dgm:spPr>
      <dgm:t>
        <a:bodyPr/>
        <a:lstStyle/>
        <a:p>
          <a:r>
            <a:rPr lang="en-US" b="1" i="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Symmetry</a:t>
          </a:r>
          <a:endParaRPr lang="en-US" b="1" dirty="0"/>
        </a:p>
      </dgm:t>
    </dgm:pt>
    <dgm:pt modelId="{5EE731BE-57E8-9D44-986D-6CD93E09B48A}" type="parTrans" cxnId="{6C23AF37-78EB-754B-AF87-145F803E2AA3}">
      <dgm:prSet/>
      <dgm:spPr>
        <a:ln w="38100">
          <a:solidFill>
            <a:schemeClr val="bg1"/>
          </a:solidFill>
        </a:ln>
      </dgm:spPr>
      <dgm:t>
        <a:bodyPr/>
        <a:lstStyle/>
        <a:p>
          <a:endParaRPr lang="en-US" b="1"/>
        </a:p>
      </dgm:t>
    </dgm:pt>
    <dgm:pt modelId="{022AF013-031B-A747-A268-752CAC1D7062}" type="sibTrans" cxnId="{6C23AF37-78EB-754B-AF87-145F803E2AA3}">
      <dgm:prSet/>
      <dgm:spPr/>
      <dgm:t>
        <a:bodyPr/>
        <a:lstStyle/>
        <a:p>
          <a:endParaRPr lang="en-US" b="1"/>
        </a:p>
      </dgm:t>
    </dgm:pt>
    <dgm:pt modelId="{96A0A9FA-4B95-3747-8C2D-05798902F09A}" type="pres">
      <dgm:prSet presAssocID="{4E66B9D9-E5B3-094E-A57C-CEB795FF4B80}" presName="diagram" presStyleCnt="0">
        <dgm:presLayoutVars>
          <dgm:chPref val="1"/>
          <dgm:dir/>
          <dgm:animOne val="branch"/>
          <dgm:animLvl val="lvl"/>
          <dgm:resizeHandles val="exact"/>
        </dgm:presLayoutVars>
      </dgm:prSet>
      <dgm:spPr/>
    </dgm:pt>
    <dgm:pt modelId="{BF26BE97-E2BF-2F42-B866-8C766A2CB675}" type="pres">
      <dgm:prSet presAssocID="{D2AC8428-D1A8-4A4F-ADFE-9D9346205280}" presName="root1" presStyleCnt="0"/>
      <dgm:spPr/>
    </dgm:pt>
    <dgm:pt modelId="{D4C69637-99EF-0340-A5BC-F75614B34200}" type="pres">
      <dgm:prSet presAssocID="{D2AC8428-D1A8-4A4F-ADFE-9D9346205280}" presName="LevelOneTextNode" presStyleLbl="node0" presStyleIdx="0" presStyleCnt="1">
        <dgm:presLayoutVars>
          <dgm:chPref val="3"/>
        </dgm:presLayoutVars>
      </dgm:prSet>
      <dgm:spPr/>
    </dgm:pt>
    <dgm:pt modelId="{A2B21366-E32F-3B40-91ED-CE5EAE2B5B31}" type="pres">
      <dgm:prSet presAssocID="{D2AC8428-D1A8-4A4F-ADFE-9D9346205280}" presName="level2hierChild" presStyleCnt="0"/>
      <dgm:spPr/>
    </dgm:pt>
    <dgm:pt modelId="{E143D89C-DF37-334E-87FD-5C56598AF161}" type="pres">
      <dgm:prSet presAssocID="{5EE731BE-57E8-9D44-986D-6CD93E09B48A}" presName="conn2-1" presStyleLbl="parChTrans1D2" presStyleIdx="0" presStyleCnt="2"/>
      <dgm:spPr/>
    </dgm:pt>
    <dgm:pt modelId="{E7B37D9F-37C0-7841-942A-BFB63FD50DB8}" type="pres">
      <dgm:prSet presAssocID="{5EE731BE-57E8-9D44-986D-6CD93E09B48A}" presName="connTx" presStyleLbl="parChTrans1D2" presStyleIdx="0" presStyleCnt="2"/>
      <dgm:spPr/>
    </dgm:pt>
    <dgm:pt modelId="{4F5AEEBC-9BAC-7049-9F23-E1D9FA2DB4D1}" type="pres">
      <dgm:prSet presAssocID="{69C854A7-3B04-FE4C-9F19-F21D74AFCB9A}" presName="root2" presStyleCnt="0"/>
      <dgm:spPr/>
    </dgm:pt>
    <dgm:pt modelId="{793ACCB7-7D3A-9A4E-A883-2911EE8A7446}" type="pres">
      <dgm:prSet presAssocID="{69C854A7-3B04-FE4C-9F19-F21D74AFCB9A}" presName="LevelTwoTextNode" presStyleLbl="node2" presStyleIdx="0" presStyleCnt="2">
        <dgm:presLayoutVars>
          <dgm:chPref val="3"/>
        </dgm:presLayoutVars>
      </dgm:prSet>
      <dgm:spPr/>
    </dgm:pt>
    <dgm:pt modelId="{62FDCC79-28EC-A544-A232-F43EAE05A7BD}" type="pres">
      <dgm:prSet presAssocID="{69C854A7-3B04-FE4C-9F19-F21D74AFCB9A}" presName="level3hierChild" presStyleCnt="0"/>
      <dgm:spPr/>
    </dgm:pt>
    <dgm:pt modelId="{60759A21-CD61-0C4F-B9E6-8433C0DC91E5}" type="pres">
      <dgm:prSet presAssocID="{C91CA114-5E06-5A41-BADB-02B8992C1855}" presName="conn2-1" presStyleLbl="parChTrans1D2" presStyleIdx="1" presStyleCnt="2"/>
      <dgm:spPr/>
    </dgm:pt>
    <dgm:pt modelId="{8D6FC3DE-DA83-E746-BB59-CE515B91B29B}" type="pres">
      <dgm:prSet presAssocID="{C91CA114-5E06-5A41-BADB-02B8992C1855}" presName="connTx" presStyleLbl="parChTrans1D2" presStyleIdx="1" presStyleCnt="2"/>
      <dgm:spPr/>
    </dgm:pt>
    <dgm:pt modelId="{531B0E6A-420C-124F-9F60-B72810B9936A}" type="pres">
      <dgm:prSet presAssocID="{2B488192-A2A5-0E4D-A664-F8084B259E1F}" presName="root2" presStyleCnt="0"/>
      <dgm:spPr/>
    </dgm:pt>
    <dgm:pt modelId="{F0CF95AD-0AEE-2349-835D-AB4D24B25677}" type="pres">
      <dgm:prSet presAssocID="{2B488192-A2A5-0E4D-A664-F8084B259E1F}" presName="LevelTwoTextNode" presStyleLbl="node2" presStyleIdx="1" presStyleCnt="2" custLinFactNeighborY="15886">
        <dgm:presLayoutVars>
          <dgm:chPref val="3"/>
        </dgm:presLayoutVars>
      </dgm:prSet>
      <dgm:spPr/>
    </dgm:pt>
    <dgm:pt modelId="{ED199F4A-8447-0947-B90A-40DD1B2045BB}" type="pres">
      <dgm:prSet presAssocID="{2B488192-A2A5-0E4D-A664-F8084B259E1F}" presName="level3hierChild" presStyleCnt="0"/>
      <dgm:spPr/>
    </dgm:pt>
  </dgm:ptLst>
  <dgm:cxnLst>
    <dgm:cxn modelId="{9FE2890D-89D4-234B-B5E9-60901381DEB8}" type="presOf" srcId="{5EE731BE-57E8-9D44-986D-6CD93E09B48A}" destId="{E7B37D9F-37C0-7841-942A-BFB63FD50DB8}" srcOrd="1" destOrd="0" presId="urn:microsoft.com/office/officeart/2005/8/layout/hierarchy2"/>
    <dgm:cxn modelId="{672DCF1F-91CC-0E47-B1D5-809F23EFCB0F}" type="presOf" srcId="{D2AC8428-D1A8-4A4F-ADFE-9D9346205280}" destId="{D4C69637-99EF-0340-A5BC-F75614B34200}" srcOrd="0" destOrd="0" presId="urn:microsoft.com/office/officeart/2005/8/layout/hierarchy2"/>
    <dgm:cxn modelId="{7A79CB33-EDFD-4D4C-B475-944CFA0716B0}" type="presOf" srcId="{5EE731BE-57E8-9D44-986D-6CD93E09B48A}" destId="{E143D89C-DF37-334E-87FD-5C56598AF161}" srcOrd="0" destOrd="0" presId="urn:microsoft.com/office/officeart/2005/8/layout/hierarchy2"/>
    <dgm:cxn modelId="{6C23AF37-78EB-754B-AF87-145F803E2AA3}" srcId="{D2AC8428-D1A8-4A4F-ADFE-9D9346205280}" destId="{69C854A7-3B04-FE4C-9F19-F21D74AFCB9A}" srcOrd="0" destOrd="0" parTransId="{5EE731BE-57E8-9D44-986D-6CD93E09B48A}" sibTransId="{022AF013-031B-A747-A268-752CAC1D7062}"/>
    <dgm:cxn modelId="{9EA06941-5619-854A-8293-D1378E39A3C3}" type="presOf" srcId="{C91CA114-5E06-5A41-BADB-02B8992C1855}" destId="{8D6FC3DE-DA83-E746-BB59-CE515B91B29B}" srcOrd="1" destOrd="0" presId="urn:microsoft.com/office/officeart/2005/8/layout/hierarchy2"/>
    <dgm:cxn modelId="{D8E92368-F0AC-674C-A2E4-DA81E0A2B540}" srcId="{D2AC8428-D1A8-4A4F-ADFE-9D9346205280}" destId="{2B488192-A2A5-0E4D-A664-F8084B259E1F}" srcOrd="1" destOrd="0" parTransId="{C91CA114-5E06-5A41-BADB-02B8992C1855}" sibTransId="{246E69AA-11ED-804E-BB1A-1CAFDC3B7387}"/>
    <dgm:cxn modelId="{FD422079-2FC2-E246-9065-8A49D29A86EA}" type="presOf" srcId="{4E66B9D9-E5B3-094E-A57C-CEB795FF4B80}" destId="{96A0A9FA-4B95-3747-8C2D-05798902F09A}" srcOrd="0" destOrd="0" presId="urn:microsoft.com/office/officeart/2005/8/layout/hierarchy2"/>
    <dgm:cxn modelId="{E7EAD77D-21AD-FC46-8B4B-D1882DAE9A2A}" srcId="{4E66B9D9-E5B3-094E-A57C-CEB795FF4B80}" destId="{D2AC8428-D1A8-4A4F-ADFE-9D9346205280}" srcOrd="0" destOrd="0" parTransId="{FB2F176B-6F2E-D04C-BFFE-629AC84ED696}" sibTransId="{F76A0B5B-04AC-ED45-9467-4E0DE52B83A8}"/>
    <dgm:cxn modelId="{FFEF9A85-6963-244B-9D1E-A7FB74318C83}" type="presOf" srcId="{2B488192-A2A5-0E4D-A664-F8084B259E1F}" destId="{F0CF95AD-0AEE-2349-835D-AB4D24B25677}" srcOrd="0" destOrd="0" presId="urn:microsoft.com/office/officeart/2005/8/layout/hierarchy2"/>
    <dgm:cxn modelId="{34C7F9B0-A612-4D43-8502-16AC9806399D}" type="presOf" srcId="{C91CA114-5E06-5A41-BADB-02B8992C1855}" destId="{60759A21-CD61-0C4F-B9E6-8433C0DC91E5}" srcOrd="0" destOrd="0" presId="urn:microsoft.com/office/officeart/2005/8/layout/hierarchy2"/>
    <dgm:cxn modelId="{3A9CF2C2-9918-A240-B8AB-58EC1EC58D26}" type="presOf" srcId="{69C854A7-3B04-FE4C-9F19-F21D74AFCB9A}" destId="{793ACCB7-7D3A-9A4E-A883-2911EE8A7446}" srcOrd="0" destOrd="0" presId="urn:microsoft.com/office/officeart/2005/8/layout/hierarchy2"/>
    <dgm:cxn modelId="{92C981AD-6231-3544-93E4-7079915081E3}" type="presParOf" srcId="{96A0A9FA-4B95-3747-8C2D-05798902F09A}" destId="{BF26BE97-E2BF-2F42-B866-8C766A2CB675}" srcOrd="0" destOrd="0" presId="urn:microsoft.com/office/officeart/2005/8/layout/hierarchy2"/>
    <dgm:cxn modelId="{F825B77C-5A2E-F44B-84F3-4F6A8BAD156F}" type="presParOf" srcId="{BF26BE97-E2BF-2F42-B866-8C766A2CB675}" destId="{D4C69637-99EF-0340-A5BC-F75614B34200}" srcOrd="0" destOrd="0" presId="urn:microsoft.com/office/officeart/2005/8/layout/hierarchy2"/>
    <dgm:cxn modelId="{1C9ACF7E-11CF-E144-A1A7-AEAD4E208601}" type="presParOf" srcId="{BF26BE97-E2BF-2F42-B866-8C766A2CB675}" destId="{A2B21366-E32F-3B40-91ED-CE5EAE2B5B31}" srcOrd="1" destOrd="0" presId="urn:microsoft.com/office/officeart/2005/8/layout/hierarchy2"/>
    <dgm:cxn modelId="{BD255795-C7AE-2848-B5EE-8D39F364CBFB}" type="presParOf" srcId="{A2B21366-E32F-3B40-91ED-CE5EAE2B5B31}" destId="{E143D89C-DF37-334E-87FD-5C56598AF161}" srcOrd="0" destOrd="0" presId="urn:microsoft.com/office/officeart/2005/8/layout/hierarchy2"/>
    <dgm:cxn modelId="{B15F3847-538A-2C47-86C8-043FDD5C839D}" type="presParOf" srcId="{E143D89C-DF37-334E-87FD-5C56598AF161}" destId="{E7B37D9F-37C0-7841-942A-BFB63FD50DB8}" srcOrd="0" destOrd="0" presId="urn:microsoft.com/office/officeart/2005/8/layout/hierarchy2"/>
    <dgm:cxn modelId="{1BC52396-EDAF-6C4D-85FB-2C225150AC87}" type="presParOf" srcId="{A2B21366-E32F-3B40-91ED-CE5EAE2B5B31}" destId="{4F5AEEBC-9BAC-7049-9F23-E1D9FA2DB4D1}" srcOrd="1" destOrd="0" presId="urn:microsoft.com/office/officeart/2005/8/layout/hierarchy2"/>
    <dgm:cxn modelId="{5950D196-F850-E845-97E5-E7F37EDFA0EB}" type="presParOf" srcId="{4F5AEEBC-9BAC-7049-9F23-E1D9FA2DB4D1}" destId="{793ACCB7-7D3A-9A4E-A883-2911EE8A7446}" srcOrd="0" destOrd="0" presId="urn:microsoft.com/office/officeart/2005/8/layout/hierarchy2"/>
    <dgm:cxn modelId="{B80730C1-3F71-B34F-97D2-8650B4360FB5}" type="presParOf" srcId="{4F5AEEBC-9BAC-7049-9F23-E1D9FA2DB4D1}" destId="{62FDCC79-28EC-A544-A232-F43EAE05A7BD}" srcOrd="1" destOrd="0" presId="urn:microsoft.com/office/officeart/2005/8/layout/hierarchy2"/>
    <dgm:cxn modelId="{F30FB18D-4D4E-8847-AB6A-2A12708355F3}" type="presParOf" srcId="{A2B21366-E32F-3B40-91ED-CE5EAE2B5B31}" destId="{60759A21-CD61-0C4F-B9E6-8433C0DC91E5}" srcOrd="2" destOrd="0" presId="urn:microsoft.com/office/officeart/2005/8/layout/hierarchy2"/>
    <dgm:cxn modelId="{217A3351-AE83-4D43-869A-F1B7E819EE03}" type="presParOf" srcId="{60759A21-CD61-0C4F-B9E6-8433C0DC91E5}" destId="{8D6FC3DE-DA83-E746-BB59-CE515B91B29B}" srcOrd="0" destOrd="0" presId="urn:microsoft.com/office/officeart/2005/8/layout/hierarchy2"/>
    <dgm:cxn modelId="{ACFF13C2-006F-2845-8926-771DD5F54551}" type="presParOf" srcId="{A2B21366-E32F-3B40-91ED-CE5EAE2B5B31}" destId="{531B0E6A-420C-124F-9F60-B72810B9936A}" srcOrd="3" destOrd="0" presId="urn:microsoft.com/office/officeart/2005/8/layout/hierarchy2"/>
    <dgm:cxn modelId="{65AA146E-0459-F04F-85A9-672A47ECE0C5}" type="presParOf" srcId="{531B0E6A-420C-124F-9F60-B72810B9936A}" destId="{F0CF95AD-0AEE-2349-835D-AB4D24B25677}" srcOrd="0" destOrd="0" presId="urn:microsoft.com/office/officeart/2005/8/layout/hierarchy2"/>
    <dgm:cxn modelId="{F00F345A-17EF-9F43-81FE-CE73EE9C2DE3}" type="presParOf" srcId="{531B0E6A-420C-124F-9F60-B72810B9936A}" destId="{ED199F4A-8447-0947-B90A-40DD1B2045BB}" srcOrd="1" destOrd="0" presId="urn:microsoft.com/office/officeart/2005/8/layout/hierarchy2"/>
  </dgm:cxnLst>
  <dgm:bg/>
  <dgm:whole>
    <a:ln>
      <a:noFill/>
    </a:ln>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4C69637-99EF-0340-A5BC-F75614B34200}">
      <dsp:nvSpPr>
        <dsp:cNvPr id="0" name=""/>
        <dsp:cNvSpPr/>
      </dsp:nvSpPr>
      <dsp:spPr>
        <a:xfrm>
          <a:off x="664" y="549006"/>
          <a:ext cx="960087" cy="480043"/>
        </a:xfrm>
        <a:prstGeom prst="roundRect">
          <a:avLst>
            <a:gd name="adj" fmla="val 10000"/>
          </a:avLst>
        </a:prstGeom>
        <a:solidFill>
          <a:schemeClr val="accent1">
            <a:hueOff val="0"/>
            <a:satOff val="0"/>
            <a:lumOff val="0"/>
            <a:alphaOff val="0"/>
          </a:schemeClr>
        </a:solidFill>
        <a:ln w="38100" cap="flat" cmpd="sng" algn="ctr">
          <a:solidFill>
            <a:schemeClr val="bg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b="1" i="1"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Related topics:</a:t>
          </a:r>
          <a:endParaRPr lang="en-US" sz="1400" b="1" kern="1200" dirty="0"/>
        </a:p>
      </dsp:txBody>
      <dsp:txXfrm>
        <a:off x="14724" y="563066"/>
        <a:ext cx="931967" cy="451923"/>
      </dsp:txXfrm>
    </dsp:sp>
    <dsp:sp modelId="{E143D89C-DF37-334E-87FD-5C56598AF161}">
      <dsp:nvSpPr>
        <dsp:cNvPr id="0" name=""/>
        <dsp:cNvSpPr/>
      </dsp:nvSpPr>
      <dsp:spPr>
        <a:xfrm rot="19457599">
          <a:off x="916298" y="623638"/>
          <a:ext cx="472940" cy="54755"/>
        </a:xfrm>
        <a:custGeom>
          <a:avLst/>
          <a:gdLst/>
          <a:ahLst/>
          <a:cxnLst/>
          <a:rect l="0" t="0" r="0" b="0"/>
          <a:pathLst>
            <a:path>
              <a:moveTo>
                <a:pt x="0" y="27377"/>
              </a:moveTo>
              <a:lnTo>
                <a:pt x="472940" y="27377"/>
              </a:lnTo>
            </a:path>
          </a:pathLst>
        </a:custGeom>
        <a:noFill/>
        <a:ln w="38100" cap="flat" cmpd="sng" algn="ctr">
          <a:solidFill>
            <a:schemeClr val="bg1"/>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b="1" kern="1200"/>
        </a:p>
      </dsp:txBody>
      <dsp:txXfrm>
        <a:off x="1140945" y="639192"/>
        <a:ext cx="23647" cy="23647"/>
      </dsp:txXfrm>
    </dsp:sp>
    <dsp:sp modelId="{793ACCB7-7D3A-9A4E-A883-2911EE8A7446}">
      <dsp:nvSpPr>
        <dsp:cNvPr id="0" name=""/>
        <dsp:cNvSpPr/>
      </dsp:nvSpPr>
      <dsp:spPr>
        <a:xfrm>
          <a:off x="1344786" y="272981"/>
          <a:ext cx="960087" cy="480043"/>
        </a:xfrm>
        <a:prstGeom prst="roundRect">
          <a:avLst>
            <a:gd name="adj" fmla="val 10000"/>
          </a:avLst>
        </a:prstGeom>
        <a:solidFill>
          <a:schemeClr val="accent1">
            <a:hueOff val="0"/>
            <a:satOff val="0"/>
            <a:lumOff val="0"/>
            <a:alphaOff val="0"/>
          </a:schemeClr>
        </a:solidFill>
        <a:ln w="38100" cap="flat" cmpd="sng" algn="ctr">
          <a:solidFill>
            <a:schemeClr val="bg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b="1" i="1"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Symmetry</a:t>
          </a:r>
          <a:endParaRPr lang="en-US" sz="1400" b="1" kern="1200" dirty="0"/>
        </a:p>
      </dsp:txBody>
      <dsp:txXfrm>
        <a:off x="1358846" y="287041"/>
        <a:ext cx="931967" cy="451923"/>
      </dsp:txXfrm>
    </dsp:sp>
    <dsp:sp modelId="{60759A21-CD61-0C4F-B9E6-8433C0DC91E5}">
      <dsp:nvSpPr>
        <dsp:cNvPr id="0" name=""/>
        <dsp:cNvSpPr/>
      </dsp:nvSpPr>
      <dsp:spPr>
        <a:xfrm rot="2551856">
          <a:off x="892198" y="937793"/>
          <a:ext cx="521140" cy="54755"/>
        </a:xfrm>
        <a:custGeom>
          <a:avLst/>
          <a:gdLst/>
          <a:ahLst/>
          <a:cxnLst/>
          <a:rect l="0" t="0" r="0" b="0"/>
          <a:pathLst>
            <a:path>
              <a:moveTo>
                <a:pt x="0" y="27377"/>
              </a:moveTo>
              <a:lnTo>
                <a:pt x="521140" y="27377"/>
              </a:lnTo>
            </a:path>
          </a:pathLst>
        </a:custGeom>
        <a:noFill/>
        <a:ln w="38100" cap="flat" cmpd="sng" algn="ctr">
          <a:solidFill>
            <a:schemeClr val="bg1"/>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b="1" kern="1200"/>
        </a:p>
      </dsp:txBody>
      <dsp:txXfrm>
        <a:off x="1139740" y="952142"/>
        <a:ext cx="26057" cy="26057"/>
      </dsp:txXfrm>
    </dsp:sp>
    <dsp:sp modelId="{F0CF95AD-0AEE-2349-835D-AB4D24B25677}">
      <dsp:nvSpPr>
        <dsp:cNvPr id="0" name=""/>
        <dsp:cNvSpPr/>
      </dsp:nvSpPr>
      <dsp:spPr>
        <a:xfrm>
          <a:off x="1344786" y="901291"/>
          <a:ext cx="960087" cy="480043"/>
        </a:xfrm>
        <a:prstGeom prst="roundRect">
          <a:avLst>
            <a:gd name="adj" fmla="val 10000"/>
          </a:avLst>
        </a:prstGeom>
        <a:solidFill>
          <a:schemeClr val="accent1">
            <a:hueOff val="0"/>
            <a:satOff val="0"/>
            <a:lumOff val="0"/>
            <a:alphaOff val="0"/>
          </a:schemeClr>
        </a:solidFill>
        <a:ln w="38100" cap="flat" cmpd="sng" algn="ctr">
          <a:solidFill>
            <a:schemeClr val="bg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b="1" i="1" kern="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Topology</a:t>
          </a:r>
        </a:p>
      </dsp:txBody>
      <dsp:txXfrm>
        <a:off x="1358846" y="915351"/>
        <a:ext cx="931967" cy="451923"/>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2">
  <dgm:title val=""/>
  <dgm:desc val=""/>
  <dgm:catLst>
    <dgm:cat type="hierarchy" pri="5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diagram">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h" for="des" ptType="node" refType="h"/>
      <dgm:constr type="w" for="des" ptType="node" refType="h" refFor="des" refPtType="node" fact="2"/>
      <dgm:constr type="sibSp" refType="h" refFor="des" refPtType="node" op="equ" fact="0.15"/>
      <dgm:constr type="sibSp" for="des" forName="level2hierChild" refType="h" refFor="des" refPtType="node" op="equ" fact="0.15"/>
      <dgm:constr type="sibSp" for="des" forName="level3hierChild" refType="h" refFor="des" refPtType="node" op="equ" fact="0.15"/>
      <dgm:constr type="sp" for="des" forName="root1" refType="w" refFor="des" refPtType="node" fact="0.4"/>
      <dgm:constr type="sp" for="des" forName="root2" refType="sp" refFor="des" refForName="root1" op="equ"/>
      <dgm:constr type="primFontSz" for="des" ptType="node" op="equ" val="65"/>
      <dgm:constr type="primFontSz" for="des" forName="connTx" op="equ" val="55"/>
      <dgm:constr type="primFontSz" for="des" forName="connTx" refType="primFontSz" refFor="des" refPtType="node" op="lte" fact="0.8"/>
    </dgm:constrLst>
    <dgm:ruleLst/>
    <dgm:forEach name="Name3" axis="ch">
      <dgm:forEach name="Name4" axis="self" ptType="node">
        <dgm:layoutNode name="root1">
          <dgm:choose name="Name5">
            <dgm:if name="Name6" func="var" arg="dir" op="equ" val="norm">
              <dgm:alg type="hierRoot">
                <dgm:param type="hierAlign" val="lCtrCh"/>
              </dgm:alg>
            </dgm:if>
            <dgm:else name="Name7">
              <dgm:alg type="hierRoot">
                <dgm:param type="hierAlign" val="rCtrCh"/>
              </dgm:alg>
            </dgm:else>
          </dgm:choose>
          <dgm:shape xmlns:r="http://schemas.openxmlformats.org/officeDocument/2006/relationships" r:blip="">
            <dgm:adjLst/>
          </dgm:shape>
          <dgm:presOf/>
          <dgm:constrLst/>
          <dgm:ruleLst/>
          <dgm:layoutNode name="LevelOneTextNod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2hierChild">
            <dgm:choose name="Name8">
              <dgm:if name="Name9" func="var" arg="dir" op="equ" val="norm">
                <dgm:alg type="hierChild">
                  <dgm:param type="linDir" val="fromT"/>
                  <dgm:param type="chAlign" val="l"/>
                </dgm:alg>
              </dgm:if>
              <dgm:else name="Name10">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11" axis="self" ptType="parTrans" cnt="1">
                <dgm:layoutNode name="conn2-1">
                  <dgm:choose name="Name12">
                    <dgm:if name="Name13" func="var" arg="dir" op="equ" val="norm">
                      <dgm:alg type="conn">
                        <dgm:param type="dim" val="1D"/>
                        <dgm:param type="begPts" val="midR"/>
                        <dgm:param type="endPts" val="midL"/>
                        <dgm:param type="endSty" val="noArr"/>
                      </dgm:alg>
                    </dgm:if>
                    <dgm:else name="Name14">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5" axis="self" ptType="node">
                <dgm:layoutNode name="root2">
                  <dgm:choose name="Name16">
                    <dgm:if name="Name17" func="var" arg="dir" op="equ" val="norm">
                      <dgm:alg type="hierRoot">
                        <dgm:param type="hierAlign" val="lCtrCh"/>
                      </dgm:alg>
                    </dgm:if>
                    <dgm:else name="Name18">
                      <dgm:alg type="hierRoot">
                        <dgm:param type="hierAlign" val="rCtrCh"/>
                      </dgm:alg>
                    </dgm:else>
                  </dgm:choose>
                  <dgm:shape xmlns:r="http://schemas.openxmlformats.org/officeDocument/2006/relationships" r:blip="">
                    <dgm:adjLst/>
                  </dgm:shape>
                  <dgm:presOf/>
                  <dgm:constrLst/>
                  <dgm:ruleLst/>
                  <dgm:layoutNode name="LevelTwoTextNode">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3hierChild">
                    <dgm:choose name="Name19">
                      <dgm:if name="Name20" func="var" arg="dir" op="equ" val="norm">
                        <dgm:alg type="hierChild">
                          <dgm:param type="linDir" val="fromT"/>
                          <dgm:param type="chAlign" val="l"/>
                        </dgm:alg>
                      </dgm:if>
                      <dgm:else name="Name21">
                        <dgm:alg type="hierChild">
                          <dgm:param type="linDir" val="fromT"/>
                          <dgm:param type="chAlign" val="r"/>
                        </dgm:alg>
                      </dgm:else>
                    </dgm:choose>
                    <dgm:shape xmlns:r="http://schemas.openxmlformats.org/officeDocument/2006/relationships" r:blip="">
                      <dgm:adjLst/>
                    </dgm:shape>
                    <dgm:presOf/>
                    <dgm:constrLst/>
                    <dgm:ruleLst/>
                    <dgm:forEach name="Name22" ref="repeat"/>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BDA440-6FDE-5E41-BA40-A3C0E02BAB9F}" type="datetimeFigureOut">
              <a:rPr lang="en-US" smtClean="0"/>
              <a:t>7/3/26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C398A3-AF21-A342-B6A8-6929C36BB1BF}" type="slidenum">
              <a:rPr lang="en-US" smtClean="0"/>
              <a:t>‹#›</a:t>
            </a:fld>
            <a:endParaRPr lang="en-US"/>
          </a:p>
        </p:txBody>
      </p:sp>
    </p:spTree>
    <p:extLst>
      <p:ext uri="{BB962C8B-B14F-4D97-AF65-F5344CB8AC3E}">
        <p14:creationId xmlns:p14="http://schemas.microsoft.com/office/powerpoint/2010/main" val="33688699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B2594E-083A-33B0-1887-4D75961D8D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9C972F-8115-0086-8D46-F43BA6CB6A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CA05C0-C97B-9722-138D-940A0126F522}"/>
              </a:ext>
            </a:extLst>
          </p:cNvPr>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a:extLst>
              <a:ext uri="{FF2B5EF4-FFF2-40B4-BE49-F238E27FC236}">
                <a16:creationId xmlns:a16="http://schemas.microsoft.com/office/drawing/2014/main" id="{49D93F59-9C10-56A8-29DB-C5BD61D5AF1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345772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base"/>
            <a:r>
              <a:rPr lang="en-US" sz="2000" b="0" i="0" kern="1200" dirty="0">
                <a:solidFill>
                  <a:schemeClr val="tx1"/>
                </a:solidFill>
                <a:effectLst/>
                <a:latin typeface="+mn-lt"/>
                <a:ea typeface="+mn-ea"/>
                <a:cs typeface="+mn-cs"/>
              </a:rPr>
              <a:t>commenter.</a:t>
            </a:r>
          </a:p>
          <a:p>
            <a:pPr fontAlgn="base"/>
            <a:r>
              <a:rPr lang="en-US" sz="2000" b="0" i="0" kern="1200" dirty="0">
                <a:solidFill>
                  <a:schemeClr val="tx1"/>
                </a:solidFill>
                <a:effectLst/>
                <a:latin typeface="+mn-lt"/>
                <a:ea typeface="+mn-ea"/>
                <a:cs typeface="+mn-cs"/>
              </a:rPr>
              <a:t>This is more of a stylistic critique. when expressing equivalency between variables, it is often clearest to solve from one variable into the other, that is solve into a form, wherein the other variable may simply be substituted. This helps the reader understand the relationship between them and makes it less of an effort trying to figure out how variables were rearranged.</a:t>
            </a:r>
          </a:p>
          <a:p>
            <a:pPr fontAlgn="base"/>
            <a:r>
              <a:rPr lang="en-US" sz="2000" b="0" i="0" kern="1200" dirty="0">
                <a:solidFill>
                  <a:schemeClr val="tx1"/>
                </a:solidFill>
                <a:effectLst/>
                <a:latin typeface="+mn-lt"/>
                <a:ea typeface="+mn-ea"/>
                <a:cs typeface="+mn-cs"/>
              </a:rPr>
              <a:t>I found a little bit of an issue here. What happens when we look at the theta = pi/2 case? We find that @ theta = 0, but since theta =/= 0, @=0, but we have already claimed that @ &gt; 0, so we have a contradiction. Just as we stated some bounds for v, we may want to state bounds for theta. Do this by solving theta in terms of your bounds on v, and you get 0 &lt; theta &lt; ~=~ 0.934. That number comes from cos(theta) - 2 theta/pi = 0 which comes from v = @pi/2 substituted into our relationship btw. v and theta. A question you would want to ask at this point is, why do we have these bounds? Is it due to something arbitrary... or more physically rooted in the fundaments of your model.</a:t>
            </a:r>
          </a:p>
          <a:p>
            <a:pPr fontAlgn="base"/>
            <a:r>
              <a:rPr lang="en-US" sz="2000" b="0" i="0" kern="1200" dirty="0">
                <a:solidFill>
                  <a:schemeClr val="tx1"/>
                </a:solidFill>
                <a:effectLst/>
                <a:latin typeface="+mn-lt"/>
                <a:ea typeface="+mn-ea"/>
                <a:cs typeface="+mn-cs"/>
              </a:rPr>
              <a:t>Also... this problem is going to require heavier use of dynamics, since the arc length is dependent on time, and is also being used as a variable in the definition of a temporal interval..</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D4D731-5435-284A-9C82-866A0CCE75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726781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200000"/>
              </a:lnSpc>
              <a:spcBef>
                <a:spcPts val="0"/>
              </a:spcBef>
              <a:spcAft>
                <a:spcPts val="0"/>
              </a:spcAft>
              <a:buClrTx/>
              <a:buSzTx/>
              <a:buFontTx/>
              <a:buNone/>
              <a:tabLst/>
              <a:defRPr/>
            </a:pPr>
            <a:r>
              <a:rPr lang="en-US" sz="9600" b="1" dirty="0">
                <a:latin typeface="Helvetica Neue" panose="02000503000000020004" pitchFamily="2" charset="0"/>
                <a:ea typeface="Helvetica Neue" panose="02000503000000020004" pitchFamily="2" charset="0"/>
                <a:cs typeface="Helvetica Neue" panose="02000503000000020004" pitchFamily="2" charset="0"/>
              </a:rPr>
              <a:t>The tracer circles represent spheres in 3D absolute represent the 3D spatial length of the radius.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The  forward tilt of all arrows represents absolute time.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Essentially every point potential is continuously riding on the wake emitted by every other point potential in the past.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They may also be riding on their own wake if v &gt; @.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For each partner that has operated at v&gt;@ a point potential may encounter multiple of their wakes or a continuous stretch of wake?  </a:t>
            </a:r>
            <a:br>
              <a:rPr lang="en-US" sz="9600" b="1" dirty="0">
                <a:latin typeface="Helvetica Neue" panose="02000503000000020004" pitchFamily="2" charset="0"/>
                <a:ea typeface="Helvetica Neue" panose="02000503000000020004" pitchFamily="2" charset="0"/>
                <a:cs typeface="Helvetica Neue" panose="02000503000000020004" pitchFamily="2" charset="0"/>
              </a:rPr>
            </a:br>
            <a:r>
              <a:rPr lang="en-US" sz="9600" b="1" dirty="0">
                <a:latin typeface="Helvetica Neue" panose="02000503000000020004" pitchFamily="2" charset="0"/>
                <a:ea typeface="Helvetica Neue" panose="02000503000000020004" pitchFamily="2" charset="0"/>
                <a:cs typeface="Helvetica Neue" panose="02000503000000020004" pitchFamily="2" charset="0"/>
              </a:rPr>
              <a:t>What path would yield a continuous stretch of wake from a partner?</a:t>
            </a:r>
          </a:p>
          <a:p>
            <a:pPr marL="0" marR="0" indent="0" algn="l" defTabSz="914400" rtl="0" eaLnBrk="1" fontAlgn="auto" latinLnBrk="0" hangingPunct="1">
              <a:lnSpc>
                <a:spcPct val="200000"/>
              </a:lnSpc>
              <a:spcBef>
                <a:spcPts val="0"/>
              </a:spcBef>
              <a:spcAft>
                <a:spcPts val="0"/>
              </a:spcAft>
              <a:buClrTx/>
              <a:buSzTx/>
              <a:buFontTx/>
              <a:buNone/>
              <a:tabLst/>
              <a:defRPr/>
            </a:pPr>
            <a:endParaRPr lang="en-US" sz="9600" b="1" dirty="0">
              <a:latin typeface="Helvetica Neue" panose="02000503000000020004" pitchFamily="2" charset="0"/>
              <a:ea typeface="Helvetica Neue" panose="02000503000000020004" pitchFamily="2" charset="0"/>
              <a:cs typeface="Helvetica Neue" panose="02000503000000020004" pitchFamily="2" charset="0"/>
            </a:endParaRPr>
          </a:p>
          <a:p>
            <a:pPr marL="0" marR="0" indent="0" algn="l" defTabSz="914400" rtl="0" eaLnBrk="1" fontAlgn="auto" latinLnBrk="0" hangingPunct="1">
              <a:lnSpc>
                <a:spcPct val="200000"/>
              </a:lnSpc>
              <a:spcBef>
                <a:spcPts val="0"/>
              </a:spcBef>
              <a:spcAft>
                <a:spcPts val="0"/>
              </a:spcAft>
              <a:buClrTx/>
              <a:buSzTx/>
              <a:buFontTx/>
              <a:buNone/>
              <a:tabLst/>
              <a:defRPr/>
            </a:pPr>
            <a:r>
              <a:rPr lang="en-US" sz="9600" b="1" dirty="0">
                <a:latin typeface="Helvetica Neue" panose="02000503000000020004" pitchFamily="2" charset="0"/>
                <a:ea typeface="Helvetica Neue" panose="02000503000000020004" pitchFamily="2" charset="0"/>
                <a:cs typeface="Helvetica Neue" panose="02000503000000020004" pitchFamily="2" charset="0"/>
              </a:rPr>
              <a:t>To do : animate this and make an episode.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159339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848070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See first</a:t>
            </a:r>
            <a:r>
              <a:rPr lang="en-US" baseline="0" dirty="0"/>
              <a:t> 5 minutes on DDE in https://</a:t>
            </a:r>
            <a:r>
              <a:rPr lang="en-US" baseline="0" dirty="0" err="1"/>
              <a:t>youtu.be</a:t>
            </a:r>
            <a:r>
              <a:rPr lang="en-US" baseline="0" dirty="0"/>
              <a:t>/eJaHCZ3ITIc. Introducing Weird Differential Equations: Delay, Fractional, </a:t>
            </a:r>
            <a:r>
              <a:rPr lang="en-US" baseline="0" dirty="0" err="1"/>
              <a:t>Integro</a:t>
            </a:r>
            <a:r>
              <a:rPr lang="en-US" baseline="0" dirty="0"/>
              <a:t>, Stochastic!  By Faculty of Khan</a:t>
            </a:r>
          </a:p>
          <a:p>
            <a:pPr marL="0" marR="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846839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289897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857374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FBB3A9-9E4D-1B45-B3D5-CA3715227F3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14A437C-6978-EF42-B683-287B0BCC683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2736A90-6A63-474E-AE00-47FF46C1C73E}"/>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1D9A6875-C7C8-8141-9B12-87599614E5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FF87BB-FFE9-4F4E-9787-48475824CC8E}"/>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4085953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167A8A-0845-AD47-90A8-18776E7495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685297E-D5E0-6745-91A9-52029EE3022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79309D-6084-C74B-884A-230D6CFAC619}"/>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0F105DDE-4455-5940-ADF4-C579F78A20A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0064C6E-4C44-A641-B028-04035B812AA6}"/>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35766539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5E37A-D8BF-D64A-8216-7ABA6C58364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F406964-1DAB-F14D-8D48-DEDCBF19514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BED9634-1414-224C-B6B9-3F0D98D672C3}"/>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A8157A06-C042-C649-8823-09CD9E4923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B72125-B186-EA4F-87C1-D421E15E6F0E}"/>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6612503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A32C6-604D-5245-AF13-1117649C058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F3D95E-DB7F-8741-AA7E-E9FECF96C0F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A4FF041-1EE3-1840-9A00-F30BE067B99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1E2B0A9-40F9-DB4D-BDC1-10F58EBA8438}"/>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6" name="Footer Placeholder 5">
            <a:extLst>
              <a:ext uri="{FF2B5EF4-FFF2-40B4-BE49-F238E27FC236}">
                <a16:creationId xmlns:a16="http://schemas.microsoft.com/office/drawing/2014/main" id="{4D45749E-ED3B-3643-8D22-DA2D88FFDE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24183C9-D2C9-CE44-B58B-ACE8898D0D03}"/>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0645420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A45A6-44FE-3848-88E8-5552DDC45A9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EDC7C1F-E9B4-4E48-ACFC-DC65D661790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CFE821-3558-AB4C-948F-6C6990D1473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74632-D045-5A44-BB14-E3D5737A296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8E5E05E-D502-E74B-91AF-BB193D328CC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B03287E-662E-F54F-9162-3F755DD60CA2}"/>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8" name="Footer Placeholder 7">
            <a:extLst>
              <a:ext uri="{FF2B5EF4-FFF2-40B4-BE49-F238E27FC236}">
                <a16:creationId xmlns:a16="http://schemas.microsoft.com/office/drawing/2014/main" id="{B68BB5FE-E651-1B4F-8E93-FD794E8A5E6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AD7C8-64AF-684B-98B6-D6D6714A29C1}"/>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0795722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DC2D9-851F-F94A-83EC-CAB57992066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3BF4D5-34AD-5A43-853F-006AD601FD76}"/>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4" name="Footer Placeholder 3">
            <a:extLst>
              <a:ext uri="{FF2B5EF4-FFF2-40B4-BE49-F238E27FC236}">
                <a16:creationId xmlns:a16="http://schemas.microsoft.com/office/drawing/2014/main" id="{67670C52-9CA4-AB4F-957A-7AAD4E25932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A441625-0652-EB4F-8E04-6C9011365173}"/>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7553061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5592881-FA37-DD45-860A-EA6B38C3108A}"/>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3" name="Footer Placeholder 2">
            <a:extLst>
              <a:ext uri="{FF2B5EF4-FFF2-40B4-BE49-F238E27FC236}">
                <a16:creationId xmlns:a16="http://schemas.microsoft.com/office/drawing/2014/main" id="{A4652DC6-52F3-8040-8665-17D023390D4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E9CEF52-EC52-6C42-81BD-397B5CE038F7}"/>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920734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60788-9DB9-6745-96CF-A7A1862275A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0E3299F-D119-D449-BD57-1CE490CB511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A3BB0FB-61B4-DC45-9D1E-63F99E6ABC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EF87701-43E6-A248-ABD9-E1C49D62242F}"/>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6" name="Footer Placeholder 5">
            <a:extLst>
              <a:ext uri="{FF2B5EF4-FFF2-40B4-BE49-F238E27FC236}">
                <a16:creationId xmlns:a16="http://schemas.microsoft.com/office/drawing/2014/main" id="{DFD6954C-9DFB-264A-A710-D12E71DB3AE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F188770-2503-8F4E-AFC6-6941CC59F7C1}"/>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3225689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3FF65-890A-1A47-B873-C56E2C7DF2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D05E9CE-538C-294A-A814-80A50548B20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33C7C9D-B309-CF46-90D8-B95DD6C2DC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97CA5D-F1C9-604D-83E1-2E60AE6E200D}"/>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6" name="Footer Placeholder 5">
            <a:extLst>
              <a:ext uri="{FF2B5EF4-FFF2-40B4-BE49-F238E27FC236}">
                <a16:creationId xmlns:a16="http://schemas.microsoft.com/office/drawing/2014/main" id="{BC9BE16D-FB3D-AA41-B06D-73A0FCDFBAA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A19839D-F44C-4B47-9DFE-D154851F5510}"/>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41161827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5DFD1-B5EF-8445-B336-8B2E596E207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9086E7C-46AA-9440-8F1F-C1AD5E8EC23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762E40-F60A-404F-9DB3-AC863A0E0847}"/>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156ABF7D-A207-9243-8354-69D0FCFAAC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C5599E-5B81-624B-A60C-D22AF58B66FB}"/>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721477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64BC040-CE85-6347-809B-760E676EF4C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07DD51C-FD4B-524F-8054-62599D261A7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E9F735-3187-1341-AE2A-1316DEDA7CE8}"/>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D08F8F3D-1D9D-EF45-9F9C-E682715F66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FDF4D4-99B2-C24C-BCFF-B3AB3F96C740}"/>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0637274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14B483-3334-204F-ADDF-2B9BC6A8D94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BFCC4CF-F19A-1848-8467-61B9807ACFA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8128E2E-CB42-B64B-A2AC-B8713F8A0E1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2AA830BA-8B9E-D54E-AA7F-1B6C247B3A2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E3634F2-31DD-3F49-A362-988026E566C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E7AC70-81D3-9F4C-9FBF-EEB91175D34A}" type="slidenum">
              <a:rPr lang="en-US" smtClean="0"/>
              <a:t>‹#›</a:t>
            </a:fld>
            <a:endParaRPr lang="en-US"/>
          </a:p>
        </p:txBody>
      </p:sp>
    </p:spTree>
    <p:extLst>
      <p:ext uri="{BB962C8B-B14F-4D97-AF65-F5344CB8AC3E}">
        <p14:creationId xmlns:p14="http://schemas.microsoft.com/office/powerpoint/2010/main" val="39566325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60.png"/><Relationship Id="rId7" Type="http://schemas.openxmlformats.org/officeDocument/2006/relationships/image" Target="../media/image32.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29.png"/><Relationship Id="rId9" Type="http://schemas.openxmlformats.org/officeDocument/2006/relationships/image" Target="../media/image34.png"/></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a:extLst>
            <a:ext uri="{FF2B5EF4-FFF2-40B4-BE49-F238E27FC236}">
              <a16:creationId id="{804AC981-79ED-95B2-006C-1F07F7D1021C}"/>
            </a:ext>
          </a:extLst>
        </p:cNvPr>
        <p:cNvGrpSpPr/>
        <p:nvPr/>
      </p:nvGrpSpPr>
      <p:grpSpPr>
        <a:xfrm>
          <a:off x="0" y="0"/>
          <a:ext cx="0" cy="0"/>
          <a:chOff x="0" y="0"/>
          <a:chExt cx="0" cy="0"/>
        </a:xfrm>
      </p:grpSpPr>
      <p:sp>
        <p:nvSpPr>
          <p:cNvPr id="2" name="TextBox 1">
            <a:extLst>
              <a:ext uri="{FF2B5EF4-FFF2-40B4-BE49-F238E27FC236}">
                <a16:creationId id="{25D5C38C-76F4-C791-A566-84A8B395A016}"/>
              </a:ext>
            </a:extLst>
          </p:cNvPr>
          <p:cNvSpPr txBox="1"/>
          <p:nvPr/>
        </p:nvSpPr>
        <p:spPr>
          <a:xfrm>
            <a:off x="0" y="358254"/>
            <a:ext cx="12191999" cy="1374735"/>
          </a:xfrm>
          <a:prstGeom prst="rect">
            <a:avLst/>
          </a:prstGeom>
          <a:noFill/>
        </p:spPr>
        <p:txBody>
          <a:bodyPr wrap="square" rtlCol="0">
            <a:spAutoFit/>
          </a:bodyPr>
          <a:lstStyle/>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Action</a:t>
            </a:r>
            <a:endParaRPr kumimoji="0" lang="en-US" sz="8000" b="1" i="0" u="none" strike="noStrike" kern="1200" cap="none" spc="0" normalizeH="0" baseline="0" noProof="0" dirty="0">
              <a:ln>
                <a:noFill/>
              </a:ln>
              <a:solidFill>
                <a:srgbClr val="FF8AD8"/>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endParaRP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3464736619"/>
      </p:ext>
    </p:extLst>
  </p:cSld>
  <p:clrMapOvr>
    <a:masterClrMapping/>
  </p:clrMapOvr>
</p:sld>
</file>

<file path=ppt/slides/slide2.xml><?xml version="1.0" encoding="utf-8"?>
<p:sld xmlns:a="http://schemas.openxmlformats.org/drawingml/2006/main" xmlns:a16="http://schemas.microsoft.com/office/drawing/2014/main" xmlns:ns3="http://schemas.openxmlformats.org/markup-compatibility/2006" xmlns:ns4="http://schemas.microsoft.com/office/drawing/2010/main" xmlns:ns5="http://schemas.openxmlformats.org/officeDocument/2006/math" xmlns:ns7="http://schemas.microsoft.com/office/powerpoint/2010/main" xmlns:p="http://schemas.openxmlformats.org/presentationml/2006/main" xmlns:r="http://schemas.openxmlformats.org/officeDocument/2006/relationships">
  <p:cSld>
    <p:bg>
      <p:bgPr>
        <a:solidFill>
          <a:srgbClr val="7030A0"/>
        </a:solidFill>
        <a:effectLst/>
      </p:bgPr>
    </p:bg>
    <p:spTree>
      <p:nvGrpSpPr>
        <p:cNvPr id="1" name=""/>
        <p:cNvGrpSpPr/>
        <p:nvPr/>
      </p:nvGrpSpPr>
      <p:grpSpPr>
        <a:xfrm>
          <a:off x="0" y="0"/>
          <a:ext cx="0" cy="0"/>
          <a:chOff x="0" y="0"/>
          <a:chExt cx="0" cy="0"/>
        </a:xfrm>
      </p:grpSpPr>
      <p:sp>
        <p:nvSpPr>
          <p:cNvPr id="5" name="Title 4">
            <a:extLst>
              <a:ext uri="{FF2B5EF4-FFF2-40B4-BE49-F238E27FC236}">
                <a16:creationId id="{8B9F2801-314B-3743-8406-886D110B2060}"/>
              </a:ext>
            </a:extLst>
          </p:cNvPr>
          <p:cNvSpPr>
            <a:spLocks noGrp="1"/>
          </p:cNvSpPr>
          <p:nvPr>
            <p:ph type="title"/>
          </p:nvPr>
        </p:nvSpPr>
        <p:spPr>
          <a:xfrm>
            <a:off x="274592" y="240089"/>
            <a:ext cx="11673568" cy="777875"/>
          </a:xfrm>
          <a:noFill/>
          <a:ln>
            <a:noFill/>
          </a:ln>
        </p:spPr>
        <p:txBody>
          <a:bodyPr>
            <a:noAutofit/>
          </a:bodyPr>
          <a:lstStyle/>
          <a:p>
            <a:pPr algn="ctr"/>
            <a:r>
              <a:rPr lang="en-US" sz="3600" b="1" dirty="0">
                <a:solidFill>
                  <a:schemeClr val="bg1"/>
                </a:solidFill>
                <a:latin typeface="Cambria Math" panose="02040503050406030204" pitchFamily="18" charset="0"/>
                <a:ea typeface="Cambria Math" panose="02040503050406030204" pitchFamily="18" charset="0"/>
                <a:cs typeface="Helvetica Neue" panose="02000503000000020004" pitchFamily="2" charset="0"/>
              </a:rPr>
              <a:t>A Single Equation Describes Nature and the Universe</a:t>
            </a:r>
          </a:p>
        </p:txBody>
      </p:sp>
      <p:sp>
        <p:nvSpPr>
          <p:cNvPr id="4" name="Footer Placeholder 3">
            <a:extLst>
              <a:ext uri="{FF2B5EF4-FFF2-40B4-BE49-F238E27FC236}">
                <a16:creationId id="{9D9787B4-78F2-E94F-B4AF-51DD5B0F66AA}"/>
              </a:ext>
            </a:extLst>
          </p:cNvPr>
          <p:cNvSpPr>
            <a:spLocks noGrp="1"/>
          </p:cNvSpPr>
          <p:nvPr>
            <p:ph type="ftr" sz="quarter" idx="11"/>
          </p:nvPr>
        </p:nvSpPr>
        <p:spPr>
          <a:xfrm>
            <a:off x="9448800" y="6492875"/>
            <a:ext cx="4114800" cy="365125"/>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rPr>
              <a:t>J Mark Morris</a:t>
            </a:r>
          </a:p>
        </p:txBody>
      </p:sp>
      <p:sp>
        <p:nvSpPr>
          <p:cNvPr id="6" name="TextBox 5">
            <a:extLst>
              <a:ext uri="{FF2B5EF4-FFF2-40B4-BE49-F238E27FC236}">
                <a16:creationId id="{3F6F3E46-3F75-0E4D-8285-54B5E9DCE559}"/>
              </a:ext>
            </a:extLst>
          </p:cNvPr>
          <p:cNvSpPr txBox="1"/>
          <p:nvPr/>
        </p:nvSpPr>
        <p:spPr>
          <a:xfrm>
            <a:off x="726332" y="3429000"/>
            <a:ext cx="10661515" cy="3063875"/>
          </a:xfrm>
          <a:prstGeom prst="rect">
            <a:avLst/>
          </a:prstGeom>
          <a:noFill/>
          <a:ln>
            <a:noFill/>
          </a:ln>
        </p:spPr>
        <p:txBody>
          <a:bodyPr wrap="square" rtlCol="0">
            <a:no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A single evolution equation marches forward in absolute time throughout absolute Euclidean space.</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Each architrino j follows a continuous path.  </a:t>
            </a:r>
            <a:r>
              <a:rPr kumimoji="0" lang="en-US" sz="1600" b="1" i="0"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P</a:t>
            </a:r>
            <a:r>
              <a:rPr kumimoji="0" lang="en-US" sz="1600" b="1" i="0"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j</a:t>
            </a: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(t) is described by (t, x, y, z, x', y', z’)</a:t>
            </a:r>
            <a:r>
              <a:rPr kumimoji="0" lang="en-US" sz="1600" b="1" i="0" u="none" strike="noStrike" kern="1200" cap="none" spc="0" normalizeH="0" baseline="-2500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 j</a:t>
            </a: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 </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Each architrino j continuously emits a causal wake surface potential described by </a:t>
            </a:r>
            <a:r>
              <a:rPr kumimoji="0" lang="en-US" sz="1600" b="1" i="0"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S</a:t>
            </a:r>
            <a:r>
              <a:rPr kumimoji="0" lang="en-US" sz="1600" b="1" i="0"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j</a:t>
            </a: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(t, </a:t>
            </a:r>
            <a:r>
              <a:rPr kumimoji="0" lang="en-US" sz="1600" b="1" i="0"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P</a:t>
            </a:r>
            <a:r>
              <a:rPr kumimoji="0" lang="en-US" sz="1600" b="1" i="0"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j</a:t>
            </a: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a:t>
            </a:r>
            <a:r>
              <a:rPr kumimoji="0" lang="en-US" sz="1600" b="1" i="0"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t</a:t>
            </a:r>
            <a:r>
              <a:rPr kumimoji="0" lang="en-US" sz="1600" b="1" i="0"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e</a:t>
            </a: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 where t &gt; </a:t>
            </a:r>
            <a:r>
              <a:rPr kumimoji="0" lang="en-US" sz="1600" b="1" i="0"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t</a:t>
            </a:r>
            <a:r>
              <a:rPr kumimoji="0" lang="en-US" sz="1600" b="1" i="0"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e</a:t>
            </a: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 </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causal wake surface potentials expand at the universal constant rate @ = </a:t>
            </a:r>
            <a:r>
              <a:rPr kumimoji="0" lang="en-US" sz="1600" b="1" i="0"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dr</a:t>
            </a: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/dt    </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Action occurs when a causal wake surface potential intersects a architrino.  A ( </a:t>
            </a:r>
            <a:r>
              <a:rPr kumimoji="0" lang="en-US" sz="1600" b="1" i="0"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P</a:t>
            </a:r>
            <a:r>
              <a:rPr kumimoji="0" lang="en-US" sz="1600" b="1" i="0"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j</a:t>
            </a: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(t)  ⋂  </a:t>
            </a:r>
            <a:r>
              <a:rPr kumimoji="0" lang="en-US" sz="1600" b="1" i="0"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S</a:t>
            </a:r>
            <a:r>
              <a:rPr kumimoji="0" lang="en-US" sz="1600" b="1" i="0"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k</a:t>
            </a: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(t, P</a:t>
            </a:r>
            <a:r>
              <a:rPr kumimoji="0" lang="en-US" sz="1600" b="1" i="0" u="none" strike="noStrike" kern="1200" cap="none" spc="0" normalizeH="0" baseline="-2500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k</a:t>
            </a: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a:t>
            </a:r>
            <a:r>
              <a:rPr kumimoji="0" lang="en-US" sz="1600" b="1" i="0"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t</a:t>
            </a:r>
            <a:r>
              <a:rPr kumimoji="0" lang="en-US" sz="1600" b="1" i="0"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e</a:t>
            </a: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 )</a:t>
            </a:r>
          </a:p>
          <a:p>
            <a:pPr marL="742950" marR="0" lvl="1"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The self action case, j=k, occurs when a architrino speed exceeds its own field speed @.</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Net action, the superposition of all actions on </a:t>
            </a:r>
            <a:r>
              <a:rPr kumimoji="0" lang="en-US" sz="1600" b="1" i="0" u="none" strike="noStrike" kern="1200" cap="none" spc="0" normalizeH="0" baseline="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P</a:t>
            </a:r>
            <a:r>
              <a:rPr kumimoji="0" lang="en-US" sz="1600" b="1" i="0" u="none" strike="noStrike" kern="1200" cap="none" spc="0" normalizeH="0" baseline="-25000" noProof="0" dirty="0" err="1">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j</a:t>
            </a: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(t), tells the architrino how to evolve its path.</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a:t>N.B.  We sum over all pairs of architrinos j and k, including the case where j=k from the self action regime.</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endPar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endParaRP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endPar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endParaRP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endParaRPr kumimoji="0" lang="en-US" sz="1600" b="1"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endParaRPr>
          </a:p>
          <a:p>
            <a:pPr marL="0" marR="0" lvl="0" indent="0" algn="l" defTabSz="914400" rtl="0" eaLnBrk="1" fontAlgn="auto" latinLnBrk="0" hangingPunct="1">
              <a:lnSpc>
                <a:spcPct val="15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endParaRP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endParaRPr kumimoji="0" lang="en-US" sz="16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endParaRP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endParaRPr kumimoji="0" lang="en-US" sz="16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endParaRPr>
          </a:p>
          <a:p>
            <a:pPr marL="0" marR="0" lvl="0" indent="0" algn="l" defTabSz="914400" rtl="0" eaLnBrk="1" fontAlgn="auto" latinLnBrk="0" hangingPunct="1">
              <a:lnSpc>
                <a:spcPct val="150000"/>
              </a:lnSpc>
              <a:spcBef>
                <a:spcPts val="0"/>
              </a:spcBef>
              <a:spcAft>
                <a:spcPts val="0"/>
              </a:spcAft>
              <a:buClrTx/>
              <a:buSzTx/>
              <a:buFontTx/>
              <a:buNone/>
              <a:tabLst/>
              <a:defRPr/>
            </a:pPr>
            <a:endParaRPr kumimoji="0" lang="en-US" sz="1100" b="0" i="1"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endParaRPr>
          </a:p>
        </p:txBody>
      </p:sp>
      <ns3:AlternateContent>
        <ns3:Choice Requires="a14">
          <p:sp>
            <p:nvSpPr>
              <p:cNvPr id="2" name="TextBox 1">
                <a:extLst>
                  <a:ext uri="{FF2B5EF4-FFF2-40B4-BE49-F238E27FC236}">
                    <a16:creationId id="{84E323E6-AA92-85F2-8D80-25EC6C585647}"/>
                  </a:ext>
                </a:extLst>
              </p:cNvPr>
              <p:cNvSpPr txBox="1"/>
              <p:nvPr/>
            </p:nvSpPr>
            <p:spPr>
              <a:xfrm>
                <a:off x="1440316" y="1359559"/>
                <a:ext cx="9342120" cy="1727845"/>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ns4:m>
                  <ns5:oMathPara>
                    <ns5:oMathParaPr>
                      <ns5:jc ns5:val="centerGroup"/>
                    </ns5:oMathParaPr>
                    <ns5:oMath>
                      <ns5:sSub>
                        <ns5:sSubPr>
                          <ns5:ctrlPr>
                            <a:rPr kumimoji="0" lang="en-US" sz="44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ctrlPr>
                        </ns5:sSubPr>
                        <ns5:e>
                          <ns5:r>
                            <ns5:rPr>
                              <ns5:sty ns5:val="p"/>
                            </ns5:rPr>
                            <a:rPr kumimoji="0" lang="en-US" sz="4400" b="0" i="0"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P</ns5:t>
                          </ns5:r>
                        </ns5:e>
                        <ns5:sub>
                          <ns5:r>
                            <ns5:rPr>
                              <ns5:sty ns5:val="p"/>
                            </ns5:rPr>
                            <a:rPr kumimoji="0" lang="en-US" sz="4400" b="0" i="0"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j</ns5:t>
                          </ns5:r>
                        </ns5:sub>
                      </ns5:sSub>
                      <ns5:d>
                        <ns5:dPr>
                          <ns5:ctrlPr>
                            <a:rPr kumimoji="0" lang="en-US" sz="44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ctrlPr>
                        </ns5:dPr>
                        <ns5:e>
                          <ns5:r>
                            <ns5:rPr>
                              <ns5:sty ns5:val="p"/>
                            </ns5:rPr>
                            <a:rPr kumimoji="0" lang="en-US" sz="4400" b="0" i="0"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t</ns5:t>
                          </ns5:r>
                        </ns5:e>
                      </ns5:d>
                      <ns5:r>
                        <a:rPr kumimoji="0" lang="en-US" sz="44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ns5:t>
                      </ns5:r>
                      <ns5:r>
                        <a:rPr kumimoji="0" lang="en-US" sz="44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 </ns5:t>
                      </ns5:r>
                      <ns5:nary>
                        <ns5:naryPr>
                          <ns5:chr ns5:val="∑"/>
                          <ns5:supHide ns5:val="on"/>
                          <ns5:ctrlPr>
                            <a:rPr kumimoji="0" lang="en-US" sz="44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ctrlPr>
                        </ns5:naryPr>
                        <ns5:sub>
                          <ns5:r>
                            <ns5:rPr>
                              <ns5:sty ns5:val="p"/>
                              <ns5:brk ns5:alnAt="7"/>
                            </ns5:rPr>
                            <a:rPr kumimoji="0" lang="en-US" sz="4400" b="0" i="0"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j</ns5:t>
                          </ns5:r>
                          <ns5:r>
                            <ns5:rPr>
                              <ns5:sty ns5:val="p"/>
                            </ns5:rPr>
                            <a:rPr kumimoji="0" lang="en-US" sz="4400" b="0" i="0"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k</ns5:t>
                          </ns5:r>
                        </ns5:sub>
                        <ns5:sup/>
                        <ns5:e>
                          <ns5:r>
                            <ns5:rPr>
                              <ns5:nor/>
                            </ns5: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ns5:t>A</ns5:t>
                          </ns5:r>
                          <ns5:r>
                            <ns5:rPr>
                              <ns5:nor/>
                            </ns5: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ns5:t> ( </ns5:t>
                          </ns5:r>
                          <ns5:r>
                            <ns5:rPr>
                              <ns5:nor/>
                            </ns5: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ns5:t>Pj</ns5:t>
                          </ns5:r>
                          <ns5:r>
                            <ns5:rPr>
                              <ns5:nor/>
                            </ns5: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ns5:t>(</ns5:t>
                          </ns5:r>
                          <ns5:r>
                            <ns5:rPr>
                              <ns5:nor/>
                            </ns5: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ns5:t>t</ns5:t>
                          </ns5:r>
                          <ns5:r>
                            <ns5:rPr>
                              <ns5:nor/>
                            </ns5: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ns5:t>)  ⋂  </ns5:t>
                          </ns5:r>
                          <ns5:r>
                            <ns5:rPr>
                              <ns5:nor/>
                            </ns5: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ns5:t>Sk</ns5:t>
                          </ns5:r>
                          <ns5:r>
                            <ns5:rPr>
                              <ns5:nor/>
                            </ns5: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ns5:t>(</ns5:t>
                          </ns5:r>
                          <ns5:r>
                            <ns5:rPr>
                              <ns5:nor/>
                            </ns5: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ns5:t>t</ns5:t>
                          </ns5:r>
                          <ns5:r>
                            <ns5:rPr>
                              <ns5:nor/>
                            </ns5: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ns5:t>, </ns5:t>
                          </ns5:r>
                          <ns5:r>
                            <ns5:rPr>
                              <ns5:nor/>
                            </ns5: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ns5:t>Pk</ns5:t>
                          </ns5:r>
                          <ns5:r>
                            <ns5:rPr>
                              <ns5:nor/>
                            </ns5: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ns5:t>(</ns5:t>
                          </ns5:r>
                          <ns5:r>
                            <ns5:rPr>
                              <ns5:nor/>
                            </ns5: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ns5:t>te</ns5:t>
                          </ns5:r>
                          <ns5:r>
                            <ns5:rPr>
                              <ns5:nor/>
                            </ns5:rPr>
                            <a:rPr kumimoji="0" lang="en-US" sz="44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Helvetica Neue" panose="02000503000000020004" pitchFamily="2" charset="0"/>
                            </a:rPr>
                            <ns5:t>))) </ns5:t>
                          </ns5:r>
                        </ns5:e>
                      </ns5:nary>
                    </ns5:oMath>
                  </ns5:oMathPara>
                </ns4:m>
                <a:endParaRPr kumimoji="0" lang="en-US" sz="44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ns3:Choice>
        <ns3:Fallback>
          <p:sp>
            <p:nvSpPr>
              <p:cNvPr id="2" name="TextBox 1">
                <a:extLst>
                  <a:ext uri="{FF2B5EF4-FFF2-40B4-BE49-F238E27FC236}">
                    <a16:creationId id="{84E323E6-AA92-85F2-8D80-25EC6C585647}"/>
                  </a:ext>
                </a:extLst>
              </p:cNvPr>
              <p:cNvSpPr txBox="1">
                <a:spLocks noRot="1" noChangeAspect="1" noMove="1" noResize="1" noEditPoints="1" noAdjustHandles="1" noChangeArrowheads="1" noChangeShapeType="1" noTextEdit="1"/>
              </p:cNvSpPr>
              <p:nvPr/>
            </p:nvSpPr>
            <p:spPr>
              <a:xfrm>
                <a:off x="1440316" y="1359559"/>
                <a:ext cx="9342120" cy="1727845"/>
              </a:xfrm>
              <a:prstGeom prst="rect">
                <a:avLst/>
              </a:prstGeom>
              <a:blipFill>
                <a:blip r:embed="rId3"/>
                <a:stretch>
                  <a:fillRect t="-142647" b="-191176"/>
                </a:stretch>
              </a:blipFill>
            </p:spPr>
            <p:txBody>
              <a:bodyPr/>
              <a:lstStyle/>
              <a:p>
                <a:r>
                  <a:rPr lang="en-US">
                    <a:noFill/>
                  </a:rPr>
                  <a:t> </a:t>
                </a:r>
              </a:p>
            </p:txBody>
          </p:sp>
        </ns3:Fallback>
      </ns3:AlternateContent>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7:creationId val="3752875277"/>
      </p:ext>
    </p:extLst>
  </p:cSld>
  <p:clrMapOvr>
    <a:masterClrMapping/>
  </p:clrMapOvr>
</p:sld>
</file>

<file path=ppt/slides/slide3.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id="{668F77D6-DFDA-5A46-8DF1-47F6A167C2B1}"/>
              </a:ext>
            </a:extLst>
          </p:cNvPr>
          <p:cNvSpPr txBox="1">
            <a:spLocks/>
          </p:cNvSpPr>
          <p:nvPr/>
        </p:nvSpPr>
        <p:spPr>
          <a:xfrm>
            <a:off x="11017385" y="6481737"/>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cxnSp>
        <p:nvCxnSpPr>
          <p:cNvPr id="3" name="Straight Arrow Connector 2">
            <a:extLst>
              <a:ext uri="{FF2B5EF4-FFF2-40B4-BE49-F238E27FC236}">
                <a16:creationId id="{2EF0199F-22F4-BA42-9B75-8A8183BCDA9B}"/>
              </a:ext>
            </a:extLst>
          </p:cNvPr>
          <p:cNvCxnSpPr>
            <a:cxnSpLocks/>
          </p:cNvCxnSpPr>
          <p:nvPr/>
        </p:nvCxnSpPr>
        <p:spPr>
          <a:xfrm>
            <a:off x="803082" y="6202017"/>
            <a:ext cx="10889385" cy="0"/>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id="{49AB5343-55D0-6041-8627-E08A73F83930}"/>
              </a:ext>
            </a:extLst>
          </p:cNvPr>
          <p:cNvCxnSpPr>
            <a:cxnSpLocks/>
          </p:cNvCxnSpPr>
          <p:nvPr/>
        </p:nvCxnSpPr>
        <p:spPr>
          <a:xfrm flipV="1">
            <a:off x="1391114" y="362779"/>
            <a:ext cx="0" cy="6387878"/>
          </a:xfrm>
          <a:prstGeom prst="straightConnector1">
            <a:avLst/>
          </a:prstGeom>
          <a:ln w="38100">
            <a:solidFill>
              <a:schemeClr val="bg1"/>
            </a:solidFill>
            <a:tailEnd type="triangle" w="lg" len="lg"/>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id="{BF8D86A2-D083-024A-BC90-6BD938C23243}"/>
              </a:ext>
            </a:extLst>
          </p:cNvPr>
          <p:cNvSpPr txBox="1"/>
          <p:nvPr/>
        </p:nvSpPr>
        <p:spPr>
          <a:xfrm>
            <a:off x="5145045" y="6220423"/>
            <a:ext cx="273344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Euclidean Time</a:t>
            </a:r>
          </a:p>
        </p:txBody>
      </p:sp>
      <p:sp>
        <p:nvSpPr>
          <p:cNvPr id="13" name="TextBox 12">
            <a:extLst>
              <a:ext uri="{FF2B5EF4-FFF2-40B4-BE49-F238E27FC236}">
                <a16:creationId id="{2C3F4604-6C2F-0E4E-9DD3-4F5C89FF51AB}"/>
              </a:ext>
            </a:extLst>
          </p:cNvPr>
          <p:cNvSpPr txBox="1"/>
          <p:nvPr/>
        </p:nvSpPr>
        <p:spPr>
          <a:xfrm>
            <a:off x="101957" y="464834"/>
            <a:ext cx="1191352" cy="92333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Absolute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3D Space</a:t>
            </a:r>
          </a:p>
        </p:txBody>
      </p:sp>
      <p:sp>
        <p:nvSpPr>
          <p:cNvPr id="16" name="Freeform 15">
            <a:extLst>
              <a:ext uri="{FF2B5EF4-FFF2-40B4-BE49-F238E27FC236}">
                <a16:creationId id="{226B2D26-F692-894E-9B09-F57FBB5CB2A3}"/>
              </a:ext>
            </a:extLst>
          </p:cNvPr>
          <p:cNvSpPr/>
          <p:nvPr/>
        </p:nvSpPr>
        <p:spPr>
          <a:xfrm>
            <a:off x="1134754" y="-2002854"/>
            <a:ext cx="8925159" cy="1399594"/>
          </a:xfrm>
          <a:custGeom>
            <a:avLst/>
            <a:gdLst>
              <a:gd name="connsiteX0" fmla="*/ 0 w 8536043"/>
              <a:gd name="connsiteY0" fmla="*/ 1390694 h 3454092"/>
              <a:gd name="connsiteX1" fmla="*/ 643466 w 8536043"/>
              <a:gd name="connsiteY1" fmla="*/ 2169627 h 3454092"/>
              <a:gd name="connsiteX2" fmla="*/ 1227666 w 8536043"/>
              <a:gd name="connsiteY2" fmla="*/ 1179027 h 3454092"/>
              <a:gd name="connsiteX3" fmla="*/ 1938866 w 8536043"/>
              <a:gd name="connsiteY3" fmla="*/ 2160 h 3454092"/>
              <a:gd name="connsiteX4" fmla="*/ 3420533 w 8536043"/>
              <a:gd name="connsiteY4" fmla="*/ 933494 h 3454092"/>
              <a:gd name="connsiteX5" fmla="*/ 3784600 w 8536043"/>
              <a:gd name="connsiteY5" fmla="*/ 2542160 h 3454092"/>
              <a:gd name="connsiteX6" fmla="*/ 4605866 w 8536043"/>
              <a:gd name="connsiteY6" fmla="*/ 3371894 h 3454092"/>
              <a:gd name="connsiteX7" fmla="*/ 6070600 w 8536043"/>
              <a:gd name="connsiteY7" fmla="*/ 3304160 h 3454092"/>
              <a:gd name="connsiteX8" fmla="*/ 7069666 w 8536043"/>
              <a:gd name="connsiteY8" fmla="*/ 2313560 h 3454092"/>
              <a:gd name="connsiteX9" fmla="*/ 7620000 w 8536043"/>
              <a:gd name="connsiteY9" fmla="*/ 3041694 h 3454092"/>
              <a:gd name="connsiteX10" fmla="*/ 8407400 w 8536043"/>
              <a:gd name="connsiteY10" fmla="*/ 1433027 h 3454092"/>
              <a:gd name="connsiteX11" fmla="*/ 8525933 w 8536043"/>
              <a:gd name="connsiteY11" fmla="*/ 1255227 h 3454092"/>
              <a:gd name="connsiteX0" fmla="*/ 0 w 8536043"/>
              <a:gd name="connsiteY0" fmla="*/ 1104316 h 3167714"/>
              <a:gd name="connsiteX1" fmla="*/ 643466 w 8536043"/>
              <a:gd name="connsiteY1" fmla="*/ 1883249 h 3167714"/>
              <a:gd name="connsiteX2" fmla="*/ 1227666 w 8536043"/>
              <a:gd name="connsiteY2" fmla="*/ 892649 h 3167714"/>
              <a:gd name="connsiteX3" fmla="*/ 2184399 w 8536043"/>
              <a:gd name="connsiteY3" fmla="*/ 3648 h 3167714"/>
              <a:gd name="connsiteX4" fmla="*/ 3420533 w 8536043"/>
              <a:gd name="connsiteY4" fmla="*/ 647116 h 3167714"/>
              <a:gd name="connsiteX5" fmla="*/ 3784600 w 8536043"/>
              <a:gd name="connsiteY5" fmla="*/ 2255782 h 3167714"/>
              <a:gd name="connsiteX6" fmla="*/ 4605866 w 8536043"/>
              <a:gd name="connsiteY6" fmla="*/ 3085516 h 3167714"/>
              <a:gd name="connsiteX7" fmla="*/ 6070600 w 8536043"/>
              <a:gd name="connsiteY7" fmla="*/ 3017782 h 3167714"/>
              <a:gd name="connsiteX8" fmla="*/ 7069666 w 8536043"/>
              <a:gd name="connsiteY8" fmla="*/ 2027182 h 3167714"/>
              <a:gd name="connsiteX9" fmla="*/ 7620000 w 8536043"/>
              <a:gd name="connsiteY9" fmla="*/ 2755316 h 3167714"/>
              <a:gd name="connsiteX10" fmla="*/ 8407400 w 8536043"/>
              <a:gd name="connsiteY10" fmla="*/ 1146649 h 3167714"/>
              <a:gd name="connsiteX11" fmla="*/ 8525933 w 8536043"/>
              <a:gd name="connsiteY11" fmla="*/ 968849 h 3167714"/>
              <a:gd name="connsiteX0" fmla="*/ 0 w 8536043"/>
              <a:gd name="connsiteY0" fmla="*/ 1186298 h 3249696"/>
              <a:gd name="connsiteX1" fmla="*/ 643466 w 8536043"/>
              <a:gd name="connsiteY1" fmla="*/ 1965231 h 3249696"/>
              <a:gd name="connsiteX2" fmla="*/ 1523999 w 8536043"/>
              <a:gd name="connsiteY2" fmla="*/ 2549431 h 3249696"/>
              <a:gd name="connsiteX3" fmla="*/ 2184399 w 8536043"/>
              <a:gd name="connsiteY3" fmla="*/ 85630 h 3249696"/>
              <a:gd name="connsiteX4" fmla="*/ 3420533 w 8536043"/>
              <a:gd name="connsiteY4" fmla="*/ 729098 h 3249696"/>
              <a:gd name="connsiteX5" fmla="*/ 3784600 w 8536043"/>
              <a:gd name="connsiteY5" fmla="*/ 2337764 h 3249696"/>
              <a:gd name="connsiteX6" fmla="*/ 4605866 w 8536043"/>
              <a:gd name="connsiteY6" fmla="*/ 3167498 h 3249696"/>
              <a:gd name="connsiteX7" fmla="*/ 6070600 w 8536043"/>
              <a:gd name="connsiteY7" fmla="*/ 3099764 h 3249696"/>
              <a:gd name="connsiteX8" fmla="*/ 7069666 w 8536043"/>
              <a:gd name="connsiteY8" fmla="*/ 2109164 h 3249696"/>
              <a:gd name="connsiteX9" fmla="*/ 7620000 w 8536043"/>
              <a:gd name="connsiteY9" fmla="*/ 2837298 h 3249696"/>
              <a:gd name="connsiteX10" fmla="*/ 8407400 w 8536043"/>
              <a:gd name="connsiteY10" fmla="*/ 1228631 h 3249696"/>
              <a:gd name="connsiteX11" fmla="*/ 8525933 w 8536043"/>
              <a:gd name="connsiteY11" fmla="*/ 1050831 h 3249696"/>
              <a:gd name="connsiteX0" fmla="*/ 0 w 8536043"/>
              <a:gd name="connsiteY0" fmla="*/ 1111479 h 3174877"/>
              <a:gd name="connsiteX1" fmla="*/ 643466 w 8536043"/>
              <a:gd name="connsiteY1" fmla="*/ 1890412 h 3174877"/>
              <a:gd name="connsiteX2" fmla="*/ 1523999 w 8536043"/>
              <a:gd name="connsiteY2" fmla="*/ 2474612 h 3174877"/>
              <a:gd name="connsiteX3" fmla="*/ 2184399 w 8536043"/>
              <a:gd name="connsiteY3" fmla="*/ 10811 h 3174877"/>
              <a:gd name="connsiteX4" fmla="*/ 2870199 w 8536043"/>
              <a:gd name="connsiteY4" fmla="*/ 1602546 h 3174877"/>
              <a:gd name="connsiteX5" fmla="*/ 3784600 w 8536043"/>
              <a:gd name="connsiteY5" fmla="*/ 2262945 h 3174877"/>
              <a:gd name="connsiteX6" fmla="*/ 4605866 w 8536043"/>
              <a:gd name="connsiteY6" fmla="*/ 3092679 h 3174877"/>
              <a:gd name="connsiteX7" fmla="*/ 6070600 w 8536043"/>
              <a:gd name="connsiteY7" fmla="*/ 3024945 h 3174877"/>
              <a:gd name="connsiteX8" fmla="*/ 7069666 w 8536043"/>
              <a:gd name="connsiteY8" fmla="*/ 2034345 h 3174877"/>
              <a:gd name="connsiteX9" fmla="*/ 7620000 w 8536043"/>
              <a:gd name="connsiteY9" fmla="*/ 2762479 h 3174877"/>
              <a:gd name="connsiteX10" fmla="*/ 8407400 w 8536043"/>
              <a:gd name="connsiteY10" fmla="*/ 1153812 h 3174877"/>
              <a:gd name="connsiteX11" fmla="*/ 8525933 w 8536043"/>
              <a:gd name="connsiteY11" fmla="*/ 976012 h 3174877"/>
              <a:gd name="connsiteX0" fmla="*/ 0 w 8536043"/>
              <a:gd name="connsiteY0" fmla="*/ 1110314 h 3251787"/>
              <a:gd name="connsiteX1" fmla="*/ 643466 w 8536043"/>
              <a:gd name="connsiteY1" fmla="*/ 18892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251787"/>
              <a:gd name="connsiteX1" fmla="*/ 719666 w 8536043"/>
              <a:gd name="connsiteY1" fmla="*/ 543047 h 3251787"/>
              <a:gd name="connsiteX2" fmla="*/ 1523999 w 8536043"/>
              <a:gd name="connsiteY2" fmla="*/ 2473447 h 3251787"/>
              <a:gd name="connsiteX3" fmla="*/ 2184399 w 8536043"/>
              <a:gd name="connsiteY3" fmla="*/ 9646 h 3251787"/>
              <a:gd name="connsiteX4" fmla="*/ 2870199 w 8536043"/>
              <a:gd name="connsiteY4" fmla="*/ 1601381 h 3251787"/>
              <a:gd name="connsiteX5" fmla="*/ 3928533 w 8536043"/>
              <a:gd name="connsiteY5" fmla="*/ 1178047 h 3251787"/>
              <a:gd name="connsiteX6" fmla="*/ 4605866 w 8536043"/>
              <a:gd name="connsiteY6" fmla="*/ 3091514 h 3251787"/>
              <a:gd name="connsiteX7" fmla="*/ 6070600 w 8536043"/>
              <a:gd name="connsiteY7" fmla="*/ 3023780 h 3251787"/>
              <a:gd name="connsiteX8" fmla="*/ 7069666 w 8536043"/>
              <a:gd name="connsiteY8" fmla="*/ 2033180 h 3251787"/>
              <a:gd name="connsiteX9" fmla="*/ 7620000 w 8536043"/>
              <a:gd name="connsiteY9" fmla="*/ 2761314 h 3251787"/>
              <a:gd name="connsiteX10" fmla="*/ 8407400 w 8536043"/>
              <a:gd name="connsiteY10" fmla="*/ 1152647 h 3251787"/>
              <a:gd name="connsiteX11" fmla="*/ 8525933 w 8536043"/>
              <a:gd name="connsiteY11" fmla="*/ 974847 h 3251787"/>
              <a:gd name="connsiteX0" fmla="*/ 0 w 8536043"/>
              <a:gd name="connsiteY0" fmla="*/ 1110314 h 3307437"/>
              <a:gd name="connsiteX1" fmla="*/ 719666 w 8536043"/>
              <a:gd name="connsiteY1" fmla="*/ 543047 h 3307437"/>
              <a:gd name="connsiteX2" fmla="*/ 1523999 w 8536043"/>
              <a:gd name="connsiteY2" fmla="*/ 2473447 h 3307437"/>
              <a:gd name="connsiteX3" fmla="*/ 2184399 w 8536043"/>
              <a:gd name="connsiteY3" fmla="*/ 9646 h 3307437"/>
              <a:gd name="connsiteX4" fmla="*/ 2870199 w 8536043"/>
              <a:gd name="connsiteY4" fmla="*/ 1601381 h 3307437"/>
              <a:gd name="connsiteX5" fmla="*/ 3928533 w 8536043"/>
              <a:gd name="connsiteY5" fmla="*/ 1178047 h 3307437"/>
              <a:gd name="connsiteX6" fmla="*/ 4605866 w 8536043"/>
              <a:gd name="connsiteY6" fmla="*/ 3091514 h 3307437"/>
              <a:gd name="connsiteX7" fmla="*/ 6070600 w 8536043"/>
              <a:gd name="connsiteY7" fmla="*/ 3023780 h 3307437"/>
              <a:gd name="connsiteX8" fmla="*/ 7044266 w 8536043"/>
              <a:gd name="connsiteY8" fmla="*/ 957913 h 3307437"/>
              <a:gd name="connsiteX9" fmla="*/ 7620000 w 8536043"/>
              <a:gd name="connsiteY9" fmla="*/ 2761314 h 3307437"/>
              <a:gd name="connsiteX10" fmla="*/ 8407400 w 8536043"/>
              <a:gd name="connsiteY10" fmla="*/ 1152647 h 3307437"/>
              <a:gd name="connsiteX11" fmla="*/ 8525933 w 8536043"/>
              <a:gd name="connsiteY11" fmla="*/ 974847 h 3307437"/>
              <a:gd name="connsiteX0" fmla="*/ 0 w 8536043"/>
              <a:gd name="connsiteY0" fmla="*/ 1110314 h 3391504"/>
              <a:gd name="connsiteX1" fmla="*/ 719666 w 8536043"/>
              <a:gd name="connsiteY1" fmla="*/ 543047 h 3391504"/>
              <a:gd name="connsiteX2" fmla="*/ 1523999 w 8536043"/>
              <a:gd name="connsiteY2" fmla="*/ 2473447 h 3391504"/>
              <a:gd name="connsiteX3" fmla="*/ 2184399 w 8536043"/>
              <a:gd name="connsiteY3" fmla="*/ 9646 h 3391504"/>
              <a:gd name="connsiteX4" fmla="*/ 2870199 w 8536043"/>
              <a:gd name="connsiteY4" fmla="*/ 1601381 h 3391504"/>
              <a:gd name="connsiteX5" fmla="*/ 3928533 w 8536043"/>
              <a:gd name="connsiteY5" fmla="*/ 1178047 h 3391504"/>
              <a:gd name="connsiteX6" fmla="*/ 4605866 w 8536043"/>
              <a:gd name="connsiteY6" fmla="*/ 3091514 h 3391504"/>
              <a:gd name="connsiteX7" fmla="*/ 5173133 w 8536043"/>
              <a:gd name="connsiteY7" fmla="*/ 3167713 h 3391504"/>
              <a:gd name="connsiteX8" fmla="*/ 7044266 w 8536043"/>
              <a:gd name="connsiteY8" fmla="*/ 957913 h 3391504"/>
              <a:gd name="connsiteX9" fmla="*/ 7620000 w 8536043"/>
              <a:gd name="connsiteY9" fmla="*/ 2761314 h 3391504"/>
              <a:gd name="connsiteX10" fmla="*/ 8407400 w 8536043"/>
              <a:gd name="connsiteY10" fmla="*/ 1152647 h 3391504"/>
              <a:gd name="connsiteX11" fmla="*/ 8525933 w 8536043"/>
              <a:gd name="connsiteY11" fmla="*/ 974847 h 3391504"/>
              <a:gd name="connsiteX0" fmla="*/ 0 w 8536043"/>
              <a:gd name="connsiteY0" fmla="*/ 1110314 h 3335939"/>
              <a:gd name="connsiteX1" fmla="*/ 719666 w 8536043"/>
              <a:gd name="connsiteY1" fmla="*/ 543047 h 3335939"/>
              <a:gd name="connsiteX2" fmla="*/ 1523999 w 8536043"/>
              <a:gd name="connsiteY2" fmla="*/ 2473447 h 3335939"/>
              <a:gd name="connsiteX3" fmla="*/ 2184399 w 8536043"/>
              <a:gd name="connsiteY3" fmla="*/ 9646 h 3335939"/>
              <a:gd name="connsiteX4" fmla="*/ 2870199 w 8536043"/>
              <a:gd name="connsiteY4" fmla="*/ 1601381 h 3335939"/>
              <a:gd name="connsiteX5" fmla="*/ 3928533 w 8536043"/>
              <a:gd name="connsiteY5" fmla="*/ 1178047 h 3335939"/>
              <a:gd name="connsiteX6" fmla="*/ 4394124 w 8536043"/>
              <a:gd name="connsiteY6" fmla="*/ 2365541 h 3335939"/>
              <a:gd name="connsiteX7" fmla="*/ 4605866 w 8536043"/>
              <a:gd name="connsiteY7" fmla="*/ 3091514 h 3335939"/>
              <a:gd name="connsiteX8" fmla="*/ 5173133 w 8536043"/>
              <a:gd name="connsiteY8" fmla="*/ 3167713 h 3335939"/>
              <a:gd name="connsiteX9" fmla="*/ 7044266 w 8536043"/>
              <a:gd name="connsiteY9" fmla="*/ 957913 h 3335939"/>
              <a:gd name="connsiteX10" fmla="*/ 7620000 w 8536043"/>
              <a:gd name="connsiteY10" fmla="*/ 2761314 h 3335939"/>
              <a:gd name="connsiteX11" fmla="*/ 8407400 w 8536043"/>
              <a:gd name="connsiteY11" fmla="*/ 1152647 h 3335939"/>
              <a:gd name="connsiteX12" fmla="*/ 8525933 w 8536043"/>
              <a:gd name="connsiteY12" fmla="*/ 974847 h 3335939"/>
              <a:gd name="connsiteX0" fmla="*/ 0 w 8536043"/>
              <a:gd name="connsiteY0" fmla="*/ 1110314 h 3177408"/>
              <a:gd name="connsiteX1" fmla="*/ 719666 w 8536043"/>
              <a:gd name="connsiteY1" fmla="*/ 543047 h 3177408"/>
              <a:gd name="connsiteX2" fmla="*/ 1523999 w 8536043"/>
              <a:gd name="connsiteY2" fmla="*/ 2473447 h 3177408"/>
              <a:gd name="connsiteX3" fmla="*/ 2184399 w 8536043"/>
              <a:gd name="connsiteY3" fmla="*/ 9646 h 3177408"/>
              <a:gd name="connsiteX4" fmla="*/ 2870199 w 8536043"/>
              <a:gd name="connsiteY4" fmla="*/ 1601381 h 3177408"/>
              <a:gd name="connsiteX5" fmla="*/ 3928533 w 8536043"/>
              <a:gd name="connsiteY5" fmla="*/ 1178047 h 3177408"/>
              <a:gd name="connsiteX6" fmla="*/ 4394124 w 8536043"/>
              <a:gd name="connsiteY6" fmla="*/ 2365541 h 3177408"/>
              <a:gd name="connsiteX7" fmla="*/ 4817532 w 8536043"/>
              <a:gd name="connsiteY7" fmla="*/ 1787647 h 3177408"/>
              <a:gd name="connsiteX8" fmla="*/ 5173133 w 8536043"/>
              <a:gd name="connsiteY8" fmla="*/ 3167713 h 3177408"/>
              <a:gd name="connsiteX9" fmla="*/ 7044266 w 8536043"/>
              <a:gd name="connsiteY9" fmla="*/ 957913 h 3177408"/>
              <a:gd name="connsiteX10" fmla="*/ 7620000 w 8536043"/>
              <a:gd name="connsiteY10" fmla="*/ 2761314 h 3177408"/>
              <a:gd name="connsiteX11" fmla="*/ 8407400 w 8536043"/>
              <a:gd name="connsiteY11" fmla="*/ 1152647 h 3177408"/>
              <a:gd name="connsiteX12" fmla="*/ 8525933 w 8536043"/>
              <a:gd name="connsiteY12" fmla="*/ 974847 h 3177408"/>
              <a:gd name="connsiteX0" fmla="*/ 0 w 8536043"/>
              <a:gd name="connsiteY0" fmla="*/ 1110314 h 3017509"/>
              <a:gd name="connsiteX1" fmla="*/ 719666 w 8536043"/>
              <a:gd name="connsiteY1" fmla="*/ 543047 h 3017509"/>
              <a:gd name="connsiteX2" fmla="*/ 1523999 w 8536043"/>
              <a:gd name="connsiteY2" fmla="*/ 2473447 h 3017509"/>
              <a:gd name="connsiteX3" fmla="*/ 2184399 w 8536043"/>
              <a:gd name="connsiteY3" fmla="*/ 9646 h 3017509"/>
              <a:gd name="connsiteX4" fmla="*/ 2870199 w 8536043"/>
              <a:gd name="connsiteY4" fmla="*/ 1601381 h 3017509"/>
              <a:gd name="connsiteX5" fmla="*/ 3928533 w 8536043"/>
              <a:gd name="connsiteY5" fmla="*/ 1178047 h 3017509"/>
              <a:gd name="connsiteX6" fmla="*/ 4394124 w 8536043"/>
              <a:gd name="connsiteY6" fmla="*/ 2365541 h 3017509"/>
              <a:gd name="connsiteX7" fmla="*/ 4817532 w 8536043"/>
              <a:gd name="connsiteY7" fmla="*/ 1787647 h 3017509"/>
              <a:gd name="connsiteX8" fmla="*/ 5689600 w 8536043"/>
              <a:gd name="connsiteY8" fmla="*/ 3006847 h 3017509"/>
              <a:gd name="connsiteX9" fmla="*/ 7044266 w 8536043"/>
              <a:gd name="connsiteY9" fmla="*/ 957913 h 3017509"/>
              <a:gd name="connsiteX10" fmla="*/ 7620000 w 8536043"/>
              <a:gd name="connsiteY10" fmla="*/ 2761314 h 3017509"/>
              <a:gd name="connsiteX11" fmla="*/ 8407400 w 8536043"/>
              <a:gd name="connsiteY11" fmla="*/ 1152647 h 3017509"/>
              <a:gd name="connsiteX12" fmla="*/ 8525933 w 8536043"/>
              <a:gd name="connsiteY12" fmla="*/ 974847 h 3017509"/>
              <a:gd name="connsiteX0" fmla="*/ 0 w 8527062"/>
              <a:gd name="connsiteY0" fmla="*/ 1221740 h 3128935"/>
              <a:gd name="connsiteX1" fmla="*/ 719666 w 8527062"/>
              <a:gd name="connsiteY1" fmla="*/ 654473 h 3128935"/>
              <a:gd name="connsiteX2" fmla="*/ 1523999 w 8527062"/>
              <a:gd name="connsiteY2" fmla="*/ 2584873 h 3128935"/>
              <a:gd name="connsiteX3" fmla="*/ 2184399 w 8527062"/>
              <a:gd name="connsiteY3" fmla="*/ 121072 h 3128935"/>
              <a:gd name="connsiteX4" fmla="*/ 2870199 w 8527062"/>
              <a:gd name="connsiteY4" fmla="*/ 1712807 h 3128935"/>
              <a:gd name="connsiteX5" fmla="*/ 3928533 w 8527062"/>
              <a:gd name="connsiteY5" fmla="*/ 1289473 h 3128935"/>
              <a:gd name="connsiteX6" fmla="*/ 4394124 w 8527062"/>
              <a:gd name="connsiteY6" fmla="*/ 2476967 h 3128935"/>
              <a:gd name="connsiteX7" fmla="*/ 4817532 w 8527062"/>
              <a:gd name="connsiteY7" fmla="*/ 1899073 h 3128935"/>
              <a:gd name="connsiteX8" fmla="*/ 5689600 w 8527062"/>
              <a:gd name="connsiteY8" fmla="*/ 3118273 h 3128935"/>
              <a:gd name="connsiteX9" fmla="*/ 7044266 w 8527062"/>
              <a:gd name="connsiteY9" fmla="*/ 1069339 h 3128935"/>
              <a:gd name="connsiteX10" fmla="*/ 7620000 w 8527062"/>
              <a:gd name="connsiteY10" fmla="*/ 2872740 h 3128935"/>
              <a:gd name="connsiteX11" fmla="*/ 8229600 w 8527062"/>
              <a:gd name="connsiteY11" fmla="*/ 44873 h 3128935"/>
              <a:gd name="connsiteX12" fmla="*/ 8525933 w 8527062"/>
              <a:gd name="connsiteY12" fmla="*/ 1086273 h 3128935"/>
              <a:gd name="connsiteX0" fmla="*/ 0 w 8527062"/>
              <a:gd name="connsiteY0" fmla="*/ 1221740 h 3128935"/>
              <a:gd name="connsiteX1" fmla="*/ 719666 w 8527062"/>
              <a:gd name="connsiteY1" fmla="*/ 654473 h 3128935"/>
              <a:gd name="connsiteX2" fmla="*/ 1523999 w 8527062"/>
              <a:gd name="connsiteY2" fmla="*/ 2584873 h 3128935"/>
              <a:gd name="connsiteX3" fmla="*/ 2870199 w 8527062"/>
              <a:gd name="connsiteY3" fmla="*/ 1712807 h 3128935"/>
              <a:gd name="connsiteX4" fmla="*/ 3928533 w 8527062"/>
              <a:gd name="connsiteY4" fmla="*/ 1289473 h 3128935"/>
              <a:gd name="connsiteX5" fmla="*/ 4394124 w 8527062"/>
              <a:gd name="connsiteY5" fmla="*/ 2476967 h 3128935"/>
              <a:gd name="connsiteX6" fmla="*/ 4817532 w 8527062"/>
              <a:gd name="connsiteY6" fmla="*/ 1899073 h 3128935"/>
              <a:gd name="connsiteX7" fmla="*/ 5689600 w 8527062"/>
              <a:gd name="connsiteY7" fmla="*/ 3118273 h 3128935"/>
              <a:gd name="connsiteX8" fmla="*/ 7044266 w 8527062"/>
              <a:gd name="connsiteY8" fmla="*/ 1069339 h 3128935"/>
              <a:gd name="connsiteX9" fmla="*/ 7620000 w 8527062"/>
              <a:gd name="connsiteY9" fmla="*/ 2872740 h 3128935"/>
              <a:gd name="connsiteX10" fmla="*/ 8229600 w 8527062"/>
              <a:gd name="connsiteY10" fmla="*/ 44873 h 3128935"/>
              <a:gd name="connsiteX11" fmla="*/ 8525933 w 8527062"/>
              <a:gd name="connsiteY11" fmla="*/ 1086273 h 3128935"/>
              <a:gd name="connsiteX0" fmla="*/ 0 w 8527062"/>
              <a:gd name="connsiteY0" fmla="*/ 1221740 h 3130725"/>
              <a:gd name="connsiteX1" fmla="*/ 719666 w 8527062"/>
              <a:gd name="connsiteY1" fmla="*/ 654473 h 3130725"/>
              <a:gd name="connsiteX2" fmla="*/ 1523999 w 8527062"/>
              <a:gd name="connsiteY2" fmla="*/ 2584873 h 3130725"/>
              <a:gd name="connsiteX3" fmla="*/ 2870199 w 8527062"/>
              <a:gd name="connsiteY3" fmla="*/ 1712807 h 3130725"/>
              <a:gd name="connsiteX4" fmla="*/ 3928533 w 8527062"/>
              <a:gd name="connsiteY4" fmla="*/ 1289473 h 3130725"/>
              <a:gd name="connsiteX5" fmla="*/ 4817532 w 8527062"/>
              <a:gd name="connsiteY5" fmla="*/ 1899073 h 3130725"/>
              <a:gd name="connsiteX6" fmla="*/ 5689600 w 8527062"/>
              <a:gd name="connsiteY6" fmla="*/ 3118273 h 3130725"/>
              <a:gd name="connsiteX7" fmla="*/ 7044266 w 8527062"/>
              <a:gd name="connsiteY7" fmla="*/ 1069339 h 3130725"/>
              <a:gd name="connsiteX8" fmla="*/ 7620000 w 8527062"/>
              <a:gd name="connsiteY8" fmla="*/ 2872740 h 3130725"/>
              <a:gd name="connsiteX9" fmla="*/ 8229600 w 8527062"/>
              <a:gd name="connsiteY9" fmla="*/ 44873 h 3130725"/>
              <a:gd name="connsiteX10" fmla="*/ 8525933 w 8527062"/>
              <a:gd name="connsiteY10" fmla="*/ 1086273 h 3130725"/>
              <a:gd name="connsiteX0" fmla="*/ 0 w 8527062"/>
              <a:gd name="connsiteY0" fmla="*/ 1221740 h 2884077"/>
              <a:gd name="connsiteX1" fmla="*/ 719666 w 8527062"/>
              <a:gd name="connsiteY1" fmla="*/ 654473 h 2884077"/>
              <a:gd name="connsiteX2" fmla="*/ 1523999 w 8527062"/>
              <a:gd name="connsiteY2" fmla="*/ 2584873 h 2884077"/>
              <a:gd name="connsiteX3" fmla="*/ 2870199 w 8527062"/>
              <a:gd name="connsiteY3" fmla="*/ 1712807 h 2884077"/>
              <a:gd name="connsiteX4" fmla="*/ 3928533 w 8527062"/>
              <a:gd name="connsiteY4" fmla="*/ 1289473 h 2884077"/>
              <a:gd name="connsiteX5" fmla="*/ 4817532 w 8527062"/>
              <a:gd name="connsiteY5" fmla="*/ 1899073 h 2884077"/>
              <a:gd name="connsiteX6" fmla="*/ 7044266 w 8527062"/>
              <a:gd name="connsiteY6" fmla="*/ 1069339 h 2884077"/>
              <a:gd name="connsiteX7" fmla="*/ 7620000 w 8527062"/>
              <a:gd name="connsiteY7" fmla="*/ 2872740 h 2884077"/>
              <a:gd name="connsiteX8" fmla="*/ 8229600 w 8527062"/>
              <a:gd name="connsiteY8" fmla="*/ 44873 h 2884077"/>
              <a:gd name="connsiteX9" fmla="*/ 8525933 w 8527062"/>
              <a:gd name="connsiteY9" fmla="*/ 1086273 h 2884077"/>
              <a:gd name="connsiteX0" fmla="*/ 0 w 8527062"/>
              <a:gd name="connsiteY0" fmla="*/ 1221740 h 2609220"/>
              <a:gd name="connsiteX1" fmla="*/ 719666 w 8527062"/>
              <a:gd name="connsiteY1" fmla="*/ 654473 h 2609220"/>
              <a:gd name="connsiteX2" fmla="*/ 1523999 w 8527062"/>
              <a:gd name="connsiteY2" fmla="*/ 2584873 h 2609220"/>
              <a:gd name="connsiteX3" fmla="*/ 2870199 w 8527062"/>
              <a:gd name="connsiteY3" fmla="*/ 1712807 h 2609220"/>
              <a:gd name="connsiteX4" fmla="*/ 3928533 w 8527062"/>
              <a:gd name="connsiteY4" fmla="*/ 1289473 h 2609220"/>
              <a:gd name="connsiteX5" fmla="*/ 4817532 w 8527062"/>
              <a:gd name="connsiteY5" fmla="*/ 1899073 h 2609220"/>
              <a:gd name="connsiteX6" fmla="*/ 7044266 w 8527062"/>
              <a:gd name="connsiteY6" fmla="*/ 1069339 h 2609220"/>
              <a:gd name="connsiteX7" fmla="*/ 8229600 w 8527062"/>
              <a:gd name="connsiteY7" fmla="*/ 44873 h 2609220"/>
              <a:gd name="connsiteX8" fmla="*/ 8525933 w 8527062"/>
              <a:gd name="connsiteY8" fmla="*/ 1086273 h 2609220"/>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7044266 w 8526584"/>
              <a:gd name="connsiteY6" fmla="*/ 443722 h 1983603"/>
              <a:gd name="connsiteX7" fmla="*/ 8100190 w 8526584"/>
              <a:gd name="connsiteY7" fmla="*/ 850123 h 1983603"/>
              <a:gd name="connsiteX8" fmla="*/ 8525933 w 8526584"/>
              <a:gd name="connsiteY8" fmla="*/ 460656 h 1983603"/>
              <a:gd name="connsiteX0" fmla="*/ 0 w 8526584"/>
              <a:gd name="connsiteY0" fmla="*/ 596123 h 1983603"/>
              <a:gd name="connsiteX1" fmla="*/ 719666 w 8526584"/>
              <a:gd name="connsiteY1" fmla="*/ 28856 h 1983603"/>
              <a:gd name="connsiteX2" fmla="*/ 1523999 w 8526584"/>
              <a:gd name="connsiteY2" fmla="*/ 1959256 h 1983603"/>
              <a:gd name="connsiteX3" fmla="*/ 2870199 w 8526584"/>
              <a:gd name="connsiteY3" fmla="*/ 1087190 h 1983603"/>
              <a:gd name="connsiteX4" fmla="*/ 3928533 w 8526584"/>
              <a:gd name="connsiteY4" fmla="*/ 663856 h 1983603"/>
              <a:gd name="connsiteX5" fmla="*/ 4817532 w 8526584"/>
              <a:gd name="connsiteY5" fmla="*/ 1273456 h 1983603"/>
              <a:gd name="connsiteX6" fmla="*/ 6906768 w 8526584"/>
              <a:gd name="connsiteY6" fmla="*/ 502989 h 1983603"/>
              <a:gd name="connsiteX7" fmla="*/ 8100190 w 8526584"/>
              <a:gd name="connsiteY7" fmla="*/ 850123 h 1983603"/>
              <a:gd name="connsiteX8" fmla="*/ 8525933 w 8526584"/>
              <a:gd name="connsiteY8" fmla="*/ 460656 h 1983603"/>
              <a:gd name="connsiteX0" fmla="*/ 0 w 8526584"/>
              <a:gd name="connsiteY0" fmla="*/ 148404 h 1513499"/>
              <a:gd name="connsiteX1" fmla="*/ 768195 w 8526584"/>
              <a:gd name="connsiteY1" fmla="*/ 377004 h 1513499"/>
              <a:gd name="connsiteX2" fmla="*/ 1523999 w 8526584"/>
              <a:gd name="connsiteY2" fmla="*/ 1511537 h 1513499"/>
              <a:gd name="connsiteX3" fmla="*/ 2870199 w 8526584"/>
              <a:gd name="connsiteY3" fmla="*/ 639471 h 1513499"/>
              <a:gd name="connsiteX4" fmla="*/ 3928533 w 8526584"/>
              <a:gd name="connsiteY4" fmla="*/ 216137 h 1513499"/>
              <a:gd name="connsiteX5" fmla="*/ 4817532 w 8526584"/>
              <a:gd name="connsiteY5" fmla="*/ 825737 h 1513499"/>
              <a:gd name="connsiteX6" fmla="*/ 6906768 w 8526584"/>
              <a:gd name="connsiteY6" fmla="*/ 55270 h 1513499"/>
              <a:gd name="connsiteX7" fmla="*/ 8100190 w 8526584"/>
              <a:gd name="connsiteY7" fmla="*/ 402404 h 1513499"/>
              <a:gd name="connsiteX8" fmla="*/ 8525933 w 8526584"/>
              <a:gd name="connsiteY8" fmla="*/ 12937 h 1513499"/>
              <a:gd name="connsiteX0" fmla="*/ 0 w 8526584"/>
              <a:gd name="connsiteY0" fmla="*/ 148404 h 1302454"/>
              <a:gd name="connsiteX1" fmla="*/ 768195 w 8526584"/>
              <a:gd name="connsiteY1" fmla="*/ 377004 h 1302454"/>
              <a:gd name="connsiteX2" fmla="*/ 1750467 w 8526584"/>
              <a:gd name="connsiteY2" fmla="*/ 1299870 h 1302454"/>
              <a:gd name="connsiteX3" fmla="*/ 2870199 w 8526584"/>
              <a:gd name="connsiteY3" fmla="*/ 639471 h 1302454"/>
              <a:gd name="connsiteX4" fmla="*/ 3928533 w 8526584"/>
              <a:gd name="connsiteY4" fmla="*/ 216137 h 1302454"/>
              <a:gd name="connsiteX5" fmla="*/ 4817532 w 8526584"/>
              <a:gd name="connsiteY5" fmla="*/ 825737 h 1302454"/>
              <a:gd name="connsiteX6" fmla="*/ 6906768 w 8526584"/>
              <a:gd name="connsiteY6" fmla="*/ 55270 h 1302454"/>
              <a:gd name="connsiteX7" fmla="*/ 8100190 w 8526584"/>
              <a:gd name="connsiteY7" fmla="*/ 402404 h 1302454"/>
              <a:gd name="connsiteX8" fmla="*/ 8525933 w 8526584"/>
              <a:gd name="connsiteY8" fmla="*/ 12937 h 1302454"/>
              <a:gd name="connsiteX0" fmla="*/ 0 w 8526584"/>
              <a:gd name="connsiteY0" fmla="*/ 148404 h 1319420"/>
              <a:gd name="connsiteX1" fmla="*/ 768195 w 8526584"/>
              <a:gd name="connsiteY1" fmla="*/ 377004 h 1319420"/>
              <a:gd name="connsiteX2" fmla="*/ 1750467 w 8526584"/>
              <a:gd name="connsiteY2" fmla="*/ 1299870 h 1319420"/>
              <a:gd name="connsiteX3" fmla="*/ 3088580 w 8526584"/>
              <a:gd name="connsiteY3" fmla="*/ 944271 h 1319420"/>
              <a:gd name="connsiteX4" fmla="*/ 3928533 w 8526584"/>
              <a:gd name="connsiteY4" fmla="*/ 216137 h 1319420"/>
              <a:gd name="connsiteX5" fmla="*/ 4817532 w 8526584"/>
              <a:gd name="connsiteY5" fmla="*/ 825737 h 1319420"/>
              <a:gd name="connsiteX6" fmla="*/ 6906768 w 8526584"/>
              <a:gd name="connsiteY6" fmla="*/ 55270 h 1319420"/>
              <a:gd name="connsiteX7" fmla="*/ 8100190 w 8526584"/>
              <a:gd name="connsiteY7" fmla="*/ 402404 h 1319420"/>
              <a:gd name="connsiteX8" fmla="*/ 8525933 w 8526584"/>
              <a:gd name="connsiteY8" fmla="*/ 12937 h 1319420"/>
              <a:gd name="connsiteX0" fmla="*/ 0 w 8526191"/>
              <a:gd name="connsiteY0" fmla="*/ 139702 h 1310718"/>
              <a:gd name="connsiteX1" fmla="*/ 768195 w 8526191"/>
              <a:gd name="connsiteY1" fmla="*/ 368302 h 1310718"/>
              <a:gd name="connsiteX2" fmla="*/ 1750467 w 8526191"/>
              <a:gd name="connsiteY2" fmla="*/ 1291168 h 1310718"/>
              <a:gd name="connsiteX3" fmla="*/ 3088580 w 8526191"/>
              <a:gd name="connsiteY3" fmla="*/ 935569 h 1310718"/>
              <a:gd name="connsiteX4" fmla="*/ 3928533 w 8526191"/>
              <a:gd name="connsiteY4" fmla="*/ 207435 h 1310718"/>
              <a:gd name="connsiteX5" fmla="*/ 4817532 w 8526191"/>
              <a:gd name="connsiteY5" fmla="*/ 817035 h 1310718"/>
              <a:gd name="connsiteX6" fmla="*/ 6906768 w 8526191"/>
              <a:gd name="connsiteY6" fmla="*/ 46568 h 1310718"/>
              <a:gd name="connsiteX7" fmla="*/ 7639165 w 8526191"/>
              <a:gd name="connsiteY7" fmla="*/ 833969 h 1310718"/>
              <a:gd name="connsiteX8" fmla="*/ 8525933 w 8526191"/>
              <a:gd name="connsiteY8" fmla="*/ 4235 h 1310718"/>
              <a:gd name="connsiteX0" fmla="*/ 0 w 8526305"/>
              <a:gd name="connsiteY0" fmla="*/ 138725 h 1309741"/>
              <a:gd name="connsiteX1" fmla="*/ 768195 w 8526305"/>
              <a:gd name="connsiteY1" fmla="*/ 367325 h 1309741"/>
              <a:gd name="connsiteX2" fmla="*/ 1750467 w 8526305"/>
              <a:gd name="connsiteY2" fmla="*/ 1290191 h 1309741"/>
              <a:gd name="connsiteX3" fmla="*/ 3088580 w 8526305"/>
              <a:gd name="connsiteY3" fmla="*/ 934592 h 1309741"/>
              <a:gd name="connsiteX4" fmla="*/ 3928533 w 8526305"/>
              <a:gd name="connsiteY4" fmla="*/ 206458 h 1309741"/>
              <a:gd name="connsiteX5" fmla="*/ 4817532 w 8526305"/>
              <a:gd name="connsiteY5" fmla="*/ 816058 h 1309741"/>
              <a:gd name="connsiteX6" fmla="*/ 6906768 w 8526305"/>
              <a:gd name="connsiteY6" fmla="*/ 45591 h 1309741"/>
              <a:gd name="connsiteX7" fmla="*/ 7639165 w 8526305"/>
              <a:gd name="connsiteY7" fmla="*/ 832992 h 1309741"/>
              <a:gd name="connsiteX8" fmla="*/ 8525933 w 8526305"/>
              <a:gd name="connsiteY8" fmla="*/ 3258 h 1309741"/>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906768 w 8526504"/>
              <a:gd name="connsiteY6" fmla="*/ 48028 h 1312178"/>
              <a:gd name="connsiteX7" fmla="*/ 7825193 w 8526504"/>
              <a:gd name="connsiteY7" fmla="*/ 479829 h 1312178"/>
              <a:gd name="connsiteX8" fmla="*/ 8525933 w 8526504"/>
              <a:gd name="connsiteY8" fmla="*/ 5695 h 1312178"/>
              <a:gd name="connsiteX0" fmla="*/ 0 w 8526504"/>
              <a:gd name="connsiteY0" fmla="*/ 141162 h 1312178"/>
              <a:gd name="connsiteX1" fmla="*/ 768195 w 8526504"/>
              <a:gd name="connsiteY1" fmla="*/ 369762 h 1312178"/>
              <a:gd name="connsiteX2" fmla="*/ 1750467 w 8526504"/>
              <a:gd name="connsiteY2" fmla="*/ 1292628 h 1312178"/>
              <a:gd name="connsiteX3" fmla="*/ 3088580 w 8526504"/>
              <a:gd name="connsiteY3" fmla="*/ 937029 h 1312178"/>
              <a:gd name="connsiteX4" fmla="*/ 3928533 w 8526504"/>
              <a:gd name="connsiteY4" fmla="*/ 208895 h 1312178"/>
              <a:gd name="connsiteX5" fmla="*/ 4817532 w 8526504"/>
              <a:gd name="connsiteY5" fmla="*/ 818495 h 1312178"/>
              <a:gd name="connsiteX6" fmla="*/ 6858239 w 8526504"/>
              <a:gd name="connsiteY6" fmla="*/ 776161 h 1312178"/>
              <a:gd name="connsiteX7" fmla="*/ 7825193 w 8526504"/>
              <a:gd name="connsiteY7" fmla="*/ 479829 h 1312178"/>
              <a:gd name="connsiteX8" fmla="*/ 8525933 w 8526504"/>
              <a:gd name="connsiteY8" fmla="*/ 5695 h 1312178"/>
              <a:gd name="connsiteX0" fmla="*/ 0 w 8526504"/>
              <a:gd name="connsiteY0" fmla="*/ 141162 h 1403304"/>
              <a:gd name="connsiteX1" fmla="*/ 768195 w 8526504"/>
              <a:gd name="connsiteY1" fmla="*/ 369762 h 1403304"/>
              <a:gd name="connsiteX2" fmla="*/ 1750467 w 8526504"/>
              <a:gd name="connsiteY2" fmla="*/ 1292628 h 1403304"/>
              <a:gd name="connsiteX3" fmla="*/ 3088580 w 8526504"/>
              <a:gd name="connsiteY3" fmla="*/ 937029 h 1403304"/>
              <a:gd name="connsiteX4" fmla="*/ 3920445 w 8526504"/>
              <a:gd name="connsiteY4" fmla="*/ 1402695 h 1403304"/>
              <a:gd name="connsiteX5" fmla="*/ 4817532 w 8526504"/>
              <a:gd name="connsiteY5" fmla="*/ 818495 h 1403304"/>
              <a:gd name="connsiteX6" fmla="*/ 6858239 w 8526504"/>
              <a:gd name="connsiteY6" fmla="*/ 776161 h 1403304"/>
              <a:gd name="connsiteX7" fmla="*/ 7825193 w 8526504"/>
              <a:gd name="connsiteY7" fmla="*/ 479829 h 1403304"/>
              <a:gd name="connsiteX8" fmla="*/ 8525933 w 8526504"/>
              <a:gd name="connsiteY8" fmla="*/ 5695 h 1403304"/>
              <a:gd name="connsiteX0" fmla="*/ 0 w 8526519"/>
              <a:gd name="connsiteY0" fmla="*/ 141162 h 1403304"/>
              <a:gd name="connsiteX1" fmla="*/ 768195 w 8526519"/>
              <a:gd name="connsiteY1" fmla="*/ 369762 h 1403304"/>
              <a:gd name="connsiteX2" fmla="*/ 1750467 w 8526519"/>
              <a:gd name="connsiteY2" fmla="*/ 1292628 h 1403304"/>
              <a:gd name="connsiteX3" fmla="*/ 3088580 w 8526519"/>
              <a:gd name="connsiteY3" fmla="*/ 937029 h 1403304"/>
              <a:gd name="connsiteX4" fmla="*/ 3920445 w 8526519"/>
              <a:gd name="connsiteY4" fmla="*/ 1402695 h 1403304"/>
              <a:gd name="connsiteX5" fmla="*/ 4817532 w 8526519"/>
              <a:gd name="connsiteY5" fmla="*/ 818495 h 1403304"/>
              <a:gd name="connsiteX6" fmla="*/ 6858239 w 8526519"/>
              <a:gd name="connsiteY6" fmla="*/ 776161 h 1403304"/>
              <a:gd name="connsiteX7" fmla="*/ 7833674 w 8526519"/>
              <a:gd name="connsiteY7" fmla="*/ 479829 h 1403304"/>
              <a:gd name="connsiteX8" fmla="*/ 8525933 w 8526519"/>
              <a:gd name="connsiteY8" fmla="*/ 5695 h 1403304"/>
              <a:gd name="connsiteX0" fmla="*/ 0 w 8526583"/>
              <a:gd name="connsiteY0" fmla="*/ 139934 h 1402076"/>
              <a:gd name="connsiteX1" fmla="*/ 768195 w 8526583"/>
              <a:gd name="connsiteY1" fmla="*/ 368534 h 1402076"/>
              <a:gd name="connsiteX2" fmla="*/ 1750467 w 8526583"/>
              <a:gd name="connsiteY2" fmla="*/ 1291400 h 1402076"/>
              <a:gd name="connsiteX3" fmla="*/ 3088580 w 8526583"/>
              <a:gd name="connsiteY3" fmla="*/ 935801 h 1402076"/>
              <a:gd name="connsiteX4" fmla="*/ 3920445 w 8526583"/>
              <a:gd name="connsiteY4" fmla="*/ 1401467 h 1402076"/>
              <a:gd name="connsiteX5" fmla="*/ 4817532 w 8526583"/>
              <a:gd name="connsiteY5" fmla="*/ 817267 h 1402076"/>
              <a:gd name="connsiteX6" fmla="*/ 6858239 w 8526583"/>
              <a:gd name="connsiteY6" fmla="*/ 774933 h 1402076"/>
              <a:gd name="connsiteX7" fmla="*/ 7833674 w 8526583"/>
              <a:gd name="connsiteY7" fmla="*/ 478601 h 1402076"/>
              <a:gd name="connsiteX8" fmla="*/ 8525933 w 8526583"/>
              <a:gd name="connsiteY8" fmla="*/ 4467 h 1402076"/>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402"/>
              <a:gd name="connsiteY0" fmla="*/ 138428 h 1400570"/>
              <a:gd name="connsiteX1" fmla="*/ 768195 w 8526402"/>
              <a:gd name="connsiteY1" fmla="*/ 367028 h 1400570"/>
              <a:gd name="connsiteX2" fmla="*/ 1750467 w 8526402"/>
              <a:gd name="connsiteY2" fmla="*/ 1289894 h 1400570"/>
              <a:gd name="connsiteX3" fmla="*/ 3088580 w 8526402"/>
              <a:gd name="connsiteY3" fmla="*/ 934295 h 1400570"/>
              <a:gd name="connsiteX4" fmla="*/ 3920445 w 8526402"/>
              <a:gd name="connsiteY4" fmla="*/ 1399961 h 1400570"/>
              <a:gd name="connsiteX5" fmla="*/ 4817532 w 8526402"/>
              <a:gd name="connsiteY5" fmla="*/ 815761 h 1400570"/>
              <a:gd name="connsiteX6" fmla="*/ 6858239 w 8526402"/>
              <a:gd name="connsiteY6" fmla="*/ 773427 h 1400570"/>
              <a:gd name="connsiteX7" fmla="*/ 7833674 w 8526402"/>
              <a:gd name="connsiteY7" fmla="*/ 477095 h 1400570"/>
              <a:gd name="connsiteX8" fmla="*/ 8525933 w 8526402"/>
              <a:gd name="connsiteY8" fmla="*/ 2961 h 1400570"/>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858239 w 8526097"/>
              <a:gd name="connsiteY6" fmla="*/ 772138 h 1399281"/>
              <a:gd name="connsiteX7" fmla="*/ 7053442 w 8526097"/>
              <a:gd name="connsiteY7" fmla="*/ 1177142 h 1399281"/>
              <a:gd name="connsiteX8" fmla="*/ 8525933 w 8526097"/>
              <a:gd name="connsiteY8" fmla="*/ 1672 h 1399281"/>
              <a:gd name="connsiteX0" fmla="*/ 0 w 8526097"/>
              <a:gd name="connsiteY0" fmla="*/ 137139 h 1399281"/>
              <a:gd name="connsiteX1" fmla="*/ 768195 w 8526097"/>
              <a:gd name="connsiteY1" fmla="*/ 365739 h 1399281"/>
              <a:gd name="connsiteX2" fmla="*/ 1750467 w 8526097"/>
              <a:gd name="connsiteY2" fmla="*/ 1288605 h 1399281"/>
              <a:gd name="connsiteX3" fmla="*/ 3088580 w 8526097"/>
              <a:gd name="connsiteY3" fmla="*/ 933006 h 1399281"/>
              <a:gd name="connsiteX4" fmla="*/ 3920445 w 8526097"/>
              <a:gd name="connsiteY4" fmla="*/ 1398672 h 1399281"/>
              <a:gd name="connsiteX5" fmla="*/ 4817532 w 8526097"/>
              <a:gd name="connsiteY5" fmla="*/ 814472 h 1399281"/>
              <a:gd name="connsiteX6" fmla="*/ 6298507 w 8526097"/>
              <a:gd name="connsiteY6" fmla="*/ 789894 h 1399281"/>
              <a:gd name="connsiteX7" fmla="*/ 7053442 w 8526097"/>
              <a:gd name="connsiteY7" fmla="*/ 1177142 h 1399281"/>
              <a:gd name="connsiteX8" fmla="*/ 8525933 w 8526097"/>
              <a:gd name="connsiteY8" fmla="*/ 1672 h 1399281"/>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6298507 w 8526149"/>
              <a:gd name="connsiteY6" fmla="*/ 790207 h 1399594"/>
              <a:gd name="connsiteX7" fmla="*/ 7053442 w 8526149"/>
              <a:gd name="connsiteY7" fmla="*/ 1177455 h 1399594"/>
              <a:gd name="connsiteX8" fmla="*/ 8525933 w 8526149"/>
              <a:gd name="connsiteY8" fmla="*/ 1985 h 1399594"/>
              <a:gd name="connsiteX0" fmla="*/ 0 w 8526149"/>
              <a:gd name="connsiteY0" fmla="*/ 137452 h 1399594"/>
              <a:gd name="connsiteX1" fmla="*/ 768195 w 8526149"/>
              <a:gd name="connsiteY1" fmla="*/ 366052 h 1399594"/>
              <a:gd name="connsiteX2" fmla="*/ 1750467 w 8526149"/>
              <a:gd name="connsiteY2" fmla="*/ 1288918 h 1399594"/>
              <a:gd name="connsiteX3" fmla="*/ 3088580 w 8526149"/>
              <a:gd name="connsiteY3" fmla="*/ 933319 h 1399594"/>
              <a:gd name="connsiteX4" fmla="*/ 3920445 w 8526149"/>
              <a:gd name="connsiteY4" fmla="*/ 1398985 h 1399594"/>
              <a:gd name="connsiteX5" fmla="*/ 4817532 w 8526149"/>
              <a:gd name="connsiteY5" fmla="*/ 814785 h 1399594"/>
              <a:gd name="connsiteX6" fmla="*/ 5832064 w 8526149"/>
              <a:gd name="connsiteY6" fmla="*/ 541632 h 1399594"/>
              <a:gd name="connsiteX7" fmla="*/ 7053442 w 8526149"/>
              <a:gd name="connsiteY7" fmla="*/ 1177455 h 1399594"/>
              <a:gd name="connsiteX8" fmla="*/ 8525933 w 8526149"/>
              <a:gd name="connsiteY8" fmla="*/ 1985 h 1399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526149" h="1399594">
                <a:moveTo>
                  <a:pt x="0" y="137452"/>
                </a:moveTo>
                <a:cubicBezTo>
                  <a:pt x="219427" y="544557"/>
                  <a:pt x="476451" y="174141"/>
                  <a:pt x="768195" y="366052"/>
                </a:cubicBezTo>
                <a:cubicBezTo>
                  <a:pt x="1059940" y="557963"/>
                  <a:pt x="1363736" y="1194374"/>
                  <a:pt x="1750467" y="1288918"/>
                </a:cubicBezTo>
                <a:cubicBezTo>
                  <a:pt x="2137198" y="1383463"/>
                  <a:pt x="2726917" y="914975"/>
                  <a:pt x="3088580" y="933319"/>
                </a:cubicBezTo>
                <a:cubicBezTo>
                  <a:pt x="3450243" y="951664"/>
                  <a:pt x="3632286" y="1418741"/>
                  <a:pt x="3920445" y="1398985"/>
                </a:cubicBezTo>
                <a:cubicBezTo>
                  <a:pt x="4208604" y="1379229"/>
                  <a:pt x="4498929" y="957677"/>
                  <a:pt x="4817532" y="814785"/>
                </a:cubicBezTo>
                <a:cubicBezTo>
                  <a:pt x="5136135" y="671893"/>
                  <a:pt x="5459412" y="481187"/>
                  <a:pt x="5832064" y="541632"/>
                </a:cubicBezTo>
                <a:cubicBezTo>
                  <a:pt x="6204716" y="602077"/>
                  <a:pt x="6619921" y="1130245"/>
                  <a:pt x="7053442" y="1177455"/>
                </a:cubicBezTo>
                <a:cubicBezTo>
                  <a:pt x="7642529" y="1260874"/>
                  <a:pt x="8542161" y="-57987"/>
                  <a:pt x="8525933" y="1985"/>
                </a:cubicBezTo>
              </a:path>
            </a:pathLst>
          </a:custGeom>
          <a:no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TextBox 16">
            <a:extLst>
              <a:ext uri="{FF2B5EF4-FFF2-40B4-BE49-F238E27FC236}">
                <a16:creationId id="{998FA85F-2709-4E43-A45C-A50BD2907EBC}"/>
              </a:ext>
            </a:extLst>
          </p:cNvPr>
          <p:cNvSpPr txBox="1"/>
          <p:nvPr/>
        </p:nvSpPr>
        <p:spPr>
          <a:xfrm>
            <a:off x="1798279" y="69136"/>
            <a:ext cx="928023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General Case of Action Between Two Architrinos with v &lt; @ in a Euclidean Void</a:t>
            </a:r>
          </a:p>
        </p:txBody>
      </p:sp>
      <p:sp>
        <p:nvSpPr>
          <p:cNvPr id="18" name="Oval 17">
            <a:extLst>
              <a:ext uri="{FF2B5EF4-FFF2-40B4-BE49-F238E27FC236}">
                <a16:creationId id="{BE4CDC90-4B2E-BE41-BB9D-A84675F3A2FE}"/>
              </a:ext>
            </a:extLst>
          </p:cNvPr>
          <p:cNvSpPr/>
          <p:nvPr/>
        </p:nvSpPr>
        <p:spPr>
          <a:xfrm>
            <a:off x="9956021" y="-4563821"/>
            <a:ext cx="127000" cy="127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Oval 18">
            <a:extLst>
              <a:ext uri="{FF2B5EF4-FFF2-40B4-BE49-F238E27FC236}">
                <a16:creationId id="{0592434B-85D0-0A41-95DD-A29D1D3E92A7}"/>
              </a:ext>
            </a:extLst>
          </p:cNvPr>
          <p:cNvSpPr/>
          <p:nvPr/>
        </p:nvSpPr>
        <p:spPr>
          <a:xfrm>
            <a:off x="17485534" y="-5570502"/>
            <a:ext cx="127000" cy="127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 name="TextBox 20">
            <a:extLst>
              <a:ext uri="{FF2B5EF4-FFF2-40B4-BE49-F238E27FC236}">
                <a16:creationId id="{7B549753-C2CD-8744-8435-2E08FD32BDEB}"/>
              </a:ext>
            </a:extLst>
          </p:cNvPr>
          <p:cNvSpPr txBox="1"/>
          <p:nvPr/>
        </p:nvSpPr>
        <p:spPr>
          <a:xfrm>
            <a:off x="10083020" y="-4661458"/>
            <a:ext cx="934365"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Box 21">
            <a:extLst>
              <a:ext uri="{FF2B5EF4-FFF2-40B4-BE49-F238E27FC236}">
                <a16:creationId id="{32F7BF73-EB2C-9D42-97FB-D39FDCC924EB}"/>
              </a:ext>
            </a:extLst>
          </p:cNvPr>
          <p:cNvSpPr txBox="1"/>
          <p:nvPr/>
        </p:nvSpPr>
        <p:spPr>
          <a:xfrm>
            <a:off x="10083020" y="-2171502"/>
            <a:ext cx="695244"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B(t)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32" name="Group 31">
            <a:extLst>
              <a:ext uri="{FF2B5EF4-FFF2-40B4-BE49-F238E27FC236}">
                <a16:creationId id="{A120AE69-6043-195E-40C7-43C019B9D3A9}"/>
              </a:ext>
            </a:extLst>
          </p:cNvPr>
          <p:cNvGrpSpPr/>
          <p:nvPr/>
        </p:nvGrpSpPr>
        <p:grpSpPr>
          <a:xfrm>
            <a:off x="7830293" y="-3993427"/>
            <a:ext cx="2407458" cy="2492074"/>
            <a:chOff x="8478163" y="2144136"/>
            <a:chExt cx="2407458" cy="2492074"/>
          </a:xfrm>
        </p:grpSpPr>
        <p:cxnSp>
          <p:nvCxnSpPr>
            <p:cNvPr id="24" name="Straight Connector 23">
              <a:extLst>
                <a:ext uri="{FF2B5EF4-FFF2-40B4-BE49-F238E27FC236}">
                  <a16:creationId id="{3A19E039-1667-254C-809A-972BBA46D65C}"/>
                </a:ext>
              </a:extLst>
            </p:cNvPr>
            <p:cNvCxnSpPr>
              <a:cxnSpLocks/>
            </p:cNvCxnSpPr>
            <p:nvPr/>
          </p:nvCxnSpPr>
          <p:spPr>
            <a:xfrm>
              <a:off x="9708404" y="3401438"/>
              <a:ext cx="895487" cy="749289"/>
            </a:xfrm>
            <a:prstGeom prst="line">
              <a:avLst/>
            </a:prstGeom>
            <a:ln w="12700">
              <a:solidFill>
                <a:srgbClr val="00B050"/>
              </a:solidFill>
              <a:prstDash val="sysDash"/>
              <a:headEnd type="oval"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Oval 1">
              <a:extLst>
                <a:ext uri="{FF2B5EF4-FFF2-40B4-BE49-F238E27FC236}">
                  <a16:creationId id="{38418338-F1E6-81D9-6A8C-D7EB7AA9DDA2}"/>
                </a:ext>
              </a:extLst>
            </p:cNvPr>
            <p:cNvSpPr>
              <a:spLocks noChangeAspect="1"/>
            </p:cNvSpPr>
            <p:nvPr/>
          </p:nvSpPr>
          <p:spPr>
            <a:xfrm>
              <a:off x="8478163" y="2144136"/>
              <a:ext cx="2407458" cy="2492074"/>
            </a:xfrm>
            <a:prstGeom prst="ellipse">
              <a:avLst/>
            </a:prstGeom>
            <a:noFill/>
            <a:ln w="12700">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29" name="TextBox 28">
            <a:extLst>
              <a:ext uri="{FF2B5EF4-FFF2-40B4-BE49-F238E27FC236}">
                <a16:creationId id="{2C329E1C-5E54-9E3C-A6FA-AE50E16EEB85}"/>
              </a:ext>
            </a:extLst>
          </p:cNvPr>
          <p:cNvSpPr txBox="1"/>
          <p:nvPr/>
        </p:nvSpPr>
        <p:spPr>
          <a:xfrm>
            <a:off x="16253464" y="-6224293"/>
            <a:ext cx="651065"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B050"/>
                </a:solidFill>
                <a:effectLst/>
                <a:uLnTx/>
                <a:uFillTx/>
                <a:latin typeface="Helvetica Neue" panose="02000503000000020004" pitchFamily="2" charset="0"/>
                <a:ea typeface="Helvetica Neue" panose="02000503000000020004" pitchFamily="2" charset="0"/>
                <a:cs typeface="Helvetica Neue" panose="02000503000000020004" pitchFamily="2" charset="0"/>
              </a:rPr>
              <a:t>A(t’)</a:t>
            </a:r>
            <a:endParaRPr kumimoji="0" lang="en-US" sz="1800" b="0" i="0" u="none" strike="noStrike" kern="1200" cap="none" spc="0" normalizeH="0" baseline="0" noProof="0" dirty="0">
              <a:ln>
                <a:noFill/>
              </a:ln>
              <a:solidFill>
                <a:srgbClr val="00B050"/>
              </a:solidFill>
              <a:effectLst/>
              <a:uLnTx/>
              <a:uFillTx/>
              <a:latin typeface="Calibri" panose="020F0502020204030204"/>
              <a:ea typeface="+mn-ea"/>
              <a:cs typeface="+mn-cs"/>
            </a:endParaRPr>
          </a:p>
        </p:txBody>
      </p:sp>
      <p:grpSp>
        <p:nvGrpSpPr>
          <p:cNvPr id="40" name="Group 39">
            <a:extLst>
              <a:ext uri="{FF2B5EF4-FFF2-40B4-BE49-F238E27FC236}">
                <a16:creationId id="{C105AAA1-FA00-79D8-70E9-DB832351B5E2}"/>
              </a:ext>
            </a:extLst>
          </p:cNvPr>
          <p:cNvGrpSpPr/>
          <p:nvPr/>
        </p:nvGrpSpPr>
        <p:grpSpPr>
          <a:xfrm rot="14400000">
            <a:off x="13240170" y="-1364030"/>
            <a:ext cx="2514783" cy="2603171"/>
            <a:chOff x="8478163" y="2144136"/>
            <a:chExt cx="2407458" cy="2492074"/>
          </a:xfrm>
        </p:grpSpPr>
        <p:cxnSp>
          <p:nvCxnSpPr>
            <p:cNvPr id="41" name="Straight Connector 40">
              <a:extLst>
                <a:ext uri="{FF2B5EF4-FFF2-40B4-BE49-F238E27FC236}">
                  <a16:creationId id="{48D05E5C-4059-6EC7-1299-E52A65F46E3D}"/>
                </a:ext>
              </a:extLst>
            </p:cNvPr>
            <p:cNvCxnSpPr>
              <a:cxnSpLocks/>
            </p:cNvCxnSpPr>
            <p:nvPr/>
          </p:nvCxnSpPr>
          <p:spPr>
            <a:xfrm rot="5400000" flipV="1">
              <a:off x="9777616" y="3271712"/>
              <a:ext cx="787430" cy="925856"/>
            </a:xfrm>
            <a:prstGeom prst="line">
              <a:avLst/>
            </a:prstGeom>
            <a:ln w="12700">
              <a:solidFill>
                <a:srgbClr val="FFFF00"/>
              </a:solidFill>
              <a:prstDash val="sysDash"/>
              <a:headEnd type="oval" w="lg" len="lg"/>
              <a:tailEnd type="triangle" w="lg" len="lg"/>
            </a:ln>
          </p:spPr>
          <p:style>
            <a:lnRef idx="1">
              <a:schemeClr val="accent1"/>
            </a:lnRef>
            <a:fillRef idx="0">
              <a:schemeClr val="accent1"/>
            </a:fillRef>
            <a:effectRef idx="0">
              <a:schemeClr val="accent1"/>
            </a:effectRef>
            <a:fontRef idx="minor">
              <a:schemeClr val="tx1"/>
            </a:fontRef>
          </p:style>
        </p:cxnSp>
        <p:sp>
          <p:nvSpPr>
            <p:cNvPr id="42" name="Oval 41">
              <a:extLst>
                <a:ext uri="{FF2B5EF4-FFF2-40B4-BE49-F238E27FC236}">
                  <a16:creationId id="{8174E055-9EC2-40B6-B317-43A23011EC49}"/>
                </a:ext>
              </a:extLst>
            </p:cNvPr>
            <p:cNvSpPr>
              <a:spLocks noChangeAspect="1"/>
            </p:cNvSpPr>
            <p:nvPr/>
          </p:nvSpPr>
          <p:spPr>
            <a:xfrm>
              <a:off x="8478163" y="2144136"/>
              <a:ext cx="2407458" cy="2492074"/>
            </a:xfrm>
            <a:prstGeom prst="ellipse">
              <a:avLst/>
            </a:prstGeom>
            <a:noFill/>
            <a:ln w="12700">
              <a:solidFill>
                <a:srgbClr val="FFFF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28" name="TextBox 27">
            <a:extLst>
              <a:ext uri="{FF2B5EF4-FFF2-40B4-BE49-F238E27FC236}">
                <a16:creationId id="{B86BBAD0-86F6-0D58-180C-6EA1BDCC33FE}"/>
              </a:ext>
            </a:extLst>
          </p:cNvPr>
          <p:cNvSpPr txBox="1"/>
          <p:nvPr/>
        </p:nvSpPr>
        <p:spPr>
          <a:xfrm>
            <a:off x="1673166" y="492734"/>
            <a:ext cx="9737250" cy="5909310"/>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We can geometrically model each point of action where a architrino intersects an incoming sphere stream using any convenient mathematical representation that transforms precisely to Euclidean time and 3D space, e.g., any rotation or linear translation of an absolute Euclidean time and 3D space with orthogonal axes (R4), etc.</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We can also replace the actual emitter with idealized v=0 architrinos covering the three dimensions of space. </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We will start with two </a:t>
            </a:r>
            <a:r>
              <a:rPr kumimoji="0" lang="en-US" sz="1400" b="1"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slow</a:t>
            </a: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 moving architrinos in time and 3D space because it’s easier to visualize and conceptualize a single incoming sphere stream. Its equivalent to the general case, amazingly. Superposition!!!</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Focus on the case of arbitrary initial conditions, not an idealized assembly</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Identify a convenient geometrical model for the action calculations.</a:t>
            </a:r>
          </a:p>
          <a:p>
            <a:pPr marL="1200150" marR="0" lvl="2"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Assign one axis radially to the origin of the emission.</a:t>
            </a:r>
          </a:p>
          <a:p>
            <a:pPr marL="1657350" marR="0" lvl="3"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Transform to a v=0 emitter along that radial axis.</a:t>
            </a:r>
          </a:p>
          <a:p>
            <a:pPr marL="1657350" marR="0" lvl="3"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Calculate velocity on the 1/r curve. Standard acceleration, etc.</a:t>
            </a:r>
          </a:p>
          <a:p>
            <a:pPr marL="1200150" marR="0" lvl="2"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There is no action in the tangent plane, which is by definition equipotential</a:t>
            </a:r>
          </a:p>
          <a:p>
            <a:pPr marL="1657350" marR="0" lvl="3"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So in this “geodesic?” the tangential velocity doesn’t change? Why would it? </a:t>
            </a:r>
          </a:p>
          <a:p>
            <a:pPr marL="1200150" marR="0" lvl="2"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Path evolution is the vector sum of the by actioned radial velocity and the tangential velocity</a:t>
            </a:r>
          </a:p>
          <a:p>
            <a:pPr marL="1657350" marR="0" lvl="3"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1"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Is this what we call acceleration that changes angular momentum??!</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In a binary assembly we may choose model action in two components, one towards the orbital center, and the other as accelerating tangential action that serves to speed up the architrino, thus dropping its sphere stream magnitude. Feedback causes the binary adapt radius in response.</a:t>
            </a:r>
          </a:p>
          <a:p>
            <a:pPr marL="1200150" marR="0" lvl="2"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R="0" lvl="2" algn="l" defTabSz="914400" rtl="0" eaLnBrk="1" fontAlgn="auto" latinLnBrk="0" hangingPunct="1">
              <a:lnSpc>
                <a:spcPct val="100000"/>
              </a:lnSpc>
              <a:spcBef>
                <a:spcPts val="0"/>
              </a:spcBef>
              <a:spcAft>
                <a:spcPts val="0"/>
              </a:spcAft>
              <a:buClrTx/>
              <a:buSzTx/>
              <a:tabLst/>
              <a:defRPr/>
            </a:pPr>
            <a:endPar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1200150" marR="0" lvl="2"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Other ideas to sort</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Einstein’s spacetime geometry is a successful, but imprecise transformation.</a:t>
            </a:r>
          </a:p>
          <a:p>
            <a:pPr marL="1200150" marR="0" lvl="2"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Einstein’s geometry lacks detailed understanding of its implementation.</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Representations that precisely map and are efficient in domain specific simulations.</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prstClr val="white">
                    <a:lumMod val="9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Representations that are efficient on high technology compute hardware.</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400" b="0" i="0" u="none" strike="noStrike" kern="1200" cap="none" spc="0" normalizeH="0" baseline="0" noProof="0" dirty="0">
              <a:ln>
                <a:noFill/>
              </a:ln>
              <a:solidFill>
                <a:prstClr val="white">
                  <a:lumMod val="95000"/>
                </a:prstClr>
              </a:solidFill>
              <a:effectLst/>
              <a:uLnTx/>
              <a:uFillTx/>
              <a:latin typeface="Calibri" panose="020F0502020204030204"/>
              <a:ea typeface="+mn-ea"/>
              <a:cs typeface="+mn-cs"/>
            </a:endParaRPr>
          </a:p>
        </p:txBody>
      </p:sp>
      <p:sp>
        <p:nvSpPr>
          <p:cNvPr id="4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3055343083"/>
      </p:ext>
    </p:extLst>
  </p:cSld>
  <p:clrMapOvr>
    <a:masterClrMapping/>
  </p:clrMapOvr>
</p:sld>
</file>

<file path=ppt/slides/slide4.xml><?xml version="1.0" encoding="utf-8"?>
<p:sld xmlns:a="http://schemas.openxmlformats.org/drawingml/2006/main" xmlns:a16="http://schemas.microsoft.com/office/drawing/2014/main" xmlns:ns3="http://schemas.openxmlformats.org/markup-compatibility/2006" xmlns:ns4="http://schemas.microsoft.com/office/drawing/2010/main" xmlns:ns5="http://schemas.openxmlformats.org/officeDocument/2006/math" xmlns:ns7="http://schemas.openxmlformats.org/drawingml/2006/diagram" xmlns:ns8="http://schemas.microsoft.com/office/powerpoint/2010/main" xmlns:p="http://schemas.openxmlformats.org/presentationml/2006/main" xmlns:r="http://schemas.openxmlformats.org/officeDocument/2006/relationships">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id="{668F77D6-DFDA-5A46-8DF1-47F6A167C2B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a16:creationId id="{C1D15DA8-274F-5947-B33A-2CC9705A3468}"/>
              </a:ext>
            </a:extLst>
          </p:cNvPr>
          <p:cNvSpPr/>
          <p:nvPr/>
        </p:nvSpPr>
        <p:spPr>
          <a:xfrm>
            <a:off x="325836" y="255587"/>
            <a:ext cx="11606704" cy="584775"/>
          </a:xfrm>
          <a:prstGeom prst="rect">
            <a:avLst/>
          </a:prstGeom>
          <a:noFill/>
          <a:ln>
            <a:noFill/>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Equations for Nature and the Universe — </a:t>
            </a:r>
            <a:r>
              <a:rPr kumimoji="0" lang="en-US" sz="3200" b="1" i="1"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Information Flow</a:t>
            </a:r>
          </a:p>
        </p:txBody>
      </p:sp>
      <ns3:AlternateContent>
        <ns3:Choice Requires="a14">
          <p:sp>
            <p:nvSpPr>
              <p:cNvPr id="35" name="TextBox 34">
                <a:extLst>
                  <a:ext uri="{FF2B5EF4-FFF2-40B4-BE49-F238E27FC236}">
                    <a16:creationId id="{B72F0892-819F-B94D-B4D1-D26BCA9AAE87}"/>
                  </a:ext>
                </a:extLst>
              </p:cNvPr>
              <p:cNvSpPr txBox="1"/>
              <p:nvPr/>
            </p:nvSpPr>
            <p:spPr>
              <a:xfrm>
                <a:off x="3857735" y="980943"/>
                <a:ext cx="4535537" cy="984052"/>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ns4:m>
                  <ns5:oMathPara>
                    <ns5:oMathParaPr>
                      <ns5:jc ns5:val="centerGroup"/>
                    </ns5:oMathParaPr>
                    <ns5:oMath>
                      <ns5:sSubSup>
                        <ns5:sSubSupPr>
                          <ns5: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ctrlPr>
                        </ns5:sSubSup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𝑨</ns5:t>
                          </ns5:r>
                        </ns5:e>
                        <ns5: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𝒊</ns5:t>
                              </ns5:r>
                            </ns5:sub>
                          </ns5:sSub>
                        </ns5:sub>
                        <ns5:sup>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𝒕</ns5:t>
                          </ns5:r>
                        </ns5:sup>
                      </ns5:sSubSup>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ns5:t>
                      </ns5:r>
                      <ns5:nary>
                        <ns5:naryPr>
                          <ns5:chr ns5:val="∑"/>
                          <ns5:supHide ns5:val="on"/>
                          <ns5: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ctrlPr>
                        </ns5:naryPr>
                        <ns5:sub>
                          <ns5:r>
                            <ns5:rPr>
                              <ns5:brk ns5:alnAt="7"/>
                            </ns5:rP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𝑎</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𝑙𝑙</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 </ns5:t>
                          </ns5:r>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𝒋</ns5:t>
                              </ns5:r>
                            </ns5:sub>
                          </ns5:sSub>
                        </ns5:sub>
                        <ns5:sup/>
                        <ns5:e>
                          <ns5:d>
                            <ns5:dPr>
                              <ns5: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ctrlPr>
                            </ns5:dPr>
                            <ns5:e>
                              <ns5:f>
                                <ns5:f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fPr>
                                <ns5:num>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ns5:t>
                                      </ns5:r>
                                    </ns5:sub>
                                  </ns5:s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acc>
                                        <ns5:accPr>
                                          <ns5:chr ns5:val="̂"/>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acc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𝒓</ns5:t>
                                          </ns5:r>
                                        </ns5:e>
                                      </ns5:acc>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𝒋𝒊</ns5:t>
                                      </ns5:r>
                                    </ns5:sub>
                                  </ns5:sSub>
                                </ns5:num>
                                <ns5:den>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𝒇</ns5:t>
                                  </ns5:r>
                                  <ns5:d>
                                    <ns5:d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d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𝒅𝒊𝒔𝒕𝒂𝒏𝒄𝒆</ns5:t>
                                      </ns5:r>
                                      <ns5:d>
                                        <ns5:d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dPr>
                                        <ns5:e>
                                          <ns5:sSubSup>
                                            <ns5:sSubSup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Sup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𝒔</ns5:t>
                                              </ns5:r>
                                            </ns5:e>
                                            <ns5: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ns5:t>
                                                  </ns5:r>
                                                </ns5:sub>
                                              </ns5:sSub>
                                            </ns5:sub>
                                            <ns5:sup>
                                              <ns5:sSubSup>
                                                <ns5:sSubSup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Sup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𝒕</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ns5:t>
                                                  </ns5:r>
                                                </ns5:sub>
                                                <ns5:sup>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ns5:t>
                                                  </ns5:r>
                                                </ns5:sup>
                                              </ns5:sSubSup>
                                            </ns5:sup>
                                          </ns5:sSubSup>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ns5:t>
                                          </ns5:r>
                                          <ns5:sSubSup>
                                            <ns5:sSubSup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Sup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𝒔</ns5:t>
                                              </ns5:r>
                                            </ns5:e>
                                            <ns5: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𝒊</ns5:t>
                                                  </ns5:r>
                                                </ns5:sub>
                                              </ns5:sSub>
                                            </ns5:sub>
                                            <ns5:sup>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𝒕</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𝒊</ns5:t>
                                                  </ns5:r>
                                                </ns5:sub>
                                              </ns5:sSub>
                                            </ns5:sup>
                                          </ns5:sSubSup>
                                        </ns5:e>
                                      </ns5:d>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 </ns5:t>
                                      </ns5:r>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ns5:t>
                                          </ns5:r>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𝒗</ns5:t>
                                          </ns5:r>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ns5:t>
                                          </ns5:r>
                                        </ns5:e>
                                        <ns5: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ns5:t>
                                              </ns5:r>
                                            </ns5:sub>
                                          </ns5:sSub>
                                        </ns5:sub>
                                      </ns5:sSub>
                                    </ns5:e>
                                  </ns5:d>
                                </ns5:den>
                              </ns5:f>
                            </ns5:e>
                          </ns5:d>
                        </ns5:e>
                      </ns5:nary>
                    </ns5:oMath>
                  </ns5:oMathPara>
                </ns4:m>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ns3:Choice>
        <ns3:Fallback>
          <p:sp>
            <p:nvSpPr>
              <p:cNvPr id="35" name="TextBox 34">
                <a:extLst>
                  <a:ext uri="{FF2B5EF4-FFF2-40B4-BE49-F238E27FC236}">
                    <a16:creationId id="{B72F0892-819F-B94D-B4D1-D26BCA9AAE87}"/>
                  </a:ext>
                </a:extLst>
              </p:cNvPr>
              <p:cNvSpPr txBox="1">
                <a:spLocks noRot="1" noChangeAspect="1" noMove="1" noResize="1" noEditPoints="1" noAdjustHandles="1" noChangeArrowheads="1" noChangeShapeType="1" noTextEdit="1"/>
              </p:cNvSpPr>
              <p:nvPr/>
            </p:nvSpPr>
            <p:spPr>
              <a:xfrm>
                <a:off x="3857735" y="980943"/>
                <a:ext cx="4535537" cy="984052"/>
              </a:xfrm>
              <a:prstGeom prst="rect">
                <a:avLst/>
              </a:prstGeom>
              <a:blipFill>
                <a:blip r:embed="rId2"/>
                <a:stretch>
                  <a:fillRect l="-838" t="-92308" b="-115385"/>
                </a:stretch>
              </a:blipFill>
              <a:ln>
                <a:noFill/>
              </a:ln>
            </p:spPr>
            <p:txBody>
              <a:bodyPr/>
              <a:lstStyle/>
              <a:p>
                <a:r>
                  <a:rPr lang="en-US">
                    <a:noFill/>
                  </a:rPr>
                  <a:t> </a:t>
                </a:r>
              </a:p>
            </p:txBody>
          </p:sp>
        </ns3:Fallback>
      </ns3:AlternateContent>
      <p:sp>
        <p:nvSpPr>
          <p:cNvPr id="2" name="TextBox 1">
            <a:extLst>
              <a:ext uri="{FF2B5EF4-FFF2-40B4-BE49-F238E27FC236}">
                <a16:creationId id="{7DB03928-EBCC-FBA2-4139-45199C922898}"/>
              </a:ext>
            </a:extLst>
          </p:cNvPr>
          <p:cNvSpPr txBox="1"/>
          <p:nvPr/>
        </p:nvSpPr>
        <p:spPr>
          <a:xfrm>
            <a:off x="459349" y="1964995"/>
            <a:ext cx="11273302" cy="515371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a:t>
            </a:r>
            <a:r>
              <a:rPr kumimoji="0" lang="en-US" sz="2400" b="1" i="1" u="none" strike="noStrike" kern="1200" cap="none" spc="0" normalizeH="0" baseline="0" noProof="0" dirty="0">
                <a:ln>
                  <a:noFill/>
                </a:ln>
                <a:solidFill>
                  <a:srgbClr val="ED7D31"/>
                </a:solidFill>
                <a:effectLst/>
                <a:uLnTx/>
                <a:uFillTx/>
                <a:latin typeface="Helvetica Neue" panose="02000503000000020004" pitchFamily="2" charset="0"/>
                <a:ea typeface="Helvetica Neue" panose="02000503000000020004" pitchFamily="2" charset="0"/>
                <a:cs typeface="Helvetica Neue" panose="02000503000000020004" pitchFamily="2" charset="0"/>
              </a:rPr>
              <a:t>information</a:t>
            </a:r>
            <a:r>
              <a:rPr kumimoji="0" lang="en-US" sz="2000" b="0" i="0" u="none" strike="noStrike" kern="1200" cap="none" spc="0" normalizeH="0" baseline="0" noProof="0" dirty="0">
                <a:ln>
                  <a:noFill/>
                </a:ln>
                <a:solidFill>
                  <a:srgbClr val="ED7D31"/>
                </a:solidFill>
                <a:effectLst/>
                <a:uLnTx/>
                <a:uFillTx/>
                <a:latin typeface="Helvetica Neue" panose="02000503000000020004" pitchFamily="2" charset="0"/>
                <a:ea typeface="Helvetica Neue" panose="02000503000000020004" pitchFamily="2" charset="0"/>
                <a:cs typeface="Helvetica Neue" panose="02000503000000020004" pitchFamily="2" charset="0"/>
              </a:rPr>
              <a:t> </a:t>
            </a:r>
            <a:r>
              <a:rPr kumimoji="0" lang="en-US" sz="2400" b="1" i="1" u="none" strike="noStrike" kern="1200" cap="none" spc="0" normalizeH="0" baseline="0" noProof="0" dirty="0">
                <a:ln>
                  <a:noFill/>
                </a:ln>
                <a:solidFill>
                  <a:srgbClr val="ED7D31"/>
                </a:solidFill>
                <a:effectLst/>
                <a:uLnTx/>
                <a:uFillTx/>
                <a:latin typeface="Helvetica Neue" panose="02000503000000020004" pitchFamily="2" charset="0"/>
                <a:ea typeface="Helvetica Neue" panose="02000503000000020004" pitchFamily="2" charset="0"/>
                <a:cs typeface="Helvetica Neue" panose="02000503000000020004" pitchFamily="2" charset="0"/>
              </a:rPr>
              <a:t>carried</a:t>
            </a:r>
            <a:r>
              <a:rPr kumimoji="0" lang="en-US" sz="2000" b="0" i="0" u="none" strike="noStrike" kern="1200" cap="none" spc="0" normalizeH="0" baseline="0" noProof="0" dirty="0">
                <a:ln>
                  <a:noFill/>
                </a:ln>
                <a:solidFill>
                  <a:srgbClr val="ED7D31"/>
                </a:solidFill>
                <a:effectLst/>
                <a:uLnTx/>
                <a:uFillTx/>
                <a:latin typeface="Helvetica Neue" panose="02000503000000020004" pitchFamily="2" charset="0"/>
                <a:ea typeface="Helvetica Neue" panose="02000503000000020004" pitchFamily="2" charset="0"/>
                <a:cs typeface="Helvetica Neue" panose="02000503000000020004" pitchFamily="2" charset="0"/>
              </a:rPr>
              <a:t> </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by a causal wake surface to an intersecting architrino is: </a:t>
            </a:r>
          </a:p>
          <a:p>
            <a:pPr marL="914400" marR="0" lvl="1"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a:t>
            </a:r>
            <a:r>
              <a:rPr kumimoji="0" lang="en-US" sz="20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line</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upon which the emitter’s path intersected at time of emission.</a:t>
            </a:r>
          </a:p>
          <a:p>
            <a:pPr marL="1371600" marR="0" lvl="2"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Since the receiver is at </a:t>
            </a:r>
            <a:r>
              <a:rPr kumimoji="0" lang="en-US" sz="1800" b="1" i="1" u="none" strike="noStrike" kern="1200" cap="none" spc="0" normalizeH="0" baseline="0" noProof="0" dirty="0">
                <a:ln>
                  <a:noFill/>
                </a:ln>
                <a:solidFill>
                  <a:srgbClr val="ED7D31"/>
                </a:solidFill>
                <a:effectLst/>
                <a:uLnTx/>
                <a:uFillTx/>
                <a:latin typeface="Helvetica Neue" panose="02000503000000020004" pitchFamily="2" charset="0"/>
                <a:ea typeface="Helvetica Neue" panose="02000503000000020004" pitchFamily="2" charset="0"/>
                <a:cs typeface="Helvetica Neue" panose="02000503000000020004" pitchFamily="2" charset="0"/>
              </a:rPr>
              <a:t>s = 0</a:t>
            </a: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we know the emitter is on the line defined by </a:t>
            </a:r>
            <a:r>
              <a:rPr kumimoji="0" lang="en-US" sz="1800" b="1" i="1" u="none" strike="noStrike" kern="1200" cap="none" spc="0" normalizeH="0" baseline="0" noProof="0" dirty="0">
                <a:ln>
                  <a:noFill/>
                </a:ln>
                <a:solidFill>
                  <a:srgbClr val="ED7D31"/>
                </a:solidFill>
                <a:effectLst/>
                <a:uLnTx/>
                <a:uFillTx/>
                <a:latin typeface="Helvetica Neue" panose="02000503000000020004" pitchFamily="2" charset="0"/>
                <a:ea typeface="Helvetica Neue" panose="02000503000000020004" pitchFamily="2" charset="0"/>
                <a:cs typeface="Helvetica Neue" panose="02000503000000020004" pitchFamily="2" charset="0"/>
              </a:rPr>
              <a:t>s </a:t>
            </a: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a:t>
            </a:r>
            <a:r>
              <a:rPr kumimoji="0" lang="en-US" sz="1800" b="1" i="1" u="none" strike="noStrike" kern="1200" cap="none" spc="0" normalizeH="0" baseline="0" noProof="0" dirty="0">
                <a:ln>
                  <a:noFill/>
                </a:ln>
                <a:solidFill>
                  <a:srgbClr val="ED7D31"/>
                </a:solidFill>
                <a:effectLst/>
                <a:uLnTx/>
                <a:uFillTx/>
                <a:latin typeface="Helvetica Neue" panose="02000503000000020004" pitchFamily="2" charset="0"/>
                <a:ea typeface="Helvetica Neue" panose="02000503000000020004" pitchFamily="2" charset="0"/>
                <a:cs typeface="Helvetica Neue" panose="02000503000000020004" pitchFamily="2" charset="0"/>
              </a:rPr>
              <a:t>s’ = (</a:t>
            </a:r>
            <a:r>
              <a:rPr kumimoji="0" lang="en-US" sz="1800" b="1" i="1" u="none" strike="noStrike" kern="1200" cap="none" spc="0" normalizeH="0" baseline="0" noProof="0" dirty="0" err="1">
                <a:ln>
                  <a:noFill/>
                </a:ln>
                <a:solidFill>
                  <a:srgbClr val="ED7D31"/>
                </a:solidFill>
                <a:effectLst/>
                <a:uLnTx/>
                <a:uFillTx/>
                <a:latin typeface="Helvetica Neue" panose="02000503000000020004" pitchFamily="2" charset="0"/>
                <a:ea typeface="Helvetica Neue" panose="02000503000000020004" pitchFamily="2" charset="0"/>
                <a:cs typeface="Helvetica Neue" panose="02000503000000020004" pitchFamily="2" charset="0"/>
              </a:rPr>
              <a:t>x,y,z</a:t>
            </a:r>
            <a:r>
              <a:rPr kumimoji="0" lang="en-US" sz="1800" b="1" i="1" u="none" strike="noStrike" kern="1200" cap="none" spc="0" normalizeH="0" baseline="0" noProof="0" dirty="0">
                <a:ln>
                  <a:noFill/>
                </a:ln>
                <a:solidFill>
                  <a:srgbClr val="ED7D31"/>
                </a:solidFill>
                <a:effectLst/>
                <a:uLnTx/>
                <a:uFillTx/>
                <a:latin typeface="Helvetica Neue" panose="02000503000000020004" pitchFamily="2" charset="0"/>
                <a:ea typeface="Helvetica Neue" panose="02000503000000020004" pitchFamily="2" charset="0"/>
                <a:cs typeface="Helvetica Neue" panose="02000503000000020004" pitchFamily="2" charset="0"/>
              </a:rPr>
              <a:t>). </a:t>
            </a:r>
          </a:p>
          <a:p>
            <a:pPr marL="1371600" marR="0" lvl="2"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Information: </a:t>
            </a:r>
            <a:r>
              <a:rPr kumimoji="0" lang="en-US" sz="1800" b="1" i="1" u="none" strike="noStrike" kern="1200" cap="none" spc="0" normalizeH="0" baseline="0" noProof="0" dirty="0">
                <a:ln>
                  <a:noFill/>
                </a:ln>
                <a:solidFill>
                  <a:srgbClr val="ED7D31"/>
                </a:solidFill>
                <a:effectLst/>
                <a:uLnTx/>
                <a:uFillTx/>
                <a:latin typeface="Helvetica Neue" panose="02000503000000020004" pitchFamily="2" charset="0"/>
                <a:ea typeface="Helvetica Neue" panose="02000503000000020004" pitchFamily="2" charset="0"/>
                <a:cs typeface="Helvetica Neue" panose="02000503000000020004" pitchFamily="2" charset="0"/>
              </a:rPr>
              <a:t>3 real numbers continuously in time </a:t>
            </a:r>
          </a:p>
          <a:p>
            <a:pPr marL="1371600" marR="0" lvl="2"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Hence a need for efficient path modeling in analytics and simulation, by use case.</a:t>
            </a:r>
          </a:p>
          <a:p>
            <a:pPr marL="914400" marR="0" lvl="1"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An unknown architrino polarity: (i.e., a hidden variable?)  the charge of the emitter may be a </a:t>
            </a:r>
            <a:r>
              <a:rPr kumimoji="0" lang="en-US" sz="2000" b="1" i="1" u="none" strike="noStrike" kern="1200" cap="none" spc="0" normalizeH="0" baseline="0" noProof="0" dirty="0">
                <a:ln>
                  <a:noFill/>
                </a:ln>
                <a:solidFill>
                  <a:srgbClr val="FF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+|q|</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architrino in one direction or a </a:t>
            </a:r>
            <a:r>
              <a:rPr kumimoji="0" lang="en-US" sz="2000" b="1" i="1" u="none" strike="noStrike" kern="1200" cap="none" spc="0" normalizeH="0" baseline="0" noProof="0" dirty="0">
                <a:ln>
                  <a:noFill/>
                </a:ln>
                <a:solidFill>
                  <a:srgbClr val="00B0F0"/>
                </a:solidFill>
                <a:effectLst/>
                <a:uLnTx/>
                <a:uFillTx/>
                <a:latin typeface="Helvetica Neue" panose="02000503000000020004" pitchFamily="2" charset="0"/>
                <a:ea typeface="Helvetica Neue" panose="02000503000000020004" pitchFamily="2" charset="0"/>
                <a:cs typeface="Helvetica Neue" panose="02000503000000020004" pitchFamily="2" charset="0"/>
              </a:rPr>
              <a:t>-|q| </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 in the opposite.</a:t>
            </a:r>
          </a:p>
          <a:p>
            <a:pPr marL="1371600" marR="0" lvl="2"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Information: </a:t>
            </a:r>
            <a:r>
              <a:rPr kumimoji="0" lang="en-US" sz="1800" b="1" i="1" u="none" strike="noStrike" kern="1200" cap="none" spc="0" normalizeH="0" baseline="0" noProof="0" dirty="0">
                <a:ln>
                  <a:noFill/>
                </a:ln>
                <a:solidFill>
                  <a:srgbClr val="ED7D31"/>
                </a:solidFill>
                <a:effectLst/>
                <a:uLnTx/>
                <a:uFillTx/>
                <a:latin typeface="Helvetica Neue" panose="02000503000000020004" pitchFamily="2" charset="0"/>
                <a:ea typeface="Helvetica Neue" panose="02000503000000020004" pitchFamily="2" charset="0"/>
                <a:cs typeface="Helvetica Neue" panose="02000503000000020004" pitchFamily="2" charset="0"/>
              </a:rPr>
              <a:t>1 bit with unknown polarity </a:t>
            </a: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a:t>
            </a:r>
          </a:p>
          <a:p>
            <a:pPr marL="914400" marR="0" lvl="1"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 function defining the relationship of distance and velocity of the emitter.</a:t>
            </a:r>
          </a:p>
          <a:p>
            <a:pPr marL="1371600" marR="0" lvl="2"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Emission at time t is q for </a:t>
            </a:r>
            <a:r>
              <a:rPr kumimoji="0" lang="en-US" sz="1800" b="0" i="0" u="none" strike="noStrike" kern="1200" cap="none" spc="0" normalizeH="0" baseline="0" noProof="0" dirty="0" err="1">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a:t>
            </a:r>
            <a:r>
              <a:rPr kumimoji="0" lang="en-US" sz="1800" b="0" i="0" u="none" strike="noStrike" kern="1200" cap="none" spc="0" normalizeH="0" baseline="-25000" noProof="0" dirty="0" err="1">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a:t>
            </a: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=0 and q/|</a:t>
            </a:r>
            <a:r>
              <a:rPr kumimoji="0" lang="en-US" sz="1800" b="0" i="0" u="none" strike="noStrike" kern="1200" cap="none" spc="0" normalizeH="0" baseline="0" noProof="0" dirty="0" err="1">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a:t>
            </a:r>
            <a:r>
              <a:rPr kumimoji="0" lang="en-US" sz="1800" b="0" i="0" u="none" strike="noStrike" kern="1200" cap="none" spc="0" normalizeH="0" baseline="-25000" noProof="0" dirty="0" err="1">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a:t>
            </a: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for |</a:t>
            </a:r>
            <a:r>
              <a:rPr kumimoji="0" lang="en-US" sz="1800" b="0" i="0" u="none" strike="noStrike" kern="1200" cap="none" spc="0" normalizeH="0" baseline="0" noProof="0" dirty="0" err="1">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a:t>
            </a:r>
            <a:r>
              <a:rPr kumimoji="0" lang="en-US" sz="1800" b="0" i="0" u="none" strike="noStrike" kern="1200" cap="none" spc="0" normalizeH="0" baseline="-25000" noProof="0" dirty="0" err="1">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a:t>
            </a: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|&gt;0. Emission decreases with radius, i.e., q/(|</a:t>
            </a:r>
            <a:r>
              <a:rPr kumimoji="0" lang="en-US" sz="1800" b="0" i="0" u="none" strike="noStrike" kern="1200" cap="none" spc="0" normalizeH="0" baseline="0" noProof="0" dirty="0" err="1">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v|r</a:t>
            </a: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a:p>
            <a:pPr marL="1371600" marR="0" lvl="2"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Does our physics define |q| = 1? Does it matter with superposition? We can define it though.</a:t>
            </a:r>
          </a:p>
          <a:p>
            <a:pPr marL="1371600" marR="0" lvl="2"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Information: </a:t>
            </a:r>
            <a:r>
              <a:rPr kumimoji="0" lang="en-US" sz="1800" b="1" i="1" u="none" strike="noStrike" kern="1200" cap="none" spc="0" normalizeH="0" baseline="0" noProof="0" dirty="0">
                <a:ln>
                  <a:noFill/>
                </a:ln>
                <a:solidFill>
                  <a:srgbClr val="ED7D31"/>
                </a:solidFill>
                <a:effectLst/>
                <a:uLnTx/>
                <a:uFillTx/>
                <a:latin typeface="Helvetica Neue" panose="02000503000000020004" pitchFamily="2" charset="0"/>
                <a:ea typeface="Helvetica Neue" panose="02000503000000020004" pitchFamily="2" charset="0"/>
                <a:cs typeface="Helvetica Neue" panose="02000503000000020004" pitchFamily="2" charset="0"/>
              </a:rPr>
              <a:t>If |q|=1 we know that the location s’ on the line has characteristics v=1/r.</a:t>
            </a:r>
          </a:p>
          <a:p>
            <a:pPr marL="1371600" marR="0" lvl="2"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Can we furthermore define r=1 where y=1/x=1, i.e., the symmetry point on the 1/r curve?</a:t>
            </a:r>
          </a:p>
          <a:p>
            <a:pPr marL="1828800" marR="0" lvl="3"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It would be convenient if the symmetry breaking point in the 1/r curve corresponds with a point charge from a countable infinity and initial v=0 arrives with v=@ (or both do?)</a:t>
            </a:r>
          </a:p>
          <a:p>
            <a:pPr marL="1371600" marR="0" lvl="2"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It’s all scalable based on 1/r, so I think this may be a matter of convention.</a:t>
            </a:r>
          </a:p>
          <a:p>
            <a:pPr marL="0" marR="0" lvl="0" indent="0" algn="l" defTabSz="914400" rtl="0" eaLnBrk="1" fontAlgn="auto" latinLnBrk="0" hangingPunct="1">
              <a:lnSpc>
                <a:spcPct val="15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6" name="Diagram 5">
            <a:extLst>
              <a:ext uri="{FF2B5EF4-FFF2-40B4-BE49-F238E27FC236}">
                <a16:creationId id="{E05FFDFA-9AF4-D6AC-28D4-3629FF42CA93}"/>
              </a:ext>
            </a:extLst>
          </p:cNvPr>
          <p:cNvGraphicFramePr/>
          <p:nvPr/>
        </p:nvGraphicFramePr>
        <p:xfrm>
          <a:off x="9456616" y="758743"/>
          <a:ext cx="2305538" cy="1578057"/>
        </p:xfrm>
        <a:graphic>
          <a:graphicData uri="http://schemas.openxmlformats.org/drawingml/2006/diagram">
            <ns7:relIds r:dm="rId3" r:lo="rId4" r:qs="rId5" r:cs="rId6"/>
          </a:graphicData>
        </a:graphic>
      </p:graphicFrame>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8:creationId val="992010689"/>
      </p:ext>
    </p:extLst>
  </p:cSld>
  <p:clrMapOvr>
    <a:masterClrMapping/>
  </p:clrMapOvr>
</p:sld>
</file>

<file path=ppt/slides/slide5.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a:extLst>
            <a:ext uri="{FF2B5EF4-FFF2-40B4-BE49-F238E27FC236}">
              <a16:creationId id="{C2AE0D87-EFC9-E157-CD80-8892ACF8E5F8}"/>
            </a:ext>
          </a:extLst>
        </p:cNvPr>
        <p:cNvGrpSpPr/>
        <p:nvPr/>
      </p:nvGrpSpPr>
      <p:grpSpPr>
        <a:xfrm>
          <a:off x="0" y="0"/>
          <a:ext cx="0" cy="0"/>
          <a:chOff x="0" y="0"/>
          <a:chExt cx="0" cy="0"/>
        </a:xfrm>
      </p:grpSpPr>
      <p:sp>
        <p:nvSpPr>
          <p:cNvPr id="5" name="Footer Placeholder 3">
            <a:extLst>
              <a:ext uri="{FF2B5EF4-FFF2-40B4-BE49-F238E27FC236}">
                <a16:creationId id="{C01D6FEF-5819-6BC7-5135-61B651C1512B}"/>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a16:creationId id="{50E67E55-CE90-1336-E85D-FC25EB9B1AEE}"/>
              </a:ext>
            </a:extLst>
          </p:cNvPr>
          <p:cNvSpPr/>
          <p:nvPr/>
        </p:nvSpPr>
        <p:spPr>
          <a:xfrm>
            <a:off x="1151428" y="378829"/>
            <a:ext cx="9889182" cy="523220"/>
          </a:xfrm>
          <a:prstGeom prst="rect">
            <a:avLst/>
          </a:prstGeom>
          <a:noFill/>
          <a:ln>
            <a:noFill/>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800" b="1"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Speculation: Using Virtual Emitters to Simplify the Action</a:t>
            </a:r>
            <a:endPar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2" name="TextBox 1">
            <a:extLst>
              <a:ext uri="{FF2B5EF4-FFF2-40B4-BE49-F238E27FC236}">
                <a16:creationId id="{54EC17F7-0B03-28D7-5349-29C4F10385A5}"/>
              </a:ext>
            </a:extLst>
          </p:cNvPr>
          <p:cNvSpPr txBox="1"/>
          <p:nvPr/>
        </p:nvSpPr>
        <p:spPr>
          <a:xfrm>
            <a:off x="469332" y="1188232"/>
            <a:ext cx="11869027" cy="6217087"/>
          </a:xfrm>
          <a:prstGeom prst="rect">
            <a:avLst/>
          </a:prstGeom>
          <a:noFill/>
        </p:spPr>
        <p:txBody>
          <a:bodyPr wrap="square" rtlCol="0">
            <a:spAutoFit/>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Architrinos are constant rate emitters.</a:t>
            </a:r>
          </a:p>
          <a:p>
            <a:pPr marL="914400" lvl="1" indent="-457200">
              <a:buFont typeface="Arial" panose="020B0604020202020204" pitchFamily="34" charset="0"/>
              <a:buChar char="•"/>
              <a:defRPr/>
            </a:pP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The emission at t = </a:t>
            </a:r>
            <a:r>
              <a:rPr lang="en-US" sz="2000" dirty="0" err="1">
                <a:solidFill>
                  <a:prstClr val="white"/>
                </a:solidFill>
                <a:latin typeface="Helvetica Neue" panose="02000503000000020004" pitchFamily="2" charset="0"/>
                <a:ea typeface="Helvetica Neue" panose="02000503000000020004" pitchFamily="2" charset="0"/>
                <a:cs typeface="Helvetica Neue" panose="02000503000000020004" pitchFamily="2" charset="0"/>
              </a:rPr>
              <a:t>t</a:t>
            </a:r>
            <a:r>
              <a:rPr lang="en-US" sz="2000" baseline="-25000" dirty="0" err="1">
                <a:solidFill>
                  <a:prstClr val="white"/>
                </a:solidFill>
                <a:latin typeface="Helvetica Neue" panose="02000503000000020004" pitchFamily="2" charset="0"/>
                <a:ea typeface="Helvetica Neue" panose="02000503000000020004" pitchFamily="2" charset="0"/>
                <a:cs typeface="Helvetica Neue" panose="02000503000000020004" pitchFamily="2" charset="0"/>
              </a:rPr>
              <a:t>now</a:t>
            </a: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 is </a:t>
            </a:r>
            <a:r>
              <a:rPr lang="en-US" sz="2000" dirty="0" err="1">
                <a:solidFill>
                  <a:prstClr val="white"/>
                </a:solidFill>
                <a:latin typeface="Helvetica Neue" panose="02000503000000020004" pitchFamily="2" charset="0"/>
                <a:ea typeface="Helvetica Neue" panose="02000503000000020004" pitchFamily="2" charset="0"/>
                <a:cs typeface="Helvetica Neue" panose="02000503000000020004" pitchFamily="2" charset="0"/>
              </a:rPr>
              <a:t>q|v</a:t>
            </a: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|/r.</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With the transmitted information we can transform the dynamical situation into a static one!</a:t>
            </a:r>
          </a:p>
          <a:p>
            <a:pPr marL="914400" lvl="1" indent="-457200">
              <a:buFont typeface="Arial" panose="020B0604020202020204" pitchFamily="34" charset="0"/>
              <a:buChar char="•"/>
              <a:defRPr/>
            </a:pP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can we use relativity of the geometry to first imagine the receiver at rest?</a:t>
            </a:r>
          </a:p>
          <a:p>
            <a:pPr marL="1371600" lvl="2" indent="-457200">
              <a:buFont typeface="Arial" panose="020B0604020202020204" pitchFamily="34" charset="0"/>
              <a:buChar char="•"/>
              <a:defRPr/>
            </a:pP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promote relativity to a fundamental principle, but only if there is a mathematical basis.</a:t>
            </a:r>
          </a:p>
          <a:p>
            <a:pPr marL="914400" lvl="1" indent="-457200">
              <a:buFont typeface="Arial" panose="020B0604020202020204" pitchFamily="34" charset="0"/>
              <a:buChar char="•"/>
              <a:defRPr/>
            </a:pP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by changing the velocity magnitude of the transmitter.</a:t>
            </a:r>
          </a:p>
          <a:p>
            <a:pPr marL="914400" lvl="1" indent="-457200">
              <a:buFont typeface="Arial" panose="020B0604020202020204" pitchFamily="34" charset="0"/>
              <a:buChar char="•"/>
              <a:defRPr/>
            </a:pP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then replacing the transmitter with a virtual transmitter at rest. (+/- options to choose from)</a:t>
            </a:r>
          </a:p>
          <a:p>
            <a:pPr marL="457200" indent="-457200">
              <a:buFont typeface="Arial" panose="020B0604020202020204" pitchFamily="34" charset="0"/>
              <a:buChar char="•"/>
              <a:defRPr/>
            </a:pP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We leverage the symmetry of the ideal binary and reframe it as a rotating static wave pattern.</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To a receiver at rest, a</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a:t>
            </a:r>
            <a:r>
              <a:rPr lang="en-US" sz="2000" dirty="0" err="1">
                <a:solidFill>
                  <a:prstClr val="white"/>
                </a:solidFill>
                <a:latin typeface="Helvetica Neue" panose="02000503000000020004" pitchFamily="2" charset="0"/>
                <a:ea typeface="Helvetica Neue" panose="02000503000000020004" pitchFamily="2" charset="0"/>
                <a:cs typeface="Helvetica Neue" panose="02000503000000020004" pitchFamily="2" charset="0"/>
              </a:rPr>
              <a:t>q|v</a:t>
            </a: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|/r sphere stream is equivalent to a virtual architrino at rest at r’</a:t>
            </a:r>
          </a:p>
          <a:p>
            <a:pPr marL="914400" lvl="1" indent="-457200">
              <a:buFont typeface="Arial" panose="020B0604020202020204" pitchFamily="34" charset="0"/>
              <a:buChar char="•"/>
              <a:defRPr/>
            </a:pP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what is q where r’ = r/|v| along the ray from receiver to the emitter.</a:t>
            </a:r>
          </a:p>
          <a:p>
            <a:pPr marL="914400" lvl="1" indent="-457200">
              <a:buFont typeface="Arial" panose="020B0604020202020204" pitchFamily="34" charset="0"/>
              <a:buChar char="•"/>
              <a:defRPr/>
            </a:pP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what is -q emission where r’ = r/|v| along a ray from the receiver away from the emitter.</a:t>
            </a:r>
          </a:p>
          <a:p>
            <a:pPr marL="457200" indent="-457200">
              <a:buFont typeface="Arial" panose="020B0604020202020204" pitchFamily="34" charset="0"/>
              <a:buChar char="•"/>
              <a:defRPr/>
            </a:pPr>
            <a:endPar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endParaRPr>
          </a:p>
          <a:p>
            <a:pPr marL="457200" indent="-457200">
              <a:buFont typeface="Arial" panose="020B0604020202020204" pitchFamily="34" charset="0"/>
              <a:buChar char="•"/>
              <a:defRPr/>
            </a:pPr>
            <a:r>
              <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Why is this important?  It could help us determine the force using standard equations?</a:t>
            </a:r>
          </a:p>
          <a:p>
            <a:pPr marL="457200" indent="-457200">
              <a:buFont typeface="Arial" panose="020B0604020202020204" pitchFamily="34" charset="0"/>
              <a:buChar char="•"/>
              <a:defRPr/>
            </a:pP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I am skeptical that this may work based on delay, but it is worth contemplating. </a:t>
            </a:r>
          </a:p>
          <a:p>
            <a:pPr marL="457200" indent="-457200">
              <a:buFont typeface="Arial" panose="020B0604020202020204" pitchFamily="34" charset="0"/>
              <a:buChar char="•"/>
              <a:defRPr/>
            </a:pP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Remember we link v=0 to a specific point in absolute time and space. </a:t>
            </a:r>
          </a:p>
          <a:p>
            <a:pPr marL="457200" indent="-457200">
              <a:buFont typeface="Arial" panose="020B0604020202020204" pitchFamily="34" charset="0"/>
              <a:buChar char="•"/>
              <a:defRPr/>
            </a:pP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Causal wake intersection is more than a vector.  It is a mechanism for reframing. </a:t>
            </a:r>
            <a:endParaRPr lang="en-US" sz="20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endParaRPr>
          </a:p>
          <a:p>
            <a:pPr marL="914400" lvl="1" indent="-457200">
              <a:buFont typeface="Arial" panose="020B0604020202020204" pitchFamily="34" charset="0"/>
              <a:buChar char="•"/>
              <a:defRPr/>
            </a:pPr>
            <a:endPar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2561370170"/>
      </p:ext>
    </p:extLst>
  </p:cSld>
  <p:clrMapOvr>
    <a:masterClrMapping/>
  </p:clrMapOvr>
</p:sld>
</file>

<file path=ppt/slides/slide6.xml><?xml version="1.0" encoding="utf-8"?>
<p:sld xmlns:a="http://schemas.openxmlformats.org/drawingml/2006/main" xmlns:a16="http://schemas.microsoft.com/office/drawing/2014/main" xmlns:ns3="http://schemas.openxmlformats.org/markup-compatibility/2006" xmlns:ns4="http://schemas.microsoft.com/office/drawing/2010/main" xmlns:ns5="http://schemas.openxmlformats.org/officeDocument/2006/math" xmlns:ns7="http://schemas.microsoft.com/office/powerpoint/2010/main" xmlns:p="http://schemas.openxmlformats.org/presentationml/2006/main" xmlns:r="http://schemas.openxmlformats.org/officeDocument/2006/relationships">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id="{668F77D6-DFDA-5A46-8DF1-47F6A167C2B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a16:creationId id="{C1D15DA8-274F-5947-B33A-2CC9705A3468}"/>
              </a:ext>
            </a:extLst>
          </p:cNvPr>
          <p:cNvSpPr/>
          <p:nvPr/>
        </p:nvSpPr>
        <p:spPr>
          <a:xfrm>
            <a:off x="2735978" y="378829"/>
            <a:ext cx="6720045" cy="523220"/>
          </a:xfrm>
          <a:prstGeom prst="rect">
            <a:avLst/>
          </a:prstGeom>
          <a:noFill/>
          <a:ln>
            <a:noFill/>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Equations for Nature and the Universe</a:t>
            </a:r>
          </a:p>
        </p:txBody>
      </p:sp>
      <ns3:AlternateContent>
        <ns3:Choice Requires="a14">
          <p:sp>
            <p:nvSpPr>
              <p:cNvPr id="35" name="TextBox 34">
                <a:extLst>
                  <a:ext uri="{FF2B5EF4-FFF2-40B4-BE49-F238E27FC236}">
                    <a16:creationId id="{B72F0892-819F-B94D-B4D1-D26BCA9AAE87}"/>
                  </a:ext>
                </a:extLst>
              </p:cNvPr>
              <p:cNvSpPr txBox="1"/>
              <p:nvPr/>
            </p:nvSpPr>
            <p:spPr>
              <a:xfrm>
                <a:off x="3998631" y="1121525"/>
                <a:ext cx="4535537" cy="984052"/>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ns4:m>
                  <ns5:oMathPara>
                    <ns5:oMathParaPr>
                      <ns5:jc ns5:val="centerGroup"/>
                    </ns5:oMathParaPr>
                    <ns5:oMath>
                      <ns5:sSubSup>
                        <ns5:sSubSupPr>
                          <ns5: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ctrlPr>
                        </ns5:sSubSup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𝑨</ns5:t>
                          </ns5:r>
                        </ns5:e>
                        <ns5: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𝒊</ns5:t>
                              </ns5:r>
                            </ns5:sub>
                          </ns5:sSub>
                        </ns5:sub>
                        <ns5:sup>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𝒕</ns5:t>
                          </ns5:r>
                        </ns5:sup>
                      </ns5:sSubSup>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ns5:t>
                      </ns5:r>
                      <ns5:nary>
                        <ns5:naryPr>
                          <ns5:chr ns5:val="∑"/>
                          <ns5:supHide ns5:val="on"/>
                          <ns5: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ctrlPr>
                        </ns5:naryPr>
                        <ns5:sub>
                          <ns5:r>
                            <ns5:rPr>
                              <ns5:brk ns5:alnAt="7"/>
                            </ns5:rP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𝑎</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𝑙𝑙</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 </ns5:t>
                          </ns5:r>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𝒋</ns5:t>
                              </ns5:r>
                            </ns5:sub>
                          </ns5:sSub>
                        </ns5:sub>
                        <ns5:sup/>
                        <ns5:e>
                          <ns5:d>
                            <ns5:dPr>
                              <ns5: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ctrlPr>
                            </ns5:dPr>
                            <ns5:e>
                              <ns5:f>
                                <ns5:f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fPr>
                                <ns5:num>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ns5:t>
                                      </ns5:r>
                                    </ns5:sub>
                                  </ns5:s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acc>
                                        <ns5:accPr>
                                          <ns5:chr ns5:val="̂"/>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acc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𝒓</ns5:t>
                                          </ns5:r>
                                        </ns5:e>
                                      </ns5:acc>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𝒋𝒊</ns5:t>
                                      </ns5:r>
                                    </ns5:sub>
                                  </ns5:sSub>
                                </ns5:num>
                                <ns5:den>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𝒇</ns5:t>
                                  </ns5:r>
                                  <ns5:d>
                                    <ns5:d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d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𝒅𝒊𝒔𝒕𝒂𝒏𝒄𝒆</ns5:t>
                                      </ns5:r>
                                      <ns5:d>
                                        <ns5:d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dPr>
                                        <ns5:e>
                                          <ns5:sSubSup>
                                            <ns5:sSubSup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Sup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𝒔</ns5:t>
                                              </ns5:r>
                                            </ns5:e>
                                            <ns5: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ns5:t>
                                                  </ns5:r>
                                                </ns5:sub>
                                              </ns5:sSub>
                                            </ns5:sub>
                                            <ns5:sup>
                                              <ns5:sSubSup>
                                                <ns5:sSubSup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Sup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𝒕</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ns5:t>
                                                  </ns5:r>
                                                </ns5:sub>
                                                <ns5:sup>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ns5:t>
                                                  </ns5:r>
                                                </ns5:sup>
                                              </ns5:sSubSup>
                                            </ns5:sup>
                                          </ns5:sSubSup>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ns5:t>
                                          </ns5:r>
                                          <ns5:sSubSup>
                                            <ns5:sSubSup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Sup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𝒔</ns5:t>
                                              </ns5:r>
                                            </ns5:e>
                                            <ns5: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𝒊</ns5:t>
                                                  </ns5:r>
                                                </ns5:sub>
                                              </ns5:sSub>
                                            </ns5:sub>
                                            <ns5:sup>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𝒕</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𝒊</ns5:t>
                                                  </ns5:r>
                                                </ns5:sub>
                                              </ns5:sSub>
                                            </ns5:sup>
                                          </ns5:sSubSup>
                                        </ns5:e>
                                      </ns5:d>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 </ns5:t>
                                      </ns5:r>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ns5:t>
                                          </ns5:r>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𝒗</ns5:t>
                                          </ns5:r>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ns5:t>
                                          </ns5:r>
                                        </ns5:e>
                                        <ns5: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ns5:t>
                                              </ns5:r>
                                            </ns5:sub>
                                          </ns5:sSub>
                                        </ns5:sub>
                                      </ns5:sSub>
                                    </ns5:e>
                                  </ns5:d>
                                </ns5:den>
                              </ns5:f>
                            </ns5:e>
                          </ns5:d>
                        </ns5:e>
                      </ns5:nary>
                    </ns5:oMath>
                  </ns5:oMathPara>
                </ns4:m>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ns3:Choice>
        <ns3:Fallback>
          <p:sp>
            <p:nvSpPr>
              <p:cNvPr id="35" name="TextBox 34">
                <a:extLst>
                  <a:ext uri="{FF2B5EF4-FFF2-40B4-BE49-F238E27FC236}">
                    <a16:creationId id="{B72F0892-819F-B94D-B4D1-D26BCA9AAE87}"/>
                  </a:ext>
                </a:extLst>
              </p:cNvPr>
              <p:cNvSpPr txBox="1">
                <a:spLocks noRot="1" noChangeAspect="1" noMove="1" noResize="1" noEditPoints="1" noAdjustHandles="1" noChangeArrowheads="1" noChangeShapeType="1" noTextEdit="1"/>
              </p:cNvSpPr>
              <p:nvPr/>
            </p:nvSpPr>
            <p:spPr>
              <a:xfrm>
                <a:off x="3998631" y="1121525"/>
                <a:ext cx="4535537" cy="984052"/>
              </a:xfrm>
              <a:prstGeom prst="rect">
                <a:avLst/>
              </a:prstGeom>
              <a:blipFill>
                <a:blip r:embed="rId2"/>
                <a:stretch>
                  <a:fillRect l="-838" t="-92308" b="-115385"/>
                </a:stretch>
              </a:blipFill>
              <a:ln>
                <a:noFill/>
              </a:ln>
            </p:spPr>
            <p:txBody>
              <a:bodyPr/>
              <a:lstStyle/>
              <a:p>
                <a:r>
                  <a:rPr lang="en-US">
                    <a:noFill/>
                  </a:rPr>
                  <a:t> </a:t>
                </a:r>
              </a:p>
            </p:txBody>
          </p:sp>
        </ns3:Fallback>
      </ns3:AlternateContent>
      <p:sp>
        <p:nvSpPr>
          <p:cNvPr id="2" name="TextBox 1">
            <a:extLst>
              <a:ext uri="{FF2B5EF4-FFF2-40B4-BE49-F238E27FC236}">
                <a16:creationId id="{7DB03928-EBCC-FBA2-4139-45199C922898}"/>
              </a:ext>
            </a:extLst>
          </p:cNvPr>
          <p:cNvSpPr txBox="1"/>
          <p:nvPr/>
        </p:nvSpPr>
        <p:spPr>
          <a:xfrm>
            <a:off x="125490" y="2269510"/>
            <a:ext cx="11941019" cy="4770537"/>
          </a:xfrm>
          <a:prstGeom prst="rect">
            <a:avLst/>
          </a:prstGeom>
          <a:noFill/>
        </p:spPr>
        <p:txBody>
          <a:bodyPr wrap="square" rtlCol="0">
            <a:spAutoFit/>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2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net action on each architrino is calculated from the vector sum of all arriving causal wakes from all architrinos in the universe.</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2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Nature implements superposition.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2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We leverage superposition both individually and in aggregate.</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2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Electric potential travels at speed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2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Each architrino experiences action based upon the past path history of each emitter.</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2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When an emitter operates at a constant rate and is in motion with a velocity of magnitude |v|, the Dirac delta potential emission at each continuous point (r=0) is governed or modulated by the magnitude of the velocity.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2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An emitter at absolute rest in 3D space emits the Dirac delta potential q at r=0 and t=</a:t>
            </a:r>
            <a:r>
              <a:rPr kumimoji="0" lang="en-US" sz="2200" b="0" i="0" u="none" strike="noStrike" kern="1200" cap="none" spc="0" normalizeH="0" baseline="0" noProof="0" dirty="0" err="1">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a:t>
            </a:r>
            <a:r>
              <a:rPr kumimoji="0" lang="en-US" sz="2200" b="0" i="0" u="none" strike="noStrike" kern="1200" cap="none" spc="0" normalizeH="0" baseline="-25000" noProof="0" dirty="0" err="1">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now</a:t>
            </a:r>
            <a:endParaRPr kumimoji="0" lang="en-US" sz="2200" b="0"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2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This means that the velocity magnitude serves as a controlling factor, determining the characteristics of the emission at each point along the emitter’s path.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2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faster the emitter moves, the more it influences the emission properties at each point.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7:creationId val="3403749982"/>
      </p:ext>
    </p:extLst>
  </p:cSld>
  <p:clrMapOvr>
    <a:masterClrMapping/>
  </p:clrMapOvr>
</p:sld>
</file>

<file path=ppt/slides/slide7.xml><?xml version="1.0" encoding="utf-8"?>
<p:sld xmlns:a="http://schemas.openxmlformats.org/drawingml/2006/main" xmlns:a16="http://schemas.microsoft.com/office/drawing/2014/main" xmlns:ns3="http://schemas.openxmlformats.org/markup-compatibility/2006" xmlns:ns4="http://schemas.microsoft.com/office/drawing/2010/main" xmlns:ns5="http://schemas.openxmlformats.org/officeDocument/2006/math" xmlns:ns7="http://schemas.microsoft.com/office/powerpoint/2010/main" xmlns:p="http://schemas.openxmlformats.org/presentationml/2006/main" xmlns:r="http://schemas.openxmlformats.org/officeDocument/2006/relationships">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id="{668F77D6-DFDA-5A46-8DF1-47F6A167C2B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a16:creationId id="{C1D15DA8-274F-5947-B33A-2CC9705A3468}"/>
              </a:ext>
            </a:extLst>
          </p:cNvPr>
          <p:cNvSpPr/>
          <p:nvPr/>
        </p:nvSpPr>
        <p:spPr>
          <a:xfrm>
            <a:off x="2735978" y="378829"/>
            <a:ext cx="6720045" cy="523220"/>
          </a:xfrm>
          <a:prstGeom prst="rect">
            <a:avLst/>
          </a:prstGeom>
          <a:noFill/>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Equations for Nature and the Universe</a:t>
            </a:r>
          </a:p>
        </p:txBody>
      </p:sp>
      <ns3:AlternateContent>
        <ns3:Choice Requires="a14">
          <p:sp>
            <p:nvSpPr>
              <p:cNvPr id="35" name="TextBox 34">
                <a:extLst>
                  <a:ext uri="{FF2B5EF4-FFF2-40B4-BE49-F238E27FC236}">
                    <a16:creationId id="{B72F0892-819F-B94D-B4D1-D26BCA9AAE87}"/>
                  </a:ext>
                </a:extLst>
              </p:cNvPr>
              <p:cNvSpPr txBox="1"/>
              <p:nvPr/>
            </p:nvSpPr>
            <p:spPr>
              <a:xfrm>
                <a:off x="3998631" y="1121525"/>
                <a:ext cx="4535537" cy="98405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ns4:m>
                  <ns5:oMathPara>
                    <ns5:oMathParaPr>
                      <ns5:jc ns5:val="centerGroup"/>
                    </ns5:oMathParaPr>
                    <ns5:oMath>
                      <ns5:sSubSup>
                        <ns5:sSubSupPr>
                          <ns5: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ctrlPr>
                        </ns5:sSubSup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𝑨</ns5:t>
                          </ns5:r>
                        </ns5:e>
                        <ns5: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𝒊</ns5:t>
                              </ns5:r>
                            </ns5:sub>
                          </ns5:sSub>
                        </ns5:sub>
                        <ns5:sup>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𝒕</ns5:t>
                          </ns5:r>
                        </ns5:sup>
                      </ns5:sSubSup>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ns5:t>
                      </ns5:r>
                      <ns5:nary>
                        <ns5:naryPr>
                          <ns5:chr ns5:val="∑"/>
                          <ns5:supHide ns5:val="on"/>
                          <ns5: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ctrlPr>
                        </ns5:naryPr>
                        <ns5:sub>
                          <ns5:r>
                            <ns5:rPr>
                              <ns5:brk ns5:alnAt="7"/>
                            </ns5:rP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𝑎</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𝑙𝑙</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 </ns5:t>
                          </ns5:r>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𝒋</ns5:t>
                              </ns5:r>
                            </ns5:sub>
                          </ns5:sSub>
                        </ns5:sub>
                        <ns5:sup/>
                        <ns5:e>
                          <ns5:d>
                            <ns5:dPr>
                              <ns5: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ctrlPr>
                            </ns5:dPr>
                            <ns5:e>
                              <ns5:f>
                                <ns5:f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fPr>
                                <ns5:num>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ns5:t>
                                      </ns5:r>
                                    </ns5:sub>
                                  </ns5:s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acc>
                                        <ns5:accPr>
                                          <ns5:chr ns5:val="̂"/>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acc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𝒓</ns5:t>
                                          </ns5:r>
                                        </ns5:e>
                                      </ns5:acc>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𝒋𝒊</ns5:t>
                                      </ns5:r>
                                    </ns5:sub>
                                  </ns5:sSub>
                                </ns5:num>
                                <ns5:den>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𝒇</ns5:t>
                                  </ns5:r>
                                  <ns5:d>
                                    <ns5:d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d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𝒅𝒊𝒔𝒕𝒂𝒏𝒄𝒆</ns5:t>
                                      </ns5:r>
                                      <ns5:d>
                                        <ns5:d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dPr>
                                        <ns5:e>
                                          <ns5:sSubSup>
                                            <ns5:sSubSup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Sup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𝒔</ns5:t>
                                              </ns5:r>
                                            </ns5:e>
                                            <ns5: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ns5:t>
                                                  </ns5:r>
                                                </ns5:sub>
                                              </ns5:sSub>
                                            </ns5:sub>
                                            <ns5:sup>
                                              <ns5:sSubSup>
                                                <ns5:sSubSup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Sup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𝒕</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ns5:t>
                                                  </ns5:r>
                                                </ns5:sub>
                                                <ns5:sup>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ns5:t>
                                                  </ns5:r>
                                                </ns5:sup>
                                              </ns5:sSubSup>
                                            </ns5:sup>
                                          </ns5:sSubSup>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ns5:t>
                                          </ns5:r>
                                          <ns5:sSubSup>
                                            <ns5:sSubSup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Sup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𝒔</ns5:t>
                                              </ns5:r>
                                            </ns5:e>
                                            <ns5: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𝒊</ns5:t>
                                                  </ns5:r>
                                                </ns5:sub>
                                              </ns5:sSub>
                                            </ns5:sub>
                                            <ns5:sup>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𝒕</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𝒊</ns5:t>
                                                  </ns5:r>
                                                </ns5:sub>
                                              </ns5:sSub>
                                            </ns5:sup>
                                          </ns5:sSubSup>
                                        </ns5:e>
                                      </ns5:d>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 </ns5:t>
                                      </ns5:r>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ns5:t>
                                          </ns5:r>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𝒗</ns5:t>
                                          </ns5:r>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ns5:t>
                                          </ns5:r>
                                        </ns5:e>
                                        <ns5: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ns5:t>
                                              </ns5:r>
                                            </ns5:sub>
                                          </ns5:sSub>
                                        </ns5:sub>
                                      </ns5:sSub>
                                    </ns5:e>
                                  </ns5:d>
                                </ns5:den>
                              </ns5:f>
                            </ns5:e>
                          </ns5:d>
                        </ns5:e>
                      </ns5:nary>
                    </ns5:oMath>
                  </ns5:oMathPara>
                </ns4:m>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ns3:Choice>
        <ns3:Fallback>
          <p:sp>
            <p:nvSpPr>
              <p:cNvPr id="35" name="TextBox 34">
                <a:extLst>
                  <a:ext uri="{FF2B5EF4-FFF2-40B4-BE49-F238E27FC236}">
                    <a16:creationId id="{B72F0892-819F-B94D-B4D1-D26BCA9AAE87}"/>
                  </a:ext>
                </a:extLst>
              </p:cNvPr>
              <p:cNvSpPr txBox="1">
                <a:spLocks noRot="1" noChangeAspect="1" noMove="1" noResize="1" noEditPoints="1" noAdjustHandles="1" noChangeArrowheads="1" noChangeShapeType="1" noTextEdit="1"/>
              </p:cNvSpPr>
              <p:nvPr/>
            </p:nvSpPr>
            <p:spPr>
              <a:xfrm>
                <a:off x="3998631" y="1121525"/>
                <a:ext cx="4535537" cy="984052"/>
              </a:xfrm>
              <a:prstGeom prst="rect">
                <a:avLst/>
              </a:prstGeom>
              <a:blipFill>
                <a:blip r:embed="rId2"/>
                <a:stretch>
                  <a:fillRect l="-838" t="-92308" b="-115385"/>
                </a:stretch>
              </a:blipFill>
            </p:spPr>
            <p:txBody>
              <a:bodyPr/>
              <a:lstStyle/>
              <a:p>
                <a:r>
                  <a:rPr lang="en-US">
                    <a:noFill/>
                  </a:rPr>
                  <a:t> </a:t>
                </a:r>
              </a:p>
            </p:txBody>
          </p:sp>
        </ns3:Fallback>
      </ns3:AlternateContent>
      <p:sp>
        <p:nvSpPr>
          <p:cNvPr id="2" name="TextBox 1">
            <a:extLst>
              <a:ext uri="{FF2B5EF4-FFF2-40B4-BE49-F238E27FC236}">
                <a16:creationId id="{7DB03928-EBCC-FBA2-4139-45199C922898}"/>
              </a:ext>
            </a:extLst>
          </p:cNvPr>
          <p:cNvSpPr txBox="1"/>
          <p:nvPr/>
        </p:nvSpPr>
        <p:spPr>
          <a:xfrm>
            <a:off x="197483" y="2325053"/>
            <a:ext cx="11869027" cy="2523768"/>
          </a:xfrm>
          <a:prstGeom prst="rect">
            <a:avLst/>
          </a:prstGeom>
          <a:noFill/>
        </p:spPr>
        <p:txBody>
          <a:bodyPr wrap="square" rtlCol="0">
            <a:spAutoFit/>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action upon each architrino q</a:t>
            </a:r>
            <a:r>
              <a:rPr kumimoji="0" lang="en-US" sz="2000" b="0"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is the vector sum of all intersecting Causal wake surfaces emitted from the historical locations s of all architrinos </a:t>
            </a:r>
            <a:r>
              <a:rPr kumimoji="0" lang="en-US" sz="2000" b="0" i="0" u="none" strike="noStrike" kern="1200" cap="none" spc="0" normalizeH="0" baseline="0" noProof="0" dirty="0" err="1">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q</a:t>
            </a:r>
            <a:r>
              <a:rPr kumimoji="0" lang="en-US" sz="2000" b="0" i="0" u="none" strike="noStrike" kern="1200" cap="none" spc="0" normalizeH="0" baseline="-25000" noProof="0" dirty="0" err="1">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j</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in the universe, including q</a:t>
            </a:r>
            <a:r>
              <a:rPr kumimoji="0" lang="en-US" sz="2000" b="0"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causal wake surface magnitude decreases at 1/radius. The action decreases the farther away the emitter.</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Self action requires that q</a:t>
            </a:r>
            <a:r>
              <a:rPr kumimoji="0" lang="en-US" sz="2000" b="0" i="0" u="none" strike="noStrike" kern="1200" cap="none" spc="0" normalizeH="0" baseline="-25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traveled at speed faster than @ for some portion of the interval from emission to action such that it intersects its own causal wake surface stream field emission.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When architrinos travel faster than their field emissions, they encounter their own emissions from their own past path history</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7:creationId val="4016811522"/>
      </p:ext>
    </p:extLst>
  </p:cSld>
  <p:clrMapOvr>
    <a:masterClrMapping/>
  </p:clrMapOvr>
</p:sld>
</file>

<file path=ppt/slides/slide8.xml><?xml version="1.0" encoding="utf-8"?>
<p:sld xmlns:a="http://schemas.openxmlformats.org/drawingml/2006/main" xmlns:a16="http://schemas.microsoft.com/office/drawing/2014/main" xmlns:ns3="http://schemas.openxmlformats.org/markup-compatibility/2006" xmlns:ns4="http://schemas.microsoft.com/office/drawing/2010/main" xmlns:ns5="http://schemas.openxmlformats.org/officeDocument/2006/math" xmlns:ns7="http://schemas.microsoft.com/office/powerpoint/2010/main" xmlns:p="http://schemas.openxmlformats.org/presentationml/2006/main" xmlns:r="http://schemas.openxmlformats.org/officeDocument/2006/relationships">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id="{668F77D6-DFDA-5A46-8DF1-47F6A167C2B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a16:creationId id="{C1D15DA8-274F-5947-B33A-2CC9705A3468}"/>
              </a:ext>
            </a:extLst>
          </p:cNvPr>
          <p:cNvSpPr/>
          <p:nvPr/>
        </p:nvSpPr>
        <p:spPr>
          <a:xfrm>
            <a:off x="2735978" y="378829"/>
            <a:ext cx="6720045" cy="523220"/>
          </a:xfrm>
          <a:prstGeom prst="rect">
            <a:avLst/>
          </a:prstGeom>
          <a:noFill/>
          <a:ln>
            <a:noFill/>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Equations for Nature and the Universe</a:t>
            </a:r>
          </a:p>
        </p:txBody>
      </p:sp>
      <ns3:AlternateContent>
        <ns3:Choice Requires="a14">
          <p:sp>
            <p:nvSpPr>
              <p:cNvPr id="35" name="TextBox 34">
                <a:extLst>
                  <a:ext uri="{FF2B5EF4-FFF2-40B4-BE49-F238E27FC236}">
                    <a16:creationId id="{B72F0892-819F-B94D-B4D1-D26BCA9AAE87}"/>
                  </a:ext>
                </a:extLst>
              </p:cNvPr>
              <p:cNvSpPr txBox="1"/>
              <p:nvPr/>
            </p:nvSpPr>
            <p:spPr>
              <a:xfrm>
                <a:off x="3998631" y="1121525"/>
                <a:ext cx="4535537" cy="984052"/>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ns4:m>
                  <ns5:oMathPara>
                    <ns5:oMathParaPr>
                      <ns5:jc ns5:val="centerGroup"/>
                    </ns5:oMathParaPr>
                    <ns5:oMath>
                      <ns5:sSubSup>
                        <ns5:sSubSupPr>
                          <ns5: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ctrlPr>
                        </ns5:sSubSup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𝑨</ns5:t>
                          </ns5:r>
                        </ns5:e>
                        <ns5: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𝒊</ns5:t>
                              </ns5:r>
                            </ns5:sub>
                          </ns5:sSub>
                        </ns5:sub>
                        <ns5:sup>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𝒕</ns5:t>
                          </ns5:r>
                        </ns5:sup>
                      </ns5:sSubSup>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ns5:t>
                      </ns5:r>
                      <ns5:nary>
                        <ns5:naryPr>
                          <ns5:chr ns5:val="∑"/>
                          <ns5:supHide ns5:val="on"/>
                          <ns5: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ctrlPr>
                        </ns5:naryPr>
                        <ns5:sub>
                          <ns5:r>
                            <ns5:rPr>
                              <ns5:brk ns5:alnAt="7"/>
                            </ns5:rP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𝑎</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𝑙𝑙</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 </ns5:t>
                          </ns5:r>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𝒋</ns5:t>
                              </ns5:r>
                            </ns5:sub>
                          </ns5:sSub>
                        </ns5:sub>
                        <ns5:sup/>
                        <ns5:e>
                          <ns5:d>
                            <ns5:dPr>
                              <ns5: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ctrlPr>
                            </ns5:dPr>
                            <ns5:e>
                              <ns5:f>
                                <ns5:f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fPr>
                                <ns5:num>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ns5:t>
                                      </ns5:r>
                                    </ns5:sub>
                                  </ns5:s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acc>
                                        <ns5:accPr>
                                          <ns5:chr ns5:val="̂"/>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acc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𝒓</ns5:t>
                                          </ns5:r>
                                        </ns5:e>
                                      </ns5:acc>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𝒋𝒊</ns5:t>
                                      </ns5:r>
                                    </ns5:sub>
                                  </ns5:sSub>
                                </ns5:num>
                                <ns5:den>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𝒇</ns5:t>
                                  </ns5:r>
                                  <ns5:d>
                                    <ns5:d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d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𝒅𝒊𝒔𝒕𝒂𝒏𝒄𝒆</ns5:t>
                                      </ns5:r>
                                      <ns5:d>
                                        <ns5:d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dPr>
                                        <ns5:e>
                                          <ns5:sSubSup>
                                            <ns5:sSubSup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Sup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𝒔</ns5:t>
                                              </ns5:r>
                                            </ns5:e>
                                            <ns5: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ns5:t>
                                                  </ns5:r>
                                                </ns5:sub>
                                              </ns5:sSub>
                                            </ns5:sub>
                                            <ns5:sup>
                                              <ns5:sSubSup>
                                                <ns5:sSubSup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Sup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𝒕</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ns5:t>
                                                  </ns5:r>
                                                </ns5:sub>
                                                <ns5:sup>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ns5:t>
                                                  </ns5:r>
                                                </ns5:sup>
                                              </ns5:sSubSup>
                                            </ns5:sup>
                                          </ns5:sSubSup>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ns5:t>
                                          </ns5:r>
                                          <ns5:sSubSup>
                                            <ns5:sSubSup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Sup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𝒔</ns5:t>
                                              </ns5:r>
                                            </ns5:e>
                                            <ns5: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𝒊</ns5:t>
                                                  </ns5:r>
                                                </ns5:sub>
                                              </ns5:sSub>
                                            </ns5:sub>
                                            <ns5:sup>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𝒕</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𝒊</ns5:t>
                                                  </ns5:r>
                                                </ns5:sub>
                                              </ns5:sSub>
                                            </ns5:sup>
                                          </ns5:sSubSup>
                                        </ns5:e>
                                      </ns5:d>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 </ns5:t>
                                      </ns5:r>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ns5:t>
                                          </ns5:r>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𝒗</ns5:t>
                                          </ns5:r>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ns5:t>
                                          </ns5:r>
                                        </ns5:e>
                                        <ns5: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ns5:t>
                                              </ns5:r>
                                            </ns5:sub>
                                          </ns5:sSub>
                                        </ns5:sub>
                                      </ns5:sSub>
                                    </ns5:e>
                                  </ns5:d>
                                </ns5:den>
                              </ns5:f>
                            </ns5:e>
                          </ns5:d>
                        </ns5:e>
                      </ns5:nary>
                    </ns5:oMath>
                  </ns5:oMathPara>
                </ns4:m>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ns3:Choice>
        <ns3:Fallback>
          <p:sp>
            <p:nvSpPr>
              <p:cNvPr id="35" name="TextBox 34">
                <a:extLst>
                  <a:ext uri="{FF2B5EF4-FFF2-40B4-BE49-F238E27FC236}">
                    <a16:creationId id="{B72F0892-819F-B94D-B4D1-D26BCA9AAE87}"/>
                  </a:ext>
                </a:extLst>
              </p:cNvPr>
              <p:cNvSpPr txBox="1">
                <a:spLocks noRot="1" noChangeAspect="1" noMove="1" noResize="1" noEditPoints="1" noAdjustHandles="1" noChangeArrowheads="1" noChangeShapeType="1" noTextEdit="1"/>
              </p:cNvSpPr>
              <p:nvPr/>
            </p:nvSpPr>
            <p:spPr>
              <a:xfrm>
                <a:off x="3998631" y="1121525"/>
                <a:ext cx="4535537" cy="984052"/>
              </a:xfrm>
              <a:prstGeom prst="rect">
                <a:avLst/>
              </a:prstGeom>
              <a:blipFill>
                <a:blip r:embed="rId2"/>
                <a:stretch>
                  <a:fillRect l="-838" t="-92308" b="-115385"/>
                </a:stretch>
              </a:blipFill>
              <a:ln>
                <a:noFill/>
              </a:ln>
            </p:spPr>
            <p:txBody>
              <a:bodyPr/>
              <a:lstStyle/>
              <a:p>
                <a:r>
                  <a:rPr lang="en-US">
                    <a:noFill/>
                  </a:rPr>
                  <a:t> </a:t>
                </a:r>
              </a:p>
            </p:txBody>
          </p:sp>
        </ns3:Fallback>
      </ns3:AlternateContent>
      <p:sp>
        <p:nvSpPr>
          <p:cNvPr id="2" name="TextBox 1">
            <a:extLst>
              <a:ext uri="{FF2B5EF4-FFF2-40B4-BE49-F238E27FC236}">
                <a16:creationId id="{7DB03928-EBCC-FBA2-4139-45199C922898}"/>
              </a:ext>
            </a:extLst>
          </p:cNvPr>
          <p:cNvSpPr txBox="1"/>
          <p:nvPr/>
        </p:nvSpPr>
        <p:spPr>
          <a:xfrm>
            <a:off x="125491" y="2248275"/>
            <a:ext cx="11941020" cy="4401205"/>
          </a:xfrm>
          <a:prstGeom prst="rect">
            <a:avLst/>
          </a:prstGeom>
          <a:noFill/>
        </p:spPr>
        <p:txBody>
          <a:bodyPr wrap="square" rtlCol="0">
            <a:spAutoFit/>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universe runs in absolute Euclidean time and space</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contents of the universe, are unit architrinos.</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Each architrino emits precise information (q, path) that transmits throughout the universe at @t.</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Does the causal wake stream carry precise information? Yes, from a test perspective, but…</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Each architrino receives the entire signal from every architrino, but with less information.</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Because the universe supports superposition, the information received is by definition ambiguous.</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1" i="0" u="none" strike="noStrike" kern="1200" cap="none" spc="0" normalizeH="0" baseline="0" noProof="0" dirty="0">
                <a:ln>
                  <a:noFill/>
                </a:ln>
                <a:solidFill>
                  <a:srgbClr val="FF0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Superposition rules. </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For example: What if all incoming potentials sum to zero? Cancel.</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If a architrino receives zero signal, there is a null action, which produces no response.</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Does the information in a null action determine the universe is otherwise a Euclidean void?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No! The null action provides zero information.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Does this establish an information minimum, a zero? (</a:t>
            </a:r>
            <a:r>
              <a:rPr kumimoji="0" lang="en-US" sz="20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Is this mathematically interesting?)</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With superposition, there is a countable infinity of possible configurations (e.g., each architrino, its polarity, and emission along a path defined by continuous location and velocity)</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There are many opportunities in modeling &amp; simulation to improve predictability for each scenario.</a:t>
            </a: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7:creationId val="30317340"/>
      </p:ext>
    </p:extLst>
  </p:cSld>
  <p:clrMapOvr>
    <a:masterClrMapping/>
  </p:clrMapOvr>
</p:sld>
</file>

<file path=ppt/slides/slide9.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id="{018A63B5-40EC-8B9D-0CE4-CED6A7D3C146}"/>
              </a:ext>
            </a:extLst>
          </p:cNvPr>
          <p:cNvSpPr txBox="1"/>
          <p:nvPr/>
        </p:nvSpPr>
        <p:spPr>
          <a:xfrm>
            <a:off x="-70338" y="0"/>
            <a:ext cx="12262338" cy="67403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It's like the classic history potential figure. However, if we really contemplated what is happening in this dynamical geometry between any two architrinos is this: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1. Architrinos follow continuous paths through R4 (t, </a:t>
            </a:r>
            <a:r>
              <a:rPr kumimoji="0" lang="en-US" sz="1600" b="0" i="0" u="none" strike="noStrike" kern="1200" cap="none" spc="0" normalizeH="0" baseline="0" noProof="0" dirty="0" err="1">
                <a:ln>
                  <a:noFill/>
                </a:ln>
                <a:solidFill>
                  <a:prstClr val="white"/>
                </a:solidFill>
                <a:effectLst/>
                <a:uLnTx/>
                <a:uFillTx/>
                <a:latin typeface="Calibri" panose="020F0502020204030204"/>
                <a:ea typeface="+mn-ea"/>
                <a:cs typeface="+mn-cs"/>
              </a:rPr>
              <a:t>x,y,z</a:t>
            </a: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 x', y', z'). That is to say at any absolute time each architrino has a position in space and a velocity.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2. Now consider two architrinos each following their path under the influence of the arriving potential field. Let's limit ourselves to architrino velocities less than field speed, because it is a simpler case.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3. Each architrino is continuously emitting a spherical potential that starts at it's current location with radius 0 and expands such that radius is field speed multiplied by elapsed time since emission. We are using all Euclidean coordinates here in time and space, so everything is absolute.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4. So there is a pretty cool thing that once a spherical potential is emitted, the origin of that sphere never changes.  Only the radius increases. Meanwhile the architrino has moved on continuously emitting new causal wakes.  So the potential wake is kind of like a boat in a lake, except we are in 3D space not flatland.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5. Now it gets kind of cool to start thinking about the relationship between the architrinos. Let's examine the sphere A emits at T0. It takes some time to reach B. When the sphere intersects B, we still know the origin of the sphere and can do math. But also we have to consider the velocity of A when that causal wake was emitted, because it affects the gradient of potential that B experiences. We also have to consider B's velocity. There is a general formula in here which needs to be developed. It might look like </a:t>
            </a:r>
            <a:r>
              <a:rPr kumimoji="0" lang="en-US" sz="1600" b="0" i="0" u="none" strike="noStrike" kern="1200" cap="none" spc="0" normalizeH="0" baseline="0" noProof="0" dirty="0" err="1">
                <a:ln>
                  <a:noFill/>
                </a:ln>
                <a:solidFill>
                  <a:prstClr val="white"/>
                </a:solidFill>
                <a:effectLst/>
                <a:uLnTx/>
                <a:uFillTx/>
                <a:latin typeface="Calibri" panose="020F0502020204030204"/>
                <a:ea typeface="+mn-ea"/>
                <a:cs typeface="+mn-cs"/>
              </a:rPr>
              <a:t>Lienard</a:t>
            </a: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a:t>
            </a:r>
            <a:r>
              <a:rPr kumimoji="0" lang="en-US" sz="1600" b="0" i="0" u="none" strike="noStrike" kern="1200" cap="none" spc="0" normalizeH="0" baseline="0" noProof="0" dirty="0" err="1">
                <a:ln>
                  <a:noFill/>
                </a:ln>
                <a:solidFill>
                  <a:prstClr val="white"/>
                </a:solidFill>
                <a:effectLst/>
                <a:uLnTx/>
                <a:uFillTx/>
                <a:latin typeface="Calibri" panose="020F0502020204030204"/>
                <a:ea typeface="+mn-ea"/>
                <a:cs typeface="+mn-cs"/>
              </a:rPr>
              <a:t>Wiechert</a:t>
            </a: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a:t>
            </a:r>
            <a:r>
              <a:rPr kumimoji="0" lang="en-US" sz="1600" b="0" i="0" u="none" strike="noStrike" kern="1200" cap="none" spc="0" normalizeH="0" baseline="0" noProof="0" dirty="0" err="1">
                <a:ln>
                  <a:noFill/>
                </a:ln>
                <a:solidFill>
                  <a:prstClr val="white"/>
                </a:solidFill>
                <a:effectLst/>
                <a:uLnTx/>
                <a:uFillTx/>
                <a:latin typeface="Calibri" panose="020F0502020204030204"/>
                <a:ea typeface="+mn-ea"/>
                <a:cs typeface="+mn-cs"/>
              </a:rPr>
              <a:t>Jeffimenko</a:t>
            </a: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 math. Not sure yet.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6. Let's use the term causal wake stream to describe each architrino emitting a stream of expanding spherical potentials. The stream also encodes the velocity of the emitting architrino, by nature of the moving origin.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7. When the causal wake emitted at T0 arrives, in the causal wake stream from A, then action will occur and the path of B will be impacted. But B is also emitting a causal wake stream that impacts A after the travel time delay. So there is a feedback cycle with a variable delay that is dependent on both A and B's path.</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8. I was just thinking the other day how to enhance the picture to show the continuous causal wake streams from A passing B and causing action, and vice versa. I'd like to somehow capture this dynamic feedback cycle.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9. I think there is probably some incredible math just in this interaction. I don't know if that math has already been done. Perhaps.  I doubt anyone has considered the case when architrino velocity equals or exceeds field speed. That is an unexplored regime.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Calibri" panose="020F0502020204030204"/>
                <a:ea typeface="+mn-ea"/>
                <a:cs typeface="+mn-cs"/>
              </a:rPr>
              <a:t>My recommendation is to use your imagination to visualize the dynamical geometry and the causal wake streams and the paths.  For me that leads to a lot of insight.   </a:t>
            </a: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4219678445"/>
      </p:ext>
    </p:extLst>
  </p:cSld>
  <p:clrMapOvr>
    <a:masterClrMapping/>
  </p:clrMapOvr>
</p:sld>
</file>

<file path=ppt/slides/slide10.xml><?xml version="1.0" encoding="utf-8"?>
<p:sld xmlns:a="http://schemas.openxmlformats.org/drawingml/2006/main" xmlns:a16="http://schemas.microsoft.com/office/drawing/2014/main" xmlns:ns3="http://schemas.openxmlformats.org/markup-compatibility/2006" xmlns:ns4="http://schemas.microsoft.com/office/drawing/2010/main" xmlns:ns5="http://schemas.openxmlformats.org/officeDocument/2006/math" xmlns:ns7="http://schemas.microsoft.com/office/powerpoint/2010/main" xmlns:p="http://schemas.openxmlformats.org/presentationml/2006/main" xmlns:r="http://schemas.openxmlformats.org/officeDocument/2006/relationships">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id="{668F77D6-DFDA-5A46-8DF1-47F6A167C2B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a16:creationId id="{C1D15DA8-274F-5947-B33A-2CC9705A3468}"/>
              </a:ext>
            </a:extLst>
          </p:cNvPr>
          <p:cNvSpPr/>
          <p:nvPr/>
        </p:nvSpPr>
        <p:spPr>
          <a:xfrm>
            <a:off x="2735978" y="378829"/>
            <a:ext cx="6720045" cy="523220"/>
          </a:xfrm>
          <a:prstGeom prst="rect">
            <a:avLst/>
          </a:prstGeom>
          <a:noFill/>
          <a:ln>
            <a:noFill/>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Equations for Nature and the Universe</a:t>
            </a:r>
          </a:p>
        </p:txBody>
      </p:sp>
      <ns3:AlternateContent>
        <ns3:Choice Requires="a14">
          <p:sp>
            <p:nvSpPr>
              <p:cNvPr id="35" name="TextBox 34">
                <a:extLst>
                  <a:ext uri="{FF2B5EF4-FFF2-40B4-BE49-F238E27FC236}">
                    <a16:creationId id="{B72F0892-819F-B94D-B4D1-D26BCA9AAE87}"/>
                  </a:ext>
                </a:extLst>
              </p:cNvPr>
              <p:cNvSpPr txBox="1"/>
              <p:nvPr/>
            </p:nvSpPr>
            <p:spPr>
              <a:xfrm>
                <a:off x="3998631" y="1121525"/>
                <a:ext cx="4535537" cy="984052"/>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ns4:m>
                  <ns5:oMathPara>
                    <ns5:oMathParaPr>
                      <ns5:jc ns5:val="centerGroup"/>
                    </ns5:oMathParaPr>
                    <ns5:oMath>
                      <ns5:sSubSup>
                        <ns5:sSubSupPr>
                          <ns5: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ctrlPr>
                        </ns5:sSubSup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𝑨</ns5:t>
                          </ns5:r>
                        </ns5:e>
                        <ns5: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𝒊</ns5:t>
                              </ns5:r>
                            </ns5:sub>
                          </ns5:sSub>
                        </ns5:sub>
                        <ns5:sup>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𝒕</ns5:t>
                          </ns5:r>
                        </ns5:sup>
                      </ns5:sSubSup>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ns5:t>
                      </ns5:r>
                      <ns5:nary>
                        <ns5:naryPr>
                          <ns5:chr ns5:val="∑"/>
                          <ns5:supHide ns5:val="on"/>
                          <ns5: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ctrlPr>
                        </ns5:naryPr>
                        <ns5:sub>
                          <ns5:r>
                            <ns5:rPr>
                              <ns5:brk ns5:alnAt="7"/>
                            </ns5:rP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𝑎</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𝑙𝑙</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 </ns5:t>
                          </ns5:r>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𝒋</ns5:t>
                              </ns5:r>
                            </ns5:sub>
                          </ns5:sSub>
                        </ns5:sub>
                        <ns5:sup/>
                        <ns5:e>
                          <ns5:d>
                            <ns5:dPr>
                              <ns5: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ctrlPr>
                            </ns5:dPr>
                            <ns5:e>
                              <ns5:f>
                                <ns5:f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fPr>
                                <ns5:num>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ns5:t>
                                      </ns5:r>
                                    </ns5:sub>
                                  </ns5:s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acc>
                                        <ns5:accPr>
                                          <ns5:chr ns5:val="̂"/>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acc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𝒓</ns5:t>
                                          </ns5:r>
                                        </ns5:e>
                                      </ns5:acc>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𝒋𝒊</ns5:t>
                                      </ns5:r>
                                    </ns5:sub>
                                  </ns5:sSub>
                                </ns5:num>
                                <ns5:den>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𝒇</ns5:t>
                                  </ns5:r>
                                  <ns5:d>
                                    <ns5:d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d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𝒅𝒊𝒔𝒕𝒂𝒏𝒄𝒆</ns5:t>
                                      </ns5:r>
                                      <ns5:d>
                                        <ns5:d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dPr>
                                        <ns5:e>
                                          <ns5:sSubSup>
                                            <ns5:sSubSup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Sup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𝒔</ns5:t>
                                              </ns5:r>
                                            </ns5:e>
                                            <ns5: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ns5:t>
                                                  </ns5:r>
                                                </ns5:sub>
                                              </ns5:sSub>
                                            </ns5:sub>
                                            <ns5:sup>
                                              <ns5:sSubSup>
                                                <ns5:sSubSup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Sup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𝒕</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ns5:t>
                                                  </ns5:r>
                                                </ns5:sub>
                                                <ns5:sup>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ns5:t>
                                                  </ns5:r>
                                                </ns5:sup>
                                              </ns5:sSubSup>
                                            </ns5:sup>
                                          </ns5:sSubSup>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ns5:t>
                                          </ns5:r>
                                          <ns5:sSubSup>
                                            <ns5:sSubSup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Sup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𝒔</ns5:t>
                                              </ns5:r>
                                            </ns5:e>
                                            <ns5: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𝒊</ns5:t>
                                                  </ns5:r>
                                                </ns5:sub>
                                              </ns5:sSub>
                                            </ns5:sub>
                                            <ns5:sup>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𝒕</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𝒊</ns5:t>
                                                  </ns5:r>
                                                </ns5:sub>
                                              </ns5:sSub>
                                            </ns5:sup>
                                          </ns5:sSubSup>
                                        </ns5:e>
                                      </ns5:d>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 </ns5:t>
                                      </ns5:r>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ns5:t>
                                          </ns5:r>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𝒗</ns5:t>
                                          </ns5:r>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ns5:t>
                                          </ns5:r>
                                        </ns5:e>
                                        <ns5: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ns5:t>
                                              </ns5:r>
                                            </ns5:sub>
                                          </ns5:sSub>
                                        </ns5:sub>
                                      </ns5:sSub>
                                    </ns5:e>
                                  </ns5:d>
                                </ns5:den>
                              </ns5:f>
                            </ns5:e>
                          </ns5:d>
                        </ns5:e>
                      </ns5:nary>
                    </ns5:oMath>
                  </ns5:oMathPara>
                </ns4:m>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ns3:Choice>
        <ns3:Fallback>
          <p:sp>
            <p:nvSpPr>
              <p:cNvPr id="35" name="TextBox 34">
                <a:extLst>
                  <a:ext uri="{FF2B5EF4-FFF2-40B4-BE49-F238E27FC236}">
                    <a16:creationId id="{B72F0892-819F-B94D-B4D1-D26BCA9AAE87}"/>
                  </a:ext>
                </a:extLst>
              </p:cNvPr>
              <p:cNvSpPr txBox="1">
                <a:spLocks noRot="1" noChangeAspect="1" noMove="1" noResize="1" noEditPoints="1" noAdjustHandles="1" noChangeArrowheads="1" noChangeShapeType="1" noTextEdit="1"/>
              </p:cNvSpPr>
              <p:nvPr/>
            </p:nvSpPr>
            <p:spPr>
              <a:xfrm>
                <a:off x="3998631" y="1121525"/>
                <a:ext cx="4535537" cy="984052"/>
              </a:xfrm>
              <a:prstGeom prst="rect">
                <a:avLst/>
              </a:prstGeom>
              <a:blipFill>
                <a:blip r:embed="rId2"/>
                <a:stretch>
                  <a:fillRect l="-838" t="-92308" b="-115385"/>
                </a:stretch>
              </a:blipFill>
              <a:ln>
                <a:noFill/>
              </a:ln>
            </p:spPr>
            <p:txBody>
              <a:bodyPr/>
              <a:lstStyle/>
              <a:p>
                <a:r>
                  <a:rPr lang="en-US">
                    <a:noFill/>
                  </a:rPr>
                  <a:t> </a:t>
                </a:r>
              </a:p>
            </p:txBody>
          </p:sp>
        </ns3:Fallback>
      </ns3:AlternateContent>
      <p:sp>
        <p:nvSpPr>
          <p:cNvPr id="2" name="TextBox 1">
            <a:extLst>
              <a:ext uri="{FF2B5EF4-FFF2-40B4-BE49-F238E27FC236}">
                <a16:creationId id="{7DB03928-EBCC-FBA2-4139-45199C922898}"/>
              </a:ext>
            </a:extLst>
          </p:cNvPr>
          <p:cNvSpPr txBox="1"/>
          <p:nvPr/>
        </p:nvSpPr>
        <p:spPr>
          <a:xfrm>
            <a:off x="197483" y="2325053"/>
            <a:ext cx="11869027" cy="4401205"/>
          </a:xfrm>
          <a:prstGeom prst="rect">
            <a:avLst/>
          </a:prstGeom>
          <a:noFill/>
        </p:spPr>
        <p:txBody>
          <a:bodyPr wrap="square" rtlCol="0">
            <a:spAutoFit/>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Leading edge physics theory &amp; observation are at a </a:t>
            </a:r>
            <a:r>
              <a:rPr kumimoji="0" lang="en-US" sz="20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high order scale </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of time, space, and potential</a:t>
            </a:r>
          </a:p>
          <a:p>
            <a:pPr marL="914400" marR="0" lvl="1"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a:t>
            </a:r>
            <a:r>
              <a:rPr kumimoji="0" lang="en-US" sz="20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found laws and theories </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work well at high orders of scale in time, space, and potential.</a:t>
            </a:r>
          </a:p>
          <a:p>
            <a:pPr marL="914400" marR="0" lvl="1"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Physicists do not yet realize they missed a scalable emergent assembly architecture circa 1900</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proper way is to analyze and simulate architrinos, their paths, and their sphere streams.</a:t>
            </a:r>
          </a:p>
          <a:p>
            <a:pPr marL="914400" marR="0" lvl="1"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Nothing else matters in the new emergent assembly architecture.</a:t>
            </a:r>
          </a:p>
          <a:p>
            <a:pPr marL="914400" marR="0" lvl="1"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Each architrino has a causal relationship with every other architrino. (universally)</a:t>
            </a:r>
          </a:p>
          <a:p>
            <a:pPr marL="1371600" marR="0" lvl="2"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action formula includes intersection with a causal wake of magnitude (</a:t>
            </a:r>
            <a:r>
              <a:rPr kumimoji="0" lang="en-US" sz="2000" b="0" i="0" u="none" strike="noStrike" kern="1200" cap="none" spc="0" normalizeH="0" baseline="0" noProof="0" dirty="0" err="1">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rv</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r>
              <a:rPr kumimoji="0" lang="en-US" sz="2000" b="0" i="0" u="none" strike="noStrike" kern="1200" cap="none" spc="0" normalizeH="0" baseline="3000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-1</a:t>
            </a: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a:p>
            <a:pPr marL="914400" marR="0" lvl="1"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 architrino may experience self action based on path history with a velocity &gt; field speed</a:t>
            </a:r>
          </a:p>
          <a:p>
            <a:pPr marL="1371600" marR="0" lvl="2"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Null self action is possible when all path history emissions are beyond causal contact.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Determinism — reactions of assemblies can tip based on incoming sphere streams.</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Evolved emergent assemblies can direct the paths of their architrino sub-assemblies.</a:t>
            </a:r>
          </a:p>
          <a:p>
            <a:pPr marL="914400" marR="0" lvl="1"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For example, life-forms have some control over their movement, and their thoughts if sentient.</a:t>
            </a:r>
          </a:p>
          <a:p>
            <a:pPr marL="914400" marR="0" lvl="1"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How are we able to do that? This is a real mathematical question. Fascinating.</a:t>
            </a:r>
          </a:p>
          <a:p>
            <a:pPr marL="914400" marR="0" lvl="1"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Do life forms leverage the aura (floating ground) in their reactions?</a:t>
            </a: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7:creationId val="3409904292"/>
      </p:ext>
    </p:extLst>
  </p:cSld>
  <p:clrMapOvr>
    <a:masterClrMapping/>
  </p:clrMapOvr>
</p:sld>
</file>

<file path=ppt/slides/slide11.xml><?xml version="1.0" encoding="utf-8"?>
<p:sld xmlns:a="http://schemas.openxmlformats.org/drawingml/2006/main" xmlns:a16="http://schemas.microsoft.com/office/drawing/2014/main" xmlns:ns3="http://schemas.openxmlformats.org/markup-compatibility/2006" xmlns:ns4="http://schemas.microsoft.com/office/drawing/2010/main" xmlns:ns5="http://schemas.openxmlformats.org/officeDocument/2006/math" xmlns:ns7="http://schemas.microsoft.com/office/powerpoint/2010/main" xmlns:p="http://schemas.openxmlformats.org/presentationml/2006/main" xmlns:r="http://schemas.openxmlformats.org/officeDocument/2006/relationships">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id="{668F77D6-DFDA-5A46-8DF1-47F6A167C2B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a16:creationId id="{C1D15DA8-274F-5947-B33A-2CC9705A3468}"/>
              </a:ext>
            </a:extLst>
          </p:cNvPr>
          <p:cNvSpPr/>
          <p:nvPr/>
        </p:nvSpPr>
        <p:spPr>
          <a:xfrm>
            <a:off x="2735978" y="378829"/>
            <a:ext cx="6720045" cy="523220"/>
          </a:xfrm>
          <a:prstGeom prst="rect">
            <a:avLst/>
          </a:prstGeom>
          <a:noFill/>
          <a:ln>
            <a:noFill/>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Equations for Nature and the Universe</a:t>
            </a:r>
          </a:p>
        </p:txBody>
      </p:sp>
      <ns3:AlternateContent>
        <ns3:Choice Requires="a14">
          <p:sp>
            <p:nvSpPr>
              <p:cNvPr id="35" name="TextBox 34">
                <a:extLst>
                  <a:ext uri="{FF2B5EF4-FFF2-40B4-BE49-F238E27FC236}">
                    <a16:creationId id="{B72F0892-819F-B94D-B4D1-D26BCA9AAE87}"/>
                  </a:ext>
                </a:extLst>
              </p:cNvPr>
              <p:cNvSpPr txBox="1"/>
              <p:nvPr/>
            </p:nvSpPr>
            <p:spPr>
              <a:xfrm>
                <a:off x="3998631" y="1121525"/>
                <a:ext cx="4535537" cy="984052"/>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ns4:m>
                  <ns5:oMathPara>
                    <ns5:oMathParaPr>
                      <ns5:jc ns5:val="centerGroup"/>
                    </ns5:oMathParaPr>
                    <ns5:oMath>
                      <ns5:sSubSup>
                        <ns5:sSubSupPr>
                          <ns5: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ctrlPr>
                        </ns5:sSubSup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𝑨</ns5:t>
                          </ns5:r>
                        </ns5:e>
                        <ns5: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𝒊</ns5:t>
                              </ns5:r>
                            </ns5:sub>
                          </ns5:sSub>
                        </ns5:sub>
                        <ns5:sup>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𝒕</ns5:t>
                          </ns5:r>
                        </ns5:sup>
                      </ns5:sSubSup>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ns5:t>
                      </ns5:r>
                      <ns5:nary>
                        <ns5:naryPr>
                          <ns5:chr ns5:val="∑"/>
                          <ns5:supHide ns5:val="on"/>
                          <ns5: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ctrlPr>
                        </ns5:naryPr>
                        <ns5:sub>
                          <ns5:r>
                            <ns5:rPr>
                              <ns5:brk ns5:alnAt="7"/>
                            </ns5:rP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𝑎</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𝑙𝑙</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 </ns5:t>
                          </ns5:r>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𝒋</ns5:t>
                              </ns5:r>
                            </ns5:sub>
                          </ns5:sSub>
                        </ns5:sub>
                        <ns5:sup/>
                        <ns5:e>
                          <ns5:d>
                            <ns5:dPr>
                              <ns5: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ctrlPr>
                            </ns5:dPr>
                            <ns5:e>
                              <ns5:f>
                                <ns5:f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fPr>
                                <ns5:num>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ns5:t>
                                      </ns5:r>
                                    </ns5:sub>
                                  </ns5:s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acc>
                                        <ns5:accPr>
                                          <ns5:chr ns5:val="̂"/>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acc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𝒓</ns5:t>
                                          </ns5:r>
                                        </ns5:e>
                                      </ns5:acc>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𝒋𝒊</ns5:t>
                                      </ns5:r>
                                    </ns5:sub>
                                  </ns5:sSub>
                                </ns5:num>
                                <ns5:den>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𝒇</ns5:t>
                                  </ns5:r>
                                  <ns5:d>
                                    <ns5:d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d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𝒅𝒊𝒔𝒕𝒂𝒏𝒄𝒆</ns5:t>
                                      </ns5:r>
                                      <ns5:d>
                                        <ns5:d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dPr>
                                        <ns5:e>
                                          <ns5:sSubSup>
                                            <ns5:sSubSup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Sup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𝒔</ns5:t>
                                              </ns5:r>
                                            </ns5:e>
                                            <ns5: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ns5:t>
                                                  </ns5:r>
                                                </ns5:sub>
                                              </ns5:sSub>
                                            </ns5:sub>
                                            <ns5:sup>
                                              <ns5:sSubSup>
                                                <ns5:sSubSup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Sup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𝒕</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ns5:t>
                                                  </ns5:r>
                                                </ns5:sub>
                                                <ns5:sup>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ns5:t>
                                                  </ns5:r>
                                                </ns5:sup>
                                              </ns5:sSubSup>
                                            </ns5:sup>
                                          </ns5:sSubSup>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ns5:t>
                                          </ns5:r>
                                          <ns5:sSubSup>
                                            <ns5:sSubSup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Sup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𝒔</ns5:t>
                                              </ns5:r>
                                            </ns5:e>
                                            <ns5: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𝒊</ns5:t>
                                                  </ns5:r>
                                                </ns5:sub>
                                              </ns5:sSub>
                                            </ns5:sub>
                                            <ns5:sup>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𝒕</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𝒊</ns5:t>
                                                  </ns5:r>
                                                </ns5:sub>
                                              </ns5:sSub>
                                            </ns5:sup>
                                          </ns5:sSubSup>
                                        </ns5:e>
                                      </ns5:d>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 </ns5:t>
                                      </ns5:r>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ns5:t>
                                          </ns5:r>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𝒗</ns5:t>
                                          </ns5:r>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ns5:t>|</ns5:t>
                                          </ns5:r>
                                        </ns5:e>
                                        <ns5:sub>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𝒒</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mn-ea"/>
                                                  <a:cs typeface="+mn-cs"/>
                                                </a:rPr>
                                                <ns5:t>𝒋</ns5:t>
                                              </ns5:r>
                                            </ns5:sub>
                                          </ns5:sSub>
                                        </ns5:sub>
                                      </ns5:sSub>
                                    </ns5:e>
                                  </ns5:d>
                                </ns5:den>
                              </ns5:f>
                            </ns5:e>
                          </ns5:d>
                        </ns5:e>
                      </ns5:nary>
                    </ns5:oMath>
                  </ns5:oMathPara>
                </ns4:m>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ns3:Choice>
        <ns3:Fallback>
          <p:sp>
            <p:nvSpPr>
              <p:cNvPr id="35" name="TextBox 34">
                <a:extLst>
                  <a:ext uri="{FF2B5EF4-FFF2-40B4-BE49-F238E27FC236}">
                    <a16:creationId id="{B72F0892-819F-B94D-B4D1-D26BCA9AAE87}"/>
                  </a:ext>
                </a:extLst>
              </p:cNvPr>
              <p:cNvSpPr txBox="1">
                <a:spLocks noRot="1" noChangeAspect="1" noMove="1" noResize="1" noEditPoints="1" noAdjustHandles="1" noChangeArrowheads="1" noChangeShapeType="1" noTextEdit="1"/>
              </p:cNvSpPr>
              <p:nvPr/>
            </p:nvSpPr>
            <p:spPr>
              <a:xfrm>
                <a:off x="3998631" y="1121525"/>
                <a:ext cx="4535537" cy="984052"/>
              </a:xfrm>
              <a:prstGeom prst="rect">
                <a:avLst/>
              </a:prstGeom>
              <a:blipFill>
                <a:blip r:embed="rId2"/>
                <a:stretch>
                  <a:fillRect l="-838" t="-92308" b="-115385"/>
                </a:stretch>
              </a:blipFill>
              <a:ln>
                <a:noFill/>
              </a:ln>
            </p:spPr>
            <p:txBody>
              <a:bodyPr/>
              <a:lstStyle/>
              <a:p>
                <a:r>
                  <a:rPr lang="en-US">
                    <a:noFill/>
                  </a:rPr>
                  <a:t> </a:t>
                </a:r>
              </a:p>
            </p:txBody>
          </p:sp>
        </ns3:Fallback>
      </ns3:AlternateContent>
      <p:sp>
        <p:nvSpPr>
          <p:cNvPr id="2" name="TextBox 1">
            <a:extLst>
              <a:ext uri="{FF2B5EF4-FFF2-40B4-BE49-F238E27FC236}">
                <a16:creationId id="{7DB03928-EBCC-FBA2-4139-45199C922898}"/>
              </a:ext>
            </a:extLst>
          </p:cNvPr>
          <p:cNvSpPr txBox="1"/>
          <p:nvPr/>
        </p:nvSpPr>
        <p:spPr>
          <a:xfrm>
            <a:off x="197483" y="2325053"/>
            <a:ext cx="11869027" cy="2831544"/>
          </a:xfrm>
          <a:prstGeom prst="rect">
            <a:avLst/>
          </a:prstGeom>
          <a:noFill/>
        </p:spPr>
        <p:txBody>
          <a:bodyPr wrap="square" rtlCol="0">
            <a:spAutoFit/>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When we calculate forces in an assembly we can break down the radial and tangential components and renormalize them as if from an ideal v=0 architrino at distance r’.</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How cool is that.</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We still need to then do the gravity equation like calculation with acceleration on the radial part.</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And what on the tangential part?  Enough to shift phase or cause the transition to the next level?</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How does that go down with participating reaction inputs?</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0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7:creationId val="949228898"/>
      </p:ext>
    </p:extLst>
  </p:cSld>
  <p:clrMapOvr>
    <a:masterClrMapping/>
  </p:clrMapOvr>
</p:sld>
</file>

<file path=ppt/slides/slide12.xml><?xml version="1.0" encoding="utf-8"?>
<p:sld xmlns:a="http://schemas.openxmlformats.org/drawingml/2006/main" xmlns:a16="http://schemas.microsoft.com/office/drawing/2014/main" xmlns:ns2="http://schemas.openxmlformats.org/markup-compatibility/2006" xmlns:ns4="http://schemas.microsoft.com/office/drawing/2010/main" xmlns:ns5="http://schemas.openxmlformats.org/officeDocument/2006/math" xmlns:ns7="http://schemas.microsoft.com/office/powerpoint/2010/main" xmlns:p="http://schemas.openxmlformats.org/presentationml/2006/main" xmlns:r="http://schemas.openxmlformats.org/officeDocument/2006/relationships">
  <p:cSld>
    <p:bg>
      <p:bgPr>
        <a:solidFill>
          <a:srgbClr val="7030A0"/>
        </a:solidFill>
        <a:effectLst/>
      </p:bgPr>
    </p:bg>
    <p:spTree>
      <p:nvGrpSpPr>
        <p:cNvPr id="1" name=""/>
        <p:cNvGrpSpPr/>
        <p:nvPr/>
      </p:nvGrpSpPr>
      <p:grpSpPr>
        <a:xfrm>
          <a:off x="0" y="0"/>
          <a:ext cx="0" cy="0"/>
          <a:chOff x="0" y="0"/>
          <a:chExt cx="0" cy="0"/>
        </a:xfrm>
      </p:grpSpPr>
      <ns2:AlternateContent>
        <ns2:Choice Requires="a14">
          <p:sp>
            <p:nvSpPr>
              <p:cNvPr id="4" name="TextBox 3">
                <a:extLst>
                  <a:ext uri="{FF2B5EF4-FFF2-40B4-BE49-F238E27FC236}">
                    <a16:creationId id="{1F81FDB4-73FA-704E-B5D5-4BC4D73D775C}"/>
                  </a:ext>
                </a:extLst>
              </p:cNvPr>
              <p:cNvSpPr txBox="1"/>
              <p:nvPr/>
            </p:nvSpPr>
            <p:spPr>
              <a:xfrm>
                <a:off x="1632821" y="1673262"/>
                <a:ext cx="905754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ns4:m>
                  <ns5:oMathPara>
                    <ns5:oMathParaPr>
                      <ns5:jc ns5:val="centerGroup"/>
                    </ns5:oMathParaPr>
                    <ns5:oMath>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𝑃𝑜𝑖𝑛𝑡</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𝑖𝑛</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𝑡𝑖𝑚𝑒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𝑚𝑜𝑑𝑒𝑙𝑠</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𝑡h𝑒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𝑒𝑚𝑖𝑠𝑠𝑖𝑜𝑛</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𝑜𝑓</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𝑎</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𝑠𝑖𝑛𝑔𝑙𝑒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𝐷𝑖𝑟𝑎𝑐</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𝑠𝑝h𝑒𝑟𝑒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𝑖𝑛𝑡𝑒𝑟𝑠𝑒𝑐𝑡𝑖𝑛𝑔</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𝑡h𝑒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𝑟𝑒𝑐𝑒𝑖𝑣𝑒𝑟</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ns5:t>
                      </ns5:r>
                    </ns5:oMath>
                  </ns5:oMathPara>
                </ns4:m>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ns2:Choice>
        <ns2:Fallback>
          <p:sp>
            <p:nvSpPr>
              <p:cNvPr id="4" name="TextBox 3">
                <a:extLst>
                  <a:ext uri="{FF2B5EF4-FFF2-40B4-BE49-F238E27FC236}">
                    <a16:creationId id="{1F81FDB4-73FA-704E-B5D5-4BC4D73D775C}"/>
                  </a:ext>
                </a:extLst>
              </p:cNvPr>
              <p:cNvSpPr txBox="1">
                <a:spLocks noRot="1" noChangeAspect="1" noMove="1" noResize="1" noEditPoints="1" noAdjustHandles="1" noChangeArrowheads="1" noChangeShapeType="1" noTextEdit="1"/>
              </p:cNvSpPr>
              <p:nvPr/>
            </p:nvSpPr>
            <p:spPr>
              <a:xfrm>
                <a:off x="1632821" y="1673262"/>
                <a:ext cx="9057544" cy="369332"/>
              </a:xfrm>
              <a:prstGeom prst="rect">
                <a:avLst/>
              </a:prstGeom>
              <a:blipFill>
                <a:blip r:embed="rId3"/>
                <a:stretch>
                  <a:fillRect b="-16667"/>
                </a:stretch>
              </a:blipFill>
            </p:spPr>
            <p:txBody>
              <a:bodyPr/>
              <a:lstStyle/>
              <a:p>
                <a:r>
                  <a:rPr lang="en-US">
                    <a:noFill/>
                  </a:rPr>
                  <a:t> </a:t>
                </a:r>
              </a:p>
            </p:txBody>
          </p:sp>
        </ns2:Fallback>
      </ns2:AlternateContent>
      <ns2:AlternateContent>
        <ns2:Choice Requires="a14">
          <p:sp>
            <p:nvSpPr>
              <p:cNvPr id="11" name="TextBox 10">
                <a:extLst>
                  <a:ext uri="{FF2B5EF4-FFF2-40B4-BE49-F238E27FC236}">
                    <a16:creationId id="{4929D634-5CDA-EA4B-AB4E-C56D95412138}"/>
                  </a:ext>
                </a:extLst>
              </p:cNvPr>
              <p:cNvSpPr txBox="1"/>
              <p:nvPr/>
            </p:nvSpPr>
            <p:spPr>
              <a:xfrm>
                <a:off x="4297490" y="1164055"/>
                <a:ext cx="341414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ns4:m>
                  <ns5:oMathPara>
                    <ns5:oMathParaPr>
                      <ns5:jc ns5:val="centerGroup"/>
                    </ns5:oMathParaPr>
                    <ns5:oMath>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𝑊𝑒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𝑛𝑒𝑒𝑑</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𝑡𝑜</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𝑢𝑠𝑒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𝑝𝑜𝑖𝑛𝑡𝑠</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𝑖𝑛</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𝑡𝑖𝑚𝑒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oMath>
                  </ns5:oMathPara>
                </ns4:m>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ns2:Choice>
        <ns2:Fallback>
          <p:sp>
            <p:nvSpPr>
              <p:cNvPr id="11" name="TextBox 10">
                <a:extLst>
                  <a:ext uri="{FF2B5EF4-FFF2-40B4-BE49-F238E27FC236}">
                    <a16:creationId id="{4929D634-5CDA-EA4B-AB4E-C56D95412138}"/>
                  </a:ext>
                </a:extLst>
              </p:cNvPr>
              <p:cNvSpPr txBox="1">
                <a:spLocks noRot="1" noChangeAspect="1" noMove="1" noResize="1" noEditPoints="1" noAdjustHandles="1" noChangeArrowheads="1" noChangeShapeType="1" noTextEdit="1"/>
              </p:cNvSpPr>
              <p:nvPr/>
            </p:nvSpPr>
            <p:spPr>
              <a:xfrm>
                <a:off x="4297490" y="1164055"/>
                <a:ext cx="3414140" cy="369332"/>
              </a:xfrm>
              <a:prstGeom prst="rect">
                <a:avLst/>
              </a:prstGeom>
              <a:blipFill>
                <a:blip r:embed="rId4"/>
                <a:stretch>
                  <a:fillRect b="-16667"/>
                </a:stretch>
              </a:blipFill>
            </p:spPr>
            <p:txBody>
              <a:bodyPr/>
              <a:lstStyle/>
              <a:p>
                <a:r>
                  <a:rPr lang="en-US">
                    <a:noFill/>
                  </a:rPr>
                  <a:t> </a:t>
                </a:r>
              </a:p>
            </p:txBody>
          </p:sp>
        </ns2:Fallback>
      </ns2:AlternateContent>
      <ns2:AlternateContent>
        <ns2:Choice Requires="a14">
          <p:sp>
            <p:nvSpPr>
              <p:cNvPr id="14" name="TextBox 13">
                <a:extLst>
                  <a:ext uri="{FF2B5EF4-FFF2-40B4-BE49-F238E27FC236}">
                    <a16:creationId id="{E13AC0F3-5C34-2644-BA21-4D36596EADBA}"/>
                  </a:ext>
                </a:extLst>
              </p:cNvPr>
              <p:cNvSpPr txBox="1"/>
              <p:nvPr/>
            </p:nvSpPr>
            <p:spPr>
              <a:xfrm>
                <a:off x="2387554" y="206755"/>
                <a:ext cx="7851829" cy="369332"/>
              </a:xfrm>
              <a:prstGeom prst="rect">
                <a:avLst/>
              </a:prstGeom>
              <a:noFill/>
              <a:ln>
                <a:noFill/>
              </a:ln>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ns4:m>
                  <ns5:oMathPara>
                    <ns5:oMathParaPr>
                      <ns5:jc ns5:val="centerGroup"/>
                    </ns5:oMathParaPr>
                    <ns5:oMath>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𝑴𝒂𝒕𝒉𝒆𝒎𝒂𝒕𝒊𝒄𝒔</ns5:t>
                      </ns5:r>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𝒇𝒐𝒓</ns5:t>
                      </ns5:r>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𝑰𝒅𝒆𝒂𝒍</ns5:t>
                      </ns5:r>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𝑨𝒔𝒔𝒆𝒎𝒃𝒍𝒊𝒆𝒔</ns5:t>
                      </ns5:r>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𝑫𝒆𝒍𝒂𝒚</ns5:t>
                      </ns5:r>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𝑫𝒊𝒇𝒇𝒆𝒓𝒆𝒏𝒕𝒊𝒂𝒍</ns5:t>
                      </ns5:r>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𝑬𝒒𝒖𝒂𝒕𝒊𝒐𝒏𝒔</ns5:t>
                      </ns5:r>
                    </ns5:oMath>
                  </ns5:oMathPara>
                </ns4:m>
                <a:endParaRPr kumimoji="0" lang="en-US" sz="18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ns2:Choice>
        <ns2:Fallback>
          <p:sp>
            <p:nvSpPr>
              <p:cNvPr id="14" name="TextBox 13">
                <a:extLst>
                  <a:ext uri="{FF2B5EF4-FFF2-40B4-BE49-F238E27FC236}">
                    <a16:creationId id="{E13AC0F3-5C34-2644-BA21-4D36596EADBA}"/>
                  </a:ext>
                </a:extLst>
              </p:cNvPr>
              <p:cNvSpPr txBox="1">
                <a:spLocks noRot="1" noChangeAspect="1" noMove="1" noResize="1" noEditPoints="1" noAdjustHandles="1" noChangeArrowheads="1" noChangeShapeType="1" noTextEdit="1"/>
              </p:cNvSpPr>
              <p:nvPr/>
            </p:nvSpPr>
            <p:spPr>
              <a:xfrm>
                <a:off x="2387554" y="206755"/>
                <a:ext cx="7851829" cy="369332"/>
              </a:xfrm>
              <a:prstGeom prst="rect">
                <a:avLst/>
              </a:prstGeom>
              <a:blipFill>
                <a:blip r:embed="rId5"/>
                <a:stretch>
                  <a:fillRect b="-13333"/>
                </a:stretch>
              </a:blipFill>
              <a:ln>
                <a:noFill/>
              </a:ln>
            </p:spPr>
            <p:txBody>
              <a:bodyPr/>
              <a:lstStyle/>
              <a:p>
                <a:r>
                  <a:rPr lang="en-US">
                    <a:noFill/>
                  </a:rPr>
                  <a:t> </a:t>
                </a:r>
              </a:p>
            </p:txBody>
          </p:sp>
        </ns2:Fallback>
      </ns2:AlternateContent>
      <ns2:AlternateContent>
        <ns2:Choice Requires="a14">
          <p:sp>
            <p:nvSpPr>
              <p:cNvPr id="20" name="TextBox 19">
                <a:extLst>
                  <a:ext uri="{FF2B5EF4-FFF2-40B4-BE49-F238E27FC236}">
                    <a16:creationId id="{B3FFFA43-DC28-C04C-8FF8-72E533B0CF14}"/>
                  </a:ext>
                </a:extLst>
              </p:cNvPr>
              <p:cNvSpPr txBox="1"/>
              <p:nvPr/>
            </p:nvSpPr>
            <p:spPr>
              <a:xfrm>
                <a:off x="1100666" y="2306326"/>
                <a:ext cx="9990668" cy="636585"/>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ns4:m>
                  <ns5:oMathPara>
                    <ns5:oMathParaPr>
                      <ns5:jc ns5:val="centerGroup"/>
                    </ns5:oMathParaPr>
                    <ns5:oMath>
                      <ns5:f>
                        <ns5:fPr>
                          <ns5: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ctrlPr>
                        </ns5:fPr>
                        <ns5:num>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𝒅</ns5:t>
                          </ns5:r>
                          <ns5:sSub>
                            <ns5:sSubPr>
                              <ns5: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ctrlPr>
                            </ns5:sSubPr>
                            <ns5:e>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𝒑</ns5:t>
                              </ns5:r>
                            </ns5:e>
                            <ns5:sub>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𝒎</ns5:t>
                              </ns5:r>
                            </ns5:sub>
                          </ns5:sSub>
                        </ns5:num>
                        <ns5:den>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𝒅𝒕</ns5:t>
                          </ns5:r>
                        </ns5:den>
                      </ns5:f>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ns5:t>
                      </ns5:r>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𝒇</ns5:t>
                      </ns5:r>
                      <ns5:d>
                        <ns5:dPr>
                          <ns5:begChr ns5:val="["/>
                          <ns5:endChr ns5:val="]"/>
                          <ns5: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ctrlPr>
                        </ns5:dPr>
                        <ns5:e>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𝒑</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𝒎</ns5:t>
                              </ns5:r>
                            </ns5:sub>
                          </ns5:sSub>
                          <ns5:d>
                            <ns5:dPr>
                              <ns5:ctrlP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ctrlPr>
                            </ns5:dPr>
                            <ns5:e>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𝒕</ns5:t>
                              </ns5:r>
                            </ns5:e>
                          </ns5:d>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ns5:t>
                          </ns5:r>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𝒑</ns5:t>
                              </ns5:r>
                            </ns5:e>
                            <ns5:sub>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𝒏</ns5:t>
                              </ns5:r>
                            </ns5:sub>
                          </ns5:sSub>
                          <ns5:d>
                            <ns5:d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ctrlPr>
                            </ns5:d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𝒕</ns5:t>
                              </ns5:r>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ns5:t>
                              </ns5:r>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𝝉</ns5:t>
                              </ns5:r>
                            </ns5:e>
                          </ns5:d>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ns5:t>
                          </ns5:r>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1"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𝒕</ns5:t>
                          </ns5:r>
                        </ns5:e>
                      </ns5:d>
                    </ns5:oMath>
                  </ns5:oMathPara>
                </ns4:m>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ns2:Choice>
        <ns2:Fallback>
          <p:sp>
            <p:nvSpPr>
              <p:cNvPr id="20" name="TextBox 19">
                <a:extLst>
                  <a:ext uri="{FF2B5EF4-FFF2-40B4-BE49-F238E27FC236}">
                    <a16:creationId id="{B3FFFA43-DC28-C04C-8FF8-72E533B0CF14}"/>
                  </a:ext>
                </a:extLst>
              </p:cNvPr>
              <p:cNvSpPr txBox="1">
                <a:spLocks noRot="1" noChangeAspect="1" noMove="1" noResize="1" noEditPoints="1" noAdjustHandles="1" noChangeArrowheads="1" noChangeShapeType="1" noTextEdit="1"/>
              </p:cNvSpPr>
              <p:nvPr/>
            </p:nvSpPr>
            <p:spPr>
              <a:xfrm>
                <a:off x="1100666" y="2306326"/>
                <a:ext cx="9990668" cy="636585"/>
              </a:xfrm>
              <a:prstGeom prst="rect">
                <a:avLst/>
              </a:prstGeom>
              <a:blipFill>
                <a:blip r:embed="rId6"/>
                <a:stretch>
                  <a:fillRect b="-1961"/>
                </a:stretch>
              </a:blipFill>
              <a:ln>
                <a:noFill/>
              </a:ln>
            </p:spPr>
            <p:txBody>
              <a:bodyPr/>
              <a:lstStyle/>
              <a:p>
                <a:r>
                  <a:rPr lang="en-US">
                    <a:noFill/>
                  </a:rPr>
                  <a:t> </a:t>
                </a:r>
              </a:p>
            </p:txBody>
          </p:sp>
        </ns2:Fallback>
      </ns2:AlternateContent>
      <p:sp>
        <p:nvSpPr>
          <p:cNvPr id="12" name="Footer Placeholder 3">
            <a:extLst>
              <a:ext uri="{FF2B5EF4-FFF2-40B4-BE49-F238E27FC236}">
                <a16:creationId id="{3FE47B7C-83DE-044A-9B6F-FADD034B7A1A}"/>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ns2:AlternateContent>
        <ns2:Choice Requires="a14">
          <p:sp>
            <p:nvSpPr>
              <p:cNvPr id="3" name="TextBox 2">
                <a:extLst>
                  <a:ext uri="{FF2B5EF4-FFF2-40B4-BE49-F238E27FC236}">
                    <a16:creationId id="{71183AE5-E01B-4836-6191-9F547AB919AB}"/>
                  </a:ext>
                </a:extLst>
              </p:cNvPr>
              <p:cNvSpPr txBox="1"/>
              <p:nvPr/>
            </p:nvSpPr>
            <p:spPr>
              <a:xfrm>
                <a:off x="1465399" y="7093816"/>
                <a:ext cx="9224966"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ns4:m>
                  <ns5:oMathPara>
                    <ns5:oMathParaPr>
                      <ns5:jc ns5:val="centerGroup"/>
                    </ns5:oMathParaPr>
                    <ns5:oMath>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𝐷𝑜</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𝑤𝑒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𝑛𝑒𝑒𝑑</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𝑝𝑎𝑡h</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𝑖𝑛𝑡𝑒𝑔𝑟𝑎𝑙𝑠</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𝑖𝑛</ns5:t>
                      </ns5:r>
                      <ns5: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𝑠𝑜𝑚𝑒</ns5:t>
                      </ns5:r>
                      <ns5: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𝑠𝑝𝑒𝑐𝑖𝑎𝑙</ns5:t>
                      </ns5:r>
                      <ns5: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𝑐𝑎𝑠𝑒𝑠</ns5:t>
                      </ns5:r>
                      <ns5: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ns5:t>
                      </ns5:r>
                    </ns5:oMath>
                    <ns5:oMath>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𝑃𝑎𝑡h</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𝑖𝑛𝑡𝑒𝑔𝑟𝑎𝑙</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𝑤𝑜𝑢𝑙𝑑</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𝑏𝑒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𝑓𝑜𝑟</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𝑐𝑎𝑠𝑒𝑠</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𝑤h𝑒𝑟𝑒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𝑡h𝑒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𝑒𝑚𝑖𝑡𝑡𝑒𝑟</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𝑣𝑒𝑙𝑜𝑐𝑖𝑡𝑦</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𝑓𝑜𝑟</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𝑎</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𝑝𝑜𝑟𝑡𝑖𝑜𝑛</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𝑜𝑓</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𝑡h𝑒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𝑝𝑎𝑡h</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oMath>
                    <ns5:oMath>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𝑖𝑠</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𝑠𝑢𝑐h</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𝑡h𝑎𝑡</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𝑐𝑜𝑛𝑡𝑖𝑛𝑢𝑜𝑢𝑠</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𝑠𝑝h𝑒𝑟𝑒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𝑠𝑡𝑟𝑒𝑎𝑚𝑠</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𝑎𝑟𝑒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𝑟𝑒𝑐𝑒𝑖𝑣𝑒𝑑</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𝐼𝑓</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𝑝𝑜𝑠𝑠𝑖𝑏𝑙𝑒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𝐼</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𝑤𝑜𝑢𝑙𝑑</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𝑙𝑖𝑘𝑒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𝑡𝑜</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𝑜𝑛𝑙𝑦</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𝑢𝑠𝑒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oMath>
                    <ns5:oMath>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𝑡h𝑒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𝑝𝑜𝑖𝑛𝑡𝑠</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𝑖𝑛</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𝑡𝑖𝑚𝑒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𝑏𝑒𝑐𝑎𝑢𝑠𝑒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𝑖𝑡</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𝑚𝑒𝑠h𝑒𝑠</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𝑤𝑒𝑙𝑙</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𝑤𝑖𝑡h</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𝑡h𝑒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𝑖𝑑𝑒𝑎</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𝑜𝑓</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𝑖𝑛𝑑𝑖𝑣𝑖𝑑𝑢𝑎𝑙</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𝐷𝑖𝑟𝑎𝑐</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𝑠𝑝h𝑒𝑟𝑒𝑠</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ns5:t>
                      </ns5:r>
                    </ns5:oMath>
                  </ns5:oMathPara>
                </ns4:m>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ns2:Choice>
        <ns2:Fallback>
          <p:sp>
            <p:nvSpPr>
              <p:cNvPr id="3" name="TextBox 2">
                <a:extLst>
                  <a:ext uri="{FF2B5EF4-FFF2-40B4-BE49-F238E27FC236}">
                    <a16:creationId id="{71183AE5-E01B-4836-6191-9F547AB919AB}"/>
                  </a:ext>
                </a:extLst>
              </p:cNvPr>
              <p:cNvSpPr txBox="1">
                <a:spLocks noRot="1" noChangeAspect="1" noMove="1" noResize="1" noEditPoints="1" noAdjustHandles="1" noChangeArrowheads="1" noChangeShapeType="1" noTextEdit="1"/>
              </p:cNvSpPr>
              <p:nvPr/>
            </p:nvSpPr>
            <p:spPr>
              <a:xfrm>
                <a:off x="1465399" y="7093816"/>
                <a:ext cx="9224966" cy="1200329"/>
              </a:xfrm>
              <a:prstGeom prst="rect">
                <a:avLst/>
              </a:prstGeom>
              <a:blipFill>
                <a:blip r:embed="rId7"/>
                <a:stretch>
                  <a:fillRect r="-1513" b="-4167"/>
                </a:stretch>
              </a:blipFill>
            </p:spPr>
            <p:txBody>
              <a:bodyPr/>
              <a:lstStyle/>
              <a:p>
                <a:r>
                  <a:rPr lang="en-US">
                    <a:noFill/>
                  </a:rPr>
                  <a:t> </a:t>
                </a:r>
              </a:p>
            </p:txBody>
          </p:sp>
        </ns2:Fallback>
      </ns2:AlternateContent>
      <ns2:AlternateContent>
        <ns2:Choice Requires="a14">
          <p:sp>
            <p:nvSpPr>
              <p:cNvPr id="6" name="TextBox 5">
                <a:extLst>
                  <a:ext uri="{FF2B5EF4-FFF2-40B4-BE49-F238E27FC236}">
                    <a16:creationId id="{275E18BF-F8C9-DE5E-353B-D0BB3DBA7FDF}"/>
                  </a:ext>
                </a:extLst>
              </p:cNvPr>
              <p:cNvSpPr txBox="1"/>
              <p:nvPr/>
            </p:nvSpPr>
            <p:spPr>
              <a:xfrm>
                <a:off x="1632821" y="3143401"/>
                <a:ext cx="8535157" cy="90133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ns4:m>
                  <ns5:oMathPara>
                    <ns5:oMathParaPr>
                      <ns5:jc ns5:val="centerGroup"/>
                    </ns5:oMathParaPr>
                    <ns5:oMath>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𝐼𝑛</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𝑡h𝑖𝑠</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𝑔𝑒𝑛𝑒𝑟𝑎𝑙</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𝑡𝑒𝑚𝑝𝑙𝑎𝑡𝑒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𝑡h𝑒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𝑐h𝑎𝑛𝑔𝑒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𝑖𝑛</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𝑡h𝑒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𝑟𝑒𝑐𝑒𝑖𝑣𝑒𝑟𝑠</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𝑝𝑎𝑡h</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d>
                        <ns5:dPr>
                          <ns5:ctrlP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ctrlPr>
                        </ns5:dPr>
                        <ns5:e>
                          <ns5:f>
                            <ns5:f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ctrlPr>
                            </ns5:fPr>
                            <ns5:num>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𝒅</ns5:t>
                              </ns5:r>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𝒑</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𝒎</ns5:t>
                                  </ns5:r>
                                </ns5:sub>
                              </ns5:sSub>
                            </ns5:num>
                            <ns5:den>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𝒅𝒕</ns5:t>
                              </ns5:r>
                            </ns5:den>
                          </ns5:f>
                        </ns5:e>
                      </ns5:d>
                    </ns5:oMath>
                  </ns5:oMathPara>
                </ns4:m>
                <a:br>
                  <a:rPr kumimoji="0" lang="en-US" sz="1800" b="0" i="1"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mn-cs"/>
                  </a:rPr>
                </a:br>
                <ns4:m>
                  <ns5:oMath>
                    <ns5: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𝑑𝑒𝑝𝑒𝑛𝑑𝑠</ns5:t>
                    </ns5:r>
                    <ns5: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𝑜𝑛</ns5:t>
                    </ns5:r>
                    <ns5: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𝑖𝑡𝑠</ns5:t>
                    </ns5:r>
                    <ns5: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𝑐𝑢𝑟𝑟𝑒𝑛𝑡</ns5:t>
                    </ns5:r>
                    <ns5: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 </ns5:t>
                    </ns5:r>
                  </ns5:oMath>
                </ns4:m>
                <a:r>
                  <a:rPr kumimoji="0" lang="en-US" sz="1800" b="0" i="1"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mn-cs"/>
                  </a:rPr>
                  <a:t>path,  </a:t>
                </a:r>
                <ns4:m>
                  <ns5:oMath>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𝒑</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𝒎</ns5:t>
                        </ns5:r>
                      </ns5:sub>
                    </ns5:sSub>
                    <ns5:d>
                      <ns5:d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ctrlPr>
                      </ns5:d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𝒕</ns5:t>
                        </ns5:r>
                      </ns5:e>
                    </ns5:d>
                  </ns5:oMath>
                </ns4:m>
                <a:r>
                  <a:rPr kumimoji="0" lang="en-US" sz="1800" b="0" i="1"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mn-cs"/>
                  </a:rPr>
                  <a:t> and  its partner’s delayed past path,  </a:t>
                </a:r>
                <ns4:m>
                  <ns5:oMath>
                    <ns5:sSub>
                      <ns5:sSub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ctrlPr>
                      </ns5:sSub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𝒑</ns5:t>
                        </ns5:r>
                      </ns5:e>
                      <ns5:sub>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𝒏</ns5:t>
                        </ns5:r>
                      </ns5:sub>
                    </ns5:sSub>
                    <ns5:d>
                      <ns5:dPr>
                        <ns5:ctrlP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ctrlPr>
                      </ns5:dPr>
                      <ns5:e>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𝒕</ns5:t>
                        </ns5:r>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ns5:t>
                        </ns5:r>
                        <ns5: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ns5:t>𝝉</ns5:t>
                        </ns5:r>
                      </ns5:e>
                    </ns5:d>
                  </ns5:oMath>
                </ns4:m>
                <a:r>
                  <a:rPr kumimoji="0" lang="en-US" sz="1800" b="0" i="0" u="none" strike="noStrike" kern="120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cs typeface="+mn-cs"/>
                  </a:rPr>
                  <a:t> </a:t>
                </a:r>
                <ns4:m>
                  <ns5:oMath>
                    <ns5:r>
                      <a:rPr kumimoji="0" lang="en-US" sz="1800" b="0" i="0"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oMath>
                </ns4:m>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ns2:Choice>
        <ns2:Fallback>
          <p:sp>
            <p:nvSpPr>
              <p:cNvPr id="6" name="TextBox 5">
                <a:extLst>
                  <a:ext uri="{FF2B5EF4-FFF2-40B4-BE49-F238E27FC236}">
                    <a16:creationId id="{275E18BF-F8C9-DE5E-353B-D0BB3DBA7FDF}"/>
                  </a:ext>
                </a:extLst>
              </p:cNvPr>
              <p:cNvSpPr txBox="1">
                <a:spLocks noRot="1" noChangeAspect="1" noMove="1" noResize="1" noEditPoints="1" noAdjustHandles="1" noChangeArrowheads="1" noChangeShapeType="1" noTextEdit="1"/>
              </p:cNvSpPr>
              <p:nvPr/>
            </p:nvSpPr>
            <p:spPr>
              <a:xfrm>
                <a:off x="1632821" y="3143401"/>
                <a:ext cx="8535157" cy="901337"/>
              </a:xfrm>
              <a:prstGeom prst="rect">
                <a:avLst/>
              </a:prstGeom>
              <a:blipFill>
                <a:blip r:embed="rId8"/>
                <a:stretch>
                  <a:fillRect l="-149" b="-9722"/>
                </a:stretch>
              </a:blipFill>
            </p:spPr>
            <p:txBody>
              <a:bodyPr/>
              <a:lstStyle/>
              <a:p>
                <a:r>
                  <a:rPr lang="en-US">
                    <a:noFill/>
                  </a:rPr>
                  <a:t> </a:t>
                </a:r>
              </a:p>
            </p:txBody>
          </p:sp>
        </ns2:Fallback>
      </ns2:AlternateContent>
      <ns2:AlternateContent>
        <ns2:Choice Requires="a14">
          <p:sp>
            <p:nvSpPr>
              <p:cNvPr id="7" name="TextBox 6">
                <a:extLst>
                  <a:ext uri="{FF2B5EF4-FFF2-40B4-BE49-F238E27FC236}">
                    <a16:creationId id="{73389A9A-27B7-71EF-EE59-2453B49D9B3A}"/>
                  </a:ext>
                </a:extLst>
              </p:cNvPr>
              <p:cNvSpPr txBox="1"/>
              <p:nvPr/>
            </p:nvSpPr>
            <p:spPr>
              <a:xfrm>
                <a:off x="17033" y="4556698"/>
                <a:ext cx="12095747"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ns4:m>
                  <ns5:oMathPara>
                    <ns5:oMathParaPr>
                      <ns5:jc ns5:val="centerGroup"/>
                    </ns5:oMathParaPr>
                    <ns5:oMath>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𝑇h𝑒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𝑒𝑞𝑢𝑎𝑡𝑖𝑜𝑛</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𝑚𝑢𝑠𝑡</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𝑏𝑒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𝑔𝑒𝑛𝑒𝑟𝑎𝑙𝑖𝑧𝑒𝑑</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𝑓𝑜𝑟</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𝑒𝑎𝑐h</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𝑎𝑠𝑠𝑒𝑚𝑏𝑙𝑦</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𝑐𝑜𝑛𝑠𝑖𝑑𝑒𝑟𝑖𝑛𝑔</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𝑎𝑙𝑙</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𝑡h𝑒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𝑝𝑜𝑖𝑛𝑡</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𝑝𝑜𝑡𝑒𝑛𝑡𝑖𝑎𝑙𝑠</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𝑎𝑛𝑑</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𝑡h𝑒𝑖𝑟</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𝑠𝑡𝑎𝑏𝑙𝑒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𝑚𝑜𝑡𝑖𝑜𝑛</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oMath>
                    <ns5:oMath>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𝐹𝑜𝑟</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𝑠𝑝𝑒𝑒𝑑𝑠</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𝑎𝑏𝑜𝑣𝑒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𝑓𝑖𝑒𝑙𝑑</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𝑠𝑝𝑒𝑒𝑑</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𝑡h𝑒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𝑚𝑢𝑙𝑡𝑖𝑝𝑙𝑒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𝑐𝑟𝑜𝑠𝑠𝑖𝑛𝑔𝑠</ns5:t>
                      </ns5:r>
                      <ns5:r>
                        <a:rPr kumimoji="0" lang="en-US" sz="1800" b="0" i="0"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𝑜𝑓</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𝑡h𝑒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𝑠𝑝h𝑒𝑟𝑒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𝑠𝑡𝑟𝑒𝑎𝑚</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𝑚𝑢𝑠𝑡</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𝑏𝑒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𝑖𝑛𝑐𝑙𝑢𝑑𝑒𝑑</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𝑖𝑛</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𝑡h𝑒</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 </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𝑒𝑞𝑢𝑎𝑡𝑖𝑜𝑛𝑠</ns5:t>
                      </ns5:r>
                      <ns5: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ns5:t>.</ns5:t>
                      </ns5:r>
                    </ns5:oMath>
                  </ns5:oMathPara>
                </ns4:m>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ns2:Choice>
        <ns2:Fallback>
          <p:sp>
            <p:nvSpPr>
              <p:cNvPr id="7" name="TextBox 6">
                <a:extLst>
                  <a:ext uri="{FF2B5EF4-FFF2-40B4-BE49-F238E27FC236}">
                    <a16:creationId id="{73389A9A-27B7-71EF-EE59-2453B49D9B3A}"/>
                  </a:ext>
                </a:extLst>
              </p:cNvPr>
              <p:cNvSpPr txBox="1">
                <a:spLocks noRot="1" noChangeAspect="1" noMove="1" noResize="1" noEditPoints="1" noAdjustHandles="1" noChangeArrowheads="1" noChangeShapeType="1" noTextEdit="1"/>
              </p:cNvSpPr>
              <p:nvPr/>
            </p:nvSpPr>
            <p:spPr>
              <a:xfrm>
                <a:off x="17033" y="4556698"/>
                <a:ext cx="12095747" cy="646331"/>
              </a:xfrm>
              <a:prstGeom prst="rect">
                <a:avLst/>
              </a:prstGeom>
              <a:blipFill>
                <a:blip r:embed="rId9"/>
                <a:stretch>
                  <a:fillRect b="-9615"/>
                </a:stretch>
              </a:blipFill>
            </p:spPr>
            <p:txBody>
              <a:bodyPr/>
              <a:lstStyle/>
              <a:p>
                <a:r>
                  <a:rPr lang="en-US">
                    <a:noFill/>
                  </a:rPr>
                  <a:t> </a:t>
                </a:r>
              </a:p>
            </p:txBody>
          </p:sp>
        </ns2:Fallback>
      </ns2:AlternateContent>
      <p:sp>
        <p:nvSpPr>
          <p:cNvPr id="21"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7:creationId val="3863754225"/>
      </p:ext>
    </p:extLst>
  </p:cSld>
  <p:clrMapOvr>
    <a:masterClrMapping/>
  </p:clrMapOvr>
</p:sld>
</file>

<file path=ppt/slides/slide13.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7030A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id="{E550F6F5-E25B-614C-ABFE-A82B9DFB89ED}"/>
              </a:ext>
            </a:extLst>
          </p:cNvPr>
          <p:cNvSpPr txBox="1"/>
          <p:nvPr/>
        </p:nvSpPr>
        <p:spPr>
          <a:xfrm>
            <a:off x="147348" y="0"/>
            <a:ext cx="11653108" cy="686341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t>Me: In the academic field of mathematics or geometry which subfields describe a dynamic system where point-like objects influence each other after a delay that depends on distance?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t>CoPilot: The study of dynamic systems where point-like objects influence each other after a delay that depends on distance falls under several subfields of mathematics and physics. Here are a few key areas: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2000" b="1" i="0" u="none" strike="noStrike" kern="1200" cap="none" spc="0" normalizeH="0" baseline="0" noProof="0" dirty="0">
                <a:ln>
                  <a:noFill/>
                </a:ln>
                <a:solidFill>
                  <a:prstClr val="white"/>
                </a:solidFill>
                <a:effectLst/>
                <a:uLnTx/>
                <a:uFillTx/>
                <a:latin typeface="Calibri" panose="020F0502020204030204"/>
                <a:ea typeface="+mn-ea"/>
                <a:cs typeface="+mn-cs"/>
              </a:rPr>
              <a:t>Dynamical Systems Theory</a:t>
            </a:r>
            <a: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t>: </a:t>
            </a:r>
            <a:b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br>
            <a: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t>This field studies the behavior of systems that evolve over time according to a set of fixed rules. These systems can be deterministic or stochastic, and they may be discrete-time or continuous-time.</a:t>
            </a: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2000" b="1" i="0" u="none" strike="noStrike" kern="1200" cap="none" spc="0" normalizeH="0" baseline="0" noProof="0" dirty="0">
                <a:ln>
                  <a:noFill/>
                </a:ln>
                <a:solidFill>
                  <a:prstClr val="white"/>
                </a:solidFill>
                <a:effectLst/>
                <a:uLnTx/>
                <a:uFillTx/>
                <a:latin typeface="Calibri" panose="020F0502020204030204"/>
                <a:ea typeface="+mn-ea"/>
                <a:cs typeface="+mn-cs"/>
              </a:rPr>
              <a:t>Delay Differential Equations (DDE)</a:t>
            </a:r>
            <a: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t>: </a:t>
            </a:r>
            <a:b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br>
            <a: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t>These are equations that relate a function with its derivatives and delayed values. DDEs are used to describe various time-delay systems. For example, a nonlinear delay system can be described by the delay differential equation (DDE):</a:t>
            </a:r>
            <a:b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br>
            <a:endPar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2000" b="1" i="0" u="none" strike="noStrike" kern="1200" cap="none" spc="0" normalizeH="0" baseline="0" noProof="0" dirty="0">
                <a:ln>
                  <a:noFill/>
                </a:ln>
                <a:solidFill>
                  <a:prstClr val="white"/>
                </a:solidFill>
                <a:effectLst/>
                <a:uLnTx/>
                <a:uFillTx/>
                <a:latin typeface="Calibri" panose="020F0502020204030204"/>
                <a:ea typeface="+mn-ea"/>
                <a:cs typeface="+mn-cs"/>
              </a:rPr>
              <a:t>Control Theory</a:t>
            </a:r>
            <a: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t>: </a:t>
            </a:r>
            <a:b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br>
            <a: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t>The behavior of dynamical systems with inputs, and how their behavior is modified by feedback. Time delays may come from the retardation of either a controller or an actuator in mechanical systems.</a:t>
            </a: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Calibri" panose="020F0502020204030204"/>
                <a:ea typeface="+mn-ea"/>
                <a:cs typeface="+mn-cs"/>
              </a:rPr>
              <a:t>These fields provide the mathematical and conceptual tools to describe and analyze this kind of dynamic system. They involve a mix of differential equations, dynamical systems theory, and often numerical methods for simulation and analysis. It’s a rich and active area of research with applications in science and engineering.</a:t>
            </a:r>
          </a:p>
        </p:txBody>
      </p:sp>
      <p:pic>
        <p:nvPicPr>
          <p:cNvPr id="3" name="Picture 2">
            <a:extLst>
              <a:ext uri="{FF2B5EF4-FFF2-40B4-BE49-F238E27FC236}">
                <a16:creationId id="{373F9A9C-7525-A034-FD23-DA4B61AEDBC1}"/>
              </a:ext>
            </a:extLst>
          </p:cNvPr>
          <p:cNvPicPr>
            <a:picLocks noChangeAspect="1"/>
          </p:cNvPicPr>
          <p:nvPr/>
        </p:nvPicPr>
        <p:blipFill>
          <a:blip r:embed="rId3"/>
          <a:stretch>
            <a:fillRect/>
          </a:stretch>
        </p:blipFill>
        <p:spPr>
          <a:xfrm>
            <a:off x="1985488" y="4009156"/>
            <a:ext cx="2794000" cy="584200"/>
          </a:xfrm>
          <a:prstGeom prst="rect">
            <a:avLst/>
          </a:prstGeom>
        </p:spPr>
      </p:pic>
      <p:sp>
        <p:nvSpPr>
          <p:cNvPr id="4"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3076040617"/>
      </p:ext>
    </p:extLst>
  </p:cSld>
  <p:clrMapOvr>
    <a:masterClrMapping/>
  </p:clrMapOvr>
</p:sld>
</file>

<file path=ppt/slides/slide14.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id="{B33C7920-1A01-C8F2-6366-D66FEA493DCC}"/>
              </a:ext>
            </a:extLst>
          </p:cNvPr>
          <p:cNvSpPr>
            <a:spLocks noGrp="1"/>
          </p:cNvSpPr>
          <p:nvPr>
            <p:ph type="title"/>
          </p:nvPr>
        </p:nvSpPr>
        <p:spPr>
          <a:xfrm>
            <a:off x="555447" y="-161132"/>
            <a:ext cx="10515600" cy="1325563"/>
          </a:xfrm>
        </p:spPr>
        <p:txBody>
          <a:bodyPr/>
          <a:lstStyle/>
          <a:p>
            <a:r>
              <a:rPr lang="en-US" b="1" dirty="0" err="1">
                <a:solidFill>
                  <a:schemeClr val="bg1"/>
                </a:solidFill>
                <a:latin typeface="Helvetica Neue" panose="02000503000000020004" pitchFamily="2" charset="0"/>
                <a:ea typeface="Helvetica Neue" panose="02000503000000020004" pitchFamily="2" charset="0"/>
                <a:cs typeface="Helvetica Neue" panose="02000503000000020004" pitchFamily="2" charset="0"/>
              </a:rPr>
              <a:t>Div</a:t>
            </a:r>
            <a:r>
              <a:rPr lang="en-US"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 Grad, Curl</a:t>
            </a:r>
          </a:p>
        </p:txBody>
      </p:sp>
      <p:sp>
        <p:nvSpPr>
          <p:cNvPr id="3" name="Footer Placeholder 2">
            <a:extLst>
              <a:ext uri="{FF2B5EF4-FFF2-40B4-BE49-F238E27FC236}">
                <a16:creationId id="{2073F75F-0818-8743-B463-7BD40A03D789}"/>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J Mark Morris - Model of Nature - April 2019</a:t>
            </a:r>
          </a:p>
        </p:txBody>
      </p:sp>
      <p:graphicFrame>
        <p:nvGraphicFramePr>
          <p:cNvPr id="4" name="Table 3">
            <a:extLst>
              <a:ext uri="{FF2B5EF4-FFF2-40B4-BE49-F238E27FC236}">
                <a16:creationId id="{DAF750AD-C3CA-79AD-D774-CA8EDF059CE2}"/>
              </a:ext>
            </a:extLst>
          </p:cNvPr>
          <p:cNvGraphicFramePr>
            <a:graphicFrameLocks noGrp="1"/>
          </p:cNvGraphicFramePr>
          <p:nvPr>
            <p:extLst>
              <p:ext uri="{D42A27DB-BD31-4B8C-83A1-F6EECF244321}">
                <ns3:modId val="2350737138"/>
              </p:ext>
            </p:extLst>
          </p:nvPr>
        </p:nvGraphicFramePr>
        <p:xfrm>
          <a:off x="555447" y="1072316"/>
          <a:ext cx="10670240" cy="2123440"/>
        </p:xfrm>
        <a:graphic>
          <a:graphicData uri="http://schemas.openxmlformats.org/drawingml/2006/table">
            <a:tbl>
              <a:tblPr firstRow="1" bandRow="1">
                <a:tableStyleId>{5C22544A-7EE6-4342-B048-85BDC9FD1C3A}</a:tableStyleId>
              </a:tblPr>
              <a:tblGrid>
                <a:gridCol w="2134048">
                  <a:extLst>
                    <a:ext uri="{9D8B030D-6E8A-4147-A177-3AD203B41FA5}">
                      <a16:colId val="320158884"/>
                    </a:ext>
                  </a:extLst>
                </a:gridCol>
                <a:gridCol w="2134048">
                  <a:extLst>
                    <a:ext uri="{9D8B030D-6E8A-4147-A177-3AD203B41FA5}">
                      <a16:colId val="3341854088"/>
                    </a:ext>
                  </a:extLst>
                </a:gridCol>
                <a:gridCol w="2134048">
                  <a:extLst>
                    <a:ext uri="{9D8B030D-6E8A-4147-A177-3AD203B41FA5}">
                      <a16:colId val="3474771529"/>
                    </a:ext>
                  </a:extLst>
                </a:gridCol>
                <a:gridCol w="2134048">
                  <a:extLst>
                    <a:ext uri="{9D8B030D-6E8A-4147-A177-3AD203B41FA5}">
                      <a16:colId val="2979340661"/>
                    </a:ext>
                  </a:extLst>
                </a:gridCol>
                <a:gridCol w="2134048">
                  <a:extLst>
                    <a:ext uri="{9D8B030D-6E8A-4147-A177-3AD203B41FA5}">
                      <a16:colId val="2171292876"/>
                    </a:ext>
                  </a:extLst>
                </a:gridCol>
              </a:tblGrid>
              <a:tr h="370840">
                <a:tc>
                  <a:txBody>
                    <a:bodyPr/>
                    <a:lstStyle/>
                    <a:p>
                      <a:pPr algn="ctr"/>
                      <a:r>
                        <a:rPr lang="en-US" dirty="0">
                          <a:solidFill>
                            <a:schemeClr val="bg1"/>
                          </a:solidFill>
                        </a:rPr>
                        <a:t>Operator</a:t>
                      </a:r>
                    </a:p>
                  </a:txBody>
                  <a:tcPr>
                    <a:noFill/>
                  </a:tcPr>
                </a:tc>
                <a:tc>
                  <a:txBody>
                    <a:bodyPr/>
                    <a:lstStyle/>
                    <a:p>
                      <a:pPr algn="ctr"/>
                      <a:r>
                        <a:rPr lang="en-US" dirty="0">
                          <a:solidFill>
                            <a:schemeClr val="bg1"/>
                          </a:solidFill>
                        </a:rPr>
                        <a:t>Symbol</a:t>
                      </a:r>
                    </a:p>
                  </a:txBody>
                  <a:tcPr>
                    <a:noFill/>
                  </a:tcPr>
                </a:tc>
                <a:tc>
                  <a:txBody>
                    <a:bodyPr/>
                    <a:lstStyle/>
                    <a:p>
                      <a:pPr algn="ctr"/>
                      <a:r>
                        <a:rPr lang="en-US" dirty="0">
                          <a:solidFill>
                            <a:schemeClr val="bg1"/>
                          </a:solidFill>
                        </a:rPr>
                        <a:t>Input</a:t>
                      </a:r>
                    </a:p>
                  </a:txBody>
                  <a:tcPr>
                    <a:noFill/>
                  </a:tcPr>
                </a:tc>
                <a:tc>
                  <a:txBody>
                    <a:bodyPr/>
                    <a:lstStyle/>
                    <a:p>
                      <a:pPr algn="ctr"/>
                      <a:r>
                        <a:rPr lang="en-US" dirty="0">
                          <a:solidFill>
                            <a:schemeClr val="bg1"/>
                          </a:solidFill>
                        </a:rPr>
                        <a:t>Output</a:t>
                      </a:r>
                    </a:p>
                  </a:txBody>
                  <a:tcPr>
                    <a:noFill/>
                  </a:tcPr>
                </a:tc>
                <a:tc>
                  <a:txBody>
                    <a:bodyPr/>
                    <a:lstStyle/>
                    <a:p>
                      <a:pPr algn="ctr"/>
                      <a:r>
                        <a:rPr lang="en-US" dirty="0">
                          <a:solidFill>
                            <a:schemeClr val="bg1"/>
                          </a:solidFill>
                        </a:rPr>
                        <a:t>Meaning</a:t>
                      </a:r>
                    </a:p>
                  </a:txBody>
                  <a:tcPr>
                    <a:noFill/>
                  </a:tcPr>
                </a:tc>
                <a:extLst>
                  <a:ext uri="{0D108BD9-81ED-4DB2-BD59-A6C34878D82A}">
                    <a16:rowId val="3093646485"/>
                  </a:ext>
                </a:extLst>
              </a:tr>
              <a:tr h="370840">
                <a:tc>
                  <a:txBody>
                    <a:bodyPr/>
                    <a:lstStyle/>
                    <a:p>
                      <a:pPr algn="ctr"/>
                      <a:r>
                        <a:rPr lang="en-US" dirty="0" err="1">
                          <a:solidFill>
                            <a:schemeClr val="bg1"/>
                          </a:solidFill>
                        </a:rPr>
                        <a:t>Div</a:t>
                      </a:r>
                      <a:endParaRPr lang="en-US" dirty="0">
                        <a:solidFill>
                          <a:schemeClr val="bg1"/>
                        </a:solidFill>
                      </a:endParaRPr>
                    </a:p>
                  </a:txBody>
                  <a:tcPr>
                    <a:noFill/>
                  </a:tcPr>
                </a:tc>
                <a:tc>
                  <a:txBody>
                    <a:bodyPr/>
                    <a:lstStyle/>
                    <a:p>
                      <a:pPr algn="ctr"/>
                      <a:r>
                        <a:rPr lang="en-US" dirty="0">
                          <a:solidFill>
                            <a:schemeClr val="bg1"/>
                          </a:solidFill>
                        </a:rPr>
                        <a:t>∇·</a:t>
                      </a:r>
                    </a:p>
                  </a:txBody>
                  <a:tcP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vector field</a:t>
                      </a:r>
                    </a:p>
                    <a:p>
                      <a:pPr algn="ctr"/>
                      <a:endParaRPr lang="en-US" dirty="0">
                        <a:solidFill>
                          <a:schemeClr val="bg1"/>
                        </a:solidFill>
                      </a:endParaRPr>
                    </a:p>
                  </a:txBody>
                  <a:tcPr>
                    <a:noFill/>
                  </a:tcPr>
                </a:tc>
                <a:tc>
                  <a:txBody>
                    <a:bodyPr/>
                    <a:lstStyle/>
                    <a:p>
                      <a:pPr algn="ctr"/>
                      <a:r>
                        <a:rPr lang="en-US" dirty="0">
                          <a:solidFill>
                            <a:schemeClr val="bg1"/>
                          </a:solidFill>
                        </a:rPr>
                        <a:t>scalar</a:t>
                      </a:r>
                    </a:p>
                  </a:txBody>
                  <a:tcPr>
                    <a:noFill/>
                  </a:tcPr>
                </a:tc>
                <a:tc>
                  <a:txBody>
                    <a:bodyPr/>
                    <a:lstStyle/>
                    <a:p>
                      <a:pPr algn="ctr"/>
                      <a:r>
                        <a:rPr lang="en-US" dirty="0">
                          <a:solidFill>
                            <a:schemeClr val="bg1"/>
                          </a:solidFill>
                        </a:rPr>
                        <a:t>compression, decompression</a:t>
                      </a:r>
                    </a:p>
                  </a:txBody>
                  <a:tcPr>
                    <a:noFill/>
                  </a:tcPr>
                </a:tc>
                <a:extLst>
                  <a:ext uri="{0D108BD9-81ED-4DB2-BD59-A6C34878D82A}">
                    <a16:rowId val="2004355383"/>
                  </a:ext>
                </a:extLst>
              </a:tr>
              <a:tr h="370840">
                <a:tc>
                  <a:txBody>
                    <a:bodyPr/>
                    <a:lstStyle/>
                    <a:p>
                      <a:pPr algn="ctr"/>
                      <a:r>
                        <a:rPr lang="en-US" dirty="0">
                          <a:solidFill>
                            <a:schemeClr val="bg1"/>
                          </a:solidFill>
                        </a:rPr>
                        <a:t>Grad</a:t>
                      </a:r>
                    </a:p>
                  </a:txBody>
                  <a:tcP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a:t>
                      </a:r>
                    </a:p>
                  </a:txBody>
                  <a:tcPr>
                    <a:noFill/>
                  </a:tcPr>
                </a:tc>
                <a:tc>
                  <a:txBody>
                    <a:bodyPr/>
                    <a:lstStyle/>
                    <a:p>
                      <a:pPr algn="ctr"/>
                      <a:r>
                        <a:rPr lang="en-US" dirty="0">
                          <a:solidFill>
                            <a:schemeClr val="bg1"/>
                          </a:solidFill>
                        </a:rPr>
                        <a:t>scalar</a:t>
                      </a:r>
                    </a:p>
                  </a:txBody>
                  <a:tcP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vector field</a:t>
                      </a:r>
                    </a:p>
                  </a:txBody>
                  <a:tcPr>
                    <a:noFill/>
                  </a:tcPr>
                </a:tc>
                <a:tc>
                  <a:txBody>
                    <a:bodyPr/>
                    <a:lstStyle/>
                    <a:p>
                      <a:pPr algn="ctr"/>
                      <a:endParaRPr lang="en-US">
                        <a:solidFill>
                          <a:schemeClr val="bg1"/>
                        </a:solidFill>
                      </a:endParaRPr>
                    </a:p>
                  </a:txBody>
                  <a:tcPr>
                    <a:noFill/>
                  </a:tcPr>
                </a:tc>
                <a:extLst>
                  <a:ext uri="{0D108BD9-81ED-4DB2-BD59-A6C34878D82A}">
                    <a16:rowId val="2346783232"/>
                  </a:ext>
                </a:extLst>
              </a:tr>
              <a:tr h="370840">
                <a:tc>
                  <a:txBody>
                    <a:bodyPr/>
                    <a:lstStyle/>
                    <a:p>
                      <a:pPr algn="ctr"/>
                      <a:r>
                        <a:rPr lang="en-US" dirty="0">
                          <a:solidFill>
                            <a:schemeClr val="bg1"/>
                          </a:solidFill>
                        </a:rPr>
                        <a:t>Curl</a:t>
                      </a:r>
                    </a:p>
                  </a:txBody>
                  <a:tcP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∇x</a:t>
                      </a:r>
                    </a:p>
                  </a:txBody>
                  <a:tcPr>
                    <a:noFill/>
                  </a:tcPr>
                </a:tc>
                <a:tc>
                  <a:txBody>
                    <a:bodyPr/>
                    <a:lstStyle/>
                    <a:p>
                      <a:pPr algn="ctr"/>
                      <a:r>
                        <a:rPr lang="en-US" dirty="0">
                          <a:solidFill>
                            <a:schemeClr val="bg1"/>
                          </a:solidFill>
                        </a:rPr>
                        <a:t>vector field</a:t>
                      </a:r>
                    </a:p>
                  </a:txBody>
                  <a:tcP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vector field</a:t>
                      </a:r>
                    </a:p>
                  </a:txBody>
                  <a:tcPr>
                    <a:noFill/>
                  </a:tcPr>
                </a:tc>
                <a:tc>
                  <a:txBody>
                    <a:bodyPr/>
                    <a:lstStyle/>
                    <a:p>
                      <a:pPr algn="ctr"/>
                      <a:r>
                        <a:rPr lang="en-US" dirty="0">
                          <a:solidFill>
                            <a:schemeClr val="bg1"/>
                          </a:solidFill>
                        </a:rPr>
                        <a:t>rotation</a:t>
                      </a:r>
                    </a:p>
                  </a:txBody>
                  <a:tcPr>
                    <a:noFill/>
                  </a:tcPr>
                </a:tc>
                <a:extLst>
                  <a:ext uri="{0D108BD9-81ED-4DB2-BD59-A6C34878D82A}">
                    <a16:rowId val="1837915688"/>
                  </a:ext>
                </a:extLst>
              </a:tr>
              <a:tr h="370840">
                <a:tc>
                  <a:txBody>
                    <a:bodyPr/>
                    <a:lstStyle/>
                    <a:p>
                      <a:pPr algn="ctr"/>
                      <a:r>
                        <a:rPr lang="en-US" dirty="0">
                          <a:solidFill>
                            <a:schemeClr val="bg1"/>
                          </a:solidFill>
                        </a:rPr>
                        <a:t>Laplacian</a:t>
                      </a:r>
                    </a:p>
                  </a:txBody>
                  <a:tcP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a:t>
                      </a:r>
                      <a:r>
                        <a:rPr lang="en-US" baseline="30000" dirty="0">
                          <a:solidFill>
                            <a:schemeClr val="bg1"/>
                          </a:solidFill>
                        </a:rPr>
                        <a:t>2</a:t>
                      </a:r>
                      <a:endParaRPr lang="en-US" dirty="0">
                        <a:solidFill>
                          <a:schemeClr val="bg1"/>
                        </a:solidFill>
                      </a:endParaRPr>
                    </a:p>
                  </a:txBody>
                  <a:tcPr>
                    <a:noFill/>
                  </a:tcPr>
                </a:tc>
                <a:tc>
                  <a:txBody>
                    <a:bodyPr/>
                    <a:lstStyle/>
                    <a:p>
                      <a:pPr algn="ctr"/>
                      <a:r>
                        <a:rPr lang="en-US" dirty="0">
                          <a:solidFill>
                            <a:schemeClr val="bg1"/>
                          </a:solidFill>
                        </a:rPr>
                        <a:t>scalar</a:t>
                      </a:r>
                    </a:p>
                  </a:txBody>
                  <a:tcPr>
                    <a:noFill/>
                  </a:tcPr>
                </a:tc>
                <a:tc>
                  <a:txBody>
                    <a:bodyPr/>
                    <a:lstStyle/>
                    <a:p>
                      <a:pPr algn="ctr"/>
                      <a:r>
                        <a:rPr lang="en-US" dirty="0">
                          <a:solidFill>
                            <a:schemeClr val="bg1"/>
                          </a:solidFill>
                        </a:rPr>
                        <a:t>scalar</a:t>
                      </a:r>
                    </a:p>
                  </a:txBody>
                  <a:tcPr>
                    <a:noFill/>
                  </a:tcPr>
                </a:tc>
                <a:tc>
                  <a:txBody>
                    <a:bodyPr/>
                    <a:lstStyle/>
                    <a:p>
                      <a:pPr algn="ctr"/>
                      <a:endParaRPr lang="en-US" dirty="0">
                        <a:solidFill>
                          <a:schemeClr val="bg1"/>
                        </a:solidFill>
                      </a:endParaRPr>
                    </a:p>
                  </a:txBody>
                  <a:tcPr>
                    <a:noFill/>
                  </a:tcPr>
                </a:tc>
                <a:extLst>
                  <a:ext uri="{0D108BD9-81ED-4DB2-BD59-A6C34878D82A}">
                    <a16:rowId val="1672869361"/>
                  </a:ext>
                </a:extLst>
              </a:tr>
            </a:tbl>
          </a:graphicData>
        </a:graphic>
      </p:graphicFrame>
      <p:sp>
        <p:nvSpPr>
          <p:cNvPr id="6" name="TextBox 5">
            <a:extLst>
              <a:ext uri="{FF2B5EF4-FFF2-40B4-BE49-F238E27FC236}">
                <a16:creationId id="{C8EA7D51-BA44-41CE-23CA-2BF0A953DF86}"/>
              </a:ext>
            </a:extLst>
          </p:cNvPr>
          <p:cNvSpPr txBox="1"/>
          <p:nvPr/>
        </p:nvSpPr>
        <p:spPr>
          <a:xfrm>
            <a:off x="418300" y="3413541"/>
            <a:ext cx="11506221" cy="286232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 = del or </a:t>
            </a:r>
            <a:r>
              <a:rPr kumimoji="0" lang="en-US" sz="1800" b="0" i="0" u="none" strike="noStrike" kern="1200" cap="none" spc="0" normalizeH="0" baseline="0" noProof="0" dirty="0" err="1">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nabla</a:t>
            </a:r>
            <a:r>
              <a:rPr kumimoji="0" lang="en-US" sz="18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 = partial derivatives in each dimension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 = dot product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x = cross product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vector function is also known as a vector field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Geometrically, the dot product is the Euclidean magnitudes of the two vectors and the cosine of the angle between them, i.e., a b cos theta</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magnitude of the cross product of two vectors is a b sin theta</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curl of gradient = 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divergence of curl = 0</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7"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1671995732"/>
      </p:ext>
    </p:extLst>
  </p:cSld>
  <p:clrMapOvr>
    <a:masterClrMapping/>
  </p:clrMapOvr>
</p:sld>
</file>

<file path=ppt/slides/slide15.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a:extLst>
            <a:ext uri="{FF2B5EF4-FFF2-40B4-BE49-F238E27FC236}">
              <a16:creationId id="{341D6644-80D8-D9C0-2B95-4AC672039C6A}"/>
            </a:ext>
          </a:extLst>
        </p:cNvPr>
        <p:cNvGrpSpPr/>
        <p:nvPr/>
      </p:nvGrpSpPr>
      <p:grpSpPr>
        <a:xfrm>
          <a:off x="0" y="0"/>
          <a:ext cx="0" cy="0"/>
          <a:chOff x="0" y="0"/>
          <a:chExt cx="0" cy="0"/>
        </a:xfrm>
      </p:grpSpPr>
      <p:sp>
        <p:nvSpPr>
          <p:cNvPr id="5" name="Footer Placeholder 3">
            <a:extLst>
              <a:ext uri="{FF2B5EF4-FFF2-40B4-BE49-F238E27FC236}">
                <a16:creationId id="{7886388C-DF81-86C6-FB29-62C9A2FFCB96}"/>
              </a:ext>
            </a:extLst>
          </p:cNvPr>
          <p:cNvSpPr txBox="1">
            <a:spLocks/>
          </p:cNvSpPr>
          <p:nvPr/>
        </p:nvSpPr>
        <p:spPr>
          <a:xfrm>
            <a:off x="10988044" y="6319991"/>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a16:creationId id="{B6623AAD-0470-CD24-F32D-F636B6619A04}"/>
              </a:ext>
            </a:extLst>
          </p:cNvPr>
          <p:cNvSpPr/>
          <p:nvPr/>
        </p:nvSpPr>
        <p:spPr>
          <a:xfrm>
            <a:off x="-57314" y="172884"/>
            <a:ext cx="12538241" cy="523220"/>
          </a:xfrm>
          <a:prstGeom prst="rect">
            <a:avLst/>
          </a:prstGeom>
          <a:noFill/>
          <a:ln>
            <a:noFill/>
          </a:ln>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Fields Don’t Interact in AAA. </a:t>
            </a: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Fields Do Interact in QFT.</a:t>
            </a:r>
            <a:r>
              <a:rPr kumimoji="0" lang="en-US" sz="2800" b="1" i="0"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  </a:t>
            </a:r>
          </a:p>
        </p:txBody>
      </p:sp>
      <p:sp>
        <p:nvSpPr>
          <p:cNvPr id="2" name="TextBox 1">
            <a:extLst>
              <a:ext uri="{FF2B5EF4-FFF2-40B4-BE49-F238E27FC236}">
                <a16:creationId id="{AA886D59-9EC6-388A-0155-AA63EC6CFE5D}"/>
              </a:ext>
            </a:extLst>
          </p:cNvPr>
          <p:cNvSpPr txBox="1"/>
          <p:nvPr/>
        </p:nvSpPr>
        <p:spPr>
          <a:xfrm>
            <a:off x="156519" y="850481"/>
            <a:ext cx="11909992" cy="5632311"/>
          </a:xfrm>
          <a:prstGeom prst="rect">
            <a:avLst/>
          </a:prstGeom>
          <a:noFill/>
        </p:spPr>
        <p:txBody>
          <a:bodyPr wrap="square" rtlCol="0">
            <a:spAutoFit/>
          </a:bodyPr>
          <a:lstStyle/>
          <a:p>
            <a:pPr marL="457200" indent="-457200">
              <a:buFont typeface="Arial" panose="020B0604020202020204" pitchFamily="34" charset="0"/>
              <a:buChar char="•"/>
              <a:defRPr/>
            </a:pPr>
            <a:r>
              <a:rPr lang="en-US" b="1"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In AAA all action occurs at the intersection of a architrino and a causal wake.</a:t>
            </a:r>
          </a:p>
          <a:p>
            <a:pPr marL="914400" lvl="1" indent="-457200">
              <a:buFont typeface="Arial" panose="020B0604020202020204" pitchFamily="34" charset="0"/>
              <a:buChar char="•"/>
              <a:defRPr/>
            </a:pPr>
            <a:r>
              <a:rPr lang="en-US" b="1"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All architrinos follow a straightforward path evolution equation at time t = </a:t>
            </a:r>
            <a:r>
              <a:rPr lang="en-US" b="1" dirty="0" err="1">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t</a:t>
            </a:r>
            <a:r>
              <a:rPr lang="en-US" b="1" baseline="-25000" dirty="0" err="1">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now</a:t>
            </a:r>
            <a:r>
              <a:rPr lang="en-US" b="1"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a:t>
            </a:r>
          </a:p>
          <a:p>
            <a:pPr marL="914400" lvl="1" indent="-457200">
              <a:buFont typeface="Arial" panose="020B0604020202020204" pitchFamily="34" charset="0"/>
              <a:buChar char="•"/>
              <a:defRPr/>
            </a:pPr>
            <a:r>
              <a:rPr kumimoji="0" lang="en-US" b="1" i="0"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geometry is Euclidean 3D and 1D linear forward moving time, leading to parsimony.</a:t>
            </a:r>
            <a:r>
              <a:rPr lang="en-US" b="1"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 </a:t>
            </a:r>
          </a:p>
          <a:p>
            <a:pPr marL="914400" lvl="1" indent="-457200">
              <a:buFont typeface="Arial" panose="020B0604020202020204" pitchFamily="34" charset="0"/>
              <a:buChar char="•"/>
              <a:defRPr/>
            </a:pPr>
            <a:endPar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endParaRP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In </a:t>
            </a: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quantum field theory (QFT), interactions between fields are fundamental to describing particle physics and the behavior of subatomic particles. In QFT, particles are viewed as excitations in underlying quantum fields. These fields can interact with each other, leading to various phenomena observed in particle physics:</a:t>
            </a:r>
          </a:p>
          <a:p>
            <a:pPr marL="914400" lvl="1" indent="-457200">
              <a:buFont typeface="Arial" panose="020B0604020202020204" pitchFamily="34" charset="0"/>
              <a:buChar char="•"/>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Fields interact by exchanging virtual particles, which are temporary disturbances in the quantum fields. </a:t>
            </a:r>
          </a:p>
          <a:p>
            <a:pPr marL="1371600" lvl="2" indent="-457200">
              <a:buFont typeface="Arial" panose="020B0604020202020204" pitchFamily="34" charset="0"/>
              <a:buChar char="•"/>
              <a:defRPr/>
            </a:pPr>
            <a:r>
              <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I</a:t>
            </a: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n quantum electrodynamics (QED), charged particles interact by exchanging virtual photons.</a:t>
            </a:r>
          </a:p>
          <a:p>
            <a:pPr marL="914400" lvl="1" indent="-457200">
              <a:buFont typeface="Arial" panose="020B0604020202020204" pitchFamily="34" charset="0"/>
              <a:buChar char="•"/>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Field interactions can result in the creation or annihilation of particles, which is crucial for describing high-energy collisions and other particle physics phenomena.</a:t>
            </a:r>
          </a:p>
          <a:p>
            <a:pPr marL="914400" lvl="1" indent="-457200">
              <a:buFont typeface="Arial" panose="020B0604020202020204" pitchFamily="34" charset="0"/>
              <a:buChar char="•"/>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Different quantum fields can couple to each other, leading to more complex interactions. </a:t>
            </a:r>
          </a:p>
          <a:p>
            <a:pPr marL="1371600" lvl="2" indent="-457200">
              <a:buFont typeface="Arial" panose="020B0604020202020204" pitchFamily="34" charset="0"/>
              <a:buChar char="•"/>
              <a:defRPr/>
            </a:pPr>
            <a:r>
              <a:rPr lang="en-US"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T</a:t>
            </a: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he Higgs field interacts with other particle fields, giving rise to the masses of fundamental particles.</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Interactions in QFT are typically described mathematically using:</a:t>
            </a:r>
          </a:p>
          <a:p>
            <a:pPr marL="914400" lvl="1" indent="-457200">
              <a:buFont typeface="Arial" panose="020B0604020202020204" pitchFamily="34" charset="0"/>
              <a:buChar char="•"/>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a:t>
            </a:r>
            <a:r>
              <a:rPr kumimoji="0" lang="en-US" b="0" i="0" u="none" strike="noStrike" kern="1200" cap="none" spc="0" normalizeH="0" baseline="0" noProof="0" dirty="0" err="1">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Lagrangian</a:t>
            </a: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 density of an interacting field theory includes terms that couple different fields.</a:t>
            </a:r>
          </a:p>
          <a:p>
            <a:pPr marL="914400" lvl="1" indent="-457200">
              <a:buFont typeface="Arial" panose="020B0604020202020204" pitchFamily="34" charset="0"/>
              <a:buChar char="•"/>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Complex interactions are often approximated using perturbative expansions, treating interactions as small perturbations to free field theories.</a:t>
            </a:r>
          </a:p>
          <a:p>
            <a:pPr marL="914400" lvl="1" indent="-457200">
              <a:buFont typeface="Arial" panose="020B0604020202020204" pitchFamily="34" charset="0"/>
              <a:buChar char="•"/>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Feynman diagrams are help calculate interaction probabilities and scattering amplitudes.</a:t>
            </a:r>
          </a:p>
          <a:p>
            <a:pPr marL="914400" lvl="1" indent="-457200">
              <a:buFont typeface="Arial" panose="020B0604020202020204" pitchFamily="34" charset="0"/>
              <a:buChar char="•"/>
              <a:defRPr/>
            </a:pPr>
            <a:r>
              <a:rPr kumimoji="0" lang="en-US"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calculated S-matrix contains information about scattering processes.</a:t>
            </a:r>
          </a:p>
        </p:txBody>
      </p:sp>
      <p:sp>
        <p:nvSpPr>
          <p:cNvPr id="4" name="TextBox 3">
            <a:extLst>
              <a:ext uri="{FF2B5EF4-FFF2-40B4-BE49-F238E27FC236}">
                <a16:creationId id="{693A69F3-20B7-5F97-5DCD-3BAC05CF854D}"/>
              </a:ext>
            </a:extLst>
          </p:cNvPr>
          <p:cNvSpPr txBox="1"/>
          <p:nvPr/>
        </p:nvSpPr>
        <p:spPr>
          <a:xfrm>
            <a:off x="10869245" y="6546616"/>
            <a:ext cx="1379860" cy="276999"/>
          </a:xfrm>
          <a:prstGeom prst="rect">
            <a:avLst/>
          </a:prstGeom>
          <a:noFill/>
        </p:spPr>
        <p:txBody>
          <a:bodyPr wrap="square">
            <a:spAutoFit/>
          </a:bodyPr>
          <a:lstStyle/>
          <a:p>
            <a:pPr algn="ctr">
              <a:defRPr/>
            </a:pPr>
            <a:r>
              <a:rPr kumimoji="0" lang="en-US" sz="1200" b="0" i="1" u="none" strike="noStrike" kern="1200" cap="none" spc="0" normalizeH="0" baseline="0" noProof="0" dirty="0">
                <a:ln>
                  <a:noFill/>
                </a:ln>
                <a:solidFill>
                  <a:schemeClr val="bg1">
                    <a:lumMod val="50000"/>
                  </a:scheme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h/t CoPilot</a:t>
            </a: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19653048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7770</TotalTime>
  <Words>4000</Words>
  <Application>Microsoft Macintosh PowerPoint</Application>
  <PresentationFormat>Widescreen</PresentationFormat>
  <Paragraphs>256</Paragraphs>
  <Slides>15</Slides>
  <Notes>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Arial</vt:lpstr>
      <vt:lpstr>Calibri</vt:lpstr>
      <vt:lpstr>Calibri Light</vt:lpstr>
      <vt:lpstr>Cambria Math</vt:lpstr>
      <vt:lpstr>Helvetica Neue</vt:lpstr>
      <vt:lpstr>Helvetica Neue Condensed Black</vt:lpstr>
      <vt:lpstr>Office Theme</vt:lpstr>
      <vt:lpstr>PowerPoint Presentation</vt:lpstr>
      <vt:lpstr>A Single Equation Describes Nature and the Universe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Div, Grad, Curl</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Mark Morris</dc:creator>
  <cp:lastModifiedBy>Mark Morris</cp:lastModifiedBy>
  <cp:revision>370</cp:revision>
  <cp:lastPrinted>2022-09-07T12:10:19Z</cp:lastPrinted>
  <dcterms:created xsi:type="dcterms:W3CDTF">2022-02-05T18:41:13Z</dcterms:created>
  <dcterms:modified xsi:type="dcterms:W3CDTF">2026-07-03T17:23:27Z</dcterms:modified>
</cp:coreProperties>
</file>