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4" r:id="rId2"/>
  </p:sldMasterIdLst>
  <p:notesMasterIdLst>
    <p:notesMasterId r:id="rId19"/>
  </p:notesMasterIdLst>
  <p:sldIdLst>
    <p:sldId id="884" r:id="rId3"/>
    <p:sldId id="808" r:id="rId4"/>
    <p:sldId id="382" r:id="rId5"/>
    <p:sldId id="842" r:id="rId6"/>
    <p:sldId id="819" r:id="rId7"/>
    <p:sldId id="844" r:id="rId8"/>
    <p:sldId id="757" r:id="rId9"/>
    <p:sldId id="820" r:id="rId10"/>
    <p:sldId id="821" r:id="rId11"/>
    <p:sldId id="809" r:id="rId12"/>
    <p:sldId id="839" r:id="rId13"/>
    <p:sldId id="840" r:id="rId14"/>
    <p:sldId id="817" r:id="rId15"/>
    <p:sldId id="816" r:id="rId16"/>
    <p:sldId id="815" r:id="rId17"/>
    <p:sldId id="84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5FF"/>
    <a:srgbClr val="FF8AD8"/>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7363"/>
  </p:normalViewPr>
  <p:slideViewPr>
    <p:cSldViewPr snapToGrid="0" snapToObjects="1">
      <p:cViewPr varScale="1">
        <p:scale>
          <a:sx n="113" d="100"/>
          <a:sy n="113" d="100"/>
        </p:scale>
        <p:origin x="1720" y="48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66B9D9-E5B3-094E-A57C-CEB795FF4B80}"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D2AC8428-D1A8-4A4F-ADFE-9D9346205280}">
      <dgm:prSet phldrT="[Text]"/>
      <dgm:spPr>
        <a:ln w="38100">
          <a:solidFill>
            <a:schemeClr val="bg1"/>
          </a:solidFill>
        </a:ln>
      </dgm:spPr>
      <dgm:t>
        <a:bodyPr/>
        <a:lstStyle/>
        <a:p>
          <a:r>
            <a:rPr lang="en-US" b="1"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Related topics:</a:t>
          </a:r>
          <a:endParaRPr lang="en-US" b="1" dirty="0"/>
        </a:p>
      </dgm:t>
    </dgm:pt>
    <dgm:pt modelId="{FB2F176B-6F2E-D04C-BFFE-629AC84ED696}" type="parTrans" cxnId="{E7EAD77D-21AD-FC46-8B4B-D1882DAE9A2A}">
      <dgm:prSet/>
      <dgm:spPr/>
      <dgm:t>
        <a:bodyPr/>
        <a:lstStyle/>
        <a:p>
          <a:endParaRPr lang="en-US" b="1"/>
        </a:p>
      </dgm:t>
    </dgm:pt>
    <dgm:pt modelId="{F76A0B5B-04AC-ED45-9467-4E0DE52B83A8}" type="sibTrans" cxnId="{E7EAD77D-21AD-FC46-8B4B-D1882DAE9A2A}">
      <dgm:prSet/>
      <dgm:spPr/>
      <dgm:t>
        <a:bodyPr/>
        <a:lstStyle/>
        <a:p>
          <a:endParaRPr lang="en-US" b="1"/>
        </a:p>
      </dgm:t>
    </dgm:pt>
    <dgm:pt modelId="{2B488192-A2A5-0E4D-A664-F8084B259E1F}">
      <dgm:prSet/>
      <dgm:spPr>
        <a:ln w="38100">
          <a:solidFill>
            <a:schemeClr val="bg1"/>
          </a:solidFill>
        </a:ln>
      </dgm:spPr>
      <dgm:t>
        <a:bodyPr/>
        <a:lstStyle/>
        <a:p>
          <a:r>
            <a:rPr lang="en-US" b="1"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Topology</a:t>
          </a:r>
        </a:p>
      </dgm:t>
    </dgm:pt>
    <dgm:pt modelId="{C91CA114-5E06-5A41-BADB-02B8992C1855}" type="parTrans" cxnId="{D8E92368-F0AC-674C-A2E4-DA81E0A2B540}">
      <dgm:prSet/>
      <dgm:spPr>
        <a:ln w="38100">
          <a:solidFill>
            <a:schemeClr val="bg1"/>
          </a:solidFill>
        </a:ln>
      </dgm:spPr>
      <dgm:t>
        <a:bodyPr/>
        <a:lstStyle/>
        <a:p>
          <a:endParaRPr lang="en-US" b="1"/>
        </a:p>
      </dgm:t>
    </dgm:pt>
    <dgm:pt modelId="{246E69AA-11ED-804E-BB1A-1CAFDC3B7387}" type="sibTrans" cxnId="{D8E92368-F0AC-674C-A2E4-DA81E0A2B540}">
      <dgm:prSet/>
      <dgm:spPr/>
      <dgm:t>
        <a:bodyPr/>
        <a:lstStyle/>
        <a:p>
          <a:endParaRPr lang="en-US" b="1"/>
        </a:p>
      </dgm:t>
    </dgm:pt>
    <dgm:pt modelId="{69C854A7-3B04-FE4C-9F19-F21D74AFCB9A}">
      <dgm:prSet phldrT="[Text]"/>
      <dgm:spPr>
        <a:ln w="38100">
          <a:solidFill>
            <a:schemeClr val="bg1"/>
          </a:solidFill>
        </a:ln>
      </dgm:spPr>
      <dgm:t>
        <a:bodyPr/>
        <a:lstStyle/>
        <a:p>
          <a:r>
            <a:rPr lang="en-US" b="1"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Symmetry</a:t>
          </a:r>
          <a:endParaRPr lang="en-US" b="1" dirty="0"/>
        </a:p>
      </dgm:t>
    </dgm:pt>
    <dgm:pt modelId="{5EE731BE-57E8-9D44-986D-6CD93E09B48A}" type="parTrans" cxnId="{6C23AF37-78EB-754B-AF87-145F803E2AA3}">
      <dgm:prSet/>
      <dgm:spPr>
        <a:ln w="38100">
          <a:solidFill>
            <a:schemeClr val="bg1"/>
          </a:solidFill>
        </a:ln>
      </dgm:spPr>
      <dgm:t>
        <a:bodyPr/>
        <a:lstStyle/>
        <a:p>
          <a:endParaRPr lang="en-US" b="1"/>
        </a:p>
      </dgm:t>
    </dgm:pt>
    <dgm:pt modelId="{022AF013-031B-A747-A268-752CAC1D7062}" type="sibTrans" cxnId="{6C23AF37-78EB-754B-AF87-145F803E2AA3}">
      <dgm:prSet/>
      <dgm:spPr/>
      <dgm:t>
        <a:bodyPr/>
        <a:lstStyle/>
        <a:p>
          <a:endParaRPr lang="en-US" b="1"/>
        </a:p>
      </dgm:t>
    </dgm:pt>
    <dgm:pt modelId="{96A0A9FA-4B95-3747-8C2D-05798902F09A}" type="pres">
      <dgm:prSet presAssocID="{4E66B9D9-E5B3-094E-A57C-CEB795FF4B80}" presName="diagram" presStyleCnt="0">
        <dgm:presLayoutVars>
          <dgm:chPref val="1"/>
          <dgm:dir/>
          <dgm:animOne val="branch"/>
          <dgm:animLvl val="lvl"/>
          <dgm:resizeHandles val="exact"/>
        </dgm:presLayoutVars>
      </dgm:prSet>
      <dgm:spPr/>
    </dgm:pt>
    <dgm:pt modelId="{BF26BE97-E2BF-2F42-B866-8C766A2CB675}" type="pres">
      <dgm:prSet presAssocID="{D2AC8428-D1A8-4A4F-ADFE-9D9346205280}" presName="root1" presStyleCnt="0"/>
      <dgm:spPr/>
    </dgm:pt>
    <dgm:pt modelId="{D4C69637-99EF-0340-A5BC-F75614B34200}" type="pres">
      <dgm:prSet presAssocID="{D2AC8428-D1A8-4A4F-ADFE-9D9346205280}" presName="LevelOneTextNode" presStyleLbl="node0" presStyleIdx="0" presStyleCnt="1">
        <dgm:presLayoutVars>
          <dgm:chPref val="3"/>
        </dgm:presLayoutVars>
      </dgm:prSet>
      <dgm:spPr/>
    </dgm:pt>
    <dgm:pt modelId="{A2B21366-E32F-3B40-91ED-CE5EAE2B5B31}" type="pres">
      <dgm:prSet presAssocID="{D2AC8428-D1A8-4A4F-ADFE-9D9346205280}" presName="level2hierChild" presStyleCnt="0"/>
      <dgm:spPr/>
    </dgm:pt>
    <dgm:pt modelId="{E143D89C-DF37-334E-87FD-5C56598AF161}" type="pres">
      <dgm:prSet presAssocID="{5EE731BE-57E8-9D44-986D-6CD93E09B48A}" presName="conn2-1" presStyleLbl="parChTrans1D2" presStyleIdx="0" presStyleCnt="2"/>
      <dgm:spPr/>
    </dgm:pt>
    <dgm:pt modelId="{E7B37D9F-37C0-7841-942A-BFB63FD50DB8}" type="pres">
      <dgm:prSet presAssocID="{5EE731BE-57E8-9D44-986D-6CD93E09B48A}" presName="connTx" presStyleLbl="parChTrans1D2" presStyleIdx="0" presStyleCnt="2"/>
      <dgm:spPr/>
    </dgm:pt>
    <dgm:pt modelId="{4F5AEEBC-9BAC-7049-9F23-E1D9FA2DB4D1}" type="pres">
      <dgm:prSet presAssocID="{69C854A7-3B04-FE4C-9F19-F21D74AFCB9A}" presName="root2" presStyleCnt="0"/>
      <dgm:spPr/>
    </dgm:pt>
    <dgm:pt modelId="{793ACCB7-7D3A-9A4E-A883-2911EE8A7446}" type="pres">
      <dgm:prSet presAssocID="{69C854A7-3B04-FE4C-9F19-F21D74AFCB9A}" presName="LevelTwoTextNode" presStyleLbl="node2" presStyleIdx="0" presStyleCnt="2">
        <dgm:presLayoutVars>
          <dgm:chPref val="3"/>
        </dgm:presLayoutVars>
      </dgm:prSet>
      <dgm:spPr/>
    </dgm:pt>
    <dgm:pt modelId="{62FDCC79-28EC-A544-A232-F43EAE05A7BD}" type="pres">
      <dgm:prSet presAssocID="{69C854A7-3B04-FE4C-9F19-F21D74AFCB9A}" presName="level3hierChild" presStyleCnt="0"/>
      <dgm:spPr/>
    </dgm:pt>
    <dgm:pt modelId="{60759A21-CD61-0C4F-B9E6-8433C0DC91E5}" type="pres">
      <dgm:prSet presAssocID="{C91CA114-5E06-5A41-BADB-02B8992C1855}" presName="conn2-1" presStyleLbl="parChTrans1D2" presStyleIdx="1" presStyleCnt="2"/>
      <dgm:spPr/>
    </dgm:pt>
    <dgm:pt modelId="{8D6FC3DE-DA83-E746-BB59-CE515B91B29B}" type="pres">
      <dgm:prSet presAssocID="{C91CA114-5E06-5A41-BADB-02B8992C1855}" presName="connTx" presStyleLbl="parChTrans1D2" presStyleIdx="1" presStyleCnt="2"/>
      <dgm:spPr/>
    </dgm:pt>
    <dgm:pt modelId="{531B0E6A-420C-124F-9F60-B72810B9936A}" type="pres">
      <dgm:prSet presAssocID="{2B488192-A2A5-0E4D-A664-F8084B259E1F}" presName="root2" presStyleCnt="0"/>
      <dgm:spPr/>
    </dgm:pt>
    <dgm:pt modelId="{F0CF95AD-0AEE-2349-835D-AB4D24B25677}" type="pres">
      <dgm:prSet presAssocID="{2B488192-A2A5-0E4D-A664-F8084B259E1F}" presName="LevelTwoTextNode" presStyleLbl="node2" presStyleIdx="1" presStyleCnt="2" custLinFactNeighborY="15886">
        <dgm:presLayoutVars>
          <dgm:chPref val="3"/>
        </dgm:presLayoutVars>
      </dgm:prSet>
      <dgm:spPr/>
    </dgm:pt>
    <dgm:pt modelId="{ED199F4A-8447-0947-B90A-40DD1B2045BB}" type="pres">
      <dgm:prSet presAssocID="{2B488192-A2A5-0E4D-A664-F8084B259E1F}" presName="level3hierChild" presStyleCnt="0"/>
      <dgm:spPr/>
    </dgm:pt>
  </dgm:ptLst>
  <dgm:cxnLst>
    <dgm:cxn modelId="{9FE2890D-89D4-234B-B5E9-60901381DEB8}" type="presOf" srcId="{5EE731BE-57E8-9D44-986D-6CD93E09B48A}" destId="{E7B37D9F-37C0-7841-942A-BFB63FD50DB8}" srcOrd="1" destOrd="0" presId="urn:microsoft.com/office/officeart/2005/8/layout/hierarchy2"/>
    <dgm:cxn modelId="{672DCF1F-91CC-0E47-B1D5-809F23EFCB0F}" type="presOf" srcId="{D2AC8428-D1A8-4A4F-ADFE-9D9346205280}" destId="{D4C69637-99EF-0340-A5BC-F75614B34200}" srcOrd="0" destOrd="0" presId="urn:microsoft.com/office/officeart/2005/8/layout/hierarchy2"/>
    <dgm:cxn modelId="{7A79CB33-EDFD-4D4C-B475-944CFA0716B0}" type="presOf" srcId="{5EE731BE-57E8-9D44-986D-6CD93E09B48A}" destId="{E143D89C-DF37-334E-87FD-5C56598AF161}" srcOrd="0" destOrd="0" presId="urn:microsoft.com/office/officeart/2005/8/layout/hierarchy2"/>
    <dgm:cxn modelId="{6C23AF37-78EB-754B-AF87-145F803E2AA3}" srcId="{D2AC8428-D1A8-4A4F-ADFE-9D9346205280}" destId="{69C854A7-3B04-FE4C-9F19-F21D74AFCB9A}" srcOrd="0" destOrd="0" parTransId="{5EE731BE-57E8-9D44-986D-6CD93E09B48A}" sibTransId="{022AF013-031B-A747-A268-752CAC1D7062}"/>
    <dgm:cxn modelId="{9EA06941-5619-854A-8293-D1378E39A3C3}" type="presOf" srcId="{C91CA114-5E06-5A41-BADB-02B8992C1855}" destId="{8D6FC3DE-DA83-E746-BB59-CE515B91B29B}" srcOrd="1" destOrd="0" presId="urn:microsoft.com/office/officeart/2005/8/layout/hierarchy2"/>
    <dgm:cxn modelId="{D8E92368-F0AC-674C-A2E4-DA81E0A2B540}" srcId="{D2AC8428-D1A8-4A4F-ADFE-9D9346205280}" destId="{2B488192-A2A5-0E4D-A664-F8084B259E1F}" srcOrd="1" destOrd="0" parTransId="{C91CA114-5E06-5A41-BADB-02B8992C1855}" sibTransId="{246E69AA-11ED-804E-BB1A-1CAFDC3B7387}"/>
    <dgm:cxn modelId="{FD422079-2FC2-E246-9065-8A49D29A86EA}" type="presOf" srcId="{4E66B9D9-E5B3-094E-A57C-CEB795FF4B80}" destId="{96A0A9FA-4B95-3747-8C2D-05798902F09A}" srcOrd="0" destOrd="0" presId="urn:microsoft.com/office/officeart/2005/8/layout/hierarchy2"/>
    <dgm:cxn modelId="{E7EAD77D-21AD-FC46-8B4B-D1882DAE9A2A}" srcId="{4E66B9D9-E5B3-094E-A57C-CEB795FF4B80}" destId="{D2AC8428-D1A8-4A4F-ADFE-9D9346205280}" srcOrd="0" destOrd="0" parTransId="{FB2F176B-6F2E-D04C-BFFE-629AC84ED696}" sibTransId="{F76A0B5B-04AC-ED45-9467-4E0DE52B83A8}"/>
    <dgm:cxn modelId="{FFEF9A85-6963-244B-9D1E-A7FB74318C83}" type="presOf" srcId="{2B488192-A2A5-0E4D-A664-F8084B259E1F}" destId="{F0CF95AD-0AEE-2349-835D-AB4D24B25677}" srcOrd="0" destOrd="0" presId="urn:microsoft.com/office/officeart/2005/8/layout/hierarchy2"/>
    <dgm:cxn modelId="{34C7F9B0-A612-4D43-8502-16AC9806399D}" type="presOf" srcId="{C91CA114-5E06-5A41-BADB-02B8992C1855}" destId="{60759A21-CD61-0C4F-B9E6-8433C0DC91E5}" srcOrd="0" destOrd="0" presId="urn:microsoft.com/office/officeart/2005/8/layout/hierarchy2"/>
    <dgm:cxn modelId="{3A9CF2C2-9918-A240-B8AB-58EC1EC58D26}" type="presOf" srcId="{69C854A7-3B04-FE4C-9F19-F21D74AFCB9A}" destId="{793ACCB7-7D3A-9A4E-A883-2911EE8A7446}" srcOrd="0" destOrd="0" presId="urn:microsoft.com/office/officeart/2005/8/layout/hierarchy2"/>
    <dgm:cxn modelId="{92C981AD-6231-3544-93E4-7079915081E3}" type="presParOf" srcId="{96A0A9FA-4B95-3747-8C2D-05798902F09A}" destId="{BF26BE97-E2BF-2F42-B866-8C766A2CB675}" srcOrd="0" destOrd="0" presId="urn:microsoft.com/office/officeart/2005/8/layout/hierarchy2"/>
    <dgm:cxn modelId="{F825B77C-5A2E-F44B-84F3-4F6A8BAD156F}" type="presParOf" srcId="{BF26BE97-E2BF-2F42-B866-8C766A2CB675}" destId="{D4C69637-99EF-0340-A5BC-F75614B34200}" srcOrd="0" destOrd="0" presId="urn:microsoft.com/office/officeart/2005/8/layout/hierarchy2"/>
    <dgm:cxn modelId="{1C9ACF7E-11CF-E144-A1A7-AEAD4E208601}" type="presParOf" srcId="{BF26BE97-E2BF-2F42-B866-8C766A2CB675}" destId="{A2B21366-E32F-3B40-91ED-CE5EAE2B5B31}" srcOrd="1" destOrd="0" presId="urn:microsoft.com/office/officeart/2005/8/layout/hierarchy2"/>
    <dgm:cxn modelId="{BD255795-C7AE-2848-B5EE-8D39F364CBFB}" type="presParOf" srcId="{A2B21366-E32F-3B40-91ED-CE5EAE2B5B31}" destId="{E143D89C-DF37-334E-87FD-5C56598AF161}" srcOrd="0" destOrd="0" presId="urn:microsoft.com/office/officeart/2005/8/layout/hierarchy2"/>
    <dgm:cxn modelId="{B15F3847-538A-2C47-86C8-043FDD5C839D}" type="presParOf" srcId="{E143D89C-DF37-334E-87FD-5C56598AF161}" destId="{E7B37D9F-37C0-7841-942A-BFB63FD50DB8}" srcOrd="0" destOrd="0" presId="urn:microsoft.com/office/officeart/2005/8/layout/hierarchy2"/>
    <dgm:cxn modelId="{1BC52396-EDAF-6C4D-85FB-2C225150AC87}" type="presParOf" srcId="{A2B21366-E32F-3B40-91ED-CE5EAE2B5B31}" destId="{4F5AEEBC-9BAC-7049-9F23-E1D9FA2DB4D1}" srcOrd="1" destOrd="0" presId="urn:microsoft.com/office/officeart/2005/8/layout/hierarchy2"/>
    <dgm:cxn modelId="{5950D196-F850-E845-97E5-E7F37EDFA0EB}" type="presParOf" srcId="{4F5AEEBC-9BAC-7049-9F23-E1D9FA2DB4D1}" destId="{793ACCB7-7D3A-9A4E-A883-2911EE8A7446}" srcOrd="0" destOrd="0" presId="urn:microsoft.com/office/officeart/2005/8/layout/hierarchy2"/>
    <dgm:cxn modelId="{B80730C1-3F71-B34F-97D2-8650B4360FB5}" type="presParOf" srcId="{4F5AEEBC-9BAC-7049-9F23-E1D9FA2DB4D1}" destId="{62FDCC79-28EC-A544-A232-F43EAE05A7BD}" srcOrd="1" destOrd="0" presId="urn:microsoft.com/office/officeart/2005/8/layout/hierarchy2"/>
    <dgm:cxn modelId="{F30FB18D-4D4E-8847-AB6A-2A12708355F3}" type="presParOf" srcId="{A2B21366-E32F-3B40-91ED-CE5EAE2B5B31}" destId="{60759A21-CD61-0C4F-B9E6-8433C0DC91E5}" srcOrd="2" destOrd="0" presId="urn:microsoft.com/office/officeart/2005/8/layout/hierarchy2"/>
    <dgm:cxn modelId="{217A3351-AE83-4D43-869A-F1B7E819EE03}" type="presParOf" srcId="{60759A21-CD61-0C4F-B9E6-8433C0DC91E5}" destId="{8D6FC3DE-DA83-E746-BB59-CE515B91B29B}" srcOrd="0" destOrd="0" presId="urn:microsoft.com/office/officeart/2005/8/layout/hierarchy2"/>
    <dgm:cxn modelId="{ACFF13C2-006F-2845-8926-771DD5F54551}" type="presParOf" srcId="{A2B21366-E32F-3B40-91ED-CE5EAE2B5B31}" destId="{531B0E6A-420C-124F-9F60-B72810B9936A}" srcOrd="3" destOrd="0" presId="urn:microsoft.com/office/officeart/2005/8/layout/hierarchy2"/>
    <dgm:cxn modelId="{65AA146E-0459-F04F-85A9-672A47ECE0C5}" type="presParOf" srcId="{531B0E6A-420C-124F-9F60-B72810B9936A}" destId="{F0CF95AD-0AEE-2349-835D-AB4D24B25677}" srcOrd="0" destOrd="0" presId="urn:microsoft.com/office/officeart/2005/8/layout/hierarchy2"/>
    <dgm:cxn modelId="{F00F345A-17EF-9F43-81FE-CE73EE9C2DE3}" type="presParOf" srcId="{531B0E6A-420C-124F-9F60-B72810B9936A}" destId="{ED199F4A-8447-0947-B90A-40DD1B2045BB}" srcOrd="1" destOrd="0" presId="urn:microsoft.com/office/officeart/2005/8/layout/hierarchy2"/>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C69637-99EF-0340-A5BC-F75614B34200}">
      <dsp:nvSpPr>
        <dsp:cNvPr id="0" name=""/>
        <dsp:cNvSpPr/>
      </dsp:nvSpPr>
      <dsp:spPr>
        <a:xfrm>
          <a:off x="664" y="549006"/>
          <a:ext cx="960087" cy="480043"/>
        </a:xfrm>
        <a:prstGeom prst="roundRect">
          <a:avLst>
            <a:gd name="adj" fmla="val 10000"/>
          </a:avLst>
        </a:prstGeom>
        <a:solidFill>
          <a:schemeClr val="accent1">
            <a:hueOff val="0"/>
            <a:satOff val="0"/>
            <a:lumOff val="0"/>
            <a:alphaOff val="0"/>
          </a:schemeClr>
        </a:solidFill>
        <a:ln w="381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Related topics:</a:t>
          </a:r>
          <a:endParaRPr lang="en-US" sz="1400" b="1" kern="1200" dirty="0"/>
        </a:p>
      </dsp:txBody>
      <dsp:txXfrm>
        <a:off x="14724" y="563066"/>
        <a:ext cx="931967" cy="451923"/>
      </dsp:txXfrm>
    </dsp:sp>
    <dsp:sp modelId="{E143D89C-DF37-334E-87FD-5C56598AF161}">
      <dsp:nvSpPr>
        <dsp:cNvPr id="0" name=""/>
        <dsp:cNvSpPr/>
      </dsp:nvSpPr>
      <dsp:spPr>
        <a:xfrm rot="19457599">
          <a:off x="916298" y="623638"/>
          <a:ext cx="472940" cy="54755"/>
        </a:xfrm>
        <a:custGeom>
          <a:avLst/>
          <a:gdLst/>
          <a:ahLst/>
          <a:cxnLst/>
          <a:rect l="0" t="0" r="0" b="0"/>
          <a:pathLst>
            <a:path>
              <a:moveTo>
                <a:pt x="0" y="27377"/>
              </a:moveTo>
              <a:lnTo>
                <a:pt x="472940" y="27377"/>
              </a:lnTo>
            </a:path>
          </a:pathLst>
        </a:custGeom>
        <a:noFill/>
        <a:ln w="38100" cap="flat" cmpd="sng" algn="ctr">
          <a:solidFill>
            <a:schemeClr val="bg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1140945" y="639192"/>
        <a:ext cx="23647" cy="23647"/>
      </dsp:txXfrm>
    </dsp:sp>
    <dsp:sp modelId="{793ACCB7-7D3A-9A4E-A883-2911EE8A7446}">
      <dsp:nvSpPr>
        <dsp:cNvPr id="0" name=""/>
        <dsp:cNvSpPr/>
      </dsp:nvSpPr>
      <dsp:spPr>
        <a:xfrm>
          <a:off x="1344786" y="272981"/>
          <a:ext cx="960087" cy="480043"/>
        </a:xfrm>
        <a:prstGeom prst="roundRect">
          <a:avLst>
            <a:gd name="adj" fmla="val 10000"/>
          </a:avLst>
        </a:prstGeom>
        <a:solidFill>
          <a:schemeClr val="accent1">
            <a:hueOff val="0"/>
            <a:satOff val="0"/>
            <a:lumOff val="0"/>
            <a:alphaOff val="0"/>
          </a:schemeClr>
        </a:solidFill>
        <a:ln w="381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Symmetry</a:t>
          </a:r>
          <a:endParaRPr lang="en-US" sz="1400" b="1" kern="1200" dirty="0"/>
        </a:p>
      </dsp:txBody>
      <dsp:txXfrm>
        <a:off x="1358846" y="287041"/>
        <a:ext cx="931967" cy="451923"/>
      </dsp:txXfrm>
    </dsp:sp>
    <dsp:sp modelId="{60759A21-CD61-0C4F-B9E6-8433C0DC91E5}">
      <dsp:nvSpPr>
        <dsp:cNvPr id="0" name=""/>
        <dsp:cNvSpPr/>
      </dsp:nvSpPr>
      <dsp:spPr>
        <a:xfrm rot="2551856">
          <a:off x="892198" y="937793"/>
          <a:ext cx="521140" cy="54755"/>
        </a:xfrm>
        <a:custGeom>
          <a:avLst/>
          <a:gdLst/>
          <a:ahLst/>
          <a:cxnLst/>
          <a:rect l="0" t="0" r="0" b="0"/>
          <a:pathLst>
            <a:path>
              <a:moveTo>
                <a:pt x="0" y="27377"/>
              </a:moveTo>
              <a:lnTo>
                <a:pt x="521140" y="27377"/>
              </a:lnTo>
            </a:path>
          </a:pathLst>
        </a:custGeom>
        <a:noFill/>
        <a:ln w="38100" cap="flat" cmpd="sng" algn="ctr">
          <a:solidFill>
            <a:schemeClr val="bg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b="1" kern="1200"/>
        </a:p>
      </dsp:txBody>
      <dsp:txXfrm>
        <a:off x="1139740" y="952142"/>
        <a:ext cx="26057" cy="26057"/>
      </dsp:txXfrm>
    </dsp:sp>
    <dsp:sp modelId="{F0CF95AD-0AEE-2349-835D-AB4D24B25677}">
      <dsp:nvSpPr>
        <dsp:cNvPr id="0" name=""/>
        <dsp:cNvSpPr/>
      </dsp:nvSpPr>
      <dsp:spPr>
        <a:xfrm>
          <a:off x="1344786" y="901291"/>
          <a:ext cx="960087" cy="480043"/>
        </a:xfrm>
        <a:prstGeom prst="roundRect">
          <a:avLst>
            <a:gd name="adj" fmla="val 10000"/>
          </a:avLst>
        </a:prstGeom>
        <a:solidFill>
          <a:schemeClr val="accent1">
            <a:hueOff val="0"/>
            <a:satOff val="0"/>
            <a:lumOff val="0"/>
            <a:alphaOff val="0"/>
          </a:schemeClr>
        </a:solidFill>
        <a:ln w="381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i="1"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Topology</a:t>
          </a:r>
        </a:p>
      </dsp:txBody>
      <dsp:txXfrm>
        <a:off x="1358846" y="915351"/>
        <a:ext cx="931967" cy="45192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BDA440-6FDE-5E41-BA40-A3C0E02BAB9F}" type="datetimeFigureOut">
              <a:rPr lang="en-US" smtClean="0"/>
              <a:t>3/14/26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398A3-AF21-A342-B6A8-6929C36BB1BF}" type="slidenum">
              <a:rPr lang="en-US" smtClean="0"/>
              <a:t>‹#›</a:t>
            </a:fld>
            <a:endParaRPr lang="en-US"/>
          </a:p>
        </p:txBody>
      </p:sp>
    </p:spTree>
    <p:extLst>
      <p:ext uri="{BB962C8B-B14F-4D97-AF65-F5344CB8AC3E}">
        <p14:creationId xmlns:p14="http://schemas.microsoft.com/office/powerpoint/2010/main" val="3368869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2594E-083A-33B0-1887-4D75961D8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C972F-8115-0086-8D46-F43BA6CB6A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CA05C0-C97B-9722-138D-940A0126F522}"/>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49D93F59-9C10-56A8-29DB-C5BD61D5AF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4577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2000" b="0" i="0" kern="1200" dirty="0">
                <a:solidFill>
                  <a:schemeClr val="tx1"/>
                </a:solidFill>
                <a:effectLst/>
                <a:latin typeface="+mn-lt"/>
                <a:ea typeface="+mn-ea"/>
                <a:cs typeface="+mn-cs"/>
              </a:rPr>
              <a:t>commenter.</a:t>
            </a:r>
          </a:p>
          <a:p>
            <a:pPr fontAlgn="base"/>
            <a:r>
              <a:rPr lang="en-US" sz="2000" b="0" i="0" kern="1200" dirty="0">
                <a:solidFill>
                  <a:schemeClr val="tx1"/>
                </a:solidFill>
                <a:effectLst/>
                <a:latin typeface="+mn-lt"/>
                <a:ea typeface="+mn-ea"/>
                <a:cs typeface="+mn-cs"/>
              </a:rPr>
              <a:t>This is more of a stylistic critique. when expressing equivalency between variables, it is often clearest to solve from one variable into the other, that is solve into a form, wherein the other variable may simply be substituted. This helps the reader understand the relationship between them and makes it less of an effort trying to figure out how variables were rearranged.</a:t>
            </a:r>
          </a:p>
          <a:p>
            <a:pPr fontAlgn="base"/>
            <a:r>
              <a:rPr lang="en-US" sz="2000" b="0" i="0" kern="1200" dirty="0">
                <a:solidFill>
                  <a:schemeClr val="tx1"/>
                </a:solidFill>
                <a:effectLst/>
                <a:latin typeface="+mn-lt"/>
                <a:ea typeface="+mn-ea"/>
                <a:cs typeface="+mn-cs"/>
              </a:rPr>
              <a:t>I found a little bit of an issue here. What happens when we look at the theta = pi/2 case? We find that @ theta = 0, but since theta =/= 0, @=0, but we have already claimed that @ &gt; 0, so we have a contradiction. Just as we stated some bounds for v, we may want to state bounds for theta. Do this by solving theta in terms of your bounds on v, and you get 0 &lt; theta &lt; ~=~ 0.934. That number comes from cos(theta) - 2 theta/pi = 0 which comes from v = @pi/2 substituted into our relationship btw. v and theta. A question you would want to ask at this point is, why do we have these bounds? Is it due to something arbitrary... or more physically rooted in the fundaments of your model.</a:t>
            </a:r>
          </a:p>
          <a:p>
            <a:pPr fontAlgn="base"/>
            <a:r>
              <a:rPr lang="en-US" sz="2000" b="0" i="0" kern="1200" dirty="0">
                <a:solidFill>
                  <a:schemeClr val="tx1"/>
                </a:solidFill>
                <a:effectLst/>
                <a:latin typeface="+mn-lt"/>
                <a:ea typeface="+mn-ea"/>
                <a:cs typeface="+mn-cs"/>
              </a:rPr>
              <a:t>Also... this problem is going to require heavier use of dynamics, since the arc length is dependent on time, and is also being used as a variable in the definition of a temporal interval..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D4D731-5435-284A-9C82-866A0CCE75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2678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200000"/>
              </a:lnSpc>
              <a:spcBef>
                <a:spcPts val="0"/>
              </a:spcBef>
              <a:spcAft>
                <a:spcPts val="0"/>
              </a:spcAft>
              <a:buClrTx/>
              <a:buSzTx/>
              <a:buFontTx/>
              <a:buNone/>
              <a:tabLst/>
              <a:defRPr/>
            </a:pPr>
            <a:r>
              <a:rPr lang="en-US" sz="9600" b="1" dirty="0">
                <a:latin typeface="Helvetica Neue" panose="02000503000000020004" pitchFamily="2" charset="0"/>
                <a:ea typeface="Helvetica Neue" panose="02000503000000020004" pitchFamily="2" charset="0"/>
                <a:cs typeface="Helvetica Neue" panose="02000503000000020004" pitchFamily="2" charset="0"/>
              </a:rPr>
              <a:t>The tracer circles represent spheres in 3D absolute represent the 3D spatial length of the radius.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The  forward tilt of all arrows represents absolute time.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Essentially every point potential is continuously riding on the wake emitted by every other point potential in the past.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They may also be riding on their own wake if v &gt; @.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For each partner that has operated at v&gt;@ a point potential may encounter multiple of their wakes or a continuous stretch of wake?  </a:t>
            </a:r>
            <a:br>
              <a:rPr lang="en-US" sz="9600" b="1" dirty="0">
                <a:latin typeface="Helvetica Neue" panose="02000503000000020004" pitchFamily="2" charset="0"/>
                <a:ea typeface="Helvetica Neue" panose="02000503000000020004" pitchFamily="2" charset="0"/>
                <a:cs typeface="Helvetica Neue" panose="02000503000000020004" pitchFamily="2" charset="0"/>
              </a:rPr>
            </a:br>
            <a:r>
              <a:rPr lang="en-US" sz="9600" b="1" dirty="0">
                <a:latin typeface="Helvetica Neue" panose="02000503000000020004" pitchFamily="2" charset="0"/>
                <a:ea typeface="Helvetica Neue" panose="02000503000000020004" pitchFamily="2" charset="0"/>
                <a:cs typeface="Helvetica Neue" panose="02000503000000020004" pitchFamily="2" charset="0"/>
              </a:rPr>
              <a:t>What path would yield a continuous stretch of wake from a partner?</a:t>
            </a:r>
          </a:p>
          <a:p>
            <a:pPr marL="0" marR="0" indent="0" algn="l" defTabSz="914400" rtl="0" eaLnBrk="1" fontAlgn="auto" latinLnBrk="0" hangingPunct="1">
              <a:lnSpc>
                <a:spcPct val="200000"/>
              </a:lnSpc>
              <a:spcBef>
                <a:spcPts val="0"/>
              </a:spcBef>
              <a:spcAft>
                <a:spcPts val="0"/>
              </a:spcAft>
              <a:buClrTx/>
              <a:buSzTx/>
              <a:buFontTx/>
              <a:buNone/>
              <a:tabLst/>
              <a:defRPr/>
            </a:pPr>
            <a:endParaRPr lang="en-US" sz="9600" b="1" dirty="0">
              <a:latin typeface="Helvetica Neue" panose="02000503000000020004" pitchFamily="2" charset="0"/>
              <a:ea typeface="Helvetica Neue" panose="02000503000000020004" pitchFamily="2" charset="0"/>
              <a:cs typeface="Helvetica Neue" panose="02000503000000020004" pitchFamily="2" charset="0"/>
            </a:endParaRPr>
          </a:p>
          <a:p>
            <a:pPr marL="0" marR="0" indent="0" algn="l" defTabSz="914400" rtl="0" eaLnBrk="1" fontAlgn="auto" latinLnBrk="0" hangingPunct="1">
              <a:lnSpc>
                <a:spcPct val="200000"/>
              </a:lnSpc>
              <a:spcBef>
                <a:spcPts val="0"/>
              </a:spcBef>
              <a:spcAft>
                <a:spcPts val="0"/>
              </a:spcAft>
              <a:buClrTx/>
              <a:buSzTx/>
              <a:buFontTx/>
              <a:buNone/>
              <a:tabLst/>
              <a:defRPr/>
            </a:pPr>
            <a:r>
              <a:rPr lang="en-US" sz="9600" b="1" dirty="0">
                <a:latin typeface="Helvetica Neue" panose="02000503000000020004" pitchFamily="2" charset="0"/>
                <a:ea typeface="Helvetica Neue" panose="02000503000000020004" pitchFamily="2" charset="0"/>
                <a:cs typeface="Helvetica Neue" panose="02000503000000020004" pitchFamily="2" charset="0"/>
              </a:rPr>
              <a:t>To do : animate this and make an episode.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5933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4807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See first</a:t>
            </a:r>
            <a:r>
              <a:rPr lang="en-US" baseline="0" dirty="0"/>
              <a:t> 5 minutes on DDE in https://</a:t>
            </a:r>
            <a:r>
              <a:rPr lang="en-US" baseline="0" dirty="0" err="1"/>
              <a:t>youtu.be</a:t>
            </a:r>
            <a:r>
              <a:rPr lang="en-US" baseline="0" dirty="0"/>
              <a:t>/eJaHCZ3ITIc. Introducing Weird Differential Equations: Delay, Fractional, </a:t>
            </a:r>
            <a:r>
              <a:rPr lang="en-US" baseline="0" dirty="0" err="1"/>
              <a:t>Integro</a:t>
            </a:r>
            <a:r>
              <a:rPr lang="en-US" baseline="0" dirty="0"/>
              <a:t>, Stochastic!  By Faculty of Khan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4683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8989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5737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B3A9-9E4D-1B45-B3D5-CA3715227F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4A437C-6978-EF42-B683-287B0BCC6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736A90-6A63-474E-AE00-47FF46C1C73E}"/>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5" name="Footer Placeholder 4">
            <a:extLst>
              <a:ext uri="{FF2B5EF4-FFF2-40B4-BE49-F238E27FC236}">
                <a16:creationId xmlns:a16="http://schemas.microsoft.com/office/drawing/2014/main" id="{1D9A6875-C7C8-8141-9B12-87599614E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F87BB-FFE9-4F4E-9787-48475824CC8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40859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7A8A-0845-AD47-90A8-18776E749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85297E-D5E0-6745-91A9-52029EE30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79309D-6084-C74B-884A-230D6CFAC619}"/>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5" name="Footer Placeholder 4">
            <a:extLst>
              <a:ext uri="{FF2B5EF4-FFF2-40B4-BE49-F238E27FC236}">
                <a16:creationId xmlns:a16="http://schemas.microsoft.com/office/drawing/2014/main" id="{0F105DDE-4455-5940-ADF4-C579F78A2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64C6E-4C44-A641-B028-04035B812AA6}"/>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576653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E37A-D8BF-D64A-8216-7ABA6C5836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406964-1DAB-F14D-8D48-DEDCBF1951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D9634-1414-224C-B6B9-3F0D98D672C3}"/>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5" name="Footer Placeholder 4">
            <a:extLst>
              <a:ext uri="{FF2B5EF4-FFF2-40B4-BE49-F238E27FC236}">
                <a16:creationId xmlns:a16="http://schemas.microsoft.com/office/drawing/2014/main" id="{A8157A06-C042-C649-8823-09CD9E492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72125-B186-EA4F-87C1-D421E15E6F0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661250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32C6-604D-5245-AF13-1117649C0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3D95E-DB7F-8741-AA7E-E9FECF96C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4FF041-1EE3-1840-9A00-F30BE067B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E2B0A9-40F9-DB4D-BDC1-10F58EBA8438}"/>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6" name="Footer Placeholder 5">
            <a:extLst>
              <a:ext uri="{FF2B5EF4-FFF2-40B4-BE49-F238E27FC236}">
                <a16:creationId xmlns:a16="http://schemas.microsoft.com/office/drawing/2014/main" id="{4D45749E-ED3B-3643-8D22-DA2D88FFD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4183C9-D2C9-CE44-B58B-ACE8898D0D0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064542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45A6-44FE-3848-88E8-5552DDC45A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DC7C1F-E9B4-4E48-ACFC-DC65D6617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FE821-3558-AB4C-948F-6C6990D147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74632-D045-5A44-BB14-E3D5737A2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5E05E-D502-E74B-91AF-BB193D328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03287E-662E-F54F-9162-3F755DD60CA2}"/>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8" name="Footer Placeholder 7">
            <a:extLst>
              <a:ext uri="{FF2B5EF4-FFF2-40B4-BE49-F238E27FC236}">
                <a16:creationId xmlns:a16="http://schemas.microsoft.com/office/drawing/2014/main" id="{B68BB5FE-E651-1B4F-8E93-FD794E8A5E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AD7C8-64AF-684B-98B6-D6D6714A29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07957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C2D9-851F-F94A-83EC-CAB5799206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BF4D5-34AD-5A43-853F-006AD601FD76}"/>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4" name="Footer Placeholder 3">
            <a:extLst>
              <a:ext uri="{FF2B5EF4-FFF2-40B4-BE49-F238E27FC236}">
                <a16:creationId xmlns:a16="http://schemas.microsoft.com/office/drawing/2014/main" id="{67670C52-9CA4-AB4F-957A-7AAD4E259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41625-0652-EB4F-8E04-6C901136517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755306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92881-FA37-DD45-860A-EA6B38C3108A}"/>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3" name="Footer Placeholder 2">
            <a:extLst>
              <a:ext uri="{FF2B5EF4-FFF2-40B4-BE49-F238E27FC236}">
                <a16:creationId xmlns:a16="http://schemas.microsoft.com/office/drawing/2014/main" id="{A4652DC6-52F3-8040-8665-17D023390D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CEF52-EC52-6C42-81BD-397B5CE038F7}"/>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920734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0788-9DB9-6745-96CF-A7A1862275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E3299F-D119-D449-BD57-1CE490CB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3BB0FB-61B4-DC45-9D1E-63F99E6AB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F87701-43E6-A248-ABD9-E1C49D62242F}"/>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6" name="Footer Placeholder 5">
            <a:extLst>
              <a:ext uri="{FF2B5EF4-FFF2-40B4-BE49-F238E27FC236}">
                <a16:creationId xmlns:a16="http://schemas.microsoft.com/office/drawing/2014/main" id="{DFD6954C-9DFB-264A-A710-D12E71DB3A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88770-2503-8F4E-AFC6-6941CC59F7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225689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FF65-890A-1A47-B873-C56E2C7D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05E9CE-538C-294A-A814-80A50548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3C7C9D-B309-CF46-90D8-B95DD6C2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7CA5D-F1C9-604D-83E1-2E60AE6E200D}"/>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6" name="Footer Placeholder 5">
            <a:extLst>
              <a:ext uri="{FF2B5EF4-FFF2-40B4-BE49-F238E27FC236}">
                <a16:creationId xmlns:a16="http://schemas.microsoft.com/office/drawing/2014/main" id="{BC9BE16D-FB3D-AA41-B06D-73A0FCDFB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9839D-F44C-4B47-9DFE-D154851F551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116182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DFD1-B5EF-8445-B336-8B2E596E2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86E7C-46AA-9440-8F1F-C1AD5E8EC2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62E40-F60A-404F-9DB3-AC863A0E0847}"/>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5" name="Footer Placeholder 4">
            <a:extLst>
              <a:ext uri="{FF2B5EF4-FFF2-40B4-BE49-F238E27FC236}">
                <a16:creationId xmlns:a16="http://schemas.microsoft.com/office/drawing/2014/main" id="{156ABF7D-A207-9243-8354-69D0FCFA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5599E-5B81-624B-A60C-D22AF58B66FB}"/>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72147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BC040-CE85-6347-809B-760E676EF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DD51C-FD4B-524F-8054-62599D261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9F735-3187-1341-AE2A-1316DEDA7CE8}"/>
              </a:ext>
            </a:extLst>
          </p:cNvPr>
          <p:cNvSpPr>
            <a:spLocks noGrp="1"/>
          </p:cNvSpPr>
          <p:nvPr>
            <p:ph type="dt" sz="half" idx="10"/>
          </p:nvPr>
        </p:nvSpPr>
        <p:spPr/>
        <p:txBody>
          <a:bodyPr/>
          <a:lstStyle/>
          <a:p>
            <a:fld id="{CB70D3E6-D921-5B44-AC8D-B7FDAFC8A532}" type="datetimeFigureOut">
              <a:rPr lang="en-US" smtClean="0"/>
              <a:t>3/14/26</a:t>
            </a:fld>
            <a:endParaRPr lang="en-US"/>
          </a:p>
        </p:txBody>
      </p:sp>
      <p:sp>
        <p:nvSpPr>
          <p:cNvPr id="5" name="Footer Placeholder 4">
            <a:extLst>
              <a:ext uri="{FF2B5EF4-FFF2-40B4-BE49-F238E27FC236}">
                <a16:creationId xmlns:a16="http://schemas.microsoft.com/office/drawing/2014/main" id="{D08F8F3D-1D9D-EF45-9F9C-E682715F6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DF4D4-99B2-C24C-BCFF-B3AB3F96C74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063727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3/14/26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372916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3/14/26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497139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3/14/26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963469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4B483-3334-204F-ADDF-2B9BC6A8D9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FCC4CF-F19A-1848-8467-61B9807AC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28E2E-CB42-B64B-A2AC-B8713F8A0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0D3E6-D921-5B44-AC8D-B7FDAFC8A532}" type="datetimeFigureOut">
              <a:rPr lang="en-US" smtClean="0"/>
              <a:t>3/14/26</a:t>
            </a:fld>
            <a:endParaRPr lang="en-US"/>
          </a:p>
        </p:txBody>
      </p:sp>
      <p:sp>
        <p:nvSpPr>
          <p:cNvPr id="5" name="Footer Placeholder 4">
            <a:extLst>
              <a:ext uri="{FF2B5EF4-FFF2-40B4-BE49-F238E27FC236}">
                <a16:creationId xmlns:a16="http://schemas.microsoft.com/office/drawing/2014/main" id="{2AA830BA-8B9E-D54E-AA7F-1B6C247B3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3634F2-31DD-3F49-A362-988026E56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E7AC70-81D3-9F4C-9FBF-EEB91175D34A}" type="slidenum">
              <a:rPr lang="en-US" smtClean="0"/>
              <a:t>‹#›</a:t>
            </a:fld>
            <a:endParaRPr lang="en-US"/>
          </a:p>
        </p:txBody>
      </p:sp>
    </p:spTree>
    <p:extLst>
      <p:ext uri="{BB962C8B-B14F-4D97-AF65-F5344CB8AC3E}">
        <p14:creationId xmlns:p14="http://schemas.microsoft.com/office/powerpoint/2010/main" val="3956632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3/14/26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418825901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60.pn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9.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804AC981-79ED-95B2-006C-1F07F7D102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D5C38C-76F4-C791-A566-84A8B395A016}"/>
              </a:ext>
            </a:extLst>
          </p:cNvPr>
          <p:cNvSpPr txBox="1"/>
          <p:nvPr/>
        </p:nvSpPr>
        <p:spPr>
          <a:xfrm>
            <a:off x="0" y="358254"/>
            <a:ext cx="12191999" cy="1374735"/>
          </a:xfrm>
          <a:prstGeom prst="rect">
            <a:avLst/>
          </a:prstGeom>
          <a:noFill/>
        </p:spPr>
        <p:txBody>
          <a:bodyPr wrap="square" rtlCol="0">
            <a:spAutoFit/>
          </a:bodyPr>
          <a:lstStyle/>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Action</a:t>
            </a: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464736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9F2801-314B-3743-8406-886D110B2060}"/>
              </a:ext>
            </a:extLst>
          </p:cNvPr>
          <p:cNvSpPr>
            <a:spLocks noGrp="1"/>
          </p:cNvSpPr>
          <p:nvPr>
            <p:ph type="title"/>
          </p:nvPr>
        </p:nvSpPr>
        <p:spPr>
          <a:xfrm>
            <a:off x="274592" y="240089"/>
            <a:ext cx="11673568" cy="777875"/>
          </a:xfrm>
          <a:noFill/>
          <a:ln>
            <a:noFill/>
          </a:ln>
        </p:spPr>
        <p:txBody>
          <a:bodyPr>
            <a:noAutofit/>
          </a:bodyPr>
          <a:lstStyle/>
          <a:p>
            <a:pPr algn="ctr"/>
            <a:r>
              <a:rPr lang="en-US" sz="3600" b="1" dirty="0">
                <a:solidFill>
                  <a:schemeClr val="bg1"/>
                </a:solidFill>
                <a:latin typeface="Cambria Math" panose="02040503050406030204" pitchFamily="18" charset="0"/>
                <a:ea typeface="Cambria Math" panose="02040503050406030204" pitchFamily="18" charset="0"/>
                <a:cs typeface="Helvetica Neue" panose="02000503000000020004" pitchFamily="2" charset="0"/>
              </a:rPr>
              <a:t>A Single Equation Describes Nature and the Universe</a:t>
            </a:r>
          </a:p>
        </p:txBody>
      </p:sp>
      <p:sp>
        <p:nvSpPr>
          <p:cNvPr id="4" name="Footer Placeholder 3">
            <a:extLst>
              <a:ext uri="{FF2B5EF4-FFF2-40B4-BE49-F238E27FC236}">
                <a16:creationId xmlns:a16="http://schemas.microsoft.com/office/drawing/2014/main" id="{9D9787B4-78F2-E94F-B4AF-51DD5B0F66AA}"/>
              </a:ext>
            </a:extLst>
          </p:cNvPr>
          <p:cNvSpPr>
            <a:spLocks noGrp="1"/>
          </p:cNvSpPr>
          <p:nvPr>
            <p:ph type="ftr" sz="quarter" idx="11"/>
          </p:nvPr>
        </p:nvSpPr>
        <p:spPr>
          <a:xfrm>
            <a:off x="9448800" y="6492875"/>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J Mark Morris</a:t>
            </a:r>
          </a:p>
        </p:txBody>
      </p:sp>
      <p:sp>
        <p:nvSpPr>
          <p:cNvPr id="6" name="TextBox 5">
            <a:extLst>
              <a:ext uri="{FF2B5EF4-FFF2-40B4-BE49-F238E27FC236}">
                <a16:creationId xmlns:a16="http://schemas.microsoft.com/office/drawing/2014/main" id="{3F6F3E46-3F75-0E4D-8285-54B5E9DCE559}"/>
              </a:ext>
            </a:extLst>
          </p:cNvPr>
          <p:cNvSpPr txBox="1"/>
          <p:nvPr/>
        </p:nvSpPr>
        <p:spPr>
          <a:xfrm>
            <a:off x="726332" y="3429000"/>
            <a:ext cx="10661515" cy="3063875"/>
          </a:xfrm>
          <a:prstGeom prst="rect">
            <a:avLst/>
          </a:prstGeom>
          <a:noFill/>
          <a:ln>
            <a:noFill/>
          </a:ln>
        </p:spPr>
        <p:txBody>
          <a:bodyPr wrap="square" rtlCol="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A single evolution equation marches forward in absolute time throughout absolute Euclidean space.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Each point potential j follows a continuous path.  </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P</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j</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 is described by (t, x, y, z, x', y', z’)</a:t>
            </a:r>
            <a:r>
              <a:rPr kumimoji="0" lang="en-US" sz="1600" b="1" i="0" u="none" strike="noStrike" kern="1200" cap="none" spc="0" normalizeH="0" baseline="-2500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 j</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Each point potential j continuously emits a Dirac sphere potential described by </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S</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j</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 </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P</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j</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e</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 where t &gt; </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e</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Dirac sphere potentials expand at the universal constant rate @ = </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dr</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/dt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Action occurs when a Dirac sphere potential intersects a point potential.  A ( </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P</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j</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  ⋂  </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S</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k</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 P</a:t>
            </a:r>
            <a:r>
              <a:rPr kumimoji="0" lang="en-US" sz="1600" b="1" i="0" u="none" strike="noStrike" kern="1200" cap="none" spc="0" normalizeH="0" baseline="-2500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k</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e</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 )</a:t>
            </a:r>
          </a:p>
          <a:p>
            <a:pPr marL="742950" marR="0" lvl="1"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The self action case, j=k, occurs when a point potential speed exceeds its own field speed @.</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Net action, the superposition of all actions on </a:t>
            </a:r>
            <a:r>
              <a:rPr kumimoji="0" lang="en-US" sz="1600" b="1" i="0"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P</a:t>
            </a:r>
            <a:r>
              <a:rPr kumimoji="0" lang="en-US" sz="1600" b="1" i="0"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j</a:t>
            </a: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(t), tells the point potential how to evolve its path.</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a:t>N.B.  We sum over all pairs of point potentials j and k, including the case where j=k from the self action regime.</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1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4E323E6-AA92-85F2-8D80-25EC6C585647}"/>
                  </a:ext>
                </a:extLst>
              </p:cNvPr>
              <p:cNvSpPr txBox="1"/>
              <p:nvPr/>
            </p:nvSpPr>
            <p:spPr>
              <a:xfrm>
                <a:off x="1440316" y="1359559"/>
                <a:ext cx="9342120" cy="172784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44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Pr>
                        <m:e>
                          <m:r>
                            <m:rPr>
                              <m:sty m:val="p"/>
                            </m:rPr>
                            <a:rPr kumimoji="0" lang="en-US" sz="4400" b="0" i="0"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P</m:t>
                          </m:r>
                        </m:e>
                        <m:sub>
                          <m:r>
                            <m:rPr>
                              <m:sty m:val="p"/>
                            </m:rPr>
                            <a:rPr kumimoji="0" lang="en-US" sz="4400" b="0" i="0"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j</m:t>
                          </m:r>
                        </m:sub>
                      </m:sSub>
                      <m:d>
                        <m:dPr>
                          <m:ctrlPr>
                            <a:rPr kumimoji="0" lang="en-US" sz="44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r>
                            <m:rPr>
                              <m:sty m:val="p"/>
                            </m:rPr>
                            <a:rPr kumimoji="0" lang="en-US" sz="4400" b="0" i="0"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t</m:t>
                          </m:r>
                        </m:e>
                      </m:d>
                      <m:r>
                        <a:rPr kumimoji="0" lang="en-US" sz="44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en-US" sz="44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 </m:t>
                      </m:r>
                      <m:nary>
                        <m:naryPr>
                          <m:chr m:val="∑"/>
                          <m:supHide m:val="on"/>
                          <m:ctrlPr>
                            <a:rPr kumimoji="0" lang="en-US" sz="44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naryPr>
                        <m:sub>
                          <m:r>
                            <m:rPr>
                              <m:sty m:val="p"/>
                              <m:brk m:alnAt="7"/>
                            </m:rPr>
                            <a:rPr kumimoji="0" lang="en-US" sz="4400" b="0" i="0"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j</m:t>
                          </m:r>
                          <m:r>
                            <m:rPr>
                              <m:sty m:val="p"/>
                            </m:rPr>
                            <a:rPr kumimoji="0" lang="en-US" sz="4400" b="0" i="0"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k</m:t>
                          </m:r>
                        </m:sub>
                        <m:sup/>
                        <m:e>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A</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 ( </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Pj</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t</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  ⋂  </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Sk</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t</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 </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Pk</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te</m:t>
                          </m:r>
                          <m:r>
                            <m:rPr>
                              <m:nor/>
                            </m:rPr>
                            <a:rPr kumimoji="0" lang="en-US" sz="44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Helvetica Neue" panose="02000503000000020004" pitchFamily="2" charset="0"/>
                            </a:rPr>
                            <m:t>))) </m:t>
                          </m:r>
                        </m:e>
                      </m:nary>
                    </m:oMath>
                  </m:oMathPara>
                </a14:m>
                <a:endParaRPr kumimoji="0" lang="en-US" sz="4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2" name="TextBox 1">
                <a:extLst>
                  <a:ext uri="{FF2B5EF4-FFF2-40B4-BE49-F238E27FC236}">
                    <a16:creationId xmlns:a16="http://schemas.microsoft.com/office/drawing/2014/main" id="{84E323E6-AA92-85F2-8D80-25EC6C585647}"/>
                  </a:ext>
                </a:extLst>
              </p:cNvPr>
              <p:cNvSpPr txBox="1">
                <a:spLocks noRot="1" noChangeAspect="1" noMove="1" noResize="1" noEditPoints="1" noAdjustHandles="1" noChangeArrowheads="1" noChangeShapeType="1" noTextEdit="1"/>
              </p:cNvSpPr>
              <p:nvPr/>
            </p:nvSpPr>
            <p:spPr>
              <a:xfrm>
                <a:off x="1440316" y="1359559"/>
                <a:ext cx="9342120" cy="1727845"/>
              </a:xfrm>
              <a:prstGeom prst="rect">
                <a:avLst/>
              </a:prstGeom>
              <a:blipFill>
                <a:blip r:embed="rId3"/>
                <a:stretch>
                  <a:fillRect t="-142647" b="-191176"/>
                </a:stretch>
              </a:blipFill>
            </p:spPr>
            <p:txBody>
              <a:bodyPr/>
              <a:lstStyle/>
              <a:p>
                <a:r>
                  <a:rPr lang="en-US">
                    <a:noFill/>
                  </a:rPr>
                  <a:t> </a:t>
                </a:r>
              </a:p>
            </p:txBody>
          </p:sp>
        </mc:Fallback>
      </mc:AlternateContent>
    </p:spTree>
    <p:extLst>
      <p:ext uri="{BB962C8B-B14F-4D97-AF65-F5344CB8AC3E}">
        <p14:creationId xmlns:p14="http://schemas.microsoft.com/office/powerpoint/2010/main" val="3752875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Thank You</a:t>
            </a:r>
          </a:p>
        </p:txBody>
      </p:sp>
      <p:sp>
        <p:nvSpPr>
          <p:cNvPr id="3" name="Subtitle 2">
            <a:extLst>
              <a:ext uri="{FF2B5EF4-FFF2-40B4-BE49-F238E27FC236}">
                <a16:creationId xmlns:a16="http://schemas.microsoft.com/office/drawing/2014/main"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Questions?</a:t>
            </a:r>
          </a:p>
        </p:txBody>
      </p:sp>
      <p:cxnSp>
        <p:nvCxnSpPr>
          <p:cNvPr id="13" name="Straight Connector 12">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Tree>
    <p:extLst>
      <p:ext uri="{BB962C8B-B14F-4D97-AF65-F5344CB8AC3E}">
        <p14:creationId xmlns:p14="http://schemas.microsoft.com/office/powerpoint/2010/main" val="374783327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1017385" y="6481737"/>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cxnSp>
        <p:nvCxnSpPr>
          <p:cNvPr id="3" name="Straight Arrow Connector 2">
            <a:extLst>
              <a:ext uri="{FF2B5EF4-FFF2-40B4-BE49-F238E27FC236}">
                <a16:creationId xmlns:a16="http://schemas.microsoft.com/office/drawing/2014/main" id="{2EF0199F-22F4-BA42-9B75-8A8183BCDA9B}"/>
              </a:ext>
            </a:extLst>
          </p:cNvPr>
          <p:cNvCxnSpPr>
            <a:cxnSpLocks/>
          </p:cNvCxnSpPr>
          <p:nvPr/>
        </p:nvCxnSpPr>
        <p:spPr>
          <a:xfrm>
            <a:off x="803082" y="6202017"/>
            <a:ext cx="10889385" cy="0"/>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9AB5343-55D0-6041-8627-E08A73F83930}"/>
              </a:ext>
            </a:extLst>
          </p:cNvPr>
          <p:cNvCxnSpPr>
            <a:cxnSpLocks/>
          </p:cNvCxnSpPr>
          <p:nvPr/>
        </p:nvCxnSpPr>
        <p:spPr>
          <a:xfrm flipV="1">
            <a:off x="1391114" y="362779"/>
            <a:ext cx="0" cy="6387878"/>
          </a:xfrm>
          <a:prstGeom prst="straightConnector1">
            <a:avLst/>
          </a:prstGeom>
          <a:ln w="38100">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F8D86A2-D083-024A-BC90-6BD938C23243}"/>
              </a:ext>
            </a:extLst>
          </p:cNvPr>
          <p:cNvSpPr txBox="1"/>
          <p:nvPr/>
        </p:nvSpPr>
        <p:spPr>
          <a:xfrm>
            <a:off x="5145045" y="6220423"/>
            <a:ext cx="27334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Euclidean Time</a:t>
            </a:r>
          </a:p>
        </p:txBody>
      </p:sp>
      <p:sp>
        <p:nvSpPr>
          <p:cNvPr id="13" name="TextBox 12">
            <a:extLst>
              <a:ext uri="{FF2B5EF4-FFF2-40B4-BE49-F238E27FC236}">
                <a16:creationId xmlns:a16="http://schemas.microsoft.com/office/drawing/2014/main" id="{2C3F4604-6C2F-0E4E-9DD3-4F5C89FF51AB}"/>
              </a:ext>
            </a:extLst>
          </p:cNvPr>
          <p:cNvSpPr txBox="1"/>
          <p:nvPr/>
        </p:nvSpPr>
        <p:spPr>
          <a:xfrm>
            <a:off x="101957" y="464834"/>
            <a:ext cx="1191352"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Absolute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Euclidean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3D Space</a:t>
            </a:r>
          </a:p>
        </p:txBody>
      </p:sp>
      <p:sp>
        <p:nvSpPr>
          <p:cNvPr id="16" name="Freeform 15">
            <a:extLst>
              <a:ext uri="{FF2B5EF4-FFF2-40B4-BE49-F238E27FC236}">
                <a16:creationId xmlns:a16="http://schemas.microsoft.com/office/drawing/2014/main" id="{226B2D26-F692-894E-9B09-F57FBB5CB2A3}"/>
              </a:ext>
            </a:extLst>
          </p:cNvPr>
          <p:cNvSpPr/>
          <p:nvPr/>
        </p:nvSpPr>
        <p:spPr>
          <a:xfrm>
            <a:off x="1134754" y="-2002854"/>
            <a:ext cx="8925159" cy="1399594"/>
          </a:xfrm>
          <a:custGeom>
            <a:avLst/>
            <a:gdLst>
              <a:gd name="connsiteX0" fmla="*/ 0 w 8536043"/>
              <a:gd name="connsiteY0" fmla="*/ 1390694 h 3454092"/>
              <a:gd name="connsiteX1" fmla="*/ 643466 w 8536043"/>
              <a:gd name="connsiteY1" fmla="*/ 2169627 h 3454092"/>
              <a:gd name="connsiteX2" fmla="*/ 1227666 w 8536043"/>
              <a:gd name="connsiteY2" fmla="*/ 1179027 h 3454092"/>
              <a:gd name="connsiteX3" fmla="*/ 1938866 w 8536043"/>
              <a:gd name="connsiteY3" fmla="*/ 2160 h 3454092"/>
              <a:gd name="connsiteX4" fmla="*/ 3420533 w 8536043"/>
              <a:gd name="connsiteY4" fmla="*/ 933494 h 3454092"/>
              <a:gd name="connsiteX5" fmla="*/ 3784600 w 8536043"/>
              <a:gd name="connsiteY5" fmla="*/ 2542160 h 3454092"/>
              <a:gd name="connsiteX6" fmla="*/ 4605866 w 8536043"/>
              <a:gd name="connsiteY6" fmla="*/ 3371894 h 3454092"/>
              <a:gd name="connsiteX7" fmla="*/ 6070600 w 8536043"/>
              <a:gd name="connsiteY7" fmla="*/ 3304160 h 3454092"/>
              <a:gd name="connsiteX8" fmla="*/ 7069666 w 8536043"/>
              <a:gd name="connsiteY8" fmla="*/ 2313560 h 3454092"/>
              <a:gd name="connsiteX9" fmla="*/ 7620000 w 8536043"/>
              <a:gd name="connsiteY9" fmla="*/ 3041694 h 3454092"/>
              <a:gd name="connsiteX10" fmla="*/ 8407400 w 8536043"/>
              <a:gd name="connsiteY10" fmla="*/ 1433027 h 3454092"/>
              <a:gd name="connsiteX11" fmla="*/ 8525933 w 8536043"/>
              <a:gd name="connsiteY11" fmla="*/ 1255227 h 3454092"/>
              <a:gd name="connsiteX0" fmla="*/ 0 w 8536043"/>
              <a:gd name="connsiteY0" fmla="*/ 1104316 h 3167714"/>
              <a:gd name="connsiteX1" fmla="*/ 643466 w 8536043"/>
              <a:gd name="connsiteY1" fmla="*/ 1883249 h 3167714"/>
              <a:gd name="connsiteX2" fmla="*/ 1227666 w 8536043"/>
              <a:gd name="connsiteY2" fmla="*/ 892649 h 3167714"/>
              <a:gd name="connsiteX3" fmla="*/ 2184399 w 8536043"/>
              <a:gd name="connsiteY3" fmla="*/ 3648 h 3167714"/>
              <a:gd name="connsiteX4" fmla="*/ 3420533 w 8536043"/>
              <a:gd name="connsiteY4" fmla="*/ 647116 h 3167714"/>
              <a:gd name="connsiteX5" fmla="*/ 3784600 w 8536043"/>
              <a:gd name="connsiteY5" fmla="*/ 2255782 h 3167714"/>
              <a:gd name="connsiteX6" fmla="*/ 4605866 w 8536043"/>
              <a:gd name="connsiteY6" fmla="*/ 3085516 h 3167714"/>
              <a:gd name="connsiteX7" fmla="*/ 6070600 w 8536043"/>
              <a:gd name="connsiteY7" fmla="*/ 3017782 h 3167714"/>
              <a:gd name="connsiteX8" fmla="*/ 7069666 w 8536043"/>
              <a:gd name="connsiteY8" fmla="*/ 2027182 h 3167714"/>
              <a:gd name="connsiteX9" fmla="*/ 7620000 w 8536043"/>
              <a:gd name="connsiteY9" fmla="*/ 2755316 h 3167714"/>
              <a:gd name="connsiteX10" fmla="*/ 8407400 w 8536043"/>
              <a:gd name="connsiteY10" fmla="*/ 1146649 h 3167714"/>
              <a:gd name="connsiteX11" fmla="*/ 8525933 w 8536043"/>
              <a:gd name="connsiteY11" fmla="*/ 968849 h 3167714"/>
              <a:gd name="connsiteX0" fmla="*/ 0 w 8536043"/>
              <a:gd name="connsiteY0" fmla="*/ 1186298 h 3249696"/>
              <a:gd name="connsiteX1" fmla="*/ 643466 w 8536043"/>
              <a:gd name="connsiteY1" fmla="*/ 1965231 h 3249696"/>
              <a:gd name="connsiteX2" fmla="*/ 1523999 w 8536043"/>
              <a:gd name="connsiteY2" fmla="*/ 2549431 h 3249696"/>
              <a:gd name="connsiteX3" fmla="*/ 2184399 w 8536043"/>
              <a:gd name="connsiteY3" fmla="*/ 85630 h 3249696"/>
              <a:gd name="connsiteX4" fmla="*/ 3420533 w 8536043"/>
              <a:gd name="connsiteY4" fmla="*/ 729098 h 3249696"/>
              <a:gd name="connsiteX5" fmla="*/ 3784600 w 8536043"/>
              <a:gd name="connsiteY5" fmla="*/ 2337764 h 3249696"/>
              <a:gd name="connsiteX6" fmla="*/ 4605866 w 8536043"/>
              <a:gd name="connsiteY6" fmla="*/ 3167498 h 3249696"/>
              <a:gd name="connsiteX7" fmla="*/ 6070600 w 8536043"/>
              <a:gd name="connsiteY7" fmla="*/ 3099764 h 3249696"/>
              <a:gd name="connsiteX8" fmla="*/ 7069666 w 8536043"/>
              <a:gd name="connsiteY8" fmla="*/ 2109164 h 3249696"/>
              <a:gd name="connsiteX9" fmla="*/ 7620000 w 8536043"/>
              <a:gd name="connsiteY9" fmla="*/ 2837298 h 3249696"/>
              <a:gd name="connsiteX10" fmla="*/ 8407400 w 8536043"/>
              <a:gd name="connsiteY10" fmla="*/ 1228631 h 3249696"/>
              <a:gd name="connsiteX11" fmla="*/ 8525933 w 8536043"/>
              <a:gd name="connsiteY11" fmla="*/ 1050831 h 3249696"/>
              <a:gd name="connsiteX0" fmla="*/ 0 w 8536043"/>
              <a:gd name="connsiteY0" fmla="*/ 1111479 h 3174877"/>
              <a:gd name="connsiteX1" fmla="*/ 643466 w 8536043"/>
              <a:gd name="connsiteY1" fmla="*/ 1890412 h 3174877"/>
              <a:gd name="connsiteX2" fmla="*/ 1523999 w 8536043"/>
              <a:gd name="connsiteY2" fmla="*/ 2474612 h 3174877"/>
              <a:gd name="connsiteX3" fmla="*/ 2184399 w 8536043"/>
              <a:gd name="connsiteY3" fmla="*/ 10811 h 3174877"/>
              <a:gd name="connsiteX4" fmla="*/ 2870199 w 8536043"/>
              <a:gd name="connsiteY4" fmla="*/ 1602546 h 3174877"/>
              <a:gd name="connsiteX5" fmla="*/ 3784600 w 8536043"/>
              <a:gd name="connsiteY5" fmla="*/ 2262945 h 3174877"/>
              <a:gd name="connsiteX6" fmla="*/ 4605866 w 8536043"/>
              <a:gd name="connsiteY6" fmla="*/ 3092679 h 3174877"/>
              <a:gd name="connsiteX7" fmla="*/ 6070600 w 8536043"/>
              <a:gd name="connsiteY7" fmla="*/ 3024945 h 3174877"/>
              <a:gd name="connsiteX8" fmla="*/ 7069666 w 8536043"/>
              <a:gd name="connsiteY8" fmla="*/ 2034345 h 3174877"/>
              <a:gd name="connsiteX9" fmla="*/ 7620000 w 8536043"/>
              <a:gd name="connsiteY9" fmla="*/ 2762479 h 3174877"/>
              <a:gd name="connsiteX10" fmla="*/ 8407400 w 8536043"/>
              <a:gd name="connsiteY10" fmla="*/ 1153812 h 3174877"/>
              <a:gd name="connsiteX11" fmla="*/ 8525933 w 8536043"/>
              <a:gd name="connsiteY11" fmla="*/ 976012 h 3174877"/>
              <a:gd name="connsiteX0" fmla="*/ 0 w 8536043"/>
              <a:gd name="connsiteY0" fmla="*/ 1110314 h 3251787"/>
              <a:gd name="connsiteX1" fmla="*/ 643466 w 8536043"/>
              <a:gd name="connsiteY1" fmla="*/ 18892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251787"/>
              <a:gd name="connsiteX1" fmla="*/ 719666 w 8536043"/>
              <a:gd name="connsiteY1" fmla="*/ 543047 h 3251787"/>
              <a:gd name="connsiteX2" fmla="*/ 1523999 w 8536043"/>
              <a:gd name="connsiteY2" fmla="*/ 2473447 h 3251787"/>
              <a:gd name="connsiteX3" fmla="*/ 2184399 w 8536043"/>
              <a:gd name="connsiteY3" fmla="*/ 9646 h 3251787"/>
              <a:gd name="connsiteX4" fmla="*/ 2870199 w 8536043"/>
              <a:gd name="connsiteY4" fmla="*/ 1601381 h 3251787"/>
              <a:gd name="connsiteX5" fmla="*/ 3928533 w 8536043"/>
              <a:gd name="connsiteY5" fmla="*/ 1178047 h 3251787"/>
              <a:gd name="connsiteX6" fmla="*/ 4605866 w 8536043"/>
              <a:gd name="connsiteY6" fmla="*/ 3091514 h 3251787"/>
              <a:gd name="connsiteX7" fmla="*/ 6070600 w 8536043"/>
              <a:gd name="connsiteY7" fmla="*/ 3023780 h 3251787"/>
              <a:gd name="connsiteX8" fmla="*/ 7069666 w 8536043"/>
              <a:gd name="connsiteY8" fmla="*/ 2033180 h 3251787"/>
              <a:gd name="connsiteX9" fmla="*/ 7620000 w 8536043"/>
              <a:gd name="connsiteY9" fmla="*/ 2761314 h 3251787"/>
              <a:gd name="connsiteX10" fmla="*/ 8407400 w 8536043"/>
              <a:gd name="connsiteY10" fmla="*/ 1152647 h 3251787"/>
              <a:gd name="connsiteX11" fmla="*/ 8525933 w 8536043"/>
              <a:gd name="connsiteY11" fmla="*/ 974847 h 3251787"/>
              <a:gd name="connsiteX0" fmla="*/ 0 w 8536043"/>
              <a:gd name="connsiteY0" fmla="*/ 1110314 h 3307437"/>
              <a:gd name="connsiteX1" fmla="*/ 719666 w 8536043"/>
              <a:gd name="connsiteY1" fmla="*/ 543047 h 3307437"/>
              <a:gd name="connsiteX2" fmla="*/ 1523999 w 8536043"/>
              <a:gd name="connsiteY2" fmla="*/ 2473447 h 3307437"/>
              <a:gd name="connsiteX3" fmla="*/ 2184399 w 8536043"/>
              <a:gd name="connsiteY3" fmla="*/ 9646 h 3307437"/>
              <a:gd name="connsiteX4" fmla="*/ 2870199 w 8536043"/>
              <a:gd name="connsiteY4" fmla="*/ 1601381 h 3307437"/>
              <a:gd name="connsiteX5" fmla="*/ 3928533 w 8536043"/>
              <a:gd name="connsiteY5" fmla="*/ 1178047 h 3307437"/>
              <a:gd name="connsiteX6" fmla="*/ 4605866 w 8536043"/>
              <a:gd name="connsiteY6" fmla="*/ 3091514 h 3307437"/>
              <a:gd name="connsiteX7" fmla="*/ 6070600 w 8536043"/>
              <a:gd name="connsiteY7" fmla="*/ 3023780 h 3307437"/>
              <a:gd name="connsiteX8" fmla="*/ 7044266 w 8536043"/>
              <a:gd name="connsiteY8" fmla="*/ 957913 h 3307437"/>
              <a:gd name="connsiteX9" fmla="*/ 7620000 w 8536043"/>
              <a:gd name="connsiteY9" fmla="*/ 2761314 h 3307437"/>
              <a:gd name="connsiteX10" fmla="*/ 8407400 w 8536043"/>
              <a:gd name="connsiteY10" fmla="*/ 1152647 h 3307437"/>
              <a:gd name="connsiteX11" fmla="*/ 8525933 w 8536043"/>
              <a:gd name="connsiteY11" fmla="*/ 974847 h 3307437"/>
              <a:gd name="connsiteX0" fmla="*/ 0 w 8536043"/>
              <a:gd name="connsiteY0" fmla="*/ 1110314 h 3391504"/>
              <a:gd name="connsiteX1" fmla="*/ 719666 w 8536043"/>
              <a:gd name="connsiteY1" fmla="*/ 543047 h 3391504"/>
              <a:gd name="connsiteX2" fmla="*/ 1523999 w 8536043"/>
              <a:gd name="connsiteY2" fmla="*/ 2473447 h 3391504"/>
              <a:gd name="connsiteX3" fmla="*/ 2184399 w 8536043"/>
              <a:gd name="connsiteY3" fmla="*/ 9646 h 3391504"/>
              <a:gd name="connsiteX4" fmla="*/ 2870199 w 8536043"/>
              <a:gd name="connsiteY4" fmla="*/ 1601381 h 3391504"/>
              <a:gd name="connsiteX5" fmla="*/ 3928533 w 8536043"/>
              <a:gd name="connsiteY5" fmla="*/ 1178047 h 3391504"/>
              <a:gd name="connsiteX6" fmla="*/ 4605866 w 8536043"/>
              <a:gd name="connsiteY6" fmla="*/ 3091514 h 3391504"/>
              <a:gd name="connsiteX7" fmla="*/ 5173133 w 8536043"/>
              <a:gd name="connsiteY7" fmla="*/ 3167713 h 3391504"/>
              <a:gd name="connsiteX8" fmla="*/ 7044266 w 8536043"/>
              <a:gd name="connsiteY8" fmla="*/ 957913 h 3391504"/>
              <a:gd name="connsiteX9" fmla="*/ 7620000 w 8536043"/>
              <a:gd name="connsiteY9" fmla="*/ 2761314 h 3391504"/>
              <a:gd name="connsiteX10" fmla="*/ 8407400 w 8536043"/>
              <a:gd name="connsiteY10" fmla="*/ 1152647 h 3391504"/>
              <a:gd name="connsiteX11" fmla="*/ 8525933 w 8536043"/>
              <a:gd name="connsiteY11" fmla="*/ 974847 h 3391504"/>
              <a:gd name="connsiteX0" fmla="*/ 0 w 8536043"/>
              <a:gd name="connsiteY0" fmla="*/ 1110314 h 3335939"/>
              <a:gd name="connsiteX1" fmla="*/ 719666 w 8536043"/>
              <a:gd name="connsiteY1" fmla="*/ 543047 h 3335939"/>
              <a:gd name="connsiteX2" fmla="*/ 1523999 w 8536043"/>
              <a:gd name="connsiteY2" fmla="*/ 2473447 h 3335939"/>
              <a:gd name="connsiteX3" fmla="*/ 2184399 w 8536043"/>
              <a:gd name="connsiteY3" fmla="*/ 9646 h 3335939"/>
              <a:gd name="connsiteX4" fmla="*/ 2870199 w 8536043"/>
              <a:gd name="connsiteY4" fmla="*/ 1601381 h 3335939"/>
              <a:gd name="connsiteX5" fmla="*/ 3928533 w 8536043"/>
              <a:gd name="connsiteY5" fmla="*/ 1178047 h 3335939"/>
              <a:gd name="connsiteX6" fmla="*/ 4394124 w 8536043"/>
              <a:gd name="connsiteY6" fmla="*/ 2365541 h 3335939"/>
              <a:gd name="connsiteX7" fmla="*/ 4605866 w 8536043"/>
              <a:gd name="connsiteY7" fmla="*/ 3091514 h 3335939"/>
              <a:gd name="connsiteX8" fmla="*/ 5173133 w 8536043"/>
              <a:gd name="connsiteY8" fmla="*/ 3167713 h 3335939"/>
              <a:gd name="connsiteX9" fmla="*/ 7044266 w 8536043"/>
              <a:gd name="connsiteY9" fmla="*/ 957913 h 3335939"/>
              <a:gd name="connsiteX10" fmla="*/ 7620000 w 8536043"/>
              <a:gd name="connsiteY10" fmla="*/ 2761314 h 3335939"/>
              <a:gd name="connsiteX11" fmla="*/ 8407400 w 8536043"/>
              <a:gd name="connsiteY11" fmla="*/ 1152647 h 3335939"/>
              <a:gd name="connsiteX12" fmla="*/ 8525933 w 8536043"/>
              <a:gd name="connsiteY12" fmla="*/ 974847 h 3335939"/>
              <a:gd name="connsiteX0" fmla="*/ 0 w 8536043"/>
              <a:gd name="connsiteY0" fmla="*/ 1110314 h 3177408"/>
              <a:gd name="connsiteX1" fmla="*/ 719666 w 8536043"/>
              <a:gd name="connsiteY1" fmla="*/ 543047 h 3177408"/>
              <a:gd name="connsiteX2" fmla="*/ 1523999 w 8536043"/>
              <a:gd name="connsiteY2" fmla="*/ 2473447 h 3177408"/>
              <a:gd name="connsiteX3" fmla="*/ 2184399 w 8536043"/>
              <a:gd name="connsiteY3" fmla="*/ 9646 h 3177408"/>
              <a:gd name="connsiteX4" fmla="*/ 2870199 w 8536043"/>
              <a:gd name="connsiteY4" fmla="*/ 1601381 h 3177408"/>
              <a:gd name="connsiteX5" fmla="*/ 3928533 w 8536043"/>
              <a:gd name="connsiteY5" fmla="*/ 1178047 h 3177408"/>
              <a:gd name="connsiteX6" fmla="*/ 4394124 w 8536043"/>
              <a:gd name="connsiteY6" fmla="*/ 2365541 h 3177408"/>
              <a:gd name="connsiteX7" fmla="*/ 4817532 w 8536043"/>
              <a:gd name="connsiteY7" fmla="*/ 1787647 h 3177408"/>
              <a:gd name="connsiteX8" fmla="*/ 5173133 w 8536043"/>
              <a:gd name="connsiteY8" fmla="*/ 3167713 h 3177408"/>
              <a:gd name="connsiteX9" fmla="*/ 7044266 w 8536043"/>
              <a:gd name="connsiteY9" fmla="*/ 957913 h 3177408"/>
              <a:gd name="connsiteX10" fmla="*/ 7620000 w 8536043"/>
              <a:gd name="connsiteY10" fmla="*/ 2761314 h 3177408"/>
              <a:gd name="connsiteX11" fmla="*/ 8407400 w 8536043"/>
              <a:gd name="connsiteY11" fmla="*/ 1152647 h 3177408"/>
              <a:gd name="connsiteX12" fmla="*/ 8525933 w 8536043"/>
              <a:gd name="connsiteY12" fmla="*/ 974847 h 3177408"/>
              <a:gd name="connsiteX0" fmla="*/ 0 w 8536043"/>
              <a:gd name="connsiteY0" fmla="*/ 1110314 h 3017509"/>
              <a:gd name="connsiteX1" fmla="*/ 719666 w 8536043"/>
              <a:gd name="connsiteY1" fmla="*/ 543047 h 3017509"/>
              <a:gd name="connsiteX2" fmla="*/ 1523999 w 8536043"/>
              <a:gd name="connsiteY2" fmla="*/ 2473447 h 3017509"/>
              <a:gd name="connsiteX3" fmla="*/ 2184399 w 8536043"/>
              <a:gd name="connsiteY3" fmla="*/ 9646 h 3017509"/>
              <a:gd name="connsiteX4" fmla="*/ 2870199 w 8536043"/>
              <a:gd name="connsiteY4" fmla="*/ 1601381 h 3017509"/>
              <a:gd name="connsiteX5" fmla="*/ 3928533 w 8536043"/>
              <a:gd name="connsiteY5" fmla="*/ 1178047 h 3017509"/>
              <a:gd name="connsiteX6" fmla="*/ 4394124 w 8536043"/>
              <a:gd name="connsiteY6" fmla="*/ 2365541 h 3017509"/>
              <a:gd name="connsiteX7" fmla="*/ 4817532 w 8536043"/>
              <a:gd name="connsiteY7" fmla="*/ 1787647 h 3017509"/>
              <a:gd name="connsiteX8" fmla="*/ 5689600 w 8536043"/>
              <a:gd name="connsiteY8" fmla="*/ 3006847 h 3017509"/>
              <a:gd name="connsiteX9" fmla="*/ 7044266 w 8536043"/>
              <a:gd name="connsiteY9" fmla="*/ 957913 h 3017509"/>
              <a:gd name="connsiteX10" fmla="*/ 7620000 w 8536043"/>
              <a:gd name="connsiteY10" fmla="*/ 2761314 h 3017509"/>
              <a:gd name="connsiteX11" fmla="*/ 8407400 w 8536043"/>
              <a:gd name="connsiteY11" fmla="*/ 1152647 h 3017509"/>
              <a:gd name="connsiteX12" fmla="*/ 8525933 w 8536043"/>
              <a:gd name="connsiteY12" fmla="*/ 974847 h 3017509"/>
              <a:gd name="connsiteX0" fmla="*/ 0 w 8527062"/>
              <a:gd name="connsiteY0" fmla="*/ 1221740 h 3128935"/>
              <a:gd name="connsiteX1" fmla="*/ 719666 w 8527062"/>
              <a:gd name="connsiteY1" fmla="*/ 654473 h 3128935"/>
              <a:gd name="connsiteX2" fmla="*/ 1523999 w 8527062"/>
              <a:gd name="connsiteY2" fmla="*/ 2584873 h 3128935"/>
              <a:gd name="connsiteX3" fmla="*/ 2184399 w 8527062"/>
              <a:gd name="connsiteY3" fmla="*/ 121072 h 3128935"/>
              <a:gd name="connsiteX4" fmla="*/ 2870199 w 8527062"/>
              <a:gd name="connsiteY4" fmla="*/ 1712807 h 3128935"/>
              <a:gd name="connsiteX5" fmla="*/ 3928533 w 8527062"/>
              <a:gd name="connsiteY5" fmla="*/ 1289473 h 3128935"/>
              <a:gd name="connsiteX6" fmla="*/ 4394124 w 8527062"/>
              <a:gd name="connsiteY6" fmla="*/ 2476967 h 3128935"/>
              <a:gd name="connsiteX7" fmla="*/ 4817532 w 8527062"/>
              <a:gd name="connsiteY7" fmla="*/ 1899073 h 3128935"/>
              <a:gd name="connsiteX8" fmla="*/ 5689600 w 8527062"/>
              <a:gd name="connsiteY8" fmla="*/ 3118273 h 3128935"/>
              <a:gd name="connsiteX9" fmla="*/ 7044266 w 8527062"/>
              <a:gd name="connsiteY9" fmla="*/ 1069339 h 3128935"/>
              <a:gd name="connsiteX10" fmla="*/ 7620000 w 8527062"/>
              <a:gd name="connsiteY10" fmla="*/ 2872740 h 3128935"/>
              <a:gd name="connsiteX11" fmla="*/ 8229600 w 8527062"/>
              <a:gd name="connsiteY11" fmla="*/ 44873 h 3128935"/>
              <a:gd name="connsiteX12" fmla="*/ 8525933 w 8527062"/>
              <a:gd name="connsiteY12" fmla="*/ 1086273 h 3128935"/>
              <a:gd name="connsiteX0" fmla="*/ 0 w 8527062"/>
              <a:gd name="connsiteY0" fmla="*/ 1221740 h 3128935"/>
              <a:gd name="connsiteX1" fmla="*/ 719666 w 8527062"/>
              <a:gd name="connsiteY1" fmla="*/ 654473 h 3128935"/>
              <a:gd name="connsiteX2" fmla="*/ 1523999 w 8527062"/>
              <a:gd name="connsiteY2" fmla="*/ 2584873 h 3128935"/>
              <a:gd name="connsiteX3" fmla="*/ 2870199 w 8527062"/>
              <a:gd name="connsiteY3" fmla="*/ 1712807 h 3128935"/>
              <a:gd name="connsiteX4" fmla="*/ 3928533 w 8527062"/>
              <a:gd name="connsiteY4" fmla="*/ 1289473 h 3128935"/>
              <a:gd name="connsiteX5" fmla="*/ 4394124 w 8527062"/>
              <a:gd name="connsiteY5" fmla="*/ 2476967 h 3128935"/>
              <a:gd name="connsiteX6" fmla="*/ 4817532 w 8527062"/>
              <a:gd name="connsiteY6" fmla="*/ 1899073 h 3128935"/>
              <a:gd name="connsiteX7" fmla="*/ 5689600 w 8527062"/>
              <a:gd name="connsiteY7" fmla="*/ 3118273 h 3128935"/>
              <a:gd name="connsiteX8" fmla="*/ 7044266 w 8527062"/>
              <a:gd name="connsiteY8" fmla="*/ 1069339 h 3128935"/>
              <a:gd name="connsiteX9" fmla="*/ 7620000 w 8527062"/>
              <a:gd name="connsiteY9" fmla="*/ 2872740 h 3128935"/>
              <a:gd name="connsiteX10" fmla="*/ 8229600 w 8527062"/>
              <a:gd name="connsiteY10" fmla="*/ 44873 h 3128935"/>
              <a:gd name="connsiteX11" fmla="*/ 8525933 w 8527062"/>
              <a:gd name="connsiteY11" fmla="*/ 1086273 h 3128935"/>
              <a:gd name="connsiteX0" fmla="*/ 0 w 8527062"/>
              <a:gd name="connsiteY0" fmla="*/ 1221740 h 3130725"/>
              <a:gd name="connsiteX1" fmla="*/ 719666 w 8527062"/>
              <a:gd name="connsiteY1" fmla="*/ 654473 h 3130725"/>
              <a:gd name="connsiteX2" fmla="*/ 1523999 w 8527062"/>
              <a:gd name="connsiteY2" fmla="*/ 2584873 h 3130725"/>
              <a:gd name="connsiteX3" fmla="*/ 2870199 w 8527062"/>
              <a:gd name="connsiteY3" fmla="*/ 1712807 h 3130725"/>
              <a:gd name="connsiteX4" fmla="*/ 3928533 w 8527062"/>
              <a:gd name="connsiteY4" fmla="*/ 1289473 h 3130725"/>
              <a:gd name="connsiteX5" fmla="*/ 4817532 w 8527062"/>
              <a:gd name="connsiteY5" fmla="*/ 1899073 h 3130725"/>
              <a:gd name="connsiteX6" fmla="*/ 5689600 w 8527062"/>
              <a:gd name="connsiteY6" fmla="*/ 3118273 h 3130725"/>
              <a:gd name="connsiteX7" fmla="*/ 7044266 w 8527062"/>
              <a:gd name="connsiteY7" fmla="*/ 1069339 h 3130725"/>
              <a:gd name="connsiteX8" fmla="*/ 7620000 w 8527062"/>
              <a:gd name="connsiteY8" fmla="*/ 2872740 h 3130725"/>
              <a:gd name="connsiteX9" fmla="*/ 8229600 w 8527062"/>
              <a:gd name="connsiteY9" fmla="*/ 44873 h 3130725"/>
              <a:gd name="connsiteX10" fmla="*/ 8525933 w 8527062"/>
              <a:gd name="connsiteY10" fmla="*/ 1086273 h 3130725"/>
              <a:gd name="connsiteX0" fmla="*/ 0 w 8527062"/>
              <a:gd name="connsiteY0" fmla="*/ 1221740 h 2884077"/>
              <a:gd name="connsiteX1" fmla="*/ 719666 w 8527062"/>
              <a:gd name="connsiteY1" fmla="*/ 654473 h 2884077"/>
              <a:gd name="connsiteX2" fmla="*/ 1523999 w 8527062"/>
              <a:gd name="connsiteY2" fmla="*/ 2584873 h 2884077"/>
              <a:gd name="connsiteX3" fmla="*/ 2870199 w 8527062"/>
              <a:gd name="connsiteY3" fmla="*/ 1712807 h 2884077"/>
              <a:gd name="connsiteX4" fmla="*/ 3928533 w 8527062"/>
              <a:gd name="connsiteY4" fmla="*/ 1289473 h 2884077"/>
              <a:gd name="connsiteX5" fmla="*/ 4817532 w 8527062"/>
              <a:gd name="connsiteY5" fmla="*/ 1899073 h 2884077"/>
              <a:gd name="connsiteX6" fmla="*/ 7044266 w 8527062"/>
              <a:gd name="connsiteY6" fmla="*/ 1069339 h 2884077"/>
              <a:gd name="connsiteX7" fmla="*/ 7620000 w 8527062"/>
              <a:gd name="connsiteY7" fmla="*/ 2872740 h 2884077"/>
              <a:gd name="connsiteX8" fmla="*/ 8229600 w 8527062"/>
              <a:gd name="connsiteY8" fmla="*/ 44873 h 2884077"/>
              <a:gd name="connsiteX9" fmla="*/ 8525933 w 8527062"/>
              <a:gd name="connsiteY9" fmla="*/ 1086273 h 2884077"/>
              <a:gd name="connsiteX0" fmla="*/ 0 w 8527062"/>
              <a:gd name="connsiteY0" fmla="*/ 1221740 h 2609220"/>
              <a:gd name="connsiteX1" fmla="*/ 719666 w 8527062"/>
              <a:gd name="connsiteY1" fmla="*/ 654473 h 2609220"/>
              <a:gd name="connsiteX2" fmla="*/ 1523999 w 8527062"/>
              <a:gd name="connsiteY2" fmla="*/ 2584873 h 2609220"/>
              <a:gd name="connsiteX3" fmla="*/ 2870199 w 8527062"/>
              <a:gd name="connsiteY3" fmla="*/ 1712807 h 2609220"/>
              <a:gd name="connsiteX4" fmla="*/ 3928533 w 8527062"/>
              <a:gd name="connsiteY4" fmla="*/ 1289473 h 2609220"/>
              <a:gd name="connsiteX5" fmla="*/ 4817532 w 8527062"/>
              <a:gd name="connsiteY5" fmla="*/ 1899073 h 2609220"/>
              <a:gd name="connsiteX6" fmla="*/ 7044266 w 8527062"/>
              <a:gd name="connsiteY6" fmla="*/ 1069339 h 2609220"/>
              <a:gd name="connsiteX7" fmla="*/ 8229600 w 8527062"/>
              <a:gd name="connsiteY7" fmla="*/ 44873 h 2609220"/>
              <a:gd name="connsiteX8" fmla="*/ 8525933 w 8527062"/>
              <a:gd name="connsiteY8" fmla="*/ 1086273 h 2609220"/>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7044266 w 8526584"/>
              <a:gd name="connsiteY6" fmla="*/ 443722 h 1983603"/>
              <a:gd name="connsiteX7" fmla="*/ 8100190 w 8526584"/>
              <a:gd name="connsiteY7" fmla="*/ 850123 h 1983603"/>
              <a:gd name="connsiteX8" fmla="*/ 8525933 w 8526584"/>
              <a:gd name="connsiteY8" fmla="*/ 460656 h 1983603"/>
              <a:gd name="connsiteX0" fmla="*/ 0 w 8526584"/>
              <a:gd name="connsiteY0" fmla="*/ 596123 h 1983603"/>
              <a:gd name="connsiteX1" fmla="*/ 719666 w 8526584"/>
              <a:gd name="connsiteY1" fmla="*/ 28856 h 1983603"/>
              <a:gd name="connsiteX2" fmla="*/ 1523999 w 8526584"/>
              <a:gd name="connsiteY2" fmla="*/ 1959256 h 1983603"/>
              <a:gd name="connsiteX3" fmla="*/ 2870199 w 8526584"/>
              <a:gd name="connsiteY3" fmla="*/ 1087190 h 1983603"/>
              <a:gd name="connsiteX4" fmla="*/ 3928533 w 8526584"/>
              <a:gd name="connsiteY4" fmla="*/ 663856 h 1983603"/>
              <a:gd name="connsiteX5" fmla="*/ 4817532 w 8526584"/>
              <a:gd name="connsiteY5" fmla="*/ 1273456 h 1983603"/>
              <a:gd name="connsiteX6" fmla="*/ 6906768 w 8526584"/>
              <a:gd name="connsiteY6" fmla="*/ 502989 h 1983603"/>
              <a:gd name="connsiteX7" fmla="*/ 8100190 w 8526584"/>
              <a:gd name="connsiteY7" fmla="*/ 850123 h 1983603"/>
              <a:gd name="connsiteX8" fmla="*/ 8525933 w 8526584"/>
              <a:gd name="connsiteY8" fmla="*/ 460656 h 1983603"/>
              <a:gd name="connsiteX0" fmla="*/ 0 w 8526584"/>
              <a:gd name="connsiteY0" fmla="*/ 148404 h 1513499"/>
              <a:gd name="connsiteX1" fmla="*/ 768195 w 8526584"/>
              <a:gd name="connsiteY1" fmla="*/ 377004 h 1513499"/>
              <a:gd name="connsiteX2" fmla="*/ 1523999 w 8526584"/>
              <a:gd name="connsiteY2" fmla="*/ 1511537 h 1513499"/>
              <a:gd name="connsiteX3" fmla="*/ 2870199 w 8526584"/>
              <a:gd name="connsiteY3" fmla="*/ 639471 h 1513499"/>
              <a:gd name="connsiteX4" fmla="*/ 3928533 w 8526584"/>
              <a:gd name="connsiteY4" fmla="*/ 216137 h 1513499"/>
              <a:gd name="connsiteX5" fmla="*/ 4817532 w 8526584"/>
              <a:gd name="connsiteY5" fmla="*/ 825737 h 1513499"/>
              <a:gd name="connsiteX6" fmla="*/ 6906768 w 8526584"/>
              <a:gd name="connsiteY6" fmla="*/ 55270 h 1513499"/>
              <a:gd name="connsiteX7" fmla="*/ 8100190 w 8526584"/>
              <a:gd name="connsiteY7" fmla="*/ 402404 h 1513499"/>
              <a:gd name="connsiteX8" fmla="*/ 8525933 w 8526584"/>
              <a:gd name="connsiteY8" fmla="*/ 12937 h 1513499"/>
              <a:gd name="connsiteX0" fmla="*/ 0 w 8526584"/>
              <a:gd name="connsiteY0" fmla="*/ 148404 h 1302454"/>
              <a:gd name="connsiteX1" fmla="*/ 768195 w 8526584"/>
              <a:gd name="connsiteY1" fmla="*/ 377004 h 1302454"/>
              <a:gd name="connsiteX2" fmla="*/ 1750467 w 8526584"/>
              <a:gd name="connsiteY2" fmla="*/ 1299870 h 1302454"/>
              <a:gd name="connsiteX3" fmla="*/ 2870199 w 8526584"/>
              <a:gd name="connsiteY3" fmla="*/ 639471 h 1302454"/>
              <a:gd name="connsiteX4" fmla="*/ 3928533 w 8526584"/>
              <a:gd name="connsiteY4" fmla="*/ 216137 h 1302454"/>
              <a:gd name="connsiteX5" fmla="*/ 4817532 w 8526584"/>
              <a:gd name="connsiteY5" fmla="*/ 825737 h 1302454"/>
              <a:gd name="connsiteX6" fmla="*/ 6906768 w 8526584"/>
              <a:gd name="connsiteY6" fmla="*/ 55270 h 1302454"/>
              <a:gd name="connsiteX7" fmla="*/ 8100190 w 8526584"/>
              <a:gd name="connsiteY7" fmla="*/ 402404 h 1302454"/>
              <a:gd name="connsiteX8" fmla="*/ 8525933 w 8526584"/>
              <a:gd name="connsiteY8" fmla="*/ 12937 h 1302454"/>
              <a:gd name="connsiteX0" fmla="*/ 0 w 8526584"/>
              <a:gd name="connsiteY0" fmla="*/ 148404 h 1319420"/>
              <a:gd name="connsiteX1" fmla="*/ 768195 w 8526584"/>
              <a:gd name="connsiteY1" fmla="*/ 377004 h 1319420"/>
              <a:gd name="connsiteX2" fmla="*/ 1750467 w 8526584"/>
              <a:gd name="connsiteY2" fmla="*/ 1299870 h 1319420"/>
              <a:gd name="connsiteX3" fmla="*/ 3088580 w 8526584"/>
              <a:gd name="connsiteY3" fmla="*/ 944271 h 1319420"/>
              <a:gd name="connsiteX4" fmla="*/ 3928533 w 8526584"/>
              <a:gd name="connsiteY4" fmla="*/ 216137 h 1319420"/>
              <a:gd name="connsiteX5" fmla="*/ 4817532 w 8526584"/>
              <a:gd name="connsiteY5" fmla="*/ 825737 h 1319420"/>
              <a:gd name="connsiteX6" fmla="*/ 6906768 w 8526584"/>
              <a:gd name="connsiteY6" fmla="*/ 55270 h 1319420"/>
              <a:gd name="connsiteX7" fmla="*/ 8100190 w 8526584"/>
              <a:gd name="connsiteY7" fmla="*/ 402404 h 1319420"/>
              <a:gd name="connsiteX8" fmla="*/ 8525933 w 8526584"/>
              <a:gd name="connsiteY8" fmla="*/ 12937 h 1319420"/>
              <a:gd name="connsiteX0" fmla="*/ 0 w 8526191"/>
              <a:gd name="connsiteY0" fmla="*/ 139702 h 1310718"/>
              <a:gd name="connsiteX1" fmla="*/ 768195 w 8526191"/>
              <a:gd name="connsiteY1" fmla="*/ 368302 h 1310718"/>
              <a:gd name="connsiteX2" fmla="*/ 1750467 w 8526191"/>
              <a:gd name="connsiteY2" fmla="*/ 1291168 h 1310718"/>
              <a:gd name="connsiteX3" fmla="*/ 3088580 w 8526191"/>
              <a:gd name="connsiteY3" fmla="*/ 935569 h 1310718"/>
              <a:gd name="connsiteX4" fmla="*/ 3928533 w 8526191"/>
              <a:gd name="connsiteY4" fmla="*/ 207435 h 1310718"/>
              <a:gd name="connsiteX5" fmla="*/ 4817532 w 8526191"/>
              <a:gd name="connsiteY5" fmla="*/ 817035 h 1310718"/>
              <a:gd name="connsiteX6" fmla="*/ 6906768 w 8526191"/>
              <a:gd name="connsiteY6" fmla="*/ 46568 h 1310718"/>
              <a:gd name="connsiteX7" fmla="*/ 7639165 w 8526191"/>
              <a:gd name="connsiteY7" fmla="*/ 833969 h 1310718"/>
              <a:gd name="connsiteX8" fmla="*/ 8525933 w 8526191"/>
              <a:gd name="connsiteY8" fmla="*/ 4235 h 1310718"/>
              <a:gd name="connsiteX0" fmla="*/ 0 w 8526305"/>
              <a:gd name="connsiteY0" fmla="*/ 138725 h 1309741"/>
              <a:gd name="connsiteX1" fmla="*/ 768195 w 8526305"/>
              <a:gd name="connsiteY1" fmla="*/ 367325 h 1309741"/>
              <a:gd name="connsiteX2" fmla="*/ 1750467 w 8526305"/>
              <a:gd name="connsiteY2" fmla="*/ 1290191 h 1309741"/>
              <a:gd name="connsiteX3" fmla="*/ 3088580 w 8526305"/>
              <a:gd name="connsiteY3" fmla="*/ 934592 h 1309741"/>
              <a:gd name="connsiteX4" fmla="*/ 3928533 w 8526305"/>
              <a:gd name="connsiteY4" fmla="*/ 206458 h 1309741"/>
              <a:gd name="connsiteX5" fmla="*/ 4817532 w 8526305"/>
              <a:gd name="connsiteY5" fmla="*/ 816058 h 1309741"/>
              <a:gd name="connsiteX6" fmla="*/ 6906768 w 8526305"/>
              <a:gd name="connsiteY6" fmla="*/ 45591 h 1309741"/>
              <a:gd name="connsiteX7" fmla="*/ 7639165 w 8526305"/>
              <a:gd name="connsiteY7" fmla="*/ 832992 h 1309741"/>
              <a:gd name="connsiteX8" fmla="*/ 8525933 w 8526305"/>
              <a:gd name="connsiteY8" fmla="*/ 3258 h 1309741"/>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906768 w 8526504"/>
              <a:gd name="connsiteY6" fmla="*/ 48028 h 1312178"/>
              <a:gd name="connsiteX7" fmla="*/ 7825193 w 8526504"/>
              <a:gd name="connsiteY7" fmla="*/ 479829 h 1312178"/>
              <a:gd name="connsiteX8" fmla="*/ 8525933 w 8526504"/>
              <a:gd name="connsiteY8" fmla="*/ 5695 h 1312178"/>
              <a:gd name="connsiteX0" fmla="*/ 0 w 8526504"/>
              <a:gd name="connsiteY0" fmla="*/ 141162 h 1312178"/>
              <a:gd name="connsiteX1" fmla="*/ 768195 w 8526504"/>
              <a:gd name="connsiteY1" fmla="*/ 369762 h 1312178"/>
              <a:gd name="connsiteX2" fmla="*/ 1750467 w 8526504"/>
              <a:gd name="connsiteY2" fmla="*/ 1292628 h 1312178"/>
              <a:gd name="connsiteX3" fmla="*/ 3088580 w 8526504"/>
              <a:gd name="connsiteY3" fmla="*/ 937029 h 1312178"/>
              <a:gd name="connsiteX4" fmla="*/ 3928533 w 8526504"/>
              <a:gd name="connsiteY4" fmla="*/ 208895 h 1312178"/>
              <a:gd name="connsiteX5" fmla="*/ 4817532 w 8526504"/>
              <a:gd name="connsiteY5" fmla="*/ 818495 h 1312178"/>
              <a:gd name="connsiteX6" fmla="*/ 6858239 w 8526504"/>
              <a:gd name="connsiteY6" fmla="*/ 776161 h 1312178"/>
              <a:gd name="connsiteX7" fmla="*/ 7825193 w 8526504"/>
              <a:gd name="connsiteY7" fmla="*/ 479829 h 1312178"/>
              <a:gd name="connsiteX8" fmla="*/ 8525933 w 8526504"/>
              <a:gd name="connsiteY8" fmla="*/ 5695 h 1312178"/>
              <a:gd name="connsiteX0" fmla="*/ 0 w 8526504"/>
              <a:gd name="connsiteY0" fmla="*/ 141162 h 1403304"/>
              <a:gd name="connsiteX1" fmla="*/ 768195 w 8526504"/>
              <a:gd name="connsiteY1" fmla="*/ 369762 h 1403304"/>
              <a:gd name="connsiteX2" fmla="*/ 1750467 w 8526504"/>
              <a:gd name="connsiteY2" fmla="*/ 1292628 h 1403304"/>
              <a:gd name="connsiteX3" fmla="*/ 3088580 w 8526504"/>
              <a:gd name="connsiteY3" fmla="*/ 937029 h 1403304"/>
              <a:gd name="connsiteX4" fmla="*/ 3920445 w 8526504"/>
              <a:gd name="connsiteY4" fmla="*/ 1402695 h 1403304"/>
              <a:gd name="connsiteX5" fmla="*/ 4817532 w 8526504"/>
              <a:gd name="connsiteY5" fmla="*/ 818495 h 1403304"/>
              <a:gd name="connsiteX6" fmla="*/ 6858239 w 8526504"/>
              <a:gd name="connsiteY6" fmla="*/ 776161 h 1403304"/>
              <a:gd name="connsiteX7" fmla="*/ 7825193 w 8526504"/>
              <a:gd name="connsiteY7" fmla="*/ 479829 h 1403304"/>
              <a:gd name="connsiteX8" fmla="*/ 8525933 w 8526504"/>
              <a:gd name="connsiteY8" fmla="*/ 5695 h 1403304"/>
              <a:gd name="connsiteX0" fmla="*/ 0 w 8526519"/>
              <a:gd name="connsiteY0" fmla="*/ 141162 h 1403304"/>
              <a:gd name="connsiteX1" fmla="*/ 768195 w 8526519"/>
              <a:gd name="connsiteY1" fmla="*/ 369762 h 1403304"/>
              <a:gd name="connsiteX2" fmla="*/ 1750467 w 8526519"/>
              <a:gd name="connsiteY2" fmla="*/ 1292628 h 1403304"/>
              <a:gd name="connsiteX3" fmla="*/ 3088580 w 8526519"/>
              <a:gd name="connsiteY3" fmla="*/ 937029 h 1403304"/>
              <a:gd name="connsiteX4" fmla="*/ 3920445 w 8526519"/>
              <a:gd name="connsiteY4" fmla="*/ 1402695 h 1403304"/>
              <a:gd name="connsiteX5" fmla="*/ 4817532 w 8526519"/>
              <a:gd name="connsiteY5" fmla="*/ 818495 h 1403304"/>
              <a:gd name="connsiteX6" fmla="*/ 6858239 w 8526519"/>
              <a:gd name="connsiteY6" fmla="*/ 776161 h 1403304"/>
              <a:gd name="connsiteX7" fmla="*/ 7833674 w 8526519"/>
              <a:gd name="connsiteY7" fmla="*/ 479829 h 1403304"/>
              <a:gd name="connsiteX8" fmla="*/ 8525933 w 8526519"/>
              <a:gd name="connsiteY8" fmla="*/ 5695 h 1403304"/>
              <a:gd name="connsiteX0" fmla="*/ 0 w 8526583"/>
              <a:gd name="connsiteY0" fmla="*/ 139934 h 1402076"/>
              <a:gd name="connsiteX1" fmla="*/ 768195 w 8526583"/>
              <a:gd name="connsiteY1" fmla="*/ 368534 h 1402076"/>
              <a:gd name="connsiteX2" fmla="*/ 1750467 w 8526583"/>
              <a:gd name="connsiteY2" fmla="*/ 1291400 h 1402076"/>
              <a:gd name="connsiteX3" fmla="*/ 3088580 w 8526583"/>
              <a:gd name="connsiteY3" fmla="*/ 935801 h 1402076"/>
              <a:gd name="connsiteX4" fmla="*/ 3920445 w 8526583"/>
              <a:gd name="connsiteY4" fmla="*/ 1401467 h 1402076"/>
              <a:gd name="connsiteX5" fmla="*/ 4817532 w 8526583"/>
              <a:gd name="connsiteY5" fmla="*/ 817267 h 1402076"/>
              <a:gd name="connsiteX6" fmla="*/ 6858239 w 8526583"/>
              <a:gd name="connsiteY6" fmla="*/ 774933 h 1402076"/>
              <a:gd name="connsiteX7" fmla="*/ 7833674 w 8526583"/>
              <a:gd name="connsiteY7" fmla="*/ 478601 h 1402076"/>
              <a:gd name="connsiteX8" fmla="*/ 8525933 w 8526583"/>
              <a:gd name="connsiteY8" fmla="*/ 4467 h 1402076"/>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402"/>
              <a:gd name="connsiteY0" fmla="*/ 138428 h 1400570"/>
              <a:gd name="connsiteX1" fmla="*/ 768195 w 8526402"/>
              <a:gd name="connsiteY1" fmla="*/ 367028 h 1400570"/>
              <a:gd name="connsiteX2" fmla="*/ 1750467 w 8526402"/>
              <a:gd name="connsiteY2" fmla="*/ 1289894 h 1400570"/>
              <a:gd name="connsiteX3" fmla="*/ 3088580 w 8526402"/>
              <a:gd name="connsiteY3" fmla="*/ 934295 h 1400570"/>
              <a:gd name="connsiteX4" fmla="*/ 3920445 w 8526402"/>
              <a:gd name="connsiteY4" fmla="*/ 1399961 h 1400570"/>
              <a:gd name="connsiteX5" fmla="*/ 4817532 w 8526402"/>
              <a:gd name="connsiteY5" fmla="*/ 815761 h 1400570"/>
              <a:gd name="connsiteX6" fmla="*/ 6858239 w 8526402"/>
              <a:gd name="connsiteY6" fmla="*/ 773427 h 1400570"/>
              <a:gd name="connsiteX7" fmla="*/ 7833674 w 8526402"/>
              <a:gd name="connsiteY7" fmla="*/ 477095 h 1400570"/>
              <a:gd name="connsiteX8" fmla="*/ 8525933 w 8526402"/>
              <a:gd name="connsiteY8" fmla="*/ 2961 h 1400570"/>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858239 w 8526097"/>
              <a:gd name="connsiteY6" fmla="*/ 772138 h 1399281"/>
              <a:gd name="connsiteX7" fmla="*/ 7053442 w 8526097"/>
              <a:gd name="connsiteY7" fmla="*/ 1177142 h 1399281"/>
              <a:gd name="connsiteX8" fmla="*/ 8525933 w 8526097"/>
              <a:gd name="connsiteY8" fmla="*/ 1672 h 1399281"/>
              <a:gd name="connsiteX0" fmla="*/ 0 w 8526097"/>
              <a:gd name="connsiteY0" fmla="*/ 137139 h 1399281"/>
              <a:gd name="connsiteX1" fmla="*/ 768195 w 8526097"/>
              <a:gd name="connsiteY1" fmla="*/ 365739 h 1399281"/>
              <a:gd name="connsiteX2" fmla="*/ 1750467 w 8526097"/>
              <a:gd name="connsiteY2" fmla="*/ 1288605 h 1399281"/>
              <a:gd name="connsiteX3" fmla="*/ 3088580 w 8526097"/>
              <a:gd name="connsiteY3" fmla="*/ 933006 h 1399281"/>
              <a:gd name="connsiteX4" fmla="*/ 3920445 w 8526097"/>
              <a:gd name="connsiteY4" fmla="*/ 1398672 h 1399281"/>
              <a:gd name="connsiteX5" fmla="*/ 4817532 w 8526097"/>
              <a:gd name="connsiteY5" fmla="*/ 814472 h 1399281"/>
              <a:gd name="connsiteX6" fmla="*/ 6298507 w 8526097"/>
              <a:gd name="connsiteY6" fmla="*/ 789894 h 1399281"/>
              <a:gd name="connsiteX7" fmla="*/ 7053442 w 8526097"/>
              <a:gd name="connsiteY7" fmla="*/ 1177142 h 1399281"/>
              <a:gd name="connsiteX8" fmla="*/ 8525933 w 8526097"/>
              <a:gd name="connsiteY8" fmla="*/ 1672 h 1399281"/>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6298507 w 8526149"/>
              <a:gd name="connsiteY6" fmla="*/ 790207 h 1399594"/>
              <a:gd name="connsiteX7" fmla="*/ 7053442 w 8526149"/>
              <a:gd name="connsiteY7" fmla="*/ 1177455 h 1399594"/>
              <a:gd name="connsiteX8" fmla="*/ 8525933 w 8526149"/>
              <a:gd name="connsiteY8" fmla="*/ 1985 h 1399594"/>
              <a:gd name="connsiteX0" fmla="*/ 0 w 8526149"/>
              <a:gd name="connsiteY0" fmla="*/ 137452 h 1399594"/>
              <a:gd name="connsiteX1" fmla="*/ 768195 w 8526149"/>
              <a:gd name="connsiteY1" fmla="*/ 366052 h 1399594"/>
              <a:gd name="connsiteX2" fmla="*/ 1750467 w 8526149"/>
              <a:gd name="connsiteY2" fmla="*/ 1288918 h 1399594"/>
              <a:gd name="connsiteX3" fmla="*/ 3088580 w 8526149"/>
              <a:gd name="connsiteY3" fmla="*/ 933319 h 1399594"/>
              <a:gd name="connsiteX4" fmla="*/ 3920445 w 8526149"/>
              <a:gd name="connsiteY4" fmla="*/ 1398985 h 1399594"/>
              <a:gd name="connsiteX5" fmla="*/ 4817532 w 8526149"/>
              <a:gd name="connsiteY5" fmla="*/ 814785 h 1399594"/>
              <a:gd name="connsiteX6" fmla="*/ 5832064 w 8526149"/>
              <a:gd name="connsiteY6" fmla="*/ 541632 h 1399594"/>
              <a:gd name="connsiteX7" fmla="*/ 7053442 w 8526149"/>
              <a:gd name="connsiteY7" fmla="*/ 1177455 h 1399594"/>
              <a:gd name="connsiteX8" fmla="*/ 8525933 w 8526149"/>
              <a:gd name="connsiteY8" fmla="*/ 1985 h 139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6149" h="1399594">
                <a:moveTo>
                  <a:pt x="0" y="137452"/>
                </a:moveTo>
                <a:cubicBezTo>
                  <a:pt x="219427" y="544557"/>
                  <a:pt x="476451" y="174141"/>
                  <a:pt x="768195" y="366052"/>
                </a:cubicBezTo>
                <a:cubicBezTo>
                  <a:pt x="1059940" y="557963"/>
                  <a:pt x="1363736" y="1194374"/>
                  <a:pt x="1750467" y="1288918"/>
                </a:cubicBezTo>
                <a:cubicBezTo>
                  <a:pt x="2137198" y="1383463"/>
                  <a:pt x="2726917" y="914975"/>
                  <a:pt x="3088580" y="933319"/>
                </a:cubicBezTo>
                <a:cubicBezTo>
                  <a:pt x="3450243" y="951664"/>
                  <a:pt x="3632286" y="1418741"/>
                  <a:pt x="3920445" y="1398985"/>
                </a:cubicBezTo>
                <a:cubicBezTo>
                  <a:pt x="4208604" y="1379229"/>
                  <a:pt x="4498929" y="957677"/>
                  <a:pt x="4817532" y="814785"/>
                </a:cubicBezTo>
                <a:cubicBezTo>
                  <a:pt x="5136135" y="671893"/>
                  <a:pt x="5459412" y="481187"/>
                  <a:pt x="5832064" y="541632"/>
                </a:cubicBezTo>
                <a:cubicBezTo>
                  <a:pt x="6204716" y="602077"/>
                  <a:pt x="6619921" y="1130245"/>
                  <a:pt x="7053442" y="1177455"/>
                </a:cubicBezTo>
                <a:cubicBezTo>
                  <a:pt x="7642529" y="1260874"/>
                  <a:pt x="8542161" y="-57987"/>
                  <a:pt x="8525933" y="1985"/>
                </a:cubicBezTo>
              </a:path>
            </a:pathLst>
          </a:cu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998FA85F-2709-4E43-A45C-A50BD2907EBC}"/>
              </a:ext>
            </a:extLst>
          </p:cNvPr>
          <p:cNvSpPr txBox="1"/>
          <p:nvPr/>
        </p:nvSpPr>
        <p:spPr>
          <a:xfrm>
            <a:off x="1798279" y="69136"/>
            <a:ext cx="928023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General Case of Action Between Two Point Potentials with v &lt; @ in a Euclidean Void</a:t>
            </a:r>
          </a:p>
        </p:txBody>
      </p:sp>
      <p:sp>
        <p:nvSpPr>
          <p:cNvPr id="18" name="Oval 17">
            <a:extLst>
              <a:ext uri="{FF2B5EF4-FFF2-40B4-BE49-F238E27FC236}">
                <a16:creationId xmlns:a16="http://schemas.microsoft.com/office/drawing/2014/main" id="{BE4CDC90-4B2E-BE41-BB9D-A84675F3A2FE}"/>
              </a:ext>
            </a:extLst>
          </p:cNvPr>
          <p:cNvSpPr/>
          <p:nvPr/>
        </p:nvSpPr>
        <p:spPr>
          <a:xfrm>
            <a:off x="9956021" y="-4563821"/>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0592434B-85D0-0A41-95DD-A29D1D3E92A7}"/>
              </a:ext>
            </a:extLst>
          </p:cNvPr>
          <p:cNvSpPr/>
          <p:nvPr/>
        </p:nvSpPr>
        <p:spPr>
          <a:xfrm>
            <a:off x="17485534" y="-5570502"/>
            <a:ext cx="127000" cy="127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7B549753-C2CD-8744-8435-2E08FD32BDEB}"/>
              </a:ext>
            </a:extLst>
          </p:cNvPr>
          <p:cNvSpPr txBox="1"/>
          <p:nvPr/>
        </p:nvSpPr>
        <p:spPr>
          <a:xfrm>
            <a:off x="10083020" y="-4661458"/>
            <a:ext cx="9343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2F7BF73-EB2C-9D42-97FB-D39FDCC924EB}"/>
              </a:ext>
            </a:extLst>
          </p:cNvPr>
          <p:cNvSpPr txBox="1"/>
          <p:nvPr/>
        </p:nvSpPr>
        <p:spPr>
          <a:xfrm>
            <a:off x="10083020" y="-2171502"/>
            <a:ext cx="6952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A120AE69-6043-195E-40C7-43C019B9D3A9}"/>
              </a:ext>
            </a:extLst>
          </p:cNvPr>
          <p:cNvGrpSpPr/>
          <p:nvPr/>
        </p:nvGrpSpPr>
        <p:grpSpPr>
          <a:xfrm>
            <a:off x="7830293" y="-3993427"/>
            <a:ext cx="2407458" cy="2492074"/>
            <a:chOff x="8478163" y="2144136"/>
            <a:chExt cx="2407458" cy="2492074"/>
          </a:xfrm>
        </p:grpSpPr>
        <p:cxnSp>
          <p:nvCxnSpPr>
            <p:cNvPr id="24" name="Straight Connector 23">
              <a:extLst>
                <a:ext uri="{FF2B5EF4-FFF2-40B4-BE49-F238E27FC236}">
                  <a16:creationId xmlns:a16="http://schemas.microsoft.com/office/drawing/2014/main" id="{3A19E039-1667-254C-809A-972BBA46D65C}"/>
                </a:ext>
              </a:extLst>
            </p:cNvPr>
            <p:cNvCxnSpPr>
              <a:cxnSpLocks/>
            </p:cNvCxnSpPr>
            <p:nvPr/>
          </p:nvCxnSpPr>
          <p:spPr>
            <a:xfrm>
              <a:off x="9708404" y="3401438"/>
              <a:ext cx="895487" cy="749289"/>
            </a:xfrm>
            <a:prstGeom prst="line">
              <a:avLst/>
            </a:prstGeom>
            <a:ln w="12700">
              <a:solidFill>
                <a:srgbClr val="00B050"/>
              </a:solidFill>
              <a:prstDash val="sysDash"/>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38418338-F1E6-81D9-6A8C-D7EB7AA9DDA2}"/>
                </a:ext>
              </a:extLst>
            </p:cNvPr>
            <p:cNvSpPr>
              <a:spLocks noChangeAspect="1"/>
            </p:cNvSpPr>
            <p:nvPr/>
          </p:nvSpPr>
          <p:spPr>
            <a:xfrm>
              <a:off x="8478163" y="2144136"/>
              <a:ext cx="2407458" cy="2492074"/>
            </a:xfrm>
            <a:prstGeom prst="ellipse">
              <a:avLst/>
            </a:prstGeom>
            <a:noFill/>
            <a:ln w="1270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9" name="TextBox 28">
            <a:extLst>
              <a:ext uri="{FF2B5EF4-FFF2-40B4-BE49-F238E27FC236}">
                <a16:creationId xmlns:a16="http://schemas.microsoft.com/office/drawing/2014/main" id="{2C329E1C-5E54-9E3C-A6FA-AE50E16EEB85}"/>
              </a:ext>
            </a:extLst>
          </p:cNvPr>
          <p:cNvSpPr txBox="1"/>
          <p:nvPr/>
        </p:nvSpPr>
        <p:spPr>
          <a:xfrm>
            <a:off x="16253464" y="-6224293"/>
            <a:ext cx="65106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Helvetica Neue" panose="02000503000000020004" pitchFamily="2" charset="0"/>
                <a:ea typeface="Helvetica Neue" panose="02000503000000020004" pitchFamily="2" charset="0"/>
                <a:cs typeface="Helvetica Neue" panose="02000503000000020004" pitchFamily="2" charset="0"/>
              </a:rPr>
              <a:t>A(t’)</a:t>
            </a:r>
            <a:endParaRPr kumimoji="0" lang="en-US" sz="18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grpSp>
        <p:nvGrpSpPr>
          <p:cNvPr id="40" name="Group 39">
            <a:extLst>
              <a:ext uri="{FF2B5EF4-FFF2-40B4-BE49-F238E27FC236}">
                <a16:creationId xmlns:a16="http://schemas.microsoft.com/office/drawing/2014/main" id="{C105AAA1-FA00-79D8-70E9-DB832351B5E2}"/>
              </a:ext>
            </a:extLst>
          </p:cNvPr>
          <p:cNvGrpSpPr/>
          <p:nvPr/>
        </p:nvGrpSpPr>
        <p:grpSpPr>
          <a:xfrm rot="14400000">
            <a:off x="13240170" y="-1364030"/>
            <a:ext cx="2514783" cy="2603171"/>
            <a:chOff x="8478163" y="2144136"/>
            <a:chExt cx="2407458" cy="2492074"/>
          </a:xfrm>
        </p:grpSpPr>
        <p:cxnSp>
          <p:nvCxnSpPr>
            <p:cNvPr id="41" name="Straight Connector 40">
              <a:extLst>
                <a:ext uri="{FF2B5EF4-FFF2-40B4-BE49-F238E27FC236}">
                  <a16:creationId xmlns:a16="http://schemas.microsoft.com/office/drawing/2014/main" id="{48D05E5C-4059-6EC7-1299-E52A65F46E3D}"/>
                </a:ext>
              </a:extLst>
            </p:cNvPr>
            <p:cNvCxnSpPr>
              <a:cxnSpLocks/>
            </p:cNvCxnSpPr>
            <p:nvPr/>
          </p:nvCxnSpPr>
          <p:spPr>
            <a:xfrm rot="5400000" flipV="1">
              <a:off x="9777616" y="3271712"/>
              <a:ext cx="787430" cy="925856"/>
            </a:xfrm>
            <a:prstGeom prst="line">
              <a:avLst/>
            </a:prstGeom>
            <a:ln w="12700">
              <a:solidFill>
                <a:srgbClr val="FFFF00"/>
              </a:solidFill>
              <a:prstDash val="sysDash"/>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8174E055-9EC2-40B6-B317-43A23011EC49}"/>
                </a:ext>
              </a:extLst>
            </p:cNvPr>
            <p:cNvSpPr>
              <a:spLocks noChangeAspect="1"/>
            </p:cNvSpPr>
            <p:nvPr/>
          </p:nvSpPr>
          <p:spPr>
            <a:xfrm>
              <a:off x="8478163" y="2144136"/>
              <a:ext cx="2407458" cy="2492074"/>
            </a:xfrm>
            <a:prstGeom prst="ellipse">
              <a:avLst/>
            </a:prstGeom>
            <a:noFill/>
            <a:ln w="12700">
              <a:solidFill>
                <a:srgbClr val="FFFF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8" name="TextBox 27">
            <a:extLst>
              <a:ext uri="{FF2B5EF4-FFF2-40B4-BE49-F238E27FC236}">
                <a16:creationId xmlns:a16="http://schemas.microsoft.com/office/drawing/2014/main" id="{B86BBAD0-86F6-0D58-180C-6EA1BDCC33FE}"/>
              </a:ext>
            </a:extLst>
          </p:cNvPr>
          <p:cNvSpPr txBox="1"/>
          <p:nvPr/>
        </p:nvSpPr>
        <p:spPr>
          <a:xfrm>
            <a:off x="1673166" y="492734"/>
            <a:ext cx="9737250" cy="590931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We can geometrically model each point of action where a point potential intersects an incoming sphere stream using any convenient mathematical representation that transforms precisely to Euclidean time and 3D space, e.g., any rotation or linear translation of an absolute Euclidean time and 3D space with orthogonal axes (R4), etc.</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We can also replace the actual emitter with idealized v=0 point potentials covering the three dimensions of space.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We will start with two </a:t>
            </a:r>
            <a:r>
              <a:rPr kumimoji="0" lang="en-US" sz="1400" b="1"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slow</a:t>
            </a: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 moving point potentials in time and 3D space because it’s easier to visualize and conceptualize a single incoming sphere stream. Its equivalent to the general case, amazingly. Superposition!!!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Focus on the case of arbitrary initial conditions, not an idealized assembly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Identify a convenient geometrical model for the action calculations.</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Assign one axis radially to the origin of the emission.</a:t>
            </a:r>
          </a:p>
          <a:p>
            <a:pPr marL="1657350" marR="0" lvl="3"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Transform to a v=0 emitter along that radial axis.</a:t>
            </a:r>
          </a:p>
          <a:p>
            <a:pPr marL="1657350" marR="0" lvl="3"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Calculate velocity on the 1/r curve. Standard acceleration, etc.</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There is no action in the tangent plane, which is by definition equipotential</a:t>
            </a:r>
          </a:p>
          <a:p>
            <a:pPr marL="1657350" marR="0" lvl="3"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So in this “geodesic?” the tangential velocity doesn’t change? Why would it? </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Path evolution is the vector sum of the by actioned radial velocity and the tangential velocity</a:t>
            </a:r>
          </a:p>
          <a:p>
            <a:pPr marL="1657350" marR="0" lvl="3"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1"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this what we call acceleration that changes angular momentum??!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In a binary assembly we may choose model action in two components, one towards the orbital center, and the other as accelerating tangential action that serves to speed up the point potential, thus dropping its sphere stream magnitude. Feedback causes the binary adapt radius in response.</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R="0" lvl="2" algn="l" defTabSz="914400" rtl="0" eaLnBrk="1" fontAlgn="auto" latinLnBrk="0" hangingPunct="1">
              <a:lnSpc>
                <a:spcPct val="100000"/>
              </a:lnSpc>
              <a:spcBef>
                <a:spcPts val="0"/>
              </a:spcBef>
              <a:spcAft>
                <a:spcPts val="0"/>
              </a:spcAft>
              <a:buClrTx/>
              <a:buSzTx/>
              <a:tabLst/>
              <a:defRPr/>
            </a:pPr>
            <a:endPar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Other ideas to sort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Einstein’s spacetime geometry is a successful, but imprecise transformation.</a:t>
            </a:r>
          </a:p>
          <a:p>
            <a:pPr marL="12001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Einstein’s geometry lacks detailed understanding of its implementation.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Representations that precisely map and are efficient in domain specific simulations.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lumMod val="9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Representations that are efficient on high technology compute hardware.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534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C1D15DA8-274F-5947-B33A-2CC9705A3468}"/>
              </a:ext>
            </a:extLst>
          </p:cNvPr>
          <p:cNvSpPr/>
          <p:nvPr/>
        </p:nvSpPr>
        <p:spPr>
          <a:xfrm>
            <a:off x="325836" y="255587"/>
            <a:ext cx="11606704" cy="584775"/>
          </a:xfrm>
          <a:prstGeom prst="rect">
            <a:avLst/>
          </a:prstGeom>
          <a:noFill/>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Equations for Nature and the Universe — </a:t>
            </a:r>
            <a:r>
              <a:rPr kumimoji="0" lang="en-US" sz="3200" b="1" i="1"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Information Flow</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72F0892-819F-B94D-B4D1-D26BCA9AAE87}"/>
                  </a:ext>
                </a:extLst>
              </p:cNvPr>
              <p:cNvSpPr txBox="1"/>
              <p:nvPr/>
            </p:nvSpPr>
            <p:spPr>
              <a:xfrm>
                <a:off x="3857735" y="980943"/>
                <a:ext cx="4535537" cy="98405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𝑨</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sup>
                      </m:sSubSup>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nary>
                        <m:naryPr>
                          <m:chr m:val="∑"/>
                          <m:supHide m:val="on"/>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𝑙𝑙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𝒋</m:t>
                              </m:r>
                            </m:sub>
                          </m:sSub>
                        </m:sub>
                        <m:sup/>
                        <m:e>
                          <m:d>
                            <m:d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f>
                                <m:f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fPr>
                                <m:num>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acc>
                                        <m:accPr>
                                          <m:chr m:val="̂"/>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acc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𝒓</m:t>
                                          </m:r>
                                        </m:e>
                                      </m:acc>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𝒋𝒊</m:t>
                                      </m:r>
                                    </m:sub>
                                  </m:sSub>
                                </m:num>
                                <m:den>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𝒇</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𝒅𝒊𝒔𝒕𝒂𝒏𝒄𝒆</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up>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up>
                                              </m:sSubSup>
                                            </m:sup>
                                          </m:sSub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p>
                                          </m:sSubSup>
                                        </m:e>
                                      </m:d>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𝒗</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Sub>
                                    </m:e>
                                  </m:d>
                                </m:den>
                              </m:f>
                            </m:e>
                          </m:d>
                        </m:e>
                      </m:nary>
                    </m:oMath>
                  </m:oMathPara>
                </a14:m>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B72F0892-819F-B94D-B4D1-D26BCA9AAE87}"/>
                  </a:ext>
                </a:extLst>
              </p:cNvPr>
              <p:cNvSpPr txBox="1">
                <a:spLocks noRot="1" noChangeAspect="1" noMove="1" noResize="1" noEditPoints="1" noAdjustHandles="1" noChangeArrowheads="1" noChangeShapeType="1" noTextEdit="1"/>
              </p:cNvSpPr>
              <p:nvPr/>
            </p:nvSpPr>
            <p:spPr>
              <a:xfrm>
                <a:off x="3857735" y="980943"/>
                <a:ext cx="4535537" cy="984052"/>
              </a:xfrm>
              <a:prstGeom prst="rect">
                <a:avLst/>
              </a:prstGeom>
              <a:blipFill>
                <a:blip r:embed="rId2"/>
                <a:stretch>
                  <a:fillRect l="-838" t="-92308" b="-115385"/>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7DB03928-EBCC-FBA2-4139-45199C922898}"/>
              </a:ext>
            </a:extLst>
          </p:cNvPr>
          <p:cNvSpPr txBox="1"/>
          <p:nvPr/>
        </p:nvSpPr>
        <p:spPr>
          <a:xfrm>
            <a:off x="459349" y="1964995"/>
            <a:ext cx="11273302" cy="51537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a:t>
            </a:r>
            <a:r>
              <a:rPr kumimoji="0" lang="en-US" sz="24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information</a:t>
            </a:r>
            <a:r>
              <a:rPr kumimoji="0" lang="en-US" sz="2000" b="0"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24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carried</a:t>
            </a:r>
            <a:r>
              <a:rPr kumimoji="0" lang="en-US" sz="2000" b="0" i="0"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by a Dirac sphere to an intersecting point potential is: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a:t>
            </a:r>
            <a:r>
              <a:rPr kumimoji="0" lang="en-US" sz="20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line</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upon which the emitter’s path intersected at time of emission.</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Since the receiver is at </a:t>
            </a:r>
            <a:r>
              <a:rPr kumimoji="0" lang="en-US" sz="18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s = 0</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we know the emitter is on the line defined by </a:t>
            </a:r>
            <a:r>
              <a:rPr kumimoji="0" lang="en-US" sz="18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s </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kumimoji="0" lang="en-US" sz="18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s’ = (</a:t>
            </a:r>
            <a:r>
              <a:rPr kumimoji="0" lang="en-US" sz="1800" b="1" i="1" u="none" strike="noStrike" kern="1200" cap="none" spc="0" normalizeH="0" baseline="0" noProof="0" dirty="0" err="1">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x,y,z</a:t>
            </a:r>
            <a:r>
              <a:rPr kumimoji="0" lang="en-US" sz="18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Information: </a:t>
            </a:r>
            <a:r>
              <a:rPr kumimoji="0" lang="en-US" sz="18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3 real numbers continuously in time </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Hence a need for efficient path modeling in analytics and simulation, by use case.</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unknown point potential polarity: (i.e., a hidden variable?)  the charge of the emitter may be a </a:t>
            </a:r>
            <a:r>
              <a:rPr kumimoji="0" lang="en-US" sz="2000" b="1" i="1"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+|q|</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point potential in one direction or a </a:t>
            </a:r>
            <a:r>
              <a:rPr kumimoji="0" lang="en-US" sz="2000" b="1" i="1" u="none" strike="noStrike" kern="1200" cap="none" spc="0" normalizeH="0" baseline="0" noProof="0" dirty="0">
                <a:ln>
                  <a:noFill/>
                </a:ln>
                <a:solidFill>
                  <a:srgbClr val="00B0F0"/>
                </a:solidFill>
                <a:effectLst/>
                <a:uLnTx/>
                <a:uFillTx/>
                <a:latin typeface="Helvetica Neue" panose="02000503000000020004" pitchFamily="2" charset="0"/>
                <a:ea typeface="Helvetica Neue" panose="02000503000000020004" pitchFamily="2" charset="0"/>
                <a:cs typeface="Helvetica Neue" panose="02000503000000020004" pitchFamily="2" charset="0"/>
              </a:rPr>
              <a:t>-|q| </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in the opposite.</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Information: </a:t>
            </a:r>
            <a:r>
              <a:rPr kumimoji="0" lang="en-US" sz="18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1 bit with unknown polarity </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 function defining the relationship of distance and velocity of the emitter.</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Emission at time t is q for </a:t>
            </a:r>
            <a:r>
              <a:rPr kumimoji="0" lang="en-US" sz="18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a:t>
            </a:r>
            <a:r>
              <a:rPr kumimoji="0" lang="en-US" sz="18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=0 and q/|</a:t>
            </a:r>
            <a:r>
              <a:rPr kumimoji="0" lang="en-US" sz="18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a:t>
            </a:r>
            <a:r>
              <a:rPr kumimoji="0" lang="en-US" sz="18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for |</a:t>
            </a:r>
            <a:r>
              <a:rPr kumimoji="0" lang="en-US" sz="18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a:t>
            </a:r>
            <a:r>
              <a:rPr kumimoji="0" lang="en-US" sz="18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|&gt;0. Emission decreases with radius, i.e., q/(|</a:t>
            </a:r>
            <a:r>
              <a:rPr kumimoji="0" lang="en-US" sz="18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v|r</a:t>
            </a: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Does our physics define |q| = 1? Does it matter with superposition? We can define it though.</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Information: </a:t>
            </a:r>
            <a:r>
              <a:rPr kumimoji="0" lang="en-US" sz="1800" b="1" i="1" u="none" strike="noStrike" kern="1200" cap="none" spc="0" normalizeH="0" baseline="0" noProof="0" dirty="0">
                <a:ln>
                  <a:noFill/>
                </a:ln>
                <a:solidFill>
                  <a:srgbClr val="ED7D31"/>
                </a:solidFill>
                <a:effectLst/>
                <a:uLnTx/>
                <a:uFillTx/>
                <a:latin typeface="Helvetica Neue" panose="02000503000000020004" pitchFamily="2" charset="0"/>
                <a:ea typeface="Helvetica Neue" panose="02000503000000020004" pitchFamily="2" charset="0"/>
                <a:cs typeface="Helvetica Neue" panose="02000503000000020004" pitchFamily="2" charset="0"/>
              </a:rPr>
              <a:t>If |q|=1 we know that the location s’ on the line has characteristics v=1/r.</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Can we furthermore define r=1 where y=1/x=1, i.e., the symmetry point on the 1/r curve?</a:t>
            </a:r>
          </a:p>
          <a:p>
            <a:pPr marL="1828800" marR="0" lvl="3"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It would be convenient if the symmetry breaking point in the 1/r curve corresponds with a point charge from a countable infinity and initial v=0 arrives with v=@ (or both do?)</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It’s all scalable based on 1/r, so I think this may be a matter of convention.</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Diagram 5">
            <a:extLst>
              <a:ext uri="{FF2B5EF4-FFF2-40B4-BE49-F238E27FC236}">
                <a16:creationId xmlns:a16="http://schemas.microsoft.com/office/drawing/2014/main" id="{E05FFDFA-9AF4-D6AC-28D4-3629FF42CA93}"/>
              </a:ext>
            </a:extLst>
          </p:cNvPr>
          <p:cNvGraphicFramePr/>
          <p:nvPr/>
        </p:nvGraphicFramePr>
        <p:xfrm>
          <a:off x="9456616" y="758743"/>
          <a:ext cx="2305538" cy="15780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92010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C2AE0D87-EFC9-E157-CD80-8892ACF8E5F8}"/>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C01D6FEF-5819-6BC7-5135-61B651C1512B}"/>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50E67E55-CE90-1336-E85D-FC25EB9B1AEE}"/>
              </a:ext>
            </a:extLst>
          </p:cNvPr>
          <p:cNvSpPr/>
          <p:nvPr/>
        </p:nvSpPr>
        <p:spPr>
          <a:xfrm>
            <a:off x="1151428" y="378829"/>
            <a:ext cx="9889182" cy="523220"/>
          </a:xfrm>
          <a:prstGeom prst="rect">
            <a:avLst/>
          </a:prstGeom>
          <a:noFill/>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Speculation: Using Virtual Emitters to Simplify the Action</a:t>
            </a:r>
            <a:endPar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 name="TextBox 1">
            <a:extLst>
              <a:ext uri="{FF2B5EF4-FFF2-40B4-BE49-F238E27FC236}">
                <a16:creationId xmlns:a16="http://schemas.microsoft.com/office/drawing/2014/main" id="{54EC17F7-0B03-28D7-5349-29C4F10385A5}"/>
              </a:ext>
            </a:extLst>
          </p:cNvPr>
          <p:cNvSpPr txBox="1"/>
          <p:nvPr/>
        </p:nvSpPr>
        <p:spPr>
          <a:xfrm>
            <a:off x="469332" y="1188232"/>
            <a:ext cx="11869027" cy="621708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potentials are constant rate emitters.</a:t>
            </a:r>
          </a:p>
          <a:p>
            <a:pPr marL="914400" lvl="1"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The emission at t = </a:t>
            </a:r>
            <a:r>
              <a:rPr lang="en-US" sz="20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a:t>
            </a:r>
            <a:r>
              <a:rPr lang="en-US" sz="2000" baseline="-250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now</a:t>
            </a: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 is </a:t>
            </a:r>
            <a:r>
              <a:rPr lang="en-US" sz="20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q|v</a:t>
            </a: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With the transmitted information we can transform the dynamical situation into a static one!</a:t>
            </a:r>
          </a:p>
          <a:p>
            <a:pPr marL="914400" lvl="1"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can we use relativity of the geometry to first imagine the receiver at rest?</a:t>
            </a:r>
          </a:p>
          <a:p>
            <a:pPr marL="1371600" lvl="2"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promote relativity to a fundamental principle, but only if there is a mathematical basis.</a:t>
            </a:r>
          </a:p>
          <a:p>
            <a:pPr marL="914400" lvl="1"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by changing the velocity magnitude of the transmitter.</a:t>
            </a:r>
          </a:p>
          <a:p>
            <a:pPr marL="914400" lvl="1"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then replacing the transmitter with a virtual transmitter at rest. (+/- options to choose from)</a:t>
            </a:r>
          </a:p>
          <a:p>
            <a:pPr marL="457200"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We leverage the symmetry of the ideal binary and reframe it as a rotating static wave pattern.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To a receiver at rest, a</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r>
              <a:rPr lang="en-US" sz="2000" dirty="0" err="1">
                <a:solidFill>
                  <a:prstClr val="white"/>
                </a:solidFill>
                <a:latin typeface="Helvetica Neue" panose="02000503000000020004" pitchFamily="2" charset="0"/>
                <a:ea typeface="Helvetica Neue" panose="02000503000000020004" pitchFamily="2" charset="0"/>
                <a:cs typeface="Helvetica Neue" panose="02000503000000020004" pitchFamily="2" charset="0"/>
              </a:rPr>
              <a:t>q|v</a:t>
            </a: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|/r sphere stream is equivalent to a virtual point potential at rest at r’</a:t>
            </a:r>
          </a:p>
          <a:p>
            <a:pPr marL="914400" lvl="1"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what is q where r’ = r/|v| along the ray from receiver to the emitter.</a:t>
            </a:r>
          </a:p>
          <a:p>
            <a:pPr marL="914400" lvl="1"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what is -q emission where r’ = r/|v| along a ray from the receiver away from the emitter.</a:t>
            </a:r>
          </a:p>
          <a:p>
            <a:pPr marL="457200" indent="-457200">
              <a:buFont typeface="Arial" panose="020B0604020202020204" pitchFamily="34" charset="0"/>
              <a:buChar char="•"/>
              <a:defRPr/>
            </a:pPr>
            <a:endPar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endParaRPr>
          </a:p>
          <a:p>
            <a:pPr marL="457200" indent="-457200">
              <a:buFont typeface="Arial" panose="020B0604020202020204" pitchFamily="34" charset="0"/>
              <a:buChar char="•"/>
              <a:defRPr/>
            </a:pPr>
            <a:r>
              <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Why is this important?  It could help us determine the force using standard equations?</a:t>
            </a:r>
          </a:p>
          <a:p>
            <a:pPr marL="457200" indent="-457200">
              <a:buFont typeface="Arial" panose="020B0604020202020204" pitchFamily="34" charset="0"/>
              <a:buChar char="•"/>
              <a:defRPr/>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 am skeptical that this may work based on delay, but it is worth contemplating. </a:t>
            </a:r>
          </a:p>
          <a:p>
            <a:pPr marL="457200" indent="-457200">
              <a:buFont typeface="Arial" panose="020B0604020202020204" pitchFamily="34" charset="0"/>
              <a:buChar char="•"/>
              <a:defRPr/>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Remember we link v=0 to a specific point in absolute time and space. </a:t>
            </a:r>
          </a:p>
          <a:p>
            <a:pPr marL="457200" indent="-457200">
              <a:buFont typeface="Arial" panose="020B0604020202020204" pitchFamily="34" charset="0"/>
              <a:buChar char="•"/>
              <a:defRPr/>
            </a:pPr>
            <a:r>
              <a:rPr lang="en-US" sz="20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Potential sphere intersection is more than a vector.  It is a mechanism for reframing. </a:t>
            </a:r>
            <a:endParaRPr lang="en-US" sz="2000"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endParaRPr>
          </a:p>
          <a:p>
            <a:pPr marL="914400" lvl="1" indent="-457200">
              <a:buFont typeface="Arial" panose="020B0604020202020204" pitchFamily="34" charset="0"/>
              <a:buChar char="•"/>
              <a:defRPr/>
            </a:pPr>
            <a:endPar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1370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C1D15DA8-274F-5947-B33A-2CC9705A3468}"/>
              </a:ext>
            </a:extLst>
          </p:cNvPr>
          <p:cNvSpPr/>
          <p:nvPr/>
        </p:nvSpPr>
        <p:spPr>
          <a:xfrm>
            <a:off x="2735978" y="378829"/>
            <a:ext cx="6720045" cy="523220"/>
          </a:xfrm>
          <a:prstGeom prst="rect">
            <a:avLst/>
          </a:prstGeom>
          <a:noFill/>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Equations for Nature and the Universe</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72F0892-819F-B94D-B4D1-D26BCA9AAE87}"/>
                  </a:ext>
                </a:extLst>
              </p:cNvPr>
              <p:cNvSpPr txBox="1"/>
              <p:nvPr/>
            </p:nvSpPr>
            <p:spPr>
              <a:xfrm>
                <a:off x="3998631" y="1121525"/>
                <a:ext cx="4535537" cy="98405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𝑨</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sup>
                      </m:sSubSup>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nary>
                        <m:naryPr>
                          <m:chr m:val="∑"/>
                          <m:supHide m:val="on"/>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𝑙𝑙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𝒋</m:t>
                              </m:r>
                            </m:sub>
                          </m:sSub>
                        </m:sub>
                        <m:sup/>
                        <m:e>
                          <m:d>
                            <m:d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f>
                                <m:f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fPr>
                                <m:num>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acc>
                                        <m:accPr>
                                          <m:chr m:val="̂"/>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acc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𝒓</m:t>
                                          </m:r>
                                        </m:e>
                                      </m:acc>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𝒋𝒊</m:t>
                                      </m:r>
                                    </m:sub>
                                  </m:sSub>
                                </m:num>
                                <m:den>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𝒇</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𝒅𝒊𝒔𝒕𝒂𝒏𝒄𝒆</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up>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up>
                                              </m:sSubSup>
                                            </m:sup>
                                          </m:sSub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p>
                                          </m:sSubSup>
                                        </m:e>
                                      </m:d>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𝒗</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Sub>
                                    </m:e>
                                  </m:d>
                                </m:den>
                              </m:f>
                            </m:e>
                          </m:d>
                        </m:e>
                      </m:nary>
                    </m:oMath>
                  </m:oMathPara>
                </a14:m>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B72F0892-819F-B94D-B4D1-D26BCA9AAE87}"/>
                  </a:ext>
                </a:extLst>
              </p:cNvPr>
              <p:cNvSpPr txBox="1">
                <a:spLocks noRot="1" noChangeAspect="1" noMove="1" noResize="1" noEditPoints="1" noAdjustHandles="1" noChangeArrowheads="1" noChangeShapeType="1" noTextEdit="1"/>
              </p:cNvSpPr>
              <p:nvPr/>
            </p:nvSpPr>
            <p:spPr>
              <a:xfrm>
                <a:off x="3998631" y="1121525"/>
                <a:ext cx="4535537" cy="984052"/>
              </a:xfrm>
              <a:prstGeom prst="rect">
                <a:avLst/>
              </a:prstGeom>
              <a:blipFill>
                <a:blip r:embed="rId2"/>
                <a:stretch>
                  <a:fillRect l="-838" t="-92308" b="-115385"/>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7DB03928-EBCC-FBA2-4139-45199C922898}"/>
              </a:ext>
            </a:extLst>
          </p:cNvPr>
          <p:cNvSpPr txBox="1"/>
          <p:nvPr/>
        </p:nvSpPr>
        <p:spPr>
          <a:xfrm>
            <a:off x="125490" y="2269510"/>
            <a:ext cx="11941019" cy="477053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net action on each point potential is calculated from the vector sum of all arriving potential spheres from all point potentials in the universe.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Nature’s implements superposition.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We leverage superposition both individually and in aggregate.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Electric potential travels at speed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point potential experiences action based upon the past path history of each emitter.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an emitter operates at a constant rate and is in motion with a velocity of magnitude |v|, the Dirac delta potential emission at each continuous point (r=0) is governed or modulated by the magnitude of the velocity.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 emitter at absolute rest in 3D space emits the Dirac delta potential q at r=0 and t=</a:t>
            </a:r>
            <a:r>
              <a:rPr kumimoji="0" lang="en-US" sz="22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a:t>
            </a:r>
            <a:r>
              <a:rPr kumimoji="0" lang="en-US" sz="22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now</a:t>
            </a:r>
            <a:endParaRPr kumimoji="0" lang="en-US" sz="2200" b="0" i="0" u="none" strike="noStrike" kern="1200" cap="none" spc="0" normalizeH="0" baseline="-25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This means that the velocity magnitude serves as a controlling factor, determining the characteristics of the emission at each point along the emitter’s path.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faster the emitter moves, the more it influences the emission properties at each point.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3749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C1D15DA8-274F-5947-B33A-2CC9705A3468}"/>
              </a:ext>
            </a:extLst>
          </p:cNvPr>
          <p:cNvSpPr/>
          <p:nvPr/>
        </p:nvSpPr>
        <p:spPr>
          <a:xfrm>
            <a:off x="2735978" y="378829"/>
            <a:ext cx="6720045"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Equations for Nature and the Universe</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72F0892-819F-B94D-B4D1-D26BCA9AAE87}"/>
                  </a:ext>
                </a:extLst>
              </p:cNvPr>
              <p:cNvSpPr txBox="1"/>
              <p:nvPr/>
            </p:nvSpPr>
            <p:spPr>
              <a:xfrm>
                <a:off x="3998631" y="1121525"/>
                <a:ext cx="4535537" cy="98405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𝑨</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sup>
                      </m:sSubSup>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nary>
                        <m:naryPr>
                          <m:chr m:val="∑"/>
                          <m:supHide m:val="on"/>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𝑙𝑙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𝒋</m:t>
                              </m:r>
                            </m:sub>
                          </m:sSub>
                        </m:sub>
                        <m:sup/>
                        <m:e>
                          <m:d>
                            <m:d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f>
                                <m:f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fPr>
                                <m:num>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acc>
                                        <m:accPr>
                                          <m:chr m:val="̂"/>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acc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𝒓</m:t>
                                          </m:r>
                                        </m:e>
                                      </m:acc>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𝒋𝒊</m:t>
                                      </m:r>
                                    </m:sub>
                                  </m:sSub>
                                </m:num>
                                <m:den>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𝒇</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𝒅𝒊𝒔𝒕𝒂𝒏𝒄𝒆</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up>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up>
                                              </m:sSubSup>
                                            </m:sup>
                                          </m:sSub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p>
                                          </m:sSubSup>
                                        </m:e>
                                      </m:d>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𝒗</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Sub>
                                    </m:e>
                                  </m:d>
                                </m:den>
                              </m:f>
                            </m:e>
                          </m:d>
                        </m:e>
                      </m:nary>
                    </m:oMath>
                  </m:oMathPara>
                </a14:m>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B72F0892-819F-B94D-B4D1-D26BCA9AAE87}"/>
                  </a:ext>
                </a:extLst>
              </p:cNvPr>
              <p:cNvSpPr txBox="1">
                <a:spLocks noRot="1" noChangeAspect="1" noMove="1" noResize="1" noEditPoints="1" noAdjustHandles="1" noChangeArrowheads="1" noChangeShapeType="1" noTextEdit="1"/>
              </p:cNvSpPr>
              <p:nvPr/>
            </p:nvSpPr>
            <p:spPr>
              <a:xfrm>
                <a:off x="3998631" y="1121525"/>
                <a:ext cx="4535537" cy="984052"/>
              </a:xfrm>
              <a:prstGeom prst="rect">
                <a:avLst/>
              </a:prstGeom>
              <a:blipFill>
                <a:blip r:embed="rId2"/>
                <a:stretch>
                  <a:fillRect l="-838" t="-92308" b="-115385"/>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7DB03928-EBCC-FBA2-4139-45199C922898}"/>
              </a:ext>
            </a:extLst>
          </p:cNvPr>
          <p:cNvSpPr txBox="1"/>
          <p:nvPr/>
        </p:nvSpPr>
        <p:spPr>
          <a:xfrm>
            <a:off x="197483" y="2325053"/>
            <a:ext cx="11869027" cy="2523768"/>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action upon each point potential q</a:t>
            </a:r>
            <a:r>
              <a:rPr kumimoji="0" lang="en-US" sz="2000" b="0" i="0" u="none" strike="noStrike" kern="1200" cap="none" spc="0" normalizeH="0" baseline="-25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is the vector sum of all intersecting Dirac spheres emitted from the historical locations s of all point potentials </a:t>
            </a:r>
            <a:r>
              <a:rPr kumimoji="0" lang="en-US" sz="20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q</a:t>
            </a:r>
            <a:r>
              <a:rPr kumimoji="0" lang="en-US" sz="2000" b="0" i="0" u="none" strike="noStrike" kern="1200" cap="none" spc="0" normalizeH="0" baseline="-2500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j</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in the universe, including q</a:t>
            </a:r>
            <a:r>
              <a:rPr kumimoji="0" lang="en-US" sz="2000" b="0" i="0" u="none" strike="noStrike" kern="1200" cap="none" spc="0" normalizeH="0" baseline="-25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Dirac sphere magnitude decreases at 1/radius. The action decreases the farther away the emitter.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Self action requires that q</a:t>
            </a:r>
            <a:r>
              <a:rPr kumimoji="0" lang="en-US" sz="2000" b="0" i="0" u="none" strike="noStrike" kern="1200" cap="none" spc="0" normalizeH="0" baseline="-25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traveled at speed faster than @ for some portion of the interval from emission to action such that it intersects its own Dirac sphere stream field emission.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point potentials travel faster than their field emissions, they encounter their own emissions from their own past path history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6811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C1D15DA8-274F-5947-B33A-2CC9705A3468}"/>
              </a:ext>
            </a:extLst>
          </p:cNvPr>
          <p:cNvSpPr/>
          <p:nvPr/>
        </p:nvSpPr>
        <p:spPr>
          <a:xfrm>
            <a:off x="2735978" y="378829"/>
            <a:ext cx="6720045" cy="523220"/>
          </a:xfrm>
          <a:prstGeom prst="rect">
            <a:avLst/>
          </a:prstGeom>
          <a:noFill/>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Equations for Nature and the Universe</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72F0892-819F-B94D-B4D1-D26BCA9AAE87}"/>
                  </a:ext>
                </a:extLst>
              </p:cNvPr>
              <p:cNvSpPr txBox="1"/>
              <p:nvPr/>
            </p:nvSpPr>
            <p:spPr>
              <a:xfrm>
                <a:off x="3998631" y="1121525"/>
                <a:ext cx="4535537" cy="98405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𝑨</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sup>
                      </m:sSubSup>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nary>
                        <m:naryPr>
                          <m:chr m:val="∑"/>
                          <m:supHide m:val="on"/>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𝑙𝑙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𝒋</m:t>
                              </m:r>
                            </m:sub>
                          </m:sSub>
                        </m:sub>
                        <m:sup/>
                        <m:e>
                          <m:d>
                            <m:d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f>
                                <m:f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fPr>
                                <m:num>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acc>
                                        <m:accPr>
                                          <m:chr m:val="̂"/>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acc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𝒓</m:t>
                                          </m:r>
                                        </m:e>
                                      </m:acc>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𝒋𝒊</m:t>
                                      </m:r>
                                    </m:sub>
                                  </m:sSub>
                                </m:num>
                                <m:den>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𝒇</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𝒅𝒊𝒔𝒕𝒂𝒏𝒄𝒆</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up>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up>
                                              </m:sSubSup>
                                            </m:sup>
                                          </m:sSub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p>
                                          </m:sSubSup>
                                        </m:e>
                                      </m:d>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𝒗</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Sub>
                                    </m:e>
                                  </m:d>
                                </m:den>
                              </m:f>
                            </m:e>
                          </m:d>
                        </m:e>
                      </m:nary>
                    </m:oMath>
                  </m:oMathPara>
                </a14:m>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B72F0892-819F-B94D-B4D1-D26BCA9AAE87}"/>
                  </a:ext>
                </a:extLst>
              </p:cNvPr>
              <p:cNvSpPr txBox="1">
                <a:spLocks noRot="1" noChangeAspect="1" noMove="1" noResize="1" noEditPoints="1" noAdjustHandles="1" noChangeArrowheads="1" noChangeShapeType="1" noTextEdit="1"/>
              </p:cNvSpPr>
              <p:nvPr/>
            </p:nvSpPr>
            <p:spPr>
              <a:xfrm>
                <a:off x="3998631" y="1121525"/>
                <a:ext cx="4535537" cy="984052"/>
              </a:xfrm>
              <a:prstGeom prst="rect">
                <a:avLst/>
              </a:prstGeom>
              <a:blipFill>
                <a:blip r:embed="rId2"/>
                <a:stretch>
                  <a:fillRect l="-838" t="-92308" b="-115385"/>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7DB03928-EBCC-FBA2-4139-45199C922898}"/>
              </a:ext>
            </a:extLst>
          </p:cNvPr>
          <p:cNvSpPr txBox="1"/>
          <p:nvPr/>
        </p:nvSpPr>
        <p:spPr>
          <a:xfrm>
            <a:off x="125491" y="2248275"/>
            <a:ext cx="11941020"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universe runs in absolute Euclidean time and space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contents of the universe, are unit point potentials.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point potential emits precise information (q, path) that transmits throughout the universe at @t.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Does the potential sphere stream carry precise information? Yes, from a test perspective, but…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point potential receives the entire signal from every point potential, but with less information.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Because the universe supports superposition, the information received is by definition ambiguous.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Superposition rules. </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For example: What if all incoming potentials sum to zero? Cancel.</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If a point potential receives zero signal, there is a null action, which produces no response.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Does the information in a null action determine the universe is otherwise a Euclidean void?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 The null action provides zero information.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Does this establish an information minimum, a zero? (</a:t>
            </a:r>
            <a:r>
              <a:rPr kumimoji="0" lang="en-US" sz="200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Is this mathematically interesting?)</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With superposition, there is a countable infinity of possible configurations (e.g., each point potential, its polarity, and emission along a path defined by continuous location and velocity)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There are many opportunities in modeling &amp; simulation to improve predictability for each scenario.</a:t>
            </a:r>
          </a:p>
        </p:txBody>
      </p:sp>
    </p:spTree>
    <p:extLst>
      <p:ext uri="{BB962C8B-B14F-4D97-AF65-F5344CB8AC3E}">
        <p14:creationId xmlns:p14="http://schemas.microsoft.com/office/powerpoint/2010/main" val="30317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8A63B5-40EC-8B9D-0CE4-CED6A7D3C146}"/>
              </a:ext>
            </a:extLst>
          </p:cNvPr>
          <p:cNvSpPr txBox="1"/>
          <p:nvPr/>
        </p:nvSpPr>
        <p:spPr>
          <a:xfrm>
            <a:off x="-70338" y="0"/>
            <a:ext cx="12262338" cy="67403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It's like the classic history potential figure. However, if we really contemplated what is happening in this dynamical geometry between any two point potentials is this: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1. Point potentials follow continuous paths through R4 (t, </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x,y,z</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x', y', z'). That is to say at any absolute time each point potential has a position in space and a velocity.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2. Now consider two point potentials each following their path under the influence of the arriving potential field. Let's limit ourselves to point potential velocities less than field speed, because it is a simpler case.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3. Each point potential is continuously emitting a spherical potential that starts at it's current location with radius 0 and expands such that radius is field speed multiplied by elapsed time since emission. We are using all Euclidean coordinates here in time and space, so everything is absolute.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4. So there is a pretty cool thing that once a spherical potential is emitted, the origin of that sphere never changes.  Only the radius increases. Meanwhile the point potential has moved on continuously emitting new potential spheres.  So the potential wake is kind of like a boat in a lake, except we are in 3D space not flatland.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5. Now it gets kind of cool to start thinking about the relationship between the point potentials. Let's examine the sphere A emits at T0. It takes some time to reach B. When the sphere intersects B, we still know the origin of the sphere and can do math. But also we have to consider the velocity of A when that potential sphere was emitted, because it affects the gradient of potential that B experiences. We also have to consider B's velocity. There is a general formula in here which needs to be developed. It might look like </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Lienard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Wiechert</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Jeffimenko</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math. Not sure yet.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6. Let's use the term potential sphere stream to describe each point potential emitting a stream of expanding spherical potentials. The stream also encodes the velocity of the emitting point potential, by nature of the moving origin.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7. When the potential sphere emitted at T0 arrives, in the potential sphere stream from A, then action will occur and the path of B will be impacted. But B is also emitting a potential sphere stream that impacts A after the travel time delay. So there is a feedback cycle with a variable delay that is dependent on both A and B's path.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8. I was just thinking the other day how to enhance the picture to show the continuous potential sphere streams from A passing B and causing action, and vice versa. I'd like to somehow capture this dynamic feedback cycle.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9. I think there is probably some incredible math just in this interaction. I don't know if that math has already been done. Perhaps.  I doubt anyone has considered the case when point potential velocity equals or exceeds field speed. That is an unexplored regime.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My recommendation is to use your imagination to visualize the dynamical geometry and the potential sphere streams and the paths.  For me that leads to a lot of insight.   </a:t>
            </a:r>
          </a:p>
        </p:txBody>
      </p:sp>
    </p:spTree>
    <p:extLst>
      <p:ext uri="{BB962C8B-B14F-4D97-AF65-F5344CB8AC3E}">
        <p14:creationId xmlns:p14="http://schemas.microsoft.com/office/powerpoint/2010/main" val="4219678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C1D15DA8-274F-5947-B33A-2CC9705A3468}"/>
              </a:ext>
            </a:extLst>
          </p:cNvPr>
          <p:cNvSpPr/>
          <p:nvPr/>
        </p:nvSpPr>
        <p:spPr>
          <a:xfrm>
            <a:off x="2735978" y="378829"/>
            <a:ext cx="6720045" cy="523220"/>
          </a:xfrm>
          <a:prstGeom prst="rect">
            <a:avLst/>
          </a:prstGeom>
          <a:noFill/>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Equations for Nature and the Universe</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72F0892-819F-B94D-B4D1-D26BCA9AAE87}"/>
                  </a:ext>
                </a:extLst>
              </p:cNvPr>
              <p:cNvSpPr txBox="1"/>
              <p:nvPr/>
            </p:nvSpPr>
            <p:spPr>
              <a:xfrm>
                <a:off x="3998631" y="1121525"/>
                <a:ext cx="4535537" cy="98405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𝑨</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sup>
                      </m:sSubSup>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nary>
                        <m:naryPr>
                          <m:chr m:val="∑"/>
                          <m:supHide m:val="on"/>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𝑙𝑙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𝒋</m:t>
                              </m:r>
                            </m:sub>
                          </m:sSub>
                        </m:sub>
                        <m:sup/>
                        <m:e>
                          <m:d>
                            <m:d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f>
                                <m:f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fPr>
                                <m:num>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acc>
                                        <m:accPr>
                                          <m:chr m:val="̂"/>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acc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𝒓</m:t>
                                          </m:r>
                                        </m:e>
                                      </m:acc>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𝒋𝒊</m:t>
                                      </m:r>
                                    </m:sub>
                                  </m:sSub>
                                </m:num>
                                <m:den>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𝒇</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𝒅𝒊𝒔𝒕𝒂𝒏𝒄𝒆</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up>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up>
                                              </m:sSubSup>
                                            </m:sup>
                                          </m:sSub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p>
                                          </m:sSubSup>
                                        </m:e>
                                      </m:d>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𝒗</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Sub>
                                    </m:e>
                                  </m:d>
                                </m:den>
                              </m:f>
                            </m:e>
                          </m:d>
                        </m:e>
                      </m:nary>
                    </m:oMath>
                  </m:oMathPara>
                </a14:m>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B72F0892-819F-B94D-B4D1-D26BCA9AAE87}"/>
                  </a:ext>
                </a:extLst>
              </p:cNvPr>
              <p:cNvSpPr txBox="1">
                <a:spLocks noRot="1" noChangeAspect="1" noMove="1" noResize="1" noEditPoints="1" noAdjustHandles="1" noChangeArrowheads="1" noChangeShapeType="1" noTextEdit="1"/>
              </p:cNvSpPr>
              <p:nvPr/>
            </p:nvSpPr>
            <p:spPr>
              <a:xfrm>
                <a:off x="3998631" y="1121525"/>
                <a:ext cx="4535537" cy="984052"/>
              </a:xfrm>
              <a:prstGeom prst="rect">
                <a:avLst/>
              </a:prstGeom>
              <a:blipFill>
                <a:blip r:embed="rId2"/>
                <a:stretch>
                  <a:fillRect l="-838" t="-92308" b="-115385"/>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7DB03928-EBCC-FBA2-4139-45199C922898}"/>
              </a:ext>
            </a:extLst>
          </p:cNvPr>
          <p:cNvSpPr txBox="1"/>
          <p:nvPr/>
        </p:nvSpPr>
        <p:spPr>
          <a:xfrm>
            <a:off x="197483" y="2325053"/>
            <a:ext cx="11869027"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Leading edge physics theory &amp; observation are at a </a:t>
            </a:r>
            <a:r>
              <a:rPr kumimoji="0" lang="en-US" sz="20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high order scale </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of time, space, and potential</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a:t>
            </a:r>
            <a:r>
              <a:rPr kumimoji="0" lang="en-US" sz="20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found laws and theories </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work well at high orders of scale in time, space, and potential.</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Physicists do not yet realize they missed a scalable emergent assembly architecture circa 1900</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proper way is to analyze and simulate point potentials, their paths, and their sphere streams.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Nothing else matters in the new emergent assembly architecture.</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point potential has a causal relationship with every other point potential. (universally)</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action formula includes intersection with a potential sphere of magnitude (</a:t>
            </a:r>
            <a:r>
              <a:rPr kumimoji="0" lang="en-US" sz="2000"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rv</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r>
              <a:rPr kumimoji="0" lang="en-US" sz="2000" b="0" i="0" u="none" strike="noStrike" kern="1200" cap="none" spc="0" normalizeH="0" baseline="3000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-1</a:t>
            </a: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 point potential may experience self action based on path history with a velocity &gt; field speed</a:t>
            </a:r>
          </a:p>
          <a:p>
            <a:pPr marL="1371600" marR="0" lvl="2"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Null self action is possible when all path history emissions are beyond causal contact.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Determinism — reactions of assemblies can tip based on incoming sphere streams.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Evolved emergent assemblies can direct the paths of their point potential sub-assemblies.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For example, life-forms have some control over their movement, and their thoughts if sentient.</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How are we able to do that? This is a real mathematical question. Fascinating.</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Do life forms leverage the aura (floating ground) in their reactions?</a:t>
            </a:r>
          </a:p>
        </p:txBody>
      </p:sp>
    </p:spTree>
    <p:extLst>
      <p:ext uri="{BB962C8B-B14F-4D97-AF65-F5344CB8AC3E}">
        <p14:creationId xmlns:p14="http://schemas.microsoft.com/office/powerpoint/2010/main" val="3409904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C1D15DA8-274F-5947-B33A-2CC9705A3468}"/>
              </a:ext>
            </a:extLst>
          </p:cNvPr>
          <p:cNvSpPr/>
          <p:nvPr/>
        </p:nvSpPr>
        <p:spPr>
          <a:xfrm>
            <a:off x="2735978" y="378829"/>
            <a:ext cx="6720045" cy="523220"/>
          </a:xfrm>
          <a:prstGeom prst="rect">
            <a:avLst/>
          </a:prstGeom>
          <a:noFill/>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Equations for Nature and the Universe</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72F0892-819F-B94D-B4D1-D26BCA9AAE87}"/>
                  </a:ext>
                </a:extLst>
              </p:cNvPr>
              <p:cNvSpPr txBox="1"/>
              <p:nvPr/>
            </p:nvSpPr>
            <p:spPr>
              <a:xfrm>
                <a:off x="3998631" y="1121525"/>
                <a:ext cx="4535537" cy="98405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𝑨</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sup>
                      </m:sSubSup>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nary>
                        <m:naryPr>
                          <m:chr m:val="∑"/>
                          <m:supHide m:val="on"/>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naryPr>
                        <m:sub>
                          <m:r>
                            <m:rPr>
                              <m:brk m:alnAt="7"/>
                            </m:rP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𝑙𝑙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𝒋</m:t>
                              </m:r>
                            </m:sub>
                          </m:sSub>
                        </m:sub>
                        <m:sup/>
                        <m:e>
                          <m:d>
                            <m:d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ctrlPr>
                            </m:dPr>
                            <m:e>
                              <m:f>
                                <m:f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fPr>
                                <m:num>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acc>
                                        <m:accPr>
                                          <m:chr m:val="̂"/>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acc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𝒓</m:t>
                                          </m:r>
                                        </m:e>
                                      </m:acc>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𝒋𝒊</m:t>
                                      </m:r>
                                    </m:sub>
                                  </m:sSub>
                                </m:num>
                                <m:den>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𝒇</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𝒅𝒊𝒔𝒕𝒂𝒏𝒄𝒆</m:t>
                                      </m:r>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dPr>
                                        <m:e>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up>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up>
                                              </m:sSubSup>
                                            </m:sup>
                                          </m:sSubSup>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m:t>
                                          </m:r>
                                          <m:sSubSup>
                                            <m:sSubSup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Sup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𝒔</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b>
                                            <m:sup>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𝒕</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𝒊</m:t>
                                                  </m:r>
                                                </m:sub>
                                              </m:sSub>
                                            </m:sup>
                                          </m:sSubSup>
                                        </m:e>
                                      </m:d>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 </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𝒗</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mn-ea"/>
                                              <a:cs typeface="+mn-cs"/>
                                            </a:rPr>
                                            <m:t>|</m:t>
                                          </m:r>
                                        </m:e>
                                        <m:sub>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𝒒</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mn-ea"/>
                                                  <a:cs typeface="+mn-cs"/>
                                                </a:rPr>
                                                <m:t>𝒋</m:t>
                                              </m:r>
                                            </m:sub>
                                          </m:sSub>
                                        </m:sub>
                                      </m:sSub>
                                    </m:e>
                                  </m:d>
                                </m:den>
                              </m:f>
                            </m:e>
                          </m:d>
                        </m:e>
                      </m:nary>
                    </m:oMath>
                  </m:oMathPara>
                </a14:m>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B72F0892-819F-B94D-B4D1-D26BCA9AAE87}"/>
                  </a:ext>
                </a:extLst>
              </p:cNvPr>
              <p:cNvSpPr txBox="1">
                <a:spLocks noRot="1" noChangeAspect="1" noMove="1" noResize="1" noEditPoints="1" noAdjustHandles="1" noChangeArrowheads="1" noChangeShapeType="1" noTextEdit="1"/>
              </p:cNvSpPr>
              <p:nvPr/>
            </p:nvSpPr>
            <p:spPr>
              <a:xfrm>
                <a:off x="3998631" y="1121525"/>
                <a:ext cx="4535537" cy="984052"/>
              </a:xfrm>
              <a:prstGeom prst="rect">
                <a:avLst/>
              </a:prstGeom>
              <a:blipFill>
                <a:blip r:embed="rId2"/>
                <a:stretch>
                  <a:fillRect l="-838" t="-92308" b="-115385"/>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7DB03928-EBCC-FBA2-4139-45199C922898}"/>
              </a:ext>
            </a:extLst>
          </p:cNvPr>
          <p:cNvSpPr txBox="1"/>
          <p:nvPr/>
        </p:nvSpPr>
        <p:spPr>
          <a:xfrm>
            <a:off x="197483" y="2325053"/>
            <a:ext cx="11869027" cy="283154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When we calculate forces in an assembly we can break down the radial and tangential components and renormalize them as if from an ideal v=0 point potential at distance r’.</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How cool is that.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We still need to then do the gravity equation like calculation with acceleration on the radial part.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And what on the tangential part?  Enough to shift phase or cause the transition to the next level?</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How does that go down with participating reaction inputs?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228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F81FDB4-73FA-704E-B5D5-4BC4D73D775C}"/>
                  </a:ext>
                </a:extLst>
              </p:cNvPr>
              <p:cNvSpPr txBox="1"/>
              <p:nvPr/>
            </p:nvSpPr>
            <p:spPr>
              <a:xfrm>
                <a:off x="1632821" y="1673262"/>
                <a:ext cx="90575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𝑃𝑜𝑖𝑛𝑡</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𝑡𝑖𝑚𝑒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𝑚𝑜𝑑𝑒𝑙𝑠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𝑒𝑚𝑖𝑠𝑠𝑖𝑜𝑛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𝑜𝑓</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𝑠𝑖𝑛𝑔𝑙𝑒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𝐷𝑖𝑟𝑎𝑐</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𝑠𝑝h𝑒𝑟𝑒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𝑖𝑛𝑡𝑒𝑟𝑠𝑒𝑐𝑡𝑖𝑛𝑔</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𝑟𝑒𝑐𝑒𝑖𝑣𝑒𝑟</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4" name="TextBox 3">
                <a:extLst>
                  <a:ext uri="{FF2B5EF4-FFF2-40B4-BE49-F238E27FC236}">
                    <a16:creationId xmlns:a16="http://schemas.microsoft.com/office/drawing/2014/main" id="{1F81FDB4-73FA-704E-B5D5-4BC4D73D775C}"/>
                  </a:ext>
                </a:extLst>
              </p:cNvPr>
              <p:cNvSpPr txBox="1">
                <a:spLocks noRot="1" noChangeAspect="1" noMove="1" noResize="1" noEditPoints="1" noAdjustHandles="1" noChangeArrowheads="1" noChangeShapeType="1" noTextEdit="1"/>
              </p:cNvSpPr>
              <p:nvPr/>
            </p:nvSpPr>
            <p:spPr>
              <a:xfrm>
                <a:off x="1632821" y="1673262"/>
                <a:ext cx="9057544" cy="369332"/>
              </a:xfrm>
              <a:prstGeom prst="rect">
                <a:avLst/>
              </a:prstGeom>
              <a:blipFill>
                <a:blip r:embed="rId3"/>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929D634-5CDA-EA4B-AB4E-C56D95412138}"/>
                  </a:ext>
                </a:extLst>
              </p:cNvPr>
              <p:cNvSpPr txBox="1"/>
              <p:nvPr/>
            </p:nvSpPr>
            <p:spPr>
              <a:xfrm>
                <a:off x="4297490" y="1164055"/>
                <a:ext cx="34141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𝑊𝑒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𝑛𝑒𝑒𝑑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𝑡𝑜</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𝑢𝑠𝑒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𝑝𝑜𝑖𝑛𝑡𝑠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𝑡𝑖𝑚𝑒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4929D634-5CDA-EA4B-AB4E-C56D95412138}"/>
                  </a:ext>
                </a:extLst>
              </p:cNvPr>
              <p:cNvSpPr txBox="1">
                <a:spLocks noRot="1" noChangeAspect="1" noMove="1" noResize="1" noEditPoints="1" noAdjustHandles="1" noChangeArrowheads="1" noChangeShapeType="1" noTextEdit="1"/>
              </p:cNvSpPr>
              <p:nvPr/>
            </p:nvSpPr>
            <p:spPr>
              <a:xfrm>
                <a:off x="4297490" y="1164055"/>
                <a:ext cx="3414140" cy="369332"/>
              </a:xfrm>
              <a:prstGeom prst="rect">
                <a:avLst/>
              </a:prstGeom>
              <a:blipFill>
                <a:blip r:embed="rId4"/>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13AC0F3-5C34-2644-BA21-4D36596EADBA}"/>
                  </a:ext>
                </a:extLst>
              </p:cNvPr>
              <p:cNvSpPr txBox="1"/>
              <p:nvPr/>
            </p:nvSpPr>
            <p:spPr>
              <a:xfrm>
                <a:off x="2387554" y="206755"/>
                <a:ext cx="7851829" cy="3693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𝑴𝒂𝒕𝒉𝒆𝒎𝒂𝒕𝒊𝒄𝒔</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𝒇𝒐𝒓</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𝑰𝒅𝒆𝒂𝒍</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𝑨𝒔𝒔𝒆𝒎𝒃𝒍𝒊𝒆𝒔</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𝑫𝒆𝒍𝒂𝒚</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𝑫𝒊𝒇𝒇𝒆𝒓𝒆𝒏𝒕𝒊𝒂𝒍</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𝑬𝒒𝒖𝒂𝒕𝒊𝒐𝒏𝒔</m:t>
                      </m:r>
                    </m:oMath>
                  </m:oMathPara>
                </a14:m>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14" name="TextBox 13">
                <a:extLst>
                  <a:ext uri="{FF2B5EF4-FFF2-40B4-BE49-F238E27FC236}">
                    <a16:creationId xmlns:a16="http://schemas.microsoft.com/office/drawing/2014/main" id="{E13AC0F3-5C34-2644-BA21-4D36596EADBA}"/>
                  </a:ext>
                </a:extLst>
              </p:cNvPr>
              <p:cNvSpPr txBox="1">
                <a:spLocks noRot="1" noChangeAspect="1" noMove="1" noResize="1" noEditPoints="1" noAdjustHandles="1" noChangeArrowheads="1" noChangeShapeType="1" noTextEdit="1"/>
              </p:cNvSpPr>
              <p:nvPr/>
            </p:nvSpPr>
            <p:spPr>
              <a:xfrm>
                <a:off x="2387554" y="206755"/>
                <a:ext cx="7851829" cy="369332"/>
              </a:xfrm>
              <a:prstGeom prst="rect">
                <a:avLst/>
              </a:prstGeom>
              <a:blipFill>
                <a:blip r:embed="rId5"/>
                <a:stretch>
                  <a:fillRect b="-1333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3FFFA43-DC28-C04C-8FF8-72E533B0CF14}"/>
                  </a:ext>
                </a:extLst>
              </p:cNvPr>
              <p:cNvSpPr txBox="1"/>
              <p:nvPr/>
            </p:nvSpPr>
            <p:spPr>
              <a:xfrm>
                <a:off x="1100666" y="2306326"/>
                <a:ext cx="9990668" cy="636585"/>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ctrlPr>
                        </m:fPr>
                        <m:num>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𝒅</m:t>
                          </m:r>
                          <m:sSub>
                            <m:sSub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𝒑</m:t>
                              </m:r>
                            </m:e>
                            <m:sub>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𝒎</m:t>
                              </m:r>
                            </m:sub>
                          </m:sSub>
                        </m:num>
                        <m:den>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𝒅𝒕</m:t>
                          </m:r>
                        </m:den>
                      </m:f>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𝒇</m:t>
                      </m:r>
                      <m:d>
                        <m:dPr>
                          <m:begChr m:val="["/>
                          <m:endChr m:val="]"/>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ctrlPr>
                        </m:dPr>
                        <m:e>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𝒑</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𝒎</m:t>
                              </m:r>
                            </m:sub>
                          </m:sSub>
                          <m:d>
                            <m:dPr>
                              <m:ctrlP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ctrlPr>
                            </m:dPr>
                            <m:e>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𝒕</m:t>
                              </m:r>
                            </m:e>
                          </m:d>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𝒑</m:t>
                              </m:r>
                            </m:e>
                            <m:sub>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𝒏</m:t>
                              </m:r>
                            </m:sub>
                          </m:sSub>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𝒕</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𝝉</m:t>
                              </m:r>
                            </m:e>
                          </m:d>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𝒕</m:t>
                          </m:r>
                        </m:e>
                      </m:d>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20" name="TextBox 19">
                <a:extLst>
                  <a:ext uri="{FF2B5EF4-FFF2-40B4-BE49-F238E27FC236}">
                    <a16:creationId xmlns:a16="http://schemas.microsoft.com/office/drawing/2014/main" id="{B3FFFA43-DC28-C04C-8FF8-72E533B0CF14}"/>
                  </a:ext>
                </a:extLst>
              </p:cNvPr>
              <p:cNvSpPr txBox="1">
                <a:spLocks noRot="1" noChangeAspect="1" noMove="1" noResize="1" noEditPoints="1" noAdjustHandles="1" noChangeArrowheads="1" noChangeShapeType="1" noTextEdit="1"/>
              </p:cNvSpPr>
              <p:nvPr/>
            </p:nvSpPr>
            <p:spPr>
              <a:xfrm>
                <a:off x="1100666" y="2306326"/>
                <a:ext cx="9990668" cy="636585"/>
              </a:xfrm>
              <a:prstGeom prst="rect">
                <a:avLst/>
              </a:prstGeom>
              <a:blipFill>
                <a:blip r:embed="rId6"/>
                <a:stretch>
                  <a:fillRect b="-1961"/>
                </a:stretch>
              </a:blipFill>
              <a:ln>
                <a:noFill/>
              </a:ln>
            </p:spPr>
            <p:txBody>
              <a:bodyPr/>
              <a:lstStyle/>
              <a:p>
                <a:r>
                  <a:rPr lang="en-US">
                    <a:noFill/>
                  </a:rPr>
                  <a:t> </a:t>
                </a:r>
              </a:p>
            </p:txBody>
          </p:sp>
        </mc:Fallback>
      </mc:AlternateContent>
      <p:sp>
        <p:nvSpPr>
          <p:cNvPr id="12" name="Footer Placeholder 3">
            <a:extLst>
              <a:ext uri="{FF2B5EF4-FFF2-40B4-BE49-F238E27FC236}">
                <a16:creationId xmlns:a16="http://schemas.microsoft.com/office/drawing/2014/main" id="{3FE47B7C-83DE-044A-9B6F-FADD034B7A1A}"/>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1183AE5-E01B-4836-6191-9F547AB919AB}"/>
                  </a:ext>
                </a:extLst>
              </p:cNvPr>
              <p:cNvSpPr txBox="1"/>
              <p:nvPr/>
            </p:nvSpPr>
            <p:spPr>
              <a:xfrm>
                <a:off x="1465399" y="7093816"/>
                <a:ext cx="922496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𝐷𝑜</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𝑤𝑒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𝑛𝑒𝑒𝑑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𝑝𝑎𝑡h</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𝑖𝑛𝑡𝑒𝑔𝑟𝑎𝑙𝑠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𝑖𝑛</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𝑠𝑜𝑚𝑒</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𝑠𝑝𝑒𝑐𝑖𝑎𝑙</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𝑐𝑎𝑠𝑒𝑠</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oMath>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𝑃𝑎𝑡h</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𝑖𝑛𝑡𝑒𝑔𝑟𝑎𝑙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𝑤𝑜𝑢𝑙𝑑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𝑏𝑒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𝑓𝑜𝑟</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𝑐𝑎𝑠𝑒𝑠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𝑤h𝑒𝑟𝑒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𝑒𝑚𝑖𝑡𝑡𝑒𝑟</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𝑣𝑒𝑙𝑜𝑐𝑖𝑡𝑦</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𝑓𝑜𝑟</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𝑝𝑜𝑟𝑡𝑖𝑜𝑛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𝑜𝑓</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𝑝𝑎𝑡h</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oMath>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𝑠𝑢𝑐h</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𝑡h𝑎𝑡</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𝑐𝑜𝑛𝑡𝑖𝑛𝑢𝑜𝑢𝑠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𝑠𝑝h𝑒𝑟𝑒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𝑠𝑡𝑟𝑒𝑎𝑚𝑠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𝑎𝑟𝑒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𝑟𝑒𝑐𝑒𝑖𝑣𝑒𝑑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𝐼𝑓</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𝑝𝑜𝑠𝑠𝑖𝑏𝑙𝑒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𝐼</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𝑤𝑜𝑢𝑙𝑑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𝑙𝑖𝑘𝑒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𝑡𝑜</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𝑜𝑛𝑙𝑦</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𝑢𝑠𝑒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oMath>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𝑝𝑜𝑖𝑛𝑡𝑠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𝑡𝑖𝑚𝑒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𝑏𝑒𝑐𝑎𝑢𝑠𝑒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𝑖𝑡</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𝑚𝑒𝑠h𝑒𝑠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𝑤𝑒𝑙𝑙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𝑤𝑖𝑡h</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𝑖𝑑𝑒𝑎</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𝑜𝑓</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𝑖𝑛𝑑𝑖𝑣𝑖𝑑𝑢𝑎𝑙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𝐷𝑖𝑟𝑎𝑐</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𝑠𝑝h𝑒𝑟𝑒𝑠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3" name="TextBox 2">
                <a:extLst>
                  <a:ext uri="{FF2B5EF4-FFF2-40B4-BE49-F238E27FC236}">
                    <a16:creationId xmlns:a16="http://schemas.microsoft.com/office/drawing/2014/main" id="{71183AE5-E01B-4836-6191-9F547AB919AB}"/>
                  </a:ext>
                </a:extLst>
              </p:cNvPr>
              <p:cNvSpPr txBox="1">
                <a:spLocks noRot="1" noChangeAspect="1" noMove="1" noResize="1" noEditPoints="1" noAdjustHandles="1" noChangeArrowheads="1" noChangeShapeType="1" noTextEdit="1"/>
              </p:cNvSpPr>
              <p:nvPr/>
            </p:nvSpPr>
            <p:spPr>
              <a:xfrm>
                <a:off x="1465399" y="7093816"/>
                <a:ext cx="9224966" cy="1200329"/>
              </a:xfrm>
              <a:prstGeom prst="rect">
                <a:avLst/>
              </a:prstGeom>
              <a:blipFill>
                <a:blip r:embed="rId7"/>
                <a:stretch>
                  <a:fillRect r="-1513" b="-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75E18BF-F8C9-DE5E-353B-D0BB3DBA7FDF}"/>
                  </a:ext>
                </a:extLst>
              </p:cNvPr>
              <p:cNvSpPr txBox="1"/>
              <p:nvPr/>
            </p:nvSpPr>
            <p:spPr>
              <a:xfrm>
                <a:off x="1632821" y="3143401"/>
                <a:ext cx="8535157" cy="90133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𝐼𝑛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𝑡h𝑖𝑠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𝑔𝑒𝑛𝑒𝑟𝑎𝑙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𝑡𝑒𝑚𝑝𝑙𝑎𝑡𝑒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𝑐h𝑎𝑛𝑔𝑒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𝑟𝑒𝑐𝑒𝑖𝑣𝑒𝑟𝑠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𝑝𝑎𝑡h</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d>
                        <m:dPr>
                          <m:ctrlP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ctrlPr>
                        </m:dPr>
                        <m:e>
                          <m:f>
                            <m:f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fPr>
                            <m:num>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𝒅</m:t>
                              </m:r>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𝒑</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𝒎</m:t>
                                  </m:r>
                                </m:sub>
                              </m:sSub>
                            </m:num>
                            <m:den>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𝒅𝒕</m:t>
                              </m:r>
                            </m:den>
                          </m:f>
                        </m:e>
                      </m:d>
                    </m:oMath>
                  </m:oMathPara>
                </a14:m>
                <a:b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rPr>
                </a:br>
                <a14:m>
                  <m:oMath xmlns:m="http://schemas.openxmlformats.org/officeDocument/2006/math">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𝑑𝑒𝑝𝑒𝑛𝑑𝑠</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𝑜𝑛</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𝑖𝑡𝑠</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𝑐𝑢𝑟𝑟𝑒𝑛𝑡</m:t>
                    </m:r>
                    <m:r>
                      <a:rPr kumimoji="0" lang="en-US" sz="18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 </m:t>
                    </m:r>
                  </m:oMath>
                </a14:m>
                <a: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rPr>
                  <a:t>path,  </a:t>
                </a:r>
                <a14:m>
                  <m:oMath xmlns:m="http://schemas.openxmlformats.org/officeDocument/2006/math">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𝒑</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𝒎</m:t>
                        </m:r>
                      </m:sub>
                    </m:sSub>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𝒕</m:t>
                        </m:r>
                      </m:e>
                    </m:d>
                  </m:oMath>
                </a14:m>
                <a: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rPr>
                  <a:t> and  its partner’s delayed past path,  </a:t>
                </a:r>
                <a14:m>
                  <m:oMath xmlns:m="http://schemas.openxmlformats.org/officeDocument/2006/math">
                    <m:sSub>
                      <m:sSub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sSub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𝒑</m:t>
                        </m:r>
                      </m:e>
                      <m:sub>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𝒏</m:t>
                        </m:r>
                      </m:sub>
                    </m:sSub>
                    <m:d>
                      <m:dPr>
                        <m:ctrlP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ctrlPr>
                      </m:dPr>
                      <m:e>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𝒕</m:t>
                        </m:r>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m:t>
                        </m:r>
                        <m:r>
                          <a:rPr kumimoji="0" lang="en-US" sz="1800" b="1"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mn-cs"/>
                          </a:rPr>
                          <m:t>𝝉</m:t>
                        </m:r>
                      </m:e>
                    </m:d>
                  </m:oMath>
                </a14:m>
                <a:r>
                  <a:rPr kumimoji="0" lang="en-US" sz="1800" b="0" i="0"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rPr>
                  <a:t> </a:t>
                </a:r>
                <a14:m>
                  <m:oMath xmlns:m="http://schemas.openxmlformats.org/officeDocument/2006/math">
                    <m:r>
                      <a:rPr kumimoji="0" lang="en-US" sz="1800" b="0" i="0"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oMath>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275E18BF-F8C9-DE5E-353B-D0BB3DBA7FDF}"/>
                  </a:ext>
                </a:extLst>
              </p:cNvPr>
              <p:cNvSpPr txBox="1">
                <a:spLocks noRot="1" noChangeAspect="1" noMove="1" noResize="1" noEditPoints="1" noAdjustHandles="1" noChangeArrowheads="1" noChangeShapeType="1" noTextEdit="1"/>
              </p:cNvSpPr>
              <p:nvPr/>
            </p:nvSpPr>
            <p:spPr>
              <a:xfrm>
                <a:off x="1632821" y="3143401"/>
                <a:ext cx="8535157" cy="901337"/>
              </a:xfrm>
              <a:prstGeom prst="rect">
                <a:avLst/>
              </a:prstGeom>
              <a:blipFill>
                <a:blip r:embed="rId8"/>
                <a:stretch>
                  <a:fillRect l="-149" b="-97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3389A9A-27B7-71EF-EE59-2453B49D9B3A}"/>
                  </a:ext>
                </a:extLst>
              </p:cNvPr>
              <p:cNvSpPr txBox="1"/>
              <p:nvPr/>
            </p:nvSpPr>
            <p:spPr>
              <a:xfrm>
                <a:off x="17033" y="4556698"/>
                <a:ext cx="1209574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𝑇h𝑒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𝑒𝑞𝑢𝑎𝑡𝑖𝑜𝑛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𝑚𝑢𝑠𝑡</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𝑏𝑒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𝑔𝑒𝑛𝑒𝑟𝑎𝑙𝑖𝑧𝑒𝑑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𝑓𝑜𝑟</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𝑒𝑎𝑐h</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𝑎𝑠𝑠𝑒𝑚𝑏𝑙𝑦</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𝑐𝑜𝑛𝑠𝑖𝑑𝑒𝑟𝑖𝑛𝑔</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𝑎𝑙𝑙</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𝑝𝑜𝑖𝑛𝑡</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𝑝𝑜𝑡𝑒𝑛𝑡𝑖𝑎𝑙𝑠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𝑎𝑛𝑑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𝑡h𝑒𝑖𝑟</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𝑠𝑡𝑎𝑏𝑙𝑒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𝑚𝑜𝑡𝑖𝑜𝑛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oMath>
                    <m:oMath xmlns:m="http://schemas.openxmlformats.org/officeDocument/2006/math">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𝐹𝑜𝑟</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𝑠𝑝𝑒𝑒𝑑𝑠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𝑎𝑏𝑜𝑣𝑒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𝑓𝑖𝑒𝑙𝑑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𝑠𝑝𝑒𝑒𝑑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𝑚𝑢𝑙𝑡𝑖𝑝𝑙𝑒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𝑐𝑟𝑜𝑠𝑠𝑖𝑛𝑔𝑠</m:t>
                      </m:r>
                      <m:r>
                        <a:rPr kumimoji="0" lang="en-US" sz="1800" b="0" i="0"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𝑜𝑓</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𝑠𝑝h𝑒𝑟𝑒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𝑠𝑡𝑟𝑒𝑎𝑚</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𝑚𝑢𝑠𝑡</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𝑏𝑒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𝑖𝑛𝑐𝑙𝑢𝑑𝑒𝑑</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𝑖𝑛</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𝑡h𝑒</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 </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𝑒𝑞𝑢𝑎𝑡𝑖𝑜𝑛𝑠</m:t>
                      </m:r>
                      <m:r>
                        <a:rPr kumimoji="0" lang="en-US" sz="18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mn-cs"/>
                        </a:rPr>
                        <m:t>.</m:t>
                      </m:r>
                    </m:oMath>
                  </m:oMathPara>
                </a14:m>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xmlns="">
          <p:sp>
            <p:nvSpPr>
              <p:cNvPr id="7" name="TextBox 6">
                <a:extLst>
                  <a:ext uri="{FF2B5EF4-FFF2-40B4-BE49-F238E27FC236}">
                    <a16:creationId xmlns:a16="http://schemas.microsoft.com/office/drawing/2014/main" id="{73389A9A-27B7-71EF-EE59-2453B49D9B3A}"/>
                  </a:ext>
                </a:extLst>
              </p:cNvPr>
              <p:cNvSpPr txBox="1">
                <a:spLocks noRot="1" noChangeAspect="1" noMove="1" noResize="1" noEditPoints="1" noAdjustHandles="1" noChangeArrowheads="1" noChangeShapeType="1" noTextEdit="1"/>
              </p:cNvSpPr>
              <p:nvPr/>
            </p:nvSpPr>
            <p:spPr>
              <a:xfrm>
                <a:off x="17033" y="4556698"/>
                <a:ext cx="12095747" cy="646331"/>
              </a:xfrm>
              <a:prstGeom prst="rect">
                <a:avLst/>
              </a:prstGeom>
              <a:blipFill>
                <a:blip r:embed="rId9"/>
                <a:stretch>
                  <a:fillRect b="-9615"/>
                </a:stretch>
              </a:blipFill>
            </p:spPr>
            <p:txBody>
              <a:bodyPr/>
              <a:lstStyle/>
              <a:p>
                <a:r>
                  <a:rPr lang="en-US">
                    <a:noFill/>
                  </a:rPr>
                  <a:t> </a:t>
                </a:r>
              </a:p>
            </p:txBody>
          </p:sp>
        </mc:Fallback>
      </mc:AlternateContent>
    </p:spTree>
    <p:extLst>
      <p:ext uri="{BB962C8B-B14F-4D97-AF65-F5344CB8AC3E}">
        <p14:creationId xmlns:p14="http://schemas.microsoft.com/office/powerpoint/2010/main" val="3863754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50F6F5-E25B-614C-ABFE-A82B9DFB89ED}"/>
              </a:ext>
            </a:extLst>
          </p:cNvPr>
          <p:cNvSpPr txBox="1"/>
          <p:nvPr/>
        </p:nvSpPr>
        <p:spPr>
          <a:xfrm>
            <a:off x="147348" y="0"/>
            <a:ext cx="11653108" cy="68634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Me: In the academic field of mathematics or geometry which subfields describe a dynamic system where point-like objects influence each other after a delay that depends on distance?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CoPilot: The study of dynamic systems where point-like objects influence each other after a delay that depends on distance falls under several subfields of mathematics and physics. Here are a few key areas: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Dynamical Systems Theory</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This field studies the behavior of systems that evolve over time according to a set of fixed rules. These systems can be deterministic or stochastic, and they may be discrete-time or continuous-time.</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Delay Differential Equations (DDE)</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These are equations that relate a function with its derivatives and delayed values. DDEs are used to describe various time-delay systems. For example, a nonlinear delay system can be described by the delay differential equation (DDE):</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Control Theory</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a:t>
            </a:r>
            <a:b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b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The behavior of dynamical systems with inputs, and how their behavior is modified by feedback. Time delays may come from the retardation of either a controller or an actuator in mechanical systems.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These fields provide the mathematical and conceptual tools to describe and analyze this kind of dynamic system. They involve a mix of differential equations, dynamical systems theory, and often numerical methods for simulation and analysis. It’s a rich and active area of research with applications in science and engineering.</a:t>
            </a:r>
          </a:p>
        </p:txBody>
      </p:sp>
      <p:pic>
        <p:nvPicPr>
          <p:cNvPr id="3" name="Picture 2">
            <a:extLst>
              <a:ext uri="{FF2B5EF4-FFF2-40B4-BE49-F238E27FC236}">
                <a16:creationId xmlns:a16="http://schemas.microsoft.com/office/drawing/2014/main" id="{373F9A9C-7525-A034-FD23-DA4B61AEDBC1}"/>
              </a:ext>
            </a:extLst>
          </p:cNvPr>
          <p:cNvPicPr>
            <a:picLocks noChangeAspect="1"/>
          </p:cNvPicPr>
          <p:nvPr/>
        </p:nvPicPr>
        <p:blipFill>
          <a:blip r:embed="rId3"/>
          <a:stretch>
            <a:fillRect/>
          </a:stretch>
        </p:blipFill>
        <p:spPr>
          <a:xfrm>
            <a:off x="1985488" y="4009156"/>
            <a:ext cx="2794000" cy="584200"/>
          </a:xfrm>
          <a:prstGeom prst="rect">
            <a:avLst/>
          </a:prstGeom>
        </p:spPr>
      </p:pic>
    </p:spTree>
    <p:extLst>
      <p:ext uri="{BB962C8B-B14F-4D97-AF65-F5344CB8AC3E}">
        <p14:creationId xmlns:p14="http://schemas.microsoft.com/office/powerpoint/2010/main" val="3076040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C7920-1A01-C8F2-6366-D66FEA493DCC}"/>
              </a:ext>
            </a:extLst>
          </p:cNvPr>
          <p:cNvSpPr>
            <a:spLocks noGrp="1"/>
          </p:cNvSpPr>
          <p:nvPr>
            <p:ph type="title"/>
          </p:nvPr>
        </p:nvSpPr>
        <p:spPr>
          <a:xfrm>
            <a:off x="555447" y="-161132"/>
            <a:ext cx="10515600" cy="1325563"/>
          </a:xfrm>
        </p:spPr>
        <p:txBody>
          <a:bodyPr/>
          <a:lstStyle/>
          <a:p>
            <a:r>
              <a:rPr lang="en-US" b="1" dirty="0" err="1">
                <a:solidFill>
                  <a:schemeClr val="bg1"/>
                </a:solidFill>
                <a:latin typeface="Helvetica Neue" panose="02000503000000020004" pitchFamily="2" charset="0"/>
                <a:ea typeface="Helvetica Neue" panose="02000503000000020004" pitchFamily="2" charset="0"/>
                <a:cs typeface="Helvetica Neue" panose="02000503000000020004" pitchFamily="2" charset="0"/>
              </a:rPr>
              <a:t>Div</a:t>
            </a: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Grad, Curl</a:t>
            </a:r>
          </a:p>
        </p:txBody>
      </p:sp>
      <p:sp>
        <p:nvSpPr>
          <p:cNvPr id="3" name="Footer Placeholder 2">
            <a:extLst>
              <a:ext uri="{FF2B5EF4-FFF2-40B4-BE49-F238E27FC236}">
                <a16:creationId xmlns:a16="http://schemas.microsoft.com/office/drawing/2014/main" id="{2073F75F-0818-8743-B463-7BD40A03D78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J Mark Morris - Model of Nature - April 2019</a:t>
            </a:r>
          </a:p>
        </p:txBody>
      </p:sp>
      <p:graphicFrame>
        <p:nvGraphicFramePr>
          <p:cNvPr id="4" name="Table 3">
            <a:extLst>
              <a:ext uri="{FF2B5EF4-FFF2-40B4-BE49-F238E27FC236}">
                <a16:creationId xmlns:a16="http://schemas.microsoft.com/office/drawing/2014/main" id="{DAF750AD-C3CA-79AD-D774-CA8EDF059CE2}"/>
              </a:ext>
            </a:extLst>
          </p:cNvPr>
          <p:cNvGraphicFramePr>
            <a:graphicFrameLocks noGrp="1"/>
          </p:cNvGraphicFramePr>
          <p:nvPr>
            <p:extLst>
              <p:ext uri="{D42A27DB-BD31-4B8C-83A1-F6EECF244321}">
                <p14:modId xmlns:p14="http://schemas.microsoft.com/office/powerpoint/2010/main" val="2350737138"/>
              </p:ext>
            </p:extLst>
          </p:nvPr>
        </p:nvGraphicFramePr>
        <p:xfrm>
          <a:off x="555447" y="1072316"/>
          <a:ext cx="10670240" cy="2123440"/>
        </p:xfrm>
        <a:graphic>
          <a:graphicData uri="http://schemas.openxmlformats.org/drawingml/2006/table">
            <a:tbl>
              <a:tblPr firstRow="1" bandRow="1">
                <a:tableStyleId>{5C22544A-7EE6-4342-B048-85BDC9FD1C3A}</a:tableStyleId>
              </a:tblPr>
              <a:tblGrid>
                <a:gridCol w="2134048">
                  <a:extLst>
                    <a:ext uri="{9D8B030D-6E8A-4147-A177-3AD203B41FA5}">
                      <a16:colId xmlns:a16="http://schemas.microsoft.com/office/drawing/2014/main" val="320158884"/>
                    </a:ext>
                  </a:extLst>
                </a:gridCol>
                <a:gridCol w="2134048">
                  <a:extLst>
                    <a:ext uri="{9D8B030D-6E8A-4147-A177-3AD203B41FA5}">
                      <a16:colId xmlns:a16="http://schemas.microsoft.com/office/drawing/2014/main" val="3341854088"/>
                    </a:ext>
                  </a:extLst>
                </a:gridCol>
                <a:gridCol w="2134048">
                  <a:extLst>
                    <a:ext uri="{9D8B030D-6E8A-4147-A177-3AD203B41FA5}">
                      <a16:colId xmlns:a16="http://schemas.microsoft.com/office/drawing/2014/main" val="3474771529"/>
                    </a:ext>
                  </a:extLst>
                </a:gridCol>
                <a:gridCol w="2134048">
                  <a:extLst>
                    <a:ext uri="{9D8B030D-6E8A-4147-A177-3AD203B41FA5}">
                      <a16:colId xmlns:a16="http://schemas.microsoft.com/office/drawing/2014/main" val="2979340661"/>
                    </a:ext>
                  </a:extLst>
                </a:gridCol>
                <a:gridCol w="2134048">
                  <a:extLst>
                    <a:ext uri="{9D8B030D-6E8A-4147-A177-3AD203B41FA5}">
                      <a16:colId xmlns:a16="http://schemas.microsoft.com/office/drawing/2014/main" val="2171292876"/>
                    </a:ext>
                  </a:extLst>
                </a:gridCol>
              </a:tblGrid>
              <a:tr h="370840">
                <a:tc>
                  <a:txBody>
                    <a:bodyPr/>
                    <a:lstStyle/>
                    <a:p>
                      <a:pPr algn="ctr"/>
                      <a:r>
                        <a:rPr lang="en-US" dirty="0">
                          <a:solidFill>
                            <a:schemeClr val="bg1"/>
                          </a:solidFill>
                        </a:rPr>
                        <a:t>Operator</a:t>
                      </a:r>
                    </a:p>
                  </a:txBody>
                  <a:tcPr>
                    <a:noFill/>
                  </a:tcPr>
                </a:tc>
                <a:tc>
                  <a:txBody>
                    <a:bodyPr/>
                    <a:lstStyle/>
                    <a:p>
                      <a:pPr algn="ctr"/>
                      <a:r>
                        <a:rPr lang="en-US" dirty="0">
                          <a:solidFill>
                            <a:schemeClr val="bg1"/>
                          </a:solidFill>
                        </a:rPr>
                        <a:t>Symbol</a:t>
                      </a:r>
                    </a:p>
                  </a:txBody>
                  <a:tcPr>
                    <a:noFill/>
                  </a:tcPr>
                </a:tc>
                <a:tc>
                  <a:txBody>
                    <a:bodyPr/>
                    <a:lstStyle/>
                    <a:p>
                      <a:pPr algn="ctr"/>
                      <a:r>
                        <a:rPr lang="en-US" dirty="0">
                          <a:solidFill>
                            <a:schemeClr val="bg1"/>
                          </a:solidFill>
                        </a:rPr>
                        <a:t>Input</a:t>
                      </a:r>
                    </a:p>
                  </a:txBody>
                  <a:tcPr>
                    <a:noFill/>
                  </a:tcPr>
                </a:tc>
                <a:tc>
                  <a:txBody>
                    <a:bodyPr/>
                    <a:lstStyle/>
                    <a:p>
                      <a:pPr algn="ctr"/>
                      <a:r>
                        <a:rPr lang="en-US" dirty="0">
                          <a:solidFill>
                            <a:schemeClr val="bg1"/>
                          </a:solidFill>
                        </a:rPr>
                        <a:t>Output</a:t>
                      </a:r>
                    </a:p>
                  </a:txBody>
                  <a:tcPr>
                    <a:noFill/>
                  </a:tcPr>
                </a:tc>
                <a:tc>
                  <a:txBody>
                    <a:bodyPr/>
                    <a:lstStyle/>
                    <a:p>
                      <a:pPr algn="ctr"/>
                      <a:r>
                        <a:rPr lang="en-US" dirty="0">
                          <a:solidFill>
                            <a:schemeClr val="bg1"/>
                          </a:solidFill>
                        </a:rPr>
                        <a:t>Meaning</a:t>
                      </a:r>
                    </a:p>
                  </a:txBody>
                  <a:tcPr>
                    <a:noFill/>
                  </a:tcPr>
                </a:tc>
                <a:extLst>
                  <a:ext uri="{0D108BD9-81ED-4DB2-BD59-A6C34878D82A}">
                    <a16:rowId xmlns:a16="http://schemas.microsoft.com/office/drawing/2014/main" val="3093646485"/>
                  </a:ext>
                </a:extLst>
              </a:tr>
              <a:tr h="370840">
                <a:tc>
                  <a:txBody>
                    <a:bodyPr/>
                    <a:lstStyle/>
                    <a:p>
                      <a:pPr algn="ctr"/>
                      <a:r>
                        <a:rPr lang="en-US" dirty="0" err="1">
                          <a:solidFill>
                            <a:schemeClr val="bg1"/>
                          </a:solidFill>
                        </a:rPr>
                        <a:t>Div</a:t>
                      </a:r>
                      <a:endParaRPr lang="en-US" dirty="0">
                        <a:solidFill>
                          <a:schemeClr val="bg1"/>
                        </a:solidFill>
                      </a:endParaRPr>
                    </a:p>
                  </a:txBody>
                  <a:tcPr>
                    <a:noFill/>
                  </a:tcPr>
                </a:tc>
                <a:tc>
                  <a:txBody>
                    <a:bodyPr/>
                    <a:lstStyle/>
                    <a:p>
                      <a:pPr algn="ctr"/>
                      <a:r>
                        <a:rPr lang="en-US" dirty="0">
                          <a:solidFill>
                            <a:schemeClr val="bg1"/>
                          </a:solidFill>
                        </a:rPr>
                        <a:t>∇·</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vector field</a:t>
                      </a:r>
                    </a:p>
                    <a:p>
                      <a:pPr algn="ctr"/>
                      <a:endParaRPr lang="en-US" dirty="0">
                        <a:solidFill>
                          <a:schemeClr val="bg1"/>
                        </a:solidFill>
                      </a:endParaRPr>
                    </a:p>
                  </a:txBody>
                  <a:tcPr>
                    <a:noFill/>
                  </a:tcPr>
                </a:tc>
                <a:tc>
                  <a:txBody>
                    <a:bodyPr/>
                    <a:lstStyle/>
                    <a:p>
                      <a:pPr algn="ctr"/>
                      <a:r>
                        <a:rPr lang="en-US" dirty="0">
                          <a:solidFill>
                            <a:schemeClr val="bg1"/>
                          </a:solidFill>
                        </a:rPr>
                        <a:t>scalar</a:t>
                      </a:r>
                    </a:p>
                  </a:txBody>
                  <a:tcPr>
                    <a:noFill/>
                  </a:tcPr>
                </a:tc>
                <a:tc>
                  <a:txBody>
                    <a:bodyPr/>
                    <a:lstStyle/>
                    <a:p>
                      <a:pPr algn="ctr"/>
                      <a:r>
                        <a:rPr lang="en-US" dirty="0">
                          <a:solidFill>
                            <a:schemeClr val="bg1"/>
                          </a:solidFill>
                        </a:rPr>
                        <a:t>compression, decompression</a:t>
                      </a:r>
                    </a:p>
                  </a:txBody>
                  <a:tcPr>
                    <a:noFill/>
                  </a:tcPr>
                </a:tc>
                <a:extLst>
                  <a:ext uri="{0D108BD9-81ED-4DB2-BD59-A6C34878D82A}">
                    <a16:rowId xmlns:a16="http://schemas.microsoft.com/office/drawing/2014/main" val="2004355383"/>
                  </a:ext>
                </a:extLst>
              </a:tr>
              <a:tr h="370840">
                <a:tc>
                  <a:txBody>
                    <a:bodyPr/>
                    <a:lstStyle/>
                    <a:p>
                      <a:pPr algn="ctr"/>
                      <a:r>
                        <a:rPr lang="en-US" dirty="0">
                          <a:solidFill>
                            <a:schemeClr val="bg1"/>
                          </a:solidFill>
                        </a:rPr>
                        <a:t>Grad</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a:t>
                      </a:r>
                    </a:p>
                  </a:txBody>
                  <a:tcPr>
                    <a:noFill/>
                  </a:tcPr>
                </a:tc>
                <a:tc>
                  <a:txBody>
                    <a:bodyPr/>
                    <a:lstStyle/>
                    <a:p>
                      <a:pPr algn="ctr"/>
                      <a:r>
                        <a:rPr lang="en-US" dirty="0">
                          <a:solidFill>
                            <a:schemeClr val="bg1"/>
                          </a:solidFill>
                        </a:rPr>
                        <a:t>scalar</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vector field</a:t>
                      </a:r>
                    </a:p>
                  </a:txBody>
                  <a:tcPr>
                    <a:noFill/>
                  </a:tcPr>
                </a:tc>
                <a:tc>
                  <a:txBody>
                    <a:bodyPr/>
                    <a:lstStyle/>
                    <a:p>
                      <a:pPr algn="ctr"/>
                      <a:endParaRPr lang="en-US">
                        <a:solidFill>
                          <a:schemeClr val="bg1"/>
                        </a:solidFill>
                      </a:endParaRPr>
                    </a:p>
                  </a:txBody>
                  <a:tcPr>
                    <a:noFill/>
                  </a:tcPr>
                </a:tc>
                <a:extLst>
                  <a:ext uri="{0D108BD9-81ED-4DB2-BD59-A6C34878D82A}">
                    <a16:rowId xmlns:a16="http://schemas.microsoft.com/office/drawing/2014/main" val="2346783232"/>
                  </a:ext>
                </a:extLst>
              </a:tr>
              <a:tr h="370840">
                <a:tc>
                  <a:txBody>
                    <a:bodyPr/>
                    <a:lstStyle/>
                    <a:p>
                      <a:pPr algn="ctr"/>
                      <a:r>
                        <a:rPr lang="en-US" dirty="0">
                          <a:solidFill>
                            <a:schemeClr val="bg1"/>
                          </a:solidFill>
                        </a:rPr>
                        <a:t>Curl</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∇x</a:t>
                      </a:r>
                    </a:p>
                  </a:txBody>
                  <a:tcPr>
                    <a:noFill/>
                  </a:tcPr>
                </a:tc>
                <a:tc>
                  <a:txBody>
                    <a:bodyPr/>
                    <a:lstStyle/>
                    <a:p>
                      <a:pPr algn="ctr"/>
                      <a:r>
                        <a:rPr lang="en-US" dirty="0">
                          <a:solidFill>
                            <a:schemeClr val="bg1"/>
                          </a:solidFill>
                        </a:rPr>
                        <a:t>vector field</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vector field</a:t>
                      </a:r>
                    </a:p>
                  </a:txBody>
                  <a:tcPr>
                    <a:noFill/>
                  </a:tcPr>
                </a:tc>
                <a:tc>
                  <a:txBody>
                    <a:bodyPr/>
                    <a:lstStyle/>
                    <a:p>
                      <a:pPr algn="ctr"/>
                      <a:r>
                        <a:rPr lang="en-US" dirty="0">
                          <a:solidFill>
                            <a:schemeClr val="bg1"/>
                          </a:solidFill>
                        </a:rPr>
                        <a:t>rotation</a:t>
                      </a:r>
                    </a:p>
                  </a:txBody>
                  <a:tcPr>
                    <a:noFill/>
                  </a:tcPr>
                </a:tc>
                <a:extLst>
                  <a:ext uri="{0D108BD9-81ED-4DB2-BD59-A6C34878D82A}">
                    <a16:rowId xmlns:a16="http://schemas.microsoft.com/office/drawing/2014/main" val="1837915688"/>
                  </a:ext>
                </a:extLst>
              </a:tr>
              <a:tr h="370840">
                <a:tc>
                  <a:txBody>
                    <a:bodyPr/>
                    <a:lstStyle/>
                    <a:p>
                      <a:pPr algn="ctr"/>
                      <a:r>
                        <a:rPr lang="en-US" dirty="0">
                          <a:solidFill>
                            <a:schemeClr val="bg1"/>
                          </a:solidFill>
                        </a:rPr>
                        <a:t>Laplacian</a:t>
                      </a:r>
                    </a:p>
                  </a:txBody>
                  <a:tcP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a:t>
                      </a:r>
                      <a:r>
                        <a:rPr lang="en-US" baseline="30000" dirty="0">
                          <a:solidFill>
                            <a:schemeClr val="bg1"/>
                          </a:solidFill>
                        </a:rPr>
                        <a:t>2</a:t>
                      </a:r>
                      <a:endParaRPr lang="en-US" dirty="0">
                        <a:solidFill>
                          <a:schemeClr val="bg1"/>
                        </a:solidFill>
                      </a:endParaRPr>
                    </a:p>
                  </a:txBody>
                  <a:tcPr>
                    <a:noFill/>
                  </a:tcPr>
                </a:tc>
                <a:tc>
                  <a:txBody>
                    <a:bodyPr/>
                    <a:lstStyle/>
                    <a:p>
                      <a:pPr algn="ctr"/>
                      <a:r>
                        <a:rPr lang="en-US" dirty="0">
                          <a:solidFill>
                            <a:schemeClr val="bg1"/>
                          </a:solidFill>
                        </a:rPr>
                        <a:t>scalar</a:t>
                      </a:r>
                    </a:p>
                  </a:txBody>
                  <a:tcPr>
                    <a:noFill/>
                  </a:tcPr>
                </a:tc>
                <a:tc>
                  <a:txBody>
                    <a:bodyPr/>
                    <a:lstStyle/>
                    <a:p>
                      <a:pPr algn="ctr"/>
                      <a:r>
                        <a:rPr lang="en-US" dirty="0">
                          <a:solidFill>
                            <a:schemeClr val="bg1"/>
                          </a:solidFill>
                        </a:rPr>
                        <a:t>scalar</a:t>
                      </a:r>
                    </a:p>
                  </a:txBody>
                  <a:tcPr>
                    <a:noFill/>
                  </a:tcPr>
                </a:tc>
                <a:tc>
                  <a:txBody>
                    <a:bodyPr/>
                    <a:lstStyle/>
                    <a:p>
                      <a:pPr algn="ctr"/>
                      <a:endParaRPr lang="en-US" dirty="0">
                        <a:solidFill>
                          <a:schemeClr val="bg1"/>
                        </a:solidFill>
                      </a:endParaRPr>
                    </a:p>
                  </a:txBody>
                  <a:tcPr>
                    <a:noFill/>
                  </a:tcPr>
                </a:tc>
                <a:extLst>
                  <a:ext uri="{0D108BD9-81ED-4DB2-BD59-A6C34878D82A}">
                    <a16:rowId xmlns:a16="http://schemas.microsoft.com/office/drawing/2014/main" val="1672869361"/>
                  </a:ext>
                </a:extLst>
              </a:tr>
            </a:tbl>
          </a:graphicData>
        </a:graphic>
      </p:graphicFrame>
      <p:sp>
        <p:nvSpPr>
          <p:cNvPr id="6" name="TextBox 5">
            <a:extLst>
              <a:ext uri="{FF2B5EF4-FFF2-40B4-BE49-F238E27FC236}">
                <a16:creationId xmlns:a16="http://schemas.microsoft.com/office/drawing/2014/main" id="{C8EA7D51-BA44-41CE-23CA-2BF0A953DF86}"/>
              </a:ext>
            </a:extLst>
          </p:cNvPr>
          <p:cNvSpPr txBox="1"/>
          <p:nvPr/>
        </p:nvSpPr>
        <p:spPr>
          <a:xfrm>
            <a:off x="418300" y="3413541"/>
            <a:ext cx="11506221"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 del or </a:t>
            </a:r>
            <a:r>
              <a:rPr kumimoji="0" lang="en-US" sz="1800" b="0" i="0" u="none" strike="noStrike" kern="1200" cap="none" spc="0" normalizeH="0" baseline="0" noProof="0" dirty="0" err="1">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nabla</a:t>
            </a: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 partial derivatives in each dimension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 = dot product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x = cross product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vector function is also known as a vector field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Geometrically, the dot product is the Euclidean magnitudes of the two vectors and the cosine of the angle between them, i.e., a b cos theta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magnitude of the cross product of two vectors is a b sin theta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curl of gradient =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rPr>
              <a:t>divergence of curl = 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671995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341D6644-80D8-D9C0-2B95-4AC672039C6A}"/>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7886388C-DF81-86C6-FB29-62C9A2FFCB96}"/>
              </a:ext>
            </a:extLst>
          </p:cNvPr>
          <p:cNvSpPr txBox="1">
            <a:spLocks/>
          </p:cNvSpPr>
          <p:nvPr/>
        </p:nvSpPr>
        <p:spPr>
          <a:xfrm>
            <a:off x="10988044" y="6319991"/>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19" name="Rectangle 18">
            <a:extLst>
              <a:ext uri="{FF2B5EF4-FFF2-40B4-BE49-F238E27FC236}">
                <a16:creationId xmlns:a16="http://schemas.microsoft.com/office/drawing/2014/main" id="{B6623AAD-0470-CD24-F32D-F636B6619A04}"/>
              </a:ext>
            </a:extLst>
          </p:cNvPr>
          <p:cNvSpPr/>
          <p:nvPr/>
        </p:nvSpPr>
        <p:spPr>
          <a:xfrm>
            <a:off x="-57314" y="172884"/>
            <a:ext cx="12538241" cy="523220"/>
          </a:xfrm>
          <a:prstGeom prst="rect">
            <a:avLst/>
          </a:prstGeom>
          <a:noFill/>
          <a:ln>
            <a:noFill/>
          </a:ln>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Fields Don’t Interact in Point Potential Theory. </a:t>
            </a: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Fields Do Interact in QFT.</a:t>
            </a:r>
            <a:r>
              <a:rPr kumimoji="0" lang="en-US" sz="2800"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2" name="TextBox 1">
            <a:extLst>
              <a:ext uri="{FF2B5EF4-FFF2-40B4-BE49-F238E27FC236}">
                <a16:creationId xmlns:a16="http://schemas.microsoft.com/office/drawing/2014/main" id="{AA886D59-9EC6-388A-0155-AA63EC6CFE5D}"/>
              </a:ext>
            </a:extLst>
          </p:cNvPr>
          <p:cNvSpPr txBox="1"/>
          <p:nvPr/>
        </p:nvSpPr>
        <p:spPr>
          <a:xfrm>
            <a:off x="156519" y="850481"/>
            <a:ext cx="11909992" cy="5632311"/>
          </a:xfrm>
          <a:prstGeom prst="rect">
            <a:avLst/>
          </a:prstGeom>
          <a:noFill/>
        </p:spPr>
        <p:txBody>
          <a:bodyPr wrap="square" rtlCol="0">
            <a:spAutoFit/>
          </a:bodyPr>
          <a:lstStyle/>
          <a:p>
            <a:pPr marL="457200" indent="-457200">
              <a:buFont typeface="Arial" panose="020B0604020202020204" pitchFamily="34" charset="0"/>
              <a:buChar char="•"/>
              <a:defRPr/>
            </a:pPr>
            <a:r>
              <a:rPr lang="en-US"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In point potential theory all action occurs at the intersection of a point potential and a potential sphere.</a:t>
            </a:r>
          </a:p>
          <a:p>
            <a:pPr marL="914400" lvl="1" indent="-457200">
              <a:buFont typeface="Arial" panose="020B0604020202020204" pitchFamily="34" charset="0"/>
              <a:buChar char="•"/>
              <a:defRPr/>
            </a:pPr>
            <a:r>
              <a:rPr lang="en-US"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All point potentials follow a straightforward path evolution equation at time t = </a:t>
            </a:r>
            <a:r>
              <a:rPr lang="en-US" b="1" dirty="0" err="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t</a:t>
            </a:r>
            <a:r>
              <a:rPr lang="en-US" b="1" baseline="-25000" dirty="0" err="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now</a:t>
            </a:r>
            <a:r>
              <a:rPr lang="en-US"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t>
            </a:r>
          </a:p>
          <a:p>
            <a:pPr marL="914400" lvl="1" indent="-457200">
              <a:buFont typeface="Arial" panose="020B0604020202020204" pitchFamily="34" charset="0"/>
              <a:buChar char="•"/>
              <a:defRPr/>
            </a:pPr>
            <a:r>
              <a:rPr kumimoji="0" lang="en-US" b="1" i="0" u="none" strike="noStrike" kern="1200" cap="none" spc="0" normalizeH="0" baseline="0" noProof="0" dirty="0">
                <a:ln>
                  <a:noFill/>
                </a:ln>
                <a:solidFill>
                  <a:srgbClr val="FFC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geometry is Euclidean 3D and 1D linear forward moving time, leading to parsimony.</a:t>
            </a:r>
            <a:r>
              <a:rPr lang="en-US"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 </a:t>
            </a:r>
          </a:p>
          <a:p>
            <a:pPr marL="914400" lvl="1" indent="-457200">
              <a:buFont typeface="Arial" panose="020B0604020202020204" pitchFamily="34" charset="0"/>
              <a:buChar char="•"/>
              <a:defRPr/>
            </a:pPr>
            <a:endParaRPr lang="en-US"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In </a:t>
            </a: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quantum field theory (QFT), interactions between fields are fundamental to describing particle physics and the behavior of subatomic particles. In QFT, particles are viewed as excitations in underlying quantum fields. These fields can interact with each other, leading to various phenomena observed in particle physics:</a:t>
            </a:r>
          </a:p>
          <a:p>
            <a:pPr marL="914400" lvl="1" indent="-457200">
              <a:buFont typeface="Arial" panose="020B0604020202020204" pitchFamily="34" charset="0"/>
              <a:buChar char="•"/>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Fields interact by exchanging virtual particles, which are temporary disturbances in the quantum fields. </a:t>
            </a:r>
          </a:p>
          <a:p>
            <a:pPr marL="1371600" lvl="2" indent="-457200">
              <a:buFont typeface="Arial" panose="020B0604020202020204" pitchFamily="34" charset="0"/>
              <a:buChar char="•"/>
              <a:defRPr/>
            </a:pPr>
            <a:r>
              <a:rPr lang="en-US"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I</a:t>
            </a: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n quantum electrodynamics (QED), charged particles interact by exchanging virtual photons.</a:t>
            </a:r>
          </a:p>
          <a:p>
            <a:pPr marL="914400" lvl="1" indent="-457200">
              <a:buFont typeface="Arial" panose="020B0604020202020204" pitchFamily="34" charset="0"/>
              <a:buChar char="•"/>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Field interactions can result in the creation or annihilation of particles, which is crucial for describing high-energy collisions and other particle physics phenomena.</a:t>
            </a:r>
          </a:p>
          <a:p>
            <a:pPr marL="914400" lvl="1" indent="-457200">
              <a:buFont typeface="Arial" panose="020B0604020202020204" pitchFamily="34" charset="0"/>
              <a:buChar char="•"/>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Different quantum fields can couple to each other, leading to more complex interactions. </a:t>
            </a:r>
          </a:p>
          <a:p>
            <a:pPr marL="1371600" lvl="2" indent="-457200">
              <a:buFont typeface="Arial" panose="020B0604020202020204" pitchFamily="34" charset="0"/>
              <a:buChar char="•"/>
              <a:defRPr/>
            </a:pPr>
            <a:r>
              <a:rPr lang="en-US" dirty="0">
                <a:solidFill>
                  <a:prstClr val="white"/>
                </a:solidFill>
                <a:latin typeface="Helvetica Neue" panose="02000503000000020004" pitchFamily="2" charset="0"/>
                <a:ea typeface="Helvetica Neue" panose="02000503000000020004" pitchFamily="2" charset="0"/>
                <a:cs typeface="Helvetica Neue" panose="02000503000000020004" pitchFamily="2" charset="0"/>
              </a:rPr>
              <a:t>T</a:t>
            </a: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he Higgs field interacts with other particle fields, giving rise to the masses of fundamental particles.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Interactions in QFT are typically described mathematically using:</a:t>
            </a:r>
          </a:p>
          <a:p>
            <a:pPr marL="914400" lvl="1" indent="-457200">
              <a:buFont typeface="Arial" panose="020B0604020202020204" pitchFamily="34" charset="0"/>
              <a:buChar char="•"/>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a:t>
            </a:r>
            <a:r>
              <a:rPr kumimoji="0" lang="en-US" b="0" i="0" u="none" strike="noStrike" kern="1200" cap="none" spc="0" normalizeH="0" baseline="0" noProof="0" dirty="0" err="1">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Lagrangian</a:t>
            </a: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 density of an interacting field theory includes terms that couple different fields.</a:t>
            </a:r>
          </a:p>
          <a:p>
            <a:pPr marL="914400" lvl="1" indent="-457200">
              <a:buFont typeface="Arial" panose="020B0604020202020204" pitchFamily="34" charset="0"/>
              <a:buChar char="•"/>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Complex interactions are often approximated using perturbative expansions, treating interactions as small perturbations to free field theories.</a:t>
            </a:r>
          </a:p>
          <a:p>
            <a:pPr marL="914400" lvl="1" indent="-457200">
              <a:buFont typeface="Arial" panose="020B0604020202020204" pitchFamily="34" charset="0"/>
              <a:buChar char="•"/>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Feynman diagrams are help calculate interaction probabilities and scattering amplitudes.</a:t>
            </a:r>
          </a:p>
          <a:p>
            <a:pPr marL="914400" lvl="1" indent="-457200">
              <a:buFont typeface="Arial" panose="020B0604020202020204" pitchFamily="34" charset="0"/>
              <a:buChar char="•"/>
              <a:defRPr/>
            </a:pPr>
            <a:r>
              <a:rPr kumimoji="0" lang="en-US"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calculated S-matrix contains information about scattering processes.</a:t>
            </a:r>
          </a:p>
        </p:txBody>
      </p:sp>
      <p:sp>
        <p:nvSpPr>
          <p:cNvPr id="4" name="TextBox 3">
            <a:extLst>
              <a:ext uri="{FF2B5EF4-FFF2-40B4-BE49-F238E27FC236}">
                <a16:creationId xmlns:a16="http://schemas.microsoft.com/office/drawing/2014/main" id="{693A69F3-20B7-5F97-5DCD-3BAC05CF854D}"/>
              </a:ext>
            </a:extLst>
          </p:cNvPr>
          <p:cNvSpPr txBox="1"/>
          <p:nvPr/>
        </p:nvSpPr>
        <p:spPr>
          <a:xfrm>
            <a:off x="10869245" y="6546616"/>
            <a:ext cx="1379860" cy="276999"/>
          </a:xfrm>
          <a:prstGeom prst="rect">
            <a:avLst/>
          </a:prstGeom>
          <a:noFill/>
        </p:spPr>
        <p:txBody>
          <a:bodyPr wrap="square">
            <a:spAutoFit/>
          </a:bodyPr>
          <a:lstStyle/>
          <a:p>
            <a:pPr algn="ctr">
              <a:defRPr/>
            </a:pPr>
            <a:r>
              <a:rPr kumimoji="0" lang="en-US" sz="1200" b="0" i="1" u="none" strike="noStrike" kern="1200" cap="none" spc="0" normalizeH="0" baseline="0" noProof="0" dirty="0">
                <a:ln>
                  <a:noFill/>
                </a:ln>
                <a:solidFill>
                  <a:schemeClr val="bg1">
                    <a:lumMod val="50000"/>
                  </a:scheme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h/t CoPilot</a:t>
            </a:r>
          </a:p>
        </p:txBody>
      </p:sp>
    </p:spTree>
    <p:extLst>
      <p:ext uri="{BB962C8B-B14F-4D97-AF65-F5344CB8AC3E}">
        <p14:creationId xmlns:p14="http://schemas.microsoft.com/office/powerpoint/2010/main" val="1965304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7767</TotalTime>
  <Words>4011</Words>
  <Application>Microsoft Macintosh PowerPoint</Application>
  <PresentationFormat>Widescreen</PresentationFormat>
  <Paragraphs>259</Paragraphs>
  <Slides>16</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Calibri</vt:lpstr>
      <vt:lpstr>Calibri Light</vt:lpstr>
      <vt:lpstr>Cambria Math</vt:lpstr>
      <vt:lpstr>Helvetica Neue</vt:lpstr>
      <vt:lpstr>Helvetica Neue Condensed Black</vt:lpstr>
      <vt:lpstr>Office Theme</vt:lpstr>
      <vt:lpstr>2_Office Theme</vt:lpstr>
      <vt:lpstr>PowerPoint Presentation</vt:lpstr>
      <vt:lpstr>A Single Equation Describes Nature and the Universe</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Div, Grad, Curl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369</cp:revision>
  <cp:lastPrinted>2022-09-07T12:10:19Z</cp:lastPrinted>
  <dcterms:created xsi:type="dcterms:W3CDTF">2022-02-05T18:41:13Z</dcterms:created>
  <dcterms:modified xsi:type="dcterms:W3CDTF">2026-03-15T02:09:56Z</dcterms:modified>
</cp:coreProperties>
</file>