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808" r:id="rId2"/>
    <p:sldId id="625" r:id="rId3"/>
    <p:sldId id="813" r:id="rId4"/>
    <p:sldId id="814" r:id="rId5"/>
    <p:sldId id="815" r:id="rId6"/>
    <p:sldId id="816" r:id="rId7"/>
    <p:sldId id="817" r:id="rId8"/>
    <p:sldId id="819" r:id="rId9"/>
    <p:sldId id="7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FF8AD8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27"/>
    <p:restoredTop sz="96313"/>
  </p:normalViewPr>
  <p:slideViewPr>
    <p:cSldViewPr snapToGrid="0" snapToObjects="1">
      <p:cViewPr varScale="1">
        <p:scale>
          <a:sx n="152" d="100"/>
          <a:sy n="152" d="100"/>
        </p:scale>
        <p:origin x="67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A440-6FDE-5E41-BA40-A3C0E02BAB9F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398A3-AF21-A342-B6A8-6929C36B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1180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1760577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3141970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1931161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700879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548580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3731194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2425927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120691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A9-9E4D-1B45-B3D5-CA37152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A437C-6978-EF42-B683-287B0BCC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A90-6A63-474E-AE00-47FF46C1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6875-C7C8-8141-9B12-8759961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87BB-FFE9-4F4E-9787-48475824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7A8A-0845-AD47-90A8-18776E7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297E-D5E0-6745-91A9-52029EE3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309D-6084-C74B-884A-230D6CFA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DDE-4455-5940-ADF4-C579F78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4C6E-4C44-A641-B028-04035B81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E37A-D8BF-D64A-8216-7ABA6C58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06964-1DAB-F14D-8D48-DEDCBF19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9634-1414-224C-B6B9-3F0D98D6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57A06-C042-C649-8823-09CD9E49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2125-B186-EA4F-87C1-D421E15E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32C6-604D-5245-AF13-1117649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D95E-DB7F-8741-AA7E-E9FECF96C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F041-1EE3-1840-9A00-F30BE067B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B0A9-40F9-DB4D-BDC1-10F58E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749E-ED3B-3643-8D22-DA2D88F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83C9-D2C9-CE44-B58B-ACE8898D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45A6-44FE-3848-88E8-5552DDC4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C7C1F-E9B4-4E48-ACFC-DC65D661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FE821-3558-AB4C-948F-6C6990D1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4632-D045-5A44-BB14-E3D5737A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5E05E-D502-E74B-91AF-BB193D32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287E-662E-F54F-9162-3F755DD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B5FE-E651-1B4F-8E93-FD794E8A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AD7C8-64AF-684B-98B6-D6D6714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C2D9-851F-F94A-83EC-CAB5799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F4D5-34AD-5A43-853F-006AD601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0C52-9CA4-AB4F-957A-7AAD4E2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1625-0652-EB4F-8E04-6C901136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92881-FA37-DD45-860A-EA6B38C3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2DC6-52F3-8040-8665-17D02339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EF52-EC52-6C42-81BD-397B5CE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0788-9DB9-6745-96CF-A7A18622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299F-D119-D449-BD57-1CE490C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BB0FB-61B4-DC45-9D1E-63F99E6A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7701-43E6-A248-ABD9-E1C49D62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954C-9DFB-264A-A710-D12E71DB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8770-2503-8F4E-AFC6-6941CC59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F65-890A-1A47-B873-C56E2C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5E9CE-538C-294A-A814-80A50548B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7C9D-B309-CF46-90D8-B95DD6C2D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CA5D-F1C9-604D-83E1-2E60AE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BE16D-FB3D-AA41-B06D-73A0FCDF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9839D-F44C-4B47-9DFE-D15485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DFD1-B5EF-8445-B336-8B2E596E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6E7C-46AA-9440-8F1F-C1AD5E8E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2E40-F60A-404F-9DB3-AC863A0E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BF7D-A207-9243-8354-69D0FCF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599E-5B81-624B-A60C-D22AF58B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C040-CE85-6347-809B-760E676EF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D51C-FD4B-524F-8054-62599D261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F735-3187-1341-AE2A-1316DEDA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8F3D-1D9D-EF45-9F9C-E682715F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F4D4-99B2-C24C-BCFF-B3AB3F9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4B483-3334-204F-ADDF-2B9BC6A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CC4CF-F19A-1848-8467-61B9807A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8E2E-CB42-B64B-A2AC-B8713F8A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30BA-8B9E-D54E-AA7F-1B6C247B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4F2-31DD-3F49-A362-988026E5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1" y="1111880"/>
            <a:ext cx="12191999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8AD8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Fundamental Entities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Architrinos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3662425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Architrinos Are Fundamental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a16:creationId xmlns:a16="http://schemas.microsoft.com/office/drawing/2014/main"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a16:creationId xmlns:a16="http://schemas.microsoft.com/office/drawing/2014/main"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6FB04752-7BBD-3648-BE22-8D983884B555}"/>
              </a:ext>
            </a:extLst>
          </p:cNvPr>
          <p:cNvSpPr/>
          <p:nvPr/>
        </p:nvSpPr>
        <p:spPr>
          <a:xfrm>
            <a:off x="796924" y="1372790"/>
            <a:ext cx="106442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time, Euclidean space, causal wake emitters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9322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Polarity Unit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a16:creationId xmlns:a16="http://schemas.microsoft.com/office/drawing/2014/main"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a16:creationId xmlns:a16="http://schemas.microsoft.com/office/drawing/2014/main"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6FB04752-7BBD-3648-BE22-8D983884B555}"/>
              </a:ext>
            </a:extLst>
          </p:cNvPr>
          <p:cNvSpPr/>
          <p:nvPr/>
        </p:nvSpPr>
        <p:spPr>
          <a:xfrm>
            <a:off x="3138118" y="1372790"/>
            <a:ext cx="59618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Equal and opposite polarity units: |q| = |e|/6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3552449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Architrinos Persist Through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a16:creationId xmlns:a16="http://schemas.microsoft.com/office/drawing/2014/main"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a16:creationId xmlns:a16="http://schemas.microsoft.com/office/drawing/2014/main"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6FB04752-7BBD-3648-BE22-8D983884B555}"/>
              </a:ext>
            </a:extLst>
          </p:cNvPr>
          <p:cNvSpPr/>
          <p:nvPr/>
        </p:nvSpPr>
        <p:spPr>
          <a:xfrm>
            <a:off x="3623032" y="1372790"/>
            <a:ext cx="4992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known origin or ending within the model.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2D7FC57-9DDC-21AE-9917-F7C426BFA952}"/>
              </a:ext>
            </a:extLst>
          </p:cNvPr>
          <p:cNvSpPr/>
          <p:nvPr/>
        </p:nvSpPr>
        <p:spPr>
          <a:xfrm>
            <a:off x="2733526" y="6157794"/>
            <a:ext cx="6771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Pair production and annihilation are assembly-level descriptions</a:t>
            </a:r>
            <a:endParaRPr kumimoji="0" lang="en-US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768824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Wakes Change Motion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a16:creationId xmlns:a16="http://schemas.microsoft.com/office/drawing/2014/main"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a16:creationId xmlns:a16="http://schemas.microsoft.com/office/drawing/2014/main"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6FB04752-7BBD-3648-BE22-8D983884B555}"/>
              </a:ext>
            </a:extLst>
          </p:cNvPr>
          <p:cNvSpPr/>
          <p:nvPr/>
        </p:nvSpPr>
        <p:spPr>
          <a:xfrm>
            <a:off x="408092" y="1372790"/>
            <a:ext cx="1142197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Architrinos continuously emit potential-bearing causal wakes.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Energy tracks the motion changes caused by received wakes.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101681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22" y="324846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Large-Scale Observables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a16:creationId xmlns:a16="http://schemas.microsoft.com/office/drawing/2014/main"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a16:creationId xmlns:a16="http://schemas.microsoft.com/office/drawing/2014/main"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6FB04752-7BBD-3648-BE22-8D983884B555}"/>
              </a:ext>
            </a:extLst>
          </p:cNvPr>
          <p:cNvSpPr/>
          <p:nvPr/>
        </p:nvSpPr>
        <p:spPr>
          <a:xfrm>
            <a:off x="4376901" y="1372790"/>
            <a:ext cx="348435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Population density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 response density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388368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 Strength = 1/r² × W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a16:creationId xmlns:a16="http://schemas.microsoft.com/office/drawing/2014/main"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a16:creationId xmlns:a16="http://schemas.microsoft.com/office/drawing/2014/main"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07D154-8E32-2921-5D12-B70ACEF66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151803"/>
              </p:ext>
            </p:extLst>
          </p:nvPr>
        </p:nvGraphicFramePr>
        <p:xfrm>
          <a:off x="3139979" y="1174108"/>
          <a:ext cx="591204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684">
                  <a:extLst>
                    <a:ext uri="{9D8B030D-6E8A-4147-A177-3AD203B41FA5}">
                      <a16:colId xmlns:a16="http://schemas.microsoft.com/office/drawing/2014/main" val="458263716"/>
                    </a:ext>
                  </a:extLst>
                </a:gridCol>
                <a:gridCol w="1861757">
                  <a:extLst>
                    <a:ext uri="{9D8B030D-6E8A-4147-A177-3AD203B41FA5}">
                      <a16:colId xmlns:a16="http://schemas.microsoft.com/office/drawing/2014/main" val="25512428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60022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Case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Branch factor W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At r &gt; 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843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source at rest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W = 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|q|/(4πr</a:t>
                      </a:r>
                      <a:r>
                        <a:rPr lang="en-US" b="1" baseline="30000" dirty="0">
                          <a:solidFill>
                            <a:srgbClr val="FFC000"/>
                          </a:solidFill>
                        </a:rPr>
                        <a:t>2</a:t>
                      </a:r>
                      <a:r>
                        <a:rPr lang="en-US" b="1" baseline="0" dirty="0">
                          <a:solidFill>
                            <a:srgbClr val="FFC000"/>
                          </a:solidFill>
                        </a:rPr>
                        <a:t>)</a:t>
                      </a:r>
                      <a:endParaRPr lang="en-US" b="1" baseline="3000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31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moving source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W = |Dₜ/Dₛ|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|q|W/(4πr</a:t>
                      </a:r>
                      <a:r>
                        <a:rPr lang="en-US" b="1" baseline="30000" dirty="0">
                          <a:solidFill>
                            <a:srgbClr val="FFC000"/>
                          </a:solidFill>
                        </a:rPr>
                        <a:t>2</a:t>
                      </a:r>
                      <a:r>
                        <a:rPr lang="en-US" b="1" baseline="0" dirty="0">
                          <a:solidFill>
                            <a:srgbClr val="FFC000"/>
                          </a:solidFill>
                        </a:rPr>
                        <a:t>)</a:t>
                      </a:r>
                      <a:endParaRPr lang="en-US" b="1" baseline="3000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571088"/>
                  </a:ext>
                </a:extLst>
              </a:tr>
            </a:tbl>
          </a:graphicData>
        </a:graphic>
      </p:graphicFrame>
      <p:sp>
        <p:nvSpPr>
          <p:cNvPr id="3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1590353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Primitive Speed Limit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a16:creationId xmlns:a16="http://schemas.microsoft.com/office/drawing/2014/main"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a16:creationId xmlns:a16="http://schemas.microsoft.com/office/drawing/2014/main"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6FB04752-7BBD-3648-BE22-8D983884B555}"/>
              </a:ext>
            </a:extLst>
          </p:cNvPr>
          <p:cNvSpPr/>
          <p:nvPr/>
        </p:nvSpPr>
        <p:spPr>
          <a:xfrm>
            <a:off x="1054309" y="1050303"/>
            <a:ext cx="100834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Assembly-level speed limits can appear later.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49819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A4115-15F8-921F-AB6F-6FB061DB5DDD}"/>
              </a:ext>
            </a:extLst>
          </p:cNvPr>
          <p:cNvSpPr txBox="1"/>
          <p:nvPr/>
        </p:nvSpPr>
        <p:spPr>
          <a:xfrm>
            <a:off x="512273" y="1228397"/>
            <a:ext cx="11465670" cy="4649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architrino state is (polarity, time, position, velocity): (sigma, t, s, s').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Like polarities repel. Opposite polarities attract.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total polarity inventory of the universe is zero.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architrino carries a path history up to the present time.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Received action comes from causal wake surfaces that intersect the architrino now.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v &lt; c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the architrino remains inside its emitted wake fronts.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v &gt; c</a:t>
            </a:r>
            <a:r>
              <a:rPr lang="en-US" sz="2000" baseline="-25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its path can move outside earlier wake fronts.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Self-action requires same-source wake intersections, not speed alone.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Emitter and receiver velocity set the received action at each wake crossing.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7070F-73F6-024C-A784-AA2DE3B8E022}"/>
              </a:ext>
            </a:extLst>
          </p:cNvPr>
          <p:cNvSpPr txBox="1"/>
          <p:nvPr/>
        </p:nvSpPr>
        <p:spPr>
          <a:xfrm>
            <a:off x="0" y="321582"/>
            <a:ext cx="121596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Point Transceivers Create a Dynamical Geometry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3287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8105</TotalTime>
  <Words>348</Words>
  <Application>Microsoft Macintosh PowerPoint</Application>
  <PresentationFormat>Widescreen</PresentationFormat>
  <Paragraphs>122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Helvetica Neue</vt:lpstr>
      <vt:lpstr>Helvetica Neue Condensed Black</vt:lpstr>
      <vt:lpstr>Office Theme</vt:lpstr>
      <vt:lpstr>PowerPoint Presentation</vt:lpstr>
      <vt:lpstr>Architrinos Are Fundamental</vt:lpstr>
      <vt:lpstr>Architrino Polarity Unit</vt:lpstr>
      <vt:lpstr>Architrinos Persist Through Time</vt:lpstr>
      <vt:lpstr>Causal Wakes Change Motion</vt:lpstr>
      <vt:lpstr>Large-Scale Observables</vt:lpstr>
      <vt:lpstr>Wake Strength = 1/r² × W</vt:lpstr>
      <vt:lpstr>No Primitive Speed Limit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385</cp:revision>
  <cp:lastPrinted>2022-09-07T12:10:19Z</cp:lastPrinted>
  <dcterms:created xsi:type="dcterms:W3CDTF">2022-02-05T18:41:13Z</dcterms:created>
  <dcterms:modified xsi:type="dcterms:W3CDTF">2026-07-03T23:40:26Z</dcterms:modified>
</cp:coreProperties>
</file>