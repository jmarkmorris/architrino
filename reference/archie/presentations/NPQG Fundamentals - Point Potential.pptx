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08" r:id="rId2"/>
    <p:sldId id="625" r:id="rId3"/>
    <p:sldId id="813" r:id="rId4"/>
    <p:sldId id="814" r:id="rId5"/>
    <p:sldId id="815" r:id="rId6"/>
    <p:sldId id="816" r:id="rId7"/>
    <p:sldId id="817" r:id="rId8"/>
    <p:sldId id="819" r:id="rId9"/>
    <p:sldId id="7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363"/>
  </p:normalViewPr>
  <p:slideViewPr>
    <p:cSldViewPr snapToGrid="0" snapToObjects="1">
      <p:cViewPr>
        <p:scale>
          <a:sx n="400" d="100"/>
          <a:sy n="400" d="100"/>
        </p:scale>
        <p:origin x="-18776" y="-115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/>
              <a:t/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180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760577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3141970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931161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700879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54858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3731194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4D731-5435-284A-9C82-866A0CCE75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2425927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ns2:creationId val="12069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1D77ACA5-3691-8FEB-0266-8D47BBCCF4C6}"/>
              </a:ext>
            </a:extLst>
          </p:cNvPr>
          <p:cNvSpPr txBox="1"/>
          <p:nvPr/>
        </p:nvSpPr>
        <p:spPr>
          <a:xfrm>
            <a:off x="1" y="1111880"/>
            <a:ext cx="1219199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8AD8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Fundamental Entities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Architrinos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662425714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Are the Fundamental Entities</a:t>
            </a:r>
          </a:p>
        </p:txBody>
      </p:sp>
      <p:sp>
        <p:nvSpPr>
          <p:cNvPr id="4" name="Footer Placeholder 3">
            <a:extLst>
              <a:ext uri="{FF2B5EF4-FFF2-40B4-BE49-F238E27FC236}">
                <ns2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796924" y="1372790"/>
            <a:ext cx="10644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time, Euclidean space, causal wake emitters</a:t>
            </a: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ns3:creationId val="2629322166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Polarity Unit</a:t>
            </a:r>
          </a:p>
        </p:txBody>
      </p:sp>
      <p:sp>
        <p:nvSpPr>
          <p:cNvPr id="4" name="Footer Placeholder 3">
            <a:extLst>
              <a:ext uri="{FF2B5EF4-FFF2-40B4-BE49-F238E27FC236}">
                <ns2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3138118" y="1372790"/>
            <a:ext cx="59618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Equal and opposite polarity units: |q| = |e|/6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55244944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Persist Through Time</a:t>
            </a:r>
          </a:p>
        </p:txBody>
      </p:sp>
      <p:sp>
        <p:nvSpPr>
          <p:cNvPr id="4" name="Footer Placeholder 3">
            <a:extLst>
              <a:ext uri="{FF2B5EF4-FFF2-40B4-BE49-F238E27FC236}">
                <ns2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3623032" y="1372790"/>
            <a:ext cx="4992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known origin or ending within the model.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ns2:creationId id="{92D7FC57-9DDC-21AE-9917-F7C426BFA952}"/>
              </a:ext>
            </a:extLst>
          </p:cNvPr>
          <p:cNvSpPr/>
          <p:nvPr/>
        </p:nvSpPr>
        <p:spPr>
          <a:xfrm>
            <a:off x="2733526" y="6157794"/>
            <a:ext cx="6771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Pair production and annihilation are assembly-level descriptions</a:t>
            </a:r>
            <a:endParaRPr kumimoji="0" lang="en-US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76882454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Wakes and Energy Bookkeeping</a:t>
            </a:r>
          </a:p>
        </p:txBody>
      </p:sp>
      <p:sp>
        <p:nvSpPr>
          <p:cNvPr id="4" name="Footer Placeholder 3">
            <a:extLst>
              <a:ext uri="{FF2B5EF4-FFF2-40B4-BE49-F238E27FC236}">
                <ns2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408092" y="1372790"/>
            <a:ext cx="1142197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continuously emit potential-bearing causal wakes.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Received wakes change motion; energy is bookkeeping for the resulting dynamics.</a:t>
            </a: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01681073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22" y="324846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Large-Scale Architrino Observables</a:t>
            </a:r>
          </a:p>
        </p:txBody>
      </p:sp>
      <p:sp>
        <p:nvSpPr>
          <p:cNvPr id="4" name="Footer Placeholder 3">
            <a:extLst>
              <a:ext uri="{FF2B5EF4-FFF2-40B4-BE49-F238E27FC236}">
                <ns2:creationId id="{B46B4692-7F2F-6E4B-963F-EC452AE0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783" y="-69358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4376901" y="1372790"/>
            <a:ext cx="34843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population density.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response density.</a:t>
            </a: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88368740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Density Falls Like 1/r²</a:t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ns2:creationId id="{7707D154-8E32-2921-5D12-B70ACEF6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248151803"/>
              </p:ext>
            </p:extLst>
          </p:nvPr>
        </p:nvGraphicFramePr>
        <p:xfrm>
          <a:off x="3139979" y="1174108"/>
          <a:ext cx="591204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684">
                  <a:extLst>
                    <a:ext uri="{9D8B030D-6E8A-4147-A177-3AD203B41FA5}">
                      <ns2:colId val="458263716"/>
                    </a:ext>
                  </a:extLst>
                </a:gridCol>
                <a:gridCol w="1861757">
                  <a:extLst>
                    <a:ext uri="{9D8B030D-6E8A-4147-A177-3AD203B41FA5}">
                      <ns2:colId val="2551242871"/>
                    </a:ext>
                  </a:extLst>
                </a:gridCol>
                <a:gridCol w="1625600">
                  <a:extLst>
                    <a:ext uri="{9D8B030D-6E8A-4147-A177-3AD203B41FA5}">
                      <ns2:colId val="166002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Received wake strength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At emission, r = 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At distance r &gt; 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551843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source at rest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|q|/(4πr</a:t>
                      </a:r>
                      <a:r>
                        <a:rPr lang="en-US" b="1" baseline="30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lang="en-US" b="1" baseline="30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55831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moving source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|q|/v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|q|/(4π v r</a:t>
                      </a:r>
                      <a:r>
                        <a:rPr lang="en-US" b="1" baseline="30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b="1" baseline="0" dirty="0">
                          <a:solidFill>
                            <a:srgbClr val="FFC000"/>
                          </a:solidFill>
                        </a:rPr>
                        <a:t>)</a:t>
                      </a:r>
                      <a:endParaRPr lang="en-US" b="1" baseline="300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3912571088"/>
                  </a:ext>
                </a:extLst>
              </a:tr>
            </a:tbl>
          </a:graphicData>
        </a:graphic>
      </p:graphicFrame>
      <p:sp>
        <p:nvSpPr>
          <p:cNvPr id="3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590353211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83D3BD9-EF0C-1E44-A158-923D0C7D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64" y="279249"/>
            <a:ext cx="6201156" cy="777875"/>
          </a:xfrm>
        </p:spPr>
        <p:txBody>
          <a:bodyPr wrap="none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 Have No Primitive Speed Limit</a:t>
            </a:r>
          </a:p>
        </p:txBody>
      </p:sp>
      <p:grpSp>
        <p:nvGrpSpPr>
          <p:cNvPr id="16" name="Group 15">
            <a:extLst>
              <a:ext uri="{FF2B5EF4-FFF2-40B4-BE49-F238E27FC236}">
                <ns2:creationId id="{61C70F64-6EA5-EA05-3170-97F09DF5B97A}"/>
              </a:ext>
            </a:extLst>
          </p:cNvPr>
          <p:cNvGrpSpPr/>
          <p:nvPr/>
        </p:nvGrpSpPr>
        <p:grpSpPr>
          <a:xfrm>
            <a:off x="2934383" y="2533902"/>
            <a:ext cx="2985584" cy="3278251"/>
            <a:chOff x="2934383" y="2831497"/>
            <a:chExt cx="2985584" cy="3278251"/>
          </a:xfrm>
        </p:grpSpPr>
        <p:grpSp>
          <p:nvGrpSpPr>
            <p:cNvPr id="12" name="Group 11">
              <a:extLst>
                <a:ext uri="{FF2B5EF4-FFF2-40B4-BE49-F238E27FC236}">
                  <ns2:creationId id="{45DB1E4A-5739-CC3A-5405-F5D36EF9F331}"/>
                </a:ext>
              </a:extLst>
            </p:cNvPr>
            <p:cNvGrpSpPr/>
            <p:nvPr/>
          </p:nvGrpSpPr>
          <p:grpSpPr>
            <a:xfrm>
              <a:off x="2934383" y="2831497"/>
              <a:ext cx="2985584" cy="3278251"/>
              <a:chOff x="2934383" y="2831497"/>
              <a:chExt cx="2985584" cy="3278251"/>
            </a:xfrm>
          </p:grpSpPr>
          <p:sp>
            <p:nvSpPr>
              <p:cNvPr id="6" name="Oval 5">
                <a:extLst>
                  <a:ext uri="{FF2B5EF4-FFF2-40B4-BE49-F238E27FC236}">
                    <ns2:creationId id="{38985803-DA6E-8548-BD14-7743C8492FA0}"/>
                  </a:ext>
                </a:extLst>
              </p:cNvPr>
              <p:cNvSpPr/>
              <p:nvPr/>
            </p:nvSpPr>
            <p:spPr>
              <a:xfrm>
                <a:off x="2934383" y="2831497"/>
                <a:ext cx="2985584" cy="2869865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ns2:creationId id="{F2244FC9-B137-EB4E-A718-78190AE91366}"/>
                  </a:ext>
                </a:extLst>
              </p:cNvPr>
              <p:cNvSpPr/>
              <p:nvPr/>
            </p:nvSpPr>
            <p:spPr>
              <a:xfrm>
                <a:off x="3862217" y="5740416"/>
                <a:ext cx="1167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Electrino</a:t>
                </a:r>
              </a:p>
            </p:txBody>
          </p:sp>
        </p:grpSp>
        <p:sp>
          <p:nvSpPr>
            <p:cNvPr id="14" name="Minus 13">
              <a:extLst>
                <a:ext uri="{FF2B5EF4-FFF2-40B4-BE49-F238E27FC236}">
                  <ns2:creationId id="{09ADC253-730C-264F-8155-E49642931ADA}"/>
                </a:ext>
              </a:extLst>
            </p:cNvPr>
            <p:cNvSpPr/>
            <p:nvPr/>
          </p:nvSpPr>
          <p:spPr>
            <a:xfrm>
              <a:off x="3795775" y="3635030"/>
              <a:ext cx="1262798" cy="1262798"/>
            </a:xfrm>
            <a:prstGeom prst="mathMin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ns2:creationId id="{99197762-1F6C-CC2A-552D-52828CD3C5D3}"/>
              </a:ext>
            </a:extLst>
          </p:cNvPr>
          <p:cNvGrpSpPr/>
          <p:nvPr/>
        </p:nvGrpSpPr>
        <p:grpSpPr>
          <a:xfrm>
            <a:off x="6360070" y="2533902"/>
            <a:ext cx="2985583" cy="3278251"/>
            <a:chOff x="6360070" y="2838812"/>
            <a:chExt cx="2985583" cy="3278251"/>
          </a:xfrm>
        </p:grpSpPr>
        <p:grpSp>
          <p:nvGrpSpPr>
            <p:cNvPr id="15" name="Group 14">
              <a:extLst>
                <a:ext uri="{FF2B5EF4-FFF2-40B4-BE49-F238E27FC236}">
                  <ns2:creationId id="{FCBB86F0-7603-7410-74CD-64C8990BBE88}"/>
                </a:ext>
              </a:extLst>
            </p:cNvPr>
            <p:cNvGrpSpPr/>
            <p:nvPr/>
          </p:nvGrpSpPr>
          <p:grpSpPr>
            <a:xfrm>
              <a:off x="6360070" y="2838812"/>
              <a:ext cx="2985583" cy="3278251"/>
              <a:chOff x="6360070" y="2838812"/>
              <a:chExt cx="2985583" cy="3278251"/>
            </a:xfrm>
          </p:grpSpPr>
          <p:sp>
            <p:nvSpPr>
              <p:cNvPr id="5" name="Oval 4">
                <a:extLst>
                  <a:ext uri="{FF2B5EF4-FFF2-40B4-BE49-F238E27FC236}">
                    <ns2:creationId id="{405A7150-905F-F24D-BF97-63899D0E98A3}"/>
                  </a:ext>
                </a:extLst>
              </p:cNvPr>
              <p:cNvSpPr/>
              <p:nvPr/>
            </p:nvSpPr>
            <p:spPr>
              <a:xfrm>
                <a:off x="6360070" y="2838812"/>
                <a:ext cx="2985583" cy="286986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ns2:creationId id="{930F45C2-0FE5-F04C-B568-5F9239FE086D}"/>
                  </a:ext>
                </a:extLst>
              </p:cNvPr>
              <p:cNvSpPr/>
              <p:nvPr/>
            </p:nvSpPr>
            <p:spPr>
              <a:xfrm>
                <a:off x="7268919" y="5747731"/>
                <a:ext cx="11705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Positrino</a:t>
                </a:r>
              </a:p>
            </p:txBody>
          </p:sp>
        </p:grpSp>
        <p:sp>
          <p:nvSpPr>
            <p:cNvPr id="13" name="Plus 12">
              <a:extLst>
                <a:ext uri="{FF2B5EF4-FFF2-40B4-BE49-F238E27FC236}">
                  <ns2:creationId id="{A2F97F06-5AE9-B844-8A28-B02FF48414FF}"/>
                </a:ext>
              </a:extLst>
            </p:cNvPr>
            <p:cNvSpPr/>
            <p:nvPr/>
          </p:nvSpPr>
          <p:spPr>
            <a:xfrm>
              <a:off x="7156370" y="3577253"/>
              <a:ext cx="1392983" cy="1392983"/>
            </a:xfrm>
            <a:prstGeom prst="mathPlus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ns2:creationId id="{6FB04752-7BBD-3648-BE22-8D983884B555}"/>
              </a:ext>
            </a:extLst>
          </p:cNvPr>
          <p:cNvSpPr/>
          <p:nvPr/>
        </p:nvSpPr>
        <p:spPr>
          <a:xfrm>
            <a:off x="1054309" y="1050303"/>
            <a:ext cx="100834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Assembly-level speed limits can appear later.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lang="en-US" sz="28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ns2:creationId id="{330CC259-8ECA-9504-DF84-043CB2F2838C}"/>
              </a:ext>
            </a:extLst>
          </p:cNvPr>
          <p:cNvGrpSpPr/>
          <p:nvPr/>
        </p:nvGrpSpPr>
        <p:grpSpPr>
          <a:xfrm>
            <a:off x="1035610" y="3622462"/>
            <a:ext cx="872354" cy="1101131"/>
            <a:chOff x="1035610" y="4601259"/>
            <a:chExt cx="872354" cy="1101131"/>
          </a:xfrm>
        </p:grpSpPr>
        <p:sp>
          <p:nvSpPr>
            <p:cNvPr id="32" name="Rectangle 31">
              <a:extLst>
                <a:ext uri="{FF2B5EF4-FFF2-40B4-BE49-F238E27FC236}">
                  <ns2:creationId id="{90B4F778-AAF3-8441-A126-EF65BDDCA5EE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ns2:creationId id="{282275DC-2AB9-8842-B077-479BC4E05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ns2:creationId id="{31017E8F-4F31-A516-F0AA-7D268180E96C}"/>
              </a:ext>
            </a:extLst>
          </p:cNvPr>
          <p:cNvGrpSpPr/>
          <p:nvPr/>
        </p:nvGrpSpPr>
        <p:grpSpPr>
          <a:xfrm>
            <a:off x="10311309" y="3224308"/>
            <a:ext cx="1265090" cy="1897439"/>
            <a:chOff x="839242" y="2412063"/>
            <a:chExt cx="1265090" cy="1897439"/>
          </a:xfrm>
        </p:grpSpPr>
        <p:grpSp>
          <p:nvGrpSpPr>
            <p:cNvPr id="20" name="Group 19">
              <a:extLst>
                <a:ext uri="{FF2B5EF4-FFF2-40B4-BE49-F238E27FC236}">
                  <ns2:creationId id="{7B450B60-56DD-E447-B796-B112D6F74ECA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ns2:creationId id="{CE1E4885-6E99-C949-A2D8-5B8C82D595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ns2:creationId id="{371FBCDF-30F2-6749-9C7D-FE0A8D83337B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ns2:creationId id="{BF5810EE-ACDB-6544-9F58-5DEBD8E72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ns2:creationId id="{B3E4CD37-BCF3-72BF-F3B3-DAC45082593B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3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498197456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DDEA4115-15F8-921F-AB6F-6FB061DB5DDD}"/>
              </a:ext>
            </a:extLst>
          </p:cNvPr>
          <p:cNvSpPr txBox="1"/>
          <p:nvPr/>
        </p:nvSpPr>
        <p:spPr>
          <a:xfrm>
            <a:off x="512273" y="1228397"/>
            <a:ext cx="11465670" cy="464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architrino state is (polarity, time, position, velocity): (sigma, t, s, s').</a:t>
            </a:r>
            <a:r>
              <a:rPr kumimoji="0" lang="el-GR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Like polarities repel. Opposite polarities attract.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total polarity inventory of the universe is zero.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architrino carries a path history up to the present time.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Received action comes from causal wake surfaces that intersect the architrino now.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v &lt; c_f, the architrino remains inside its emitted wake fronts.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v &gt; c_f, its path can move outside earlier wake fronts.</a:t>
            </a:r>
            <a:r>
              <a:rPr lang="en-US" sz="2000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Self-action requires same-source wake intersections, not speed alone.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Emitter and receiver velocity set the received action at each wake crossing.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60D7070F-73F6-024C-A784-AA2DE3B8E022}"/>
              </a:ext>
            </a:extLst>
          </p:cNvPr>
          <p:cNvSpPr txBox="1"/>
          <p:nvPr/>
        </p:nvSpPr>
        <p:spPr>
          <a:xfrm>
            <a:off x="512272" y="321582"/>
            <a:ext cx="11580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Point Transceivers Create a Dynamical Geometry</a:t>
            </a:r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/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287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8102</TotalTime>
  <Words>518</Words>
  <Application>Microsoft Macintosh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Helvetica Neue Condensed Black</vt:lpstr>
      <vt:lpstr>Office Theme</vt:lpstr>
      <vt:lpstr>PowerPoint Presentation</vt:lpstr>
      <vt:lpstr>The Fundamental Entities of Nature</vt:lpstr>
      <vt:lpstr>Architrino Magnitude</vt:lpstr>
      <vt:lpstr>Architrinos are Immutable</vt:lpstr>
      <vt:lpstr>Architrino Energy</vt:lpstr>
      <vt:lpstr>Large Scale Architrino Observables</vt:lpstr>
      <vt:lpstr>Constant Rate Architrino Emitters</vt:lpstr>
      <vt:lpstr>Architrino Have No Speed Limit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384</cp:revision>
  <cp:lastPrinted>2022-09-07T12:10:19Z</cp:lastPrinted>
  <dcterms:created xsi:type="dcterms:W3CDTF">2022-02-05T18:41:13Z</dcterms:created>
  <dcterms:modified xsi:type="dcterms:W3CDTF">2026-07-03T23:10:55Z</dcterms:modified>
</cp:coreProperties>
</file>