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4" r:id="rId2"/>
  </p:sldMasterIdLst>
  <p:notesMasterIdLst>
    <p:notesMasterId r:id="rId18"/>
  </p:notesMasterIdLst>
  <p:sldIdLst>
    <p:sldId id="808" r:id="rId3"/>
    <p:sldId id="625" r:id="rId4"/>
    <p:sldId id="813" r:id="rId5"/>
    <p:sldId id="814" r:id="rId6"/>
    <p:sldId id="815" r:id="rId7"/>
    <p:sldId id="816" r:id="rId8"/>
    <p:sldId id="817" r:id="rId9"/>
    <p:sldId id="819" r:id="rId10"/>
    <p:sldId id="823" r:id="rId11"/>
    <p:sldId id="770" r:id="rId12"/>
    <p:sldId id="382" r:id="rId13"/>
    <p:sldId id="820" r:id="rId14"/>
    <p:sldId id="821" r:id="rId15"/>
    <p:sldId id="822" r:id="rId16"/>
    <p:sldId id="82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85FF"/>
    <a:srgbClr val="FF8AD8"/>
    <a:srgbClr val="FF7E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horzBarState="maximized">
    <p:restoredLeft sz="5266"/>
    <p:restoredTop sz="97363"/>
  </p:normalViewPr>
  <p:slideViewPr>
    <p:cSldViewPr snapToGrid="0" snapToObjects="1">
      <p:cViewPr varScale="1">
        <p:scale>
          <a:sx n="127" d="100"/>
          <a:sy n="127" d="100"/>
        </p:scale>
        <p:origin x="1192"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BDA440-6FDE-5E41-BA40-A3C0E02BAB9F}" type="datetimeFigureOut">
              <a:rPr lang="en-US" smtClean="0"/>
              <a:t>7/3/26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C398A3-AF21-A342-B6A8-6929C36BB1BF}" type="slidenum">
              <a:rPr lang="en-US" smtClean="0"/>
              <a:t>‹#›</a:t>
            </a:fld>
            <a:endParaRPr lang="en-US"/>
          </a:p>
        </p:txBody>
      </p:sp>
    </p:spTree>
    <p:extLst>
      <p:ext uri="{BB962C8B-B14F-4D97-AF65-F5344CB8AC3E}">
        <p14:creationId xmlns:p14="http://schemas.microsoft.com/office/powerpoint/2010/main" val="33688699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8013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605773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419707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311614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008798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485805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311945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259270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94197-89E8-2030-4FE5-7FD2AD81DD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1E753-2AFD-4A2C-BBDA-E380BD44B2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3C950-F267-716F-4681-00FAF0EABB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22A272-E14D-91E2-EB99-1911F07D9C5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962340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069187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8D77B-40A0-C9E7-950C-59D2CD87AA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3C896A-6F42-C31A-C146-A88D6A70B2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DE1070-08E4-CAA9-B677-A6415AABB3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6E0F15-D53F-18A5-2ED9-C40E9EC5F30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096452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4D3F2-498E-1951-C22B-71743FA269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941038-604E-ABD1-47FB-A51EE85BB4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BCD57B-23F0-2C39-8863-D1468F5BB0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F8181D-540B-3BBE-E382-BCFB73A363B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69394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DC802-5870-14FE-A995-AEEE34539E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50248-307E-9820-6C19-91B4F8ABA5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66F0C3-280B-291D-6FF8-1ED30F8070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2D374A-62B0-0123-0C4D-0D7FC709C0E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01457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B70E8-E8A3-628F-0CFC-C1359D33A3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5FB820-B77D-6A57-9856-F0AF52BFAD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74CA41-1F30-C3D4-EF30-CE88E2F6FC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01C2ED9-168A-2BE6-E954-2C420744262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9551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BB3A9-9E4D-1B45-B3D5-CA3715227F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4A437C-6978-EF42-B683-287B0BCC68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2736A90-6A63-474E-AE00-47FF46C1C73E}"/>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D9A6875-C7C8-8141-9B12-87599614E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FF87BB-FFE9-4F4E-9787-48475824CC8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4085953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7A8A-0845-AD47-90A8-18776E7495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85297E-D5E0-6745-91A9-52029EE302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9309D-6084-C74B-884A-230D6CFAC619}"/>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0F105DDE-4455-5940-ADF4-C579F78A20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064C6E-4C44-A641-B028-04035B812AA6}"/>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576653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5E37A-D8BF-D64A-8216-7ABA6C5836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F406964-1DAB-F14D-8D48-DEDCBF1951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ED9634-1414-224C-B6B9-3F0D98D672C3}"/>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A8157A06-C042-C649-8823-09CD9E4923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72125-B186-EA4F-87C1-D421E15E6F0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6612503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A32C6-604D-5245-AF13-1117649C05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F3D95E-DB7F-8741-AA7E-E9FECF96C0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4FF041-1EE3-1840-9A00-F30BE067B9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E2B0A9-40F9-DB4D-BDC1-10F58EBA843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4D45749E-ED3B-3643-8D22-DA2D88FFDE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4183C9-D2C9-CE44-B58B-ACE8898D0D0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645420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45A6-44FE-3848-88E8-5552DDC45A9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EDC7C1F-E9B4-4E48-ACFC-DC65D66179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CFE821-3558-AB4C-948F-6C6990D147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74632-D045-5A44-BB14-E3D5737A29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E5E05E-D502-E74B-91AF-BB193D328C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03287E-662E-F54F-9162-3F755DD60CA2}"/>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8" name="Footer Placeholder 7">
            <a:extLst>
              <a:ext uri="{FF2B5EF4-FFF2-40B4-BE49-F238E27FC236}">
                <a16:creationId xmlns:a16="http://schemas.microsoft.com/office/drawing/2014/main" id="{B68BB5FE-E651-1B4F-8E93-FD794E8A5E6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AD7C8-64AF-684B-98B6-D6D6714A29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79572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DC2D9-851F-F94A-83EC-CAB5799206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3BF4D5-34AD-5A43-853F-006AD601FD76}"/>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4" name="Footer Placeholder 3">
            <a:extLst>
              <a:ext uri="{FF2B5EF4-FFF2-40B4-BE49-F238E27FC236}">
                <a16:creationId xmlns:a16="http://schemas.microsoft.com/office/drawing/2014/main" id="{67670C52-9CA4-AB4F-957A-7AAD4E2593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A441625-0652-EB4F-8E04-6C901136517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7553061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592881-FA37-DD45-860A-EA6B38C3108A}"/>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3" name="Footer Placeholder 2">
            <a:extLst>
              <a:ext uri="{FF2B5EF4-FFF2-40B4-BE49-F238E27FC236}">
                <a16:creationId xmlns:a16="http://schemas.microsoft.com/office/drawing/2014/main" id="{A4652DC6-52F3-8040-8665-17D023390D4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9CEF52-EC52-6C42-81BD-397B5CE038F7}"/>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920734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60788-9DB9-6745-96CF-A7A1862275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0E3299F-D119-D449-BD57-1CE490CB51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3BB0FB-61B4-DC45-9D1E-63F99E6ABC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F87701-43E6-A248-ABD9-E1C49D62242F}"/>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DFD6954C-9DFB-264A-A710-D12E71DB3A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88770-2503-8F4E-AFC6-6941CC59F7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225689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3FF65-890A-1A47-B873-C56E2C7DF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05E9CE-538C-294A-A814-80A50548B2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3C7C9D-B309-CF46-90D8-B95DD6C2DC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97CA5D-F1C9-604D-83E1-2E60AE6E200D}"/>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BC9BE16D-FB3D-AA41-B06D-73A0FCDFB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19839D-F44C-4B47-9DFE-D154851F551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41161827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5DFD1-B5EF-8445-B336-8B2E596E20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086E7C-46AA-9440-8F1F-C1AD5E8EC2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762E40-F60A-404F-9DB3-AC863A0E0847}"/>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56ABF7D-A207-9243-8354-69D0FCFAA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C5599E-5B81-624B-A60C-D22AF58B66FB}"/>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721477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4BC040-CE85-6347-809B-760E676EF4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7DD51C-FD4B-524F-8054-62599D261A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E9F735-3187-1341-AE2A-1316DEDA7CE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D08F8F3D-1D9D-EF45-9F9C-E682715F66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FDF4D4-99B2-C24C-BCFF-B3AB3F96C74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0637274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C2668-EBEB-AE41-BF76-89062B014B13}"/>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C8C28A4C-0805-8E44-B54E-3B6F671F8D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93B74C2-6265-7F41-BB8F-D8A0A0C89A63}"/>
              </a:ext>
            </a:extLst>
          </p:cNvPr>
          <p:cNvSpPr>
            <a:spLocks noGrp="1"/>
          </p:cNvSpPr>
          <p:nvPr>
            <p:ph type="dt" sz="half" idx="10"/>
          </p:nvPr>
        </p:nvSpPr>
        <p:spPr/>
        <p:txBody>
          <a:bodyPr/>
          <a:lstStyle/>
          <a:p>
            <a:fld id="{B1CFC895-F8E0-4049-8BEE-E5499394E46C}" type="datetime1">
              <a:rPr lang="en-US" smtClean="0"/>
              <a:t>7/3/26</a:t>
            </a:fld>
            <a:endParaRPr lang="en-US"/>
          </a:p>
        </p:txBody>
      </p:sp>
      <p:sp>
        <p:nvSpPr>
          <p:cNvPr id="5" name="Footer Placeholder 4">
            <a:extLst>
              <a:ext uri="{FF2B5EF4-FFF2-40B4-BE49-F238E27FC236}">
                <a16:creationId xmlns:a16="http://schemas.microsoft.com/office/drawing/2014/main" id="{74C53590-4180-6C42-A6BF-707655C15A1D}"/>
              </a:ext>
            </a:extLst>
          </p:cNvPr>
          <p:cNvSpPr>
            <a:spLocks noGrp="1"/>
          </p:cNvSpPr>
          <p:nvPr>
            <p:ph type="ftr" sz="quarter" idx="11"/>
          </p:nvPr>
        </p:nvSpPr>
        <p:spPr/>
        <p:txBody>
          <a:bodyPr/>
          <a:lstStyle>
            <a:lvl1pPr>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93A81401-8545-2D4E-A7FB-31AFC7A8DB71}"/>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33729169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560F9-C770-5C4C-9C93-102EC332DBA4}"/>
              </a:ext>
            </a:extLst>
          </p:cNvPr>
          <p:cNvSpPr>
            <a:spLocks noGrp="1"/>
          </p:cNvSpPr>
          <p:nvPr>
            <p:ph type="title"/>
          </p:nvPr>
        </p:nvSpPr>
        <p:spPr>
          <a:xfrm>
            <a:off x="838200" y="365125"/>
            <a:ext cx="10515600" cy="777875"/>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0D38EDA-56F1-1C40-B81E-28B921C4E99F}"/>
              </a:ext>
            </a:extLst>
          </p:cNvPr>
          <p:cNvSpPr>
            <a:spLocks noGrp="1"/>
          </p:cNvSpPr>
          <p:nvPr>
            <p:ph idx="1"/>
          </p:nvPr>
        </p:nvSpPr>
        <p:spPr>
          <a:xfrm>
            <a:off x="838200" y="1295400"/>
            <a:ext cx="10515600" cy="488156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AD42772-5D80-F641-A1BB-6048573C4E88}"/>
              </a:ext>
            </a:extLst>
          </p:cNvPr>
          <p:cNvSpPr>
            <a:spLocks noGrp="1"/>
          </p:cNvSpPr>
          <p:nvPr>
            <p:ph type="dt" sz="half" idx="10"/>
          </p:nvPr>
        </p:nvSpPr>
        <p:spPr/>
        <p:txBody>
          <a:bodyPr/>
          <a:lstStyle/>
          <a:p>
            <a:fld id="{A91F55E2-A889-F24B-B1FE-1E878178F308}" type="datetime1">
              <a:rPr lang="en-US" smtClean="0"/>
              <a:t>7/3/26</a:t>
            </a:fld>
            <a:endParaRPr lang="en-US"/>
          </a:p>
        </p:txBody>
      </p:sp>
      <p:sp>
        <p:nvSpPr>
          <p:cNvPr id="5" name="Footer Placeholder 4">
            <a:extLst>
              <a:ext uri="{FF2B5EF4-FFF2-40B4-BE49-F238E27FC236}">
                <a16:creationId xmlns:a16="http://schemas.microsoft.com/office/drawing/2014/main" id="{C68FC4AF-90CF-484C-B6C7-5CE1A016FB49}"/>
              </a:ext>
            </a:extLst>
          </p:cNvPr>
          <p:cNvSpPr>
            <a:spLocks noGrp="1"/>
          </p:cNvSpPr>
          <p:nvPr>
            <p:ph type="ftr" sz="quarter" idx="11"/>
          </p:nvPr>
        </p:nvSpPr>
        <p:spPr/>
        <p:txBody>
          <a:bodyPr/>
          <a:lstStyle/>
          <a:p>
            <a:r>
              <a:rPr lang="en-US"/>
              <a:t>J Mark Morris - Model of Nature - April 2019</a:t>
            </a:r>
          </a:p>
        </p:txBody>
      </p:sp>
      <p:sp>
        <p:nvSpPr>
          <p:cNvPr id="6" name="Slide Number Placeholder 5">
            <a:extLst>
              <a:ext uri="{FF2B5EF4-FFF2-40B4-BE49-F238E27FC236}">
                <a16:creationId xmlns:a16="http://schemas.microsoft.com/office/drawing/2014/main" id="{8169AF1E-33D8-3041-A601-1384C718A8B5}"/>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4971399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1822D-6D7A-1342-98EF-890C6F2DA174}"/>
              </a:ext>
            </a:extLst>
          </p:cNvPr>
          <p:cNvSpPr>
            <a:spLocks noGrp="1"/>
          </p:cNvSpPr>
          <p:nvPr>
            <p:ph type="title"/>
          </p:nvPr>
        </p:nvSpPr>
        <p:spPr>
          <a:xfrm>
            <a:off x="838200" y="365125"/>
            <a:ext cx="10515600" cy="777875"/>
          </a:xfrm>
        </p:spPr>
        <p:txBody>
          <a:bodyPr/>
          <a:lstStyle/>
          <a:p>
            <a:r>
              <a:rPr lang="en-US"/>
              <a:t>Click to edit Master title style</a:t>
            </a:r>
          </a:p>
        </p:txBody>
      </p:sp>
      <p:sp>
        <p:nvSpPr>
          <p:cNvPr id="3" name="Date Placeholder 2">
            <a:extLst>
              <a:ext uri="{FF2B5EF4-FFF2-40B4-BE49-F238E27FC236}">
                <a16:creationId xmlns:a16="http://schemas.microsoft.com/office/drawing/2014/main" id="{74CF19EA-9170-5B4B-814F-7425C8E22823}"/>
              </a:ext>
            </a:extLst>
          </p:cNvPr>
          <p:cNvSpPr>
            <a:spLocks noGrp="1"/>
          </p:cNvSpPr>
          <p:nvPr>
            <p:ph type="dt" sz="half" idx="10"/>
          </p:nvPr>
        </p:nvSpPr>
        <p:spPr/>
        <p:txBody>
          <a:bodyPr/>
          <a:lstStyle/>
          <a:p>
            <a:fld id="{C6E8461C-3391-334C-9885-001B32D724C4}" type="datetime1">
              <a:rPr lang="en-US" smtClean="0"/>
              <a:t>7/3/26</a:t>
            </a:fld>
            <a:endParaRPr lang="en-US"/>
          </a:p>
        </p:txBody>
      </p:sp>
      <p:sp>
        <p:nvSpPr>
          <p:cNvPr id="4" name="Footer Placeholder 3">
            <a:extLst>
              <a:ext uri="{FF2B5EF4-FFF2-40B4-BE49-F238E27FC236}">
                <a16:creationId xmlns:a16="http://schemas.microsoft.com/office/drawing/2014/main" id="{5882B1FB-ECDF-AD43-9020-0267ED91C04E}"/>
              </a:ext>
            </a:extLst>
          </p:cNvPr>
          <p:cNvSpPr>
            <a:spLocks noGrp="1"/>
          </p:cNvSpPr>
          <p:nvPr>
            <p:ph type="ftr" sz="quarter" idx="11"/>
          </p:nvPr>
        </p:nvSpPr>
        <p:spPr/>
        <p:txBody>
          <a:bodyPr/>
          <a:lstStyle>
            <a:lvl1pPr>
              <a:defRPr/>
            </a:lvl1pPr>
          </a:lstStyle>
          <a:p>
            <a:r>
              <a:rPr lang="en-US"/>
              <a:t>J Mark Morris - Model of Nature - April 2019</a:t>
            </a:r>
          </a:p>
        </p:txBody>
      </p:sp>
      <p:sp>
        <p:nvSpPr>
          <p:cNvPr id="5" name="Slide Number Placeholder 4">
            <a:extLst>
              <a:ext uri="{FF2B5EF4-FFF2-40B4-BE49-F238E27FC236}">
                <a16:creationId xmlns:a16="http://schemas.microsoft.com/office/drawing/2014/main" id="{D949C470-5AF0-5246-81E7-95EAEE5639EF}"/>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19634693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4B483-3334-204F-ADDF-2B9BC6A8D9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FCC4CF-F19A-1848-8467-61B9807ACF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128E2E-CB42-B64B-A2AC-B8713F8A0E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2AA830BA-8B9E-D54E-AA7F-1B6C247B3A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E3634F2-31DD-3F49-A362-988026E566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E7AC70-81D3-9F4C-9FBF-EEB91175D34A}" type="slidenum">
              <a:rPr lang="en-US" smtClean="0"/>
              <a:t>‹#›</a:t>
            </a:fld>
            <a:endParaRPr lang="en-US"/>
          </a:p>
        </p:txBody>
      </p:sp>
    </p:spTree>
    <p:extLst>
      <p:ext uri="{BB962C8B-B14F-4D97-AF65-F5344CB8AC3E}">
        <p14:creationId xmlns:p14="http://schemas.microsoft.com/office/powerpoint/2010/main" val="39566325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9A1DB-155B-0846-9CED-8B75F56E0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D69736F-08D5-7643-A656-ABAEB9457A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433D04-66F5-D74B-8EEA-459FDC00D1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2005EE61-3907-C44D-8624-D47E09E871DB}" type="datetime1">
              <a:rPr lang="en-US" smtClean="0"/>
              <a:t>7/3/26</a:t>
            </a:fld>
            <a:endParaRPr lang="en-US"/>
          </a:p>
        </p:txBody>
      </p:sp>
      <p:sp>
        <p:nvSpPr>
          <p:cNvPr id="5" name="Footer Placeholder 4">
            <a:extLst>
              <a:ext uri="{FF2B5EF4-FFF2-40B4-BE49-F238E27FC236}">
                <a16:creationId xmlns:a16="http://schemas.microsoft.com/office/drawing/2014/main" id="{9FDE6E67-6F97-E149-8437-635D11E7ED4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D585CC1E-0AB1-F34A-83C6-0956BF9B4A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D73D4D4B-2FF7-BE46-958C-B004BD45EF6F}" type="slidenum">
              <a:rPr lang="en-US" smtClean="0"/>
              <a:pPr/>
              <a:t>‹#›</a:t>
            </a:fld>
            <a:endParaRPr lang="en-US"/>
          </a:p>
        </p:txBody>
      </p:sp>
    </p:spTree>
    <p:extLst>
      <p:ext uri="{BB962C8B-B14F-4D97-AF65-F5344CB8AC3E}">
        <p14:creationId xmlns:p14="http://schemas.microsoft.com/office/powerpoint/2010/main" val="4188259015"/>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77ACA5-3691-8FEB-0266-8D47BBCCF4C6}"/>
              </a:ext>
            </a:extLst>
          </p:cNvPr>
          <p:cNvSpPr txBox="1"/>
          <p:nvPr/>
        </p:nvSpPr>
        <p:spPr>
          <a:xfrm>
            <a:off x="0" y="358254"/>
            <a:ext cx="12191999" cy="2657138"/>
          </a:xfrm>
          <a:prstGeom prst="rect">
            <a:avLst/>
          </a:prstGeom>
          <a:noFill/>
        </p:spPr>
        <p:txBody>
          <a:bodyPr wrap="square" rtlCol="0">
            <a:spAutoFit/>
          </a:bodyPr>
          <a:lstStyle/>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Fundamental Entities</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Point Potentials</a:t>
            </a:r>
          </a:p>
        </p:txBody>
      </p:sp>
    </p:spTree>
    <p:extLst>
      <p:ext uri="{BB962C8B-B14F-4D97-AF65-F5344CB8AC3E}">
        <p14:creationId xmlns:p14="http://schemas.microsoft.com/office/powerpoint/2010/main" val="36624257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D3BD9-EF0C-1E44-A158-923D0C7D4BB3}"/>
              </a:ext>
            </a:extLst>
          </p:cNvPr>
          <p:cNvSpPr>
            <a:spLocks noGrp="1"/>
          </p:cNvSpPr>
          <p:nvPr>
            <p:ph type="title"/>
          </p:nvPr>
        </p:nvSpPr>
        <p:spPr>
          <a:xfrm>
            <a:off x="2845864" y="279249"/>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Fundamental Entities of Nature</a:t>
            </a:r>
          </a:p>
        </p:txBody>
      </p:sp>
      <p:sp>
        <p:nvSpPr>
          <p:cNvPr id="4" name="Footer Placeholder 3">
            <a:extLst>
              <a:ext uri="{FF2B5EF4-FFF2-40B4-BE49-F238E27FC236}">
                <a16:creationId xmlns:a16="http://schemas.microsoft.com/office/drawing/2014/main" id="{B46B4692-7F2F-6E4B-963F-EC452AE01AA9}"/>
              </a:ext>
            </a:extLst>
          </p:cNvPr>
          <p:cNvSpPr>
            <a:spLocks noGrp="1"/>
          </p:cNvSpPr>
          <p:nvPr>
            <p:ph type="ftr" sz="quarter" idx="11"/>
          </p:nvPr>
        </p:nvSpPr>
        <p:spPr>
          <a:xfrm>
            <a:off x="3589783" y="-693583"/>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rPr>
              <a:t>J Mark Morris - Model of Nature - May 2021</a:t>
            </a:r>
          </a:p>
        </p:txBody>
      </p:sp>
      <p:grpSp>
        <p:nvGrpSpPr>
          <p:cNvPr id="16" name="Group 15">
            <a:extLst>
              <a:ext uri="{FF2B5EF4-FFF2-40B4-BE49-F238E27FC236}">
                <a16:creationId xmlns:a16="http://schemas.microsoft.com/office/drawing/2014/main"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xmlns:a16="http://schemas.microsoft.com/office/drawing/2014/main"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xmlns:a16="http://schemas.microsoft.com/office/drawing/2014/main"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xmlns:a16="http://schemas.microsoft.com/office/drawing/2014/main"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xmlns:a16="http://schemas.microsoft.com/office/drawing/2014/main"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xmlns:a16="http://schemas.microsoft.com/office/drawing/2014/main"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xmlns:a16="http://schemas.microsoft.com/office/drawing/2014/main"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xmlns:a16="http://schemas.microsoft.com/office/drawing/2014/main"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xmlns:a16="http://schemas.microsoft.com/office/drawing/2014/main"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xmlns:a16="http://schemas.microsoft.com/office/drawing/2014/main"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33" name="Rectangle 32">
            <a:extLst>
              <a:ext uri="{FF2B5EF4-FFF2-40B4-BE49-F238E27FC236}">
                <a16:creationId xmlns:a16="http://schemas.microsoft.com/office/drawing/2014/main" id="{6FB04752-7BBD-3648-BE22-8D983884B555}"/>
              </a:ext>
            </a:extLst>
          </p:cNvPr>
          <p:cNvSpPr/>
          <p:nvPr/>
        </p:nvSpPr>
        <p:spPr>
          <a:xfrm>
            <a:off x="796924" y="1372790"/>
            <a:ext cx="10644261"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1D Linear Time, 3D Euclidean Space, Point Potential Emitters</a:t>
            </a:r>
          </a:p>
        </p:txBody>
      </p:sp>
      <p:grpSp>
        <p:nvGrpSpPr>
          <p:cNvPr id="11" name="Group 10">
            <a:extLst>
              <a:ext uri="{FF2B5EF4-FFF2-40B4-BE49-F238E27FC236}">
                <a16:creationId xmlns:a16="http://schemas.microsoft.com/office/drawing/2014/main"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xmlns:a16="http://schemas.microsoft.com/office/drawing/2014/main"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xmlns:a16="http://schemas.microsoft.com/office/drawing/2014/main"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xmlns:a16="http://schemas.microsoft.com/office/drawing/2014/main" id="{246E4B47-B7AD-0745-91FA-AA77D12D888D}"/>
              </a:ext>
            </a:extLst>
          </p:cNvPr>
          <p:cNvSpPr txBox="1">
            <a:spLocks/>
          </p:cNvSpPr>
          <p:nvPr/>
        </p:nvSpPr>
        <p:spPr>
          <a:xfrm>
            <a:off x="9518999"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rPr>
              <a:t>J Mark Morris</a:t>
            </a:r>
          </a:p>
        </p:txBody>
      </p:sp>
      <p:grpSp>
        <p:nvGrpSpPr>
          <p:cNvPr id="9" name="Group 8">
            <a:extLst>
              <a:ext uri="{FF2B5EF4-FFF2-40B4-BE49-F238E27FC236}">
                <a16:creationId xmlns:a16="http://schemas.microsoft.com/office/drawing/2014/main"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xmlns:a16="http://schemas.microsoft.com/office/drawing/2014/main"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xmlns:a16="http://schemas.microsoft.com/office/drawing/2014/main"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xmlns:a16="http://schemas.microsoft.com/office/drawing/2014/main"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spTree>
    <p:extLst>
      <p:ext uri="{BB962C8B-B14F-4D97-AF65-F5344CB8AC3E}">
        <p14:creationId xmlns:p14="http://schemas.microsoft.com/office/powerpoint/2010/main" val="26293221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D3BD9-EF0C-1E44-A158-923D0C7D4BB3}"/>
              </a:ext>
            </a:extLst>
          </p:cNvPr>
          <p:cNvSpPr>
            <a:spLocks noGrp="1"/>
          </p:cNvSpPr>
          <p:nvPr>
            <p:ph type="title"/>
          </p:nvPr>
        </p:nvSpPr>
        <p:spPr>
          <a:xfrm>
            <a:off x="2845864" y="279249"/>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Point Potential Magnitude</a:t>
            </a:r>
          </a:p>
        </p:txBody>
      </p:sp>
      <p:sp>
        <p:nvSpPr>
          <p:cNvPr id="4" name="Footer Placeholder 3">
            <a:extLst>
              <a:ext uri="{FF2B5EF4-FFF2-40B4-BE49-F238E27FC236}">
                <a16:creationId xmlns:a16="http://schemas.microsoft.com/office/drawing/2014/main" id="{B46B4692-7F2F-6E4B-963F-EC452AE01AA9}"/>
              </a:ext>
            </a:extLst>
          </p:cNvPr>
          <p:cNvSpPr>
            <a:spLocks noGrp="1"/>
          </p:cNvSpPr>
          <p:nvPr>
            <p:ph type="ftr" sz="quarter" idx="11"/>
          </p:nvPr>
        </p:nvSpPr>
        <p:spPr>
          <a:xfrm>
            <a:off x="3589783" y="-693583"/>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rPr>
              <a:t>J Mark Morris - Model of Nature - May 2021</a:t>
            </a:r>
          </a:p>
        </p:txBody>
      </p:sp>
      <p:grpSp>
        <p:nvGrpSpPr>
          <p:cNvPr id="16" name="Group 15">
            <a:extLst>
              <a:ext uri="{FF2B5EF4-FFF2-40B4-BE49-F238E27FC236}">
                <a16:creationId xmlns:a16="http://schemas.microsoft.com/office/drawing/2014/main"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xmlns:a16="http://schemas.microsoft.com/office/drawing/2014/main"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xmlns:a16="http://schemas.microsoft.com/office/drawing/2014/main"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xmlns:a16="http://schemas.microsoft.com/office/drawing/2014/main"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xmlns:a16="http://schemas.microsoft.com/office/drawing/2014/main"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xmlns:a16="http://schemas.microsoft.com/office/drawing/2014/main"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xmlns:a16="http://schemas.microsoft.com/office/drawing/2014/main"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xmlns:a16="http://schemas.microsoft.com/office/drawing/2014/main"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xmlns:a16="http://schemas.microsoft.com/office/drawing/2014/main"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xmlns:a16="http://schemas.microsoft.com/office/drawing/2014/main"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33" name="Rectangle 32">
            <a:extLst>
              <a:ext uri="{FF2B5EF4-FFF2-40B4-BE49-F238E27FC236}">
                <a16:creationId xmlns:a16="http://schemas.microsoft.com/office/drawing/2014/main" id="{6FB04752-7BBD-3648-BE22-8D983884B555}"/>
              </a:ext>
            </a:extLst>
          </p:cNvPr>
          <p:cNvSpPr/>
          <p:nvPr/>
        </p:nvSpPr>
        <p:spPr>
          <a:xfrm>
            <a:off x="3138118" y="1372790"/>
            <a:ext cx="5961890"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Equal and Opposite with |q| = |e/6|</a:t>
            </a:r>
            <a:endPar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1" name="Group 10">
            <a:extLst>
              <a:ext uri="{FF2B5EF4-FFF2-40B4-BE49-F238E27FC236}">
                <a16:creationId xmlns:a16="http://schemas.microsoft.com/office/drawing/2014/main"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xmlns:a16="http://schemas.microsoft.com/office/drawing/2014/main"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xmlns:a16="http://schemas.microsoft.com/office/drawing/2014/main"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xmlns:a16="http://schemas.microsoft.com/office/drawing/2014/main" id="{246E4B47-B7AD-0745-91FA-AA77D12D888D}"/>
              </a:ext>
            </a:extLst>
          </p:cNvPr>
          <p:cNvSpPr txBox="1">
            <a:spLocks/>
          </p:cNvSpPr>
          <p:nvPr/>
        </p:nvSpPr>
        <p:spPr>
          <a:xfrm>
            <a:off x="9214069" y="6344564"/>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xmlns:a16="http://schemas.microsoft.com/office/drawing/2014/main"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xmlns:a16="http://schemas.microsoft.com/office/drawing/2014/main"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xmlns:a16="http://schemas.microsoft.com/office/drawing/2014/main"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spTree>
    <p:extLst>
      <p:ext uri="{BB962C8B-B14F-4D97-AF65-F5344CB8AC3E}">
        <p14:creationId xmlns:p14="http://schemas.microsoft.com/office/powerpoint/2010/main" val="3552449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D3BD9-EF0C-1E44-A158-923D0C7D4BB3}"/>
              </a:ext>
            </a:extLst>
          </p:cNvPr>
          <p:cNvSpPr>
            <a:spLocks noGrp="1"/>
          </p:cNvSpPr>
          <p:nvPr>
            <p:ph type="title"/>
          </p:nvPr>
        </p:nvSpPr>
        <p:spPr>
          <a:xfrm>
            <a:off x="2845864" y="279249"/>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Point Potentials are Immutable</a:t>
            </a:r>
          </a:p>
        </p:txBody>
      </p:sp>
      <p:sp>
        <p:nvSpPr>
          <p:cNvPr id="4" name="Footer Placeholder 3">
            <a:extLst>
              <a:ext uri="{FF2B5EF4-FFF2-40B4-BE49-F238E27FC236}">
                <a16:creationId xmlns:a16="http://schemas.microsoft.com/office/drawing/2014/main" id="{B46B4692-7F2F-6E4B-963F-EC452AE01AA9}"/>
              </a:ext>
            </a:extLst>
          </p:cNvPr>
          <p:cNvSpPr>
            <a:spLocks noGrp="1"/>
          </p:cNvSpPr>
          <p:nvPr>
            <p:ph type="ftr" sz="quarter" idx="11"/>
          </p:nvPr>
        </p:nvSpPr>
        <p:spPr>
          <a:xfrm>
            <a:off x="3589783" y="-693583"/>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rPr>
              <a:t>J Mark Morris - Model of Nature - May 2021</a:t>
            </a:r>
          </a:p>
        </p:txBody>
      </p:sp>
      <p:grpSp>
        <p:nvGrpSpPr>
          <p:cNvPr id="16" name="Group 15">
            <a:extLst>
              <a:ext uri="{FF2B5EF4-FFF2-40B4-BE49-F238E27FC236}">
                <a16:creationId xmlns:a16="http://schemas.microsoft.com/office/drawing/2014/main"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xmlns:a16="http://schemas.microsoft.com/office/drawing/2014/main"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xmlns:a16="http://schemas.microsoft.com/office/drawing/2014/main"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xmlns:a16="http://schemas.microsoft.com/office/drawing/2014/main"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xmlns:a16="http://schemas.microsoft.com/office/drawing/2014/main"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xmlns:a16="http://schemas.microsoft.com/office/drawing/2014/main"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xmlns:a16="http://schemas.microsoft.com/office/drawing/2014/main"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xmlns:a16="http://schemas.microsoft.com/office/drawing/2014/main"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xmlns:a16="http://schemas.microsoft.com/office/drawing/2014/main"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xmlns:a16="http://schemas.microsoft.com/office/drawing/2014/main"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33" name="Rectangle 32">
            <a:extLst>
              <a:ext uri="{FF2B5EF4-FFF2-40B4-BE49-F238E27FC236}">
                <a16:creationId xmlns:a16="http://schemas.microsoft.com/office/drawing/2014/main" id="{6FB04752-7BBD-3648-BE22-8D983884B555}"/>
              </a:ext>
            </a:extLst>
          </p:cNvPr>
          <p:cNvSpPr/>
          <p:nvPr/>
        </p:nvSpPr>
        <p:spPr>
          <a:xfrm>
            <a:off x="3623032" y="1372790"/>
            <a:ext cx="4992072"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No known origin or demise. </a:t>
            </a:r>
            <a:endPar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1" name="Group 10">
            <a:extLst>
              <a:ext uri="{FF2B5EF4-FFF2-40B4-BE49-F238E27FC236}">
                <a16:creationId xmlns:a16="http://schemas.microsoft.com/office/drawing/2014/main"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xmlns:a16="http://schemas.microsoft.com/office/drawing/2014/main"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xmlns:a16="http://schemas.microsoft.com/office/drawing/2014/main"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xmlns:a16="http://schemas.microsoft.com/office/drawing/2014/main" id="{246E4B47-B7AD-0745-91FA-AA77D12D888D}"/>
              </a:ext>
            </a:extLst>
          </p:cNvPr>
          <p:cNvSpPr txBox="1">
            <a:spLocks/>
          </p:cNvSpPr>
          <p:nvPr/>
        </p:nvSpPr>
        <p:spPr>
          <a:xfrm>
            <a:off x="9214069" y="6344564"/>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xmlns:a16="http://schemas.microsoft.com/office/drawing/2014/main"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xmlns:a16="http://schemas.microsoft.com/office/drawing/2014/main"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xmlns:a16="http://schemas.microsoft.com/office/drawing/2014/main"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sp>
        <p:nvSpPr>
          <p:cNvPr id="10" name="Rectangle 9">
            <a:extLst>
              <a:ext uri="{FF2B5EF4-FFF2-40B4-BE49-F238E27FC236}">
                <a16:creationId xmlns:a16="http://schemas.microsoft.com/office/drawing/2014/main" id="{92D7FC57-9DDC-21AE-9917-F7C426BFA952}"/>
              </a:ext>
            </a:extLst>
          </p:cNvPr>
          <p:cNvSpPr/>
          <p:nvPr/>
        </p:nvSpPr>
        <p:spPr>
          <a:xfrm>
            <a:off x="2733526" y="6157794"/>
            <a:ext cx="6771084" cy="369332"/>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i="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Pair Production and Annihilation are Not Necessary in the Model</a:t>
            </a:r>
            <a:endParaRPr kumimoji="0" lang="en-US"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7688245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D3BD9-EF0C-1E44-A158-923D0C7D4BB3}"/>
              </a:ext>
            </a:extLst>
          </p:cNvPr>
          <p:cNvSpPr>
            <a:spLocks noGrp="1"/>
          </p:cNvSpPr>
          <p:nvPr>
            <p:ph type="title"/>
          </p:nvPr>
        </p:nvSpPr>
        <p:spPr>
          <a:xfrm>
            <a:off x="2845864" y="279249"/>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Point Potential Energy</a:t>
            </a:r>
          </a:p>
        </p:txBody>
      </p:sp>
      <p:sp>
        <p:nvSpPr>
          <p:cNvPr id="4" name="Footer Placeholder 3">
            <a:extLst>
              <a:ext uri="{FF2B5EF4-FFF2-40B4-BE49-F238E27FC236}">
                <a16:creationId xmlns:a16="http://schemas.microsoft.com/office/drawing/2014/main" id="{B46B4692-7F2F-6E4B-963F-EC452AE01AA9}"/>
              </a:ext>
            </a:extLst>
          </p:cNvPr>
          <p:cNvSpPr>
            <a:spLocks noGrp="1"/>
          </p:cNvSpPr>
          <p:nvPr>
            <p:ph type="ftr" sz="quarter" idx="11"/>
          </p:nvPr>
        </p:nvSpPr>
        <p:spPr>
          <a:xfrm>
            <a:off x="3589783" y="-693583"/>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rPr>
              <a:t>J Mark Morris - Model of Nature - May 2021</a:t>
            </a:r>
          </a:p>
        </p:txBody>
      </p:sp>
      <p:grpSp>
        <p:nvGrpSpPr>
          <p:cNvPr id="16" name="Group 15">
            <a:extLst>
              <a:ext uri="{FF2B5EF4-FFF2-40B4-BE49-F238E27FC236}">
                <a16:creationId xmlns:a16="http://schemas.microsoft.com/office/drawing/2014/main"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xmlns:a16="http://schemas.microsoft.com/office/drawing/2014/main"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xmlns:a16="http://schemas.microsoft.com/office/drawing/2014/main"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xmlns:a16="http://schemas.microsoft.com/office/drawing/2014/main"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xmlns:a16="http://schemas.microsoft.com/office/drawing/2014/main"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xmlns:a16="http://schemas.microsoft.com/office/drawing/2014/main"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xmlns:a16="http://schemas.microsoft.com/office/drawing/2014/main"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xmlns:a16="http://schemas.microsoft.com/office/drawing/2014/main"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xmlns:a16="http://schemas.microsoft.com/office/drawing/2014/main"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xmlns:a16="http://schemas.microsoft.com/office/drawing/2014/main"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33" name="Rectangle 32">
            <a:extLst>
              <a:ext uri="{FF2B5EF4-FFF2-40B4-BE49-F238E27FC236}">
                <a16:creationId xmlns:a16="http://schemas.microsoft.com/office/drawing/2014/main" id="{6FB04752-7BBD-3648-BE22-8D983884B555}"/>
              </a:ext>
            </a:extLst>
          </p:cNvPr>
          <p:cNvSpPr/>
          <p:nvPr/>
        </p:nvSpPr>
        <p:spPr>
          <a:xfrm>
            <a:off x="408092" y="1372790"/>
            <a:ext cx="11421973" cy="95410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Point Potentials are Constant Rate Emitters of Potential.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Action of Potential Emissions on Point Potentials Changes Energy.</a:t>
            </a:r>
          </a:p>
        </p:txBody>
      </p:sp>
      <p:grpSp>
        <p:nvGrpSpPr>
          <p:cNvPr id="11" name="Group 10">
            <a:extLst>
              <a:ext uri="{FF2B5EF4-FFF2-40B4-BE49-F238E27FC236}">
                <a16:creationId xmlns:a16="http://schemas.microsoft.com/office/drawing/2014/main"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xmlns:a16="http://schemas.microsoft.com/office/drawing/2014/main"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xmlns:a16="http://schemas.microsoft.com/office/drawing/2014/main"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xmlns:a16="http://schemas.microsoft.com/office/drawing/2014/main" id="{246E4B47-B7AD-0745-91FA-AA77D12D888D}"/>
              </a:ext>
            </a:extLst>
          </p:cNvPr>
          <p:cNvSpPr txBox="1">
            <a:spLocks/>
          </p:cNvSpPr>
          <p:nvPr/>
        </p:nvSpPr>
        <p:spPr>
          <a:xfrm>
            <a:off x="9214069" y="6344564"/>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xmlns:a16="http://schemas.microsoft.com/office/drawing/2014/main"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xmlns:a16="http://schemas.microsoft.com/office/drawing/2014/main"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xmlns:a16="http://schemas.microsoft.com/office/drawing/2014/main"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spTree>
    <p:extLst>
      <p:ext uri="{BB962C8B-B14F-4D97-AF65-F5344CB8AC3E}">
        <p14:creationId xmlns:p14="http://schemas.microsoft.com/office/powerpoint/2010/main" val="10168107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D3BD9-EF0C-1E44-A158-923D0C7D4BB3}"/>
              </a:ext>
            </a:extLst>
          </p:cNvPr>
          <p:cNvSpPr>
            <a:spLocks noGrp="1"/>
          </p:cNvSpPr>
          <p:nvPr>
            <p:ph type="title"/>
          </p:nvPr>
        </p:nvSpPr>
        <p:spPr>
          <a:xfrm>
            <a:off x="2995422" y="324846"/>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Large Scale Point Potential Observables</a:t>
            </a:r>
          </a:p>
        </p:txBody>
      </p:sp>
      <p:sp>
        <p:nvSpPr>
          <p:cNvPr id="4" name="Footer Placeholder 3">
            <a:extLst>
              <a:ext uri="{FF2B5EF4-FFF2-40B4-BE49-F238E27FC236}">
                <a16:creationId xmlns:a16="http://schemas.microsoft.com/office/drawing/2014/main" id="{B46B4692-7F2F-6E4B-963F-EC452AE01AA9}"/>
              </a:ext>
            </a:extLst>
          </p:cNvPr>
          <p:cNvSpPr>
            <a:spLocks noGrp="1"/>
          </p:cNvSpPr>
          <p:nvPr>
            <p:ph type="ftr" sz="quarter" idx="11"/>
          </p:nvPr>
        </p:nvSpPr>
        <p:spPr>
          <a:xfrm>
            <a:off x="3589783" y="-693583"/>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rPr>
              <a:t>J Mark Morris - Model of Nature - May 2021</a:t>
            </a:r>
          </a:p>
        </p:txBody>
      </p:sp>
      <p:grpSp>
        <p:nvGrpSpPr>
          <p:cNvPr id="16" name="Group 15">
            <a:extLst>
              <a:ext uri="{FF2B5EF4-FFF2-40B4-BE49-F238E27FC236}">
                <a16:creationId xmlns:a16="http://schemas.microsoft.com/office/drawing/2014/main"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xmlns:a16="http://schemas.microsoft.com/office/drawing/2014/main"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xmlns:a16="http://schemas.microsoft.com/office/drawing/2014/main"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xmlns:a16="http://schemas.microsoft.com/office/drawing/2014/main"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xmlns:a16="http://schemas.microsoft.com/office/drawing/2014/main"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xmlns:a16="http://schemas.microsoft.com/office/drawing/2014/main"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xmlns:a16="http://schemas.microsoft.com/office/drawing/2014/main"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xmlns:a16="http://schemas.microsoft.com/office/drawing/2014/main"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xmlns:a16="http://schemas.microsoft.com/office/drawing/2014/main"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xmlns:a16="http://schemas.microsoft.com/office/drawing/2014/main"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33" name="Rectangle 32">
            <a:extLst>
              <a:ext uri="{FF2B5EF4-FFF2-40B4-BE49-F238E27FC236}">
                <a16:creationId xmlns:a16="http://schemas.microsoft.com/office/drawing/2014/main" id="{6FB04752-7BBD-3648-BE22-8D983884B555}"/>
              </a:ext>
            </a:extLst>
          </p:cNvPr>
          <p:cNvSpPr/>
          <p:nvPr/>
        </p:nvSpPr>
        <p:spPr>
          <a:xfrm>
            <a:off x="4376901" y="1372790"/>
            <a:ext cx="3484352" cy="95410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Population Density.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Energy Density.</a:t>
            </a:r>
          </a:p>
        </p:txBody>
      </p:sp>
      <p:grpSp>
        <p:nvGrpSpPr>
          <p:cNvPr id="11" name="Group 10">
            <a:extLst>
              <a:ext uri="{FF2B5EF4-FFF2-40B4-BE49-F238E27FC236}">
                <a16:creationId xmlns:a16="http://schemas.microsoft.com/office/drawing/2014/main"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xmlns:a16="http://schemas.microsoft.com/office/drawing/2014/main"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xmlns:a16="http://schemas.microsoft.com/office/drawing/2014/main"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xmlns:a16="http://schemas.microsoft.com/office/drawing/2014/main" id="{246E4B47-B7AD-0745-91FA-AA77D12D888D}"/>
              </a:ext>
            </a:extLst>
          </p:cNvPr>
          <p:cNvSpPr txBox="1">
            <a:spLocks/>
          </p:cNvSpPr>
          <p:nvPr/>
        </p:nvSpPr>
        <p:spPr>
          <a:xfrm>
            <a:off x="9214069" y="6344564"/>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xmlns:a16="http://schemas.microsoft.com/office/drawing/2014/main"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xmlns:a16="http://schemas.microsoft.com/office/drawing/2014/main"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xmlns:a16="http://schemas.microsoft.com/office/drawing/2014/main"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spTree>
    <p:extLst>
      <p:ext uri="{BB962C8B-B14F-4D97-AF65-F5344CB8AC3E}">
        <p14:creationId xmlns:p14="http://schemas.microsoft.com/office/powerpoint/2010/main" val="3883687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D3BD9-EF0C-1E44-A158-923D0C7D4BB3}"/>
              </a:ext>
            </a:extLst>
          </p:cNvPr>
          <p:cNvSpPr>
            <a:spLocks noGrp="1"/>
          </p:cNvSpPr>
          <p:nvPr>
            <p:ph type="title"/>
          </p:nvPr>
        </p:nvSpPr>
        <p:spPr>
          <a:xfrm>
            <a:off x="2845864" y="279249"/>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Constant Rate Point Potential Emitters</a:t>
            </a:r>
          </a:p>
        </p:txBody>
      </p:sp>
      <p:grpSp>
        <p:nvGrpSpPr>
          <p:cNvPr id="16" name="Group 15">
            <a:extLst>
              <a:ext uri="{FF2B5EF4-FFF2-40B4-BE49-F238E27FC236}">
                <a16:creationId xmlns:a16="http://schemas.microsoft.com/office/drawing/2014/main"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xmlns:a16="http://schemas.microsoft.com/office/drawing/2014/main"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xmlns:a16="http://schemas.microsoft.com/office/drawing/2014/main"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xmlns:a16="http://schemas.microsoft.com/office/drawing/2014/main"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xmlns:a16="http://schemas.microsoft.com/office/drawing/2014/main"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xmlns:a16="http://schemas.microsoft.com/office/drawing/2014/main"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xmlns:a16="http://schemas.microsoft.com/office/drawing/2014/main"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xmlns:a16="http://schemas.microsoft.com/office/drawing/2014/main"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xmlns:a16="http://schemas.microsoft.com/office/drawing/2014/main"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xmlns:a16="http://schemas.microsoft.com/office/drawing/2014/main"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1" name="Group 10">
            <a:extLst>
              <a:ext uri="{FF2B5EF4-FFF2-40B4-BE49-F238E27FC236}">
                <a16:creationId xmlns:a16="http://schemas.microsoft.com/office/drawing/2014/main"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xmlns:a16="http://schemas.microsoft.com/office/drawing/2014/main"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xmlns:a16="http://schemas.microsoft.com/office/drawing/2014/main"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xmlns:a16="http://schemas.microsoft.com/office/drawing/2014/main" id="{246E4B47-B7AD-0745-91FA-AA77D12D888D}"/>
              </a:ext>
            </a:extLst>
          </p:cNvPr>
          <p:cNvSpPr txBox="1">
            <a:spLocks/>
          </p:cNvSpPr>
          <p:nvPr/>
        </p:nvSpPr>
        <p:spPr>
          <a:xfrm>
            <a:off x="9214069" y="6344564"/>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xmlns:a16="http://schemas.microsoft.com/office/drawing/2014/main"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xmlns:a16="http://schemas.microsoft.com/office/drawing/2014/main"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xmlns:a16="http://schemas.microsoft.com/office/drawing/2014/main"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graphicFrame>
        <p:nvGraphicFramePr>
          <p:cNvPr id="4" name="Table 3">
            <a:extLst>
              <a:ext uri="{FF2B5EF4-FFF2-40B4-BE49-F238E27FC236}">
                <a16:creationId xmlns:a16="http://schemas.microsoft.com/office/drawing/2014/main" id="{7707D154-8E32-2921-5D12-B70ACEF66B1A}"/>
              </a:ext>
            </a:extLst>
          </p:cNvPr>
          <p:cNvGraphicFramePr>
            <a:graphicFrameLocks noGrp="1"/>
          </p:cNvGraphicFramePr>
          <p:nvPr>
            <p:extLst>
              <p:ext uri="{D42A27DB-BD31-4B8C-83A1-F6EECF244321}">
                <p14:modId xmlns:p14="http://schemas.microsoft.com/office/powerpoint/2010/main" val="3248151803"/>
              </p:ext>
            </p:extLst>
          </p:nvPr>
        </p:nvGraphicFramePr>
        <p:xfrm>
          <a:off x="3139979" y="1174108"/>
          <a:ext cx="5912041" cy="1112520"/>
        </p:xfrm>
        <a:graphic>
          <a:graphicData uri="http://schemas.openxmlformats.org/drawingml/2006/table">
            <a:tbl>
              <a:tblPr firstRow="1" bandRow="1">
                <a:tableStyleId>{5C22544A-7EE6-4342-B048-85BDC9FD1C3A}</a:tableStyleId>
              </a:tblPr>
              <a:tblGrid>
                <a:gridCol w="2424684">
                  <a:extLst>
                    <a:ext uri="{9D8B030D-6E8A-4147-A177-3AD203B41FA5}">
                      <a16:colId xmlns:a16="http://schemas.microsoft.com/office/drawing/2014/main" val="458263716"/>
                    </a:ext>
                  </a:extLst>
                </a:gridCol>
                <a:gridCol w="1861757">
                  <a:extLst>
                    <a:ext uri="{9D8B030D-6E8A-4147-A177-3AD203B41FA5}">
                      <a16:colId xmlns:a16="http://schemas.microsoft.com/office/drawing/2014/main" val="2551242871"/>
                    </a:ext>
                  </a:extLst>
                </a:gridCol>
                <a:gridCol w="1625600">
                  <a:extLst>
                    <a:ext uri="{9D8B030D-6E8A-4147-A177-3AD203B41FA5}">
                      <a16:colId xmlns:a16="http://schemas.microsoft.com/office/drawing/2014/main" val="1660022195"/>
                    </a:ext>
                  </a:extLst>
                </a:gridCol>
              </a:tblGrid>
              <a:tr h="370840">
                <a:tc>
                  <a:txBody>
                    <a:bodyPr/>
                    <a:lstStyle/>
                    <a:p>
                      <a:pPr algn="ctr"/>
                      <a:r>
                        <a:rPr lang="en-US" dirty="0">
                          <a:solidFill>
                            <a:srgbClr val="FFC000"/>
                          </a:solidFill>
                        </a:rPr>
                        <a:t>Intersecting magnitude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en-US" dirty="0">
                          <a:solidFill>
                            <a:schemeClr val="bg1"/>
                          </a:solidFill>
                        </a:rPr>
                        <a:t>At emission, r = 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en-US" dirty="0">
                          <a:solidFill>
                            <a:schemeClr val="bg1"/>
                          </a:solidFill>
                        </a:rPr>
                        <a:t>r &gt; 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51843901"/>
                  </a:ext>
                </a:extLst>
              </a:tr>
              <a:tr h="370840">
                <a:tc>
                  <a:txBody>
                    <a:bodyPr/>
                    <a:lstStyle/>
                    <a:p>
                      <a:pPr algn="ctr"/>
                      <a:r>
                        <a:rPr lang="en-US" dirty="0">
                          <a:solidFill>
                            <a:schemeClr val="bg1"/>
                          </a:solidFill>
                        </a:rPr>
                        <a:t>v = 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en-US" b="1" dirty="0">
                          <a:solidFill>
                            <a:srgbClr val="FFC000"/>
                          </a:solidFill>
                        </a:rPr>
                        <a:t>|q|</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en-US" b="1" dirty="0">
                          <a:solidFill>
                            <a:srgbClr val="FFC000"/>
                          </a:solidFill>
                        </a:rPr>
                        <a:t>|q|/(4 pi r</a:t>
                      </a:r>
                      <a:r>
                        <a:rPr lang="en-US" b="1" baseline="30000" dirty="0">
                          <a:solidFill>
                            <a:srgbClr val="FFC000"/>
                          </a:solidFill>
                        </a:rPr>
                        <a:t>2</a:t>
                      </a:r>
                      <a:r>
                        <a:rPr lang="en-US" b="1" baseline="0" dirty="0">
                          <a:solidFill>
                            <a:srgbClr val="FFC000"/>
                          </a:solidFill>
                        </a:rPr>
                        <a:t>)</a:t>
                      </a:r>
                      <a:endParaRPr lang="en-US" b="1" baseline="30000" dirty="0">
                        <a:solidFill>
                          <a:srgbClr val="FFC000"/>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58312125"/>
                  </a:ext>
                </a:extLst>
              </a:tr>
              <a:tr h="370840">
                <a:tc>
                  <a:txBody>
                    <a:bodyPr/>
                    <a:lstStyle/>
                    <a:p>
                      <a:pPr algn="ctr"/>
                      <a:r>
                        <a:rPr lang="en-US" dirty="0">
                          <a:solidFill>
                            <a:schemeClr val="bg1"/>
                          </a:solidFill>
                        </a:rPr>
                        <a:t>v &gt; 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en-US" b="1" dirty="0">
                          <a:solidFill>
                            <a:srgbClr val="FFC000"/>
                          </a:solidFill>
                        </a:rPr>
                        <a:t>|q|/v</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solidFill>
                            <a:srgbClr val="FFC000"/>
                          </a:solidFill>
                        </a:rPr>
                        <a:t>|q|/(v 4 pi r</a:t>
                      </a:r>
                      <a:r>
                        <a:rPr lang="en-US" b="1" baseline="30000" dirty="0">
                          <a:solidFill>
                            <a:srgbClr val="FFC000"/>
                          </a:solidFill>
                        </a:rPr>
                        <a:t>2</a:t>
                      </a:r>
                      <a:r>
                        <a:rPr lang="en-US" b="1" baseline="0" dirty="0">
                          <a:solidFill>
                            <a:srgbClr val="FFC000"/>
                          </a:solidFill>
                        </a:rPr>
                        <a:t>)</a:t>
                      </a:r>
                      <a:endParaRPr lang="en-US" b="1" baseline="30000" dirty="0">
                        <a:solidFill>
                          <a:srgbClr val="FFC000"/>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12571088"/>
                  </a:ext>
                </a:extLst>
              </a:tr>
            </a:tbl>
          </a:graphicData>
        </a:graphic>
      </p:graphicFrame>
    </p:spTree>
    <p:extLst>
      <p:ext uri="{BB962C8B-B14F-4D97-AF65-F5344CB8AC3E}">
        <p14:creationId xmlns:p14="http://schemas.microsoft.com/office/powerpoint/2010/main" val="15903532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D3BD9-EF0C-1E44-A158-923D0C7D4BB3}"/>
              </a:ext>
            </a:extLst>
          </p:cNvPr>
          <p:cNvSpPr>
            <a:spLocks noGrp="1"/>
          </p:cNvSpPr>
          <p:nvPr>
            <p:ph type="title"/>
          </p:nvPr>
        </p:nvSpPr>
        <p:spPr>
          <a:xfrm>
            <a:off x="2845864" y="279249"/>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Point Potential Have No Speed Limit</a:t>
            </a:r>
          </a:p>
        </p:txBody>
      </p:sp>
      <p:grpSp>
        <p:nvGrpSpPr>
          <p:cNvPr id="16" name="Group 15">
            <a:extLst>
              <a:ext uri="{FF2B5EF4-FFF2-40B4-BE49-F238E27FC236}">
                <a16:creationId xmlns:a16="http://schemas.microsoft.com/office/drawing/2014/main"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xmlns:a16="http://schemas.microsoft.com/office/drawing/2014/main"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xmlns:a16="http://schemas.microsoft.com/office/drawing/2014/main"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xmlns:a16="http://schemas.microsoft.com/office/drawing/2014/main"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xmlns:a16="http://schemas.microsoft.com/office/drawing/2014/main"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xmlns:a16="http://schemas.microsoft.com/office/drawing/2014/main"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xmlns:a16="http://schemas.microsoft.com/office/drawing/2014/main"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xmlns:a16="http://schemas.microsoft.com/office/drawing/2014/main"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xmlns:a16="http://schemas.microsoft.com/office/drawing/2014/main"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xmlns:a16="http://schemas.microsoft.com/office/drawing/2014/main"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33" name="Rectangle 32">
            <a:extLst>
              <a:ext uri="{FF2B5EF4-FFF2-40B4-BE49-F238E27FC236}">
                <a16:creationId xmlns:a16="http://schemas.microsoft.com/office/drawing/2014/main" id="{6FB04752-7BBD-3648-BE22-8D983884B555}"/>
              </a:ext>
            </a:extLst>
          </p:cNvPr>
          <p:cNvSpPr/>
          <p:nvPr/>
        </p:nvSpPr>
        <p:spPr>
          <a:xfrm>
            <a:off x="1054309" y="1050303"/>
            <a:ext cx="10083402"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However, speed limits may arise in </a:t>
            </a:r>
            <a:r>
              <a:rPr kumimoji="0" lang="en-US" sz="2800" b="1" i="0" u="none" strike="noStrike" kern="1200" cap="none" spc="0" normalizeH="0" baseline="0" noProof="0" dirty="0" err="1">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emergen</a:t>
            </a:r>
            <a:r>
              <a:rPr lang="en-US" sz="2800"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t assemblies.</a:t>
            </a:r>
            <a:endPar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1" name="Group 10">
            <a:extLst>
              <a:ext uri="{FF2B5EF4-FFF2-40B4-BE49-F238E27FC236}">
                <a16:creationId xmlns:a16="http://schemas.microsoft.com/office/drawing/2014/main"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xmlns:a16="http://schemas.microsoft.com/office/drawing/2014/main"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xmlns:a16="http://schemas.microsoft.com/office/drawing/2014/main"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xmlns:a16="http://schemas.microsoft.com/office/drawing/2014/main" id="{246E4B47-B7AD-0745-91FA-AA77D12D888D}"/>
              </a:ext>
            </a:extLst>
          </p:cNvPr>
          <p:cNvSpPr txBox="1">
            <a:spLocks/>
          </p:cNvSpPr>
          <p:nvPr/>
        </p:nvSpPr>
        <p:spPr>
          <a:xfrm>
            <a:off x="9214069" y="6344564"/>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xmlns:a16="http://schemas.microsoft.com/office/drawing/2014/main"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xmlns:a16="http://schemas.microsoft.com/office/drawing/2014/main"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xmlns:a16="http://schemas.microsoft.com/office/drawing/2014/main"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spTree>
    <p:extLst>
      <p:ext uri="{BB962C8B-B14F-4D97-AF65-F5344CB8AC3E}">
        <p14:creationId xmlns:p14="http://schemas.microsoft.com/office/powerpoint/2010/main" val="4981974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6523CFA3-354C-6364-10BC-40DB888FCA07}"/>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3F45CE82-C844-2CCA-4C12-B7D645D177D4}"/>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 name="TextBox 1">
            <a:extLst>
              <a:ext uri="{FF2B5EF4-FFF2-40B4-BE49-F238E27FC236}">
                <a16:creationId xmlns:a16="http://schemas.microsoft.com/office/drawing/2014/main" id="{ECC31941-494B-CB33-F627-6BE70A2153F3}"/>
              </a:ext>
            </a:extLst>
          </p:cNvPr>
          <p:cNvSpPr txBox="1"/>
          <p:nvPr/>
        </p:nvSpPr>
        <p:spPr>
          <a:xfrm>
            <a:off x="293364" y="837509"/>
            <a:ext cx="11465670" cy="4247317"/>
          </a:xfrm>
          <a:prstGeom prst="rect">
            <a:avLst/>
          </a:prstGeom>
          <a:noFill/>
        </p:spPr>
        <p:txBody>
          <a:bodyPr wrap="square" rtlCol="0">
            <a:spAutoFit/>
          </a:bodyPr>
          <a:lstStyle/>
          <a:p>
            <a:pPr algn="l"/>
            <a:r>
              <a:rPr lang="en-US" b="0" i="0" u="none" strike="noStrike">
                <a:solidFill>
                  <a:schemeClr val="bg1"/>
                </a:solidFill>
                <a:effectLst/>
                <a:latin typeface="HelveticaNeue-UltraLightItalic" panose="02000503000000020004" pitchFamily="2" charset="0"/>
              </a:rPr>
              <a:t>PP are truly a point with constant rate emission. dq/dt = constant</a:t>
            </a:r>
          </a:p>
          <a:p>
            <a:pPr algn="l"/>
            <a:r>
              <a:rPr lang="en-US" b="0" i="0" u="none" strike="noStrike">
                <a:solidFill>
                  <a:schemeClr val="bg1"/>
                </a:solidFill>
                <a:effectLst/>
                <a:latin typeface="HelveticaNeue-UltraLightItalic" panose="02000503000000020004" pitchFamily="2" charset="0"/>
              </a:rPr>
              <a:t>show intersection of a potential sphere results in action</a:t>
            </a:r>
          </a:p>
          <a:p>
            <a:pPr algn="l"/>
            <a:r>
              <a:rPr lang="en-US" b="0" i="0" u="none" strike="noStrike">
                <a:solidFill>
                  <a:schemeClr val="bg1"/>
                </a:solidFill>
                <a:effectLst/>
                <a:latin typeface="HelveticaNeue-UltraLightItalic" panose="02000503000000020004" pitchFamily="2" charset="0"/>
              </a:rPr>
              <a:t>show how the receiving point potential has infinite solutions along the line defined by emission and reception</a:t>
            </a:r>
          </a:p>
          <a:p>
            <a:r>
              <a:rPr lang="en-US" b="0" i="0" u="none" strike="noStrike">
                <a:solidFill>
                  <a:schemeClr val="bg1"/>
                </a:solidFill>
                <a:effectLst/>
                <a:latin typeface="HelveticaNeue-UltraLightItalic" panose="02000503000000020004" pitchFamily="2" charset="0"/>
              </a:rPr>
              <a:t>towards the partner if the partner is opposite, or away from the partner if the partner is a like potential</a:t>
            </a:r>
          </a:p>
          <a:p>
            <a:pPr algn="l"/>
            <a:endParaRPr lang="en-US" b="0" i="0" u="none" strike="noStrike">
              <a:solidFill>
                <a:schemeClr val="bg1"/>
              </a:solidFill>
              <a:effectLst/>
              <a:latin typeface="HelveticaNeue-UltraLightItalic" panose="02000503000000020004" pitchFamily="2" charset="0"/>
            </a:endParaRPr>
          </a:p>
          <a:p>
            <a:pPr algn="l"/>
            <a:r>
              <a:rPr lang="en-US" b="0" i="0" u="none" strike="noStrike">
                <a:solidFill>
                  <a:schemeClr val="bg1"/>
                </a:solidFill>
                <a:effectLst/>
                <a:latin typeface="HelveticaNeue-UltraLightItalic" panose="02000503000000020004" pitchFamily="2" charset="0"/>
              </a:rPr>
              <a:t>if v-emitter=0 then emission magnitude = |q| -- then q-received = q-transmitted/r.  </a:t>
            </a:r>
          </a:p>
          <a:p>
            <a:pPr algn="l"/>
            <a:endParaRPr lang="en-US" b="0" i="0" u="none" strike="noStrike">
              <a:solidFill>
                <a:schemeClr val="bg1"/>
              </a:solidFill>
              <a:effectLst/>
              <a:latin typeface="HelveticaNeue-UltraLightItalic" panose="02000503000000020004" pitchFamily="2" charset="0"/>
            </a:endParaRPr>
          </a:p>
          <a:p>
            <a:pPr algn="l"/>
            <a:r>
              <a:rPr lang="en-US" b="0" i="0" u="none" strike="noStrike">
                <a:solidFill>
                  <a:schemeClr val="bg1"/>
                </a:solidFill>
                <a:effectLst/>
                <a:latin typeface="HelveticaNeue-UltraLightItalic" panose="02000503000000020004" pitchFamily="2" charset="0"/>
              </a:rPr>
              <a:t>regardless of v-emitter, it may be convenient to imagine a v-emitter = 0 and actual q to simplify the calculations.</a:t>
            </a:r>
          </a:p>
          <a:p>
            <a:pPr algn="l"/>
            <a:endParaRPr lang="en-US" b="0" i="0" u="none" strike="noStrike">
              <a:solidFill>
                <a:schemeClr val="bg1"/>
              </a:solidFill>
              <a:effectLst/>
              <a:latin typeface="HelveticaNeue-UltraLightItalic" panose="02000503000000020004" pitchFamily="2" charset="0"/>
            </a:endParaRPr>
          </a:p>
          <a:p>
            <a:pPr algn="l"/>
            <a:r>
              <a:rPr lang="en-US" b="0" i="0" u="none" strike="noStrike">
                <a:solidFill>
                  <a:schemeClr val="bg1"/>
                </a:solidFill>
                <a:effectLst/>
                <a:latin typeface="HelveticaNeue-UltraLightItalic" panose="02000503000000020004" pitchFamily="2" charset="0"/>
              </a:rPr>
              <a:t>also, how does v-receiver play in to this.  </a:t>
            </a:r>
          </a:p>
          <a:p>
            <a:pPr algn="l"/>
            <a:r>
              <a:rPr lang="en-US" b="0" i="0" u="none" strike="noStrike">
                <a:solidFill>
                  <a:schemeClr val="bg1"/>
                </a:solidFill>
                <a:effectLst/>
                <a:latin typeface="HelveticaNeue-UltraLightItalic" panose="02000503000000020004" pitchFamily="2" charset="0"/>
              </a:rPr>
              <a:t>v-receiver = 0, no impact</a:t>
            </a:r>
          </a:p>
          <a:p>
            <a:pPr algn="l"/>
            <a:r>
              <a:rPr lang="en-US" b="0" i="0" u="none" strike="noStrike">
                <a:solidFill>
                  <a:schemeClr val="bg1"/>
                </a:solidFill>
                <a:effectLst/>
                <a:latin typeface="HelveticaNeue-UltraLightItalic" panose="02000503000000020004" pitchFamily="2" charset="0"/>
              </a:rPr>
              <a:t>for portion of v-receiver on a geodesic ?</a:t>
            </a:r>
          </a:p>
          <a:p>
            <a:pPr algn="l"/>
            <a:r>
              <a:rPr lang="en-US" b="0" i="0" u="none" strike="noStrike">
                <a:solidFill>
                  <a:schemeClr val="bg1"/>
                </a:solidFill>
                <a:effectLst/>
                <a:latin typeface="HelveticaNeue-UltraLightItalic" panose="02000503000000020004" pitchFamily="2" charset="0"/>
              </a:rPr>
              <a:t>for portion of v-receiver on the line to emission then calculation is different</a:t>
            </a:r>
          </a:p>
          <a:p>
            <a:pPr algn="l"/>
            <a:r>
              <a:rPr lang="en-US" b="0" i="0" u="none" strike="noStrike">
                <a:solidFill>
                  <a:schemeClr val="bg1"/>
                </a:solidFill>
                <a:effectLst/>
                <a:latin typeface="HelveticaNeue-UltraLightItalic" panose="02000503000000020004" pitchFamily="2" charset="0"/>
              </a:rPr>
              <a:t>how does gradient of potential factor in to action?</a:t>
            </a:r>
          </a:p>
          <a:p>
            <a:pPr algn="l"/>
            <a:r>
              <a:rPr lang="en-US" b="0" i="0" u="none" strike="noStrike">
                <a:solidFill>
                  <a:schemeClr val="bg1"/>
                </a:solidFill>
                <a:effectLst/>
                <a:latin typeface="HelveticaNeue-UltraLightItalic" panose="02000503000000020004" pitchFamily="2" charset="0"/>
              </a:rPr>
              <a:t>it is more work to move away from an opposite emitter, and towards a like emitter and vice versa.</a:t>
            </a:r>
          </a:p>
        </p:txBody>
      </p:sp>
      <p:sp>
        <p:nvSpPr>
          <p:cNvPr id="8" name="TextBox 7">
            <a:extLst>
              <a:ext uri="{FF2B5EF4-FFF2-40B4-BE49-F238E27FC236}">
                <a16:creationId xmlns:a16="http://schemas.microsoft.com/office/drawing/2014/main" id="{9C9E08D3-A836-13F3-ABBA-84160A212EDC}"/>
              </a:ext>
            </a:extLst>
          </p:cNvPr>
          <p:cNvSpPr txBox="1"/>
          <p:nvPr/>
        </p:nvSpPr>
        <p:spPr>
          <a:xfrm>
            <a:off x="486437" y="104273"/>
            <a:ext cx="11580073" cy="523220"/>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More things to explain slowly in the slides above </a:t>
            </a:r>
          </a:p>
        </p:txBody>
      </p:sp>
    </p:spTree>
    <p:extLst>
      <p:ext uri="{BB962C8B-B14F-4D97-AF65-F5344CB8AC3E}">
        <p14:creationId xmlns:p14="http://schemas.microsoft.com/office/powerpoint/2010/main" val="30423298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 name="TextBox 1">
            <a:extLst>
              <a:ext uri="{FF2B5EF4-FFF2-40B4-BE49-F238E27FC236}">
                <a16:creationId xmlns:a16="http://schemas.microsoft.com/office/drawing/2014/main" id="{DDEA4115-15F8-921F-AB6F-6FB061DB5DDD}"/>
              </a:ext>
            </a:extLst>
          </p:cNvPr>
          <p:cNvSpPr txBox="1"/>
          <p:nvPr/>
        </p:nvSpPr>
        <p:spPr>
          <a:xfrm>
            <a:off x="512273" y="1228397"/>
            <a:ext cx="11465670" cy="4649863"/>
          </a:xfrm>
          <a:prstGeom prst="rect">
            <a:avLst/>
          </a:prstGeom>
          <a:noFill/>
        </p:spPr>
        <p:txBody>
          <a:bodyPr wrap="square" rtlCol="0">
            <a:spAutoFit/>
          </a:bodyPr>
          <a:lstStyle/>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A unit potential is described by (sign, time, position, velocity) (-/+ </a:t>
            </a:r>
            <a:r>
              <a:rPr kumimoji="0" lang="el-GR" sz="2000" b="0"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δ</a:t>
            </a:r>
            <a:r>
              <a:rPr kumimoji="0" lang="en-US" sz="2000" b="0"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 t, s, s’)</a:t>
            </a:r>
            <a:endPar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Like unit potentials repel. </a:t>
            </a: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O</a:t>
            </a:r>
            <a:r>
              <a:rPr kumimoji="0" lang="en-US" sz="2000" b="0" i="0" u="none" strike="noStrike" kern="1200" cap="none" spc="0" normalizeH="0" baseline="0" noProof="0" dirty="0" err="1">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pposite</a:t>
            </a: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 unit potentials attract. </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sum of all unit potential in the universe is zero.</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path of a unit potential is presumed to span all time to t=now.</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Point potentials are acted upon by the local superposition of all coincident Dirac spheres. </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A point potential with v &lt; @ is inside its emitted Dirac potential spheres.</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A point potential with v &gt; @ is outside its emitted Dirac potential spheres.</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Once a unit potential velocity crosses @ then self-action occurs.</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Vector velocity orientation and magnitude of both the emitter and receiver are directly related to computing the action when crossing a Dirac sphere. </a:t>
            </a:r>
          </a:p>
        </p:txBody>
      </p:sp>
      <p:sp>
        <p:nvSpPr>
          <p:cNvPr id="8" name="TextBox 7">
            <a:extLst>
              <a:ext uri="{FF2B5EF4-FFF2-40B4-BE49-F238E27FC236}">
                <a16:creationId xmlns:a16="http://schemas.microsoft.com/office/drawing/2014/main" id="{60D7070F-73F6-024C-A784-AA2DE3B8E022}"/>
              </a:ext>
            </a:extLst>
          </p:cNvPr>
          <p:cNvSpPr txBox="1"/>
          <p:nvPr/>
        </p:nvSpPr>
        <p:spPr>
          <a:xfrm>
            <a:off x="512272" y="321582"/>
            <a:ext cx="11580073"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Foundation for a Dynamical </a:t>
            </a: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a:t>
            </a:r>
            <a:r>
              <a:rPr kumimoji="0" lang="en-US" sz="2800" b="1" i="0" u="none" strike="noStrike" kern="1200" cap="none" spc="0" normalizeH="0" baseline="0" noProof="0" dirty="0" err="1">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eometry</a:t>
            </a:r>
            <a:r>
              <a:rPr kumimoji="0" lang="en-US" sz="2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 of Nature and the Universe </a:t>
            </a:r>
          </a:p>
        </p:txBody>
      </p:sp>
    </p:spTree>
    <p:extLst>
      <p:ext uri="{BB962C8B-B14F-4D97-AF65-F5344CB8AC3E}">
        <p14:creationId xmlns:p14="http://schemas.microsoft.com/office/powerpoint/2010/main" val="328739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A8AA5BC-4F7A-4226-8F99-6D824B226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24"/>
            <a:ext cx="12192000" cy="68613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E5445C6-DD42-4979-86FF-03730E8C6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734" y="321733"/>
            <a:ext cx="11573488" cy="6214534"/>
          </a:xfrm>
          <a:prstGeom prst="rect">
            <a:avLst/>
          </a:prstGeom>
          <a:solidFill>
            <a:schemeClr val="bg1">
              <a:lumMod val="75000"/>
              <a:lumOff val="25000"/>
            </a:schemeClr>
          </a:solidFill>
          <a:ln w="127000" cap="sq" cmpd="thinThick">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10B119-EC53-BA46-BAA3-CB758CDEDAF5}"/>
              </a:ext>
            </a:extLst>
          </p:cNvPr>
          <p:cNvSpPr>
            <a:spLocks noGrp="1"/>
          </p:cNvSpPr>
          <p:nvPr>
            <p:ph type="ctrTitle"/>
          </p:nvPr>
        </p:nvSpPr>
        <p:spPr>
          <a:xfrm>
            <a:off x="1524000" y="1122362"/>
            <a:ext cx="9144000" cy="2840037"/>
          </a:xfrm>
        </p:spPr>
        <p:txBody>
          <a:bodyPr>
            <a:normAutofit/>
          </a:bodyPr>
          <a:lstStyle/>
          <a:p>
            <a:r>
              <a:rPr lang="en-US" sz="5800" dirty="0"/>
              <a:t>Thank You</a:t>
            </a:r>
          </a:p>
        </p:txBody>
      </p:sp>
      <p:sp>
        <p:nvSpPr>
          <p:cNvPr id="3" name="Subtitle 2">
            <a:extLst>
              <a:ext uri="{FF2B5EF4-FFF2-40B4-BE49-F238E27FC236}">
                <a16:creationId xmlns:a16="http://schemas.microsoft.com/office/drawing/2014/main" id="{44E6BC0E-0DB7-C346-A0CC-E3CB36C29A54}"/>
              </a:ext>
            </a:extLst>
          </p:cNvPr>
          <p:cNvSpPr>
            <a:spLocks noGrp="1"/>
          </p:cNvSpPr>
          <p:nvPr>
            <p:ph type="subTitle" idx="1"/>
          </p:nvPr>
        </p:nvSpPr>
        <p:spPr>
          <a:xfrm>
            <a:off x="1524000" y="4256436"/>
            <a:ext cx="9144000" cy="1600818"/>
          </a:xfrm>
        </p:spPr>
        <p:txBody>
          <a:bodyPr>
            <a:normAutofit/>
          </a:bodyPr>
          <a:lstStyle/>
          <a:p>
            <a:r>
              <a:rPr lang="en-US" dirty="0"/>
              <a:t>Questions?</a:t>
            </a:r>
          </a:p>
        </p:txBody>
      </p:sp>
      <p:cxnSp>
        <p:nvCxnSpPr>
          <p:cNvPr id="13" name="Straight Connector 12">
            <a:extLst>
              <a:ext uri="{FF2B5EF4-FFF2-40B4-BE49-F238E27FC236}">
                <a16:creationId xmlns:a16="http://schemas.microsoft.com/office/drawing/2014/main" id="{45000665-DFC7-417E-8FD7-516A0F15C9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4109417"/>
            <a:ext cx="2743200" cy="0"/>
          </a:xfrm>
          <a:prstGeom prst="line">
            <a:avLst/>
          </a:prstGeom>
          <a:ln w="12700">
            <a:solidFill>
              <a:schemeClr val="tx1">
                <a:lumMod val="85000"/>
              </a:schemeClr>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9E726E67-7B90-B642-8D26-6DDF890C4785}"/>
              </a:ext>
            </a:extLst>
          </p:cNvPr>
          <p:cNvSpPr>
            <a:spLocks noGrp="1"/>
          </p:cNvSpPr>
          <p:nvPr>
            <p:ph type="ftr" sz="quarter" idx="11"/>
          </p:nvPr>
        </p:nvSpPr>
        <p:spPr>
          <a:xfrm>
            <a:off x="4038600" y="615971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Model of Nature</a:t>
            </a:r>
          </a:p>
        </p:txBody>
      </p:sp>
    </p:spTree>
    <p:extLst>
      <p:ext uri="{BB962C8B-B14F-4D97-AF65-F5344CB8AC3E}">
        <p14:creationId xmlns:p14="http://schemas.microsoft.com/office/powerpoint/2010/main" val="3747833275"/>
      </p:ext>
    </p:extLst>
  </p:cSld>
  <p:clrMapOvr>
    <a:overrideClrMapping bg1="dk1" tx1="lt1" bg2="dk2" tx2="lt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84A2A9E9-70D3-76F3-62DA-B8A646AE36F7}"/>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14825113-EAFD-FBE0-8FFF-ADE632AC730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8" name="TextBox 7">
            <a:extLst>
              <a:ext uri="{FF2B5EF4-FFF2-40B4-BE49-F238E27FC236}">
                <a16:creationId xmlns:a16="http://schemas.microsoft.com/office/drawing/2014/main" id="{238E18F6-C9DC-76A4-6BE8-0F4D215C824E}"/>
              </a:ext>
            </a:extLst>
          </p:cNvPr>
          <p:cNvSpPr txBox="1"/>
          <p:nvPr/>
        </p:nvSpPr>
        <p:spPr>
          <a:xfrm>
            <a:off x="0" y="0"/>
            <a:ext cx="12192000" cy="6986528"/>
          </a:xfrm>
          <a:prstGeom prst="rect">
            <a:avLst/>
          </a:prstGeom>
          <a:noFill/>
        </p:spPr>
        <p:txBody>
          <a:bodyPr wrap="square">
            <a:spAutoFit/>
          </a:bodyPr>
          <a:lstStyle/>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idea of point charges as fundamental building blocks of nature has played a significant role in the history of particle physics. </a:t>
            </a:r>
          </a:p>
          <a:p>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This concept emerged with the development of atomic and subatomic theories, particularly in the late 19th and early 20th centuries.</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 "point charge" is an idealized model, representing an electric charge concentrated at a single point in time and space. </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Prior to the discovery of the internal structure of the atom, early theories proposed that positive and negative charges could account for the observed electrical properties of matter.</a:t>
            </a:r>
          </a:p>
          <a:p>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Proton and Electron Identification:</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J.J. Thomson discovered the electron in 1897 and it carried a fundamental negative charge (−e)</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Ernest Rutherford demonstrated in 1911 the existence of a dense, positively charged nucleus.</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Rutherford’s result lead to the identification of the proton as a fundamental carrier of positive charge (+e).</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early models of the atom, such as the Rutherford model, conceptualized the electron and proton as point charges. </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Point charges were thought to define the atom's structure and behavior.</a:t>
            </a:r>
          </a:p>
          <a:p>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Theoretical Framework:</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proton and electron were initially regarded as indivisible charged point particles with no internal structure.</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Their point-like nature was essential in early quantum mechanical formulations.</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Bohr atomic model (1913) used point charges, describing electrons in discrete orbits around a nucleus of protons.</a:t>
            </a:r>
          </a:p>
          <a:p>
            <a:b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b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Transition to Modern Understanding (Quantum Theory)</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Experiments in inelastic scattering in the 1960s, revealed that protons have an internal structure of quarks bound by gluons. </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Thus the proton could not be a point charge since it had internal structure.</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electron remains a point-like particle with no internal structure, consistent with the Standard Model of particle physics. </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Though the point charge model was useful, it had theoretical issues, i.e., the infinite self-energy in classical electrodynamics. </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Quantum field theory (QFT) addresses these infinities through renormalization.</a:t>
            </a:r>
          </a:p>
          <a:p>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h/t chatgpt</a:t>
            </a:r>
          </a:p>
        </p:txBody>
      </p:sp>
      <p:sp>
        <p:nvSpPr>
          <p:cNvPr id="3" name="TextBox 2">
            <a:extLst>
              <a:ext uri="{FF2B5EF4-FFF2-40B4-BE49-F238E27FC236}">
                <a16:creationId xmlns:a16="http://schemas.microsoft.com/office/drawing/2014/main" id="{70E214BE-6576-6BE4-953B-56C5AEBEDB96}"/>
              </a:ext>
            </a:extLst>
          </p:cNvPr>
          <p:cNvSpPr txBox="1"/>
          <p:nvPr/>
        </p:nvSpPr>
        <p:spPr>
          <a:xfrm>
            <a:off x="5111016" y="-798897"/>
            <a:ext cx="1697901" cy="584775"/>
          </a:xfrm>
          <a:prstGeom prst="rect">
            <a:avLst/>
          </a:prstGeom>
          <a:noFill/>
        </p:spPr>
        <p:txBody>
          <a:bodyPr wrap="none" rtlCol="0">
            <a:spAutoFit/>
          </a:bodyPr>
          <a:lstStyle/>
          <a:p>
            <a:r>
              <a:rPr lang="en-US" sz="3200" b="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SCRIPT</a:t>
            </a:r>
          </a:p>
        </p:txBody>
      </p:sp>
    </p:spTree>
    <p:extLst>
      <p:ext uri="{BB962C8B-B14F-4D97-AF65-F5344CB8AC3E}">
        <p14:creationId xmlns:p14="http://schemas.microsoft.com/office/powerpoint/2010/main" val="27964032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F038DB4A-3170-80D2-BE14-C60EBAC46D3F}"/>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D62E685F-2B63-085A-D318-954A749F457F}"/>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3" name="TextBox 2">
            <a:extLst>
              <a:ext uri="{FF2B5EF4-FFF2-40B4-BE49-F238E27FC236}">
                <a16:creationId xmlns:a16="http://schemas.microsoft.com/office/drawing/2014/main" id="{DFF01D0D-C6C7-24BE-AE84-C46583D09214}"/>
              </a:ext>
            </a:extLst>
          </p:cNvPr>
          <p:cNvSpPr txBox="1"/>
          <p:nvPr/>
        </p:nvSpPr>
        <p:spPr>
          <a:xfrm>
            <a:off x="-3143984" y="3773103"/>
            <a:ext cx="2601994" cy="584775"/>
          </a:xfrm>
          <a:prstGeom prst="rect">
            <a:avLst/>
          </a:prstGeom>
          <a:noFill/>
        </p:spPr>
        <p:txBody>
          <a:bodyPr wrap="none" rtlCol="0">
            <a:spAutoFit/>
          </a:bodyPr>
          <a:lstStyle/>
          <a:p>
            <a:r>
              <a:rPr lang="en-US" sz="3200" b="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h/t ChatGPT</a:t>
            </a:r>
          </a:p>
        </p:txBody>
      </p:sp>
      <p:pic>
        <p:nvPicPr>
          <p:cNvPr id="2" name="Picture 1">
            <a:extLst>
              <a:ext uri="{FF2B5EF4-FFF2-40B4-BE49-F238E27FC236}">
                <a16:creationId xmlns:a16="http://schemas.microsoft.com/office/drawing/2014/main" id="{E6D33851-4BCD-E082-9760-FDEE86AC64F7}"/>
              </a:ext>
            </a:extLst>
          </p:cNvPr>
          <p:cNvPicPr>
            <a:picLocks noChangeAspect="1"/>
          </p:cNvPicPr>
          <p:nvPr/>
        </p:nvPicPr>
        <p:blipFill>
          <a:blip r:embed="rId3"/>
          <a:stretch>
            <a:fillRect/>
          </a:stretch>
        </p:blipFill>
        <p:spPr>
          <a:xfrm>
            <a:off x="0" y="0"/>
            <a:ext cx="6748474" cy="6858000"/>
          </a:xfrm>
          <a:prstGeom prst="rect">
            <a:avLst/>
          </a:prstGeom>
        </p:spPr>
      </p:pic>
      <p:sp>
        <p:nvSpPr>
          <p:cNvPr id="6" name="TextBox 5">
            <a:extLst>
              <a:ext uri="{FF2B5EF4-FFF2-40B4-BE49-F238E27FC236}">
                <a16:creationId xmlns:a16="http://schemas.microsoft.com/office/drawing/2014/main" id="{14CD8DA9-9F93-D6DC-D0B2-2A553602794A}"/>
              </a:ext>
            </a:extLst>
          </p:cNvPr>
          <p:cNvSpPr txBox="1"/>
          <p:nvPr/>
        </p:nvSpPr>
        <p:spPr>
          <a:xfrm>
            <a:off x="6748474" y="1536174"/>
            <a:ext cx="5443526" cy="3785652"/>
          </a:xfrm>
          <a:prstGeom prst="rect">
            <a:avLst/>
          </a:prstGeom>
          <a:noFill/>
        </p:spPr>
        <p:txBody>
          <a:bodyPr wrap="square">
            <a:spAutoFit/>
          </a:bodyPr>
          <a:lstStyle/>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Point charges are confusing and incompletely modeled.</a:t>
            </a: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Instead, consider a point object which</a:t>
            </a:r>
          </a:p>
          <a:p>
            <a:pPr marL="285750"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emit potential at a constant rate</a:t>
            </a:r>
          </a:p>
          <a:p>
            <a:pPr marL="285750"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act in response to received potential (superposition)</a:t>
            </a:r>
          </a:p>
          <a:p>
            <a:pPr marL="285750"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are modeled as a Dirac delta at r=0 and q/r otherwise.</a:t>
            </a:r>
          </a:p>
          <a:p>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There are multiple ways the old concerns don’t matter.</a:t>
            </a:r>
          </a:p>
          <a:p>
            <a:pPr marL="285750"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there is only one case where the 1/r path is followed and that is the spiraling binary, which has a limit.</a:t>
            </a:r>
          </a:p>
          <a:p>
            <a:pPr marL="285750"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point potentials move through potential fields at ease</a:t>
            </a:r>
          </a:p>
          <a:p>
            <a:pPr marL="285750"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everything is superposition, relax</a:t>
            </a:r>
          </a:p>
          <a:p>
            <a:pPr marL="285750" indent="-285750">
              <a:buFont typeface="Arial" panose="020B0604020202020204" pitchFamily="34" charset="0"/>
              <a:buChar char="•"/>
            </a:pPr>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self energy issues are a result of an ontology too far from base nature.</a:t>
            </a:r>
          </a:p>
        </p:txBody>
      </p:sp>
    </p:spTree>
    <p:extLst>
      <p:ext uri="{BB962C8B-B14F-4D97-AF65-F5344CB8AC3E}">
        <p14:creationId xmlns:p14="http://schemas.microsoft.com/office/powerpoint/2010/main" val="37048544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73430D88-1A63-8AAD-B38F-D98DC73DC464}"/>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753C8DBD-DDA9-7032-AAC2-D2AAC26F477E}"/>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3" name="TextBox 2">
            <a:extLst>
              <a:ext uri="{FF2B5EF4-FFF2-40B4-BE49-F238E27FC236}">
                <a16:creationId xmlns:a16="http://schemas.microsoft.com/office/drawing/2014/main" id="{ACFFDE0A-9B7D-C2B6-E32F-AE01C2F4D5B5}"/>
              </a:ext>
            </a:extLst>
          </p:cNvPr>
          <p:cNvSpPr txBox="1"/>
          <p:nvPr/>
        </p:nvSpPr>
        <p:spPr>
          <a:xfrm>
            <a:off x="-2700896" y="128970"/>
            <a:ext cx="2601994" cy="584775"/>
          </a:xfrm>
          <a:prstGeom prst="rect">
            <a:avLst/>
          </a:prstGeom>
          <a:noFill/>
        </p:spPr>
        <p:txBody>
          <a:bodyPr wrap="none" rtlCol="0">
            <a:spAutoFit/>
          </a:bodyPr>
          <a:lstStyle/>
          <a:p>
            <a:r>
              <a:rPr lang="en-US" sz="3200" b="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h/t ChatGPT</a:t>
            </a:r>
          </a:p>
        </p:txBody>
      </p:sp>
      <p:pic>
        <p:nvPicPr>
          <p:cNvPr id="4" name="Picture 3">
            <a:extLst>
              <a:ext uri="{FF2B5EF4-FFF2-40B4-BE49-F238E27FC236}">
                <a16:creationId xmlns:a16="http://schemas.microsoft.com/office/drawing/2014/main" id="{5CC8194B-30FC-BE15-3BC4-92A1EB9B3341}"/>
              </a:ext>
            </a:extLst>
          </p:cNvPr>
          <p:cNvPicPr>
            <a:picLocks noChangeAspect="1"/>
          </p:cNvPicPr>
          <p:nvPr/>
        </p:nvPicPr>
        <p:blipFill>
          <a:blip r:embed="rId3"/>
          <a:stretch>
            <a:fillRect/>
          </a:stretch>
        </p:blipFill>
        <p:spPr>
          <a:xfrm>
            <a:off x="0" y="0"/>
            <a:ext cx="5365852" cy="6858000"/>
          </a:xfrm>
          <a:prstGeom prst="rect">
            <a:avLst/>
          </a:prstGeom>
        </p:spPr>
      </p:pic>
      <p:sp>
        <p:nvSpPr>
          <p:cNvPr id="6" name="TextBox 5">
            <a:extLst>
              <a:ext uri="{FF2B5EF4-FFF2-40B4-BE49-F238E27FC236}">
                <a16:creationId xmlns:a16="http://schemas.microsoft.com/office/drawing/2014/main" id="{EDE5D03E-88C5-20A2-A1A5-70FB67273DD7}"/>
              </a:ext>
            </a:extLst>
          </p:cNvPr>
          <p:cNvSpPr txBox="1"/>
          <p:nvPr/>
        </p:nvSpPr>
        <p:spPr>
          <a:xfrm>
            <a:off x="5966734" y="283414"/>
            <a:ext cx="5655276" cy="5940088"/>
          </a:xfrm>
          <a:prstGeom prst="rect">
            <a:avLst/>
          </a:prstGeom>
          <a:noFill/>
        </p:spPr>
        <p:txBody>
          <a:bodyPr wrap="square" rtlCol="0">
            <a:spAutoFit/>
          </a:bodyPr>
          <a:lstStyle/>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Seriously?</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They gave up because of this issue?</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And they had superposition?</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And they knew about frequencies.</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And had already considered orbits.</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And knew about path history for point charges.</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It boggles my mind how major challenges and paradox are considered as perplexing oddities to be ignored and yet we put on the blinders and use proxies like renormalization in the theories.</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Are you kidding me?</a:t>
            </a:r>
          </a:p>
        </p:txBody>
      </p:sp>
      <p:pic>
        <p:nvPicPr>
          <p:cNvPr id="2" name="Picture 1">
            <a:extLst>
              <a:ext uri="{FF2B5EF4-FFF2-40B4-BE49-F238E27FC236}">
                <a16:creationId xmlns:a16="http://schemas.microsoft.com/office/drawing/2014/main" id="{433D4A9F-6D3A-A53F-5EBF-4E3AB3133871}"/>
              </a:ext>
            </a:extLst>
          </p:cNvPr>
          <p:cNvPicPr>
            <a:picLocks noChangeAspect="1"/>
          </p:cNvPicPr>
          <p:nvPr/>
        </p:nvPicPr>
        <p:blipFill>
          <a:blip r:embed="rId4"/>
          <a:stretch>
            <a:fillRect/>
          </a:stretch>
        </p:blipFill>
        <p:spPr>
          <a:xfrm>
            <a:off x="-384498" y="-6979826"/>
            <a:ext cx="5975942" cy="6858000"/>
          </a:xfrm>
          <a:prstGeom prst="rect">
            <a:avLst/>
          </a:prstGeom>
        </p:spPr>
      </p:pic>
      <p:pic>
        <p:nvPicPr>
          <p:cNvPr id="7" name="Picture 6">
            <a:extLst>
              <a:ext uri="{FF2B5EF4-FFF2-40B4-BE49-F238E27FC236}">
                <a16:creationId xmlns:a16="http://schemas.microsoft.com/office/drawing/2014/main" id="{AC32DE47-0DF1-DFA4-F0BF-74CC7FB64625}"/>
              </a:ext>
            </a:extLst>
          </p:cNvPr>
          <p:cNvPicPr>
            <a:picLocks noChangeAspect="1"/>
          </p:cNvPicPr>
          <p:nvPr/>
        </p:nvPicPr>
        <p:blipFill>
          <a:blip r:embed="rId5"/>
          <a:stretch>
            <a:fillRect/>
          </a:stretch>
        </p:blipFill>
        <p:spPr>
          <a:xfrm>
            <a:off x="5591444" y="-6979826"/>
            <a:ext cx="6475066" cy="6858000"/>
          </a:xfrm>
          <a:prstGeom prst="rect">
            <a:avLst/>
          </a:prstGeom>
        </p:spPr>
      </p:pic>
    </p:spTree>
    <p:extLst>
      <p:ext uri="{BB962C8B-B14F-4D97-AF65-F5344CB8AC3E}">
        <p14:creationId xmlns:p14="http://schemas.microsoft.com/office/powerpoint/2010/main" val="22668399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350FC2F0-7016-191E-C62B-2F1043B51523}"/>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358ED6BC-E906-5E1F-C9E2-F43798AED530}"/>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 name="TextBox 1">
            <a:extLst>
              <a:ext uri="{FF2B5EF4-FFF2-40B4-BE49-F238E27FC236}">
                <a16:creationId xmlns:a16="http://schemas.microsoft.com/office/drawing/2014/main" id="{132FD10F-4787-35B9-3723-FC903514578F}"/>
              </a:ext>
            </a:extLst>
          </p:cNvPr>
          <p:cNvSpPr txBox="1"/>
          <p:nvPr/>
        </p:nvSpPr>
        <p:spPr>
          <a:xfrm>
            <a:off x="512272" y="902394"/>
            <a:ext cx="11465670" cy="1631216"/>
          </a:xfrm>
          <a:prstGeom prst="rect">
            <a:avLst/>
          </a:prstGeom>
          <a:noFill/>
        </p:spPr>
        <p:txBody>
          <a:bodyPr wrap="square" rtlCol="0">
            <a:spAutoFit/>
          </a:bodyPr>
          <a:lstStyle/>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Use grad, div, curl to make fundamental obserations about the emissions of point potentials.</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Use systems of up to two point potentials</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Can any of these be proven geometrically?</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Compare to Maxwell in Del form.</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TextBox 7">
            <a:extLst>
              <a:ext uri="{FF2B5EF4-FFF2-40B4-BE49-F238E27FC236}">
                <a16:creationId xmlns:a16="http://schemas.microsoft.com/office/drawing/2014/main" id="{66D94C86-9437-C0D1-B6E9-EE6E69B9F6C8}"/>
              </a:ext>
            </a:extLst>
          </p:cNvPr>
          <p:cNvSpPr txBox="1"/>
          <p:nvPr/>
        </p:nvSpPr>
        <p:spPr>
          <a:xfrm>
            <a:off x="512272" y="321582"/>
            <a:ext cx="11580073" cy="523220"/>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Examining the Potential Field of 0, 1, or 2 Point Potentials </a:t>
            </a:r>
          </a:p>
        </p:txBody>
      </p:sp>
      <p:graphicFrame>
        <p:nvGraphicFramePr>
          <p:cNvPr id="3" name="Table 2">
            <a:extLst>
              <a:ext uri="{FF2B5EF4-FFF2-40B4-BE49-F238E27FC236}">
                <a16:creationId xmlns:a16="http://schemas.microsoft.com/office/drawing/2014/main" id="{00BA6015-2262-3C7A-725A-2DB70D52AD3C}"/>
              </a:ext>
            </a:extLst>
          </p:cNvPr>
          <p:cNvGraphicFramePr>
            <a:graphicFrameLocks noGrp="1"/>
          </p:cNvGraphicFramePr>
          <p:nvPr>
            <p:extLst>
              <p:ext uri="{D42A27DB-BD31-4B8C-83A1-F6EECF244321}">
                <p14:modId xmlns:p14="http://schemas.microsoft.com/office/powerpoint/2010/main" val="15347663"/>
              </p:ext>
            </p:extLst>
          </p:nvPr>
        </p:nvGraphicFramePr>
        <p:xfrm>
          <a:off x="496136" y="2808006"/>
          <a:ext cx="11199727" cy="3032769"/>
        </p:xfrm>
        <a:graphic>
          <a:graphicData uri="http://schemas.openxmlformats.org/drawingml/2006/table">
            <a:tbl>
              <a:tblPr firstRow="1" bandRow="1">
                <a:tableStyleId>{5C22544A-7EE6-4342-B048-85BDC9FD1C3A}</a:tableStyleId>
              </a:tblPr>
              <a:tblGrid>
                <a:gridCol w="1825139">
                  <a:extLst>
                    <a:ext uri="{9D8B030D-6E8A-4147-A177-3AD203B41FA5}">
                      <a16:colId xmlns:a16="http://schemas.microsoft.com/office/drawing/2014/main" val="3215995319"/>
                    </a:ext>
                  </a:extLst>
                </a:gridCol>
                <a:gridCol w="724218">
                  <a:extLst>
                    <a:ext uri="{9D8B030D-6E8A-4147-A177-3AD203B41FA5}">
                      <a16:colId xmlns:a16="http://schemas.microsoft.com/office/drawing/2014/main" val="2078492112"/>
                    </a:ext>
                  </a:extLst>
                </a:gridCol>
                <a:gridCol w="626872">
                  <a:extLst>
                    <a:ext uri="{9D8B030D-6E8A-4147-A177-3AD203B41FA5}">
                      <a16:colId xmlns:a16="http://schemas.microsoft.com/office/drawing/2014/main" val="1858572401"/>
                    </a:ext>
                  </a:extLst>
                </a:gridCol>
                <a:gridCol w="1452563">
                  <a:extLst>
                    <a:ext uri="{9D8B030D-6E8A-4147-A177-3AD203B41FA5}">
                      <a16:colId xmlns:a16="http://schemas.microsoft.com/office/drawing/2014/main" val="1326786380"/>
                    </a:ext>
                  </a:extLst>
                </a:gridCol>
                <a:gridCol w="1154113">
                  <a:extLst>
                    <a:ext uri="{9D8B030D-6E8A-4147-A177-3AD203B41FA5}">
                      <a16:colId xmlns:a16="http://schemas.microsoft.com/office/drawing/2014/main" val="918904619"/>
                    </a:ext>
                  </a:extLst>
                </a:gridCol>
                <a:gridCol w="724218">
                  <a:extLst>
                    <a:ext uri="{9D8B030D-6E8A-4147-A177-3AD203B41FA5}">
                      <a16:colId xmlns:a16="http://schemas.microsoft.com/office/drawing/2014/main" val="2078907028"/>
                    </a:ext>
                  </a:extLst>
                </a:gridCol>
                <a:gridCol w="1465580">
                  <a:extLst>
                    <a:ext uri="{9D8B030D-6E8A-4147-A177-3AD203B41FA5}">
                      <a16:colId xmlns:a16="http://schemas.microsoft.com/office/drawing/2014/main" val="2505089680"/>
                    </a:ext>
                  </a:extLst>
                </a:gridCol>
                <a:gridCol w="1167130">
                  <a:extLst>
                    <a:ext uri="{9D8B030D-6E8A-4147-A177-3AD203B41FA5}">
                      <a16:colId xmlns:a16="http://schemas.microsoft.com/office/drawing/2014/main" val="3084425507"/>
                    </a:ext>
                  </a:extLst>
                </a:gridCol>
                <a:gridCol w="2059894">
                  <a:extLst>
                    <a:ext uri="{9D8B030D-6E8A-4147-A177-3AD203B41FA5}">
                      <a16:colId xmlns:a16="http://schemas.microsoft.com/office/drawing/2014/main" val="1198364657"/>
                    </a:ext>
                  </a:extLst>
                </a:gridCol>
              </a:tblGrid>
              <a:tr h="680729">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Region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4">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No point potentials</a:t>
                      </a:r>
                      <a:b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b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(does it match superposition?)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3">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One moving point potential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A pair of opposite or same point potentials.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02720088"/>
                  </a:ext>
                </a:extLst>
              </a:tr>
              <a:tr h="680729">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External Moving Point Potentials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None</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One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Two opposite</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Two same</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None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One opposite</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One same</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None</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284323"/>
                  </a:ext>
                </a:extLst>
              </a:tr>
              <a:tr h="370840">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Gradient of Potential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None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3">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Based on path of emitters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10215886"/>
                  </a:ext>
                </a:extLst>
              </a:tr>
              <a:tr h="370840">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Divergence of Potential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 q</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 q</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064039919"/>
                  </a:ext>
                </a:extLst>
              </a:tr>
              <a:tr h="370840">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Curl of Potential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64217278"/>
                  </a:ext>
                </a:extLst>
              </a:tr>
            </a:tbl>
          </a:graphicData>
        </a:graphic>
      </p:graphicFrame>
    </p:spTree>
    <p:extLst>
      <p:ext uri="{BB962C8B-B14F-4D97-AF65-F5344CB8AC3E}">
        <p14:creationId xmlns:p14="http://schemas.microsoft.com/office/powerpoint/2010/main" val="3612604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none">
        <a:spAutoFit/>
      </a:bodyPr>
      <a:lstStyle>
        <a:defPPr algn="l">
          <a:defRPr sz="2400" dirty="0" smtClean="0">
            <a:latin typeface="Helvetica Neue" panose="02000503000000020004" pitchFamily="2" charset="0"/>
            <a:ea typeface="Helvetica Neue" panose="02000503000000020004" pitchFamily="2" charset="0"/>
            <a:cs typeface="Helvetica Neue" panose="02000503000000020004" pitchFamily="2" charset="0"/>
          </a:defRPr>
        </a:defPPr>
      </a:lstStyle>
    </a:spDef>
    <a:txDef>
      <a:spPr>
        <a:noFill/>
      </a:spPr>
      <a:bodyPr wrap="none" rtlCol="0">
        <a:spAutoFit/>
      </a:bodyPr>
      <a:lstStyle>
        <a:defPPr algn="l">
          <a:defRPr dirty="0" smtClean="0">
            <a:latin typeface="Helvetica Neue" panose="02000503000000020004" pitchFamily="2" charset="0"/>
            <a:ea typeface="Helvetica Neue" panose="02000503000000020004" pitchFamily="2" charset="0"/>
            <a:cs typeface="Helvetica Neue" panose="02000503000000020004"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8093</TotalTime>
  <Words>1407</Words>
  <Application>Microsoft Macintosh PowerPoint</Application>
  <PresentationFormat>Widescreen</PresentationFormat>
  <Paragraphs>243</Paragraphs>
  <Slides>15</Slides>
  <Notes>14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15</vt:i4>
      </vt:variant>
    </vt:vector>
  </HeadingPairs>
  <TitlesOfParts>
    <vt:vector size="23" baseType="lpstr">
      <vt:lpstr>Arial</vt:lpstr>
      <vt:lpstr>Calibri</vt:lpstr>
      <vt:lpstr>Calibri Light</vt:lpstr>
      <vt:lpstr>Helvetica Neue</vt:lpstr>
      <vt:lpstr>Helvetica Neue Condensed Black</vt:lpstr>
      <vt:lpstr>HelveticaNeue-UltraLightItalic</vt:lpstr>
      <vt:lpstr>Office Theme</vt:lpstr>
      <vt:lpstr>2_Office Theme</vt:lpstr>
      <vt:lpstr>PowerPoint Presentation</vt:lpstr>
      <vt:lpstr>The Fundamental Entities of Nature</vt:lpstr>
      <vt:lpstr>Point Potential Magnitude</vt:lpstr>
      <vt:lpstr>Point Potentials are Immutable</vt:lpstr>
      <vt:lpstr>Point Potential Energy</vt:lpstr>
      <vt:lpstr>Large Scale Point Potential Observables</vt:lpstr>
      <vt:lpstr>Constant Rate Point Potential Emitters</vt:lpstr>
      <vt:lpstr>Point Potential Have No Speed Limit</vt:lpstr>
      <vt:lpstr>PowerPoint Presentation</vt:lpstr>
      <vt:lpstr>PowerPoint Presentation</vt:lpstr>
      <vt:lpstr>Thank You</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Mark Morris</dc:creator>
  <cp:lastModifiedBy>Mark Morris</cp:lastModifiedBy>
  <cp:revision>382</cp:revision>
  <cp:lastPrinted>2022-09-07T12:10:19Z</cp:lastPrinted>
  <dcterms:created xsi:type="dcterms:W3CDTF">2022-02-05T18:41:13Z</dcterms:created>
  <dcterms:modified xsi:type="dcterms:W3CDTF">2026-07-03T17:22:28Z</dcterms:modified>
</cp:coreProperties>
</file>