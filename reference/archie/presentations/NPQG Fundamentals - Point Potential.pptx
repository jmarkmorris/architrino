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4" r:id="rId2"/>
  </p:sldMasterIdLst>
  <p:notesMasterIdLst>
    <p:notesMasterId r:id="rId18"/>
  </p:notesMasterIdLst>
  <p:sldIdLst>
    <p:sldId id="808" r:id="rId3"/>
    <p:sldId id="625" r:id="rId4"/>
    <p:sldId id="813" r:id="rId5"/>
    <p:sldId id="814" r:id="rId6"/>
    <p:sldId id="815" r:id="rId7"/>
    <p:sldId id="816" r:id="rId8"/>
    <p:sldId id="817" r:id="rId9"/>
    <p:sldId id="819" r:id="rId10"/>
    <p:sldId id="823" r:id="rId11"/>
    <p:sldId id="770" r:id="rId12"/>
    <p:sldId id="382" r:id="rId13"/>
    <p:sldId id="820" r:id="rId14"/>
    <p:sldId id="821" r:id="rId15"/>
    <p:sldId id="822" r:id="rId16"/>
    <p:sldId id="82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85FF"/>
    <a:srgbClr val="FF8AD8"/>
    <a:srgbClr val="FF7E7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7CE84F3-28C3-443E-9E96-99CF82512B78}" styleName="Dark Style 1 - Accent 2">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2"/>
          </a:solidFill>
        </a:fill>
      </a:tcStyle>
    </a:wholeTbl>
    <a:band1H>
      <a:tcStyle>
        <a:tcBdr/>
        <a:fill>
          <a:solidFill>
            <a:schemeClr val="accent2">
              <a:shade val="60000"/>
            </a:schemeClr>
          </a:solidFill>
        </a:fill>
      </a:tcStyle>
    </a:band1H>
    <a:band1V>
      <a:tcStyle>
        <a:tcBdr/>
        <a:fill>
          <a:solidFill>
            <a:schemeClr val="accent2">
              <a:shade val="60000"/>
            </a:schemeClr>
          </a:solidFill>
        </a:fill>
      </a:tcStyle>
    </a:band1V>
    <a:lastCol>
      <a:tcTxStyle b="on"/>
      <a:tcStyle>
        <a:tcBdr>
          <a:left>
            <a:ln w="25400" cmpd="sng">
              <a:solidFill>
                <a:schemeClr val="lt1"/>
              </a:solidFill>
            </a:ln>
          </a:left>
        </a:tcBdr>
        <a:fill>
          <a:solidFill>
            <a:schemeClr val="accent2">
              <a:shade val="60000"/>
            </a:schemeClr>
          </a:solidFill>
        </a:fill>
      </a:tcStyle>
    </a:lastCol>
    <a:firstCol>
      <a:tcTxStyle b="on"/>
      <a:tcStyle>
        <a:tcBdr>
          <a:right>
            <a:ln w="25400" cmpd="sng">
              <a:solidFill>
                <a:schemeClr val="lt1"/>
              </a:solidFill>
            </a:ln>
          </a:right>
        </a:tcBdr>
        <a:fill>
          <a:solidFill>
            <a:schemeClr val="accent2">
              <a:shade val="60000"/>
            </a:schemeClr>
          </a:solidFill>
        </a:fill>
      </a:tcStyle>
    </a:firstCol>
    <a:lastRow>
      <a:tcTxStyle b="on"/>
      <a:tcStyle>
        <a:tcBdr>
          <a:top>
            <a:ln w="25400" cmpd="sng">
              <a:solidFill>
                <a:schemeClr val="lt1"/>
              </a:solidFill>
            </a:ln>
          </a:top>
        </a:tcBdr>
        <a:fill>
          <a:solidFill>
            <a:schemeClr val="accent2">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69CF1AB2-1976-4502-BF36-3FF5EA218861}" styleName="Medium Style 4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AF606853-7671-496A-8E4F-DF71F8EC918B}" styleName="Dark Style 1 - Accent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horzBarState="maximized">
    <p:restoredLeft sz="5266"/>
    <p:restoredTop sz="97363"/>
  </p:normalViewPr>
  <p:slideViewPr>
    <p:cSldViewPr snapToGrid="0" snapToObjects="1">
      <p:cViewPr varScale="1">
        <p:scale>
          <a:sx n="127" d="100"/>
          <a:sy n="127" d="100"/>
        </p:scale>
        <p:origin x="1192" y="19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 d="1"/>
        <a:sy n="1" d="1"/>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BDA440-6FDE-5E41-BA40-A3C0E02BAB9F}" type="datetimeFigureOut">
              <a:rPr lang="en-US" smtClean="0"/>
              <a:t>7/3/26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C398A3-AF21-A342-B6A8-6929C36BB1BF}" type="slidenum">
              <a:rPr lang="en-US" smtClean="0"/>
              <a:t>‹#›</a:t>
            </a:fld>
            <a:endParaRPr lang="en-US"/>
          </a:p>
        </p:txBody>
      </p:sp>
    </p:spTree>
    <p:extLst>
      <p:ext uri="{BB962C8B-B14F-4D97-AF65-F5344CB8AC3E}">
        <p14:creationId xmlns:p14="http://schemas.microsoft.com/office/powerpoint/2010/main" val="3368869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Welcome to this episode of Emergent Nature. </a:t>
            </a:r>
          </a:p>
          <a:p>
            <a:endParaRPr lang="en-US" dirty="0"/>
          </a:p>
          <a:p>
            <a:r>
              <a:rPr lang="en-US" dirty="0"/>
              <a:t>My name is J Mark Morris. I go by Mark.</a:t>
            </a:r>
          </a:p>
          <a:p>
            <a:endParaRPr lang="en-US" dirty="0"/>
          </a:p>
          <a:p>
            <a:r>
              <a:rPr lang="en-US" dirty="0"/>
              <a:t>In this episode I’ll discuss the error that caused science to go off track into general relativity and quantum mechanics.</a:t>
            </a:r>
          </a:p>
          <a:p>
            <a:endParaRPr lang="en-US" dirty="0"/>
          </a:p>
          <a:p>
            <a:r>
              <a:rPr lang="en-US" dirty="0"/>
              <a:t>That may seem like an unusual thing to say, since general relativity and quantum theory are generally considered to be successful effective theories.</a:t>
            </a:r>
          </a:p>
          <a:p>
            <a:endParaRPr lang="en-US" dirty="0"/>
          </a:p>
          <a:p>
            <a:r>
              <a:rPr lang="en-US" dirty="0"/>
              <a:t>However, as we will see, an error circa 1900 threw science off track.</a:t>
            </a:r>
          </a:p>
          <a:p>
            <a:endParaRPr lang="en-US" dirty="0"/>
          </a:p>
          <a:p>
            <a:r>
              <a:rPr lang="en-US" dirty="0"/>
              <a:t>There is a parsimonious solution to nature.</a:t>
            </a:r>
          </a:p>
          <a:p>
            <a:endParaRPr lang="en-US" dirty="0"/>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80136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6057735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419707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311614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008798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5485805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3119454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8D4D731-5435-284A-9C82-866A0CCE7541}"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2592705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94197-89E8-2030-4FE5-7FD2AD81DD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21E753-2AFD-4A2C-BBDA-E380BD44B2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93C950-F267-716F-4681-00FAF0EABB3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222A272-E14D-91E2-EB99-1911F07D9C58}"/>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6962340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691873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8D77B-40A0-C9E7-950C-59D2CD87AA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C896A-6F42-C31A-C146-A88D6A70B2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DE1070-08E4-CAA9-B677-A6415AABB37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06E0F15-D53F-18A5-2ED9-C40E9EC5F30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70964522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54D3F2-498E-1951-C22B-71743FA269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941038-604E-ABD1-47FB-A51EE85BB4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BCD57B-23F0-2C39-8863-D1468F5BB08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4F8181D-540B-3BBE-E382-BCFB73A363B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6693944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ADC802-5870-14FE-A995-AEEE34539E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350248-307E-9820-6C19-91B4F8ABA5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66F0C3-280B-291D-6FF8-1ED30F8070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D2D374A-62B0-0123-0C4D-0D7FC709C0E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601457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1B70E8-E8A3-628F-0CFC-C1359D33A35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5FB820-B77D-6A57-9856-F0AF52BFAD8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74CA41-1F30-C3D4-EF30-CE88E2F6FC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01C2ED9-168A-2BE6-E954-2C4207442621}"/>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DC398A3-AF21-A342-B6A8-6929C36BB1BF}"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89551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FBB3A9-9E4D-1B45-B3D5-CA3715227F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14A437C-6978-EF42-B683-287B0BCC683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2736A90-6A63-474E-AE00-47FF46C1C73E}"/>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D9A6875-C7C8-8141-9B12-87599614E50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CFF87BB-FFE9-4F4E-9787-48475824CC8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4085953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167A8A-0845-AD47-90A8-18776E7495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685297E-D5E0-6745-91A9-52029EE3022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79309D-6084-C74B-884A-230D6CFAC619}"/>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0F105DDE-4455-5940-ADF4-C579F78A20A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0064C6E-4C44-A641-B028-04035B812AA6}"/>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576653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5E37A-D8BF-D64A-8216-7ABA6C5836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F406964-1DAB-F14D-8D48-DEDCBF19514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ED9634-1414-224C-B6B9-3F0D98D672C3}"/>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A8157A06-C042-C649-8823-09CD9E4923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7B72125-B186-EA4F-87C1-D421E15E6F0E}"/>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6612503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A32C6-604D-5245-AF13-1117649C058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F3D95E-DB7F-8741-AA7E-E9FECF96C0F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4FF041-1EE3-1840-9A00-F30BE067B99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1E2B0A9-40F9-DB4D-BDC1-10F58EBA843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4D45749E-ED3B-3643-8D22-DA2D88FFDEF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24183C9-D2C9-CE44-B58B-ACE8898D0D0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645420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3A45A6-44FE-3848-88E8-5552DDC45A9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3EDC7C1F-E9B4-4E48-ACFC-DC65D661790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CFE821-3558-AB4C-948F-6C6990D1473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B3774632-D045-5A44-BB14-E3D5737A296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8E5E05E-D502-E74B-91AF-BB193D328CC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B03287E-662E-F54F-9162-3F755DD60CA2}"/>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8" name="Footer Placeholder 7">
            <a:extLst>
              <a:ext uri="{FF2B5EF4-FFF2-40B4-BE49-F238E27FC236}">
                <a16:creationId xmlns:a16="http://schemas.microsoft.com/office/drawing/2014/main" id="{B68BB5FE-E651-1B4F-8E93-FD794E8A5E6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DAAD7C8-64AF-684B-98B6-D6D6714A29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07957225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4DC2D9-851F-F94A-83EC-CAB57992066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F3BF4D5-34AD-5A43-853F-006AD601FD76}"/>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4" name="Footer Placeholder 3">
            <a:extLst>
              <a:ext uri="{FF2B5EF4-FFF2-40B4-BE49-F238E27FC236}">
                <a16:creationId xmlns:a16="http://schemas.microsoft.com/office/drawing/2014/main" id="{67670C52-9CA4-AB4F-957A-7AAD4E25932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FA441625-0652-EB4F-8E04-6C9011365173}"/>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75530617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5592881-FA37-DD45-860A-EA6B38C3108A}"/>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3" name="Footer Placeholder 2">
            <a:extLst>
              <a:ext uri="{FF2B5EF4-FFF2-40B4-BE49-F238E27FC236}">
                <a16:creationId xmlns:a16="http://schemas.microsoft.com/office/drawing/2014/main" id="{A4652DC6-52F3-8040-8665-17D023390D4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E9CEF52-EC52-6C42-81BD-397B5CE038F7}"/>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9207346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D60788-9DB9-6745-96CF-A7A1862275A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0E3299F-D119-D449-BD57-1CE490CB51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A3BB0FB-61B4-DC45-9D1E-63F99E6ABCB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EF87701-43E6-A248-ABD9-E1C49D62242F}"/>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DFD6954C-9DFB-264A-A710-D12E71DB3AE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F188770-2503-8F4E-AFC6-6941CC59F7C1}"/>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32256891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3FF65-890A-1A47-B873-C56E2C7D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D05E9CE-538C-294A-A814-80A50548B20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33C7C9D-B309-CF46-90D8-B95DD6C2DC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97CA5D-F1C9-604D-83E1-2E60AE6E200D}"/>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6" name="Footer Placeholder 5">
            <a:extLst>
              <a:ext uri="{FF2B5EF4-FFF2-40B4-BE49-F238E27FC236}">
                <a16:creationId xmlns:a16="http://schemas.microsoft.com/office/drawing/2014/main" id="{BC9BE16D-FB3D-AA41-B06D-73A0FCDFBAA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A19839D-F44C-4B47-9DFE-D154851F551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41161827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5DFD1-B5EF-8445-B336-8B2E596E207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086E7C-46AA-9440-8F1F-C1AD5E8EC23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762E40-F60A-404F-9DB3-AC863A0E0847}"/>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156ABF7D-A207-9243-8354-69D0FCFAAC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7C5599E-5B81-624B-A60C-D22AF58B66FB}"/>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17214774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64BC040-CE85-6347-809B-760E676EF4C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07DD51C-FD4B-524F-8054-62599D261A7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E9F735-3187-1341-AE2A-1316DEDA7CE8}"/>
              </a:ext>
            </a:extLst>
          </p:cNvPr>
          <p:cNvSpPr>
            <a:spLocks noGrp="1"/>
          </p:cNvSpPr>
          <p:nvPr>
            <p:ph type="dt" sz="half" idx="10"/>
          </p:nvPr>
        </p:nvSpPr>
        <p:spPr/>
        <p:txBody>
          <a:body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D08F8F3D-1D9D-EF45-9F9C-E682715F66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FDF4D4-99B2-C24C-BCFF-B3AB3F96C740}"/>
              </a:ext>
            </a:extLst>
          </p:cNvPr>
          <p:cNvSpPr>
            <a:spLocks noGrp="1"/>
          </p:cNvSpPr>
          <p:nvPr>
            <p:ph type="sldNum" sz="quarter" idx="12"/>
          </p:nvPr>
        </p:nvSpPr>
        <p:spPr/>
        <p:txBody>
          <a:bodyPr/>
          <a:lstStyle/>
          <a:p>
            <a:fld id="{EBE7AC70-81D3-9F4C-9FBF-EEB91175D34A}" type="slidenum">
              <a:rPr lang="en-US" smtClean="0"/>
              <a:t>‹#›</a:t>
            </a:fld>
            <a:endParaRPr lang="en-US"/>
          </a:p>
        </p:txBody>
      </p:sp>
    </p:spTree>
    <p:extLst>
      <p:ext uri="{BB962C8B-B14F-4D97-AF65-F5344CB8AC3E}">
        <p14:creationId xmlns:p14="http://schemas.microsoft.com/office/powerpoint/2010/main" val="2063727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C2668-EBEB-AE41-BF76-89062B014B13}"/>
              </a:ext>
            </a:extLst>
          </p:cNvPr>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a:extLst>
              <a:ext uri="{FF2B5EF4-FFF2-40B4-BE49-F238E27FC236}">
                <a16:creationId xmlns:a16="http://schemas.microsoft.com/office/drawing/2014/main" id="{C8C28A4C-0805-8E44-B54E-3B6F671F8D0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3B74C2-6265-7F41-BB8F-D8A0A0C89A63}"/>
              </a:ext>
            </a:extLst>
          </p:cNvPr>
          <p:cNvSpPr>
            <a:spLocks noGrp="1"/>
          </p:cNvSpPr>
          <p:nvPr>
            <p:ph type="dt" sz="half" idx="10"/>
          </p:nvPr>
        </p:nvSpPr>
        <p:spPr/>
        <p:txBody>
          <a:bodyPr/>
          <a:lstStyle/>
          <a:p>
            <a:fld id="{B1CFC895-F8E0-4049-8BEE-E5499394E46C}" type="datetime1">
              <a:rPr lang="en-US" smtClean="0"/>
              <a:t>7/3/26</a:t>
            </a:fld>
            <a:endParaRPr lang="en-US"/>
          </a:p>
        </p:txBody>
      </p:sp>
      <p:sp>
        <p:nvSpPr>
          <p:cNvPr id="5" name="Footer Placeholder 4">
            <a:extLst>
              <a:ext uri="{FF2B5EF4-FFF2-40B4-BE49-F238E27FC236}">
                <a16:creationId xmlns:a16="http://schemas.microsoft.com/office/drawing/2014/main" id="{74C53590-4180-6C42-A6BF-707655C15A1D}"/>
              </a:ext>
            </a:extLst>
          </p:cNvPr>
          <p:cNvSpPr>
            <a:spLocks noGrp="1"/>
          </p:cNvSpPr>
          <p:nvPr>
            <p:ph type="ftr" sz="quarter" idx="11"/>
          </p:nvPr>
        </p:nvSpPr>
        <p:spPr/>
        <p:txBody>
          <a:bodyPr/>
          <a:lstStyle>
            <a:lvl1pPr>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93A81401-8545-2D4E-A7FB-31AFC7A8DB71}"/>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33729169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F560F9-C770-5C4C-9C93-102EC332DBA4}"/>
              </a:ext>
            </a:extLst>
          </p:cNvPr>
          <p:cNvSpPr>
            <a:spLocks noGrp="1"/>
          </p:cNvSpPr>
          <p:nvPr>
            <p:ph type="title"/>
          </p:nvPr>
        </p:nvSpPr>
        <p:spPr>
          <a:xfrm>
            <a:off x="838200" y="365125"/>
            <a:ext cx="10515600" cy="777875"/>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0D38EDA-56F1-1C40-B81E-28B921C4E99F}"/>
              </a:ext>
            </a:extLst>
          </p:cNvPr>
          <p:cNvSpPr>
            <a:spLocks noGrp="1"/>
          </p:cNvSpPr>
          <p:nvPr>
            <p:ph idx="1"/>
          </p:nvPr>
        </p:nvSpPr>
        <p:spPr>
          <a:xfrm>
            <a:off x="838200" y="1295400"/>
            <a:ext cx="10515600" cy="4881563"/>
          </a:xfrm>
        </p:spPr>
        <p:txBody>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0AD42772-5D80-F641-A1BB-6048573C4E88}"/>
              </a:ext>
            </a:extLst>
          </p:cNvPr>
          <p:cNvSpPr>
            <a:spLocks noGrp="1"/>
          </p:cNvSpPr>
          <p:nvPr>
            <p:ph type="dt" sz="half" idx="10"/>
          </p:nvPr>
        </p:nvSpPr>
        <p:spPr/>
        <p:txBody>
          <a:bodyPr/>
          <a:lstStyle/>
          <a:p>
            <a:fld id="{A91F55E2-A889-F24B-B1FE-1E878178F308}" type="datetime1">
              <a:rPr lang="en-US" smtClean="0"/>
              <a:t>7/3/26</a:t>
            </a:fld>
            <a:endParaRPr lang="en-US"/>
          </a:p>
        </p:txBody>
      </p:sp>
      <p:sp>
        <p:nvSpPr>
          <p:cNvPr id="5" name="Footer Placeholder 4">
            <a:extLst>
              <a:ext uri="{FF2B5EF4-FFF2-40B4-BE49-F238E27FC236}">
                <a16:creationId xmlns:a16="http://schemas.microsoft.com/office/drawing/2014/main" id="{C68FC4AF-90CF-484C-B6C7-5CE1A016FB49}"/>
              </a:ext>
            </a:extLst>
          </p:cNvPr>
          <p:cNvSpPr>
            <a:spLocks noGrp="1"/>
          </p:cNvSpPr>
          <p:nvPr>
            <p:ph type="ftr" sz="quarter" idx="11"/>
          </p:nvPr>
        </p:nvSpPr>
        <p:spPr/>
        <p:txBody>
          <a:bodyPr/>
          <a:lstStyle/>
          <a:p>
            <a:r>
              <a:rPr lang="en-US"/>
              <a:t>J Mark Morris - Model of Nature - April 2019</a:t>
            </a:r>
          </a:p>
        </p:txBody>
      </p:sp>
      <p:sp>
        <p:nvSpPr>
          <p:cNvPr id="6" name="Slide Number Placeholder 5">
            <a:extLst>
              <a:ext uri="{FF2B5EF4-FFF2-40B4-BE49-F238E27FC236}">
                <a16:creationId xmlns:a16="http://schemas.microsoft.com/office/drawing/2014/main" id="{8169AF1E-33D8-3041-A601-1384C718A8B5}"/>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49713991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21822D-6D7A-1342-98EF-890C6F2DA174}"/>
              </a:ext>
            </a:extLst>
          </p:cNvPr>
          <p:cNvSpPr>
            <a:spLocks noGrp="1"/>
          </p:cNvSpPr>
          <p:nvPr>
            <p:ph type="title"/>
          </p:nvPr>
        </p:nvSpPr>
        <p:spPr>
          <a:xfrm>
            <a:off x="838200" y="365125"/>
            <a:ext cx="10515600" cy="777875"/>
          </a:xfrm>
        </p:spPr>
        <p:txBody>
          <a:bodyPr/>
          <a:lstStyle/>
          <a:p>
            <a:r>
              <a:rPr lang="en-US"/>
              <a:t>Click to edit Master title style</a:t>
            </a:r>
          </a:p>
        </p:txBody>
      </p:sp>
      <p:sp>
        <p:nvSpPr>
          <p:cNvPr id="3" name="Date Placeholder 2">
            <a:extLst>
              <a:ext uri="{FF2B5EF4-FFF2-40B4-BE49-F238E27FC236}">
                <a16:creationId xmlns:a16="http://schemas.microsoft.com/office/drawing/2014/main" id="{74CF19EA-9170-5B4B-814F-7425C8E22823}"/>
              </a:ext>
            </a:extLst>
          </p:cNvPr>
          <p:cNvSpPr>
            <a:spLocks noGrp="1"/>
          </p:cNvSpPr>
          <p:nvPr>
            <p:ph type="dt" sz="half" idx="10"/>
          </p:nvPr>
        </p:nvSpPr>
        <p:spPr/>
        <p:txBody>
          <a:bodyPr/>
          <a:lstStyle/>
          <a:p>
            <a:fld id="{C6E8461C-3391-334C-9885-001B32D724C4}" type="datetime1">
              <a:rPr lang="en-US" smtClean="0"/>
              <a:t>7/3/26</a:t>
            </a:fld>
            <a:endParaRPr lang="en-US"/>
          </a:p>
        </p:txBody>
      </p:sp>
      <p:sp>
        <p:nvSpPr>
          <p:cNvPr id="4" name="Footer Placeholder 3">
            <a:extLst>
              <a:ext uri="{FF2B5EF4-FFF2-40B4-BE49-F238E27FC236}">
                <a16:creationId xmlns:a16="http://schemas.microsoft.com/office/drawing/2014/main" id="{5882B1FB-ECDF-AD43-9020-0267ED91C04E}"/>
              </a:ext>
            </a:extLst>
          </p:cNvPr>
          <p:cNvSpPr>
            <a:spLocks noGrp="1"/>
          </p:cNvSpPr>
          <p:nvPr>
            <p:ph type="ftr" sz="quarter" idx="11"/>
          </p:nvPr>
        </p:nvSpPr>
        <p:spPr/>
        <p:txBody>
          <a:bodyPr/>
          <a:lstStyle>
            <a:lvl1pPr>
              <a:defRPr/>
            </a:lvl1pPr>
          </a:lstStyle>
          <a:p>
            <a:r>
              <a:rPr lang="en-US"/>
              <a:t>J Mark Morris - Model of Nature - April 2019</a:t>
            </a:r>
          </a:p>
        </p:txBody>
      </p:sp>
      <p:sp>
        <p:nvSpPr>
          <p:cNvPr id="5" name="Slide Number Placeholder 4">
            <a:extLst>
              <a:ext uri="{FF2B5EF4-FFF2-40B4-BE49-F238E27FC236}">
                <a16:creationId xmlns:a16="http://schemas.microsoft.com/office/drawing/2014/main" id="{D949C470-5AF0-5246-81E7-95EAEE5639EF}"/>
              </a:ext>
            </a:extLst>
          </p:cNvPr>
          <p:cNvSpPr>
            <a:spLocks noGrp="1"/>
          </p:cNvSpPr>
          <p:nvPr>
            <p:ph type="sldNum" sz="quarter" idx="12"/>
          </p:nvPr>
        </p:nvSpPr>
        <p:spPr/>
        <p:txBody>
          <a:bodyPr/>
          <a:lstStyle/>
          <a:p>
            <a:fld id="{D73D4D4B-2FF7-BE46-958C-B004BD45EF6F}" type="slidenum">
              <a:rPr lang="en-US" smtClean="0"/>
              <a:t>‹#›</a:t>
            </a:fld>
            <a:endParaRPr lang="en-US"/>
          </a:p>
        </p:txBody>
      </p:sp>
    </p:spTree>
    <p:extLst>
      <p:ext uri="{BB962C8B-B14F-4D97-AF65-F5344CB8AC3E}">
        <p14:creationId xmlns:p14="http://schemas.microsoft.com/office/powerpoint/2010/main" val="19634693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14.xml"/><Relationship Id="rId2" Type="http://schemas.openxmlformats.org/officeDocument/2006/relationships/slideLayout" Target="../slideLayouts/slideLayout13.xml"/><Relationship Id="rId1" Type="http://schemas.openxmlformats.org/officeDocument/2006/relationships/slideLayout" Target="../slideLayouts/slideLayout12.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D14B483-3334-204F-ADDF-2B9BC6A8D94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9BFCC4CF-F19A-1848-8467-61B9807ACFA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8128E2E-CB42-B64B-A2AC-B8713F8A0E1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70D3E6-D921-5B44-AC8D-B7FDAFC8A532}" type="datetimeFigureOut">
              <a:rPr lang="en-US" smtClean="0"/>
              <a:t>7/3/26</a:t>
            </a:fld>
            <a:endParaRPr lang="en-US"/>
          </a:p>
        </p:txBody>
      </p:sp>
      <p:sp>
        <p:nvSpPr>
          <p:cNvPr id="5" name="Footer Placeholder 4">
            <a:extLst>
              <a:ext uri="{FF2B5EF4-FFF2-40B4-BE49-F238E27FC236}">
                <a16:creationId xmlns:a16="http://schemas.microsoft.com/office/drawing/2014/main" id="{2AA830BA-8B9E-D54E-AA7F-1B6C247B3A2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CE3634F2-31DD-3F49-A362-988026E566C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BE7AC70-81D3-9F4C-9FBF-EEB91175D34A}" type="slidenum">
              <a:rPr lang="en-US" smtClean="0"/>
              <a:t>‹#›</a:t>
            </a:fld>
            <a:endParaRPr lang="en-US"/>
          </a:p>
        </p:txBody>
      </p:sp>
    </p:spTree>
    <p:extLst>
      <p:ext uri="{BB962C8B-B14F-4D97-AF65-F5344CB8AC3E}">
        <p14:creationId xmlns:p14="http://schemas.microsoft.com/office/powerpoint/2010/main" val="395663252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C79A1DB-155B-0846-9CED-8B75F56E0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FD69736F-08D5-7643-A656-ABAEB9457A7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433D04-66F5-D74B-8EEA-459FDC00D1E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2005EE61-3907-C44D-8624-D47E09E871DB}" type="datetime1">
              <a:rPr lang="en-US" smtClean="0"/>
              <a:t>7/3/26</a:t>
            </a:fld>
            <a:endParaRPr lang="en-US"/>
          </a:p>
        </p:txBody>
      </p:sp>
      <p:sp>
        <p:nvSpPr>
          <p:cNvPr id="5" name="Footer Placeholder 4">
            <a:extLst>
              <a:ext uri="{FF2B5EF4-FFF2-40B4-BE49-F238E27FC236}">
                <a16:creationId xmlns:a16="http://schemas.microsoft.com/office/drawing/2014/main" id="{9FDE6E67-6F97-E149-8437-635D11E7ED4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J Mark Morris - Model of Nature - April 2019</a:t>
            </a:r>
          </a:p>
        </p:txBody>
      </p:sp>
      <p:sp>
        <p:nvSpPr>
          <p:cNvPr id="6" name="Slide Number Placeholder 5">
            <a:extLst>
              <a:ext uri="{FF2B5EF4-FFF2-40B4-BE49-F238E27FC236}">
                <a16:creationId xmlns:a16="http://schemas.microsoft.com/office/drawing/2014/main" id="{D585CC1E-0AB1-F34A-83C6-0956BF9B4AF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Helvetica Neue" panose="02000503000000020004" pitchFamily="2" charset="0"/>
                <a:ea typeface="Helvetica Neue" panose="02000503000000020004" pitchFamily="2" charset="0"/>
                <a:cs typeface="Helvetica Neue" panose="02000503000000020004" pitchFamily="2" charset="0"/>
              </a:defRPr>
            </a:lvl1pPr>
          </a:lstStyle>
          <a:p>
            <a:fld id="{D73D4D4B-2FF7-BE46-958C-B004BD45EF6F}" type="slidenum">
              <a:rPr lang="en-US" smtClean="0"/>
              <a:pPr/>
              <a:t>‹#›</a:t>
            </a:fld>
            <a:endParaRPr lang="en-US"/>
          </a:p>
        </p:txBody>
      </p:sp>
    </p:spTree>
    <p:extLst>
      <p:ext uri="{BB962C8B-B14F-4D97-AF65-F5344CB8AC3E}">
        <p14:creationId xmlns:p14="http://schemas.microsoft.com/office/powerpoint/2010/main" val="4188259015"/>
      </p:ext>
    </p:extLst>
  </p:cSld>
  <p:clrMap bg1="lt1" tx1="dk1" bg2="lt2" tx2="dk2" accent1="accent1" accent2="accent2" accent3="accent3" accent4="accent4" accent5="accent5" accent6="accent6" hlink="hlink" folHlink="folHlink"/>
  <p:sldLayoutIdLst>
    <p:sldLayoutId id="2147483665" r:id="rId1"/>
    <p:sldLayoutId id="2147483666" r:id="rId2"/>
    <p:sldLayoutId id="2147483667" r:id="rId3"/>
  </p:sldLayoutIdLst>
  <p:hf sldNum="0" hdr="0" dt="0"/>
  <p:txStyles>
    <p:titleStyle>
      <a:lvl1pPr algn="l" defTabSz="914400" rtl="0" eaLnBrk="1" latinLnBrk="0" hangingPunct="1">
        <a:lnSpc>
          <a:spcPct val="90000"/>
        </a:lnSpc>
        <a:spcBef>
          <a:spcPct val="0"/>
        </a:spcBef>
        <a:buNone/>
        <a:defRPr sz="4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Helvetica Neue" panose="02000503000000020004" pitchFamily="2" charset="0"/>
          <a:ea typeface="Helvetica Neue" panose="02000503000000020004" pitchFamily="2" charset="0"/>
          <a:cs typeface="Helvetica Neue"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id="{1D77ACA5-3691-8FEB-0266-8D47BBCCF4C6}"/>
              </a:ext>
            </a:extLst>
          </p:cNvPr>
          <p:cNvSpPr txBox="1"/>
          <p:nvPr/>
        </p:nvSpPr>
        <p:spPr>
          <a:xfrm>
            <a:off x="0" y="358254"/>
            <a:ext cx="12191999" cy="2657138"/>
          </a:xfrm>
          <a:prstGeom prst="rect">
            <a:avLst/>
          </a:prstGeom>
          <a:noFill/>
        </p:spPr>
        <p:txBody>
          <a:bodyPr wrap="square" rtlCol="0">
            <a:spAutoFit/>
          </a:bodyPr>
          <a:lstStyle/>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8AD8"/>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Fundamental Entities</a:t>
            </a:r>
          </a:p>
          <a:p>
            <a:pPr marL="0" marR="0" lvl="0" indent="0" algn="ctr" defTabSz="914400" rtl="0" eaLnBrk="1" fontAlgn="auto" latinLnBrk="0" hangingPunct="1">
              <a:lnSpc>
                <a:spcPts val="10000"/>
              </a:lnSpc>
              <a:spcBef>
                <a:spcPts val="0"/>
              </a:spcBef>
              <a:spcAft>
                <a:spcPts val="0"/>
              </a:spcAft>
              <a:buClrTx/>
              <a:buSzTx/>
              <a:buFontTx/>
              <a:buNone/>
              <a:tabLst/>
              <a:defRPr/>
            </a:pPr>
            <a:r>
              <a:rPr kumimoji="0" lang="en-US" sz="9600" b="1" i="0" u="none" strike="noStrike" kern="1200" cap="none" spc="0" normalizeH="0" baseline="0" noProof="0" dirty="0">
                <a:ln>
                  <a:noFill/>
                </a:ln>
                <a:solidFill>
                  <a:srgbClr val="FFC000"/>
                </a:solidFill>
                <a:effectLst/>
                <a:uLnTx/>
                <a:uFillTx/>
                <a:latin typeface="Helvetica Neue Condensed Black" panose="02000503000000020004" pitchFamily="2" charset="0"/>
                <a:ea typeface="Helvetica Neue Condensed Black" panose="02000503000000020004" pitchFamily="2" charset="0"/>
                <a:cs typeface="Helvetica Neue Condensed Black" panose="02000503000000020004" pitchFamily="2" charset="0"/>
              </a:rPr>
              <a:t>Architrinos</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662425714"/>
      </p:ext>
    </p:extLst>
  </p:cSld>
  <p:clrMapOvr>
    <a:masterClrMapping/>
  </p:clrMapOvr>
</p:sld>
</file>

<file path=ppt/slides/slide2.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Fundamental Entities of Nature</a:t>
            </a:r>
          </a:p>
        </p:txBody>
      </p:sp>
      <p:sp>
        <p:nvSpPr>
          <p:cNvPr id="4" name="Footer Placeholder 3">
            <a:extLst>
              <a:ext uri="{FF2B5EF4-FFF2-40B4-BE49-F238E27FC236}">
                <a16:creationId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id="{6FB04752-7BBD-3648-BE22-8D983884B555}"/>
              </a:ext>
            </a:extLst>
          </p:cNvPr>
          <p:cNvSpPr/>
          <p:nvPr/>
        </p:nvSpPr>
        <p:spPr>
          <a:xfrm>
            <a:off x="796924" y="1372790"/>
            <a:ext cx="10644261"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1D Linear Time, 3D Euclidean Space, Architrino Emitters</a:t>
            </a:r>
          </a:p>
        </p:txBody>
      </p:sp>
      <p:grpSp>
        <p:nvGrpSpPr>
          <p:cNvPr id="11" name="Group 10">
            <a:extLst>
              <a:ext uri="{FF2B5EF4-FFF2-40B4-BE49-F238E27FC236}">
                <a16:creationId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id="{246E4B47-B7AD-0745-91FA-AA77D12D888D}"/>
              </a:ext>
            </a:extLst>
          </p:cNvPr>
          <p:cNvSpPr txBox="1">
            <a:spLocks/>
          </p:cNvSpPr>
          <p:nvPr/>
        </p:nvSpPr>
        <p:spPr>
          <a:xfrm>
            <a:off x="9518999" y="6492875"/>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rPr>
              <a:t>J Mark Morris</a:t>
            </a:r>
          </a:p>
        </p:txBody>
      </p:sp>
      <p:grpSp>
        <p:nvGrpSpPr>
          <p:cNvPr id="9" name="Group 8">
            <a:extLst>
              <a:ext uri="{FF2B5EF4-FFF2-40B4-BE49-F238E27FC236}">
                <a16:creationId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3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2629322166"/>
      </p:ext>
    </p:extLst>
  </p:cSld>
  <p:clrMapOvr>
    <a:masterClrMapping/>
  </p:clrMapOvr>
</p:sld>
</file>

<file path=ppt/slides/slide3.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Magnitude</a:t>
            </a:r>
          </a:p>
        </p:txBody>
      </p:sp>
      <p:sp>
        <p:nvSpPr>
          <p:cNvPr id="4" name="Footer Placeholder 3">
            <a:extLst>
              <a:ext uri="{FF2B5EF4-FFF2-40B4-BE49-F238E27FC236}">
                <a16:creationId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id="{6FB04752-7BBD-3648-BE22-8D983884B555}"/>
              </a:ext>
            </a:extLst>
          </p:cNvPr>
          <p:cNvSpPr/>
          <p:nvPr/>
        </p:nvSpPr>
        <p:spPr>
          <a:xfrm>
            <a:off x="3138118" y="1372790"/>
            <a:ext cx="5961890"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Equal and Opposite with |q| = |e/6|</a:t>
            </a:r>
            <a:endPar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1" name="Group 10">
            <a:extLst>
              <a:ext uri="{FF2B5EF4-FFF2-40B4-BE49-F238E27FC236}">
                <a16:creationId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3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552449441"/>
      </p:ext>
    </p:extLst>
  </p:cSld>
  <p:clrMapOvr>
    <a:masterClrMapping/>
  </p:clrMapOvr>
</p:sld>
</file>

<file path=ppt/slides/slide4.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Architrinos are Immutable</a:t>
            </a:r>
          </a:p>
        </p:txBody>
      </p:sp>
      <p:sp>
        <p:nvSpPr>
          <p:cNvPr id="4" name="Footer Placeholder 3">
            <a:extLst>
              <a:ext uri="{FF2B5EF4-FFF2-40B4-BE49-F238E27FC236}">
                <a16:creationId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id="{6FB04752-7BBD-3648-BE22-8D983884B555}"/>
              </a:ext>
            </a:extLst>
          </p:cNvPr>
          <p:cNvSpPr/>
          <p:nvPr/>
        </p:nvSpPr>
        <p:spPr>
          <a:xfrm>
            <a:off x="3623032" y="1372790"/>
            <a:ext cx="4992072"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No known origin or demise. </a:t>
            </a:r>
            <a:endPar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1" name="Group 10">
            <a:extLst>
              <a:ext uri="{FF2B5EF4-FFF2-40B4-BE49-F238E27FC236}">
                <a16:creationId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10" name="Rectangle 9">
            <a:extLst>
              <a:ext uri="{FF2B5EF4-FFF2-40B4-BE49-F238E27FC236}">
                <a16:creationId id="{92D7FC57-9DDC-21AE-9917-F7C426BFA952}"/>
              </a:ext>
            </a:extLst>
          </p:cNvPr>
          <p:cNvSpPr/>
          <p:nvPr/>
        </p:nvSpPr>
        <p:spPr>
          <a:xfrm>
            <a:off x="2733526" y="6157794"/>
            <a:ext cx="6771084" cy="369332"/>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i="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Pair Production and Annihilation are Not Necessary in the Model</a:t>
            </a:r>
            <a:endParaRPr kumimoji="0" lang="en-US"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3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768824540"/>
      </p:ext>
    </p:extLst>
  </p:cSld>
  <p:clrMapOvr>
    <a:masterClrMapping/>
  </p:clrMapOvr>
</p:sld>
</file>

<file path=ppt/slides/slide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Energy</a:t>
            </a:r>
          </a:p>
        </p:txBody>
      </p:sp>
      <p:sp>
        <p:nvSpPr>
          <p:cNvPr id="4" name="Footer Placeholder 3">
            <a:extLst>
              <a:ext uri="{FF2B5EF4-FFF2-40B4-BE49-F238E27FC236}">
                <a16:creationId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id="{6FB04752-7BBD-3648-BE22-8D983884B555}"/>
              </a:ext>
            </a:extLst>
          </p:cNvPr>
          <p:cNvSpPr/>
          <p:nvPr/>
        </p:nvSpPr>
        <p:spPr>
          <a:xfrm>
            <a:off x="408092" y="1372790"/>
            <a:ext cx="11421973" cy="95410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Architrinos are Constant Rate Emitters of Potential.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Action of Potential Emissions on Architrinos Changes Energy.</a:t>
            </a:r>
          </a:p>
        </p:txBody>
      </p:sp>
      <p:grpSp>
        <p:nvGrpSpPr>
          <p:cNvPr id="11" name="Group 10">
            <a:extLst>
              <a:ext uri="{FF2B5EF4-FFF2-40B4-BE49-F238E27FC236}">
                <a16:creationId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3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1016810738"/>
      </p:ext>
    </p:extLst>
  </p:cSld>
  <p:clrMapOvr>
    <a:masterClrMapping/>
  </p:clrMapOvr>
</p:sld>
</file>

<file path=ppt/slides/slide6.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id="{983D3BD9-EF0C-1E44-A158-923D0C7D4BB3}"/>
              </a:ext>
            </a:extLst>
          </p:cNvPr>
          <p:cNvSpPr>
            <a:spLocks noGrp="1"/>
          </p:cNvSpPr>
          <p:nvPr>
            <p:ph type="title"/>
          </p:nvPr>
        </p:nvSpPr>
        <p:spPr>
          <a:xfrm>
            <a:off x="2995422" y="324846"/>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Large Scale Architrino Observables</a:t>
            </a:r>
          </a:p>
        </p:txBody>
      </p:sp>
      <p:sp>
        <p:nvSpPr>
          <p:cNvPr id="4" name="Footer Placeholder 3">
            <a:extLst>
              <a:ext uri="{FF2B5EF4-FFF2-40B4-BE49-F238E27FC236}">
                <a16:creationId id="{B46B4692-7F2F-6E4B-963F-EC452AE01AA9}"/>
              </a:ext>
            </a:extLst>
          </p:cNvPr>
          <p:cNvSpPr>
            <a:spLocks noGrp="1"/>
          </p:cNvSpPr>
          <p:nvPr>
            <p:ph type="ftr" sz="quarter" idx="11"/>
          </p:nvPr>
        </p:nvSpPr>
        <p:spPr>
          <a:xfrm>
            <a:off x="3589783" y="-693583"/>
            <a:ext cx="4114800" cy="365125"/>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white"/>
                </a:solidFill>
                <a:effectLst/>
                <a:uLnTx/>
                <a:uFillTx/>
                <a:latin typeface="Calibri" panose="020F0502020204030204"/>
                <a:ea typeface="+mn-ea"/>
                <a:cs typeface="+mn-cs"/>
              </a:rPr>
              <a:t>J Mark Morris - Model of Nature - May 2021</a:t>
            </a:r>
          </a:p>
        </p:txBody>
      </p:sp>
      <p:grpSp>
        <p:nvGrpSpPr>
          <p:cNvPr id="16" name="Group 15">
            <a:extLst>
              <a:ext uri="{FF2B5EF4-FFF2-40B4-BE49-F238E27FC236}">
                <a16:creationId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id="{6FB04752-7BBD-3648-BE22-8D983884B555}"/>
              </a:ext>
            </a:extLst>
          </p:cNvPr>
          <p:cNvSpPr/>
          <p:nvPr/>
        </p:nvSpPr>
        <p:spPr>
          <a:xfrm>
            <a:off x="4376901" y="1372790"/>
            <a:ext cx="3484352" cy="954107"/>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Population Density.</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Energy Density.</a:t>
            </a:r>
          </a:p>
        </p:txBody>
      </p:sp>
      <p:grpSp>
        <p:nvGrpSpPr>
          <p:cNvPr id="11" name="Group 10">
            <a:extLst>
              <a:ext uri="{FF2B5EF4-FFF2-40B4-BE49-F238E27FC236}">
                <a16:creationId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3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883687408"/>
      </p:ext>
    </p:extLst>
  </p:cSld>
  <p:clrMapOvr>
    <a:masterClrMapping/>
  </p:clrMapOvr>
</p:sld>
</file>

<file path=ppt/slides/slide7.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Constant Rate Architrino Emitters</a:t>
            </a:r>
          </a:p>
        </p:txBody>
      </p:sp>
      <p:grpSp>
        <p:nvGrpSpPr>
          <p:cNvPr id="16" name="Group 15">
            <a:extLst>
              <a:ext uri="{FF2B5EF4-FFF2-40B4-BE49-F238E27FC236}">
                <a16:creationId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1" name="Group 10">
            <a:extLst>
              <a:ext uri="{FF2B5EF4-FFF2-40B4-BE49-F238E27FC236}">
                <a16:creationId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graphicFrame>
        <p:nvGraphicFramePr>
          <p:cNvPr id="4" name="Table 3">
            <a:extLst>
              <a:ext uri="{FF2B5EF4-FFF2-40B4-BE49-F238E27FC236}">
                <a16:creationId id="{7707D154-8E32-2921-5D12-B70ACEF66B1A}"/>
              </a:ext>
            </a:extLst>
          </p:cNvPr>
          <p:cNvGraphicFramePr>
            <a:graphicFrameLocks noGrp="1"/>
          </p:cNvGraphicFramePr>
          <p:nvPr>
            <p:extLst>
              <p:ext uri="{D42A27DB-BD31-4B8C-83A1-F6EECF244321}">
                <ns3:modId val="3248151803"/>
              </p:ext>
            </p:extLst>
          </p:nvPr>
        </p:nvGraphicFramePr>
        <p:xfrm>
          <a:off x="3139979" y="1174108"/>
          <a:ext cx="5912041" cy="1112520"/>
        </p:xfrm>
        <a:graphic>
          <a:graphicData uri="http://schemas.openxmlformats.org/drawingml/2006/table">
            <a:tbl>
              <a:tblPr firstRow="1" bandRow="1">
                <a:tableStyleId>{5C22544A-7EE6-4342-B048-85BDC9FD1C3A}</a:tableStyleId>
              </a:tblPr>
              <a:tblGrid>
                <a:gridCol w="2424684">
                  <a:extLst>
                    <a:ext uri="{9D8B030D-6E8A-4147-A177-3AD203B41FA5}">
                      <a16:colId val="458263716"/>
                    </a:ext>
                  </a:extLst>
                </a:gridCol>
                <a:gridCol w="1861757">
                  <a:extLst>
                    <a:ext uri="{9D8B030D-6E8A-4147-A177-3AD203B41FA5}">
                      <a16:colId val="2551242871"/>
                    </a:ext>
                  </a:extLst>
                </a:gridCol>
                <a:gridCol w="1625600">
                  <a:extLst>
                    <a:ext uri="{9D8B030D-6E8A-4147-A177-3AD203B41FA5}">
                      <a16:colId val="1660022195"/>
                    </a:ext>
                  </a:extLst>
                </a:gridCol>
              </a:tblGrid>
              <a:tr h="370840">
                <a:tc>
                  <a:txBody>
                    <a:bodyPr/>
                    <a:lstStyle/>
                    <a:p>
                      <a:pPr algn="ctr"/>
                      <a:r>
                        <a:rPr lang="en-US" dirty="0">
                          <a:solidFill>
                            <a:srgbClr val="FFC000"/>
                          </a:solidFill>
                        </a:rPr>
                        <a:t>Intersecting magnitude</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dirty="0">
                          <a:solidFill>
                            <a:schemeClr val="bg1"/>
                          </a:solidFill>
                        </a:rPr>
                        <a:t>At emission, r = 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dirty="0">
                          <a:solidFill>
                            <a:schemeClr val="bg1"/>
                          </a:solidFill>
                        </a:rPr>
                        <a:t>r &gt; 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val="551843901"/>
                  </a:ext>
                </a:extLst>
              </a:tr>
              <a:tr h="370840">
                <a:tc>
                  <a:txBody>
                    <a:bodyPr/>
                    <a:lstStyle/>
                    <a:p>
                      <a:pPr algn="ctr"/>
                      <a:r>
                        <a:rPr lang="en-US" dirty="0">
                          <a:solidFill>
                            <a:schemeClr val="bg1"/>
                          </a:solidFill>
                        </a:rPr>
                        <a:t>v = 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b="1" dirty="0">
                          <a:solidFill>
                            <a:srgbClr val="FFC000"/>
                          </a:solidFill>
                        </a:rPr>
                        <a:t>|q|</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b="1" dirty="0">
                          <a:solidFill>
                            <a:srgbClr val="FFC000"/>
                          </a:solidFill>
                        </a:rPr>
                        <a:t>|q|/(4 pi r</a:t>
                      </a:r>
                      <a:r>
                        <a:rPr lang="en-US" b="1" baseline="30000" dirty="0">
                          <a:solidFill>
                            <a:srgbClr val="FFC000"/>
                          </a:solidFill>
                        </a:rPr>
                        <a:t>2</a:t>
                      </a:r>
                      <a:r>
                        <a:rPr lang="en-US" b="1" baseline="0" dirty="0">
                          <a:solidFill>
                            <a:srgbClr val="FFC000"/>
                          </a:solidFill>
                        </a:rPr>
                        <a:t>)</a:t>
                      </a:r>
                      <a:endParaRPr lang="en-US" b="1" baseline="30000" dirty="0">
                        <a:solidFill>
                          <a:srgbClr val="FFC000"/>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val="558312125"/>
                  </a:ext>
                </a:extLst>
              </a:tr>
              <a:tr h="370840">
                <a:tc>
                  <a:txBody>
                    <a:bodyPr/>
                    <a:lstStyle/>
                    <a:p>
                      <a:pPr algn="ctr"/>
                      <a:r>
                        <a:rPr lang="en-US" dirty="0">
                          <a:solidFill>
                            <a:schemeClr val="bg1"/>
                          </a:solidFill>
                        </a:rPr>
                        <a:t>v &gt; 0</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algn="ctr"/>
                      <a:r>
                        <a:rPr lang="en-US" b="1" dirty="0">
                          <a:solidFill>
                            <a:srgbClr val="FFC000"/>
                          </a:solidFill>
                        </a:rPr>
                        <a:t>|q|/v</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b="1" dirty="0">
                          <a:solidFill>
                            <a:srgbClr val="FFC000"/>
                          </a:solidFill>
                        </a:rPr>
                        <a:t>|q|/(v 4 pi r</a:t>
                      </a:r>
                      <a:r>
                        <a:rPr lang="en-US" b="1" baseline="30000" dirty="0">
                          <a:solidFill>
                            <a:srgbClr val="FFC000"/>
                          </a:solidFill>
                        </a:rPr>
                        <a:t>2</a:t>
                      </a:r>
                      <a:r>
                        <a:rPr lang="en-US" b="1" baseline="0" dirty="0">
                          <a:solidFill>
                            <a:srgbClr val="FFC000"/>
                          </a:solidFill>
                        </a:rPr>
                        <a:t>)</a:t>
                      </a:r>
                      <a:endParaRPr lang="en-US" b="1" baseline="30000" dirty="0">
                        <a:solidFill>
                          <a:srgbClr val="FFC000"/>
                        </a:solidFill>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val="3912571088"/>
                  </a:ext>
                </a:extLst>
              </a:tr>
            </a:tbl>
          </a:graphicData>
        </a:graphic>
      </p:graphicFrame>
      <p:sp>
        <p:nvSpPr>
          <p:cNvPr id="3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1590353211"/>
      </p:ext>
    </p:extLst>
  </p:cSld>
  <p:clrMapOvr>
    <a:masterClrMapping/>
  </p:clrMapOvr>
</p:sld>
</file>

<file path=ppt/slides/slide8.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2" name="Title 1">
            <a:extLst>
              <a:ext uri="{FF2B5EF4-FFF2-40B4-BE49-F238E27FC236}">
                <a16:creationId id="{983D3BD9-EF0C-1E44-A158-923D0C7D4BB3}"/>
              </a:ext>
            </a:extLst>
          </p:cNvPr>
          <p:cNvSpPr>
            <a:spLocks noGrp="1"/>
          </p:cNvSpPr>
          <p:nvPr>
            <p:ph type="title"/>
          </p:nvPr>
        </p:nvSpPr>
        <p:spPr>
          <a:xfrm>
            <a:off x="2845864" y="279249"/>
            <a:ext cx="6201156" cy="777875"/>
          </a:xfrm>
        </p:spPr>
        <p:txBody>
          <a:bodyPr wrap="none">
            <a:normAutofit/>
          </a:bodyPr>
          <a:lstStyle/>
          <a:p>
            <a:pPr algn="ctr"/>
            <a:r>
              <a:rPr lang="en-US" sz="4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 Have No Speed Limit</a:t>
            </a:r>
          </a:p>
        </p:txBody>
      </p:sp>
      <p:grpSp>
        <p:nvGrpSpPr>
          <p:cNvPr id="16" name="Group 15">
            <a:extLst>
              <a:ext uri="{FF2B5EF4-FFF2-40B4-BE49-F238E27FC236}">
                <a16:creationId id="{61C70F64-6EA5-EA05-3170-97F09DF5B97A}"/>
              </a:ext>
            </a:extLst>
          </p:cNvPr>
          <p:cNvGrpSpPr/>
          <p:nvPr/>
        </p:nvGrpSpPr>
        <p:grpSpPr>
          <a:xfrm>
            <a:off x="2934383" y="2533902"/>
            <a:ext cx="2985584" cy="3278251"/>
            <a:chOff x="2934383" y="2831497"/>
            <a:chExt cx="2985584" cy="3278251"/>
          </a:xfrm>
        </p:grpSpPr>
        <p:grpSp>
          <p:nvGrpSpPr>
            <p:cNvPr id="12" name="Group 11">
              <a:extLst>
                <a:ext uri="{FF2B5EF4-FFF2-40B4-BE49-F238E27FC236}">
                  <a16:creationId id="{45DB1E4A-5739-CC3A-5405-F5D36EF9F331}"/>
                </a:ext>
              </a:extLst>
            </p:cNvPr>
            <p:cNvGrpSpPr/>
            <p:nvPr/>
          </p:nvGrpSpPr>
          <p:grpSpPr>
            <a:xfrm>
              <a:off x="2934383" y="2831497"/>
              <a:ext cx="2985584" cy="3278251"/>
              <a:chOff x="2934383" y="2831497"/>
              <a:chExt cx="2985584" cy="3278251"/>
            </a:xfrm>
          </p:grpSpPr>
          <p:sp>
            <p:nvSpPr>
              <p:cNvPr id="6" name="Oval 5">
                <a:extLst>
                  <a:ext uri="{FF2B5EF4-FFF2-40B4-BE49-F238E27FC236}">
                    <a16:creationId id="{38985803-DA6E-8548-BD14-7743C8492FA0}"/>
                  </a:ext>
                </a:extLst>
              </p:cNvPr>
              <p:cNvSpPr/>
              <p:nvPr/>
            </p:nvSpPr>
            <p:spPr>
              <a:xfrm>
                <a:off x="2934383" y="2831497"/>
                <a:ext cx="2985584" cy="2869865"/>
              </a:xfrm>
              <a:prstGeom prst="ellipse">
                <a:avLst/>
              </a:prstGeom>
              <a:solidFill>
                <a:srgbClr val="0070C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7" name="Rectangle 6">
                <a:extLst>
                  <a:ext uri="{FF2B5EF4-FFF2-40B4-BE49-F238E27FC236}">
                    <a16:creationId id="{F2244FC9-B137-EB4E-A718-78190AE91366}"/>
                  </a:ext>
                </a:extLst>
              </p:cNvPr>
              <p:cNvSpPr/>
              <p:nvPr/>
            </p:nvSpPr>
            <p:spPr>
              <a:xfrm>
                <a:off x="3862217" y="5740416"/>
                <a:ext cx="1167307"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Electrino</a:t>
                </a:r>
              </a:p>
            </p:txBody>
          </p:sp>
        </p:grpSp>
        <p:sp>
          <p:nvSpPr>
            <p:cNvPr id="14" name="Minus 13">
              <a:extLst>
                <a:ext uri="{FF2B5EF4-FFF2-40B4-BE49-F238E27FC236}">
                  <a16:creationId id="{09ADC253-730C-264F-8155-E49642931ADA}"/>
                </a:ext>
              </a:extLst>
            </p:cNvPr>
            <p:cNvSpPr/>
            <p:nvPr/>
          </p:nvSpPr>
          <p:spPr>
            <a:xfrm>
              <a:off x="3795775" y="3635030"/>
              <a:ext cx="1262798" cy="1262798"/>
            </a:xfrm>
            <a:prstGeom prst="mathMin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grpSp>
        <p:nvGrpSpPr>
          <p:cNvPr id="17" name="Group 16">
            <a:extLst>
              <a:ext uri="{FF2B5EF4-FFF2-40B4-BE49-F238E27FC236}">
                <a16:creationId id="{99197762-1F6C-CC2A-552D-52828CD3C5D3}"/>
              </a:ext>
            </a:extLst>
          </p:cNvPr>
          <p:cNvGrpSpPr/>
          <p:nvPr/>
        </p:nvGrpSpPr>
        <p:grpSpPr>
          <a:xfrm>
            <a:off x="6360070" y="2533902"/>
            <a:ext cx="2985583" cy="3278251"/>
            <a:chOff x="6360070" y="2838812"/>
            <a:chExt cx="2985583" cy="3278251"/>
          </a:xfrm>
        </p:grpSpPr>
        <p:grpSp>
          <p:nvGrpSpPr>
            <p:cNvPr id="15" name="Group 14">
              <a:extLst>
                <a:ext uri="{FF2B5EF4-FFF2-40B4-BE49-F238E27FC236}">
                  <a16:creationId id="{FCBB86F0-7603-7410-74CD-64C8990BBE88}"/>
                </a:ext>
              </a:extLst>
            </p:cNvPr>
            <p:cNvGrpSpPr/>
            <p:nvPr/>
          </p:nvGrpSpPr>
          <p:grpSpPr>
            <a:xfrm>
              <a:off x="6360070" y="2838812"/>
              <a:ext cx="2985583" cy="3278251"/>
              <a:chOff x="6360070" y="2838812"/>
              <a:chExt cx="2985583" cy="3278251"/>
            </a:xfrm>
          </p:grpSpPr>
          <p:sp>
            <p:nvSpPr>
              <p:cNvPr id="5" name="Oval 4">
                <a:extLst>
                  <a:ext uri="{FF2B5EF4-FFF2-40B4-BE49-F238E27FC236}">
                    <a16:creationId id="{405A7150-905F-F24D-BF97-63899D0E98A3}"/>
                  </a:ext>
                </a:extLst>
              </p:cNvPr>
              <p:cNvSpPr/>
              <p:nvPr/>
            </p:nvSpPr>
            <p:spPr>
              <a:xfrm>
                <a:off x="6360070" y="2838812"/>
                <a:ext cx="2985583" cy="2869865"/>
              </a:xfrm>
              <a:prstGeom prst="ellipse">
                <a:avLst/>
              </a:prstGeom>
              <a:solidFill>
                <a:srgbClr val="FF0000"/>
              </a:solidFill>
              <a:ln>
                <a:noFill/>
              </a:ln>
            </p:spPr>
            <p:txBody>
              <a:bodyPr wrap="squar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Rectangle 7">
                <a:extLst>
                  <a:ext uri="{FF2B5EF4-FFF2-40B4-BE49-F238E27FC236}">
                    <a16:creationId id="{930F45C2-0FE5-F04C-B568-5F9239FE086D}"/>
                  </a:ext>
                </a:extLst>
              </p:cNvPr>
              <p:cNvSpPr/>
              <p:nvPr/>
            </p:nvSpPr>
            <p:spPr>
              <a:xfrm>
                <a:off x="7268919" y="5747731"/>
                <a:ext cx="1170513" cy="369332"/>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Positrino</a:t>
                </a:r>
              </a:p>
            </p:txBody>
          </p:sp>
        </p:grpSp>
        <p:sp>
          <p:nvSpPr>
            <p:cNvPr id="13" name="Plus 12">
              <a:extLst>
                <a:ext uri="{FF2B5EF4-FFF2-40B4-BE49-F238E27FC236}">
                  <a16:creationId id="{A2F97F06-5AE9-B844-8A28-B02FF48414FF}"/>
                </a:ext>
              </a:extLst>
            </p:cNvPr>
            <p:cNvSpPr/>
            <p:nvPr/>
          </p:nvSpPr>
          <p:spPr>
            <a:xfrm>
              <a:off x="7156370" y="3577253"/>
              <a:ext cx="1392983" cy="1392983"/>
            </a:xfrm>
            <a:prstGeom prst="mathPlus">
              <a:avLst/>
            </a:prstGeom>
            <a:solidFill>
              <a:schemeClr val="bg1"/>
            </a:solidFill>
          </p:spPr>
          <p:txBody>
            <a:bodyPr wrap="none"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sp>
        <p:nvSpPr>
          <p:cNvPr id="33" name="Rectangle 32">
            <a:extLst>
              <a:ext uri="{FF2B5EF4-FFF2-40B4-BE49-F238E27FC236}">
                <a16:creationId id="{6FB04752-7BBD-3648-BE22-8D983884B555}"/>
              </a:ext>
            </a:extLst>
          </p:cNvPr>
          <p:cNvSpPr/>
          <p:nvPr/>
        </p:nvSpPr>
        <p:spPr>
          <a:xfrm>
            <a:off x="1054309" y="1050303"/>
            <a:ext cx="10083402" cy="52322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However, speed limits may arise in </a:t>
            </a:r>
            <a:r>
              <a:rPr kumimoji="0" lang="en-US" sz="2800" b="1" i="0" u="none" strike="noStrike" kern="1200" cap="none" spc="0" normalizeH="0" baseline="0" noProof="0" dirty="0" err="1">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rPr>
              <a:t>emergen</a:t>
            </a:r>
            <a:r>
              <a:rPr lang="en-US" sz="2800" b="1" dirty="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t assemblies.</a:t>
            </a:r>
            <a:endParaRPr kumimoji="0" lang="en-US" sz="2800" b="1" i="0" u="none" strike="noStrike" kern="1200" cap="none" spc="0" normalizeH="0" baseline="0" noProof="0" dirty="0">
              <a:ln>
                <a:noFill/>
              </a:ln>
              <a:solidFill>
                <a:srgbClr val="FFC000"/>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grpSp>
        <p:nvGrpSpPr>
          <p:cNvPr id="11" name="Group 10">
            <a:extLst>
              <a:ext uri="{FF2B5EF4-FFF2-40B4-BE49-F238E27FC236}">
                <a16:creationId id="{330CC259-8ECA-9504-DF84-043CB2F2838C}"/>
              </a:ext>
            </a:extLst>
          </p:cNvPr>
          <p:cNvGrpSpPr/>
          <p:nvPr/>
        </p:nvGrpSpPr>
        <p:grpSpPr>
          <a:xfrm>
            <a:off x="1035610" y="3622462"/>
            <a:ext cx="872354" cy="1101131"/>
            <a:chOff x="1035610" y="4601259"/>
            <a:chExt cx="872354" cy="1101131"/>
          </a:xfrm>
        </p:grpSpPr>
        <p:sp>
          <p:nvSpPr>
            <p:cNvPr id="32" name="Rectangle 31">
              <a:extLst>
                <a:ext uri="{FF2B5EF4-FFF2-40B4-BE49-F238E27FC236}">
                  <a16:creationId id="{90B4F778-AAF3-8441-A126-EF65BDDCA5EE}"/>
                </a:ext>
              </a:extLst>
            </p:cNvPr>
            <p:cNvSpPr/>
            <p:nvPr/>
          </p:nvSpPr>
          <p:spPr>
            <a:xfrm>
              <a:off x="1035610" y="4601259"/>
              <a:ext cx="872354"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1D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Linear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Time</a:t>
              </a:r>
            </a:p>
          </p:txBody>
        </p:sp>
        <p:cxnSp>
          <p:nvCxnSpPr>
            <p:cNvPr id="24" name="Straight Arrow Connector 23">
              <a:extLst>
                <a:ext uri="{FF2B5EF4-FFF2-40B4-BE49-F238E27FC236}">
                  <a16:creationId id="{282275DC-2AB9-8842-B077-479BC4E05F88}"/>
                </a:ext>
              </a:extLst>
            </p:cNvPr>
            <p:cNvCxnSpPr>
              <a:cxnSpLocks/>
            </p:cNvCxnSpPr>
            <p:nvPr/>
          </p:nvCxnSpPr>
          <p:spPr>
            <a:xfrm flipV="1">
              <a:off x="1231394" y="5702387"/>
              <a:ext cx="480786" cy="3"/>
            </a:xfrm>
            <a:prstGeom prst="straightConnector1">
              <a:avLst/>
            </a:prstGeom>
            <a:ln w="12700">
              <a:solidFill>
                <a:schemeClr val="bg1"/>
              </a:solidFill>
              <a:prstDash val="sysDot"/>
              <a:headEnd type="oval"/>
              <a:tailEnd type="triangle"/>
            </a:ln>
          </p:spPr>
          <p:style>
            <a:lnRef idx="1">
              <a:schemeClr val="accent1"/>
            </a:lnRef>
            <a:fillRef idx="0">
              <a:schemeClr val="accent1"/>
            </a:fillRef>
            <a:effectRef idx="0">
              <a:schemeClr val="accent1"/>
            </a:effectRef>
            <a:fontRef idx="minor">
              <a:schemeClr val="tx1"/>
            </a:fontRef>
          </p:style>
        </p:cxnSp>
      </p:grpSp>
      <p:sp>
        <p:nvSpPr>
          <p:cNvPr id="25" name="Footer Placeholder 3">
            <a:extLst>
              <a:ext uri="{FF2B5EF4-FFF2-40B4-BE49-F238E27FC236}">
                <a16:creationId id="{246E4B47-B7AD-0745-91FA-AA77D12D888D}"/>
              </a:ext>
            </a:extLst>
          </p:cNvPr>
          <p:cNvSpPr txBox="1">
            <a:spLocks/>
          </p:cNvSpPr>
          <p:nvPr/>
        </p:nvSpPr>
        <p:spPr>
          <a:xfrm>
            <a:off x="9214069" y="6344564"/>
            <a:ext cx="4114800"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J Mark Morris</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id="{31017E8F-4F31-A516-F0AA-7D268180E96C}"/>
              </a:ext>
            </a:extLst>
          </p:cNvPr>
          <p:cNvGrpSpPr/>
          <p:nvPr/>
        </p:nvGrpSpPr>
        <p:grpSpPr>
          <a:xfrm>
            <a:off x="10311309" y="3224308"/>
            <a:ext cx="1265090" cy="1897439"/>
            <a:chOff x="839242" y="2412063"/>
            <a:chExt cx="1265090" cy="1897439"/>
          </a:xfrm>
        </p:grpSpPr>
        <p:grpSp>
          <p:nvGrpSpPr>
            <p:cNvPr id="20" name="Group 19">
              <a:extLst>
                <a:ext uri="{FF2B5EF4-FFF2-40B4-BE49-F238E27FC236}">
                  <a16:creationId id="{7B450B60-56DD-E447-B796-B112D6F74ECA}"/>
                </a:ext>
              </a:extLst>
            </p:cNvPr>
            <p:cNvGrpSpPr/>
            <p:nvPr/>
          </p:nvGrpSpPr>
          <p:grpSpPr>
            <a:xfrm>
              <a:off x="934089" y="3406958"/>
              <a:ext cx="1075397" cy="902544"/>
              <a:chOff x="5023953" y="4378355"/>
              <a:chExt cx="1303340" cy="1306404"/>
            </a:xfrm>
          </p:grpSpPr>
          <p:cxnSp>
            <p:nvCxnSpPr>
              <p:cNvPr id="23" name="Straight Arrow Connector 22">
                <a:extLst>
                  <a:ext uri="{FF2B5EF4-FFF2-40B4-BE49-F238E27FC236}">
                    <a16:creationId id="{CE1E4885-6E99-C949-A2D8-5B8C82D5957E}"/>
                  </a:ext>
                </a:extLst>
              </p:cNvPr>
              <p:cNvCxnSpPr>
                <a:cxnSpLocks/>
              </p:cNvCxnSpPr>
              <p:nvPr/>
            </p:nvCxnSpPr>
            <p:spPr>
              <a:xfrm flipV="1">
                <a:off x="5675623" y="4378355"/>
                <a:ext cx="0" cy="1306404"/>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id="{371FBCDF-30F2-6749-9C7D-FE0A8D83337B}"/>
                  </a:ext>
                </a:extLst>
              </p:cNvPr>
              <p:cNvCxnSpPr>
                <a:cxnSpLocks/>
              </p:cNvCxnSpPr>
              <p:nvPr/>
            </p:nvCxnSpPr>
            <p:spPr>
              <a:xfrm rot="2700000" flipV="1">
                <a:off x="5675623" y="4379887"/>
                <a:ext cx="0" cy="1303340"/>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id="{BF5810EE-ACDB-6544-9F58-5DEBD8E72D37}"/>
                  </a:ext>
                </a:extLst>
              </p:cNvPr>
              <p:cNvCxnSpPr>
                <a:cxnSpLocks/>
              </p:cNvCxnSpPr>
              <p:nvPr/>
            </p:nvCxnSpPr>
            <p:spPr>
              <a:xfrm flipV="1">
                <a:off x="5134645" y="5013629"/>
                <a:ext cx="1107790" cy="17928"/>
              </a:xfrm>
              <a:prstGeom prst="straightConnector1">
                <a:avLst/>
              </a:prstGeom>
              <a:ln w="12700">
                <a:solidFill>
                  <a:schemeClr val="bg1"/>
                </a:solidFill>
                <a:prstDash val="sysDot"/>
                <a:headEnd type="triangle"/>
                <a:tailEnd type="triangle"/>
              </a:ln>
            </p:spPr>
            <p:style>
              <a:lnRef idx="1">
                <a:schemeClr val="accent1"/>
              </a:lnRef>
              <a:fillRef idx="0">
                <a:schemeClr val="accent1"/>
              </a:fillRef>
              <a:effectRef idx="0">
                <a:schemeClr val="accent1"/>
              </a:effectRef>
              <a:fontRef idx="minor">
                <a:schemeClr val="tx1"/>
              </a:fontRef>
            </p:style>
          </p:cxnSp>
        </p:grpSp>
        <p:sp>
          <p:nvSpPr>
            <p:cNvPr id="3" name="Rectangle 2">
              <a:extLst>
                <a:ext uri="{FF2B5EF4-FFF2-40B4-BE49-F238E27FC236}">
                  <a16:creationId id="{B3E4CD37-BCF3-72BF-F3B3-DAC45082593B}"/>
                </a:ext>
              </a:extLst>
            </p:cNvPr>
            <p:cNvSpPr/>
            <p:nvPr/>
          </p:nvSpPr>
          <p:spPr>
            <a:xfrm>
              <a:off x="839242" y="2412063"/>
              <a:ext cx="1265090" cy="92333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3D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Euclidean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Space</a:t>
              </a:r>
            </a:p>
          </p:txBody>
        </p:sp>
      </p:grpSp>
      <p:sp>
        <p:nvSpPr>
          <p:cNvPr id="3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498197456"/>
      </p:ext>
    </p:extLst>
  </p:cSld>
  <p:clrMapOvr>
    <a:masterClrMapping/>
  </p:clrMapOvr>
</p:sld>
</file>

<file path=ppt/slides/slide9.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6523CFA3-354C-6364-10BC-40DB888FCA07}"/>
            </a:ext>
          </a:extLst>
        </p:cNvPr>
        <p:cNvGrpSpPr/>
        <p:nvPr/>
      </p:nvGrpSpPr>
      <p:grpSpPr>
        <a:xfrm>
          <a:off x="0" y="0"/>
          <a:ext cx="0" cy="0"/>
          <a:chOff x="0" y="0"/>
          <a:chExt cx="0" cy="0"/>
        </a:xfrm>
      </p:grpSpPr>
      <p:sp>
        <p:nvSpPr>
          <p:cNvPr id="5" name="Footer Placeholder 3">
            <a:extLst>
              <a:ext uri="{FF2B5EF4-FFF2-40B4-BE49-F238E27FC236}">
                <a16:creationId id="{3F45CE82-C844-2CCA-4C12-B7D645D177D4}"/>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TextBox 1">
            <a:extLst>
              <a:ext uri="{FF2B5EF4-FFF2-40B4-BE49-F238E27FC236}">
                <a16:creationId id="{ECC31941-494B-CB33-F627-6BE70A2153F3}"/>
              </a:ext>
            </a:extLst>
          </p:cNvPr>
          <p:cNvSpPr txBox="1"/>
          <p:nvPr/>
        </p:nvSpPr>
        <p:spPr>
          <a:xfrm>
            <a:off x="293364" y="837509"/>
            <a:ext cx="11465670" cy="4247317"/>
          </a:xfrm>
          <a:prstGeom prst="rect">
            <a:avLst/>
          </a:prstGeom>
          <a:noFill/>
        </p:spPr>
        <p:txBody>
          <a:bodyPr wrap="square" rtlCol="0">
            <a:spAutoFit/>
          </a:bodyPr>
          <a:lstStyle/>
          <a:p>
            <a:pPr algn="l"/>
            <a:r>
              <a:rPr lang="en-US" b="0" i="0" u="none" strike="noStrike">
                <a:solidFill>
                  <a:schemeClr val="bg1"/>
                </a:solidFill>
                <a:effectLst/>
                <a:latin typeface="HelveticaNeue-UltraLightItalic" panose="02000503000000020004" pitchFamily="2" charset="0"/>
              </a:rPr>
              <a:t>PP are truly a point with constant rate emission. dq/dt = constant</a:t>
            </a:r>
          </a:p>
          <a:p>
            <a:pPr algn="l"/>
            <a:r>
              <a:rPr lang="en-US" b="0" i="0" u="none" strike="noStrike">
                <a:solidFill>
                  <a:schemeClr val="bg1"/>
                </a:solidFill>
                <a:effectLst/>
                <a:latin typeface="HelveticaNeue-UltraLightItalic" panose="02000503000000020004" pitchFamily="2" charset="0"/>
              </a:rPr>
              <a:t>show intersection of a causal wake results in action</a:t>
            </a:r>
          </a:p>
          <a:p>
            <a:pPr algn="l"/>
            <a:r>
              <a:rPr lang="en-US" b="0" i="0" u="none" strike="noStrike">
                <a:solidFill>
                  <a:schemeClr val="bg1"/>
                </a:solidFill>
                <a:effectLst/>
                <a:latin typeface="HelveticaNeue-UltraLightItalic" panose="02000503000000020004" pitchFamily="2" charset="0"/>
              </a:rPr>
              <a:t>show how the receiving architrino has infinite solutions along the line defined by emission and reception</a:t>
            </a:r>
          </a:p>
          <a:p>
            <a:r>
              <a:rPr lang="en-US" b="0" i="0" u="none" strike="noStrike">
                <a:solidFill>
                  <a:schemeClr val="bg1"/>
                </a:solidFill>
                <a:effectLst/>
                <a:latin typeface="HelveticaNeue-UltraLightItalic" panose="02000503000000020004" pitchFamily="2" charset="0"/>
              </a:rPr>
              <a:t>towards the partner if the partner is opposite, or away from the partner if the partner is a like potential</a:t>
            </a:r>
          </a:p>
          <a:p>
            <a:pPr algn="l"/>
            <a:endParaRPr lang="en-US" b="0" i="0" u="none" strike="noStrike">
              <a:solidFill>
                <a:schemeClr val="bg1"/>
              </a:solidFill>
              <a:effectLst/>
              <a:latin typeface="HelveticaNeue-UltraLightItalic" panose="02000503000000020004" pitchFamily="2" charset="0"/>
            </a:endParaRPr>
          </a:p>
          <a:p>
            <a:pPr algn="l"/>
            <a:r>
              <a:rPr lang="en-US" b="0" i="0" u="none" strike="noStrike">
                <a:solidFill>
                  <a:schemeClr val="bg1"/>
                </a:solidFill>
                <a:effectLst/>
                <a:latin typeface="HelveticaNeue-UltraLightItalic" panose="02000503000000020004" pitchFamily="2" charset="0"/>
              </a:rPr>
              <a:t>if v-emitter=0 then emission magnitude = |q| -- then q-received = q-transmitted/r.  </a:t>
            </a:r>
          </a:p>
          <a:p>
            <a:pPr algn="l"/>
            <a:endParaRPr lang="en-US" b="0" i="0" u="none" strike="noStrike">
              <a:solidFill>
                <a:schemeClr val="bg1"/>
              </a:solidFill>
              <a:effectLst/>
              <a:latin typeface="HelveticaNeue-UltraLightItalic" panose="02000503000000020004" pitchFamily="2" charset="0"/>
            </a:endParaRPr>
          </a:p>
          <a:p>
            <a:pPr algn="l"/>
            <a:r>
              <a:rPr lang="en-US" b="0" i="0" u="none" strike="noStrike">
                <a:solidFill>
                  <a:schemeClr val="bg1"/>
                </a:solidFill>
                <a:effectLst/>
                <a:latin typeface="HelveticaNeue-UltraLightItalic" panose="02000503000000020004" pitchFamily="2" charset="0"/>
              </a:rPr>
              <a:t>regardless of v-emitter, it may be convenient to imagine a v-emitter = 0 and actual q to simplify the calculations.</a:t>
            </a:r>
          </a:p>
          <a:p>
            <a:pPr algn="l"/>
            <a:endParaRPr lang="en-US" b="0" i="0" u="none" strike="noStrike">
              <a:solidFill>
                <a:schemeClr val="bg1"/>
              </a:solidFill>
              <a:effectLst/>
              <a:latin typeface="HelveticaNeue-UltraLightItalic" panose="02000503000000020004" pitchFamily="2" charset="0"/>
            </a:endParaRPr>
          </a:p>
          <a:p>
            <a:pPr algn="l"/>
            <a:r>
              <a:rPr lang="en-US" b="0" i="0" u="none" strike="noStrike">
                <a:solidFill>
                  <a:schemeClr val="bg1"/>
                </a:solidFill>
                <a:effectLst/>
                <a:latin typeface="HelveticaNeue-UltraLightItalic" panose="02000503000000020004" pitchFamily="2" charset="0"/>
              </a:rPr>
              <a:t>also, how does v-receiver play in to this.  </a:t>
            </a:r>
          </a:p>
          <a:p>
            <a:pPr algn="l"/>
            <a:r>
              <a:rPr lang="en-US" b="0" i="0" u="none" strike="noStrike">
                <a:solidFill>
                  <a:schemeClr val="bg1"/>
                </a:solidFill>
                <a:effectLst/>
                <a:latin typeface="HelveticaNeue-UltraLightItalic" panose="02000503000000020004" pitchFamily="2" charset="0"/>
              </a:rPr>
              <a:t>v-receiver = 0, no impact</a:t>
            </a:r>
          </a:p>
          <a:p>
            <a:pPr algn="l"/>
            <a:r>
              <a:rPr lang="en-US" b="0" i="0" u="none" strike="noStrike">
                <a:solidFill>
                  <a:schemeClr val="bg1"/>
                </a:solidFill>
                <a:effectLst/>
                <a:latin typeface="HelveticaNeue-UltraLightItalic" panose="02000503000000020004" pitchFamily="2" charset="0"/>
              </a:rPr>
              <a:t>for portion of v-receiver on a geodesic ?</a:t>
            </a:r>
          </a:p>
          <a:p>
            <a:pPr algn="l"/>
            <a:r>
              <a:rPr lang="en-US" b="0" i="0" u="none" strike="noStrike">
                <a:solidFill>
                  <a:schemeClr val="bg1"/>
                </a:solidFill>
                <a:effectLst/>
                <a:latin typeface="HelveticaNeue-UltraLightItalic" panose="02000503000000020004" pitchFamily="2" charset="0"/>
              </a:rPr>
              <a:t>for portion of v-receiver on the line to emission then calculation is different</a:t>
            </a:r>
          </a:p>
          <a:p>
            <a:pPr algn="l"/>
            <a:r>
              <a:rPr lang="en-US" b="0" i="0" u="none" strike="noStrike">
                <a:solidFill>
                  <a:schemeClr val="bg1"/>
                </a:solidFill>
                <a:effectLst/>
                <a:latin typeface="HelveticaNeue-UltraLightItalic" panose="02000503000000020004" pitchFamily="2" charset="0"/>
              </a:rPr>
              <a:t>how does gradient of potential factor in to action?</a:t>
            </a:r>
          </a:p>
          <a:p>
            <a:pPr algn="l"/>
            <a:r>
              <a:rPr lang="en-US" b="0" i="0" u="none" strike="noStrike">
                <a:solidFill>
                  <a:schemeClr val="bg1"/>
                </a:solidFill>
                <a:effectLst/>
                <a:latin typeface="HelveticaNeue-UltraLightItalic" panose="02000503000000020004" pitchFamily="2" charset="0"/>
              </a:rPr>
              <a:t>it is more work to move away from an opposite emitter, and towards a like emitter and vice versa.</a:t>
            </a:r>
          </a:p>
        </p:txBody>
      </p:sp>
      <p:sp>
        <p:nvSpPr>
          <p:cNvPr id="8" name="TextBox 7">
            <a:extLst>
              <a:ext uri="{FF2B5EF4-FFF2-40B4-BE49-F238E27FC236}">
                <a16:creationId id="{9C9E08D3-A836-13F3-ABBA-84160A212EDC}"/>
              </a:ext>
            </a:extLst>
          </p:cNvPr>
          <p:cNvSpPr txBox="1"/>
          <p:nvPr/>
        </p:nvSpPr>
        <p:spPr>
          <a:xfrm>
            <a:off x="486437" y="104273"/>
            <a:ext cx="11580073" cy="52322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More things to explain slowly in the slides above </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042329805"/>
      </p:ext>
    </p:extLst>
  </p:cSld>
  <p:clrMapOvr>
    <a:masterClrMapping/>
  </p:clrMapOvr>
</p:sld>
</file>

<file path=ppt/slides/slide10.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p:cNvGrpSpPr/>
        <p:nvPr/>
      </p:nvGrpSpPr>
      <p:grpSpPr>
        <a:xfrm>
          <a:off x="0" y="0"/>
          <a:ext cx="0" cy="0"/>
          <a:chOff x="0" y="0"/>
          <a:chExt cx="0" cy="0"/>
        </a:xfrm>
      </p:grpSpPr>
      <p:sp>
        <p:nvSpPr>
          <p:cNvPr id="5" name="Footer Placeholder 3">
            <a:extLst>
              <a:ext uri="{FF2B5EF4-FFF2-40B4-BE49-F238E27FC236}">
                <a16:creationId id="{668F77D6-DFDA-5A46-8DF1-47F6A167C2B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TextBox 1">
            <a:extLst>
              <a:ext uri="{FF2B5EF4-FFF2-40B4-BE49-F238E27FC236}">
                <a16:creationId id="{DDEA4115-15F8-921F-AB6F-6FB061DB5DDD}"/>
              </a:ext>
            </a:extLst>
          </p:cNvPr>
          <p:cNvSpPr txBox="1"/>
          <p:nvPr/>
        </p:nvSpPr>
        <p:spPr>
          <a:xfrm>
            <a:off x="512273" y="1228397"/>
            <a:ext cx="11465670" cy="4649863"/>
          </a:xfrm>
          <a:prstGeom prst="rect">
            <a:avLst/>
          </a:prstGeom>
          <a:noFill/>
        </p:spPr>
        <p:txBody>
          <a:bodyPr wrap="square" rtlCol="0">
            <a:spAutoFit/>
          </a:bodyPr>
          <a:lstStyle/>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A architrino is described by (sign, time, position, velocity) (-/+ </a:t>
            </a:r>
            <a:r>
              <a:rPr kumimoji="0" lang="el-GR" sz="20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δ</a:t>
            </a:r>
            <a:r>
              <a:rPr kumimoji="0" lang="en-US" sz="2000" b="0" i="1"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t, s, s’)</a:t>
            </a:r>
            <a:endPar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Like architrinos repel. </a:t>
            </a: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O</a:t>
            </a:r>
            <a:r>
              <a:rPr kumimoji="0" lang="en-US" sz="2000" b="0" i="0" u="none" strike="noStrike" kern="1200" cap="none" spc="0" normalizeH="0" baseline="0" noProof="0" dirty="0" err="1">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pposite</a:t>
            </a: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architrinos attract.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sum of all architrino in the universe is zero.</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The path of a architrino is presumed to span all time to t=now.</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Architrinos are acted upon by the local superposition of all coincident Causal wake surfaces. </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A architrino with v &lt; @ is inside its emitted Dirac causal wakes.</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A architrino with v &gt; @ is outside its emitted Dirac causal wakes.</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Once a architrino velocity crosses @ then self-action occurs.</a:t>
            </a:r>
          </a:p>
          <a:p>
            <a:pPr marL="285750" marR="0" lvl="0" indent="-285750" algn="l"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Vector velocity orientation and magnitude of both the emitter and receiver are directly related to computing the action when crossing a causal wake surface. </a:t>
            </a:r>
          </a:p>
        </p:txBody>
      </p:sp>
      <p:sp>
        <p:nvSpPr>
          <p:cNvPr id="8" name="TextBox 7">
            <a:extLst>
              <a:ext uri="{FF2B5EF4-FFF2-40B4-BE49-F238E27FC236}">
                <a16:creationId id="{60D7070F-73F6-024C-A784-AA2DE3B8E022}"/>
              </a:ext>
            </a:extLst>
          </p:cNvPr>
          <p:cNvSpPr txBox="1"/>
          <p:nvPr/>
        </p:nvSpPr>
        <p:spPr>
          <a:xfrm>
            <a:off x="512272" y="321582"/>
            <a:ext cx="11580073"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Foundation for a Dynamical </a:t>
            </a:r>
            <a:r>
              <a:rPr lang="en-US" sz="2800" b="1"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G</a:t>
            </a:r>
            <a:r>
              <a:rPr kumimoji="0" lang="en-US" sz="2800" b="1" i="0" u="none" strike="noStrike" kern="1200" cap="none" spc="0" normalizeH="0" baseline="0" noProof="0" dirty="0" err="1">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eometry</a:t>
            </a:r>
            <a:r>
              <a:rPr kumimoji="0" lang="en-US" sz="2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 of Nature and the Universe </a:t>
            </a:r>
          </a:p>
        </p:txBody>
      </p:sp>
      <p:sp>
        <p:nvSpPr>
          <p:cNvPr id="3"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2873966"/>
      </p:ext>
    </p:extLst>
  </p:cSld>
  <p:clrMapOvr>
    <a:masterClrMapping/>
  </p:clrMapOvr>
</p:sld>
</file>

<file path=ppt/slides/slide11.xml><?xml version="1.0" encoding="utf-8"?>
<p:sld xmlns:a="http://schemas.openxmlformats.org/drawingml/2006/main" xmlns:a16="http://schemas.microsoft.com/office/drawing/2014/main" xmlns:ns3="http://schemas.microsoft.com/office/drawing/2017/decorative" xmlns:ns4="http://schemas.microsoft.com/office/powerpoint/2015/main" xmlns:ns5="http://schemas.microsoft.com/office/powerpoint/2010/main"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id="{2A8AA5BC-4F7A-4226-8F99-6D824B226A97}"/>
              </a:ext>
              <a:ext uri="{C183D7F6-B498-43B3-948B-1728B52AA6E4}">
                <ns3:decorative val="1"/>
              </a:ext>
            </a:extLst>
          </p:cNvPr>
          <p:cNvSpPr>
            <a:spLocks noGrp="1" noRot="1" noChangeAspect="1" noMove="1" noResize="1" noEditPoints="1" noAdjustHandles="1" noChangeArrowheads="1" noChangeShapeType="1" noTextEdit="1"/>
          </p:cNvSpPr>
          <p:nvPr>
            <p:extLst>
              <p:ext uri="{386F3935-93C4-4BCD-93E2-E3B085C9AB24}">
                <ns4:designElem val="1"/>
              </p:ext>
            </p:extLst>
          </p:nvPr>
        </p:nvSpPr>
        <p:spPr>
          <a:xfrm>
            <a:off x="0" y="-3324"/>
            <a:ext cx="12192000" cy="686132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Rectangle 10">
            <a:extLst>
              <a:ext uri="{FF2B5EF4-FFF2-40B4-BE49-F238E27FC236}">
                <a16:creationId id="{3E5445C6-DD42-4979-86FF-03730E8C6DB0}"/>
              </a:ext>
              <a:ext uri="{C183D7F6-B498-43B3-948B-1728B52AA6E4}">
                <ns3:decorative val="1"/>
              </a:ext>
            </a:extLst>
          </p:cNvPr>
          <p:cNvSpPr>
            <a:spLocks noGrp="1" noRot="1" noChangeAspect="1" noMove="1" noResize="1" noEditPoints="1" noAdjustHandles="1" noChangeArrowheads="1" noChangeShapeType="1" noTextEdit="1"/>
          </p:cNvSpPr>
          <p:nvPr>
            <p:extLst>
              <p:ext uri="{386F3935-93C4-4BCD-93E2-E3B085C9AB24}">
                <ns4:designElem val="1"/>
              </p:ext>
            </p:extLst>
          </p:nvPr>
        </p:nvSpPr>
        <p:spPr bwMode="ltGray">
          <a:xfrm>
            <a:off x="321734" y="321733"/>
            <a:ext cx="11573488" cy="6214534"/>
          </a:xfrm>
          <a:prstGeom prst="rect">
            <a:avLst/>
          </a:prstGeom>
          <a:solidFill>
            <a:schemeClr val="bg1">
              <a:lumMod val="75000"/>
              <a:lumOff val="25000"/>
            </a:schemeClr>
          </a:solidFill>
          <a:ln w="127000" cap="sq" cmpd="thinThick">
            <a:solidFill>
              <a:schemeClr val="bg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id="{7710B119-EC53-BA46-BAA3-CB758CDEDAF5}"/>
              </a:ext>
            </a:extLst>
          </p:cNvPr>
          <p:cNvSpPr>
            <a:spLocks noGrp="1"/>
          </p:cNvSpPr>
          <p:nvPr>
            <p:ph type="ctrTitle"/>
          </p:nvPr>
        </p:nvSpPr>
        <p:spPr>
          <a:xfrm>
            <a:off x="1524000" y="1122362"/>
            <a:ext cx="9144000" cy="2840037"/>
          </a:xfrm>
        </p:spPr>
        <p:txBody>
          <a:bodyPr>
            <a:normAutofit/>
          </a:bodyPr>
          <a:lstStyle/>
          <a:p>
            <a:r>
              <a:rPr lang="en-US" sz="5800" dirty="0"/>
              <a:t>Thank You</a:t>
            </a:r>
          </a:p>
        </p:txBody>
      </p:sp>
      <p:sp>
        <p:nvSpPr>
          <p:cNvPr id="3" name="Subtitle 2">
            <a:extLst>
              <a:ext uri="{FF2B5EF4-FFF2-40B4-BE49-F238E27FC236}">
                <a16:creationId id="{44E6BC0E-0DB7-C346-A0CC-E3CB36C29A54}"/>
              </a:ext>
            </a:extLst>
          </p:cNvPr>
          <p:cNvSpPr>
            <a:spLocks noGrp="1"/>
          </p:cNvSpPr>
          <p:nvPr>
            <p:ph type="subTitle" idx="1"/>
          </p:nvPr>
        </p:nvSpPr>
        <p:spPr>
          <a:xfrm>
            <a:off x="1524000" y="4256436"/>
            <a:ext cx="9144000" cy="1600818"/>
          </a:xfrm>
        </p:spPr>
        <p:txBody>
          <a:bodyPr>
            <a:normAutofit/>
          </a:bodyPr>
          <a:lstStyle/>
          <a:p>
            <a:r>
              <a:rPr lang="en-US" dirty="0"/>
              <a:t>Questions?</a:t>
            </a:r>
          </a:p>
        </p:txBody>
      </p:sp>
      <p:cxnSp>
        <p:nvCxnSpPr>
          <p:cNvPr id="13" name="Straight Connector 12">
            <a:extLst>
              <a:ext uri="{FF2B5EF4-FFF2-40B4-BE49-F238E27FC236}">
                <a16:creationId id="{45000665-DFC7-417E-8FD7-516A0F15C975}"/>
              </a:ext>
              <a:ext uri="{C183D7F6-B498-43B3-948B-1728B52AA6E4}">
                <ns3:decorative val="1"/>
              </a:ext>
            </a:extLst>
          </p:cNvPr>
          <p:cNvCxnSpPr>
            <a:cxnSpLocks noGrp="1" noRot="1" noChangeAspect="1" noMove="1" noResize="1" noEditPoints="1" noAdjustHandles="1" noChangeArrowheads="1" noChangeShapeType="1"/>
          </p:cNvCxnSpPr>
          <p:nvPr>
            <p:extLst>
              <p:ext uri="{386F3935-93C4-4BCD-93E2-E3B085C9AB24}">
                <ns4:designElem val="1"/>
              </p:ext>
            </p:extLst>
          </p:nvPr>
        </p:nvCxnSpPr>
        <p:spPr>
          <a:xfrm>
            <a:off x="4724400" y="4109417"/>
            <a:ext cx="2743200" cy="0"/>
          </a:xfrm>
          <a:prstGeom prst="line">
            <a:avLst/>
          </a:prstGeom>
          <a:ln w="12700">
            <a:solidFill>
              <a:schemeClr val="tx1">
                <a:lumMod val="85000"/>
              </a:schemeClr>
            </a:solidFill>
          </a:ln>
        </p:spPr>
        <p:style>
          <a:lnRef idx="1">
            <a:schemeClr val="accent1"/>
          </a:lnRef>
          <a:fillRef idx="0">
            <a:schemeClr val="accent1"/>
          </a:fillRef>
          <a:effectRef idx="0">
            <a:schemeClr val="accent1"/>
          </a:effectRef>
          <a:fontRef idx="minor">
            <a:schemeClr val="tx1"/>
          </a:fontRef>
        </p:style>
      </p:cxnSp>
      <p:sp>
        <p:nvSpPr>
          <p:cNvPr id="4" name="Footer Placeholder 3">
            <a:extLst>
              <a:ext uri="{FF2B5EF4-FFF2-40B4-BE49-F238E27FC236}">
                <a16:creationId id="{9E726E67-7B90-B642-8D26-6DDF890C4785}"/>
              </a:ext>
            </a:extLst>
          </p:cNvPr>
          <p:cNvSpPr>
            <a:spLocks noGrp="1"/>
          </p:cNvSpPr>
          <p:nvPr>
            <p:ph type="ftr" sz="quarter" idx="11"/>
          </p:nvPr>
        </p:nvSpPr>
        <p:spPr>
          <a:xfrm>
            <a:off x="4038600" y="6159710"/>
            <a:ext cx="411480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US" sz="1200" b="0" i="0" u="none" strike="noStrike" kern="1200" cap="none" spc="0" normalizeH="0" baseline="0" noProof="0" dirty="0">
                <a:ln>
                  <a:noFill/>
                </a:ln>
                <a:solidFill>
                  <a:prstClr val="white">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 - Model of Nature</a:t>
            </a:r>
          </a:p>
        </p:txBody>
      </p:sp>
      <p:sp>
        <p:nvSpPr>
          <p:cNvPr id="14"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5:creationId val="3747833275"/>
      </p:ext>
    </p:extLst>
  </p:cSld>
  <p:clrMapOvr>
    <a:overrideClrMapping bg1="dk1" tx1="lt1" bg2="dk2" tx2="lt2" accent1="accent1" accent2="accent2" accent3="accent3" accent4="accent4" accent5="accent5" accent6="accent6" hlink="hlink" folHlink="folHlink"/>
  </p:clrMapOvr>
</p:sld>
</file>

<file path=ppt/slides/slide12.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84A2A9E9-70D3-76F3-62DA-B8A646AE36F7}"/>
            </a:ext>
          </a:extLst>
        </p:cNvPr>
        <p:cNvGrpSpPr/>
        <p:nvPr/>
      </p:nvGrpSpPr>
      <p:grpSpPr>
        <a:xfrm>
          <a:off x="0" y="0"/>
          <a:ext cx="0" cy="0"/>
          <a:chOff x="0" y="0"/>
          <a:chExt cx="0" cy="0"/>
        </a:xfrm>
      </p:grpSpPr>
      <p:sp>
        <p:nvSpPr>
          <p:cNvPr id="5" name="Footer Placeholder 3">
            <a:extLst>
              <a:ext uri="{FF2B5EF4-FFF2-40B4-BE49-F238E27FC236}">
                <a16:creationId id="{14825113-EAFD-FBE0-8FFF-ADE632AC7301}"/>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8" name="TextBox 7">
            <a:extLst>
              <a:ext uri="{FF2B5EF4-FFF2-40B4-BE49-F238E27FC236}">
                <a16:creationId id="{238E18F6-C9DC-76A4-6BE8-0F4D215C824E}"/>
              </a:ext>
            </a:extLst>
          </p:cNvPr>
          <p:cNvSpPr txBox="1"/>
          <p:nvPr/>
        </p:nvSpPr>
        <p:spPr>
          <a:xfrm>
            <a:off x="0" y="0"/>
            <a:ext cx="12192000" cy="6986528"/>
          </a:xfrm>
          <a:prstGeom prst="rect">
            <a:avLst/>
          </a:prstGeom>
          <a:noFill/>
        </p:spPr>
        <p:txBody>
          <a:bodyPr wrap="square">
            <a:spAutoFit/>
          </a:bodyPr>
          <a:lstStyle/>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idea of point charges as fundamental building blocks of nature has played a significant role in the history of particle physics. </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This concept emerged with the development of atomic and subatomic theories, particularly in the late 19th and early 20th centuries.</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 "point charge" is an idealized model, representing an electric charge concentrated at a single point in time and space.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Prior to the discovery of the internal structure of the atom, early theories proposed that positive and negative charges could account for the observed electrical properties of matter.</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Proton and Electron Identification:</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J.J. Thomson discovered the electron in 1897 and it carried a fundamental negative charge (−e)</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Ernest Rutherford demonstrated in 1911 the existence of a dense, positively charged nucleus.</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Rutherford’s result lead to the identification of the proton as a fundamental carrier of positive charge (+e).</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early models of the atom, such as the Rutherford model, conceptualized the electron and proton as point charges.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charges were thought to define the atom's structure and behavior.</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Theoretical Framework:</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proton and electron were initially regarded as indivisible charged point particles with no internal structure.</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Their point-like nature was essential in early quantum mechanical formulations.</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Bohr atomic model (1913) used point charges, describing electrons in discrete orbits around a nucleus of protons.</a:t>
            </a:r>
          </a:p>
          <a:p>
            <a:b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b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Transition to Modern Understanding (Quantum Theory)</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Experiments in inelastic scattering in the 1960s, revealed that protons have an internal structure of quarks bound by gluons.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Thus the proton could not be a point charge since it had internal structure.</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electron remains a point-like particle with no internal structure, consistent with the Standard Model of particle physics.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Though the point charge model was useful, it had theoretical issues, i.e., the infinite self-energy in classical electrodynamics. </a:t>
            </a:r>
          </a:p>
          <a:p>
            <a:pPr marL="742950" lvl="1"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Quantum field theory (QFT) addresses these infinities through renormalization.</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h/t chatgpt</a:t>
            </a:r>
          </a:p>
        </p:txBody>
      </p:sp>
      <p:sp>
        <p:nvSpPr>
          <p:cNvPr id="3" name="TextBox 2">
            <a:extLst>
              <a:ext uri="{FF2B5EF4-FFF2-40B4-BE49-F238E27FC236}">
                <a16:creationId id="{70E214BE-6576-6BE4-953B-56C5AEBEDB96}"/>
              </a:ext>
            </a:extLst>
          </p:cNvPr>
          <p:cNvSpPr txBox="1"/>
          <p:nvPr/>
        </p:nvSpPr>
        <p:spPr>
          <a:xfrm>
            <a:off x="5111016" y="-798897"/>
            <a:ext cx="1697901" cy="584775"/>
          </a:xfrm>
          <a:prstGeom prst="rect">
            <a:avLst/>
          </a:prstGeom>
          <a:noFill/>
        </p:spPr>
        <p:txBody>
          <a:bodyPr wrap="none" rtlCol="0">
            <a:spAutoFit/>
          </a:bodyPr>
          <a:lstStyle/>
          <a:p>
            <a:r>
              <a:rPr lang="en-US" sz="3200" b="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SCRIPT</a:t>
            </a:r>
          </a:p>
        </p:txBody>
      </p:sp>
      <p:sp>
        <p:nvSpPr>
          <p:cNvPr id="9"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2796403270"/>
      </p:ext>
    </p:extLst>
  </p:cSld>
  <p:clrMapOvr>
    <a:masterClrMapping/>
  </p:clrMapOvr>
</p:sld>
</file>

<file path=ppt/slides/slide13.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a:extLst>
            <a:ext uri="{FF2B5EF4-FFF2-40B4-BE49-F238E27FC236}">
              <a16:creationId id="{F038DB4A-3170-80D2-BE14-C60EBAC46D3F}"/>
            </a:ext>
          </a:extLst>
        </p:cNvPr>
        <p:cNvGrpSpPr/>
        <p:nvPr/>
      </p:nvGrpSpPr>
      <p:grpSpPr>
        <a:xfrm>
          <a:off x="0" y="0"/>
          <a:ext cx="0" cy="0"/>
          <a:chOff x="0" y="0"/>
          <a:chExt cx="0" cy="0"/>
        </a:xfrm>
      </p:grpSpPr>
      <p:sp>
        <p:nvSpPr>
          <p:cNvPr id="5" name="Footer Placeholder 3">
            <a:extLst>
              <a:ext uri="{FF2B5EF4-FFF2-40B4-BE49-F238E27FC236}">
                <a16:creationId id="{D62E685F-2B63-085A-D318-954A749F457F}"/>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3" name="TextBox 2">
            <a:extLst>
              <a:ext uri="{FF2B5EF4-FFF2-40B4-BE49-F238E27FC236}">
                <a16:creationId id="{DFF01D0D-C6C7-24BE-AE84-C46583D09214}"/>
              </a:ext>
            </a:extLst>
          </p:cNvPr>
          <p:cNvSpPr txBox="1"/>
          <p:nvPr/>
        </p:nvSpPr>
        <p:spPr>
          <a:xfrm>
            <a:off x="-3143984" y="3773103"/>
            <a:ext cx="2601994" cy="584775"/>
          </a:xfrm>
          <a:prstGeom prst="rect">
            <a:avLst/>
          </a:prstGeom>
          <a:noFill/>
        </p:spPr>
        <p:txBody>
          <a:bodyPr wrap="none" rtlCol="0">
            <a:spAutoFit/>
          </a:bodyPr>
          <a:lstStyle/>
          <a:p>
            <a:r>
              <a:rPr lang="en-US" sz="3200" b="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
            </a:r>
          </a:p>
        </p:txBody>
      </p:sp>
      <p:pic>
        <p:nvPicPr>
          <p:cNvPr id="2" name="Picture 1">
            <a:extLst>
              <a:ext uri="{FF2B5EF4-FFF2-40B4-BE49-F238E27FC236}">
                <a16:creationId id="{E6D33851-4BCD-E082-9760-FDEE86AC64F7}"/>
              </a:ext>
            </a:extLst>
          </p:cNvPr>
          <p:cNvPicPr>
            <a:picLocks noChangeAspect="1"/>
          </p:cNvPicPr>
          <p:nvPr/>
        </p:nvPicPr>
        <p:blipFill>
          <a:blip r:embed="rId3"/>
          <a:stretch>
            <a:fillRect/>
          </a:stretch>
        </p:blipFill>
        <p:spPr>
          <a:xfrm>
            <a:off x="0" y="0"/>
            <a:ext cx="6748474" cy="6858000"/>
          </a:xfrm>
          <a:prstGeom prst="rect">
            <a:avLst/>
          </a:prstGeom>
        </p:spPr>
      </p:pic>
      <p:sp>
        <p:nvSpPr>
          <p:cNvPr id="6" name="TextBox 5">
            <a:extLst>
              <a:ext uri="{FF2B5EF4-FFF2-40B4-BE49-F238E27FC236}">
                <a16:creationId id="{14CD8DA9-9F93-D6DC-D0B2-2A553602794A}"/>
              </a:ext>
            </a:extLst>
          </p:cNvPr>
          <p:cNvSpPr txBox="1"/>
          <p:nvPr/>
        </p:nvSpPr>
        <p:spPr>
          <a:xfrm>
            <a:off x="6748474" y="1536174"/>
            <a:ext cx="5443526" cy="3785652"/>
          </a:xfrm>
          <a:prstGeom prst="rect">
            <a:avLst/>
          </a:prstGeom>
          <a:noFill/>
        </p:spPr>
        <p:txBody>
          <a:bodyPr wrap="square">
            <a:spAutoFit/>
          </a:bodyPr>
          <a:lstStyle/>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Point charges are confusing and incompletely modeled.</a:t>
            </a: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Instead, consider a point object which</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emit potential at a constant rate</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act in response to received potential (superposition)</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are modeled as a Dirac delta at r=0 and q/r otherwise.</a:t>
            </a:r>
          </a:p>
          <a:p>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There are multiple ways the old concerns don’t matter.</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there is only one case where the 1/r path is followed and that is the spiraling binary, which has a limit.</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architrinos move through potential fields at ease</a:t>
            </a:r>
          </a:p>
          <a:p>
            <a:pPr marL="285750" indent="-285750">
              <a:buFont typeface="Arial" panose="020B0604020202020204" pitchFamily="34" charset="0"/>
              <a:buChar char="•"/>
            </a:pPr>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everything is superposition, relax</a:t>
            </a:r>
          </a:p>
          <a:p>
            <a:pPr marL="285750" indent="-285750">
              <a:buFont typeface="Arial" panose="020B0604020202020204" pitchFamily="34" charset="0"/>
              <a:buChar char="•"/>
            </a:pPr>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pPr marL="285750" indent="-285750">
              <a:buFont typeface="Arial" panose="020B0604020202020204" pitchFamily="34" charset="0"/>
              <a:buChar char="•"/>
            </a:pPr>
            <a:endPar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160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The self energy issues are a result of an ontology too far from base nature.</a:t>
            </a:r>
          </a:p>
        </p:txBody>
      </p:sp>
      <p:sp>
        <p:nvSpPr>
          <p:cNvPr id="7"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3704854406"/>
      </p:ext>
    </p:extLst>
  </p:cSld>
  <p:clrMapOvr>
    <a:masterClrMapping/>
  </p:clrMapOvr>
</p:sld>
</file>

<file path=ppt/slides/slide14.xml><?xml version="1.0" encoding="utf-8"?>
<p:sld xmlns:a="http://schemas.openxmlformats.org/drawingml/2006/main" xmlns:a16="http://schemas.microsoft.com/office/drawing/2014/main" xmlns:ns4="http://schemas.microsoft.com/office/powerpoint/2010/main" xmlns:p="http://schemas.openxmlformats.org/presentationml/2006/main" xmlns:r="http://schemas.openxmlformats.org/officeDocument/2006/relationships">
  <p:cSld>
    <p:bg>
      <p:bgPr>
        <a:solidFill>
          <a:srgbClr val="7030A0"/>
        </a:solidFill>
        <a:effectLst/>
      </p:bgPr>
    </p:bg>
    <p:spTree>
      <p:nvGrpSpPr>
        <p:cNvPr id="1" name="">
          <a:extLst>
            <a:ext uri="{FF2B5EF4-FFF2-40B4-BE49-F238E27FC236}">
              <a16:creationId id="{73430D88-1A63-8AAD-B38F-D98DC73DC464}"/>
            </a:ext>
          </a:extLst>
        </p:cNvPr>
        <p:cNvGrpSpPr/>
        <p:nvPr/>
      </p:nvGrpSpPr>
      <p:grpSpPr>
        <a:xfrm>
          <a:off x="0" y="0"/>
          <a:ext cx="0" cy="0"/>
          <a:chOff x="0" y="0"/>
          <a:chExt cx="0" cy="0"/>
        </a:xfrm>
      </p:grpSpPr>
      <p:sp>
        <p:nvSpPr>
          <p:cNvPr id="5" name="Footer Placeholder 3">
            <a:extLst>
              <a:ext uri="{FF2B5EF4-FFF2-40B4-BE49-F238E27FC236}">
                <a16:creationId id="{753C8DBD-DDA9-7032-AAC2-D2AAC26F477E}"/>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3" name="TextBox 2">
            <a:extLst>
              <a:ext uri="{FF2B5EF4-FFF2-40B4-BE49-F238E27FC236}">
                <a16:creationId id="{ACFFDE0A-9B7D-C2B6-E32F-AE01C2F4D5B5}"/>
              </a:ext>
            </a:extLst>
          </p:cNvPr>
          <p:cNvSpPr txBox="1"/>
          <p:nvPr/>
        </p:nvSpPr>
        <p:spPr>
          <a:xfrm>
            <a:off x="-2700896" y="128970"/>
            <a:ext cx="2601994" cy="584775"/>
          </a:xfrm>
          <a:prstGeom prst="rect">
            <a:avLst/>
          </a:prstGeom>
          <a:noFill/>
        </p:spPr>
        <p:txBody>
          <a:bodyPr wrap="none" rtlCol="0">
            <a:spAutoFit/>
          </a:bodyPr>
          <a:lstStyle/>
          <a:p>
            <a:r>
              <a:rPr lang="en-US" sz="3200" b="1">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
            </a:r>
          </a:p>
        </p:txBody>
      </p:sp>
      <p:pic>
        <p:nvPicPr>
          <p:cNvPr id="4" name="Picture 3">
            <a:extLst>
              <a:ext uri="{FF2B5EF4-FFF2-40B4-BE49-F238E27FC236}">
                <a16:creationId id="{5CC8194B-30FC-BE15-3BC4-92A1EB9B3341}"/>
              </a:ext>
            </a:extLst>
          </p:cNvPr>
          <p:cNvPicPr>
            <a:picLocks noChangeAspect="1"/>
          </p:cNvPicPr>
          <p:nvPr/>
        </p:nvPicPr>
        <p:blipFill>
          <a:blip r:embed="rId3"/>
          <a:stretch>
            <a:fillRect/>
          </a:stretch>
        </p:blipFill>
        <p:spPr>
          <a:xfrm>
            <a:off x="0" y="0"/>
            <a:ext cx="5365852" cy="6858000"/>
          </a:xfrm>
          <a:prstGeom prst="rect">
            <a:avLst/>
          </a:prstGeom>
        </p:spPr>
      </p:pic>
      <p:sp>
        <p:nvSpPr>
          <p:cNvPr id="6" name="TextBox 5">
            <a:extLst>
              <a:ext uri="{FF2B5EF4-FFF2-40B4-BE49-F238E27FC236}">
                <a16:creationId id="{EDE5D03E-88C5-20A2-A1A5-70FB67273DD7}"/>
              </a:ext>
            </a:extLst>
          </p:cNvPr>
          <p:cNvSpPr txBox="1"/>
          <p:nvPr/>
        </p:nvSpPr>
        <p:spPr>
          <a:xfrm>
            <a:off x="5966734" y="283414"/>
            <a:ext cx="5655276" cy="5940088"/>
          </a:xfrm>
          <a:prstGeom prst="rect">
            <a:avLst/>
          </a:prstGeom>
          <a:noFill/>
        </p:spPr>
        <p:txBody>
          <a:bodyPr wrap="square" rtlCol="0">
            <a:spAutoFit/>
          </a:bodyPr>
          <a:lstStyle/>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Seriously?</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They gave up because of this issue?</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And they had superposition?</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And they knew about frequencies.</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And had already considered orbits.</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And knew about path history for point charges.</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It boggles my mind how major challenges and paradox are considered as perplexing oddities to be ignored and yet we put on the blinders and use proxies like renormalization in the theories.</a:t>
            </a:r>
          </a:p>
          <a:p>
            <a:endPar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endParaRPr>
          </a:p>
          <a:p>
            <a:r>
              <a:rPr lang="en-US" sz="2000">
                <a:solidFill>
                  <a:srgbClr val="FFC000"/>
                </a:solidFill>
                <a:latin typeface="Helvetica Neue" panose="02000503000000020004" pitchFamily="2" charset="0"/>
                <a:ea typeface="Helvetica Neue" panose="02000503000000020004" pitchFamily="2" charset="0"/>
                <a:cs typeface="Helvetica Neue" panose="02000503000000020004" pitchFamily="2" charset="0"/>
              </a:rPr>
              <a:t>Are you kidding me?</a:t>
            </a:r>
          </a:p>
        </p:txBody>
      </p:sp>
      <p:pic>
        <p:nvPicPr>
          <p:cNvPr id="2" name="Picture 1">
            <a:extLst>
              <a:ext uri="{FF2B5EF4-FFF2-40B4-BE49-F238E27FC236}">
                <a16:creationId id="{433D4A9F-6D3A-A53F-5EBF-4E3AB3133871}"/>
              </a:ext>
            </a:extLst>
          </p:cNvPr>
          <p:cNvPicPr>
            <a:picLocks noChangeAspect="1"/>
          </p:cNvPicPr>
          <p:nvPr/>
        </p:nvPicPr>
        <p:blipFill>
          <a:blip r:embed="rId4"/>
          <a:stretch>
            <a:fillRect/>
          </a:stretch>
        </p:blipFill>
        <p:spPr>
          <a:xfrm>
            <a:off x="-384498" y="-6979826"/>
            <a:ext cx="5975942" cy="6858000"/>
          </a:xfrm>
          <a:prstGeom prst="rect">
            <a:avLst/>
          </a:prstGeom>
        </p:spPr>
      </p:pic>
      <p:pic>
        <p:nvPicPr>
          <p:cNvPr id="7" name="Picture 6">
            <a:extLst>
              <a:ext uri="{FF2B5EF4-FFF2-40B4-BE49-F238E27FC236}">
                <a16:creationId id="{AC32DE47-0DF1-DFA4-F0BF-74CC7FB64625}"/>
              </a:ext>
            </a:extLst>
          </p:cNvPr>
          <p:cNvPicPr>
            <a:picLocks noChangeAspect="1"/>
          </p:cNvPicPr>
          <p:nvPr/>
        </p:nvPicPr>
        <p:blipFill>
          <a:blip r:embed="rId5"/>
          <a:stretch>
            <a:fillRect/>
          </a:stretch>
        </p:blipFill>
        <p:spPr>
          <a:xfrm>
            <a:off x="5591444" y="-6979826"/>
            <a:ext cx="6475066" cy="6858000"/>
          </a:xfrm>
          <a:prstGeom prst="rect">
            <a:avLst/>
          </a:prstGeom>
        </p:spPr>
      </p:pic>
      <p:sp>
        <p:nvSpPr>
          <p:cNvPr id="8"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4:creationId val="2266839906"/>
      </p:ext>
    </p:extLst>
  </p:cSld>
  <p:clrMapOvr>
    <a:masterClrMapping/>
  </p:clrMapOvr>
</p:sld>
</file>

<file path=ppt/slides/slide15.xml><?xml version="1.0" encoding="utf-8"?>
<p:sld xmlns:a="http://schemas.openxmlformats.org/drawingml/2006/main" xmlns:a16="http://schemas.microsoft.com/office/drawing/2014/main" xmlns:ns3="http://schemas.microsoft.com/office/powerpoint/2010/main" xmlns:p="http://schemas.openxmlformats.org/presentationml/2006/main">
  <p:cSld>
    <p:bg>
      <p:bgPr>
        <a:solidFill>
          <a:srgbClr val="7030A0"/>
        </a:solidFill>
        <a:effectLst/>
      </p:bgPr>
    </p:bg>
    <p:spTree>
      <p:nvGrpSpPr>
        <p:cNvPr id="1" name="">
          <a:extLst>
            <a:ext uri="{FF2B5EF4-FFF2-40B4-BE49-F238E27FC236}">
              <a16:creationId id="{350FC2F0-7016-191E-C62B-2F1043B51523}"/>
            </a:ext>
          </a:extLst>
        </p:cNvPr>
        <p:cNvGrpSpPr/>
        <p:nvPr/>
      </p:nvGrpSpPr>
      <p:grpSpPr>
        <a:xfrm>
          <a:off x="0" y="0"/>
          <a:ext cx="0" cy="0"/>
          <a:chOff x="0" y="0"/>
          <a:chExt cx="0" cy="0"/>
        </a:xfrm>
      </p:grpSpPr>
      <p:sp>
        <p:nvSpPr>
          <p:cNvPr id="5" name="Footer Placeholder 3">
            <a:extLst>
              <a:ext uri="{FF2B5EF4-FFF2-40B4-BE49-F238E27FC236}">
                <a16:creationId id="{358ED6BC-E906-5E1F-C9E2-F43798AED530}"/>
              </a:ext>
            </a:extLst>
          </p:cNvPr>
          <p:cNvSpPr txBox="1">
            <a:spLocks/>
          </p:cNvSpPr>
          <p:nvPr/>
        </p:nvSpPr>
        <p:spPr>
          <a:xfrm>
            <a:off x="10924248" y="6388602"/>
            <a:ext cx="1142262"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J Mark Morris</a:t>
            </a:r>
          </a:p>
        </p:txBody>
      </p:sp>
      <p:sp>
        <p:nvSpPr>
          <p:cNvPr id="2" name="TextBox 1">
            <a:extLst>
              <a:ext uri="{FF2B5EF4-FFF2-40B4-BE49-F238E27FC236}">
                <a16:creationId id="{132FD10F-4787-35B9-3723-FC903514578F}"/>
              </a:ext>
            </a:extLst>
          </p:cNvPr>
          <p:cNvSpPr txBox="1"/>
          <p:nvPr/>
        </p:nvSpPr>
        <p:spPr>
          <a:xfrm>
            <a:off x="512272" y="902394"/>
            <a:ext cx="11465670" cy="1631216"/>
          </a:xfrm>
          <a:prstGeom prst="rect">
            <a:avLst/>
          </a:prstGeom>
          <a:noFill/>
        </p:spPr>
        <p:txBody>
          <a:bodyPr wrap="square" rtlCol="0">
            <a:spAutoFit/>
          </a:bodyPr>
          <a:lstStyle/>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Use grad, div, curl to make fundamental observations about the emissions of architrinos.</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Use systems of up to two architrinos</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Can any of these be proven geometrically?</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r>
              <a:rPr lang="en-US" sz="2000" dirty="0">
                <a:solidFill>
                  <a:schemeClr val="bg1"/>
                </a:solidFill>
                <a:latin typeface="Helvetica Neue" panose="02000503000000020004" pitchFamily="2" charset="0"/>
                <a:ea typeface="Helvetica Neue" panose="02000503000000020004" pitchFamily="2" charset="0"/>
                <a:cs typeface="Helvetica Neue" panose="02000503000000020004" pitchFamily="2" charset="0"/>
              </a:rPr>
              <a:t>Compare to Maxwell in Del form.</a:t>
            </a:r>
          </a:p>
          <a:p>
            <a:pPr marL="285750" marR="0" lvl="0" indent="-285750" algn="l" defTabSz="914400" rtl="0" eaLnBrk="1" fontAlgn="auto" latinLnBrk="0" hangingPunct="1">
              <a:spcBef>
                <a:spcPts val="0"/>
              </a:spcBef>
              <a:spcAft>
                <a:spcPts val="0"/>
              </a:spcAft>
              <a:buClrTx/>
              <a:buSzTx/>
              <a:buFont typeface="Arial" panose="020B0604020202020204" pitchFamily="34" charset="0"/>
              <a:buChar char="•"/>
              <a:tabLst/>
              <a:defRPr/>
            </a:pPr>
            <a:endParaRPr kumimoji="0" lang="en-US" sz="2000" b="0"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endParaRPr>
          </a:p>
        </p:txBody>
      </p:sp>
      <p:sp>
        <p:nvSpPr>
          <p:cNvPr id="8" name="TextBox 7">
            <a:extLst>
              <a:ext uri="{FF2B5EF4-FFF2-40B4-BE49-F238E27FC236}">
                <a16:creationId id="{66D94C86-9437-C0D1-B6E9-EE6E69B9F6C8}"/>
              </a:ext>
            </a:extLst>
          </p:cNvPr>
          <p:cNvSpPr txBox="1"/>
          <p:nvPr/>
        </p:nvSpPr>
        <p:spPr>
          <a:xfrm>
            <a:off x="512272" y="321582"/>
            <a:ext cx="11580073" cy="523220"/>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chemeClr val="bg1"/>
                </a:solidFill>
                <a:effectLst/>
                <a:uLnTx/>
                <a:uFillTx/>
                <a:latin typeface="Helvetica Neue" panose="02000503000000020004" pitchFamily="2" charset="0"/>
                <a:ea typeface="Helvetica Neue" panose="02000503000000020004" pitchFamily="2" charset="0"/>
                <a:cs typeface="Helvetica Neue" panose="02000503000000020004" pitchFamily="2" charset="0"/>
              </a:rPr>
              <a:t>Examining the Potential Field of 0, 1, or 2 Architrinos </a:t>
            </a:r>
          </a:p>
        </p:txBody>
      </p:sp>
      <p:graphicFrame>
        <p:nvGraphicFramePr>
          <p:cNvPr id="3" name="Table 2">
            <a:extLst>
              <a:ext uri="{FF2B5EF4-FFF2-40B4-BE49-F238E27FC236}">
                <a16:creationId id="{00BA6015-2262-3C7A-725A-2DB70D52AD3C}"/>
              </a:ext>
            </a:extLst>
          </p:cNvPr>
          <p:cNvGraphicFramePr>
            <a:graphicFrameLocks noGrp="1"/>
          </p:cNvGraphicFramePr>
          <p:nvPr>
            <p:extLst>
              <p:ext uri="{D42A27DB-BD31-4B8C-83A1-F6EECF244321}">
                <ns3:modId val="15347663"/>
              </p:ext>
            </p:extLst>
          </p:nvPr>
        </p:nvGraphicFramePr>
        <p:xfrm>
          <a:off x="496136" y="2808006"/>
          <a:ext cx="11199727" cy="3032769"/>
        </p:xfrm>
        <a:graphic>
          <a:graphicData uri="http://schemas.openxmlformats.org/drawingml/2006/table">
            <a:tbl>
              <a:tblPr firstRow="1" bandRow="1">
                <a:tableStyleId>{5C22544A-7EE6-4342-B048-85BDC9FD1C3A}</a:tableStyleId>
              </a:tblPr>
              <a:tblGrid>
                <a:gridCol w="1825139">
                  <a:extLst>
                    <a:ext uri="{9D8B030D-6E8A-4147-A177-3AD203B41FA5}">
                      <a16:colId val="3215995319"/>
                    </a:ext>
                  </a:extLst>
                </a:gridCol>
                <a:gridCol w="724218">
                  <a:extLst>
                    <a:ext uri="{9D8B030D-6E8A-4147-A177-3AD203B41FA5}">
                      <a16:colId val="2078492112"/>
                    </a:ext>
                  </a:extLst>
                </a:gridCol>
                <a:gridCol w="626872">
                  <a:extLst>
                    <a:ext uri="{9D8B030D-6E8A-4147-A177-3AD203B41FA5}">
                      <a16:colId val="1858572401"/>
                    </a:ext>
                  </a:extLst>
                </a:gridCol>
                <a:gridCol w="1452563">
                  <a:extLst>
                    <a:ext uri="{9D8B030D-6E8A-4147-A177-3AD203B41FA5}">
                      <a16:colId val="1326786380"/>
                    </a:ext>
                  </a:extLst>
                </a:gridCol>
                <a:gridCol w="1154113">
                  <a:extLst>
                    <a:ext uri="{9D8B030D-6E8A-4147-A177-3AD203B41FA5}">
                      <a16:colId val="918904619"/>
                    </a:ext>
                  </a:extLst>
                </a:gridCol>
                <a:gridCol w="724218">
                  <a:extLst>
                    <a:ext uri="{9D8B030D-6E8A-4147-A177-3AD203B41FA5}">
                      <a16:colId val="2078907028"/>
                    </a:ext>
                  </a:extLst>
                </a:gridCol>
                <a:gridCol w="1465580">
                  <a:extLst>
                    <a:ext uri="{9D8B030D-6E8A-4147-A177-3AD203B41FA5}">
                      <a16:colId val="2505089680"/>
                    </a:ext>
                  </a:extLst>
                </a:gridCol>
                <a:gridCol w="1167130">
                  <a:extLst>
                    <a:ext uri="{9D8B030D-6E8A-4147-A177-3AD203B41FA5}">
                      <a16:colId val="3084425507"/>
                    </a:ext>
                  </a:extLst>
                </a:gridCol>
                <a:gridCol w="2059894">
                  <a:extLst>
                    <a:ext uri="{9D8B030D-6E8A-4147-A177-3AD203B41FA5}">
                      <a16:colId val="1198364657"/>
                    </a:ext>
                  </a:extLst>
                </a:gridCol>
              </a:tblGrid>
              <a:tr h="680729">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Region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4">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 architrinos</a:t>
                      </a:r>
                      <a:b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b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(does it match superposition?)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3">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One moving architrino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A pair of opposite or same architrinos.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val="602720088"/>
                  </a:ext>
                </a:extLst>
              </a:tr>
              <a:tr h="680729">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External Moving Architrinos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None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One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Two opposite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Two same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One opposite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One same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None</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val="4072284323"/>
                  </a:ext>
                </a:extLst>
              </a:tr>
              <a:tr h="370840">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Gradient of Potential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None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gridSpan="3">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Based on path of emitters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val="1810215886"/>
                  </a:ext>
                </a:extLst>
              </a:tr>
              <a:tr h="370840">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Divergence of Potential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 q</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 q</a:t>
                      </a:r>
                    </a:p>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val="3064039919"/>
                  </a:ext>
                </a:extLst>
              </a:tr>
              <a:tr h="370840">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Curl of Potential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rPr>
                        <a:t>zero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n-US" sz="1600">
                        <a:solidFill>
                          <a:schemeClr val="tx1"/>
                        </a:solidFill>
                        <a:latin typeface="Helvetica Neue" panose="02000503000000020004" pitchFamily="2" charset="0"/>
                        <a:ea typeface="Helvetica Neue" panose="02000503000000020004" pitchFamily="2" charset="0"/>
                        <a:cs typeface="Helvetica Neue" panose="02000503000000020004"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val="1764217278"/>
                  </a:ext>
                </a:extLst>
              </a:tr>
            </a:tbl>
          </a:graphicData>
        </a:graphic>
      </p:graphicFrame>
      <p:sp>
        <p:nvSpPr>
          <p:cNvPr id="9" name="Footer Placeholder 3"/>
          <p:cNvSpPr txBox="1">
            <a:spLocks/>
          </p:cNvSpPr>
          <p:nvPr/>
        </p:nvSpPr>
        <p:spPr>
          <a:xfrm>
            <a:off x="10942204" y="6481737"/>
            <a:ext cx="1217443" cy="365125"/>
          </a:xfrm>
          <a:prstGeom prst="rect">
            <a:avLst/>
          </a:prstGeom>
        </p:spPr>
        <p:txBody>
          <a:bodyPr vert="horz" lIns="91440" tIns="45720" rIns="91440" bIns="45720" rtlCol="0" anchor="ctr"/>
          <a:lstStyle>
            <a:defPPr>
              <a:defRPr lang="en-US"/>
            </a:defPPr>
            <a:lvl1pPr marL="0" algn="ct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tint val="75000"/>
                  </a:prstClr>
                </a:solidFill>
                <a:effectLst/>
                <a:uLnTx/>
                <a:uFillTx/>
                <a:latin typeface="Helvetica Neue" panose="02000503000000020004" pitchFamily="2" charset="0"/>
                <a:ea typeface="Helvetica Neue" panose="02000503000000020004" pitchFamily="2" charset="0"/>
                <a:cs typeface="Helvetica Neue" panose="02000503000000020004" pitchFamily="2" charset="0"/>
              </a:rPr>
              <a:t>architrino.com</a:t>
            </a:r>
          </a:p>
        </p:txBody>
      </p:sp>
    </p:spTree>
    <p:extLst>
      <p:ext uri="{BB962C8B-B14F-4D97-AF65-F5344CB8AC3E}">
        <ns3:creationId val="36126048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bodyPr wrap="none">
        <a:spAutoFit/>
      </a:bodyPr>
      <a:lstStyle>
        <a:defPPr algn="l">
          <a:defRPr sz="2400" dirty="0" smtClean="0">
            <a:latin typeface="Helvetica Neue" panose="02000503000000020004" pitchFamily="2" charset="0"/>
            <a:ea typeface="Helvetica Neue" panose="02000503000000020004" pitchFamily="2" charset="0"/>
            <a:cs typeface="Helvetica Neue" panose="02000503000000020004" pitchFamily="2" charset="0"/>
          </a:defRPr>
        </a:defPPr>
      </a:lstStyle>
    </a:spDef>
    <a:txDef>
      <a:spPr>
        <a:noFill/>
      </a:spPr>
      <a:bodyPr wrap="none" rtlCol="0">
        <a:spAutoFit/>
      </a:bodyPr>
      <a:lstStyle>
        <a:defPPr algn="l">
          <a:defRPr dirty="0" smtClean="0">
            <a:latin typeface="Helvetica Neue" panose="02000503000000020004" pitchFamily="2" charset="0"/>
            <a:ea typeface="Helvetica Neue" panose="02000503000000020004" pitchFamily="2" charset="0"/>
            <a:cs typeface="Helvetica Neue" panose="02000503000000020004" pitchFamily="2"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8093</TotalTime>
  <Words>1407</Words>
  <Application>Microsoft Macintosh PowerPoint</Application>
  <PresentationFormat>Widescreen</PresentationFormat>
  <Paragraphs>243</Paragraphs>
  <Slides>15</Slides>
  <Notes>14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15</vt:i4>
      </vt:variant>
    </vt:vector>
  </HeadingPairs>
  <TitlesOfParts>
    <vt:vector size="23" baseType="lpstr">
      <vt:lpstr>Arial</vt:lpstr>
      <vt:lpstr>Calibri</vt:lpstr>
      <vt:lpstr>Calibri Light</vt:lpstr>
      <vt:lpstr>Helvetica Neue</vt:lpstr>
      <vt:lpstr>Helvetica Neue Condensed Black</vt:lpstr>
      <vt:lpstr>HelveticaNeue-UltraLightItalic</vt:lpstr>
      <vt:lpstr>Office Theme</vt:lpstr>
      <vt:lpstr>2_Office Theme</vt:lpstr>
      <vt:lpstr>PowerPoint Presentation</vt:lpstr>
      <vt:lpstr>The Fundamental Entities of Nature</vt:lpstr>
      <vt:lpstr>Point Potential Magnitude</vt:lpstr>
      <vt:lpstr>Point Potentials are Immutable</vt:lpstr>
      <vt:lpstr>Point Potential Energy</vt:lpstr>
      <vt:lpstr>Large Scale Point Potential Observables</vt:lpstr>
      <vt:lpstr>Constant Rate Point Potential Emitters</vt:lpstr>
      <vt:lpstr>Point Potential Have No Speed Limit</vt:lpstr>
      <vt:lpstr>PowerPoint Presentation</vt:lpstr>
      <vt:lpstr>PowerPoint Presentation</vt:lpstr>
      <vt:lpstr>Thank You</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Mark Morris</dc:creator>
  <cp:lastModifiedBy>Mark Morris</cp:lastModifiedBy>
  <cp:revision>382</cp:revision>
  <cp:lastPrinted>2022-09-07T12:10:19Z</cp:lastPrinted>
  <dcterms:created xsi:type="dcterms:W3CDTF">2022-02-05T18:41:13Z</dcterms:created>
  <dcterms:modified xsi:type="dcterms:W3CDTF">2026-07-03T17:22:28Z</dcterms:modified>
</cp:coreProperties>
</file>