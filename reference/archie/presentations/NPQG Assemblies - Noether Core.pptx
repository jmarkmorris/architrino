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5" r:id="rId1"/>
    <p:sldMasterId id="2147483667" r:id="rId2"/>
  </p:sldMasterIdLst>
  <p:notesMasterIdLst>
    <p:notesMasterId r:id="rId32"/>
  </p:notesMasterIdLst>
  <p:sldIdLst>
    <p:sldId id="807" r:id="rId3"/>
    <p:sldId id="842" r:id="rId4"/>
    <p:sldId id="698" r:id="rId5"/>
    <p:sldId id="837" r:id="rId6"/>
    <p:sldId id="743" r:id="rId7"/>
    <p:sldId id="785" r:id="rId8"/>
    <p:sldId id="841" r:id="rId9"/>
    <p:sldId id="765" r:id="rId10"/>
    <p:sldId id="808" r:id="rId11"/>
    <p:sldId id="838" r:id="rId12"/>
    <p:sldId id="777" r:id="rId13"/>
    <p:sldId id="814" r:id="rId14"/>
    <p:sldId id="817" r:id="rId15"/>
    <p:sldId id="839" r:id="rId16"/>
    <p:sldId id="840" r:id="rId17"/>
    <p:sldId id="843" r:id="rId18"/>
    <p:sldId id="844" r:id="rId19"/>
    <p:sldId id="845" r:id="rId20"/>
    <p:sldId id="846" r:id="rId21"/>
    <p:sldId id="850" r:id="rId22"/>
    <p:sldId id="857" r:id="rId23"/>
    <p:sldId id="851" r:id="rId24"/>
    <p:sldId id="847" r:id="rId25"/>
    <p:sldId id="848" r:id="rId26"/>
    <p:sldId id="624" r:id="rId27"/>
    <p:sldId id="610" r:id="rId28"/>
    <p:sldId id="613" r:id="rId29"/>
    <p:sldId id="806" r:id="rId30"/>
    <p:sldId id="858"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k Morris" initials="MM" lastIdx="1" clrIdx="0">
    <p:extLst>
      <p:ext uri="{19B8F6BF-5375-455C-9EA6-DF929625EA0E}">
        <p15:presenceInfo xmlns:p15="http://schemas.microsoft.com/office/powerpoint/2012/main" userId="e0501bf2facbc5e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vertBarState="minimized" horzBarState="maximized">
    <p:restoredLeft sz="34371"/>
    <p:restoredTop sz="97379"/>
  </p:normalViewPr>
  <p:slideViewPr>
    <p:cSldViewPr snapToGrid="0" snapToObjects="1">
      <p:cViewPr varScale="1">
        <p:scale>
          <a:sx n="127" d="100"/>
          <a:sy n="127" d="100"/>
        </p:scale>
        <p:origin x="1528" y="19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505754-C48E-DF4E-9B84-E7B6A3B19E2D}" type="datetimeFigureOut">
              <a:rPr lang="en-US" smtClean="0"/>
              <a:t>7/3/26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B0362E-5C5C-984E-ABC7-C52ED959C05D}" type="slidenum">
              <a:rPr lang="en-US" smtClean="0"/>
              <a:t>‹#›</a:t>
            </a:fld>
            <a:endParaRPr lang="en-US"/>
          </a:p>
        </p:txBody>
      </p:sp>
    </p:spTree>
    <p:extLst>
      <p:ext uri="{BB962C8B-B14F-4D97-AF65-F5344CB8AC3E}">
        <p14:creationId xmlns:p14="http://schemas.microsoft.com/office/powerpoint/2010/main" val="7450992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8013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003837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D4D731-5435-284A-9C82-866A0CCE75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584803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D4D731-5435-284A-9C82-866A0CCE75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118772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98891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96250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430666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BB0362E-5C5C-984E-ABC7-C52ED959C05D}" type="slidenum">
              <a:rPr lang="en-US" smtClean="0"/>
              <a:t>12</a:t>
            </a:fld>
            <a:endParaRPr lang="en-US"/>
          </a:p>
        </p:txBody>
      </p:sp>
    </p:spTree>
    <p:extLst>
      <p:ext uri="{BB962C8B-B14F-4D97-AF65-F5344CB8AC3E}">
        <p14:creationId xmlns:p14="http://schemas.microsoft.com/office/powerpoint/2010/main" val="30943587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BB0362E-5C5C-984E-ABC7-C52ED959C05D}" type="slidenum">
              <a:rPr lang="en-US" smtClean="0"/>
              <a:t>21</a:t>
            </a:fld>
            <a:endParaRPr lang="en-US"/>
          </a:p>
        </p:txBody>
      </p:sp>
    </p:spTree>
    <p:extLst>
      <p:ext uri="{BB962C8B-B14F-4D97-AF65-F5344CB8AC3E}">
        <p14:creationId xmlns:p14="http://schemas.microsoft.com/office/powerpoint/2010/main" val="12605901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8013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B0362E-5C5C-984E-ABC7-C52ED959C05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833213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6AC4F-7A0F-A943-A37C-CBCA0E32BFE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6A297DA-E85E-0C4F-99BF-0A156C60B7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9D6CA89-2D26-3A41-89B1-50126474275B}"/>
              </a:ext>
            </a:extLst>
          </p:cNvPr>
          <p:cNvSpPr>
            <a:spLocks noGrp="1"/>
          </p:cNvSpPr>
          <p:nvPr>
            <p:ph type="dt" sz="half" idx="10"/>
          </p:nvPr>
        </p:nvSpPr>
        <p:spPr/>
        <p:txBody>
          <a:bodyPr/>
          <a:lstStyle/>
          <a:p>
            <a:fld id="{E3E42ED2-DF18-DB41-BB39-D7AA7F2F2082}" type="datetimeFigureOut">
              <a:rPr lang="en-US" smtClean="0"/>
              <a:t>7/3/26</a:t>
            </a:fld>
            <a:endParaRPr lang="en-US"/>
          </a:p>
        </p:txBody>
      </p:sp>
      <p:sp>
        <p:nvSpPr>
          <p:cNvPr id="5" name="Footer Placeholder 4">
            <a:extLst>
              <a:ext uri="{FF2B5EF4-FFF2-40B4-BE49-F238E27FC236}">
                <a16:creationId xmlns:a16="http://schemas.microsoft.com/office/drawing/2014/main" id="{83BAD168-D168-924A-82CE-07F9D6F7CD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D38C6D-1145-FE40-A5F3-AA76BBFA8003}"/>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777614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04DC4-2DA1-B348-A4DF-75DC7F91C2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0539A7-F958-5045-8004-AB9AE1A96DB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D4E59F-8028-6640-B7CD-712A00A55C6E}"/>
              </a:ext>
            </a:extLst>
          </p:cNvPr>
          <p:cNvSpPr>
            <a:spLocks noGrp="1"/>
          </p:cNvSpPr>
          <p:nvPr>
            <p:ph type="dt" sz="half" idx="10"/>
          </p:nvPr>
        </p:nvSpPr>
        <p:spPr/>
        <p:txBody>
          <a:bodyPr/>
          <a:lstStyle/>
          <a:p>
            <a:fld id="{E3E42ED2-DF18-DB41-BB39-D7AA7F2F2082}" type="datetimeFigureOut">
              <a:rPr lang="en-US" smtClean="0"/>
              <a:t>7/3/26</a:t>
            </a:fld>
            <a:endParaRPr lang="en-US"/>
          </a:p>
        </p:txBody>
      </p:sp>
      <p:sp>
        <p:nvSpPr>
          <p:cNvPr id="5" name="Footer Placeholder 4">
            <a:extLst>
              <a:ext uri="{FF2B5EF4-FFF2-40B4-BE49-F238E27FC236}">
                <a16:creationId xmlns:a16="http://schemas.microsoft.com/office/drawing/2014/main" id="{2635207B-575E-EB46-9167-DC8B9A1A7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325824-8924-0F4E-BA06-D6714EF01903}"/>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18264834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C153B-5FCE-B74A-A920-BCEF1F63DC1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3B97D35-0983-3A42-B252-8AD80D9BF1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21E38F-3C0D-E140-A6E9-29E4DFD584A3}"/>
              </a:ext>
            </a:extLst>
          </p:cNvPr>
          <p:cNvSpPr>
            <a:spLocks noGrp="1"/>
          </p:cNvSpPr>
          <p:nvPr>
            <p:ph type="dt" sz="half" idx="10"/>
          </p:nvPr>
        </p:nvSpPr>
        <p:spPr/>
        <p:txBody>
          <a:bodyPr/>
          <a:lstStyle/>
          <a:p>
            <a:fld id="{E3E42ED2-DF18-DB41-BB39-D7AA7F2F2082}" type="datetimeFigureOut">
              <a:rPr lang="en-US" smtClean="0"/>
              <a:t>7/3/26</a:t>
            </a:fld>
            <a:endParaRPr lang="en-US"/>
          </a:p>
        </p:txBody>
      </p:sp>
      <p:sp>
        <p:nvSpPr>
          <p:cNvPr id="5" name="Footer Placeholder 4">
            <a:extLst>
              <a:ext uri="{FF2B5EF4-FFF2-40B4-BE49-F238E27FC236}">
                <a16:creationId xmlns:a16="http://schemas.microsoft.com/office/drawing/2014/main" id="{C931BD2A-DB13-B24A-BBFC-927CE89613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A7F839-BEAD-4046-84B9-B65359FFF199}"/>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23260498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CC177-DB72-3842-8FEB-9F3714731A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73F9017-D4AC-4443-9CD1-2655A6BD26A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D78D979-597B-B94B-BB54-1E681A7ECD3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6A3BD60-7139-A04D-9B93-01CBEFB009F1}"/>
              </a:ext>
            </a:extLst>
          </p:cNvPr>
          <p:cNvSpPr>
            <a:spLocks noGrp="1"/>
          </p:cNvSpPr>
          <p:nvPr>
            <p:ph type="dt" sz="half" idx="10"/>
          </p:nvPr>
        </p:nvSpPr>
        <p:spPr/>
        <p:txBody>
          <a:bodyPr/>
          <a:lstStyle/>
          <a:p>
            <a:fld id="{E3E42ED2-DF18-DB41-BB39-D7AA7F2F2082}" type="datetimeFigureOut">
              <a:rPr lang="en-US" smtClean="0"/>
              <a:t>7/3/26</a:t>
            </a:fld>
            <a:endParaRPr lang="en-US"/>
          </a:p>
        </p:txBody>
      </p:sp>
      <p:sp>
        <p:nvSpPr>
          <p:cNvPr id="6" name="Footer Placeholder 5">
            <a:extLst>
              <a:ext uri="{FF2B5EF4-FFF2-40B4-BE49-F238E27FC236}">
                <a16:creationId xmlns:a16="http://schemas.microsoft.com/office/drawing/2014/main" id="{17B9F3AA-F8ED-E14B-85E0-12F62683C4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17C5392-4C49-3D4E-A960-85F3FF79B15C}"/>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38837382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C7FD0-5120-0C4E-9ED8-2E64DC8B93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ECB33E-1A4C-E646-937B-3065B793BD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E4967C-4E8D-224B-B99B-5A8BFB4A646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2B943C8-A2E5-9D40-B765-79FA0F4A92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F450570-0F93-F641-B441-AF42A2D4E4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71A5EAD-E92B-9048-B9C8-92222381FEFA}"/>
              </a:ext>
            </a:extLst>
          </p:cNvPr>
          <p:cNvSpPr>
            <a:spLocks noGrp="1"/>
          </p:cNvSpPr>
          <p:nvPr>
            <p:ph type="dt" sz="half" idx="10"/>
          </p:nvPr>
        </p:nvSpPr>
        <p:spPr/>
        <p:txBody>
          <a:bodyPr/>
          <a:lstStyle/>
          <a:p>
            <a:fld id="{E3E42ED2-DF18-DB41-BB39-D7AA7F2F2082}" type="datetimeFigureOut">
              <a:rPr lang="en-US" smtClean="0"/>
              <a:t>7/3/26</a:t>
            </a:fld>
            <a:endParaRPr lang="en-US"/>
          </a:p>
        </p:txBody>
      </p:sp>
      <p:sp>
        <p:nvSpPr>
          <p:cNvPr id="8" name="Footer Placeholder 7">
            <a:extLst>
              <a:ext uri="{FF2B5EF4-FFF2-40B4-BE49-F238E27FC236}">
                <a16:creationId xmlns:a16="http://schemas.microsoft.com/office/drawing/2014/main" id="{21BD3873-3B3E-ED46-AB43-A96EABCE285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0982CEE-B54E-EB49-A16C-7BD03BE41C56}"/>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7198619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6FC62-6751-0643-9250-97D2B5E359B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E19D249-AD5C-E04F-9713-314E504E7AD0}"/>
              </a:ext>
            </a:extLst>
          </p:cNvPr>
          <p:cNvSpPr>
            <a:spLocks noGrp="1"/>
          </p:cNvSpPr>
          <p:nvPr>
            <p:ph type="dt" sz="half" idx="10"/>
          </p:nvPr>
        </p:nvSpPr>
        <p:spPr/>
        <p:txBody>
          <a:bodyPr/>
          <a:lstStyle/>
          <a:p>
            <a:fld id="{E3E42ED2-DF18-DB41-BB39-D7AA7F2F2082}" type="datetimeFigureOut">
              <a:rPr lang="en-US" smtClean="0"/>
              <a:t>7/3/26</a:t>
            </a:fld>
            <a:endParaRPr lang="en-US"/>
          </a:p>
        </p:txBody>
      </p:sp>
      <p:sp>
        <p:nvSpPr>
          <p:cNvPr id="4" name="Footer Placeholder 3">
            <a:extLst>
              <a:ext uri="{FF2B5EF4-FFF2-40B4-BE49-F238E27FC236}">
                <a16:creationId xmlns:a16="http://schemas.microsoft.com/office/drawing/2014/main" id="{69FAE547-A907-884B-BE81-EF89D3D64AD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B72ED8E-C4AB-F14B-8929-F9E030329E5E}"/>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3324538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574BB6F-7B9B-964D-886B-D85350A3C9D9}"/>
              </a:ext>
            </a:extLst>
          </p:cNvPr>
          <p:cNvSpPr>
            <a:spLocks noGrp="1"/>
          </p:cNvSpPr>
          <p:nvPr>
            <p:ph type="dt" sz="half" idx="10"/>
          </p:nvPr>
        </p:nvSpPr>
        <p:spPr/>
        <p:txBody>
          <a:bodyPr/>
          <a:lstStyle/>
          <a:p>
            <a:fld id="{E3E42ED2-DF18-DB41-BB39-D7AA7F2F2082}" type="datetimeFigureOut">
              <a:rPr lang="en-US" smtClean="0"/>
              <a:t>7/3/26</a:t>
            </a:fld>
            <a:endParaRPr lang="en-US"/>
          </a:p>
        </p:txBody>
      </p:sp>
      <p:sp>
        <p:nvSpPr>
          <p:cNvPr id="3" name="Footer Placeholder 2">
            <a:extLst>
              <a:ext uri="{FF2B5EF4-FFF2-40B4-BE49-F238E27FC236}">
                <a16:creationId xmlns:a16="http://schemas.microsoft.com/office/drawing/2014/main" id="{7B12AF3E-955F-E044-BADD-4B3F3346973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0694269-793F-EC42-A5AD-E4EDD73AAD10}"/>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23137035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D5B24-7F29-EB4C-8550-397A4EF22B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12BE189-5B1A-7048-AE10-17298DF6DC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B40FD4A-1397-2F45-A4D7-06ABB58763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F62886-2AD3-CD44-9D2F-203200117585}"/>
              </a:ext>
            </a:extLst>
          </p:cNvPr>
          <p:cNvSpPr>
            <a:spLocks noGrp="1"/>
          </p:cNvSpPr>
          <p:nvPr>
            <p:ph type="dt" sz="half" idx="10"/>
          </p:nvPr>
        </p:nvSpPr>
        <p:spPr/>
        <p:txBody>
          <a:bodyPr/>
          <a:lstStyle/>
          <a:p>
            <a:fld id="{E3E42ED2-DF18-DB41-BB39-D7AA7F2F2082}" type="datetimeFigureOut">
              <a:rPr lang="en-US" smtClean="0"/>
              <a:t>7/3/26</a:t>
            </a:fld>
            <a:endParaRPr lang="en-US"/>
          </a:p>
        </p:txBody>
      </p:sp>
      <p:sp>
        <p:nvSpPr>
          <p:cNvPr id="6" name="Footer Placeholder 5">
            <a:extLst>
              <a:ext uri="{FF2B5EF4-FFF2-40B4-BE49-F238E27FC236}">
                <a16:creationId xmlns:a16="http://schemas.microsoft.com/office/drawing/2014/main" id="{545F0679-BAA2-4A4A-A43D-4712441F01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F063EA-2E55-AB41-AAC6-3B06B0A425BD}"/>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9951370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BCBE6-8654-C64C-A30A-1F235AC123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1F834EB-69C2-AA42-98DA-7B4340442C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1F0A069-EA0A-1644-B57A-5EAE0C27D7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095D40-9D00-D947-957C-66E69B00B713}"/>
              </a:ext>
            </a:extLst>
          </p:cNvPr>
          <p:cNvSpPr>
            <a:spLocks noGrp="1"/>
          </p:cNvSpPr>
          <p:nvPr>
            <p:ph type="dt" sz="half" idx="10"/>
          </p:nvPr>
        </p:nvSpPr>
        <p:spPr/>
        <p:txBody>
          <a:bodyPr/>
          <a:lstStyle/>
          <a:p>
            <a:fld id="{E3E42ED2-DF18-DB41-BB39-D7AA7F2F2082}" type="datetimeFigureOut">
              <a:rPr lang="en-US" smtClean="0"/>
              <a:t>7/3/26</a:t>
            </a:fld>
            <a:endParaRPr lang="en-US"/>
          </a:p>
        </p:txBody>
      </p:sp>
      <p:sp>
        <p:nvSpPr>
          <p:cNvPr id="6" name="Footer Placeholder 5">
            <a:extLst>
              <a:ext uri="{FF2B5EF4-FFF2-40B4-BE49-F238E27FC236}">
                <a16:creationId xmlns:a16="http://schemas.microsoft.com/office/drawing/2014/main" id="{5D6C0489-A2A3-BD45-A96A-DD5F4DAED3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B4D875-A92C-C04E-8A5E-F2BC5682816A}"/>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23505618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9C65C-399B-6E41-B6BD-80F186188A5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2F25FAD-24BB-2D45-A8F1-E9A895511D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CE0D81-B122-544D-8ACE-546BF4911DB7}"/>
              </a:ext>
            </a:extLst>
          </p:cNvPr>
          <p:cNvSpPr>
            <a:spLocks noGrp="1"/>
          </p:cNvSpPr>
          <p:nvPr>
            <p:ph type="dt" sz="half" idx="10"/>
          </p:nvPr>
        </p:nvSpPr>
        <p:spPr/>
        <p:txBody>
          <a:bodyPr/>
          <a:lstStyle/>
          <a:p>
            <a:fld id="{E3E42ED2-DF18-DB41-BB39-D7AA7F2F2082}" type="datetimeFigureOut">
              <a:rPr lang="en-US" smtClean="0"/>
              <a:t>7/3/26</a:t>
            </a:fld>
            <a:endParaRPr lang="en-US"/>
          </a:p>
        </p:txBody>
      </p:sp>
      <p:sp>
        <p:nvSpPr>
          <p:cNvPr id="5" name="Footer Placeholder 4">
            <a:extLst>
              <a:ext uri="{FF2B5EF4-FFF2-40B4-BE49-F238E27FC236}">
                <a16:creationId xmlns:a16="http://schemas.microsoft.com/office/drawing/2014/main" id="{9374E702-5864-8141-AF11-25FF6E46C8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F83AE1-F5D3-DF4B-8CC4-896B37D8A188}"/>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20909279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E62BFE7-4426-2841-9026-40331CF4D86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EAFECEF-DF15-7A4D-BABF-0E2EA14CC5F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D24D43-6AD7-3A4D-9528-F70FC789D52D}"/>
              </a:ext>
            </a:extLst>
          </p:cNvPr>
          <p:cNvSpPr>
            <a:spLocks noGrp="1"/>
          </p:cNvSpPr>
          <p:nvPr>
            <p:ph type="dt" sz="half" idx="10"/>
          </p:nvPr>
        </p:nvSpPr>
        <p:spPr/>
        <p:txBody>
          <a:bodyPr/>
          <a:lstStyle/>
          <a:p>
            <a:fld id="{E3E42ED2-DF18-DB41-BB39-D7AA7F2F2082}" type="datetimeFigureOut">
              <a:rPr lang="en-US" smtClean="0"/>
              <a:t>7/3/26</a:t>
            </a:fld>
            <a:endParaRPr lang="en-US"/>
          </a:p>
        </p:txBody>
      </p:sp>
      <p:sp>
        <p:nvSpPr>
          <p:cNvPr id="5" name="Footer Placeholder 4">
            <a:extLst>
              <a:ext uri="{FF2B5EF4-FFF2-40B4-BE49-F238E27FC236}">
                <a16:creationId xmlns:a16="http://schemas.microsoft.com/office/drawing/2014/main" id="{80DD42A1-B626-9246-BFA2-70780398A2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E7DCD8-6D3F-824E-8311-38CE4EC55708}"/>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36135020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C2668-EBEB-AE41-BF76-89062B014B13}"/>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C8C28A4C-0805-8E44-B54E-3B6F671F8D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93B74C2-6265-7F41-BB8F-D8A0A0C89A63}"/>
              </a:ext>
            </a:extLst>
          </p:cNvPr>
          <p:cNvSpPr>
            <a:spLocks noGrp="1"/>
          </p:cNvSpPr>
          <p:nvPr>
            <p:ph type="dt" sz="half" idx="10"/>
          </p:nvPr>
        </p:nvSpPr>
        <p:spPr/>
        <p:txBody>
          <a:bodyPr/>
          <a:lstStyle/>
          <a:p>
            <a:fld id="{B1CFC895-F8E0-4049-8BEE-E5499394E46C}" type="datetime1">
              <a:rPr lang="en-US" smtClean="0"/>
              <a:t>7/3/26</a:t>
            </a:fld>
            <a:endParaRPr lang="en-US"/>
          </a:p>
        </p:txBody>
      </p:sp>
      <p:sp>
        <p:nvSpPr>
          <p:cNvPr id="5" name="Footer Placeholder 4">
            <a:extLst>
              <a:ext uri="{FF2B5EF4-FFF2-40B4-BE49-F238E27FC236}">
                <a16:creationId xmlns:a16="http://schemas.microsoft.com/office/drawing/2014/main" id="{74C53590-4180-6C42-A6BF-707655C15A1D}"/>
              </a:ext>
            </a:extLst>
          </p:cNvPr>
          <p:cNvSpPr>
            <a:spLocks noGrp="1"/>
          </p:cNvSpPr>
          <p:nvPr>
            <p:ph type="ftr" sz="quarter" idx="11"/>
          </p:nvPr>
        </p:nvSpPr>
        <p:spPr/>
        <p:txBody>
          <a:bodyPr/>
          <a:lstStyle>
            <a:lvl1pPr>
              <a:defRPr/>
            </a:lvl1pPr>
          </a:lstStyle>
          <a:p>
            <a:r>
              <a:rPr lang="en-US"/>
              <a:t>J Mark Morris - Model of Nature - April 2019</a:t>
            </a:r>
          </a:p>
        </p:txBody>
      </p:sp>
      <p:sp>
        <p:nvSpPr>
          <p:cNvPr id="6" name="Slide Number Placeholder 5">
            <a:extLst>
              <a:ext uri="{FF2B5EF4-FFF2-40B4-BE49-F238E27FC236}">
                <a16:creationId xmlns:a16="http://schemas.microsoft.com/office/drawing/2014/main" id="{93A81401-8545-2D4E-A7FB-31AFC7A8DB71}"/>
              </a:ext>
            </a:extLst>
          </p:cNvPr>
          <p:cNvSpPr>
            <a:spLocks noGrp="1"/>
          </p:cNvSpPr>
          <p:nvPr>
            <p:ph type="sldNum" sz="quarter" idx="12"/>
          </p:nvPr>
        </p:nvSpPr>
        <p:spPr/>
        <p:txBody>
          <a:bodyPr/>
          <a:lstStyle/>
          <a:p>
            <a:fld id="{D73D4D4B-2FF7-BE46-958C-B004BD45EF6F}" type="slidenum">
              <a:rPr lang="en-US" smtClean="0"/>
              <a:t>‹#›</a:t>
            </a:fld>
            <a:endParaRPr lang="en-US"/>
          </a:p>
        </p:txBody>
      </p:sp>
    </p:spTree>
    <p:extLst>
      <p:ext uri="{BB962C8B-B14F-4D97-AF65-F5344CB8AC3E}">
        <p14:creationId xmlns:p14="http://schemas.microsoft.com/office/powerpoint/2010/main" val="35096566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560F9-C770-5C4C-9C93-102EC332DBA4}"/>
              </a:ext>
            </a:extLst>
          </p:cNvPr>
          <p:cNvSpPr>
            <a:spLocks noGrp="1"/>
          </p:cNvSpPr>
          <p:nvPr>
            <p:ph type="title"/>
          </p:nvPr>
        </p:nvSpPr>
        <p:spPr>
          <a:xfrm>
            <a:off x="838200" y="365125"/>
            <a:ext cx="10515600" cy="777875"/>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0D38EDA-56F1-1C40-B81E-28B921C4E99F}"/>
              </a:ext>
            </a:extLst>
          </p:cNvPr>
          <p:cNvSpPr>
            <a:spLocks noGrp="1"/>
          </p:cNvSpPr>
          <p:nvPr>
            <p:ph idx="1"/>
          </p:nvPr>
        </p:nvSpPr>
        <p:spPr>
          <a:xfrm>
            <a:off x="838200" y="1295400"/>
            <a:ext cx="10515600" cy="488156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AD42772-5D80-F641-A1BB-6048573C4E88}"/>
              </a:ext>
            </a:extLst>
          </p:cNvPr>
          <p:cNvSpPr>
            <a:spLocks noGrp="1"/>
          </p:cNvSpPr>
          <p:nvPr>
            <p:ph type="dt" sz="half" idx="10"/>
          </p:nvPr>
        </p:nvSpPr>
        <p:spPr/>
        <p:txBody>
          <a:bodyPr/>
          <a:lstStyle/>
          <a:p>
            <a:fld id="{A91F55E2-A889-F24B-B1FE-1E878178F308}" type="datetime1">
              <a:rPr lang="en-US" smtClean="0"/>
              <a:t>7/3/26</a:t>
            </a:fld>
            <a:endParaRPr lang="en-US"/>
          </a:p>
        </p:txBody>
      </p:sp>
      <p:sp>
        <p:nvSpPr>
          <p:cNvPr id="5" name="Footer Placeholder 4">
            <a:extLst>
              <a:ext uri="{FF2B5EF4-FFF2-40B4-BE49-F238E27FC236}">
                <a16:creationId xmlns:a16="http://schemas.microsoft.com/office/drawing/2014/main" id="{C68FC4AF-90CF-484C-B6C7-5CE1A016FB49}"/>
              </a:ext>
            </a:extLst>
          </p:cNvPr>
          <p:cNvSpPr>
            <a:spLocks noGrp="1"/>
          </p:cNvSpPr>
          <p:nvPr>
            <p:ph type="ftr" sz="quarter" idx="11"/>
          </p:nvPr>
        </p:nvSpPr>
        <p:spPr/>
        <p:txBody>
          <a:bodyPr/>
          <a:lstStyle/>
          <a:p>
            <a:r>
              <a:rPr lang="en-US"/>
              <a:t>J Mark Morris - Model of Nature - April 2019</a:t>
            </a:r>
          </a:p>
        </p:txBody>
      </p:sp>
      <p:sp>
        <p:nvSpPr>
          <p:cNvPr id="6" name="Slide Number Placeholder 5">
            <a:extLst>
              <a:ext uri="{FF2B5EF4-FFF2-40B4-BE49-F238E27FC236}">
                <a16:creationId xmlns:a16="http://schemas.microsoft.com/office/drawing/2014/main" id="{8169AF1E-33D8-3041-A601-1384C718A8B5}"/>
              </a:ext>
            </a:extLst>
          </p:cNvPr>
          <p:cNvSpPr>
            <a:spLocks noGrp="1"/>
          </p:cNvSpPr>
          <p:nvPr>
            <p:ph type="sldNum" sz="quarter" idx="12"/>
          </p:nvPr>
        </p:nvSpPr>
        <p:spPr/>
        <p:txBody>
          <a:bodyPr/>
          <a:lstStyle/>
          <a:p>
            <a:fld id="{D73D4D4B-2FF7-BE46-958C-B004BD45EF6F}" type="slidenum">
              <a:rPr lang="en-US" smtClean="0"/>
              <a:t>‹#›</a:t>
            </a:fld>
            <a:endParaRPr lang="en-US"/>
          </a:p>
        </p:txBody>
      </p:sp>
    </p:spTree>
    <p:extLst>
      <p:ext uri="{BB962C8B-B14F-4D97-AF65-F5344CB8AC3E}">
        <p14:creationId xmlns:p14="http://schemas.microsoft.com/office/powerpoint/2010/main" val="40839014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1822D-6D7A-1342-98EF-890C6F2DA174}"/>
              </a:ext>
            </a:extLst>
          </p:cNvPr>
          <p:cNvSpPr>
            <a:spLocks noGrp="1"/>
          </p:cNvSpPr>
          <p:nvPr>
            <p:ph type="title"/>
          </p:nvPr>
        </p:nvSpPr>
        <p:spPr>
          <a:xfrm>
            <a:off x="838200" y="365125"/>
            <a:ext cx="10515600" cy="777875"/>
          </a:xfrm>
        </p:spPr>
        <p:txBody>
          <a:bodyPr/>
          <a:lstStyle/>
          <a:p>
            <a:r>
              <a:rPr lang="en-US"/>
              <a:t>Click to edit Master title style</a:t>
            </a:r>
          </a:p>
        </p:txBody>
      </p:sp>
      <p:sp>
        <p:nvSpPr>
          <p:cNvPr id="3" name="Date Placeholder 2">
            <a:extLst>
              <a:ext uri="{FF2B5EF4-FFF2-40B4-BE49-F238E27FC236}">
                <a16:creationId xmlns:a16="http://schemas.microsoft.com/office/drawing/2014/main" id="{74CF19EA-9170-5B4B-814F-7425C8E22823}"/>
              </a:ext>
            </a:extLst>
          </p:cNvPr>
          <p:cNvSpPr>
            <a:spLocks noGrp="1"/>
          </p:cNvSpPr>
          <p:nvPr>
            <p:ph type="dt" sz="half" idx="10"/>
          </p:nvPr>
        </p:nvSpPr>
        <p:spPr/>
        <p:txBody>
          <a:bodyPr/>
          <a:lstStyle/>
          <a:p>
            <a:fld id="{C6E8461C-3391-334C-9885-001B32D724C4}" type="datetime1">
              <a:rPr lang="en-US" smtClean="0"/>
              <a:t>7/3/26</a:t>
            </a:fld>
            <a:endParaRPr lang="en-US"/>
          </a:p>
        </p:txBody>
      </p:sp>
      <p:sp>
        <p:nvSpPr>
          <p:cNvPr id="4" name="Footer Placeholder 3">
            <a:extLst>
              <a:ext uri="{FF2B5EF4-FFF2-40B4-BE49-F238E27FC236}">
                <a16:creationId xmlns:a16="http://schemas.microsoft.com/office/drawing/2014/main" id="{5882B1FB-ECDF-AD43-9020-0267ED91C04E}"/>
              </a:ext>
            </a:extLst>
          </p:cNvPr>
          <p:cNvSpPr>
            <a:spLocks noGrp="1"/>
          </p:cNvSpPr>
          <p:nvPr>
            <p:ph type="ftr" sz="quarter" idx="11"/>
          </p:nvPr>
        </p:nvSpPr>
        <p:spPr/>
        <p:txBody>
          <a:bodyPr/>
          <a:lstStyle>
            <a:lvl1pPr>
              <a:defRPr/>
            </a:lvl1pPr>
          </a:lstStyle>
          <a:p>
            <a:r>
              <a:rPr lang="en-US"/>
              <a:t>J Mark Morris - Model of Nature - April 2019</a:t>
            </a:r>
          </a:p>
        </p:txBody>
      </p:sp>
      <p:sp>
        <p:nvSpPr>
          <p:cNvPr id="5" name="Slide Number Placeholder 4">
            <a:extLst>
              <a:ext uri="{FF2B5EF4-FFF2-40B4-BE49-F238E27FC236}">
                <a16:creationId xmlns:a16="http://schemas.microsoft.com/office/drawing/2014/main" id="{D949C470-5AF0-5246-81E7-95EAEE5639EF}"/>
              </a:ext>
            </a:extLst>
          </p:cNvPr>
          <p:cNvSpPr>
            <a:spLocks noGrp="1"/>
          </p:cNvSpPr>
          <p:nvPr>
            <p:ph type="sldNum" sz="quarter" idx="12"/>
          </p:nvPr>
        </p:nvSpPr>
        <p:spPr/>
        <p:txBody>
          <a:bodyPr/>
          <a:lstStyle/>
          <a:p>
            <a:fld id="{D73D4D4B-2FF7-BE46-958C-B004BD45EF6F}" type="slidenum">
              <a:rPr lang="en-US" smtClean="0"/>
              <a:t>‹#›</a:t>
            </a:fld>
            <a:endParaRPr lang="en-US"/>
          </a:p>
        </p:txBody>
      </p:sp>
    </p:spTree>
    <p:extLst>
      <p:ext uri="{BB962C8B-B14F-4D97-AF65-F5344CB8AC3E}">
        <p14:creationId xmlns:p14="http://schemas.microsoft.com/office/powerpoint/2010/main" val="26351307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D8D635-033D-CA45-AECF-FEC145E57A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B899257-A465-2C4D-9918-BC8C54895E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4DCD3B-E2F2-854E-BB00-D5B0BB2A98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E42ED2-DF18-DB41-BB39-D7AA7F2F2082}" type="datetimeFigureOut">
              <a:rPr lang="en-US" smtClean="0"/>
              <a:t>7/3/26</a:t>
            </a:fld>
            <a:endParaRPr lang="en-US"/>
          </a:p>
        </p:txBody>
      </p:sp>
      <p:sp>
        <p:nvSpPr>
          <p:cNvPr id="5" name="Footer Placeholder 4">
            <a:extLst>
              <a:ext uri="{FF2B5EF4-FFF2-40B4-BE49-F238E27FC236}">
                <a16:creationId xmlns:a16="http://schemas.microsoft.com/office/drawing/2014/main" id="{EFE405ED-7212-D349-B4CE-23AE6F2BE7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1D46886-3E69-B540-9366-21DA707D68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D4A510-E3A4-8144-9597-B0C6EECC9215}" type="slidenum">
              <a:rPr lang="en-US" smtClean="0"/>
              <a:t>‹#›</a:t>
            </a:fld>
            <a:endParaRPr lang="en-US"/>
          </a:p>
        </p:txBody>
      </p:sp>
    </p:spTree>
    <p:extLst>
      <p:ext uri="{BB962C8B-B14F-4D97-AF65-F5344CB8AC3E}">
        <p14:creationId xmlns:p14="http://schemas.microsoft.com/office/powerpoint/2010/main" val="2475318414"/>
      </p:ext>
    </p:extLst>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C79A1DB-155B-0846-9CED-8B75F56E0E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D69736F-08D5-7643-A656-ABAEB9457A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433D04-66F5-D74B-8EEA-459FDC00D1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Helvetica Neue" panose="02000503000000020004" pitchFamily="2" charset="0"/>
                <a:ea typeface="Helvetica Neue" panose="02000503000000020004" pitchFamily="2" charset="0"/>
                <a:cs typeface="Helvetica Neue" panose="02000503000000020004" pitchFamily="2" charset="0"/>
              </a:defRPr>
            </a:lvl1pPr>
          </a:lstStyle>
          <a:p>
            <a:fld id="{2005EE61-3907-C44D-8624-D47E09E871DB}" type="datetime1">
              <a:rPr lang="en-US" smtClean="0"/>
              <a:t>7/3/26</a:t>
            </a:fld>
            <a:endParaRPr lang="en-US"/>
          </a:p>
        </p:txBody>
      </p:sp>
      <p:sp>
        <p:nvSpPr>
          <p:cNvPr id="5" name="Footer Placeholder 4">
            <a:extLst>
              <a:ext uri="{FF2B5EF4-FFF2-40B4-BE49-F238E27FC236}">
                <a16:creationId xmlns:a16="http://schemas.microsoft.com/office/drawing/2014/main" id="{9FDE6E67-6F97-E149-8437-635D11E7ED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Helvetica Neue" panose="02000503000000020004" pitchFamily="2" charset="0"/>
                <a:ea typeface="Helvetica Neue" panose="02000503000000020004" pitchFamily="2" charset="0"/>
                <a:cs typeface="Helvetica Neue" panose="02000503000000020004" pitchFamily="2" charset="0"/>
              </a:defRPr>
            </a:lvl1pPr>
          </a:lstStyle>
          <a:p>
            <a:r>
              <a:rPr lang="en-US"/>
              <a:t>J Mark Morris - Model of Nature - April 2019</a:t>
            </a:r>
          </a:p>
        </p:txBody>
      </p:sp>
      <p:sp>
        <p:nvSpPr>
          <p:cNvPr id="6" name="Slide Number Placeholder 5">
            <a:extLst>
              <a:ext uri="{FF2B5EF4-FFF2-40B4-BE49-F238E27FC236}">
                <a16:creationId xmlns:a16="http://schemas.microsoft.com/office/drawing/2014/main" id="{D585CC1E-0AB1-F34A-83C6-0956BF9B4A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Helvetica Neue" panose="02000503000000020004" pitchFamily="2" charset="0"/>
                <a:ea typeface="Helvetica Neue" panose="02000503000000020004" pitchFamily="2" charset="0"/>
                <a:cs typeface="Helvetica Neue" panose="02000503000000020004" pitchFamily="2" charset="0"/>
              </a:defRPr>
            </a:lvl1pPr>
          </a:lstStyle>
          <a:p>
            <a:fld id="{D73D4D4B-2FF7-BE46-958C-B004BD45EF6F}" type="slidenum">
              <a:rPr lang="en-US" smtClean="0"/>
              <a:pPr/>
              <a:t>‹#›</a:t>
            </a:fld>
            <a:endParaRPr lang="en-US"/>
          </a:p>
        </p:txBody>
      </p:sp>
    </p:spTree>
    <p:extLst>
      <p:ext uri="{BB962C8B-B14F-4D97-AF65-F5344CB8AC3E}">
        <p14:creationId xmlns:p14="http://schemas.microsoft.com/office/powerpoint/2010/main" val="2050205452"/>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Lst>
  <p:hf sldNum="0" hdr="0" dt="0"/>
  <p:txStyles>
    <p:titleStyle>
      <a:lvl1pPr algn="l" defTabSz="914400" rtl="0" eaLnBrk="1" latinLnBrk="0" hangingPunct="1">
        <a:lnSpc>
          <a:spcPct val="90000"/>
        </a:lnSpc>
        <a:spcBef>
          <a:spcPct val="0"/>
        </a:spcBef>
        <a:buNone/>
        <a:defRPr sz="44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a16="http://schemas.microsoft.com/office/drawing/2014/main" xmlns:ns3="http://schemas.microsoft.com/office/powerpoint/2010/main"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id="{1D77ACA5-3691-8FEB-0266-8D47BBCCF4C6}"/>
              </a:ext>
            </a:extLst>
          </p:cNvPr>
          <p:cNvSpPr txBox="1"/>
          <p:nvPr/>
        </p:nvSpPr>
        <p:spPr>
          <a:xfrm>
            <a:off x="0" y="186247"/>
            <a:ext cx="12191999" cy="156966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FFC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Noether Cores</a:t>
            </a:r>
          </a:p>
        </p:txBody>
      </p:sp>
      <p:sp>
        <p:nvSpPr>
          <p:cNvPr id="3" name="Footer Placeholder 3"/>
          <p:cNvSpPr txBox="1">
            <a:spLocks/>
          </p:cNvSpPr>
          <p:nvPr/>
        </p:nvSpPr>
        <p:spPr>
          <a:xfrm>
            <a:off x="10942204" y="6481737"/>
            <a:ext cx="1217443"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architrino.com</a:t>
            </a:r>
          </a:p>
        </p:txBody>
      </p:sp>
    </p:spTree>
    <p:extLst>
      <p:ext uri="{BB962C8B-B14F-4D97-AF65-F5344CB8AC3E}">
        <ns3:creationId val="2348934641"/>
      </p:ext>
    </p:extLst>
  </p:cSld>
  <p:clrMapOvr>
    <a:masterClrMapping/>
  </p:clrMapOvr>
</p:sld>
</file>

<file path=ppt/slides/slide2.xml><?xml version="1.0" encoding="utf-8"?>
<p:sld xmlns:a="http://schemas.openxmlformats.org/drawingml/2006/main" xmlns:a16="http://schemas.microsoft.com/office/drawing/2014/main" xmlns:ns3="http://schemas.microsoft.com/office/powerpoint/2010/main"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112" name="Rectangle 111">
            <a:extLst>
              <a:ext uri="{FF2B5EF4-FFF2-40B4-BE49-F238E27FC236}">
                <a16:creationId id="{4D9217BE-F0DF-0043-9A68-69C8B7088BF0}"/>
              </a:ext>
            </a:extLst>
          </p:cNvPr>
          <p:cNvSpPr/>
          <p:nvPr/>
        </p:nvSpPr>
        <p:spPr>
          <a:xfrm>
            <a:off x="0" y="136937"/>
            <a:ext cx="12192000" cy="584775"/>
          </a:xfrm>
          <a:prstGeom prst="rect">
            <a:avLst/>
          </a:prstGeom>
          <a:solidFill>
            <a:srgbClr val="7030A0"/>
          </a:solidFill>
          <a:ln>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200" b="1"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Binary Capture</a:t>
            </a:r>
            <a:endParaRPr kumimoji="0" lang="en-US" sz="32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77" name="TextBox 176">
            <a:extLst>
              <a:ext uri="{FF2B5EF4-FFF2-40B4-BE49-F238E27FC236}">
                <a16:creationId id="{CF706161-146F-363E-C3E1-CC4034884EA9}"/>
              </a:ext>
            </a:extLst>
          </p:cNvPr>
          <p:cNvSpPr txBox="1"/>
          <p:nvPr/>
        </p:nvSpPr>
        <p:spPr>
          <a:xfrm>
            <a:off x="126453" y="670082"/>
            <a:ext cx="12065547" cy="147732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Let’s say a binary axis can not be transited by the orbital of a captured binary.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At high energy, binaries can capture each other, i.e., each of their orbital axis pierce the orbit of the other.</a:t>
            </a:r>
            <a:endParaRPr kumimoji="0" lang="en-US" b="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When di-binaries form, there may be certain environments where they are semi stable assemblies.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Tri binary assemblies are very stable. They are the nucleus of all standard model particles including spacetime.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When outer binaries decay, the resulting di-binary and binary assemblies are not stable and are highly reactive. </a:t>
            </a:r>
          </a:p>
        </p:txBody>
      </p:sp>
      <p:cxnSp>
        <p:nvCxnSpPr>
          <p:cNvPr id="92" name="Straight Connector 91">
            <a:extLst>
              <a:ext uri="{FF2B5EF4-FFF2-40B4-BE49-F238E27FC236}">
                <a16:creationId id="{3FE0242A-08DF-980D-F565-9BC7D4C8BC4E}"/>
              </a:ext>
            </a:extLst>
          </p:cNvPr>
          <p:cNvCxnSpPr>
            <a:cxnSpLocks/>
          </p:cNvCxnSpPr>
          <p:nvPr/>
        </p:nvCxnSpPr>
        <p:spPr>
          <a:xfrm>
            <a:off x="6017396" y="2266925"/>
            <a:ext cx="0" cy="891142"/>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sp>
        <p:nvSpPr>
          <p:cNvPr id="194" name="Oval 193">
            <a:extLst>
              <a:ext uri="{FF2B5EF4-FFF2-40B4-BE49-F238E27FC236}">
                <a16:creationId id="{E6B7701F-38F5-E709-397C-98DBAA043E08}"/>
              </a:ext>
            </a:extLst>
          </p:cNvPr>
          <p:cNvSpPr>
            <a:spLocks noChangeAspect="1"/>
          </p:cNvSpPr>
          <p:nvPr/>
        </p:nvSpPr>
        <p:spPr>
          <a:xfrm flipH="1">
            <a:off x="5940357" y="2108052"/>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205" name="Oval 204">
            <a:extLst>
              <a:ext uri="{FF2B5EF4-FFF2-40B4-BE49-F238E27FC236}">
                <a16:creationId id="{81219D62-4289-176F-8E08-04F806AB525F}"/>
              </a:ext>
            </a:extLst>
          </p:cNvPr>
          <p:cNvSpPr>
            <a:spLocks noChangeAspect="1"/>
          </p:cNvSpPr>
          <p:nvPr/>
        </p:nvSpPr>
        <p:spPr>
          <a:xfrm flipH="1">
            <a:off x="5940357" y="6553663"/>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cxnSp>
        <p:nvCxnSpPr>
          <p:cNvPr id="49" name="Straight Connector 48">
            <a:extLst>
              <a:ext uri="{FF2B5EF4-FFF2-40B4-BE49-F238E27FC236}">
                <a16:creationId id="{4E2B42AA-FE86-6B0D-8686-E619B2563ABB}"/>
              </a:ext>
            </a:extLst>
          </p:cNvPr>
          <p:cNvCxnSpPr>
            <a:cxnSpLocks/>
          </p:cNvCxnSpPr>
          <p:nvPr/>
        </p:nvCxnSpPr>
        <p:spPr>
          <a:xfrm>
            <a:off x="6017396" y="5748867"/>
            <a:ext cx="0" cy="804796"/>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sp>
        <p:nvSpPr>
          <p:cNvPr id="79" name="Oval 78">
            <a:extLst>
              <a:ext uri="{FF2B5EF4-FFF2-40B4-BE49-F238E27FC236}">
                <a16:creationId id="{DCC97071-9D67-DC48-AD13-C0A25508CBD8}"/>
              </a:ext>
            </a:extLst>
          </p:cNvPr>
          <p:cNvSpPr/>
          <p:nvPr/>
        </p:nvSpPr>
        <p:spPr>
          <a:xfrm rot="5400000">
            <a:off x="4976354" y="-1418534"/>
            <a:ext cx="2043985" cy="11743786"/>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9" name="Oval 88">
            <a:extLst>
              <a:ext uri="{FF2B5EF4-FFF2-40B4-BE49-F238E27FC236}">
                <a16:creationId id="{942F0346-DB25-A44F-8938-8FB3746D7D80}"/>
              </a:ext>
            </a:extLst>
          </p:cNvPr>
          <p:cNvSpPr>
            <a:spLocks noChangeAspect="1"/>
          </p:cNvSpPr>
          <p:nvPr/>
        </p:nvSpPr>
        <p:spPr>
          <a:xfrm flipH="1">
            <a:off x="1513969" y="3726220"/>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06" name="Straight Arrow Connector 105">
            <a:extLst>
              <a:ext uri="{FF2B5EF4-FFF2-40B4-BE49-F238E27FC236}">
                <a16:creationId id="{B011BF8B-9B3B-194E-860A-C437CC99C7A7}"/>
              </a:ext>
            </a:extLst>
          </p:cNvPr>
          <p:cNvCxnSpPr>
            <a:cxnSpLocks/>
          </p:cNvCxnSpPr>
          <p:nvPr/>
        </p:nvCxnSpPr>
        <p:spPr>
          <a:xfrm rot="5100000">
            <a:off x="1508032" y="3589672"/>
            <a:ext cx="35405"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id="{B691BD1B-0C71-2652-AD52-47998D06C232}"/>
              </a:ext>
            </a:extLst>
          </p:cNvPr>
          <p:cNvGrpSpPr/>
          <p:nvPr/>
        </p:nvGrpSpPr>
        <p:grpSpPr>
          <a:xfrm>
            <a:off x="10182838" y="5053760"/>
            <a:ext cx="201597" cy="232311"/>
            <a:chOff x="10182838" y="4393360"/>
            <a:chExt cx="201597" cy="232311"/>
          </a:xfrm>
        </p:grpSpPr>
        <p:sp>
          <p:nvSpPr>
            <p:cNvPr id="88" name="Oval 87">
              <a:extLst>
                <a:ext uri="{FF2B5EF4-FFF2-40B4-BE49-F238E27FC236}">
                  <a16:creationId id="{5E822E41-836D-6B4A-859F-FD430E027DC8}"/>
                </a:ext>
              </a:extLst>
            </p:cNvPr>
            <p:cNvSpPr>
              <a:spLocks noChangeAspect="1"/>
            </p:cNvSpPr>
            <p:nvPr/>
          </p:nvSpPr>
          <p:spPr>
            <a:xfrm flipH="1">
              <a:off x="10182838" y="4393360"/>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07" name="Straight Arrow Connector 106">
              <a:extLst>
                <a:ext uri="{FF2B5EF4-FFF2-40B4-BE49-F238E27FC236}">
                  <a16:creationId id="{1FEAF416-CED6-C54A-A22B-8A4184554071}"/>
                </a:ext>
              </a:extLst>
            </p:cNvPr>
            <p:cNvCxnSpPr>
              <a:cxnSpLocks/>
            </p:cNvCxnSpPr>
            <p:nvPr/>
          </p:nvCxnSpPr>
          <p:spPr>
            <a:xfrm rot="5400000" flipH="1" flipV="1">
              <a:off x="10269748" y="4510985"/>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grpSp>
      <p:cxnSp>
        <p:nvCxnSpPr>
          <p:cNvPr id="75" name="Straight Connector 74">
            <a:extLst>
              <a:ext uri="{FF2B5EF4-FFF2-40B4-BE49-F238E27FC236}">
                <a16:creationId id="{86BA35E8-F55F-2668-671C-5DA98F573EA3}"/>
              </a:ext>
            </a:extLst>
          </p:cNvPr>
          <p:cNvCxnSpPr>
            <a:cxnSpLocks/>
          </p:cNvCxnSpPr>
          <p:nvPr/>
        </p:nvCxnSpPr>
        <p:spPr>
          <a:xfrm flipH="1">
            <a:off x="6168222" y="3623842"/>
            <a:ext cx="90603" cy="277579"/>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id="{D0556B34-06E7-FDA8-495E-EB40BFC8A215}"/>
              </a:ext>
            </a:extLst>
          </p:cNvPr>
          <p:cNvCxnSpPr>
            <a:cxnSpLocks/>
          </p:cNvCxnSpPr>
          <p:nvPr/>
        </p:nvCxnSpPr>
        <p:spPr>
          <a:xfrm rot="1084618">
            <a:off x="5760386" y="4974200"/>
            <a:ext cx="0" cy="353397"/>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sp>
        <p:nvSpPr>
          <p:cNvPr id="90" name="Oval 89">
            <a:extLst>
              <a:ext uri="{FF2B5EF4-FFF2-40B4-BE49-F238E27FC236}">
                <a16:creationId id="{463D8A50-BA55-4BA5-8F77-72FAC042FA19}"/>
              </a:ext>
            </a:extLst>
          </p:cNvPr>
          <p:cNvSpPr/>
          <p:nvPr/>
        </p:nvSpPr>
        <p:spPr>
          <a:xfrm rot="6484618">
            <a:off x="5536018" y="2188260"/>
            <a:ext cx="897541" cy="4503199"/>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123" name="Straight Connector 122">
            <a:extLst>
              <a:ext uri="{FF2B5EF4-FFF2-40B4-BE49-F238E27FC236}">
                <a16:creationId id="{77517358-66D6-909D-B148-8A53B4C43CFF}"/>
              </a:ext>
            </a:extLst>
          </p:cNvPr>
          <p:cNvCxnSpPr>
            <a:cxnSpLocks/>
          </p:cNvCxnSpPr>
          <p:nvPr/>
        </p:nvCxnSpPr>
        <p:spPr>
          <a:xfrm rot="19589315">
            <a:off x="5867674" y="4150948"/>
            <a:ext cx="0" cy="125496"/>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id="{E5ABB798-9816-DC3C-B09B-87220060F0F2}"/>
              </a:ext>
            </a:extLst>
          </p:cNvPr>
          <p:cNvCxnSpPr>
            <a:cxnSpLocks/>
          </p:cNvCxnSpPr>
          <p:nvPr/>
        </p:nvCxnSpPr>
        <p:spPr>
          <a:xfrm rot="19589315">
            <a:off x="6135041" y="4560800"/>
            <a:ext cx="0" cy="113337"/>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sp>
        <p:nvSpPr>
          <p:cNvPr id="129" name="Oval 128">
            <a:extLst>
              <a:ext uri="{FF2B5EF4-FFF2-40B4-BE49-F238E27FC236}">
                <a16:creationId id="{7BC6D58B-888D-2259-AAD2-733AF8590239}"/>
              </a:ext>
            </a:extLst>
          </p:cNvPr>
          <p:cNvSpPr/>
          <p:nvPr/>
        </p:nvSpPr>
        <p:spPr>
          <a:xfrm rot="3389315">
            <a:off x="5857958" y="3995030"/>
            <a:ext cx="287847" cy="847667"/>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5" name="Oval 134">
            <a:extLst>
              <a:ext uri="{FF2B5EF4-FFF2-40B4-BE49-F238E27FC236}">
                <a16:creationId id="{F493495A-2B26-4E85-24CA-F93040968695}"/>
              </a:ext>
            </a:extLst>
          </p:cNvPr>
          <p:cNvSpPr>
            <a:spLocks noChangeAspect="1"/>
          </p:cNvSpPr>
          <p:nvPr/>
        </p:nvSpPr>
        <p:spPr>
          <a:xfrm flipH="1">
            <a:off x="7148016" y="4340474"/>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36" name="Straight Arrow Connector 135">
            <a:extLst>
              <a:ext uri="{FF2B5EF4-FFF2-40B4-BE49-F238E27FC236}">
                <a16:creationId id="{79519A63-1B18-F0A5-19D2-CC40B88D3095}"/>
              </a:ext>
            </a:extLst>
          </p:cNvPr>
          <p:cNvCxnSpPr>
            <a:cxnSpLocks/>
          </p:cNvCxnSpPr>
          <p:nvPr/>
        </p:nvCxnSpPr>
        <p:spPr>
          <a:xfrm flipH="1" flipV="1">
            <a:off x="7205123" y="4250688"/>
            <a:ext cx="136743" cy="65812"/>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sp>
        <p:nvSpPr>
          <p:cNvPr id="137" name="Oval 136">
            <a:extLst>
              <a:ext uri="{FF2B5EF4-FFF2-40B4-BE49-F238E27FC236}">
                <a16:creationId id="{A6BCBBD9-4C68-E58D-B48F-F4470C10C0E4}"/>
              </a:ext>
            </a:extLst>
          </p:cNvPr>
          <p:cNvSpPr>
            <a:spLocks noChangeAspect="1"/>
          </p:cNvSpPr>
          <p:nvPr/>
        </p:nvSpPr>
        <p:spPr>
          <a:xfrm flipH="1">
            <a:off x="4512454" y="4293759"/>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38" name="Straight Arrow Connector 137">
            <a:extLst>
              <a:ext uri="{FF2B5EF4-FFF2-40B4-BE49-F238E27FC236}">
                <a16:creationId id="{E0DDDD78-97E5-74A8-6ACD-A658AFA670EF}"/>
              </a:ext>
            </a:extLst>
          </p:cNvPr>
          <p:cNvCxnSpPr>
            <a:cxnSpLocks/>
          </p:cNvCxnSpPr>
          <p:nvPr/>
        </p:nvCxnSpPr>
        <p:spPr>
          <a:xfrm>
            <a:off x="4482354" y="4448151"/>
            <a:ext cx="136342" cy="83313"/>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sp>
        <p:nvSpPr>
          <p:cNvPr id="139" name="Oval 138">
            <a:extLst>
              <a:ext uri="{FF2B5EF4-FFF2-40B4-BE49-F238E27FC236}">
                <a16:creationId id="{179B8960-EB84-C3D5-DD9A-3DE74A40C28E}"/>
              </a:ext>
            </a:extLst>
          </p:cNvPr>
          <p:cNvSpPr>
            <a:spLocks noChangeAspect="1"/>
          </p:cNvSpPr>
          <p:nvPr/>
        </p:nvSpPr>
        <p:spPr>
          <a:xfrm flipH="1">
            <a:off x="5628940" y="4417513"/>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40" name="Straight Arrow Connector 139">
            <a:extLst>
              <a:ext uri="{FF2B5EF4-FFF2-40B4-BE49-F238E27FC236}">
                <a16:creationId id="{6A774548-1FAB-CA59-90E2-4D36F7DEDA64}"/>
              </a:ext>
            </a:extLst>
          </p:cNvPr>
          <p:cNvCxnSpPr>
            <a:cxnSpLocks/>
          </p:cNvCxnSpPr>
          <p:nvPr/>
        </p:nvCxnSpPr>
        <p:spPr>
          <a:xfrm flipH="1">
            <a:off x="5569038" y="4366809"/>
            <a:ext cx="55833" cy="159332"/>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sp>
        <p:nvSpPr>
          <p:cNvPr id="141" name="Oval 140">
            <a:extLst>
              <a:ext uri="{FF2B5EF4-FFF2-40B4-BE49-F238E27FC236}">
                <a16:creationId id="{FCFBE2B9-5375-F9D6-DC26-28B8C38A30FA}"/>
              </a:ext>
            </a:extLst>
          </p:cNvPr>
          <p:cNvSpPr>
            <a:spLocks noChangeAspect="1"/>
          </p:cNvSpPr>
          <p:nvPr/>
        </p:nvSpPr>
        <p:spPr>
          <a:xfrm flipH="1">
            <a:off x="6220941" y="4278401"/>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42" name="Straight Arrow Connector 141">
            <a:extLst>
              <a:ext uri="{FF2B5EF4-FFF2-40B4-BE49-F238E27FC236}">
                <a16:creationId id="{36C4A668-F8F0-37A6-A499-F9EAB439CEC5}"/>
              </a:ext>
            </a:extLst>
          </p:cNvPr>
          <p:cNvCxnSpPr>
            <a:cxnSpLocks/>
          </p:cNvCxnSpPr>
          <p:nvPr/>
        </p:nvCxnSpPr>
        <p:spPr>
          <a:xfrm flipV="1">
            <a:off x="6408983" y="4293759"/>
            <a:ext cx="41235" cy="14610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sp>
        <p:nvSpPr>
          <p:cNvPr id="143" name="Oval 142">
            <a:extLst>
              <a:ext uri="{FF2B5EF4-FFF2-40B4-BE49-F238E27FC236}">
                <a16:creationId id="{76D91214-D6F4-E6A1-23E5-E0A9CDEB85BB}"/>
              </a:ext>
            </a:extLst>
          </p:cNvPr>
          <p:cNvSpPr>
            <a:spLocks noChangeAspect="1"/>
          </p:cNvSpPr>
          <p:nvPr/>
        </p:nvSpPr>
        <p:spPr>
          <a:xfrm flipH="1">
            <a:off x="5628517" y="5206385"/>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44" name="Oval 143">
            <a:extLst>
              <a:ext uri="{FF2B5EF4-FFF2-40B4-BE49-F238E27FC236}">
                <a16:creationId id="{FD9CF885-906A-AE2F-B1CF-6E037188E3C1}"/>
              </a:ext>
            </a:extLst>
          </p:cNvPr>
          <p:cNvSpPr>
            <a:spLocks noChangeAspect="1"/>
          </p:cNvSpPr>
          <p:nvPr/>
        </p:nvSpPr>
        <p:spPr>
          <a:xfrm flipH="1">
            <a:off x="6193658" y="3513048"/>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45" name="Oval 144">
            <a:extLst>
              <a:ext uri="{FF2B5EF4-FFF2-40B4-BE49-F238E27FC236}">
                <a16:creationId id="{B46CBF79-8FEB-E768-1ED0-F2BECF0CCE61}"/>
              </a:ext>
            </a:extLst>
          </p:cNvPr>
          <p:cNvSpPr>
            <a:spLocks noChangeAspect="1"/>
          </p:cNvSpPr>
          <p:nvPr/>
        </p:nvSpPr>
        <p:spPr>
          <a:xfrm flipH="1">
            <a:off x="6129631" y="4642537"/>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46" name="Oval 145">
            <a:extLst>
              <a:ext uri="{FF2B5EF4-FFF2-40B4-BE49-F238E27FC236}">
                <a16:creationId id="{E29105DC-7279-9A43-FAC8-0876C02BBA15}"/>
              </a:ext>
            </a:extLst>
          </p:cNvPr>
          <p:cNvSpPr>
            <a:spLocks noChangeAspect="1"/>
          </p:cNvSpPr>
          <p:nvPr/>
        </p:nvSpPr>
        <p:spPr>
          <a:xfrm flipH="1">
            <a:off x="5712370" y="4009129"/>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 name="Footer Placeholder 3"/>
          <p:cNvSpPr txBox="1">
            <a:spLocks/>
          </p:cNvSpPr>
          <p:nvPr/>
        </p:nvSpPr>
        <p:spPr>
          <a:xfrm>
            <a:off x="10942204" y="6481737"/>
            <a:ext cx="1217443"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architrino.com</a:t>
            </a:r>
          </a:p>
        </p:txBody>
      </p:sp>
    </p:spTree>
    <p:extLst>
      <p:ext uri="{BB962C8B-B14F-4D97-AF65-F5344CB8AC3E}">
        <ns3:creationId val="1096222666"/>
      </p:ext>
    </p:extLst>
  </p:cSld>
  <p:clrMapOvr>
    <a:masterClrMapping/>
  </p:clrMapOvr>
</p:sld>
</file>

<file path=ppt/slides/slide3.xml><?xml version="1.0" encoding="utf-8"?>
<p:sld xmlns:a="http://schemas.openxmlformats.org/drawingml/2006/main" xmlns:a16="http://schemas.microsoft.com/office/drawing/2014/main" xmlns:ns3="http://schemas.microsoft.com/office/powerpoint/2010/main"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5" name="Title 4">
            <a:extLst>
              <a:ext uri="{FF2B5EF4-FFF2-40B4-BE49-F238E27FC236}">
                <a16:creationId id="{8B9F2801-314B-3743-8406-886D110B2060}"/>
              </a:ext>
            </a:extLst>
          </p:cNvPr>
          <p:cNvSpPr>
            <a:spLocks noGrp="1"/>
          </p:cNvSpPr>
          <p:nvPr>
            <p:ph type="title"/>
          </p:nvPr>
        </p:nvSpPr>
        <p:spPr>
          <a:xfrm>
            <a:off x="838200" y="187318"/>
            <a:ext cx="10515600" cy="777875"/>
          </a:xfrm>
        </p:spPr>
        <p:txBody>
          <a:bodyPr>
            <a:normAutofit/>
          </a:bodyPr>
          <a:lstStyle/>
          <a:p>
            <a:pPr algn="ctr"/>
            <a:r>
              <a:rPr lang="en-US"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Noether Core Generations</a:t>
            </a:r>
          </a:p>
        </p:txBody>
      </p:sp>
      <p:sp>
        <p:nvSpPr>
          <p:cNvPr id="4" name="Footer Placeholder 3">
            <a:extLst>
              <a:ext uri="{FF2B5EF4-FFF2-40B4-BE49-F238E27FC236}">
                <a16:creationId id="{9D9787B4-78F2-E94F-B4AF-51DD5B0F66AA}"/>
              </a:ext>
            </a:extLst>
          </p:cNvPr>
          <p:cNvSpPr>
            <a:spLocks noGrp="1"/>
          </p:cNvSpPr>
          <p:nvPr>
            <p:ph type="ftr" sz="quarter" idx="11"/>
          </p:nvPr>
        </p:nvSpPr>
        <p:spPr>
          <a:xfrm>
            <a:off x="8973049" y="6435181"/>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J Mark Morris</a:t>
            </a:r>
          </a:p>
        </p:txBody>
      </p:sp>
      <p:sp>
        <p:nvSpPr>
          <p:cNvPr id="27" name="Oval 26">
            <a:extLst>
              <a:ext uri="{FF2B5EF4-FFF2-40B4-BE49-F238E27FC236}">
                <a16:creationId id="{177B3BCB-D82C-E84C-9991-CE693E895CA7}"/>
              </a:ext>
            </a:extLst>
          </p:cNvPr>
          <p:cNvSpPr>
            <a:spLocks noChangeAspect="1"/>
          </p:cNvSpPr>
          <p:nvPr/>
        </p:nvSpPr>
        <p:spPr>
          <a:xfrm rot="1800000">
            <a:off x="1946592" y="2936342"/>
            <a:ext cx="457200" cy="457200"/>
          </a:xfrm>
          <a:prstGeom prst="ellipse">
            <a:avLst/>
          </a:prstGeom>
          <a:noFill/>
          <a:ln w="762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Oval 27">
            <a:extLst>
              <a:ext uri="{FF2B5EF4-FFF2-40B4-BE49-F238E27FC236}">
                <a16:creationId id="{5D9E1FD4-330D-3B4F-A764-B00628290EBE}"/>
              </a:ext>
            </a:extLst>
          </p:cNvPr>
          <p:cNvSpPr>
            <a:spLocks noChangeAspect="1"/>
          </p:cNvSpPr>
          <p:nvPr/>
        </p:nvSpPr>
        <p:spPr>
          <a:xfrm rot="1800000">
            <a:off x="1032192" y="2021942"/>
            <a:ext cx="2286000" cy="2286000"/>
          </a:xfrm>
          <a:prstGeom prst="ellipse">
            <a:avLst/>
          </a:prstGeom>
          <a:noFill/>
          <a:ln w="762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0" name="Oval 29">
            <a:extLst>
              <a:ext uri="{FF2B5EF4-FFF2-40B4-BE49-F238E27FC236}">
                <a16:creationId id="{29D26BB5-DDB3-0A45-B9F6-FD176EE0C297}"/>
              </a:ext>
            </a:extLst>
          </p:cNvPr>
          <p:cNvSpPr>
            <a:spLocks noChangeAspect="1"/>
          </p:cNvSpPr>
          <p:nvPr/>
        </p:nvSpPr>
        <p:spPr>
          <a:xfrm rot="1800000">
            <a:off x="1489392" y="2479142"/>
            <a:ext cx="1371600" cy="1371600"/>
          </a:xfrm>
          <a:prstGeom prst="ellipse">
            <a:avLst/>
          </a:prstGeom>
          <a:noFill/>
          <a:ln w="762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Oval 33">
            <a:extLst>
              <a:ext uri="{FF2B5EF4-FFF2-40B4-BE49-F238E27FC236}">
                <a16:creationId id="{1B4CC914-0A26-D941-9BC5-A962E3AE8773}"/>
              </a:ext>
            </a:extLst>
          </p:cNvPr>
          <p:cNvSpPr>
            <a:spLocks noChangeAspect="1"/>
          </p:cNvSpPr>
          <p:nvPr/>
        </p:nvSpPr>
        <p:spPr>
          <a:xfrm rot="1800000" flipH="1">
            <a:off x="1840052" y="2899154"/>
            <a:ext cx="304800" cy="304800"/>
          </a:xfrm>
          <a:prstGeom prst="ellipse">
            <a:avLst/>
          </a:prstGeom>
          <a:noFill/>
          <a:ln>
            <a:solidFill>
              <a:schemeClr val="bg1">
                <a:lumMod val="85000"/>
              </a:schemeClr>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5" name="Oval 34">
            <a:extLst>
              <a:ext uri="{FF2B5EF4-FFF2-40B4-BE49-F238E27FC236}">
                <a16:creationId id="{7CF8744D-9519-A84A-B262-7C7B66B8C3FF}"/>
              </a:ext>
            </a:extLst>
          </p:cNvPr>
          <p:cNvSpPr>
            <a:spLocks noChangeAspect="1"/>
          </p:cNvSpPr>
          <p:nvPr/>
        </p:nvSpPr>
        <p:spPr>
          <a:xfrm rot="1800000" flipH="1">
            <a:off x="2211883" y="3118894"/>
            <a:ext cx="304800" cy="304800"/>
          </a:xfrm>
          <a:prstGeom prst="ellipse">
            <a:avLst/>
          </a:prstGeom>
          <a:noFill/>
          <a:ln>
            <a:solidFill>
              <a:schemeClr val="bg1">
                <a:lumMod val="85000"/>
              </a:schemeClr>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2" name="Oval 41">
            <a:extLst>
              <a:ext uri="{FF2B5EF4-FFF2-40B4-BE49-F238E27FC236}">
                <a16:creationId id="{AE8BA4C5-756E-F648-B325-5D0219BBCC32}"/>
              </a:ext>
            </a:extLst>
          </p:cNvPr>
          <p:cNvSpPr>
            <a:spLocks noChangeAspect="1"/>
          </p:cNvSpPr>
          <p:nvPr/>
        </p:nvSpPr>
        <p:spPr>
          <a:xfrm rot="16200000" flipH="1">
            <a:off x="2024918" y="1870055"/>
            <a:ext cx="304800" cy="304800"/>
          </a:xfrm>
          <a:prstGeom prst="ellipse">
            <a:avLst/>
          </a:prstGeom>
          <a:noFill/>
          <a:ln>
            <a:solidFill>
              <a:schemeClr val="bg1">
                <a:lumMod val="85000"/>
              </a:schemeClr>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3" name="Oval 42">
            <a:extLst>
              <a:ext uri="{FF2B5EF4-FFF2-40B4-BE49-F238E27FC236}">
                <a16:creationId id="{170CF0D0-8D8D-C44A-A5BA-D5BB45ADF6D4}"/>
              </a:ext>
            </a:extLst>
          </p:cNvPr>
          <p:cNvSpPr>
            <a:spLocks noChangeAspect="1"/>
          </p:cNvSpPr>
          <p:nvPr/>
        </p:nvSpPr>
        <p:spPr>
          <a:xfrm rot="19800000" flipH="1">
            <a:off x="1432206" y="3353990"/>
            <a:ext cx="304800" cy="304800"/>
          </a:xfrm>
          <a:prstGeom prst="ellipse">
            <a:avLst/>
          </a:prstGeom>
          <a:noFill/>
          <a:ln>
            <a:solidFill>
              <a:schemeClr val="bg1">
                <a:lumMod val="85000"/>
              </a:schemeClr>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4" name="Oval 43">
            <a:extLst>
              <a:ext uri="{FF2B5EF4-FFF2-40B4-BE49-F238E27FC236}">
                <a16:creationId id="{E35B4EAA-23B1-F943-99C4-9F0DE0400B46}"/>
              </a:ext>
            </a:extLst>
          </p:cNvPr>
          <p:cNvSpPr>
            <a:spLocks noChangeAspect="1"/>
          </p:cNvSpPr>
          <p:nvPr/>
        </p:nvSpPr>
        <p:spPr>
          <a:xfrm rot="19800000" flipH="1">
            <a:off x="2614583" y="2670507"/>
            <a:ext cx="304800" cy="304800"/>
          </a:xfrm>
          <a:prstGeom prst="ellipse">
            <a:avLst/>
          </a:prstGeom>
          <a:noFill/>
          <a:ln>
            <a:solidFill>
              <a:schemeClr val="bg1">
                <a:lumMod val="85000"/>
              </a:schemeClr>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5" name="Oval 44">
            <a:extLst>
              <a:ext uri="{FF2B5EF4-FFF2-40B4-BE49-F238E27FC236}">
                <a16:creationId id="{FBABADE8-45C0-1447-9E16-E4BB1F37C97B}"/>
              </a:ext>
            </a:extLst>
          </p:cNvPr>
          <p:cNvSpPr>
            <a:spLocks noChangeAspect="1"/>
          </p:cNvSpPr>
          <p:nvPr/>
        </p:nvSpPr>
        <p:spPr>
          <a:xfrm rot="16200000" flipH="1">
            <a:off x="2026636" y="4148344"/>
            <a:ext cx="304800" cy="304800"/>
          </a:xfrm>
          <a:prstGeom prst="ellipse">
            <a:avLst/>
          </a:prstGeom>
          <a:noFill/>
          <a:ln>
            <a:solidFill>
              <a:schemeClr val="bg1">
                <a:lumMod val="85000"/>
              </a:schemeClr>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69" name="Oval 168">
            <a:extLst>
              <a:ext uri="{FF2B5EF4-FFF2-40B4-BE49-F238E27FC236}">
                <a16:creationId id="{C4CD84E3-1A59-D840-979B-2DDC531F736E}"/>
              </a:ext>
            </a:extLst>
          </p:cNvPr>
          <p:cNvSpPr>
            <a:spLocks noChangeAspect="1"/>
          </p:cNvSpPr>
          <p:nvPr/>
        </p:nvSpPr>
        <p:spPr>
          <a:xfrm flipH="1">
            <a:off x="1433133" y="3352436"/>
            <a:ext cx="304800" cy="304800"/>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70" name="Oval 169">
            <a:extLst>
              <a:ext uri="{FF2B5EF4-FFF2-40B4-BE49-F238E27FC236}">
                <a16:creationId id="{0C516E1C-C061-A941-B08D-1F3D314C814C}"/>
              </a:ext>
            </a:extLst>
          </p:cNvPr>
          <p:cNvSpPr>
            <a:spLocks noChangeAspect="1"/>
          </p:cNvSpPr>
          <p:nvPr/>
        </p:nvSpPr>
        <p:spPr>
          <a:xfrm flipH="1">
            <a:off x="2616059" y="2669712"/>
            <a:ext cx="304800" cy="304800"/>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71" name="Oval 170">
            <a:extLst>
              <a:ext uri="{FF2B5EF4-FFF2-40B4-BE49-F238E27FC236}">
                <a16:creationId id="{38A006FF-6837-4E46-A95F-6757B6B88BB7}"/>
              </a:ext>
            </a:extLst>
          </p:cNvPr>
          <p:cNvSpPr>
            <a:spLocks noChangeAspect="1"/>
          </p:cNvSpPr>
          <p:nvPr/>
        </p:nvSpPr>
        <p:spPr>
          <a:xfrm flipH="1">
            <a:off x="2024922" y="4146521"/>
            <a:ext cx="304800" cy="304800"/>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72" name="Oval 171">
            <a:extLst>
              <a:ext uri="{FF2B5EF4-FFF2-40B4-BE49-F238E27FC236}">
                <a16:creationId id="{3F2BF1D0-7B45-6E45-9749-4C89397883E2}"/>
              </a:ext>
            </a:extLst>
          </p:cNvPr>
          <p:cNvSpPr>
            <a:spLocks noChangeAspect="1"/>
          </p:cNvSpPr>
          <p:nvPr/>
        </p:nvSpPr>
        <p:spPr>
          <a:xfrm flipH="1">
            <a:off x="2214421" y="3118238"/>
            <a:ext cx="304800" cy="304800"/>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73" name="Oval 172">
            <a:extLst>
              <a:ext uri="{FF2B5EF4-FFF2-40B4-BE49-F238E27FC236}">
                <a16:creationId id="{5C4A8CAF-6093-DA4D-8E1D-F5DFBD78E1BA}"/>
              </a:ext>
            </a:extLst>
          </p:cNvPr>
          <p:cNvSpPr>
            <a:spLocks noChangeAspect="1"/>
          </p:cNvSpPr>
          <p:nvPr/>
        </p:nvSpPr>
        <p:spPr>
          <a:xfrm flipH="1">
            <a:off x="1841406" y="2896350"/>
            <a:ext cx="304800" cy="304800"/>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74" name="Oval 173">
            <a:extLst>
              <a:ext uri="{FF2B5EF4-FFF2-40B4-BE49-F238E27FC236}">
                <a16:creationId id="{059086E5-7989-BF4D-B184-9D5A6516B050}"/>
              </a:ext>
            </a:extLst>
          </p:cNvPr>
          <p:cNvSpPr>
            <a:spLocks noChangeAspect="1"/>
          </p:cNvSpPr>
          <p:nvPr/>
        </p:nvSpPr>
        <p:spPr>
          <a:xfrm flipH="1">
            <a:off x="2024979" y="1871396"/>
            <a:ext cx="304800" cy="304800"/>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4" name="TextBox 53">
            <a:extLst>
              <a:ext uri="{FF2B5EF4-FFF2-40B4-BE49-F238E27FC236}">
                <a16:creationId id="{14A5B4A5-C392-E442-818D-FB711E90577C}"/>
              </a:ext>
            </a:extLst>
          </p:cNvPr>
          <p:cNvSpPr txBox="1"/>
          <p:nvPr/>
        </p:nvSpPr>
        <p:spPr>
          <a:xfrm>
            <a:off x="-7005731" y="948690"/>
            <a:ext cx="6196338" cy="59093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sng"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Structure Architecture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6: Total immutable architrinos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3 : electrinos at -e/6</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3 : positrinos at +e/6</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0: Personality architrinos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1 : Generation I Noether energy core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Provides 3 dimensions of stability/containment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Implements SU(3) and the strong force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Spin determines chirality of the </a:t>
            </a: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structure</a:t>
            </a:r>
            <a:endPar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3 : orbiting electrino : </a:t>
            </a:r>
            <a:r>
              <a:rPr kumimoji="0" lang="en-US" sz="1800" b="0" i="0" u="none" strike="noStrike" kern="1200" cap="none" spc="0" normalizeH="0" baseline="0" noProof="0" dirty="0" err="1">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positrino</a:t>
            </a: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 binaries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binaries coupled at different energy scales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binaries tend to orthogonal at v &lt;&lt; c.</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Structure become increasingly oblate with velocity.</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Gen II and Gen III binary energy shielding</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Transacts energy in h-bar units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Conserves angular momentum in 3D</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Auto synchronizes binary energy (</a:t>
            </a:r>
            <a:r>
              <a:rPr kumimoji="0" lang="en-US" sz="1800" b="0" i="1"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Koide?</a:t>
            </a: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Implements stretchy ruler, variable clock</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Is an ideal black body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An essential emergent building block for the universe.</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5" name="TextBox 54">
            <a:extLst>
              <a:ext uri="{FF2B5EF4-FFF2-40B4-BE49-F238E27FC236}">
                <a16:creationId id="{177A867C-241B-7045-A629-A217BBE571A3}"/>
              </a:ext>
            </a:extLst>
          </p:cNvPr>
          <p:cNvSpPr txBox="1"/>
          <p:nvPr/>
        </p:nvSpPr>
        <p:spPr>
          <a:xfrm>
            <a:off x="294853" y="6165876"/>
            <a:ext cx="2674130" cy="53860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 </a:t>
            </a:r>
            <a:r>
              <a:rPr kumimoji="0" lang="en-US" sz="1100" b="0" i="1"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2D representations of coupled binaries</a:t>
            </a:r>
            <a:br>
              <a:rPr kumimoji="0" lang="en-US" sz="1100" b="0" i="1"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br>
            <a:r>
              <a:rPr kumimoji="0" lang="en-US" sz="1100" b="0" i="1"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different energy scales.</a:t>
            </a:r>
          </a:p>
        </p:txBody>
      </p:sp>
      <p:sp>
        <p:nvSpPr>
          <p:cNvPr id="66" name="Oval 65">
            <a:extLst>
              <a:ext uri="{FF2B5EF4-FFF2-40B4-BE49-F238E27FC236}">
                <a16:creationId id="{60DC97CA-4933-5144-AD0E-4B9259B3D059}"/>
              </a:ext>
            </a:extLst>
          </p:cNvPr>
          <p:cNvSpPr>
            <a:spLocks noChangeAspect="1"/>
          </p:cNvSpPr>
          <p:nvPr/>
        </p:nvSpPr>
        <p:spPr>
          <a:xfrm rot="1800000">
            <a:off x="5835663" y="2942256"/>
            <a:ext cx="457200" cy="457200"/>
          </a:xfrm>
          <a:prstGeom prst="ellipse">
            <a:avLst/>
          </a:prstGeom>
          <a:noFill/>
          <a:ln w="762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 name="Oval 68">
            <a:extLst>
              <a:ext uri="{FF2B5EF4-FFF2-40B4-BE49-F238E27FC236}">
                <a16:creationId id="{90A0E22D-2796-7E44-8E4C-206675AE475C}"/>
              </a:ext>
            </a:extLst>
          </p:cNvPr>
          <p:cNvSpPr>
            <a:spLocks noChangeAspect="1"/>
          </p:cNvSpPr>
          <p:nvPr/>
        </p:nvSpPr>
        <p:spPr>
          <a:xfrm rot="1800000">
            <a:off x="5378463" y="2485056"/>
            <a:ext cx="1371600" cy="1371600"/>
          </a:xfrm>
          <a:prstGeom prst="ellipse">
            <a:avLst/>
          </a:prstGeom>
          <a:noFill/>
          <a:ln w="762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3" name="Oval 72">
            <a:extLst>
              <a:ext uri="{FF2B5EF4-FFF2-40B4-BE49-F238E27FC236}">
                <a16:creationId id="{D297BF16-9C15-2040-BCC8-A5BFEB1B52F4}"/>
              </a:ext>
            </a:extLst>
          </p:cNvPr>
          <p:cNvSpPr>
            <a:spLocks noChangeAspect="1"/>
          </p:cNvSpPr>
          <p:nvPr/>
        </p:nvSpPr>
        <p:spPr>
          <a:xfrm rot="1800000" flipH="1">
            <a:off x="5729123" y="2905068"/>
            <a:ext cx="304800" cy="304800"/>
          </a:xfrm>
          <a:prstGeom prst="ellipse">
            <a:avLst/>
          </a:prstGeom>
          <a:noFill/>
          <a:ln>
            <a:solidFill>
              <a:schemeClr val="bg1">
                <a:lumMod val="85000"/>
              </a:schemeClr>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74" name="Oval 73">
            <a:extLst>
              <a:ext uri="{FF2B5EF4-FFF2-40B4-BE49-F238E27FC236}">
                <a16:creationId id="{5C6E120B-5A78-B549-B413-C7DCB46D1339}"/>
              </a:ext>
            </a:extLst>
          </p:cNvPr>
          <p:cNvSpPr>
            <a:spLocks noChangeAspect="1"/>
          </p:cNvSpPr>
          <p:nvPr/>
        </p:nvSpPr>
        <p:spPr>
          <a:xfrm rot="1800000" flipH="1">
            <a:off x="6100954" y="3124808"/>
            <a:ext cx="304800" cy="304800"/>
          </a:xfrm>
          <a:prstGeom prst="ellipse">
            <a:avLst/>
          </a:prstGeom>
          <a:noFill/>
          <a:ln>
            <a:solidFill>
              <a:schemeClr val="bg1">
                <a:lumMod val="85000"/>
              </a:schemeClr>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82" name="Oval 81">
            <a:extLst>
              <a:ext uri="{FF2B5EF4-FFF2-40B4-BE49-F238E27FC236}">
                <a16:creationId id="{A9EDA037-A611-D14A-BC2B-24742816B594}"/>
              </a:ext>
            </a:extLst>
          </p:cNvPr>
          <p:cNvSpPr>
            <a:spLocks noChangeAspect="1"/>
          </p:cNvSpPr>
          <p:nvPr/>
        </p:nvSpPr>
        <p:spPr>
          <a:xfrm rot="19800000" flipH="1">
            <a:off x="5321277" y="3359904"/>
            <a:ext cx="304800" cy="304800"/>
          </a:xfrm>
          <a:prstGeom prst="ellipse">
            <a:avLst/>
          </a:prstGeom>
          <a:noFill/>
          <a:ln>
            <a:solidFill>
              <a:schemeClr val="bg1">
                <a:lumMod val="85000"/>
              </a:schemeClr>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83" name="Oval 82">
            <a:extLst>
              <a:ext uri="{FF2B5EF4-FFF2-40B4-BE49-F238E27FC236}">
                <a16:creationId id="{6D4762A5-D4FE-8A47-9050-4DE853FC9ACF}"/>
              </a:ext>
            </a:extLst>
          </p:cNvPr>
          <p:cNvSpPr>
            <a:spLocks noChangeAspect="1"/>
          </p:cNvSpPr>
          <p:nvPr/>
        </p:nvSpPr>
        <p:spPr>
          <a:xfrm rot="19800000" flipH="1">
            <a:off x="6503654" y="2676421"/>
            <a:ext cx="304800" cy="304800"/>
          </a:xfrm>
          <a:prstGeom prst="ellipse">
            <a:avLst/>
          </a:prstGeom>
          <a:noFill/>
          <a:ln>
            <a:solidFill>
              <a:schemeClr val="bg1">
                <a:lumMod val="85000"/>
              </a:schemeClr>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8" name="Oval 57">
            <a:extLst>
              <a:ext uri="{FF2B5EF4-FFF2-40B4-BE49-F238E27FC236}">
                <a16:creationId id="{396D9099-B529-CC40-BE9B-1299522B0CE1}"/>
              </a:ext>
            </a:extLst>
          </p:cNvPr>
          <p:cNvSpPr>
            <a:spLocks noChangeAspect="1"/>
          </p:cNvSpPr>
          <p:nvPr/>
        </p:nvSpPr>
        <p:spPr>
          <a:xfrm flipH="1">
            <a:off x="5322204" y="3358350"/>
            <a:ext cx="304800" cy="304800"/>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9" name="Oval 58">
            <a:extLst>
              <a:ext uri="{FF2B5EF4-FFF2-40B4-BE49-F238E27FC236}">
                <a16:creationId id="{40A0AABC-4D11-FA48-9610-E094E1CA7C3D}"/>
              </a:ext>
            </a:extLst>
          </p:cNvPr>
          <p:cNvSpPr>
            <a:spLocks noChangeAspect="1"/>
          </p:cNvSpPr>
          <p:nvPr/>
        </p:nvSpPr>
        <p:spPr>
          <a:xfrm flipH="1">
            <a:off x="6505130" y="2675626"/>
            <a:ext cx="304800" cy="304800"/>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1" name="Oval 60">
            <a:extLst>
              <a:ext uri="{FF2B5EF4-FFF2-40B4-BE49-F238E27FC236}">
                <a16:creationId id="{AAB9E695-8AAE-F24E-B2F1-5E2D840198FB}"/>
              </a:ext>
            </a:extLst>
          </p:cNvPr>
          <p:cNvSpPr>
            <a:spLocks noChangeAspect="1"/>
          </p:cNvSpPr>
          <p:nvPr/>
        </p:nvSpPr>
        <p:spPr>
          <a:xfrm flipH="1">
            <a:off x="6103492" y="3124152"/>
            <a:ext cx="304800" cy="304800"/>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2" name="Oval 61">
            <a:extLst>
              <a:ext uri="{FF2B5EF4-FFF2-40B4-BE49-F238E27FC236}">
                <a16:creationId id="{D319CADC-88BE-C34C-87F0-64FDEF3C07E5}"/>
              </a:ext>
            </a:extLst>
          </p:cNvPr>
          <p:cNvSpPr>
            <a:spLocks noChangeAspect="1"/>
          </p:cNvSpPr>
          <p:nvPr/>
        </p:nvSpPr>
        <p:spPr>
          <a:xfrm flipH="1">
            <a:off x="5730477" y="2902264"/>
            <a:ext cx="304800" cy="304800"/>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aphicFrame>
        <p:nvGraphicFramePr>
          <p:cNvPr id="11" name="Table 11">
            <a:extLst>
              <a:ext uri="{FF2B5EF4-FFF2-40B4-BE49-F238E27FC236}">
                <a16:creationId id="{77D181D9-7730-5244-9AEB-0B44475E0600}"/>
              </a:ext>
            </a:extLst>
          </p:cNvPr>
          <p:cNvGraphicFramePr>
            <a:graphicFrameLocks noGrp="1"/>
          </p:cNvGraphicFramePr>
          <p:nvPr>
            <p:extLst>
              <p:ext uri="{D42A27DB-BD31-4B8C-83A1-F6EECF244321}">
                <ns3:modId val="812640237"/>
              </p:ext>
            </p:extLst>
          </p:nvPr>
        </p:nvGraphicFramePr>
        <p:xfrm>
          <a:off x="3997981" y="4160656"/>
          <a:ext cx="4132564" cy="2377440"/>
        </p:xfrm>
        <a:graphic>
          <a:graphicData uri="http://schemas.openxmlformats.org/drawingml/2006/table">
            <a:tbl>
              <a:tblPr firstRow="1" bandRow="1">
                <a:tableStyleId>{073A0DAA-6AF3-43AB-8588-CEC1D06C72B9}</a:tableStyleId>
              </a:tblPr>
              <a:tblGrid>
                <a:gridCol w="1438593">
                  <a:extLst>
                    <a:ext uri="{9D8B030D-6E8A-4147-A177-3AD203B41FA5}">
                      <a16:colId val="1628065868"/>
                    </a:ext>
                  </a:extLst>
                </a:gridCol>
                <a:gridCol w="955992">
                  <a:extLst>
                    <a:ext uri="{9D8B030D-6E8A-4147-A177-3AD203B41FA5}">
                      <a16:colId val="3333418016"/>
                    </a:ext>
                  </a:extLst>
                </a:gridCol>
                <a:gridCol w="1041718">
                  <a:extLst>
                    <a:ext uri="{9D8B030D-6E8A-4147-A177-3AD203B41FA5}">
                      <a16:colId val="2983966065"/>
                    </a:ext>
                  </a:extLst>
                </a:gridCol>
                <a:gridCol w="696261">
                  <a:extLst>
                    <a:ext uri="{9D8B030D-6E8A-4147-A177-3AD203B41FA5}">
                      <a16:colId val="4282305198"/>
                    </a:ext>
                  </a:extLst>
                </a:gridCol>
              </a:tblGrid>
              <a:tr h="205869">
                <a:tc>
                  <a:txBody>
                    <a:bodyPr/>
                    <a:lstStyle/>
                    <a:p>
                      <a:r>
                        <a:rPr lang="en-US" sz="2000" dirty="0"/>
                        <a:t>Binary</a:t>
                      </a:r>
                      <a:endParaRPr lang="en-US" sz="2000" dirty="0">
                        <a:latin typeface="Helvetica Neue" panose="02000503000000020004" pitchFamily="2" charset="0"/>
                        <a:ea typeface="Helvetica Neue" panose="02000503000000020004" pitchFamily="2" charset="0"/>
                        <a:cs typeface="Helvetica Neue" panose="02000503000000020004" pitchFamily="2"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I</a:t>
                      </a:r>
                      <a:endParaRPr lang="en-US" sz="2000" dirty="0">
                        <a:latin typeface="Helvetica Neue" panose="02000503000000020004" pitchFamily="2" charset="0"/>
                        <a:ea typeface="Helvetica Neue" panose="02000503000000020004" pitchFamily="2" charset="0"/>
                        <a:cs typeface="Helvetica Neue" panose="02000503000000020004" pitchFamily="2"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II</a:t>
                      </a:r>
                      <a:endParaRPr lang="en-US" sz="2000" dirty="0">
                        <a:latin typeface="Helvetica Neue" panose="02000503000000020004" pitchFamily="2" charset="0"/>
                        <a:ea typeface="Helvetica Neue" panose="02000503000000020004" pitchFamily="2" charset="0"/>
                        <a:cs typeface="Helvetica Neue" panose="02000503000000020004" pitchFamily="2"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III</a:t>
                      </a:r>
                      <a:endParaRPr lang="en-US" sz="2000" dirty="0">
                        <a:latin typeface="Helvetica Neue" panose="02000503000000020004" pitchFamily="2" charset="0"/>
                        <a:ea typeface="Helvetica Neue" panose="02000503000000020004" pitchFamily="2" charset="0"/>
                        <a:cs typeface="Helvetica Neue" panose="02000503000000020004" pitchFamily="2" charset="0"/>
                      </a:endParaRPr>
                    </a:p>
                  </a:txBody>
                  <a:tcPr/>
                </a:tc>
                <a:extLst>
                  <a:ext uri="{0D108BD9-81ED-4DB2-BD59-A6C34878D82A}">
                    <a16:rowId val="185280997"/>
                  </a:ext>
                </a:extLst>
              </a:tr>
              <a:tr h="2058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Energy</a:t>
                      </a:r>
                      <a:endParaRPr lang="en-US" sz="2000" dirty="0">
                        <a:latin typeface="Helvetica Neue" panose="02000503000000020004" pitchFamily="2" charset="0"/>
                        <a:ea typeface="Helvetica Neue" panose="02000503000000020004" pitchFamily="2" charset="0"/>
                        <a:cs typeface="Helvetica Neue" panose="02000503000000020004" pitchFamily="2"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E</a:t>
                      </a:r>
                      <a:r>
                        <a:rPr lang="en-US" sz="2000" baseline="-25000" dirty="0"/>
                        <a:t>I </a:t>
                      </a:r>
                      <a:r>
                        <a:rPr lang="en-US" sz="2000" dirty="0"/>
                        <a:t>&lt;&lt; E</a:t>
                      </a:r>
                      <a:r>
                        <a:rPr lang="en-US" sz="2000" baseline="-25000" dirty="0"/>
                        <a:t>II</a:t>
                      </a:r>
                      <a:endParaRPr lang="en-US" sz="2000" baseline="-25000" dirty="0">
                        <a:latin typeface="Helvetica Neue" panose="02000503000000020004" pitchFamily="2" charset="0"/>
                        <a:ea typeface="Helvetica Neue" panose="02000503000000020004" pitchFamily="2" charset="0"/>
                        <a:cs typeface="Helvetica Neue" panose="02000503000000020004" pitchFamily="2"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E</a:t>
                      </a:r>
                      <a:r>
                        <a:rPr lang="en-US" sz="2000" baseline="-25000" dirty="0"/>
                        <a:t>II </a:t>
                      </a:r>
                      <a:r>
                        <a:rPr lang="en-US" sz="2000" dirty="0"/>
                        <a:t>&lt;&lt; E</a:t>
                      </a:r>
                      <a:r>
                        <a:rPr lang="en-US" sz="2000" baseline="-25000" dirty="0"/>
                        <a:t>III</a:t>
                      </a:r>
                      <a:endParaRPr lang="en-US" sz="2000" baseline="-25000" dirty="0">
                        <a:latin typeface="Helvetica Neue" panose="02000503000000020004" pitchFamily="2" charset="0"/>
                        <a:ea typeface="Helvetica Neue" panose="02000503000000020004" pitchFamily="2" charset="0"/>
                        <a:cs typeface="Helvetica Neue" panose="02000503000000020004" pitchFamily="2"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E</a:t>
                      </a:r>
                      <a:r>
                        <a:rPr lang="en-US" sz="2000" baseline="-25000" dirty="0"/>
                        <a:t>III</a:t>
                      </a:r>
                      <a:endParaRPr lang="en-US" sz="2000" baseline="-25000" dirty="0">
                        <a:latin typeface="Helvetica Neue" panose="02000503000000020004" pitchFamily="2" charset="0"/>
                        <a:ea typeface="Helvetica Neue" panose="02000503000000020004" pitchFamily="2" charset="0"/>
                        <a:cs typeface="Helvetica Neue" panose="02000503000000020004" pitchFamily="2" charset="0"/>
                      </a:endParaRPr>
                    </a:p>
                  </a:txBody>
                  <a:tcPr/>
                </a:tc>
                <a:extLst>
                  <a:ext uri="{0D108BD9-81ED-4DB2-BD59-A6C34878D82A}">
                    <a16:rowId val="1411836262"/>
                  </a:ext>
                </a:extLst>
              </a:tr>
              <a:tr h="2058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Frequency</a:t>
                      </a:r>
                      <a:endParaRPr lang="en-US" sz="2000" dirty="0">
                        <a:latin typeface="Helvetica Neue" panose="02000503000000020004" pitchFamily="2" charset="0"/>
                        <a:ea typeface="Helvetica Neue" panose="02000503000000020004" pitchFamily="2" charset="0"/>
                        <a:cs typeface="Helvetica Neue" panose="02000503000000020004" pitchFamily="2"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err="1"/>
                        <a:t>f</a:t>
                      </a:r>
                      <a:r>
                        <a:rPr lang="en-US" sz="2000" baseline="-25000" dirty="0" err="1"/>
                        <a:t>I</a:t>
                      </a:r>
                      <a:r>
                        <a:rPr lang="en-US" sz="2000" baseline="-25000" dirty="0"/>
                        <a:t> </a:t>
                      </a:r>
                      <a:r>
                        <a:rPr lang="en-US" sz="2000" dirty="0"/>
                        <a:t>&lt;&lt; </a:t>
                      </a:r>
                      <a:r>
                        <a:rPr lang="en-US" sz="2000" dirty="0" err="1"/>
                        <a:t>f</a:t>
                      </a:r>
                      <a:r>
                        <a:rPr lang="en-US" sz="2000" baseline="-25000" dirty="0" err="1"/>
                        <a:t>II</a:t>
                      </a:r>
                      <a:endParaRPr lang="en-US" sz="2000" baseline="-25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err="1"/>
                        <a:t>f</a:t>
                      </a:r>
                      <a:r>
                        <a:rPr lang="en-US" sz="2000" baseline="-25000" dirty="0" err="1"/>
                        <a:t>II</a:t>
                      </a:r>
                      <a:r>
                        <a:rPr lang="en-US" sz="2000" baseline="-25000" dirty="0"/>
                        <a:t> </a:t>
                      </a:r>
                      <a:r>
                        <a:rPr lang="en-US" sz="2000" dirty="0"/>
                        <a:t>&lt;&lt; </a:t>
                      </a:r>
                      <a:r>
                        <a:rPr lang="en-US" sz="2000" dirty="0" err="1"/>
                        <a:t>f</a:t>
                      </a:r>
                      <a:r>
                        <a:rPr lang="en-US" sz="2000" baseline="-25000" dirty="0" err="1"/>
                        <a:t>III</a:t>
                      </a:r>
                      <a:endParaRPr lang="en-US" sz="2000" baseline="-25000" dirty="0">
                        <a:latin typeface="Helvetica Neue" panose="02000503000000020004" pitchFamily="2" charset="0"/>
                        <a:ea typeface="Helvetica Neue" panose="02000503000000020004" pitchFamily="2" charset="0"/>
                        <a:cs typeface="Helvetica Neue" panose="02000503000000020004" pitchFamily="2"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err="1"/>
                        <a:t>f</a:t>
                      </a:r>
                      <a:r>
                        <a:rPr lang="en-US" sz="2000" baseline="-25000" dirty="0" err="1"/>
                        <a:t>III</a:t>
                      </a:r>
                      <a:endParaRPr lang="en-US" sz="2000" baseline="-25000" dirty="0">
                        <a:latin typeface="Helvetica Neue" panose="02000503000000020004" pitchFamily="2" charset="0"/>
                        <a:ea typeface="Helvetica Neue" panose="02000503000000020004" pitchFamily="2" charset="0"/>
                        <a:cs typeface="Helvetica Neue" panose="02000503000000020004" pitchFamily="2" charset="0"/>
                      </a:endParaRPr>
                    </a:p>
                  </a:txBody>
                  <a:tcPr/>
                </a:tc>
                <a:extLst>
                  <a:ext uri="{0D108BD9-81ED-4DB2-BD59-A6C34878D82A}">
                    <a16:rowId val="3951172800"/>
                  </a:ext>
                </a:extLst>
              </a:tr>
              <a:tr h="2058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Radius</a:t>
                      </a:r>
                      <a:endParaRPr lang="en-US" sz="2000" dirty="0">
                        <a:latin typeface="Helvetica Neue" panose="02000503000000020004" pitchFamily="2" charset="0"/>
                        <a:ea typeface="Helvetica Neue" panose="02000503000000020004" pitchFamily="2" charset="0"/>
                        <a:cs typeface="Helvetica Neue" panose="02000503000000020004" pitchFamily="2"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err="1"/>
                        <a:t>r</a:t>
                      </a:r>
                      <a:r>
                        <a:rPr lang="en-US" sz="2000" baseline="-25000" dirty="0" err="1"/>
                        <a:t>I</a:t>
                      </a:r>
                      <a:r>
                        <a:rPr lang="en-US" sz="2000" baseline="-25000" dirty="0"/>
                        <a:t> </a:t>
                      </a:r>
                      <a:r>
                        <a:rPr lang="en-US" sz="2000" dirty="0"/>
                        <a:t>&gt;&gt; </a:t>
                      </a:r>
                      <a:r>
                        <a:rPr lang="en-US" sz="2000" dirty="0" err="1"/>
                        <a:t>r</a:t>
                      </a:r>
                      <a:r>
                        <a:rPr lang="en-US" sz="2000" baseline="-25000" dirty="0" err="1"/>
                        <a:t>II</a:t>
                      </a:r>
                      <a:endParaRPr lang="en-US" sz="2000" baseline="-25000" dirty="0">
                        <a:latin typeface="Helvetica Neue" panose="02000503000000020004" pitchFamily="2" charset="0"/>
                        <a:ea typeface="Helvetica Neue" panose="02000503000000020004" pitchFamily="2" charset="0"/>
                        <a:cs typeface="Helvetica Neue" panose="02000503000000020004" pitchFamily="2"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err="1"/>
                        <a:t>r</a:t>
                      </a:r>
                      <a:r>
                        <a:rPr lang="en-US" sz="2000" baseline="-25000" dirty="0" err="1"/>
                        <a:t>II</a:t>
                      </a:r>
                      <a:r>
                        <a:rPr lang="en-US" sz="2000" baseline="-25000" dirty="0"/>
                        <a:t> </a:t>
                      </a:r>
                      <a:r>
                        <a:rPr lang="en-US" sz="2000" dirty="0"/>
                        <a:t>&gt;&gt; </a:t>
                      </a:r>
                      <a:r>
                        <a:rPr lang="en-US" sz="2000" dirty="0" err="1"/>
                        <a:t>r</a:t>
                      </a:r>
                      <a:r>
                        <a:rPr lang="en-US" sz="2000" baseline="-25000" dirty="0" err="1"/>
                        <a:t>III</a:t>
                      </a:r>
                      <a:endParaRPr lang="en-US" sz="2000" baseline="-25000" dirty="0">
                        <a:latin typeface="Helvetica Neue" panose="02000503000000020004" pitchFamily="2" charset="0"/>
                        <a:ea typeface="Helvetica Neue" panose="02000503000000020004" pitchFamily="2" charset="0"/>
                        <a:cs typeface="Helvetica Neue" panose="02000503000000020004" pitchFamily="2"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err="1"/>
                        <a:t>r</a:t>
                      </a:r>
                      <a:r>
                        <a:rPr lang="en-US" sz="2000" baseline="-25000" dirty="0" err="1"/>
                        <a:t>III</a:t>
                      </a:r>
                      <a:endParaRPr lang="en-US" sz="2000" baseline="-25000" dirty="0">
                        <a:latin typeface="Helvetica Neue" panose="02000503000000020004" pitchFamily="2" charset="0"/>
                        <a:ea typeface="Helvetica Neue" panose="02000503000000020004" pitchFamily="2" charset="0"/>
                        <a:cs typeface="Helvetica Neue" panose="02000503000000020004" pitchFamily="2" charset="0"/>
                      </a:endParaRPr>
                    </a:p>
                  </a:txBody>
                  <a:tcPr/>
                </a:tc>
                <a:extLst>
                  <a:ext uri="{0D108BD9-81ED-4DB2-BD59-A6C34878D82A}">
                    <a16:rowId val="2227550592"/>
                  </a:ext>
                </a:extLst>
              </a:tr>
              <a:tr h="2058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Helvetica Neue" panose="02000503000000020004" pitchFamily="2" charset="0"/>
                          <a:ea typeface="Helvetica Neue" panose="02000503000000020004" pitchFamily="2" charset="0"/>
                          <a:cs typeface="Helvetica Neue" panose="02000503000000020004" pitchFamily="2" charset="0"/>
                        </a:rPr>
                        <a:t>KE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aseline="-25000" dirty="0">
                          <a:latin typeface="Helvetica Neue" panose="02000503000000020004" pitchFamily="2" charset="0"/>
                          <a:ea typeface="Helvetica Neue" panose="02000503000000020004" pitchFamily="2" charset="0"/>
                          <a:cs typeface="Helvetica Neue" panose="02000503000000020004" pitchFamily="2" charset="0"/>
                        </a:rPr>
                        <a:t>L</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aseline="-25000" dirty="0">
                          <a:latin typeface="Helvetica Neue" panose="02000503000000020004" pitchFamily="2" charset="0"/>
                          <a:ea typeface="Helvetica Neue" panose="02000503000000020004" pitchFamily="2" charset="0"/>
                          <a:cs typeface="Helvetica Neue" panose="02000503000000020004" pitchFamily="2" charset="0"/>
                        </a:rPr>
                        <a:t>M</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aseline="-25000" dirty="0">
                          <a:latin typeface="Helvetica Neue" panose="02000503000000020004" pitchFamily="2" charset="0"/>
                          <a:ea typeface="Helvetica Neue" panose="02000503000000020004" pitchFamily="2" charset="0"/>
                          <a:cs typeface="Helvetica Neue" panose="02000503000000020004" pitchFamily="2" charset="0"/>
                        </a:rPr>
                        <a:t>H</a:t>
                      </a:r>
                    </a:p>
                  </a:txBody>
                  <a:tcPr/>
                </a:tc>
                <a:extLst>
                  <a:ext uri="{0D108BD9-81ED-4DB2-BD59-A6C34878D82A}">
                    <a16:rowId val="2543742667"/>
                  </a:ext>
                </a:extLst>
              </a:tr>
              <a:tr h="2058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Helvetica Neue" panose="02000503000000020004" pitchFamily="2" charset="0"/>
                          <a:ea typeface="Helvetica Neue" panose="02000503000000020004" pitchFamily="2" charset="0"/>
                          <a:cs typeface="Helvetica Neue" panose="02000503000000020004" pitchFamily="2" charset="0"/>
                        </a:rPr>
                        <a:t>PE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aseline="-25000" dirty="0">
                          <a:latin typeface="Helvetica Neue" panose="02000503000000020004" pitchFamily="2" charset="0"/>
                          <a:ea typeface="Helvetica Neue" panose="02000503000000020004" pitchFamily="2" charset="0"/>
                          <a:cs typeface="Helvetica Neue" panose="02000503000000020004" pitchFamily="2" charset="0"/>
                        </a:rPr>
                        <a:t>H</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aseline="-25000" dirty="0">
                          <a:latin typeface="Helvetica Neue" panose="02000503000000020004" pitchFamily="2" charset="0"/>
                          <a:ea typeface="Helvetica Neue" panose="02000503000000020004" pitchFamily="2" charset="0"/>
                          <a:cs typeface="Helvetica Neue" panose="02000503000000020004" pitchFamily="2" charset="0"/>
                        </a:rPr>
                        <a:t>M</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aseline="-25000" dirty="0">
                          <a:latin typeface="Helvetica Neue" panose="02000503000000020004" pitchFamily="2" charset="0"/>
                          <a:ea typeface="Helvetica Neue" panose="02000503000000020004" pitchFamily="2" charset="0"/>
                          <a:cs typeface="Helvetica Neue" panose="02000503000000020004" pitchFamily="2" charset="0"/>
                        </a:rPr>
                        <a:t>L</a:t>
                      </a:r>
                    </a:p>
                  </a:txBody>
                  <a:tcPr/>
                </a:tc>
                <a:extLst>
                  <a:ext uri="{0D108BD9-81ED-4DB2-BD59-A6C34878D82A}">
                    <a16:rowId val="2995610343"/>
                  </a:ext>
                </a:extLst>
              </a:tr>
            </a:tbl>
          </a:graphicData>
        </a:graphic>
      </p:graphicFrame>
      <p:sp>
        <p:nvSpPr>
          <p:cNvPr id="79" name="Oval 78">
            <a:extLst>
              <a:ext uri="{FF2B5EF4-FFF2-40B4-BE49-F238E27FC236}">
                <a16:creationId id="{15B31D96-2778-435B-756B-68583CFBB131}"/>
              </a:ext>
            </a:extLst>
          </p:cNvPr>
          <p:cNvSpPr>
            <a:spLocks noChangeAspect="1"/>
          </p:cNvSpPr>
          <p:nvPr/>
        </p:nvSpPr>
        <p:spPr>
          <a:xfrm rot="1800000">
            <a:off x="9865028" y="2941910"/>
            <a:ext cx="457200" cy="457200"/>
          </a:xfrm>
          <a:prstGeom prst="ellipse">
            <a:avLst/>
          </a:prstGeom>
          <a:noFill/>
          <a:ln w="762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6" name="Oval 85">
            <a:extLst>
              <a:ext uri="{FF2B5EF4-FFF2-40B4-BE49-F238E27FC236}">
                <a16:creationId id="{9BE8D9EA-A13C-B196-1949-E66A81BF2006}"/>
              </a:ext>
            </a:extLst>
          </p:cNvPr>
          <p:cNvSpPr>
            <a:spLocks noChangeAspect="1"/>
          </p:cNvSpPr>
          <p:nvPr/>
        </p:nvSpPr>
        <p:spPr>
          <a:xfrm rot="1800000" flipH="1">
            <a:off x="9758488" y="2904722"/>
            <a:ext cx="304800" cy="304800"/>
          </a:xfrm>
          <a:prstGeom prst="ellipse">
            <a:avLst/>
          </a:prstGeom>
          <a:noFill/>
          <a:ln>
            <a:solidFill>
              <a:schemeClr val="bg1">
                <a:lumMod val="85000"/>
              </a:schemeClr>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87" name="Oval 86">
            <a:extLst>
              <a:ext uri="{FF2B5EF4-FFF2-40B4-BE49-F238E27FC236}">
                <a16:creationId id="{8D1BCF79-E853-9416-C28A-6708CC928E0C}"/>
              </a:ext>
            </a:extLst>
          </p:cNvPr>
          <p:cNvSpPr>
            <a:spLocks noChangeAspect="1"/>
          </p:cNvSpPr>
          <p:nvPr/>
        </p:nvSpPr>
        <p:spPr>
          <a:xfrm rot="1800000" flipH="1">
            <a:off x="10130319" y="3124462"/>
            <a:ext cx="304800" cy="304800"/>
          </a:xfrm>
          <a:prstGeom prst="ellipse">
            <a:avLst/>
          </a:prstGeom>
          <a:noFill/>
          <a:ln>
            <a:solidFill>
              <a:schemeClr val="bg1">
                <a:lumMod val="85000"/>
              </a:schemeClr>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75" name="Oval 74">
            <a:extLst>
              <a:ext uri="{FF2B5EF4-FFF2-40B4-BE49-F238E27FC236}">
                <a16:creationId id="{C5B87A85-A0F0-EC90-F2B2-11781931796B}"/>
              </a:ext>
            </a:extLst>
          </p:cNvPr>
          <p:cNvSpPr>
            <a:spLocks noChangeAspect="1"/>
          </p:cNvSpPr>
          <p:nvPr/>
        </p:nvSpPr>
        <p:spPr>
          <a:xfrm flipH="1">
            <a:off x="10132857" y="3123806"/>
            <a:ext cx="304800" cy="304800"/>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6" name="Oval 75">
            <a:extLst>
              <a:ext uri="{FF2B5EF4-FFF2-40B4-BE49-F238E27FC236}">
                <a16:creationId id="{E0C248B0-0741-46E3-B654-774D78B62993}"/>
              </a:ext>
            </a:extLst>
          </p:cNvPr>
          <p:cNvSpPr>
            <a:spLocks noChangeAspect="1"/>
          </p:cNvSpPr>
          <p:nvPr/>
        </p:nvSpPr>
        <p:spPr>
          <a:xfrm flipH="1">
            <a:off x="9759842" y="2901918"/>
            <a:ext cx="304800" cy="304800"/>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2" name="TextBox 11">
            <a:extLst>
              <a:ext uri="{FF2B5EF4-FFF2-40B4-BE49-F238E27FC236}">
                <a16:creationId id="{E1E8861D-786C-7C40-88AC-F034E46925B4}"/>
              </a:ext>
            </a:extLst>
          </p:cNvPr>
          <p:cNvSpPr txBox="1"/>
          <p:nvPr/>
        </p:nvSpPr>
        <p:spPr>
          <a:xfrm>
            <a:off x="4840806" y="1387463"/>
            <a:ext cx="2497800"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Generation II Fermion Core</a:t>
            </a:r>
          </a:p>
        </p:txBody>
      </p:sp>
      <p:sp>
        <p:nvSpPr>
          <p:cNvPr id="93" name="TextBox 92">
            <a:extLst>
              <a:ext uri="{FF2B5EF4-FFF2-40B4-BE49-F238E27FC236}">
                <a16:creationId id="{8AD09EC1-9170-324B-81C1-8F206DFB0A03}"/>
              </a:ext>
            </a:extLst>
          </p:cNvPr>
          <p:cNvSpPr txBox="1"/>
          <p:nvPr/>
        </p:nvSpPr>
        <p:spPr>
          <a:xfrm>
            <a:off x="6266316" y="2193409"/>
            <a:ext cx="30480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II</a:t>
            </a:r>
          </a:p>
        </p:txBody>
      </p:sp>
      <p:sp>
        <p:nvSpPr>
          <p:cNvPr id="94" name="TextBox 93">
            <a:extLst>
              <a:ext uri="{FF2B5EF4-FFF2-40B4-BE49-F238E27FC236}">
                <a16:creationId id="{9E55F970-1CC8-204C-B3C6-9050D4F9C6C0}"/>
              </a:ext>
            </a:extLst>
          </p:cNvPr>
          <p:cNvSpPr txBox="1"/>
          <p:nvPr/>
        </p:nvSpPr>
        <p:spPr>
          <a:xfrm>
            <a:off x="5943880" y="2579868"/>
            <a:ext cx="44466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III</a:t>
            </a:r>
          </a:p>
        </p:txBody>
      </p:sp>
      <p:sp>
        <p:nvSpPr>
          <p:cNvPr id="8" name="TextBox 7">
            <a:extLst>
              <a:ext uri="{FF2B5EF4-FFF2-40B4-BE49-F238E27FC236}">
                <a16:creationId id="{5E4D2F58-3062-A8C1-C241-A3FB682778BC}"/>
              </a:ext>
            </a:extLst>
          </p:cNvPr>
          <p:cNvSpPr txBox="1"/>
          <p:nvPr/>
        </p:nvSpPr>
        <p:spPr>
          <a:xfrm>
            <a:off x="8839016" y="1387463"/>
            <a:ext cx="2550698"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Generation III Fermion Core</a:t>
            </a:r>
          </a:p>
        </p:txBody>
      </p:sp>
      <p:sp>
        <p:nvSpPr>
          <p:cNvPr id="14" name="TextBox 13">
            <a:extLst>
              <a:ext uri="{FF2B5EF4-FFF2-40B4-BE49-F238E27FC236}">
                <a16:creationId id="{FB183F00-9B3D-EB10-7013-CBD28154666B}"/>
              </a:ext>
            </a:extLst>
          </p:cNvPr>
          <p:cNvSpPr txBox="1"/>
          <p:nvPr/>
        </p:nvSpPr>
        <p:spPr>
          <a:xfrm>
            <a:off x="10121195" y="2642903"/>
            <a:ext cx="44466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III</a:t>
            </a:r>
          </a:p>
        </p:txBody>
      </p:sp>
      <p:sp>
        <p:nvSpPr>
          <p:cNvPr id="16" name="TextBox 15">
            <a:extLst>
              <a:ext uri="{FF2B5EF4-FFF2-40B4-BE49-F238E27FC236}">
                <a16:creationId id="{20F4ECD7-87AF-7261-E6F5-884B06BC0D6E}"/>
              </a:ext>
            </a:extLst>
          </p:cNvPr>
          <p:cNvSpPr txBox="1"/>
          <p:nvPr/>
        </p:nvSpPr>
        <p:spPr>
          <a:xfrm>
            <a:off x="991971" y="1387463"/>
            <a:ext cx="2444900"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Generation I Fermion Core</a:t>
            </a:r>
          </a:p>
        </p:txBody>
      </p:sp>
      <p:sp>
        <p:nvSpPr>
          <p:cNvPr id="17" name="TextBox 16">
            <a:extLst>
              <a:ext uri="{FF2B5EF4-FFF2-40B4-BE49-F238E27FC236}">
                <a16:creationId id="{AF12CB76-0957-DA64-F826-154A6FA05F30}"/>
              </a:ext>
            </a:extLst>
          </p:cNvPr>
          <p:cNvSpPr txBox="1"/>
          <p:nvPr/>
        </p:nvSpPr>
        <p:spPr>
          <a:xfrm>
            <a:off x="2735783" y="1858373"/>
            <a:ext cx="24838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I</a:t>
            </a:r>
          </a:p>
        </p:txBody>
      </p:sp>
      <p:sp>
        <p:nvSpPr>
          <p:cNvPr id="18" name="TextBox 17">
            <a:extLst>
              <a:ext uri="{FF2B5EF4-FFF2-40B4-BE49-F238E27FC236}">
                <a16:creationId id="{6C0B8542-C95E-6DAE-DB71-A729869913AF}"/>
              </a:ext>
            </a:extLst>
          </p:cNvPr>
          <p:cNvSpPr txBox="1"/>
          <p:nvPr/>
        </p:nvSpPr>
        <p:spPr>
          <a:xfrm>
            <a:off x="2483733" y="2231479"/>
            <a:ext cx="30480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II</a:t>
            </a:r>
          </a:p>
        </p:txBody>
      </p:sp>
      <p:sp>
        <p:nvSpPr>
          <p:cNvPr id="19" name="TextBox 18">
            <a:extLst>
              <a:ext uri="{FF2B5EF4-FFF2-40B4-BE49-F238E27FC236}">
                <a16:creationId id="{5F1ED0DE-4DED-197B-A210-7F76433733A9}"/>
              </a:ext>
            </a:extLst>
          </p:cNvPr>
          <p:cNvSpPr txBox="1"/>
          <p:nvPr/>
        </p:nvSpPr>
        <p:spPr>
          <a:xfrm>
            <a:off x="2161297" y="2617938"/>
            <a:ext cx="44466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III</a:t>
            </a:r>
          </a:p>
        </p:txBody>
      </p:sp>
      <p:sp>
        <p:nvSpPr>
          <p:cNvPr id="3" name="Footer Placeholder 3"/>
          <p:cNvSpPr txBox="1">
            <a:spLocks/>
          </p:cNvSpPr>
          <p:nvPr/>
        </p:nvSpPr>
        <p:spPr>
          <a:xfrm>
            <a:off x="10942204" y="6481737"/>
            <a:ext cx="1217443"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architrino.com</a:t>
            </a:r>
          </a:p>
        </p:txBody>
      </p:sp>
    </p:spTree>
    <p:extLst>
      <p:ext uri="{BB962C8B-B14F-4D97-AF65-F5344CB8AC3E}">
        <ns3:creationId val="1392620348"/>
      </p:ext>
    </p:extLst>
  </p:cSld>
  <p:clrMapOvr>
    <a:masterClrMapping/>
  </p:clrMapOvr>
</p:sld>
</file>

<file path=ppt/slides/slide4.xml><?xml version="1.0" encoding="utf-8"?>
<p:sld xmlns:a="http://schemas.openxmlformats.org/drawingml/2006/main" xmlns:a16="http://schemas.microsoft.com/office/drawing/2014/main" xmlns:ns3="http://schemas.microsoft.com/office/powerpoint/2010/main"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882" name="Arc 881">
            <a:extLst>
              <a:ext uri="{FF2B5EF4-FFF2-40B4-BE49-F238E27FC236}">
                <a16:creationId id="{FC15BCD7-61F1-F280-B291-6D3C7FB4ADD0}"/>
              </a:ext>
            </a:extLst>
          </p:cNvPr>
          <p:cNvSpPr/>
          <p:nvPr/>
        </p:nvSpPr>
        <p:spPr>
          <a:xfrm>
            <a:off x="1012393" y="1983959"/>
            <a:ext cx="99680" cy="99680"/>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3" name="Arc 882">
            <a:extLst>
              <a:ext uri="{FF2B5EF4-FFF2-40B4-BE49-F238E27FC236}">
                <a16:creationId id="{C409198E-9FF1-9934-214B-CB1AE9BF1CA6}"/>
              </a:ext>
            </a:extLst>
          </p:cNvPr>
          <p:cNvSpPr/>
          <p:nvPr/>
        </p:nvSpPr>
        <p:spPr>
          <a:xfrm rot="10800000">
            <a:off x="1012393" y="1983959"/>
            <a:ext cx="99680" cy="99680"/>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0" name="Arc 879">
            <a:extLst>
              <a:ext uri="{FF2B5EF4-FFF2-40B4-BE49-F238E27FC236}">
                <a16:creationId id="{4F3C1EC7-6A00-1E0E-5587-84A4B83927BD}"/>
              </a:ext>
            </a:extLst>
          </p:cNvPr>
          <p:cNvSpPr/>
          <p:nvPr/>
        </p:nvSpPr>
        <p:spPr>
          <a:xfrm rot="14400000">
            <a:off x="991719" y="1963285"/>
            <a:ext cx="141029" cy="141029"/>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1" name="Arc 880">
            <a:extLst>
              <a:ext uri="{FF2B5EF4-FFF2-40B4-BE49-F238E27FC236}">
                <a16:creationId id="{1ADBB78A-3E70-4A44-59BC-3AB4D23B434B}"/>
              </a:ext>
            </a:extLst>
          </p:cNvPr>
          <p:cNvSpPr/>
          <p:nvPr/>
        </p:nvSpPr>
        <p:spPr>
          <a:xfrm rot="3600000">
            <a:off x="991719" y="1963285"/>
            <a:ext cx="141029" cy="141029"/>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8" name="Arc 877">
            <a:extLst>
              <a:ext uri="{FF2B5EF4-FFF2-40B4-BE49-F238E27FC236}">
                <a16:creationId id="{06F449CB-794E-5ADB-7CF6-72C5F8B76E92}"/>
              </a:ext>
            </a:extLst>
          </p:cNvPr>
          <p:cNvSpPr/>
          <p:nvPr/>
        </p:nvSpPr>
        <p:spPr>
          <a:xfrm rot="7200000">
            <a:off x="970793" y="1942358"/>
            <a:ext cx="182880" cy="182880"/>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9" name="Arc 878">
            <a:extLst>
              <a:ext uri="{FF2B5EF4-FFF2-40B4-BE49-F238E27FC236}">
                <a16:creationId id="{B36B7510-1BFA-36CB-A0DD-1FA558F7B120}"/>
              </a:ext>
            </a:extLst>
          </p:cNvPr>
          <p:cNvSpPr/>
          <p:nvPr/>
        </p:nvSpPr>
        <p:spPr>
          <a:xfrm rot="18000000">
            <a:off x="970793" y="1942358"/>
            <a:ext cx="182880" cy="182880"/>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le 4">
            <a:extLst>
              <a:ext uri="{FF2B5EF4-FFF2-40B4-BE49-F238E27FC236}">
                <a16:creationId id="{7C5ACA46-7BDC-F97A-021D-407AA155B145}"/>
              </a:ext>
            </a:extLst>
          </p:cNvPr>
          <p:cNvSpPr txBox="1">
            <a:spLocks/>
          </p:cNvSpPr>
          <p:nvPr/>
        </p:nvSpPr>
        <p:spPr>
          <a:xfrm>
            <a:off x="724738" y="278398"/>
            <a:ext cx="10854481" cy="989620"/>
          </a:xfrm>
          <a:prstGeom prst="rect">
            <a:avLst/>
          </a:prstGeom>
          <a:noFill/>
          <a:ln>
            <a:noFill/>
          </a:ln>
        </p:spPr>
        <p:txBody>
          <a:bodyPr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Tri Binaries Scale and are “Cloaked”</a:t>
            </a:r>
          </a:p>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(Superposition, Frequency, Emission = q/v)</a:t>
            </a:r>
          </a:p>
        </p:txBody>
      </p:sp>
      <p:sp>
        <p:nvSpPr>
          <p:cNvPr id="13" name="Arc 12">
            <a:extLst>
              <a:ext uri="{FF2B5EF4-FFF2-40B4-BE49-F238E27FC236}">
                <a16:creationId id="{20AF1D60-E2A9-92E9-F7B7-3978E3A4D1DA}"/>
              </a:ext>
            </a:extLst>
          </p:cNvPr>
          <p:cNvSpPr/>
          <p:nvPr/>
        </p:nvSpPr>
        <p:spPr>
          <a:xfrm>
            <a:off x="3413558" y="1859361"/>
            <a:ext cx="348882" cy="348882"/>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Arc 13">
            <a:extLst>
              <a:ext uri="{FF2B5EF4-FFF2-40B4-BE49-F238E27FC236}">
                <a16:creationId id="{1EE8DFE3-9774-B3E7-F4E6-55E47877ECA6}"/>
              </a:ext>
            </a:extLst>
          </p:cNvPr>
          <p:cNvSpPr/>
          <p:nvPr/>
        </p:nvSpPr>
        <p:spPr>
          <a:xfrm rot="10800000">
            <a:off x="3413558" y="1859361"/>
            <a:ext cx="348882" cy="348882"/>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Arc 10">
            <a:extLst>
              <a:ext uri="{FF2B5EF4-FFF2-40B4-BE49-F238E27FC236}">
                <a16:creationId id="{7049C8F0-28D5-3E07-9D82-9670E04BEDC1}"/>
              </a:ext>
            </a:extLst>
          </p:cNvPr>
          <p:cNvSpPr/>
          <p:nvPr/>
        </p:nvSpPr>
        <p:spPr>
          <a:xfrm rot="14400000">
            <a:off x="3341198" y="1787001"/>
            <a:ext cx="493603" cy="493603"/>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Arc 11">
            <a:extLst>
              <a:ext uri="{FF2B5EF4-FFF2-40B4-BE49-F238E27FC236}">
                <a16:creationId id="{349A0666-017B-F5D7-43B2-D11023AC7C26}"/>
              </a:ext>
            </a:extLst>
          </p:cNvPr>
          <p:cNvSpPr/>
          <p:nvPr/>
        </p:nvSpPr>
        <p:spPr>
          <a:xfrm rot="3600000">
            <a:off x="3341198" y="1787001"/>
            <a:ext cx="493603" cy="493603"/>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Arc 8">
            <a:extLst>
              <a:ext uri="{FF2B5EF4-FFF2-40B4-BE49-F238E27FC236}">
                <a16:creationId id="{A7C07429-12D5-433B-A3D2-07C905013D6D}"/>
              </a:ext>
            </a:extLst>
          </p:cNvPr>
          <p:cNvSpPr/>
          <p:nvPr/>
        </p:nvSpPr>
        <p:spPr>
          <a:xfrm rot="7200000">
            <a:off x="3267958" y="1713758"/>
            <a:ext cx="640080" cy="640080"/>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Arc 9">
            <a:extLst>
              <a:ext uri="{FF2B5EF4-FFF2-40B4-BE49-F238E27FC236}">
                <a16:creationId id="{66051411-8C85-E2D9-1E91-7F0E5813AB0C}"/>
              </a:ext>
            </a:extLst>
          </p:cNvPr>
          <p:cNvSpPr/>
          <p:nvPr/>
        </p:nvSpPr>
        <p:spPr>
          <a:xfrm rot="18000000">
            <a:off x="3267958" y="1713758"/>
            <a:ext cx="640080" cy="640080"/>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Arc 22">
            <a:extLst>
              <a:ext uri="{FF2B5EF4-FFF2-40B4-BE49-F238E27FC236}">
                <a16:creationId id="{DC076570-F758-AD57-F467-DBF409D6EA66}"/>
              </a:ext>
            </a:extLst>
          </p:cNvPr>
          <p:cNvSpPr/>
          <p:nvPr/>
        </p:nvSpPr>
        <p:spPr>
          <a:xfrm>
            <a:off x="1309746" y="1959039"/>
            <a:ext cx="149521" cy="149521"/>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Arc 23">
            <a:extLst>
              <a:ext uri="{FF2B5EF4-FFF2-40B4-BE49-F238E27FC236}">
                <a16:creationId id="{38015C71-F26F-E649-2892-5AD30311C9BB}"/>
              </a:ext>
            </a:extLst>
          </p:cNvPr>
          <p:cNvSpPr/>
          <p:nvPr/>
        </p:nvSpPr>
        <p:spPr>
          <a:xfrm rot="10800000">
            <a:off x="1309746" y="1959039"/>
            <a:ext cx="149521" cy="149521"/>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Arc 20">
            <a:extLst>
              <a:ext uri="{FF2B5EF4-FFF2-40B4-BE49-F238E27FC236}">
                <a16:creationId id="{16F0EF73-DD83-530D-E45F-77029AF124FA}"/>
              </a:ext>
            </a:extLst>
          </p:cNvPr>
          <p:cNvSpPr/>
          <p:nvPr/>
        </p:nvSpPr>
        <p:spPr>
          <a:xfrm rot="14400000">
            <a:off x="1278734" y="1928028"/>
            <a:ext cx="211544" cy="211544"/>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Arc 21">
            <a:extLst>
              <a:ext uri="{FF2B5EF4-FFF2-40B4-BE49-F238E27FC236}">
                <a16:creationId id="{16CDEC78-0238-7556-F8CE-FCA1F5523779}"/>
              </a:ext>
            </a:extLst>
          </p:cNvPr>
          <p:cNvSpPr/>
          <p:nvPr/>
        </p:nvSpPr>
        <p:spPr>
          <a:xfrm rot="3600000">
            <a:off x="1278734" y="1928028"/>
            <a:ext cx="211544" cy="211544"/>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Arc 18">
            <a:extLst>
              <a:ext uri="{FF2B5EF4-FFF2-40B4-BE49-F238E27FC236}">
                <a16:creationId id="{A1031EC1-4722-AF6A-E19E-DDD837130F83}"/>
              </a:ext>
            </a:extLst>
          </p:cNvPr>
          <p:cNvSpPr/>
          <p:nvPr/>
        </p:nvSpPr>
        <p:spPr>
          <a:xfrm rot="7200000">
            <a:off x="1247346" y="1896638"/>
            <a:ext cx="274320" cy="274320"/>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Arc 19">
            <a:extLst>
              <a:ext uri="{FF2B5EF4-FFF2-40B4-BE49-F238E27FC236}">
                <a16:creationId id="{83D229D3-5C8C-9697-70B9-5000E3D56681}"/>
              </a:ext>
            </a:extLst>
          </p:cNvPr>
          <p:cNvSpPr/>
          <p:nvPr/>
        </p:nvSpPr>
        <p:spPr>
          <a:xfrm rot="18000000">
            <a:off x="1247346" y="1896638"/>
            <a:ext cx="274320" cy="274320"/>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Arc 32">
            <a:extLst>
              <a:ext uri="{FF2B5EF4-FFF2-40B4-BE49-F238E27FC236}">
                <a16:creationId id="{004DFF05-27B5-CF27-A278-96C25BA0EE39}"/>
              </a:ext>
            </a:extLst>
          </p:cNvPr>
          <p:cNvSpPr/>
          <p:nvPr/>
        </p:nvSpPr>
        <p:spPr>
          <a:xfrm>
            <a:off x="1698539" y="1934120"/>
            <a:ext cx="199361" cy="199361"/>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Arc 33">
            <a:extLst>
              <a:ext uri="{FF2B5EF4-FFF2-40B4-BE49-F238E27FC236}">
                <a16:creationId id="{03221FF9-3140-1477-132D-D8658354A551}"/>
              </a:ext>
            </a:extLst>
          </p:cNvPr>
          <p:cNvSpPr/>
          <p:nvPr/>
        </p:nvSpPr>
        <p:spPr>
          <a:xfrm rot="10800000">
            <a:off x="1698539" y="1934120"/>
            <a:ext cx="199361" cy="199361"/>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Arc 30">
            <a:extLst>
              <a:ext uri="{FF2B5EF4-FFF2-40B4-BE49-F238E27FC236}">
                <a16:creationId id="{3604387D-448C-E5F6-9015-5522773A904A}"/>
              </a:ext>
            </a:extLst>
          </p:cNvPr>
          <p:cNvSpPr/>
          <p:nvPr/>
        </p:nvSpPr>
        <p:spPr>
          <a:xfrm rot="14400000">
            <a:off x="1657190" y="1892771"/>
            <a:ext cx="282059" cy="282059"/>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Arc 31">
            <a:extLst>
              <a:ext uri="{FF2B5EF4-FFF2-40B4-BE49-F238E27FC236}">
                <a16:creationId id="{E7D37BFE-A1EE-BFE7-8B4E-6040F5C4036D}"/>
              </a:ext>
            </a:extLst>
          </p:cNvPr>
          <p:cNvSpPr/>
          <p:nvPr/>
        </p:nvSpPr>
        <p:spPr>
          <a:xfrm rot="3600000">
            <a:off x="1657190" y="1892771"/>
            <a:ext cx="282059" cy="282059"/>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Arc 28">
            <a:extLst>
              <a:ext uri="{FF2B5EF4-FFF2-40B4-BE49-F238E27FC236}">
                <a16:creationId id="{B2E14F30-C459-EF7E-93D2-950CD4356948}"/>
              </a:ext>
            </a:extLst>
          </p:cNvPr>
          <p:cNvSpPr/>
          <p:nvPr/>
        </p:nvSpPr>
        <p:spPr>
          <a:xfrm rot="7200000">
            <a:off x="1615339" y="1850918"/>
            <a:ext cx="365760" cy="365760"/>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Arc 29">
            <a:extLst>
              <a:ext uri="{FF2B5EF4-FFF2-40B4-BE49-F238E27FC236}">
                <a16:creationId id="{8E3DDEE3-514E-5A9B-A776-CC33BF746A31}"/>
              </a:ext>
            </a:extLst>
          </p:cNvPr>
          <p:cNvSpPr/>
          <p:nvPr/>
        </p:nvSpPr>
        <p:spPr>
          <a:xfrm rot="18000000">
            <a:off x="1615339" y="1850918"/>
            <a:ext cx="365760" cy="365760"/>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Arc 42">
            <a:extLst>
              <a:ext uri="{FF2B5EF4-FFF2-40B4-BE49-F238E27FC236}">
                <a16:creationId id="{55C02498-066D-36C2-615D-C788EA992A92}"/>
              </a:ext>
            </a:extLst>
          </p:cNvPr>
          <p:cNvSpPr/>
          <p:nvPr/>
        </p:nvSpPr>
        <p:spPr>
          <a:xfrm>
            <a:off x="2178772" y="1909200"/>
            <a:ext cx="249201" cy="249201"/>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Arc 43">
            <a:extLst>
              <a:ext uri="{FF2B5EF4-FFF2-40B4-BE49-F238E27FC236}">
                <a16:creationId id="{C510E530-0022-D8DA-9EC8-52DF9D5F8146}"/>
              </a:ext>
            </a:extLst>
          </p:cNvPr>
          <p:cNvSpPr/>
          <p:nvPr/>
        </p:nvSpPr>
        <p:spPr>
          <a:xfrm rot="10800000">
            <a:off x="2178772" y="1909200"/>
            <a:ext cx="249201" cy="249201"/>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Arc 40">
            <a:extLst>
              <a:ext uri="{FF2B5EF4-FFF2-40B4-BE49-F238E27FC236}">
                <a16:creationId id="{A8C5A661-F163-5216-998B-DC376C8C17A0}"/>
              </a:ext>
            </a:extLst>
          </p:cNvPr>
          <p:cNvSpPr/>
          <p:nvPr/>
        </p:nvSpPr>
        <p:spPr>
          <a:xfrm rot="14400000">
            <a:off x="2127086" y="1857514"/>
            <a:ext cx="352573" cy="352573"/>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Arc 41">
            <a:extLst>
              <a:ext uri="{FF2B5EF4-FFF2-40B4-BE49-F238E27FC236}">
                <a16:creationId id="{E327469A-DC1C-B06B-BBDB-37C85EE67940}"/>
              </a:ext>
            </a:extLst>
          </p:cNvPr>
          <p:cNvSpPr/>
          <p:nvPr/>
        </p:nvSpPr>
        <p:spPr>
          <a:xfrm rot="3600000">
            <a:off x="2127086" y="1857514"/>
            <a:ext cx="352573" cy="352573"/>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Arc 38">
            <a:extLst>
              <a:ext uri="{FF2B5EF4-FFF2-40B4-BE49-F238E27FC236}">
                <a16:creationId id="{FD1D82EA-71C3-96C6-0E2E-3A7733467ED4}"/>
              </a:ext>
            </a:extLst>
          </p:cNvPr>
          <p:cNvSpPr/>
          <p:nvPr/>
        </p:nvSpPr>
        <p:spPr>
          <a:xfrm rot="7200000">
            <a:off x="2074772" y="1805198"/>
            <a:ext cx="457200" cy="457200"/>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Arc 39">
            <a:extLst>
              <a:ext uri="{FF2B5EF4-FFF2-40B4-BE49-F238E27FC236}">
                <a16:creationId id="{00889E94-6AD8-1B92-89B0-50C2EA7A3206}"/>
              </a:ext>
            </a:extLst>
          </p:cNvPr>
          <p:cNvSpPr/>
          <p:nvPr/>
        </p:nvSpPr>
        <p:spPr>
          <a:xfrm rot="18000000">
            <a:off x="2074772" y="1805198"/>
            <a:ext cx="457200" cy="457200"/>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Arc 52">
            <a:extLst>
              <a:ext uri="{FF2B5EF4-FFF2-40B4-BE49-F238E27FC236}">
                <a16:creationId id="{2BFCACC8-2194-B033-02B2-34D9934F9051}"/>
              </a:ext>
            </a:extLst>
          </p:cNvPr>
          <p:cNvSpPr/>
          <p:nvPr/>
        </p:nvSpPr>
        <p:spPr>
          <a:xfrm>
            <a:off x="2750445" y="1884281"/>
            <a:ext cx="299041" cy="299041"/>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Arc 53">
            <a:extLst>
              <a:ext uri="{FF2B5EF4-FFF2-40B4-BE49-F238E27FC236}">
                <a16:creationId id="{CC812B6D-9F86-D5E6-C47B-1FEFA28F90AE}"/>
              </a:ext>
            </a:extLst>
          </p:cNvPr>
          <p:cNvSpPr/>
          <p:nvPr/>
        </p:nvSpPr>
        <p:spPr>
          <a:xfrm rot="10800000">
            <a:off x="2750445" y="1884281"/>
            <a:ext cx="299041" cy="299041"/>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Arc 50">
            <a:extLst>
              <a:ext uri="{FF2B5EF4-FFF2-40B4-BE49-F238E27FC236}">
                <a16:creationId id="{4489DB90-53CC-4F5E-469E-A2FAC10E5983}"/>
              </a:ext>
            </a:extLst>
          </p:cNvPr>
          <p:cNvSpPr/>
          <p:nvPr/>
        </p:nvSpPr>
        <p:spPr>
          <a:xfrm rot="14400000">
            <a:off x="2688422" y="1822258"/>
            <a:ext cx="423088" cy="423088"/>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Arc 51">
            <a:extLst>
              <a:ext uri="{FF2B5EF4-FFF2-40B4-BE49-F238E27FC236}">
                <a16:creationId id="{5617BA55-E203-B765-5854-24BC2E912FB6}"/>
              </a:ext>
            </a:extLst>
          </p:cNvPr>
          <p:cNvSpPr/>
          <p:nvPr/>
        </p:nvSpPr>
        <p:spPr>
          <a:xfrm rot="3600000">
            <a:off x="2688422" y="1822258"/>
            <a:ext cx="423088" cy="423088"/>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Arc 48">
            <a:extLst>
              <a:ext uri="{FF2B5EF4-FFF2-40B4-BE49-F238E27FC236}">
                <a16:creationId id="{8EC54BFC-7044-2AFA-943B-953ADD30A45F}"/>
              </a:ext>
            </a:extLst>
          </p:cNvPr>
          <p:cNvSpPr/>
          <p:nvPr/>
        </p:nvSpPr>
        <p:spPr>
          <a:xfrm rot="7200000">
            <a:off x="2625645" y="1759478"/>
            <a:ext cx="548640" cy="548640"/>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Arc 49">
            <a:extLst>
              <a:ext uri="{FF2B5EF4-FFF2-40B4-BE49-F238E27FC236}">
                <a16:creationId id="{A5B44A5A-486C-A508-F475-1C34DA727A04}"/>
              </a:ext>
            </a:extLst>
          </p:cNvPr>
          <p:cNvSpPr/>
          <p:nvPr/>
        </p:nvSpPr>
        <p:spPr>
          <a:xfrm rot="18000000">
            <a:off x="2625645" y="1759478"/>
            <a:ext cx="548640" cy="548640"/>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Arc 62">
            <a:extLst>
              <a:ext uri="{FF2B5EF4-FFF2-40B4-BE49-F238E27FC236}">
                <a16:creationId id="{DA570CE9-D1A4-8587-F0C8-BA1467A8D526}"/>
              </a:ext>
            </a:extLst>
          </p:cNvPr>
          <p:cNvSpPr/>
          <p:nvPr/>
        </p:nvSpPr>
        <p:spPr>
          <a:xfrm>
            <a:off x="4168111" y="1834442"/>
            <a:ext cx="398722" cy="398722"/>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89" name="Arc 988">
            <a:extLst>
              <a:ext uri="{FF2B5EF4-FFF2-40B4-BE49-F238E27FC236}">
                <a16:creationId id="{36871A95-8292-38BE-3C56-B5414C6A701A}"/>
              </a:ext>
            </a:extLst>
          </p:cNvPr>
          <p:cNvSpPr/>
          <p:nvPr/>
        </p:nvSpPr>
        <p:spPr>
          <a:xfrm rot="10800000">
            <a:off x="4168111" y="1834442"/>
            <a:ext cx="398722" cy="398722"/>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 name="Arc 60">
            <a:extLst>
              <a:ext uri="{FF2B5EF4-FFF2-40B4-BE49-F238E27FC236}">
                <a16:creationId id="{778CD6A6-C6B4-2299-4434-BD61F6377550}"/>
              </a:ext>
            </a:extLst>
          </p:cNvPr>
          <p:cNvSpPr/>
          <p:nvPr/>
        </p:nvSpPr>
        <p:spPr>
          <a:xfrm rot="14400000">
            <a:off x="4085413" y="1751744"/>
            <a:ext cx="564117" cy="564117"/>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Arc 61">
            <a:extLst>
              <a:ext uri="{FF2B5EF4-FFF2-40B4-BE49-F238E27FC236}">
                <a16:creationId id="{92F2F074-749F-7874-5DDE-1447672B3314}"/>
              </a:ext>
            </a:extLst>
          </p:cNvPr>
          <p:cNvSpPr/>
          <p:nvPr/>
        </p:nvSpPr>
        <p:spPr>
          <a:xfrm rot="3600000">
            <a:off x="4085413" y="1751744"/>
            <a:ext cx="564117" cy="564117"/>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Arc 58">
            <a:extLst>
              <a:ext uri="{FF2B5EF4-FFF2-40B4-BE49-F238E27FC236}">
                <a16:creationId id="{3A9CD413-1857-E8BF-5D77-0E1456960D9F}"/>
              </a:ext>
            </a:extLst>
          </p:cNvPr>
          <p:cNvSpPr/>
          <p:nvPr/>
        </p:nvSpPr>
        <p:spPr>
          <a:xfrm rot="7200000">
            <a:off x="4001711" y="1668038"/>
            <a:ext cx="731520" cy="731520"/>
          </a:xfrm>
          <a:prstGeom prst="arc">
            <a:avLst>
              <a:gd name="adj1" fmla="val 16980644"/>
              <a:gd name="adj2" fmla="val 5405383"/>
            </a:avLst>
          </a:prstGeom>
          <a:ln w="12700" cap="rnd">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Arc 59">
            <a:extLst>
              <a:ext uri="{FF2B5EF4-FFF2-40B4-BE49-F238E27FC236}">
                <a16:creationId id="{4EDE69B6-B2F9-E7D6-B0D8-824DEEC80E52}"/>
              </a:ext>
            </a:extLst>
          </p:cNvPr>
          <p:cNvSpPr/>
          <p:nvPr/>
        </p:nvSpPr>
        <p:spPr>
          <a:xfrm rot="18000000">
            <a:off x="4001711" y="1668038"/>
            <a:ext cx="731520" cy="731520"/>
          </a:xfrm>
          <a:prstGeom prst="arc">
            <a:avLst>
              <a:gd name="adj1" fmla="val 17194449"/>
              <a:gd name="adj2" fmla="val 5405383"/>
            </a:avLst>
          </a:prstGeom>
          <a:ln w="12700" cap="rnd">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98" name="Arc 997">
            <a:extLst>
              <a:ext uri="{FF2B5EF4-FFF2-40B4-BE49-F238E27FC236}">
                <a16:creationId id="{78649D63-2ECB-4C9E-4544-7A96B5E8DB9A}"/>
              </a:ext>
            </a:extLst>
          </p:cNvPr>
          <p:cNvSpPr/>
          <p:nvPr/>
        </p:nvSpPr>
        <p:spPr>
          <a:xfrm>
            <a:off x="5014104" y="1809522"/>
            <a:ext cx="448562" cy="448562"/>
          </a:xfrm>
          <a:prstGeom prst="arc">
            <a:avLst>
              <a:gd name="adj1" fmla="val 16980644"/>
              <a:gd name="adj2" fmla="val 5405383"/>
            </a:avLst>
          </a:prstGeom>
          <a:ln w="12700" cap="rnd">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99" name="Arc 998">
            <a:extLst>
              <a:ext uri="{FF2B5EF4-FFF2-40B4-BE49-F238E27FC236}">
                <a16:creationId id="{895B6E9E-69D8-915A-8F50-8BE06BE3177D}"/>
              </a:ext>
            </a:extLst>
          </p:cNvPr>
          <p:cNvSpPr/>
          <p:nvPr/>
        </p:nvSpPr>
        <p:spPr>
          <a:xfrm rot="10800000">
            <a:off x="5014104" y="1809522"/>
            <a:ext cx="448562" cy="448562"/>
          </a:xfrm>
          <a:prstGeom prst="arc">
            <a:avLst>
              <a:gd name="adj1" fmla="val 17194449"/>
              <a:gd name="adj2" fmla="val 5405383"/>
            </a:avLst>
          </a:prstGeom>
          <a:ln w="12700" cap="rnd">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96" name="Arc 995">
            <a:extLst>
              <a:ext uri="{FF2B5EF4-FFF2-40B4-BE49-F238E27FC236}">
                <a16:creationId id="{F83541B4-8918-3EB9-2951-02C7B5354430}"/>
              </a:ext>
            </a:extLst>
          </p:cNvPr>
          <p:cNvSpPr/>
          <p:nvPr/>
        </p:nvSpPr>
        <p:spPr>
          <a:xfrm rot="14400000">
            <a:off x="4921069" y="1716487"/>
            <a:ext cx="634632" cy="634632"/>
          </a:xfrm>
          <a:prstGeom prst="arc">
            <a:avLst>
              <a:gd name="adj1" fmla="val 16980644"/>
              <a:gd name="adj2" fmla="val 5405383"/>
            </a:avLst>
          </a:prstGeom>
          <a:ln w="12700" cap="rnd">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97" name="Arc 996">
            <a:extLst>
              <a:ext uri="{FF2B5EF4-FFF2-40B4-BE49-F238E27FC236}">
                <a16:creationId id="{956E4016-D593-6C37-3A2C-197A5B2DEFE6}"/>
              </a:ext>
            </a:extLst>
          </p:cNvPr>
          <p:cNvSpPr/>
          <p:nvPr/>
        </p:nvSpPr>
        <p:spPr>
          <a:xfrm rot="3600000">
            <a:off x="4921069" y="1716487"/>
            <a:ext cx="634632" cy="634632"/>
          </a:xfrm>
          <a:prstGeom prst="arc">
            <a:avLst>
              <a:gd name="adj1" fmla="val 17194449"/>
              <a:gd name="adj2" fmla="val 5405383"/>
            </a:avLst>
          </a:prstGeom>
          <a:ln w="12700" cap="rnd">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94" name="Arc 993">
            <a:extLst>
              <a:ext uri="{FF2B5EF4-FFF2-40B4-BE49-F238E27FC236}">
                <a16:creationId id="{0E5789AA-2FCF-40B9-1B0D-A98846D54031}"/>
              </a:ext>
            </a:extLst>
          </p:cNvPr>
          <p:cNvSpPr/>
          <p:nvPr/>
        </p:nvSpPr>
        <p:spPr>
          <a:xfrm rot="7200000">
            <a:off x="4826904" y="1622318"/>
            <a:ext cx="822960" cy="822960"/>
          </a:xfrm>
          <a:prstGeom prst="arc">
            <a:avLst>
              <a:gd name="adj1" fmla="val 16980644"/>
              <a:gd name="adj2" fmla="val 5405383"/>
            </a:avLst>
          </a:prstGeom>
          <a:ln w="12700" cap="rnd">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95" name="Arc 994">
            <a:extLst>
              <a:ext uri="{FF2B5EF4-FFF2-40B4-BE49-F238E27FC236}">
                <a16:creationId id="{7769ECA1-C383-65FE-8E1B-63AF76DA67C9}"/>
              </a:ext>
            </a:extLst>
          </p:cNvPr>
          <p:cNvSpPr/>
          <p:nvPr/>
        </p:nvSpPr>
        <p:spPr>
          <a:xfrm rot="18000000">
            <a:off x="4826904" y="1622318"/>
            <a:ext cx="822960" cy="822960"/>
          </a:xfrm>
          <a:prstGeom prst="arc">
            <a:avLst>
              <a:gd name="adj1" fmla="val 17194449"/>
              <a:gd name="adj2" fmla="val 5405383"/>
            </a:avLst>
          </a:prstGeom>
          <a:ln w="12700" cap="rnd">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8" name="Arc 1007">
            <a:extLst>
              <a:ext uri="{FF2B5EF4-FFF2-40B4-BE49-F238E27FC236}">
                <a16:creationId id="{978B6393-8023-3F86-C8F1-D641BA898172}"/>
              </a:ext>
            </a:extLst>
          </p:cNvPr>
          <p:cNvSpPr/>
          <p:nvPr/>
        </p:nvSpPr>
        <p:spPr>
          <a:xfrm>
            <a:off x="5951537" y="1784603"/>
            <a:ext cx="498402" cy="498402"/>
          </a:xfrm>
          <a:prstGeom prst="arc">
            <a:avLst>
              <a:gd name="adj1" fmla="val 16980644"/>
              <a:gd name="adj2" fmla="val 5405383"/>
            </a:avLst>
          </a:prstGeom>
          <a:ln w="12700" cap="rnd">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9" name="Arc 1008">
            <a:extLst>
              <a:ext uri="{FF2B5EF4-FFF2-40B4-BE49-F238E27FC236}">
                <a16:creationId id="{4B4C9990-53D9-3DC7-4998-3169BD5D070E}"/>
              </a:ext>
            </a:extLst>
          </p:cNvPr>
          <p:cNvSpPr/>
          <p:nvPr/>
        </p:nvSpPr>
        <p:spPr>
          <a:xfrm rot="10800000">
            <a:off x="5951537" y="1784603"/>
            <a:ext cx="498402" cy="498402"/>
          </a:xfrm>
          <a:prstGeom prst="arc">
            <a:avLst>
              <a:gd name="adj1" fmla="val 17194449"/>
              <a:gd name="adj2" fmla="val 5405383"/>
            </a:avLst>
          </a:prstGeom>
          <a:ln w="12700" cap="rnd">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6" name="Arc 1005">
            <a:extLst>
              <a:ext uri="{FF2B5EF4-FFF2-40B4-BE49-F238E27FC236}">
                <a16:creationId id="{C91FE4D5-2B5E-CB6B-D0B1-DD4AA7530FE3}"/>
              </a:ext>
            </a:extLst>
          </p:cNvPr>
          <p:cNvSpPr/>
          <p:nvPr/>
        </p:nvSpPr>
        <p:spPr>
          <a:xfrm rot="14400000">
            <a:off x="5848165" y="1681231"/>
            <a:ext cx="705147" cy="705147"/>
          </a:xfrm>
          <a:prstGeom prst="arc">
            <a:avLst>
              <a:gd name="adj1" fmla="val 16980644"/>
              <a:gd name="adj2" fmla="val 5405383"/>
            </a:avLst>
          </a:prstGeom>
          <a:ln w="12700" cap="rnd">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7" name="Arc 1006">
            <a:extLst>
              <a:ext uri="{FF2B5EF4-FFF2-40B4-BE49-F238E27FC236}">
                <a16:creationId id="{91F03B8D-8180-8BA3-3E84-E5428E8991D4}"/>
              </a:ext>
            </a:extLst>
          </p:cNvPr>
          <p:cNvSpPr/>
          <p:nvPr/>
        </p:nvSpPr>
        <p:spPr>
          <a:xfrm rot="3600000">
            <a:off x="5848165" y="1681231"/>
            <a:ext cx="705147" cy="705147"/>
          </a:xfrm>
          <a:prstGeom prst="arc">
            <a:avLst>
              <a:gd name="adj1" fmla="val 17194449"/>
              <a:gd name="adj2" fmla="val 5405383"/>
            </a:avLst>
          </a:prstGeom>
          <a:ln w="12700" cap="rnd">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4" name="Arc 1003">
            <a:extLst>
              <a:ext uri="{FF2B5EF4-FFF2-40B4-BE49-F238E27FC236}">
                <a16:creationId id="{5FAE1C5D-0B15-8BAA-B445-493CF3066964}"/>
              </a:ext>
            </a:extLst>
          </p:cNvPr>
          <p:cNvSpPr/>
          <p:nvPr/>
        </p:nvSpPr>
        <p:spPr>
          <a:xfrm rot="7200000">
            <a:off x="5743537" y="1576598"/>
            <a:ext cx="914400" cy="914400"/>
          </a:xfrm>
          <a:prstGeom prst="arc">
            <a:avLst>
              <a:gd name="adj1" fmla="val 16980644"/>
              <a:gd name="adj2" fmla="val 5405383"/>
            </a:avLst>
          </a:prstGeom>
          <a:ln w="12700" cap="rnd">
            <a:gradFill>
              <a:gsLst>
                <a:gs pos="0">
                  <a:schemeClr val="bg1"/>
                </a:gs>
                <a:gs pos="91000">
                  <a:srgbClr val="0070C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5" name="Arc 1004">
            <a:extLst>
              <a:ext uri="{FF2B5EF4-FFF2-40B4-BE49-F238E27FC236}">
                <a16:creationId id="{A8867B60-8ACC-A21A-3B1B-7C895252D6CD}"/>
              </a:ext>
            </a:extLst>
          </p:cNvPr>
          <p:cNvSpPr/>
          <p:nvPr/>
        </p:nvSpPr>
        <p:spPr>
          <a:xfrm rot="18000000">
            <a:off x="5743537" y="1576598"/>
            <a:ext cx="914400" cy="914400"/>
          </a:xfrm>
          <a:prstGeom prst="arc">
            <a:avLst>
              <a:gd name="adj1" fmla="val 17194449"/>
              <a:gd name="adj2" fmla="val 5405383"/>
            </a:avLst>
          </a:prstGeom>
          <a:ln w="12700" cap="rnd">
            <a:gradFill>
              <a:gsLst>
                <a:gs pos="0">
                  <a:schemeClr val="bg1"/>
                </a:gs>
                <a:gs pos="86000">
                  <a:srgbClr val="FF000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8" name="Arc 1017">
            <a:extLst>
              <a:ext uri="{FF2B5EF4-FFF2-40B4-BE49-F238E27FC236}">
                <a16:creationId id="{1DF4F090-A72F-4A70-249C-F734DE682730}"/>
              </a:ext>
            </a:extLst>
          </p:cNvPr>
          <p:cNvSpPr/>
          <p:nvPr/>
        </p:nvSpPr>
        <p:spPr>
          <a:xfrm>
            <a:off x="6980410" y="1759683"/>
            <a:ext cx="548243" cy="548243"/>
          </a:xfrm>
          <a:prstGeom prst="arc">
            <a:avLst>
              <a:gd name="adj1" fmla="val 16980644"/>
              <a:gd name="adj2" fmla="val 5405383"/>
            </a:avLst>
          </a:prstGeom>
          <a:ln w="12700" cap="rnd">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9" name="Arc 1018">
            <a:extLst>
              <a:ext uri="{FF2B5EF4-FFF2-40B4-BE49-F238E27FC236}">
                <a16:creationId id="{0E4FAD39-4518-87CF-74D3-A8A2EE69D1FF}"/>
              </a:ext>
            </a:extLst>
          </p:cNvPr>
          <p:cNvSpPr/>
          <p:nvPr/>
        </p:nvSpPr>
        <p:spPr>
          <a:xfrm rot="10800000">
            <a:off x="6980410" y="1759683"/>
            <a:ext cx="548243" cy="548243"/>
          </a:xfrm>
          <a:prstGeom prst="arc">
            <a:avLst>
              <a:gd name="adj1" fmla="val 17194449"/>
              <a:gd name="adj2" fmla="val 5405383"/>
            </a:avLst>
          </a:prstGeom>
          <a:ln w="12700" cap="rnd">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6" name="Arc 1015">
            <a:extLst>
              <a:ext uri="{FF2B5EF4-FFF2-40B4-BE49-F238E27FC236}">
                <a16:creationId id="{B7DA9341-9C04-2070-792C-47B2E7E1270B}"/>
              </a:ext>
            </a:extLst>
          </p:cNvPr>
          <p:cNvSpPr/>
          <p:nvPr/>
        </p:nvSpPr>
        <p:spPr>
          <a:xfrm rot="14400000">
            <a:off x="6866701" y="1645974"/>
            <a:ext cx="775661" cy="775661"/>
          </a:xfrm>
          <a:prstGeom prst="arc">
            <a:avLst>
              <a:gd name="adj1" fmla="val 16980644"/>
              <a:gd name="adj2" fmla="val 5405383"/>
            </a:avLst>
          </a:prstGeom>
          <a:ln w="12700" cap="rnd">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7" name="Arc 1016">
            <a:extLst>
              <a:ext uri="{FF2B5EF4-FFF2-40B4-BE49-F238E27FC236}">
                <a16:creationId id="{ED83C225-FD47-EDD2-A919-C8649C49F1C7}"/>
              </a:ext>
            </a:extLst>
          </p:cNvPr>
          <p:cNvSpPr/>
          <p:nvPr/>
        </p:nvSpPr>
        <p:spPr>
          <a:xfrm rot="3600000">
            <a:off x="6866701" y="1645974"/>
            <a:ext cx="775661" cy="775661"/>
          </a:xfrm>
          <a:prstGeom prst="arc">
            <a:avLst>
              <a:gd name="adj1" fmla="val 17194449"/>
              <a:gd name="adj2" fmla="val 5405383"/>
            </a:avLst>
          </a:prstGeom>
          <a:ln w="12700" cap="rnd">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4" name="Arc 1013">
            <a:extLst>
              <a:ext uri="{FF2B5EF4-FFF2-40B4-BE49-F238E27FC236}">
                <a16:creationId id="{DF50CBCA-7FB9-A69A-68C4-F20FFB5F1892}"/>
              </a:ext>
            </a:extLst>
          </p:cNvPr>
          <p:cNvSpPr/>
          <p:nvPr/>
        </p:nvSpPr>
        <p:spPr>
          <a:xfrm rot="7200000">
            <a:off x="6751610" y="1530878"/>
            <a:ext cx="1005840" cy="1005840"/>
          </a:xfrm>
          <a:prstGeom prst="arc">
            <a:avLst>
              <a:gd name="adj1" fmla="val 16980644"/>
              <a:gd name="adj2" fmla="val 5405383"/>
            </a:avLst>
          </a:prstGeom>
          <a:ln w="12700" cap="rnd">
            <a:gradFill>
              <a:gsLst>
                <a:gs pos="0">
                  <a:schemeClr val="bg1"/>
                </a:gs>
                <a:gs pos="91000">
                  <a:srgbClr val="0070C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5" name="Arc 1014">
            <a:extLst>
              <a:ext uri="{FF2B5EF4-FFF2-40B4-BE49-F238E27FC236}">
                <a16:creationId id="{02820139-1C71-A542-8C76-E729F94B385C}"/>
              </a:ext>
            </a:extLst>
          </p:cNvPr>
          <p:cNvSpPr/>
          <p:nvPr/>
        </p:nvSpPr>
        <p:spPr>
          <a:xfrm rot="18000000">
            <a:off x="6751610" y="1530878"/>
            <a:ext cx="1005840" cy="1005840"/>
          </a:xfrm>
          <a:prstGeom prst="arc">
            <a:avLst>
              <a:gd name="adj1" fmla="val 17194449"/>
              <a:gd name="adj2" fmla="val 5405383"/>
            </a:avLst>
          </a:prstGeom>
          <a:ln w="12700" cap="rnd">
            <a:gradFill>
              <a:gsLst>
                <a:gs pos="0">
                  <a:schemeClr val="bg1"/>
                </a:gs>
                <a:gs pos="86000">
                  <a:srgbClr val="FF000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2" name="Arc 771">
            <a:extLst>
              <a:ext uri="{FF2B5EF4-FFF2-40B4-BE49-F238E27FC236}">
                <a16:creationId id="{95D80F65-395F-7755-9739-F81504D85E5F}"/>
              </a:ext>
            </a:extLst>
          </p:cNvPr>
          <p:cNvSpPr/>
          <p:nvPr/>
        </p:nvSpPr>
        <p:spPr>
          <a:xfrm>
            <a:off x="5198972" y="3112096"/>
            <a:ext cx="897124" cy="897124"/>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3" name="Arc 772">
            <a:extLst>
              <a:ext uri="{FF2B5EF4-FFF2-40B4-BE49-F238E27FC236}">
                <a16:creationId id="{1A11B5AC-5F95-B1E4-923D-B4F415A36B07}"/>
              </a:ext>
            </a:extLst>
          </p:cNvPr>
          <p:cNvSpPr/>
          <p:nvPr/>
        </p:nvSpPr>
        <p:spPr>
          <a:xfrm rot="10800000">
            <a:off x="5198972" y="3112096"/>
            <a:ext cx="897124" cy="897124"/>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0" name="Arc 769">
            <a:extLst>
              <a:ext uri="{FF2B5EF4-FFF2-40B4-BE49-F238E27FC236}">
                <a16:creationId id="{F8258244-F2CA-8479-9BAB-201BF1A43867}"/>
              </a:ext>
            </a:extLst>
          </p:cNvPr>
          <p:cNvSpPr/>
          <p:nvPr/>
        </p:nvSpPr>
        <p:spPr>
          <a:xfrm rot="14400000">
            <a:off x="5012902" y="2926026"/>
            <a:ext cx="1269264" cy="1269263"/>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1" name="Arc 770">
            <a:extLst>
              <a:ext uri="{FF2B5EF4-FFF2-40B4-BE49-F238E27FC236}">
                <a16:creationId id="{C0F0ED6E-FFCC-351B-A845-1FFF5941401F}"/>
              </a:ext>
            </a:extLst>
          </p:cNvPr>
          <p:cNvSpPr/>
          <p:nvPr/>
        </p:nvSpPr>
        <p:spPr>
          <a:xfrm rot="3600000">
            <a:off x="5012902" y="2926026"/>
            <a:ext cx="1269264" cy="1269263"/>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8" name="Arc 767">
            <a:extLst>
              <a:ext uri="{FF2B5EF4-FFF2-40B4-BE49-F238E27FC236}">
                <a16:creationId id="{6E9DDE38-002E-9538-D5A9-A94B1BF4BB88}"/>
              </a:ext>
            </a:extLst>
          </p:cNvPr>
          <p:cNvSpPr/>
          <p:nvPr/>
        </p:nvSpPr>
        <p:spPr>
          <a:xfrm rot="7200000">
            <a:off x="4824544" y="2737714"/>
            <a:ext cx="1645922" cy="1645920"/>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9" name="Arc 768">
            <a:extLst>
              <a:ext uri="{FF2B5EF4-FFF2-40B4-BE49-F238E27FC236}">
                <a16:creationId id="{34048815-59EE-95AB-ECAF-9740CE74C9D2}"/>
              </a:ext>
            </a:extLst>
          </p:cNvPr>
          <p:cNvSpPr/>
          <p:nvPr/>
        </p:nvSpPr>
        <p:spPr>
          <a:xfrm rot="18000000">
            <a:off x="4824558" y="2737704"/>
            <a:ext cx="1645922" cy="1645920"/>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82" name="Arc 781">
            <a:extLst>
              <a:ext uri="{FF2B5EF4-FFF2-40B4-BE49-F238E27FC236}">
                <a16:creationId id="{CDB85622-284E-E466-117E-955EC381DB7D}"/>
              </a:ext>
            </a:extLst>
          </p:cNvPr>
          <p:cNvSpPr/>
          <p:nvPr/>
        </p:nvSpPr>
        <p:spPr>
          <a:xfrm>
            <a:off x="7066500" y="3137036"/>
            <a:ext cx="847284" cy="847284"/>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3" name="Arc 782">
            <a:extLst>
              <a:ext uri="{FF2B5EF4-FFF2-40B4-BE49-F238E27FC236}">
                <a16:creationId id="{15229812-D6B5-4EFA-45E6-0AD94474BC29}"/>
              </a:ext>
            </a:extLst>
          </p:cNvPr>
          <p:cNvSpPr/>
          <p:nvPr/>
        </p:nvSpPr>
        <p:spPr>
          <a:xfrm rot="10800000">
            <a:off x="7066500" y="3137036"/>
            <a:ext cx="847284" cy="847284"/>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0" name="Arc 779">
            <a:extLst>
              <a:ext uri="{FF2B5EF4-FFF2-40B4-BE49-F238E27FC236}">
                <a16:creationId id="{4E0EC69D-4A6D-BEEE-8198-5538586B29A1}"/>
              </a:ext>
            </a:extLst>
          </p:cNvPr>
          <p:cNvSpPr/>
          <p:nvPr/>
        </p:nvSpPr>
        <p:spPr>
          <a:xfrm rot="14400000">
            <a:off x="6890767" y="2961303"/>
            <a:ext cx="1198749" cy="1198749"/>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1" name="Arc 780">
            <a:extLst>
              <a:ext uri="{FF2B5EF4-FFF2-40B4-BE49-F238E27FC236}">
                <a16:creationId id="{5CD73F72-BFA1-9AC0-49C9-5F90C7726D66}"/>
              </a:ext>
            </a:extLst>
          </p:cNvPr>
          <p:cNvSpPr/>
          <p:nvPr/>
        </p:nvSpPr>
        <p:spPr>
          <a:xfrm rot="3600000">
            <a:off x="6890767" y="2961303"/>
            <a:ext cx="1198749" cy="1198749"/>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8" name="Arc 777">
            <a:extLst>
              <a:ext uri="{FF2B5EF4-FFF2-40B4-BE49-F238E27FC236}">
                <a16:creationId id="{515EDDE7-4146-5801-8333-36858C22D153}"/>
              </a:ext>
            </a:extLst>
          </p:cNvPr>
          <p:cNvSpPr/>
          <p:nvPr/>
        </p:nvSpPr>
        <p:spPr>
          <a:xfrm rot="7200000">
            <a:off x="6712900" y="2783428"/>
            <a:ext cx="1554480" cy="1554480"/>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9" name="Arc 778">
            <a:extLst>
              <a:ext uri="{FF2B5EF4-FFF2-40B4-BE49-F238E27FC236}">
                <a16:creationId id="{8EF5172C-7B79-FA1B-F288-623D9AD2E7C3}"/>
              </a:ext>
            </a:extLst>
          </p:cNvPr>
          <p:cNvSpPr/>
          <p:nvPr/>
        </p:nvSpPr>
        <p:spPr>
          <a:xfrm rot="18000000">
            <a:off x="6712900" y="2783428"/>
            <a:ext cx="1554480" cy="1554480"/>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2" name="Arc 791">
            <a:extLst>
              <a:ext uri="{FF2B5EF4-FFF2-40B4-BE49-F238E27FC236}">
                <a16:creationId id="{739E31BB-89A5-7A62-75D5-E70ABA04F256}"/>
              </a:ext>
            </a:extLst>
          </p:cNvPr>
          <p:cNvSpPr/>
          <p:nvPr/>
        </p:nvSpPr>
        <p:spPr>
          <a:xfrm>
            <a:off x="8842605" y="3161955"/>
            <a:ext cx="797444" cy="797444"/>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3" name="Arc 792">
            <a:extLst>
              <a:ext uri="{FF2B5EF4-FFF2-40B4-BE49-F238E27FC236}">
                <a16:creationId id="{67DAF3E8-94D5-6200-0DF1-7D86C61FFB39}"/>
              </a:ext>
            </a:extLst>
          </p:cNvPr>
          <p:cNvSpPr/>
          <p:nvPr/>
        </p:nvSpPr>
        <p:spPr>
          <a:xfrm rot="10800000">
            <a:off x="8842605" y="3161955"/>
            <a:ext cx="797444" cy="797444"/>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0" name="Arc 789">
            <a:extLst>
              <a:ext uri="{FF2B5EF4-FFF2-40B4-BE49-F238E27FC236}">
                <a16:creationId id="{32CE912E-3119-62E7-048F-751B2EA92455}"/>
              </a:ext>
            </a:extLst>
          </p:cNvPr>
          <p:cNvSpPr/>
          <p:nvPr/>
        </p:nvSpPr>
        <p:spPr>
          <a:xfrm rot="14400000">
            <a:off x="8677210" y="2996560"/>
            <a:ext cx="1128234" cy="1128234"/>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1" name="Arc 790">
            <a:extLst>
              <a:ext uri="{FF2B5EF4-FFF2-40B4-BE49-F238E27FC236}">
                <a16:creationId id="{AE03F87F-F21D-8380-0432-E285773098FB}"/>
              </a:ext>
            </a:extLst>
          </p:cNvPr>
          <p:cNvSpPr/>
          <p:nvPr/>
        </p:nvSpPr>
        <p:spPr>
          <a:xfrm rot="3600000">
            <a:off x="8677210" y="2996560"/>
            <a:ext cx="1128234" cy="1128234"/>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8" name="Arc 787">
            <a:extLst>
              <a:ext uri="{FF2B5EF4-FFF2-40B4-BE49-F238E27FC236}">
                <a16:creationId id="{E5415718-9C78-E4B0-074A-569366C7EBE3}"/>
              </a:ext>
            </a:extLst>
          </p:cNvPr>
          <p:cNvSpPr/>
          <p:nvPr/>
        </p:nvSpPr>
        <p:spPr>
          <a:xfrm rot="7200000">
            <a:off x="8509805" y="2829148"/>
            <a:ext cx="1463040" cy="1463040"/>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9" name="Arc 788">
            <a:extLst>
              <a:ext uri="{FF2B5EF4-FFF2-40B4-BE49-F238E27FC236}">
                <a16:creationId id="{FEAF39EC-858C-2BE0-2781-BFADCB576E88}"/>
              </a:ext>
            </a:extLst>
          </p:cNvPr>
          <p:cNvSpPr/>
          <p:nvPr/>
        </p:nvSpPr>
        <p:spPr>
          <a:xfrm rot="18000000">
            <a:off x="8509805" y="2829148"/>
            <a:ext cx="1463040" cy="1463040"/>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8" name="Arc 1027">
            <a:extLst>
              <a:ext uri="{FF2B5EF4-FFF2-40B4-BE49-F238E27FC236}">
                <a16:creationId id="{F08EB276-CE33-AB00-D8FF-2DB6EAAB6B65}"/>
              </a:ext>
            </a:extLst>
          </p:cNvPr>
          <p:cNvSpPr/>
          <p:nvPr/>
        </p:nvSpPr>
        <p:spPr>
          <a:xfrm>
            <a:off x="10527272" y="3186875"/>
            <a:ext cx="747603" cy="747603"/>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9" name="Arc 1028">
            <a:extLst>
              <a:ext uri="{FF2B5EF4-FFF2-40B4-BE49-F238E27FC236}">
                <a16:creationId id="{79CA316C-08C9-58A0-3810-0A0F9A3DB0B2}"/>
              </a:ext>
            </a:extLst>
          </p:cNvPr>
          <p:cNvSpPr/>
          <p:nvPr/>
        </p:nvSpPr>
        <p:spPr>
          <a:xfrm rot="10800000">
            <a:off x="10527272" y="3186875"/>
            <a:ext cx="747603" cy="747603"/>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6" name="Arc 1025">
            <a:extLst>
              <a:ext uri="{FF2B5EF4-FFF2-40B4-BE49-F238E27FC236}">
                <a16:creationId id="{A9C5A2CB-E754-0D33-7588-4B95DC4D00F1}"/>
              </a:ext>
            </a:extLst>
          </p:cNvPr>
          <p:cNvSpPr/>
          <p:nvPr/>
        </p:nvSpPr>
        <p:spPr>
          <a:xfrm rot="14400000">
            <a:off x="10372214" y="3031817"/>
            <a:ext cx="1057720" cy="1057720"/>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7" name="Arc 1026">
            <a:extLst>
              <a:ext uri="{FF2B5EF4-FFF2-40B4-BE49-F238E27FC236}">
                <a16:creationId id="{1661C786-5335-3797-3DB4-86D8E19992A6}"/>
              </a:ext>
            </a:extLst>
          </p:cNvPr>
          <p:cNvSpPr/>
          <p:nvPr/>
        </p:nvSpPr>
        <p:spPr>
          <a:xfrm rot="3600000">
            <a:off x="10372214" y="3031817"/>
            <a:ext cx="1057720" cy="1057720"/>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4" name="Arc 1023">
            <a:extLst>
              <a:ext uri="{FF2B5EF4-FFF2-40B4-BE49-F238E27FC236}">
                <a16:creationId id="{23C38CA1-42D4-B0DB-5847-B11374EE215A}"/>
              </a:ext>
            </a:extLst>
          </p:cNvPr>
          <p:cNvSpPr/>
          <p:nvPr/>
        </p:nvSpPr>
        <p:spPr>
          <a:xfrm rot="7200000">
            <a:off x="10215272" y="2874868"/>
            <a:ext cx="1371600" cy="1371600"/>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5" name="Arc 1024">
            <a:extLst>
              <a:ext uri="{FF2B5EF4-FFF2-40B4-BE49-F238E27FC236}">
                <a16:creationId id="{ED5C86BA-DAC8-F1B5-B123-DBFB7E72A9E6}"/>
              </a:ext>
            </a:extLst>
          </p:cNvPr>
          <p:cNvSpPr/>
          <p:nvPr/>
        </p:nvSpPr>
        <p:spPr>
          <a:xfrm rot="18000000">
            <a:off x="10215272" y="2874868"/>
            <a:ext cx="1371600" cy="1371600"/>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8" name="Arc 1037">
            <a:extLst>
              <a:ext uri="{FF2B5EF4-FFF2-40B4-BE49-F238E27FC236}">
                <a16:creationId id="{D789D19B-C60B-173E-0E6C-1054FDBDF7C4}"/>
              </a:ext>
            </a:extLst>
          </p:cNvPr>
          <p:cNvSpPr/>
          <p:nvPr/>
        </p:nvSpPr>
        <p:spPr>
          <a:xfrm>
            <a:off x="10615672" y="1684925"/>
            <a:ext cx="697763" cy="697763"/>
          </a:xfrm>
          <a:prstGeom prst="arc">
            <a:avLst>
              <a:gd name="adj1" fmla="val 16980644"/>
              <a:gd name="adj2" fmla="val 5405383"/>
            </a:avLst>
          </a:prstGeom>
          <a:ln w="12700" cap="rnd">
            <a:gradFill>
              <a:gsLst>
                <a:gs pos="0">
                  <a:schemeClr val="bg1"/>
                </a:gs>
                <a:gs pos="91000">
                  <a:srgbClr val="0070C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9" name="Arc 1038">
            <a:extLst>
              <a:ext uri="{FF2B5EF4-FFF2-40B4-BE49-F238E27FC236}">
                <a16:creationId id="{3A583F9D-5A31-34D1-F501-7DE22CE1E61F}"/>
              </a:ext>
            </a:extLst>
          </p:cNvPr>
          <p:cNvSpPr/>
          <p:nvPr/>
        </p:nvSpPr>
        <p:spPr>
          <a:xfrm rot="10800000">
            <a:off x="10615672" y="1684925"/>
            <a:ext cx="697763" cy="697763"/>
          </a:xfrm>
          <a:prstGeom prst="arc">
            <a:avLst>
              <a:gd name="adj1" fmla="val 17194449"/>
              <a:gd name="adj2" fmla="val 5405383"/>
            </a:avLst>
          </a:prstGeom>
          <a:ln w="12700" cap="rnd">
            <a:gradFill>
              <a:gsLst>
                <a:gs pos="0">
                  <a:schemeClr val="bg1"/>
                </a:gs>
                <a:gs pos="86000">
                  <a:srgbClr val="FF000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6" name="Arc 1035">
            <a:extLst>
              <a:ext uri="{FF2B5EF4-FFF2-40B4-BE49-F238E27FC236}">
                <a16:creationId id="{403205DC-8BF7-4458-0FD3-558797A35580}"/>
              </a:ext>
            </a:extLst>
          </p:cNvPr>
          <p:cNvSpPr/>
          <p:nvPr/>
        </p:nvSpPr>
        <p:spPr>
          <a:xfrm rot="14400000">
            <a:off x="10470951" y="1540204"/>
            <a:ext cx="987205" cy="987205"/>
          </a:xfrm>
          <a:prstGeom prst="arc">
            <a:avLst>
              <a:gd name="adj1" fmla="val 16980644"/>
              <a:gd name="adj2" fmla="val 5405383"/>
            </a:avLst>
          </a:prstGeom>
          <a:ln w="12700" cap="rnd">
            <a:gradFill>
              <a:gsLst>
                <a:gs pos="0">
                  <a:schemeClr val="bg1"/>
                </a:gs>
                <a:gs pos="91000">
                  <a:srgbClr val="0070C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7" name="Arc 1036">
            <a:extLst>
              <a:ext uri="{FF2B5EF4-FFF2-40B4-BE49-F238E27FC236}">
                <a16:creationId id="{22327059-797F-0BB5-5358-A1A71ED6481B}"/>
              </a:ext>
            </a:extLst>
          </p:cNvPr>
          <p:cNvSpPr/>
          <p:nvPr/>
        </p:nvSpPr>
        <p:spPr>
          <a:xfrm rot="3600000">
            <a:off x="10470951" y="1540204"/>
            <a:ext cx="987205" cy="987205"/>
          </a:xfrm>
          <a:prstGeom prst="arc">
            <a:avLst>
              <a:gd name="adj1" fmla="val 17194449"/>
              <a:gd name="adj2" fmla="val 5405383"/>
            </a:avLst>
          </a:prstGeom>
          <a:ln w="12700" cap="rnd">
            <a:gradFill>
              <a:gsLst>
                <a:gs pos="0">
                  <a:schemeClr val="bg1"/>
                </a:gs>
                <a:gs pos="86000">
                  <a:srgbClr val="FF000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4" name="Arc 1033">
            <a:extLst>
              <a:ext uri="{FF2B5EF4-FFF2-40B4-BE49-F238E27FC236}">
                <a16:creationId id="{318EB971-2CAF-58E0-54A8-AB7CCBCDCC14}"/>
              </a:ext>
            </a:extLst>
          </p:cNvPr>
          <p:cNvSpPr/>
          <p:nvPr/>
        </p:nvSpPr>
        <p:spPr>
          <a:xfrm rot="7200000">
            <a:off x="10324472" y="1393718"/>
            <a:ext cx="1280160" cy="1280160"/>
          </a:xfrm>
          <a:prstGeom prst="arc">
            <a:avLst>
              <a:gd name="adj1" fmla="val 16980644"/>
              <a:gd name="adj2" fmla="val 5405383"/>
            </a:avLst>
          </a:prstGeom>
          <a:ln w="12700" cap="rnd">
            <a:gradFill>
              <a:gsLst>
                <a:gs pos="0">
                  <a:schemeClr val="bg1"/>
                </a:gs>
                <a:gs pos="91000">
                  <a:srgbClr val="0070C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5" name="Arc 1034">
            <a:extLst>
              <a:ext uri="{FF2B5EF4-FFF2-40B4-BE49-F238E27FC236}">
                <a16:creationId id="{03635642-D75F-6F2F-8A50-194D6A9C766D}"/>
              </a:ext>
            </a:extLst>
          </p:cNvPr>
          <p:cNvSpPr/>
          <p:nvPr/>
        </p:nvSpPr>
        <p:spPr>
          <a:xfrm rot="18000000">
            <a:off x="10324472" y="1393718"/>
            <a:ext cx="1280160" cy="1280160"/>
          </a:xfrm>
          <a:prstGeom prst="arc">
            <a:avLst>
              <a:gd name="adj1" fmla="val 17194449"/>
              <a:gd name="adj2" fmla="val 5405383"/>
            </a:avLst>
          </a:prstGeom>
          <a:ln w="12700" cap="rnd">
            <a:gradFill>
              <a:gsLst>
                <a:gs pos="0">
                  <a:schemeClr val="bg1"/>
                </a:gs>
                <a:gs pos="86000">
                  <a:srgbClr val="FF000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8" name="Arc 1047">
            <a:extLst>
              <a:ext uri="{FF2B5EF4-FFF2-40B4-BE49-F238E27FC236}">
                <a16:creationId id="{FA9F7B58-853C-DC59-7496-9AB2FD3124AB}"/>
              </a:ext>
            </a:extLst>
          </p:cNvPr>
          <p:cNvSpPr/>
          <p:nvPr/>
        </p:nvSpPr>
        <p:spPr>
          <a:xfrm>
            <a:off x="9312476" y="1709844"/>
            <a:ext cx="647923" cy="647923"/>
          </a:xfrm>
          <a:prstGeom prst="arc">
            <a:avLst>
              <a:gd name="adj1" fmla="val 16980644"/>
              <a:gd name="adj2" fmla="val 5405383"/>
            </a:avLst>
          </a:prstGeom>
          <a:ln w="12700" cap="rnd">
            <a:gradFill>
              <a:gsLst>
                <a:gs pos="0">
                  <a:schemeClr val="bg1"/>
                </a:gs>
                <a:gs pos="91000">
                  <a:srgbClr val="0070C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9" name="Arc 1048">
            <a:extLst>
              <a:ext uri="{FF2B5EF4-FFF2-40B4-BE49-F238E27FC236}">
                <a16:creationId id="{3E1162F5-71ED-1851-C1D9-6E46193257DE}"/>
              </a:ext>
            </a:extLst>
          </p:cNvPr>
          <p:cNvSpPr/>
          <p:nvPr/>
        </p:nvSpPr>
        <p:spPr>
          <a:xfrm rot="10800000">
            <a:off x="9312476" y="1709844"/>
            <a:ext cx="647923" cy="647923"/>
          </a:xfrm>
          <a:prstGeom prst="arc">
            <a:avLst>
              <a:gd name="adj1" fmla="val 17194449"/>
              <a:gd name="adj2" fmla="val 5405383"/>
            </a:avLst>
          </a:prstGeom>
          <a:ln w="12700" cap="rnd">
            <a:gradFill>
              <a:gsLst>
                <a:gs pos="0">
                  <a:schemeClr val="bg1"/>
                </a:gs>
                <a:gs pos="86000">
                  <a:srgbClr val="FF000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6" name="Arc 1045">
            <a:extLst>
              <a:ext uri="{FF2B5EF4-FFF2-40B4-BE49-F238E27FC236}">
                <a16:creationId id="{20B6084D-9BBA-323E-2620-A8DCB4D68929}"/>
              </a:ext>
            </a:extLst>
          </p:cNvPr>
          <p:cNvSpPr/>
          <p:nvPr/>
        </p:nvSpPr>
        <p:spPr>
          <a:xfrm rot="14400000">
            <a:off x="9178092" y="1575460"/>
            <a:ext cx="916690" cy="916690"/>
          </a:xfrm>
          <a:prstGeom prst="arc">
            <a:avLst>
              <a:gd name="adj1" fmla="val 16980644"/>
              <a:gd name="adj2" fmla="val 5405383"/>
            </a:avLst>
          </a:prstGeom>
          <a:ln w="12700" cap="rnd">
            <a:gradFill>
              <a:gsLst>
                <a:gs pos="0">
                  <a:schemeClr val="bg1"/>
                </a:gs>
                <a:gs pos="91000">
                  <a:srgbClr val="0070C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7" name="Arc 1046">
            <a:extLst>
              <a:ext uri="{FF2B5EF4-FFF2-40B4-BE49-F238E27FC236}">
                <a16:creationId id="{7613BEFD-4E3C-3B09-6614-0D75C224EEE1}"/>
              </a:ext>
            </a:extLst>
          </p:cNvPr>
          <p:cNvSpPr/>
          <p:nvPr/>
        </p:nvSpPr>
        <p:spPr>
          <a:xfrm rot="3600000">
            <a:off x="9178092" y="1575460"/>
            <a:ext cx="916690" cy="916690"/>
          </a:xfrm>
          <a:prstGeom prst="arc">
            <a:avLst>
              <a:gd name="adj1" fmla="val 17194449"/>
              <a:gd name="adj2" fmla="val 5405383"/>
            </a:avLst>
          </a:prstGeom>
          <a:ln w="12700" cap="rnd">
            <a:gradFill>
              <a:gsLst>
                <a:gs pos="0">
                  <a:schemeClr val="bg1"/>
                </a:gs>
                <a:gs pos="86000">
                  <a:srgbClr val="FF000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4" name="Arc 1043">
            <a:extLst>
              <a:ext uri="{FF2B5EF4-FFF2-40B4-BE49-F238E27FC236}">
                <a16:creationId id="{8ACA22F9-9A07-59E3-B33A-D096DF3882AF}"/>
              </a:ext>
            </a:extLst>
          </p:cNvPr>
          <p:cNvSpPr/>
          <p:nvPr/>
        </p:nvSpPr>
        <p:spPr>
          <a:xfrm rot="7200000">
            <a:off x="9042076" y="1439438"/>
            <a:ext cx="1188720" cy="1188720"/>
          </a:xfrm>
          <a:prstGeom prst="arc">
            <a:avLst>
              <a:gd name="adj1" fmla="val 16980644"/>
              <a:gd name="adj2" fmla="val 5405383"/>
            </a:avLst>
          </a:prstGeom>
          <a:ln w="12700" cap="rnd">
            <a:gradFill>
              <a:gsLst>
                <a:gs pos="0">
                  <a:schemeClr val="bg1"/>
                </a:gs>
                <a:gs pos="91000">
                  <a:srgbClr val="0070C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5" name="Arc 1044">
            <a:extLst>
              <a:ext uri="{FF2B5EF4-FFF2-40B4-BE49-F238E27FC236}">
                <a16:creationId id="{709DF5D7-7573-21CC-491D-77CA566283B4}"/>
              </a:ext>
            </a:extLst>
          </p:cNvPr>
          <p:cNvSpPr/>
          <p:nvPr/>
        </p:nvSpPr>
        <p:spPr>
          <a:xfrm rot="18000000">
            <a:off x="9042076" y="1439438"/>
            <a:ext cx="1188720" cy="1188720"/>
          </a:xfrm>
          <a:prstGeom prst="arc">
            <a:avLst>
              <a:gd name="adj1" fmla="val 17194449"/>
              <a:gd name="adj2" fmla="val 5405383"/>
            </a:avLst>
          </a:prstGeom>
          <a:ln w="12700" cap="rnd">
            <a:gradFill>
              <a:gsLst>
                <a:gs pos="0">
                  <a:schemeClr val="bg1"/>
                </a:gs>
                <a:gs pos="86000">
                  <a:srgbClr val="FF000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8" name="Arc 1057">
            <a:extLst>
              <a:ext uri="{FF2B5EF4-FFF2-40B4-BE49-F238E27FC236}">
                <a16:creationId id="{D6E61B71-A4BC-5567-7E6E-082FA3689E5F}"/>
              </a:ext>
            </a:extLst>
          </p:cNvPr>
          <p:cNvSpPr/>
          <p:nvPr/>
        </p:nvSpPr>
        <p:spPr>
          <a:xfrm>
            <a:off x="8100723" y="1734764"/>
            <a:ext cx="598083" cy="598083"/>
          </a:xfrm>
          <a:prstGeom prst="arc">
            <a:avLst>
              <a:gd name="adj1" fmla="val 16980644"/>
              <a:gd name="adj2" fmla="val 5405383"/>
            </a:avLst>
          </a:prstGeom>
          <a:ln w="12700" cap="rnd">
            <a:gradFill>
              <a:gsLst>
                <a:gs pos="0">
                  <a:schemeClr val="bg1"/>
                </a:gs>
                <a:gs pos="91000">
                  <a:srgbClr val="0070C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9" name="Arc 1058">
            <a:extLst>
              <a:ext uri="{FF2B5EF4-FFF2-40B4-BE49-F238E27FC236}">
                <a16:creationId id="{055637C2-7FC8-C9A3-811E-EFCAD6B3CB72}"/>
              </a:ext>
            </a:extLst>
          </p:cNvPr>
          <p:cNvSpPr/>
          <p:nvPr/>
        </p:nvSpPr>
        <p:spPr>
          <a:xfrm rot="10800000">
            <a:off x="8100723" y="1734764"/>
            <a:ext cx="598083" cy="598083"/>
          </a:xfrm>
          <a:prstGeom prst="arc">
            <a:avLst>
              <a:gd name="adj1" fmla="val 17194449"/>
              <a:gd name="adj2" fmla="val 5405383"/>
            </a:avLst>
          </a:prstGeom>
          <a:ln w="12700" cap="rnd">
            <a:gradFill>
              <a:gsLst>
                <a:gs pos="0">
                  <a:schemeClr val="bg1"/>
                </a:gs>
                <a:gs pos="86000">
                  <a:srgbClr val="FF000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6" name="Arc 1055">
            <a:extLst>
              <a:ext uri="{FF2B5EF4-FFF2-40B4-BE49-F238E27FC236}">
                <a16:creationId id="{19584E2A-EDC7-19C3-7BCE-D4F5228CA3C4}"/>
              </a:ext>
            </a:extLst>
          </p:cNvPr>
          <p:cNvSpPr/>
          <p:nvPr/>
        </p:nvSpPr>
        <p:spPr>
          <a:xfrm rot="14400000">
            <a:off x="7976676" y="1610717"/>
            <a:ext cx="846176" cy="846176"/>
          </a:xfrm>
          <a:prstGeom prst="arc">
            <a:avLst>
              <a:gd name="adj1" fmla="val 16980644"/>
              <a:gd name="adj2" fmla="val 5405383"/>
            </a:avLst>
          </a:prstGeom>
          <a:ln w="12700" cap="rnd">
            <a:gradFill>
              <a:gsLst>
                <a:gs pos="0">
                  <a:schemeClr val="bg1"/>
                </a:gs>
                <a:gs pos="91000">
                  <a:srgbClr val="0070C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7" name="Arc 1056">
            <a:extLst>
              <a:ext uri="{FF2B5EF4-FFF2-40B4-BE49-F238E27FC236}">
                <a16:creationId id="{1C0FFBBE-9868-9262-0507-6CBF453282F0}"/>
              </a:ext>
            </a:extLst>
          </p:cNvPr>
          <p:cNvSpPr/>
          <p:nvPr/>
        </p:nvSpPr>
        <p:spPr>
          <a:xfrm rot="3600000">
            <a:off x="7976676" y="1610717"/>
            <a:ext cx="846176" cy="846176"/>
          </a:xfrm>
          <a:prstGeom prst="arc">
            <a:avLst>
              <a:gd name="adj1" fmla="val 17194449"/>
              <a:gd name="adj2" fmla="val 5405383"/>
            </a:avLst>
          </a:prstGeom>
          <a:ln w="12700" cap="rnd">
            <a:gradFill>
              <a:gsLst>
                <a:gs pos="0">
                  <a:schemeClr val="bg1"/>
                </a:gs>
                <a:gs pos="86000">
                  <a:srgbClr val="FF000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4" name="Arc 1053">
            <a:extLst>
              <a:ext uri="{FF2B5EF4-FFF2-40B4-BE49-F238E27FC236}">
                <a16:creationId id="{2FE014D9-70AC-6E68-2232-33D079AAEE4D}"/>
              </a:ext>
            </a:extLst>
          </p:cNvPr>
          <p:cNvSpPr/>
          <p:nvPr/>
        </p:nvSpPr>
        <p:spPr>
          <a:xfrm rot="7200000">
            <a:off x="7851123" y="1485158"/>
            <a:ext cx="1097280" cy="1097280"/>
          </a:xfrm>
          <a:prstGeom prst="arc">
            <a:avLst>
              <a:gd name="adj1" fmla="val 16980644"/>
              <a:gd name="adj2" fmla="val 5405383"/>
            </a:avLst>
          </a:prstGeom>
          <a:ln w="12700" cap="rnd">
            <a:gradFill>
              <a:gsLst>
                <a:gs pos="0">
                  <a:schemeClr val="bg1"/>
                </a:gs>
                <a:gs pos="91000">
                  <a:srgbClr val="0070C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5" name="Arc 1054">
            <a:extLst>
              <a:ext uri="{FF2B5EF4-FFF2-40B4-BE49-F238E27FC236}">
                <a16:creationId id="{A4CE5F17-01D4-37B4-D24E-1E743600105A}"/>
              </a:ext>
            </a:extLst>
          </p:cNvPr>
          <p:cNvSpPr/>
          <p:nvPr/>
        </p:nvSpPr>
        <p:spPr>
          <a:xfrm rot="18000000">
            <a:off x="7851123" y="1485158"/>
            <a:ext cx="1097280" cy="1097280"/>
          </a:xfrm>
          <a:prstGeom prst="arc">
            <a:avLst>
              <a:gd name="adj1" fmla="val 17194449"/>
              <a:gd name="adj2" fmla="val 5405383"/>
            </a:avLst>
          </a:prstGeom>
          <a:ln w="12700" cap="rnd">
            <a:gradFill>
              <a:gsLst>
                <a:gs pos="0">
                  <a:schemeClr val="bg1"/>
                </a:gs>
                <a:gs pos="86000">
                  <a:srgbClr val="FF000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8" name="Arc 1067">
            <a:extLst>
              <a:ext uri="{FF2B5EF4-FFF2-40B4-BE49-F238E27FC236}">
                <a16:creationId id="{9ADA0D08-EE64-A935-6962-2A76F39DE3CA}"/>
              </a:ext>
            </a:extLst>
          </p:cNvPr>
          <p:cNvSpPr/>
          <p:nvPr/>
        </p:nvSpPr>
        <p:spPr>
          <a:xfrm>
            <a:off x="3239993" y="3087180"/>
            <a:ext cx="946955" cy="946955"/>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9" name="Arc 1068">
            <a:extLst>
              <a:ext uri="{FF2B5EF4-FFF2-40B4-BE49-F238E27FC236}">
                <a16:creationId id="{609C6B3F-D26B-BDA7-476A-E83A8CFEBB28}"/>
              </a:ext>
            </a:extLst>
          </p:cNvPr>
          <p:cNvSpPr/>
          <p:nvPr/>
        </p:nvSpPr>
        <p:spPr>
          <a:xfrm rot="10800000">
            <a:off x="3239993" y="3087180"/>
            <a:ext cx="946955" cy="946955"/>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6" name="Arc 1065">
            <a:extLst>
              <a:ext uri="{FF2B5EF4-FFF2-40B4-BE49-F238E27FC236}">
                <a16:creationId id="{66E97744-BC66-FD4E-51FE-656AD71D140C}"/>
              </a:ext>
            </a:extLst>
          </p:cNvPr>
          <p:cNvSpPr/>
          <p:nvPr/>
        </p:nvSpPr>
        <p:spPr>
          <a:xfrm rot="14400000">
            <a:off x="3043588" y="2890775"/>
            <a:ext cx="1339765" cy="1339765"/>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7" name="Arc 1066">
            <a:extLst>
              <a:ext uri="{FF2B5EF4-FFF2-40B4-BE49-F238E27FC236}">
                <a16:creationId id="{E76DA54B-B9DE-EA9A-B53F-18EC1D410A38}"/>
              </a:ext>
            </a:extLst>
          </p:cNvPr>
          <p:cNvSpPr/>
          <p:nvPr/>
        </p:nvSpPr>
        <p:spPr>
          <a:xfrm rot="3600000">
            <a:off x="3043588" y="2890775"/>
            <a:ext cx="1339765" cy="1339765"/>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4" name="Arc 1063">
            <a:extLst>
              <a:ext uri="{FF2B5EF4-FFF2-40B4-BE49-F238E27FC236}">
                <a16:creationId id="{D7398733-E3C5-377C-F12E-532327FF7E1C}"/>
              </a:ext>
            </a:extLst>
          </p:cNvPr>
          <p:cNvSpPr/>
          <p:nvPr/>
        </p:nvSpPr>
        <p:spPr>
          <a:xfrm rot="7200000">
            <a:off x="2844768" y="2692002"/>
            <a:ext cx="1737344" cy="1737343"/>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5" name="Arc 1064">
            <a:extLst>
              <a:ext uri="{FF2B5EF4-FFF2-40B4-BE49-F238E27FC236}">
                <a16:creationId id="{2B51C444-EFF7-BA8A-0B48-3230A0F741B3}"/>
              </a:ext>
            </a:extLst>
          </p:cNvPr>
          <p:cNvSpPr/>
          <p:nvPr/>
        </p:nvSpPr>
        <p:spPr>
          <a:xfrm rot="18000000">
            <a:off x="2844783" y="2691992"/>
            <a:ext cx="1737344" cy="1737343"/>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78" name="Arc 1077">
            <a:extLst>
              <a:ext uri="{FF2B5EF4-FFF2-40B4-BE49-F238E27FC236}">
                <a16:creationId id="{33A436BF-C654-3314-3CB4-296C5DDF71FB}"/>
              </a:ext>
            </a:extLst>
          </p:cNvPr>
          <p:cNvSpPr/>
          <p:nvPr/>
        </p:nvSpPr>
        <p:spPr>
          <a:xfrm>
            <a:off x="1189579" y="3062259"/>
            <a:ext cx="996795" cy="996795"/>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9" name="Arc 1078">
            <a:extLst>
              <a:ext uri="{FF2B5EF4-FFF2-40B4-BE49-F238E27FC236}">
                <a16:creationId id="{D511BB98-48CC-E1B9-B2D4-C1F6B8EF7402}"/>
              </a:ext>
            </a:extLst>
          </p:cNvPr>
          <p:cNvSpPr/>
          <p:nvPr/>
        </p:nvSpPr>
        <p:spPr>
          <a:xfrm rot="10800000">
            <a:off x="1189579" y="3062259"/>
            <a:ext cx="996795" cy="996795"/>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6" name="Arc 1075">
            <a:extLst>
              <a:ext uri="{FF2B5EF4-FFF2-40B4-BE49-F238E27FC236}">
                <a16:creationId id="{54833E6F-F601-CEC5-C07D-1C0B6D069744}"/>
              </a:ext>
            </a:extLst>
          </p:cNvPr>
          <p:cNvSpPr/>
          <p:nvPr/>
        </p:nvSpPr>
        <p:spPr>
          <a:xfrm rot="14400000">
            <a:off x="982837" y="2855517"/>
            <a:ext cx="1410279" cy="1410279"/>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7" name="Arc 1076">
            <a:extLst>
              <a:ext uri="{FF2B5EF4-FFF2-40B4-BE49-F238E27FC236}">
                <a16:creationId id="{593B497D-F63E-19DC-E7F8-CCE99BE47223}"/>
              </a:ext>
            </a:extLst>
          </p:cNvPr>
          <p:cNvSpPr/>
          <p:nvPr/>
        </p:nvSpPr>
        <p:spPr>
          <a:xfrm rot="3600000">
            <a:off x="982837" y="2855517"/>
            <a:ext cx="1410279" cy="1410279"/>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4" name="Arc 1073">
            <a:extLst>
              <a:ext uri="{FF2B5EF4-FFF2-40B4-BE49-F238E27FC236}">
                <a16:creationId id="{0A83DAEC-2403-7FAA-FF6A-E4C33DD20087}"/>
              </a:ext>
            </a:extLst>
          </p:cNvPr>
          <p:cNvSpPr/>
          <p:nvPr/>
        </p:nvSpPr>
        <p:spPr>
          <a:xfrm rot="7200000">
            <a:off x="773552" y="2646283"/>
            <a:ext cx="1828783" cy="1828782"/>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5" name="Arc 1074">
            <a:extLst>
              <a:ext uri="{FF2B5EF4-FFF2-40B4-BE49-F238E27FC236}">
                <a16:creationId id="{A534EDFF-7286-BD39-3DFF-0D16FFED7C86}"/>
              </a:ext>
            </a:extLst>
          </p:cNvPr>
          <p:cNvSpPr/>
          <p:nvPr/>
        </p:nvSpPr>
        <p:spPr>
          <a:xfrm rot="18000000">
            <a:off x="773567" y="2646272"/>
            <a:ext cx="1828783" cy="1828782"/>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89" name="Arc 1088">
            <a:extLst>
              <a:ext uri="{FF2B5EF4-FFF2-40B4-BE49-F238E27FC236}">
                <a16:creationId id="{5697FB4A-7A39-979B-8310-C269959192C2}"/>
              </a:ext>
            </a:extLst>
          </p:cNvPr>
          <p:cNvSpPr/>
          <p:nvPr/>
        </p:nvSpPr>
        <p:spPr>
          <a:xfrm>
            <a:off x="1020058" y="5118843"/>
            <a:ext cx="1046635" cy="1046634"/>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0" name="Arc 1089">
            <a:extLst>
              <a:ext uri="{FF2B5EF4-FFF2-40B4-BE49-F238E27FC236}">
                <a16:creationId id="{633CD8D9-39F3-4124-10C1-F96DA0EBAE86}"/>
              </a:ext>
            </a:extLst>
          </p:cNvPr>
          <p:cNvSpPr/>
          <p:nvPr/>
        </p:nvSpPr>
        <p:spPr>
          <a:xfrm rot="10800000">
            <a:off x="1020058" y="5118843"/>
            <a:ext cx="1046635" cy="1046634"/>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7" name="Arc 1086">
            <a:extLst>
              <a:ext uri="{FF2B5EF4-FFF2-40B4-BE49-F238E27FC236}">
                <a16:creationId id="{66EE86A5-32EB-EF70-4EE7-2F982188A1D5}"/>
              </a:ext>
            </a:extLst>
          </p:cNvPr>
          <p:cNvSpPr/>
          <p:nvPr/>
        </p:nvSpPr>
        <p:spPr>
          <a:xfrm rot="14400000">
            <a:off x="802979" y="4901763"/>
            <a:ext cx="1480793" cy="1480793"/>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8" name="Arc 1087">
            <a:extLst>
              <a:ext uri="{FF2B5EF4-FFF2-40B4-BE49-F238E27FC236}">
                <a16:creationId id="{F6CA063A-DA63-1DC6-0FD9-C8F70FE4F446}"/>
              </a:ext>
            </a:extLst>
          </p:cNvPr>
          <p:cNvSpPr/>
          <p:nvPr/>
        </p:nvSpPr>
        <p:spPr>
          <a:xfrm rot="3600000">
            <a:off x="802979" y="4901763"/>
            <a:ext cx="1480793" cy="1480793"/>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5" name="Arc 1084">
            <a:extLst>
              <a:ext uri="{FF2B5EF4-FFF2-40B4-BE49-F238E27FC236}">
                <a16:creationId id="{D02CE33F-8C19-6E90-CAC9-D6AB87BD254C}"/>
              </a:ext>
            </a:extLst>
          </p:cNvPr>
          <p:cNvSpPr/>
          <p:nvPr/>
        </p:nvSpPr>
        <p:spPr>
          <a:xfrm rot="7200000">
            <a:off x="583229" y="4682067"/>
            <a:ext cx="1920222" cy="1920222"/>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6" name="Arc 1085">
            <a:extLst>
              <a:ext uri="{FF2B5EF4-FFF2-40B4-BE49-F238E27FC236}">
                <a16:creationId id="{6AB3D795-A0AE-1655-9357-9FFF7FE10B33}"/>
              </a:ext>
            </a:extLst>
          </p:cNvPr>
          <p:cNvSpPr/>
          <p:nvPr/>
        </p:nvSpPr>
        <p:spPr>
          <a:xfrm rot="18000000">
            <a:off x="583245" y="4682056"/>
            <a:ext cx="1920222" cy="1920222"/>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99" name="Arc 1098">
            <a:extLst>
              <a:ext uri="{FF2B5EF4-FFF2-40B4-BE49-F238E27FC236}">
                <a16:creationId id="{4BEBED3E-D764-6594-A6B1-499451E6BE3C}"/>
              </a:ext>
            </a:extLst>
          </p:cNvPr>
          <p:cNvSpPr/>
          <p:nvPr/>
        </p:nvSpPr>
        <p:spPr>
          <a:xfrm>
            <a:off x="3198726" y="5093922"/>
            <a:ext cx="1096475" cy="1096474"/>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0" name="Arc 1099">
            <a:extLst>
              <a:ext uri="{FF2B5EF4-FFF2-40B4-BE49-F238E27FC236}">
                <a16:creationId id="{2A9D2884-8E24-DB24-E900-A5633E55BF73}"/>
              </a:ext>
            </a:extLst>
          </p:cNvPr>
          <p:cNvSpPr/>
          <p:nvPr/>
        </p:nvSpPr>
        <p:spPr>
          <a:xfrm rot="10800000">
            <a:off x="3198726" y="5093922"/>
            <a:ext cx="1096475" cy="1096474"/>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7" name="Arc 1096">
            <a:extLst>
              <a:ext uri="{FF2B5EF4-FFF2-40B4-BE49-F238E27FC236}">
                <a16:creationId id="{3BA88515-2C13-3BC1-33A3-74B067357101}"/>
              </a:ext>
            </a:extLst>
          </p:cNvPr>
          <p:cNvSpPr/>
          <p:nvPr/>
        </p:nvSpPr>
        <p:spPr>
          <a:xfrm rot="14400000">
            <a:off x="2971310" y="4866505"/>
            <a:ext cx="1551307" cy="1551307"/>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8" name="Arc 1097">
            <a:extLst>
              <a:ext uri="{FF2B5EF4-FFF2-40B4-BE49-F238E27FC236}">
                <a16:creationId id="{46F90C79-B594-5BD2-FC87-77D2D0086EBF}"/>
              </a:ext>
            </a:extLst>
          </p:cNvPr>
          <p:cNvSpPr/>
          <p:nvPr/>
        </p:nvSpPr>
        <p:spPr>
          <a:xfrm rot="3600000">
            <a:off x="2971310" y="4866505"/>
            <a:ext cx="1551307" cy="1551307"/>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5" name="Arc 1094">
            <a:extLst>
              <a:ext uri="{FF2B5EF4-FFF2-40B4-BE49-F238E27FC236}">
                <a16:creationId id="{975A377D-618E-4B82-0A94-24387AE0F303}"/>
              </a:ext>
            </a:extLst>
          </p:cNvPr>
          <p:cNvSpPr/>
          <p:nvPr/>
        </p:nvSpPr>
        <p:spPr>
          <a:xfrm rot="7200000">
            <a:off x="2741097" y="4636347"/>
            <a:ext cx="2011661" cy="2011662"/>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6" name="Arc 1095">
            <a:extLst>
              <a:ext uri="{FF2B5EF4-FFF2-40B4-BE49-F238E27FC236}">
                <a16:creationId id="{FC507E19-3AFF-8048-05A4-F324E8770CC5}"/>
              </a:ext>
            </a:extLst>
          </p:cNvPr>
          <p:cNvSpPr/>
          <p:nvPr/>
        </p:nvSpPr>
        <p:spPr>
          <a:xfrm rot="18000000">
            <a:off x="2741114" y="4636336"/>
            <a:ext cx="2011661" cy="2011662"/>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09" name="Arc 1108">
            <a:extLst>
              <a:ext uri="{FF2B5EF4-FFF2-40B4-BE49-F238E27FC236}">
                <a16:creationId id="{FF8E0D48-551C-ADDB-3AD7-41EA52C505E3}"/>
              </a:ext>
            </a:extLst>
          </p:cNvPr>
          <p:cNvSpPr/>
          <p:nvPr/>
        </p:nvSpPr>
        <p:spPr>
          <a:xfrm>
            <a:off x="5468835" y="5069002"/>
            <a:ext cx="1146315" cy="1146314"/>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0" name="Arc 1109">
            <a:extLst>
              <a:ext uri="{FF2B5EF4-FFF2-40B4-BE49-F238E27FC236}">
                <a16:creationId id="{5856A04E-8C91-5163-BE97-72099B9B9483}"/>
              </a:ext>
            </a:extLst>
          </p:cNvPr>
          <p:cNvSpPr/>
          <p:nvPr/>
        </p:nvSpPr>
        <p:spPr>
          <a:xfrm rot="10800000">
            <a:off x="5468835" y="5069002"/>
            <a:ext cx="1146315" cy="1146314"/>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7" name="Arc 1106">
            <a:extLst>
              <a:ext uri="{FF2B5EF4-FFF2-40B4-BE49-F238E27FC236}">
                <a16:creationId id="{0922C40D-2F0A-805D-B76A-7C6C63DD56E2}"/>
              </a:ext>
            </a:extLst>
          </p:cNvPr>
          <p:cNvSpPr/>
          <p:nvPr/>
        </p:nvSpPr>
        <p:spPr>
          <a:xfrm rot="14400000">
            <a:off x="5231082" y="4831248"/>
            <a:ext cx="1621820" cy="1621822"/>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8" name="Arc 1107">
            <a:extLst>
              <a:ext uri="{FF2B5EF4-FFF2-40B4-BE49-F238E27FC236}">
                <a16:creationId id="{4947B33B-0A92-4728-45AB-21E8EC0DCE3B}"/>
              </a:ext>
            </a:extLst>
          </p:cNvPr>
          <p:cNvSpPr/>
          <p:nvPr/>
        </p:nvSpPr>
        <p:spPr>
          <a:xfrm rot="3600000">
            <a:off x="5231082" y="4831248"/>
            <a:ext cx="1621820" cy="1621822"/>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5" name="Arc 1104">
            <a:extLst>
              <a:ext uri="{FF2B5EF4-FFF2-40B4-BE49-F238E27FC236}">
                <a16:creationId id="{7941B4F2-88A3-866D-9100-0495DA1E93EB}"/>
              </a:ext>
            </a:extLst>
          </p:cNvPr>
          <p:cNvSpPr/>
          <p:nvPr/>
        </p:nvSpPr>
        <p:spPr>
          <a:xfrm rot="7200000">
            <a:off x="4990404" y="4590628"/>
            <a:ext cx="2103100" cy="2103101"/>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6" name="Arc 1105">
            <a:extLst>
              <a:ext uri="{FF2B5EF4-FFF2-40B4-BE49-F238E27FC236}">
                <a16:creationId id="{0ADBB0F4-AB37-C596-8DED-063E5936F86C}"/>
              </a:ext>
            </a:extLst>
          </p:cNvPr>
          <p:cNvSpPr/>
          <p:nvPr/>
        </p:nvSpPr>
        <p:spPr>
          <a:xfrm rot="18000000">
            <a:off x="4990422" y="4590616"/>
            <a:ext cx="2103100" cy="2103101"/>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19" name="Arc 1118">
            <a:extLst>
              <a:ext uri="{FF2B5EF4-FFF2-40B4-BE49-F238E27FC236}">
                <a16:creationId id="{1AF14DC0-BAAC-4C9E-CD3B-3E4D7FC04E53}"/>
              </a:ext>
            </a:extLst>
          </p:cNvPr>
          <p:cNvSpPr/>
          <p:nvPr/>
        </p:nvSpPr>
        <p:spPr>
          <a:xfrm>
            <a:off x="7830383" y="5044081"/>
            <a:ext cx="1196155" cy="1196153"/>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0" name="Arc 1119">
            <a:extLst>
              <a:ext uri="{FF2B5EF4-FFF2-40B4-BE49-F238E27FC236}">
                <a16:creationId id="{355DE5CC-F57D-497E-5702-0CD1BE9FFA13}"/>
              </a:ext>
            </a:extLst>
          </p:cNvPr>
          <p:cNvSpPr/>
          <p:nvPr/>
        </p:nvSpPr>
        <p:spPr>
          <a:xfrm rot="10800000">
            <a:off x="7830383" y="5044081"/>
            <a:ext cx="1196155" cy="1196153"/>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7" name="Arc 1116">
            <a:extLst>
              <a:ext uri="{FF2B5EF4-FFF2-40B4-BE49-F238E27FC236}">
                <a16:creationId id="{78EA2A2E-1792-3867-4771-DDE1019F470E}"/>
              </a:ext>
            </a:extLst>
          </p:cNvPr>
          <p:cNvSpPr/>
          <p:nvPr/>
        </p:nvSpPr>
        <p:spPr>
          <a:xfrm rot="14400000">
            <a:off x="7582293" y="4795990"/>
            <a:ext cx="1692334" cy="1692336"/>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8" name="Arc 1117">
            <a:extLst>
              <a:ext uri="{FF2B5EF4-FFF2-40B4-BE49-F238E27FC236}">
                <a16:creationId id="{7F954F4E-B737-A4BD-1AF0-E39B431D78A5}"/>
              </a:ext>
            </a:extLst>
          </p:cNvPr>
          <p:cNvSpPr/>
          <p:nvPr/>
        </p:nvSpPr>
        <p:spPr>
          <a:xfrm rot="3600000">
            <a:off x="7582293" y="4795990"/>
            <a:ext cx="1692334" cy="1692336"/>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5" name="Arc 1114">
            <a:extLst>
              <a:ext uri="{FF2B5EF4-FFF2-40B4-BE49-F238E27FC236}">
                <a16:creationId id="{2A2FF1A2-7359-DA9A-571F-19BE9DF534D6}"/>
              </a:ext>
            </a:extLst>
          </p:cNvPr>
          <p:cNvSpPr/>
          <p:nvPr/>
        </p:nvSpPr>
        <p:spPr>
          <a:xfrm rot="7200000">
            <a:off x="7331151" y="4544908"/>
            <a:ext cx="2194540" cy="2194541"/>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6" name="Arc 1115">
            <a:extLst>
              <a:ext uri="{FF2B5EF4-FFF2-40B4-BE49-F238E27FC236}">
                <a16:creationId id="{C684BC20-0F76-20FC-E58D-28B508D5FF4A}"/>
              </a:ext>
            </a:extLst>
          </p:cNvPr>
          <p:cNvSpPr/>
          <p:nvPr/>
        </p:nvSpPr>
        <p:spPr>
          <a:xfrm rot="18000000">
            <a:off x="7331170" y="4544896"/>
            <a:ext cx="2194540" cy="2194541"/>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29" name="Arc 1128">
            <a:extLst>
              <a:ext uri="{FF2B5EF4-FFF2-40B4-BE49-F238E27FC236}">
                <a16:creationId id="{0E4A3291-7C78-0A33-8B26-2680D4AA8A63}"/>
              </a:ext>
            </a:extLst>
          </p:cNvPr>
          <p:cNvSpPr/>
          <p:nvPr/>
        </p:nvSpPr>
        <p:spPr>
          <a:xfrm>
            <a:off x="10283370" y="5019161"/>
            <a:ext cx="1245995" cy="1245993"/>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0" name="Arc 1129">
            <a:extLst>
              <a:ext uri="{FF2B5EF4-FFF2-40B4-BE49-F238E27FC236}">
                <a16:creationId id="{DB5F0F72-EE90-A352-0DC7-AAD47F529301}"/>
              </a:ext>
            </a:extLst>
          </p:cNvPr>
          <p:cNvSpPr/>
          <p:nvPr/>
        </p:nvSpPr>
        <p:spPr>
          <a:xfrm rot="10800000">
            <a:off x="10283370" y="5019161"/>
            <a:ext cx="1245995" cy="1245993"/>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7" name="Arc 1126">
            <a:extLst>
              <a:ext uri="{FF2B5EF4-FFF2-40B4-BE49-F238E27FC236}">
                <a16:creationId id="{8EEBF2EA-8751-7BC8-2871-7A89AE792887}"/>
              </a:ext>
            </a:extLst>
          </p:cNvPr>
          <p:cNvSpPr/>
          <p:nvPr/>
        </p:nvSpPr>
        <p:spPr>
          <a:xfrm rot="14400000">
            <a:off x="10024943" y="4760732"/>
            <a:ext cx="1762848" cy="1762850"/>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8" name="Arc 1127">
            <a:extLst>
              <a:ext uri="{FF2B5EF4-FFF2-40B4-BE49-F238E27FC236}">
                <a16:creationId id="{E4466A72-0947-A7C7-FF9B-AF144679E86C}"/>
              </a:ext>
            </a:extLst>
          </p:cNvPr>
          <p:cNvSpPr/>
          <p:nvPr/>
        </p:nvSpPr>
        <p:spPr>
          <a:xfrm rot="3600000">
            <a:off x="10024943" y="4760732"/>
            <a:ext cx="1762848" cy="1762850"/>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5" name="Arc 1124">
            <a:extLst>
              <a:ext uri="{FF2B5EF4-FFF2-40B4-BE49-F238E27FC236}">
                <a16:creationId id="{84D79132-7DA7-A238-20EF-413EEB710F5D}"/>
              </a:ext>
            </a:extLst>
          </p:cNvPr>
          <p:cNvSpPr/>
          <p:nvPr/>
        </p:nvSpPr>
        <p:spPr>
          <a:xfrm rot="7200000">
            <a:off x="9763337" y="4499189"/>
            <a:ext cx="2285979" cy="2285980"/>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6" name="Arc 1125">
            <a:extLst>
              <a:ext uri="{FF2B5EF4-FFF2-40B4-BE49-F238E27FC236}">
                <a16:creationId id="{D3A550D0-DFA5-5D77-72C5-5F68B1388316}"/>
              </a:ext>
            </a:extLst>
          </p:cNvPr>
          <p:cNvSpPr/>
          <p:nvPr/>
        </p:nvSpPr>
        <p:spPr>
          <a:xfrm rot="18000000">
            <a:off x="9763357" y="4499176"/>
            <a:ext cx="2285979" cy="2285980"/>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id="{CB1DC393-C824-73A5-0494-436D787F12BA}"/>
              </a:ext>
            </a:extLst>
          </p:cNvPr>
          <p:cNvSpPr txBox="1"/>
          <p:nvPr/>
        </p:nvSpPr>
        <p:spPr>
          <a:xfrm>
            <a:off x="837953" y="2297326"/>
            <a:ext cx="2557110" cy="307777"/>
          </a:xfrm>
          <a:prstGeom prst="rect">
            <a:avLst/>
          </a:prstGeom>
          <a:noFill/>
        </p:spPr>
        <p:txBody>
          <a:bodyPr wrap="none" rtlCol="0">
            <a:spAutoFit/>
          </a:bodyPr>
          <a:lstStyle/>
          <a:p>
            <a:r>
              <a:rPr lang="en-US" sz="1400" dirty="0">
                <a:solidFill>
                  <a:schemeClr val="bg1"/>
                </a:solidFill>
                <a:latin typeface="Helvetica Neue Light" panose="02000403000000020004" pitchFamily="2" charset="0"/>
                <a:ea typeface="Helvetica Neue Light" panose="02000403000000020004" pitchFamily="2" charset="0"/>
              </a:rPr>
              <a:t>scaling by orders of magnitude</a:t>
            </a:r>
          </a:p>
        </p:txBody>
      </p:sp>
      <p:sp>
        <p:nvSpPr>
          <p:cNvPr id="1131" name="Footer Placeholder 3"/>
          <p:cNvSpPr txBox="1">
            <a:spLocks/>
          </p:cNvSpPr>
          <p:nvPr/>
        </p:nvSpPr>
        <p:spPr>
          <a:xfrm>
            <a:off x="10942204" y="6481737"/>
            <a:ext cx="1217443"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architrino.com</a:t>
            </a:r>
          </a:p>
        </p:txBody>
      </p:sp>
    </p:spTree>
    <p:extLst>
      <p:ext uri="{BB962C8B-B14F-4D97-AF65-F5344CB8AC3E}">
        <ns3:creationId val="1583158606"/>
      </p:ext>
    </p:extLst>
  </p:cSld>
  <p:clrMapOvr>
    <a:masterClrMapping/>
  </p:clrMapOvr>
</p:sld>
</file>

<file path=ppt/slides/slide5.xml><?xml version="1.0" encoding="utf-8"?>
<p:sld xmlns:a="http://schemas.openxmlformats.org/drawingml/2006/main" xmlns:a16="http://schemas.microsoft.com/office/drawing/2014/main" xmlns:ns4="http://schemas.microsoft.com/office/powerpoint/2010/main" xmlns:ns5="http://schemas.openxmlformats.org/markup-compatibility/2006" xmlns:p="http://schemas.openxmlformats.org/presentationml/2006/main" xmlns:r="http://schemas.openxmlformats.org/officeDocument/2006/relationships">
  <p:cSld>
    <p:bg>
      <p:bgPr>
        <a:solidFill>
          <a:srgbClr val="7030A0"/>
        </a:solidFill>
        <a:effectLst/>
      </p:bgPr>
    </p:bg>
    <p:spTree>
      <p:nvGrpSpPr>
        <p:cNvPr id="1" name=""/>
        <p:cNvGrpSpPr/>
        <p:nvPr/>
      </p:nvGrpSpPr>
      <p:grpSpPr>
        <a:xfrm>
          <a:off x="0" y="0"/>
          <a:ext cx="0" cy="0"/>
          <a:chOff x="0" y="0"/>
          <a:chExt cx="0" cy="0"/>
        </a:xfrm>
      </p:grpSpPr>
      <p:sp>
        <p:nvSpPr>
          <p:cNvPr id="5" name="Title 4">
            <a:extLst>
              <a:ext uri="{FF2B5EF4-FFF2-40B4-BE49-F238E27FC236}">
                <a16:creationId id="{8B9F2801-314B-3743-8406-886D110B2060}"/>
              </a:ext>
            </a:extLst>
          </p:cNvPr>
          <p:cNvSpPr>
            <a:spLocks noGrp="1"/>
          </p:cNvSpPr>
          <p:nvPr>
            <p:ph type="title"/>
          </p:nvPr>
        </p:nvSpPr>
        <p:spPr>
          <a:xfrm>
            <a:off x="838200" y="187318"/>
            <a:ext cx="10515600" cy="777875"/>
          </a:xfrm>
        </p:spPr>
        <p:txBody>
          <a:bodyPr>
            <a:normAutofit/>
          </a:bodyPr>
          <a:lstStyle/>
          <a:p>
            <a:r>
              <a:rPr lang="en-US"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Noether Energy Core</a:t>
            </a:r>
          </a:p>
        </p:txBody>
      </p:sp>
      <p:sp>
        <p:nvSpPr>
          <p:cNvPr id="4" name="Footer Placeholder 3">
            <a:extLst>
              <a:ext uri="{FF2B5EF4-FFF2-40B4-BE49-F238E27FC236}">
                <a16:creationId id="{9D9787B4-78F2-E94F-B4AF-51DD5B0F66AA}"/>
              </a:ext>
            </a:extLst>
          </p:cNvPr>
          <p:cNvSpPr>
            <a:spLocks noGrp="1"/>
          </p:cNvSpPr>
          <p:nvPr>
            <p:ph type="ftr" sz="quarter" idx="11"/>
          </p:nvPr>
        </p:nvSpPr>
        <p:spPr>
          <a:xfrm>
            <a:off x="3152452" y="6550355"/>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J Mark Morris</a:t>
            </a:r>
          </a:p>
        </p:txBody>
      </p:sp>
      <p:sp>
        <p:nvSpPr>
          <p:cNvPr id="27" name="Oval 26">
            <a:extLst>
              <a:ext uri="{FF2B5EF4-FFF2-40B4-BE49-F238E27FC236}">
                <a16:creationId id="{177B3BCB-D82C-E84C-9991-CE693E895CA7}"/>
              </a:ext>
            </a:extLst>
          </p:cNvPr>
          <p:cNvSpPr>
            <a:spLocks noChangeAspect="1"/>
          </p:cNvSpPr>
          <p:nvPr/>
        </p:nvSpPr>
        <p:spPr>
          <a:xfrm rot="1800000">
            <a:off x="2734761" y="3061802"/>
            <a:ext cx="457200" cy="457200"/>
          </a:xfrm>
          <a:prstGeom prst="ellipse">
            <a:avLst/>
          </a:prstGeom>
          <a:noFill/>
          <a:ln w="762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Oval 27">
            <a:extLst>
              <a:ext uri="{FF2B5EF4-FFF2-40B4-BE49-F238E27FC236}">
                <a16:creationId id="{5D9E1FD4-330D-3B4F-A764-B00628290EBE}"/>
              </a:ext>
            </a:extLst>
          </p:cNvPr>
          <p:cNvSpPr>
            <a:spLocks noChangeAspect="1"/>
          </p:cNvSpPr>
          <p:nvPr/>
        </p:nvSpPr>
        <p:spPr>
          <a:xfrm rot="1800000">
            <a:off x="1820361" y="2147402"/>
            <a:ext cx="2286000" cy="2286000"/>
          </a:xfrm>
          <a:prstGeom prst="ellipse">
            <a:avLst/>
          </a:prstGeom>
          <a:noFill/>
          <a:ln w="762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0" name="Oval 29">
            <a:extLst>
              <a:ext uri="{FF2B5EF4-FFF2-40B4-BE49-F238E27FC236}">
                <a16:creationId id="{29D26BB5-DDB3-0A45-B9F6-FD176EE0C297}"/>
              </a:ext>
            </a:extLst>
          </p:cNvPr>
          <p:cNvSpPr>
            <a:spLocks noChangeAspect="1"/>
          </p:cNvSpPr>
          <p:nvPr/>
        </p:nvSpPr>
        <p:spPr>
          <a:xfrm rot="1800000">
            <a:off x="2277561" y="2604602"/>
            <a:ext cx="1371600" cy="1371600"/>
          </a:xfrm>
          <a:prstGeom prst="ellipse">
            <a:avLst/>
          </a:prstGeom>
          <a:noFill/>
          <a:ln w="762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0" name="Group 9">
            <a:extLst>
              <a:ext uri="{FF2B5EF4-FFF2-40B4-BE49-F238E27FC236}">
                <a16:creationId id="{AFF61065-CDDC-23FC-A2FB-CE913FC5B29A}"/>
              </a:ext>
            </a:extLst>
          </p:cNvPr>
          <p:cNvGrpSpPr/>
          <p:nvPr/>
        </p:nvGrpSpPr>
        <p:grpSpPr>
          <a:xfrm>
            <a:off x="2224531" y="2795172"/>
            <a:ext cx="1487726" cy="987524"/>
            <a:chOff x="2224531" y="2795172"/>
            <a:chExt cx="1487726" cy="987524"/>
          </a:xfrm>
        </p:grpSpPr>
        <p:sp>
          <p:nvSpPr>
            <p:cNvPr id="169" name="Oval 168">
              <a:extLst>
                <a:ext uri="{FF2B5EF4-FFF2-40B4-BE49-F238E27FC236}">
                  <a16:creationId id="{C4CD84E3-1A59-D840-979B-2DDC531F736E}"/>
                </a:ext>
              </a:extLst>
            </p:cNvPr>
            <p:cNvSpPr>
              <a:spLocks noChangeAspect="1"/>
            </p:cNvSpPr>
            <p:nvPr/>
          </p:nvSpPr>
          <p:spPr>
            <a:xfrm flipH="1">
              <a:off x="2224531" y="3477896"/>
              <a:ext cx="304800" cy="304800"/>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70" name="Oval 169">
              <a:extLst>
                <a:ext uri="{FF2B5EF4-FFF2-40B4-BE49-F238E27FC236}">
                  <a16:creationId id="{0C516E1C-C061-A941-B08D-1F3D314C814C}"/>
                </a:ext>
              </a:extLst>
            </p:cNvPr>
            <p:cNvSpPr>
              <a:spLocks noChangeAspect="1"/>
            </p:cNvSpPr>
            <p:nvPr/>
          </p:nvSpPr>
          <p:spPr>
            <a:xfrm flipH="1">
              <a:off x="3407457" y="2795172"/>
              <a:ext cx="304800" cy="304800"/>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11" name="Group 10">
            <a:extLst>
              <a:ext uri="{FF2B5EF4-FFF2-40B4-BE49-F238E27FC236}">
                <a16:creationId id="{E052E902-062E-BBA2-A813-CC015F77EFF2}"/>
              </a:ext>
            </a:extLst>
          </p:cNvPr>
          <p:cNvGrpSpPr/>
          <p:nvPr/>
        </p:nvGrpSpPr>
        <p:grpSpPr>
          <a:xfrm>
            <a:off x="2632804" y="3021810"/>
            <a:ext cx="677815" cy="526688"/>
            <a:chOff x="2632804" y="3021810"/>
            <a:chExt cx="677815" cy="526688"/>
          </a:xfrm>
        </p:grpSpPr>
        <p:sp>
          <p:nvSpPr>
            <p:cNvPr id="172" name="Oval 171">
              <a:extLst>
                <a:ext uri="{FF2B5EF4-FFF2-40B4-BE49-F238E27FC236}">
                  <a16:creationId id="{3F2BF1D0-7B45-6E45-9749-4C89397883E2}"/>
                </a:ext>
              </a:extLst>
            </p:cNvPr>
            <p:cNvSpPr>
              <a:spLocks noChangeAspect="1"/>
            </p:cNvSpPr>
            <p:nvPr/>
          </p:nvSpPr>
          <p:spPr>
            <a:xfrm flipH="1">
              <a:off x="3005819" y="3243698"/>
              <a:ext cx="304800" cy="304800"/>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73" name="Oval 172">
              <a:extLst>
                <a:ext uri="{FF2B5EF4-FFF2-40B4-BE49-F238E27FC236}">
                  <a16:creationId id="{5C4A8CAF-6093-DA4D-8E1D-F5DFBD78E1BA}"/>
                </a:ext>
              </a:extLst>
            </p:cNvPr>
            <p:cNvSpPr>
              <a:spLocks noChangeAspect="1"/>
            </p:cNvSpPr>
            <p:nvPr/>
          </p:nvSpPr>
          <p:spPr>
            <a:xfrm flipH="1">
              <a:off x="2632804" y="3021810"/>
              <a:ext cx="304800" cy="304800"/>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9" name="Group 8">
            <a:extLst>
              <a:ext uri="{FF2B5EF4-FFF2-40B4-BE49-F238E27FC236}">
                <a16:creationId id="{F33DF015-F9D0-8D86-F441-4528C1A90C3D}"/>
              </a:ext>
            </a:extLst>
          </p:cNvPr>
          <p:cNvGrpSpPr/>
          <p:nvPr/>
        </p:nvGrpSpPr>
        <p:grpSpPr>
          <a:xfrm>
            <a:off x="2816320" y="1996856"/>
            <a:ext cx="304857" cy="2579925"/>
            <a:chOff x="2816320" y="1996856"/>
            <a:chExt cx="304857" cy="2579925"/>
          </a:xfrm>
        </p:grpSpPr>
        <p:sp>
          <p:nvSpPr>
            <p:cNvPr id="171" name="Oval 170">
              <a:extLst>
                <a:ext uri="{FF2B5EF4-FFF2-40B4-BE49-F238E27FC236}">
                  <a16:creationId id="{38A006FF-6837-4E46-A95F-6757B6B88BB7}"/>
                </a:ext>
              </a:extLst>
            </p:cNvPr>
            <p:cNvSpPr>
              <a:spLocks noChangeAspect="1"/>
            </p:cNvSpPr>
            <p:nvPr/>
          </p:nvSpPr>
          <p:spPr>
            <a:xfrm flipH="1">
              <a:off x="2816320" y="4271981"/>
              <a:ext cx="304800" cy="304800"/>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74" name="Oval 173">
              <a:extLst>
                <a:ext uri="{FF2B5EF4-FFF2-40B4-BE49-F238E27FC236}">
                  <a16:creationId id="{059086E5-7989-BF4D-B184-9D5A6516B050}"/>
                </a:ext>
              </a:extLst>
            </p:cNvPr>
            <p:cNvSpPr>
              <a:spLocks noChangeAspect="1"/>
            </p:cNvSpPr>
            <p:nvPr/>
          </p:nvSpPr>
          <p:spPr>
            <a:xfrm flipH="1">
              <a:off x="2816377" y="1996856"/>
              <a:ext cx="304800" cy="304800"/>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54" name="TextBox 53">
            <a:extLst>
              <a:ext uri="{FF2B5EF4-FFF2-40B4-BE49-F238E27FC236}">
                <a16:creationId id="{14A5B4A5-C392-E442-818D-FB711E90577C}"/>
              </a:ext>
            </a:extLst>
          </p:cNvPr>
          <p:cNvSpPr txBox="1"/>
          <p:nvPr/>
        </p:nvSpPr>
        <p:spPr>
          <a:xfrm>
            <a:off x="5794941" y="1005931"/>
            <a:ext cx="6196338" cy="59093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sng"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Structure Architecture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6: Total immutable architrinos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3 : electrinos at -e/6</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3 : positrinos at +e/6</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0: Personality architrinos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1 : Generation I Noether energy core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Provides 3 dimensions of stability/containment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Implements SU(3) and the strong force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Spin determines chirality of the </a:t>
            </a: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structure</a:t>
            </a:r>
            <a:endPar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3 : orbiting electrino : </a:t>
            </a:r>
            <a:r>
              <a:rPr kumimoji="0" lang="en-US" sz="1800" b="0" i="0" u="none" strike="noStrike" kern="1200" cap="none" spc="0" normalizeH="0" baseline="0" noProof="0" dirty="0" err="1">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positrino</a:t>
            </a: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 binaries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binaries coupled at different energy scales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binaries tend to orthogonal at v &lt;&lt; c.</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Structure become increasingly oblate with velocity.</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Gen II and Gen III binary energy shielding</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Transacts energy in h-bar units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Conserves angular momentum in 3D</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Auto synchronizes binary energy (</a:t>
            </a:r>
            <a:r>
              <a:rPr kumimoji="0" lang="en-US" sz="1800" b="0" i="1"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Koide?</a:t>
            </a: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Implements stretchy ruler, variable clock</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Is an ideal black body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An essential emergent building block for the universe.</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5" name="TextBox 54">
            <a:extLst>
              <a:ext uri="{FF2B5EF4-FFF2-40B4-BE49-F238E27FC236}">
                <a16:creationId id="{177A867C-241B-7045-A629-A217BBE571A3}"/>
              </a:ext>
            </a:extLst>
          </p:cNvPr>
          <p:cNvSpPr txBox="1"/>
          <p:nvPr/>
        </p:nvSpPr>
        <p:spPr>
          <a:xfrm>
            <a:off x="1450236" y="5663225"/>
            <a:ext cx="2965877" cy="53860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 </a:t>
            </a:r>
            <a:r>
              <a:rPr kumimoji="0" lang="en-US" sz="1100" b="0" i="1"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2D representation of three coupled binaries</a:t>
            </a:r>
            <a:br>
              <a:rPr kumimoji="0" lang="en-US" sz="1100" b="0" i="1"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br>
            <a:r>
              <a:rPr kumimoji="0" lang="en-US" sz="1100" b="0" i="1"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different energy scales.</a:t>
            </a:r>
          </a:p>
        </p:txBody>
      </p:sp>
      <p:sp>
        <p:nvSpPr>
          <p:cNvPr id="3" name="Footer Placeholder 3"/>
          <p:cNvSpPr txBox="1">
            <a:spLocks/>
          </p:cNvSpPr>
          <p:nvPr/>
        </p:nvSpPr>
        <p:spPr>
          <a:xfrm>
            <a:off x="10942204" y="6481737"/>
            <a:ext cx="1217443"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architrino.com</a:t>
            </a:r>
          </a:p>
        </p:txBody>
      </p:sp>
    </p:spTree>
    <p:custDataLst>
      <p:tags r:id="rId1"/>
    </p:custDataLst>
    <p:extLst>
      <p:ext uri="{BB962C8B-B14F-4D97-AF65-F5344CB8AC3E}">
        <ns4:creationId val="388647747"/>
      </p:ext>
    </p:extLst>
  </p:cSld>
  <p:clrMapOvr>
    <a:masterClrMapping/>
  </p:clrMapOvr>
  <ns5:AlternateContent>
    <ns5:Choice Requires="p14">
      <p:transition spd="slow" ns4:dur="2000" advTm="13418"/>
    </ns5:Choice>
    <ns5:Fallback>
      <p:transition spd="slow" advTm="13418"/>
    </ns5:Fallback>
  </ns5: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repeatCount="indefinite" fill="hold" nodeType="clickEffect">
                                  <p:stCondLst>
                                    <p:cond delay="0"/>
                                  </p:stCondLst>
                                  <p:endCondLst>
                                    <p:cond evt="onNext" delay="0">
                                      <p:tgtEl>
                                        <p:sldTgt/>
                                      </p:tgtEl>
                                    </p:cond>
                                  </p:endCondLst>
                                  <p:childTnLst>
                                    <p:animRot by="21600000">
                                      <p:cBhvr>
                                        <p:cTn id="6" dur="500" fill="hold"/>
                                        <p:tgtEl>
                                          <p:spTgt spid="11"/>
                                        </p:tgtEl>
                                        <p:attrNameLst>
                                          <p:attrName>r</p:attrName>
                                        </p:attrNameLst>
                                      </p:cBhvr>
                                    </p:animRot>
                                  </p:childTnLst>
                                </p:cTn>
                              </p:par>
                              <p:par>
                                <p:cTn id="7" presetID="8" presetClass="emph" presetSubtype="0" repeatCount="indefinite" fill="hold" nodeType="withEffect">
                                  <p:stCondLst>
                                    <p:cond delay="0"/>
                                  </p:stCondLst>
                                  <p:endCondLst>
                                    <p:cond evt="onNext" delay="0">
                                      <p:tgtEl>
                                        <p:sldTgt/>
                                      </p:tgtEl>
                                    </p:cond>
                                  </p:endCondLst>
                                  <p:childTnLst>
                                    <p:animRot by="21600000">
                                      <p:cBhvr>
                                        <p:cTn id="8" dur="2000" fill="hold"/>
                                        <p:tgtEl>
                                          <p:spTgt spid="10"/>
                                        </p:tgtEl>
                                        <p:attrNameLst>
                                          <p:attrName>r</p:attrName>
                                        </p:attrNameLst>
                                      </p:cBhvr>
                                    </p:animRot>
                                  </p:childTnLst>
                                </p:cTn>
                              </p:par>
                              <p:par>
                                <p:cTn id="9" presetID="8" presetClass="emph" presetSubtype="0" repeatCount="indefinite" fill="hold" nodeType="withEffect">
                                  <p:stCondLst>
                                    <p:cond delay="0"/>
                                  </p:stCondLst>
                                  <p:endCondLst>
                                    <p:cond evt="onNext" delay="0">
                                      <p:tgtEl>
                                        <p:sldTgt/>
                                      </p:tgtEl>
                                    </p:cond>
                                  </p:endCondLst>
                                  <p:childTnLst>
                                    <p:animRot by="21600000">
                                      <p:cBhvr>
                                        <p:cTn id="10" dur="5000" fill="hold"/>
                                        <p:tgtEl>
                                          <p:spTgt spid="9"/>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a16="http://schemas.microsoft.com/office/drawing/2014/main" xmlns:ns3="http://schemas.microsoft.com/office/powerpoint/2010/main"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Footer Placeholder 3">
            <a:extLst>
              <a:ext uri="{FF2B5EF4-FFF2-40B4-BE49-F238E27FC236}">
                <a16:creationId id="{668F77D6-DFDA-5A46-8DF1-47F6A167C2B1}"/>
              </a:ext>
            </a:extLst>
          </p:cNvPr>
          <p:cNvSpPr txBox="1">
            <a:spLocks/>
          </p:cNvSpPr>
          <p:nvPr/>
        </p:nvSpPr>
        <p:spPr>
          <a:xfrm>
            <a:off x="10924248" y="6388602"/>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a:t>
            </a:r>
          </a:p>
        </p:txBody>
      </p:sp>
      <p:sp>
        <p:nvSpPr>
          <p:cNvPr id="2" name="Oval 1">
            <a:extLst>
              <a:ext uri="{FF2B5EF4-FFF2-40B4-BE49-F238E27FC236}">
                <a16:creationId id="{47D71178-1E46-B597-8D85-944B656E93ED}"/>
              </a:ext>
            </a:extLst>
          </p:cNvPr>
          <p:cNvSpPr/>
          <p:nvPr/>
        </p:nvSpPr>
        <p:spPr>
          <a:xfrm rot="7200000">
            <a:off x="5067282" y="3526398"/>
            <a:ext cx="1701597" cy="634674"/>
          </a:xfrm>
          <a:prstGeom prst="ellipse">
            <a:avLst/>
          </a:prstGeom>
          <a:noFill/>
          <a:ln w="1270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0" name="Straight Connector 9">
            <a:extLst>
              <a:ext uri="{FF2B5EF4-FFF2-40B4-BE49-F238E27FC236}">
                <a16:creationId id="{174E041C-172B-020E-078B-EC5562739827}"/>
              </a:ext>
            </a:extLst>
          </p:cNvPr>
          <p:cNvCxnSpPr>
            <a:cxnSpLocks/>
          </p:cNvCxnSpPr>
          <p:nvPr/>
        </p:nvCxnSpPr>
        <p:spPr>
          <a:xfrm>
            <a:off x="-177553" y="239697"/>
            <a:ext cx="11505460" cy="6720396"/>
          </a:xfrm>
          <a:prstGeom prst="line">
            <a:avLst/>
          </a:prstGeom>
          <a:ln w="9525">
            <a:solidFill>
              <a:srgbClr val="7030A0"/>
            </a:solidFill>
            <a:prstDash val="dashDot"/>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id="{2D66E320-044F-FF6B-745A-EEB0A0C8513C}"/>
              </a:ext>
            </a:extLst>
          </p:cNvPr>
          <p:cNvSpPr/>
          <p:nvPr/>
        </p:nvSpPr>
        <p:spPr>
          <a:xfrm rot="14400000">
            <a:off x="3637865" y="2677999"/>
            <a:ext cx="4522382" cy="2275977"/>
          </a:xfrm>
          <a:prstGeom prst="ellipse">
            <a:avLst/>
          </a:prstGeom>
          <a:noFill/>
          <a:ln w="1270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Oval 17">
            <a:extLst>
              <a:ext uri="{FF2B5EF4-FFF2-40B4-BE49-F238E27FC236}">
                <a16:creationId id="{29C5FBF2-D81F-F77E-EE4B-FADD35D47A9D}"/>
              </a:ext>
            </a:extLst>
          </p:cNvPr>
          <p:cNvSpPr/>
          <p:nvPr/>
        </p:nvSpPr>
        <p:spPr>
          <a:xfrm rot="10800000">
            <a:off x="294520" y="1449180"/>
            <a:ext cx="11247120" cy="4789112"/>
          </a:xfrm>
          <a:prstGeom prst="ellipse">
            <a:avLst/>
          </a:prstGeom>
          <a:noFill/>
          <a:ln w="1270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2" name="Straight Connector 21">
            <a:extLst>
              <a:ext uri="{FF2B5EF4-FFF2-40B4-BE49-F238E27FC236}">
                <a16:creationId id="{63E3415D-0EC7-FEF4-7EEC-458E9002BF2E}"/>
              </a:ext>
            </a:extLst>
          </p:cNvPr>
          <p:cNvCxnSpPr>
            <a:cxnSpLocks/>
          </p:cNvCxnSpPr>
          <p:nvPr/>
        </p:nvCxnSpPr>
        <p:spPr>
          <a:xfrm rot="3600000">
            <a:off x="157730" y="483537"/>
            <a:ext cx="11505460" cy="6720396"/>
          </a:xfrm>
          <a:prstGeom prst="line">
            <a:avLst/>
          </a:prstGeom>
          <a:ln w="9525">
            <a:solidFill>
              <a:srgbClr val="7030A0"/>
            </a:solidFill>
            <a:prstDash val="dash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id="{CDCA82C0-A939-DE94-42C7-2622B0765E45}"/>
              </a:ext>
            </a:extLst>
          </p:cNvPr>
          <p:cNvCxnSpPr>
            <a:cxnSpLocks/>
          </p:cNvCxnSpPr>
          <p:nvPr/>
        </p:nvCxnSpPr>
        <p:spPr>
          <a:xfrm rot="-3600000">
            <a:off x="127247" y="460677"/>
            <a:ext cx="11505460" cy="6720396"/>
          </a:xfrm>
          <a:prstGeom prst="line">
            <a:avLst/>
          </a:prstGeom>
          <a:ln w="9525">
            <a:solidFill>
              <a:srgbClr val="7030A0"/>
            </a:solidFill>
            <a:prstDash val="dashDot"/>
          </a:ln>
        </p:spPr>
        <p:style>
          <a:lnRef idx="1">
            <a:schemeClr val="accent1"/>
          </a:lnRef>
          <a:fillRef idx="0">
            <a:schemeClr val="accent1"/>
          </a:fillRef>
          <a:effectRef idx="0">
            <a:schemeClr val="accent1"/>
          </a:effectRef>
          <a:fontRef idx="minor">
            <a:schemeClr val="tx1"/>
          </a:fontRef>
        </p:style>
      </p:cxnSp>
      <p:sp>
        <p:nvSpPr>
          <p:cNvPr id="3" name="Triangle 2">
            <a:extLst>
              <a:ext uri="{FF2B5EF4-FFF2-40B4-BE49-F238E27FC236}">
                <a16:creationId id="{0BB63093-AB79-2C21-D264-E742BCC5746B}"/>
              </a:ext>
            </a:extLst>
          </p:cNvPr>
          <p:cNvSpPr/>
          <p:nvPr/>
        </p:nvSpPr>
        <p:spPr>
          <a:xfrm rot="18000000">
            <a:off x="7683389" y="2657784"/>
            <a:ext cx="425835" cy="459811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Triangle 12">
            <a:extLst>
              <a:ext uri="{FF2B5EF4-FFF2-40B4-BE49-F238E27FC236}">
                <a16:creationId id="{C67E867C-2059-D15A-B71A-BE7922644CB7}"/>
              </a:ext>
            </a:extLst>
          </p:cNvPr>
          <p:cNvSpPr/>
          <p:nvPr/>
        </p:nvSpPr>
        <p:spPr>
          <a:xfrm rot="3600000" flipV="1">
            <a:off x="7653511" y="379320"/>
            <a:ext cx="425835" cy="459811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Triangle 13">
            <a:extLst>
              <a:ext uri="{FF2B5EF4-FFF2-40B4-BE49-F238E27FC236}">
                <a16:creationId id="{B7D7F1EE-F275-F5E8-0866-AC50258AF484}"/>
              </a:ext>
            </a:extLst>
          </p:cNvPr>
          <p:cNvSpPr/>
          <p:nvPr/>
        </p:nvSpPr>
        <p:spPr>
          <a:xfrm rot="18000000" flipH="1" flipV="1">
            <a:off x="3792095" y="404428"/>
            <a:ext cx="425835" cy="459811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Triangle 15">
            <a:extLst>
              <a:ext uri="{FF2B5EF4-FFF2-40B4-BE49-F238E27FC236}">
                <a16:creationId id="{CE0950FA-1A7E-C1FE-EF19-0AD3CE2867A5}"/>
              </a:ext>
            </a:extLst>
          </p:cNvPr>
          <p:cNvSpPr/>
          <p:nvPr/>
        </p:nvSpPr>
        <p:spPr>
          <a:xfrm rot="3600000" flipH="1">
            <a:off x="3753145" y="2623082"/>
            <a:ext cx="425835" cy="459811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Triangle 16">
            <a:extLst>
              <a:ext uri="{FF2B5EF4-FFF2-40B4-BE49-F238E27FC236}">
                <a16:creationId id="{3360AA5D-1336-D9F5-47E3-17C5BA9A70B2}"/>
              </a:ext>
            </a:extLst>
          </p:cNvPr>
          <p:cNvSpPr/>
          <p:nvPr/>
        </p:nvSpPr>
        <p:spPr>
          <a:xfrm flipH="1">
            <a:off x="5702179" y="3750367"/>
            <a:ext cx="425835" cy="3002787"/>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Triangle 18">
            <a:extLst>
              <a:ext uri="{FF2B5EF4-FFF2-40B4-BE49-F238E27FC236}">
                <a16:creationId id="{1E110D80-9960-9DB6-6299-3A059A27C2D0}"/>
              </a:ext>
            </a:extLst>
          </p:cNvPr>
          <p:cNvSpPr/>
          <p:nvPr/>
        </p:nvSpPr>
        <p:spPr>
          <a:xfrm flipH="1" flipV="1">
            <a:off x="5702179" y="843389"/>
            <a:ext cx="425835" cy="3002787"/>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TextBox 19">
            <a:extLst>
              <a:ext uri="{FF2B5EF4-FFF2-40B4-BE49-F238E27FC236}">
                <a16:creationId id="{1B04EF87-D246-C217-EDC4-F20C86B970C3}"/>
              </a:ext>
            </a:extLst>
          </p:cNvPr>
          <p:cNvSpPr txBox="1"/>
          <p:nvPr/>
        </p:nvSpPr>
        <p:spPr>
          <a:xfrm>
            <a:off x="1746448" y="49037"/>
            <a:ext cx="884562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Noether Core Animation : Noether Core Nested Tri-binary Gyroscopic Flywheel</a:t>
            </a:r>
          </a:p>
        </p:txBody>
      </p:sp>
      <p:sp>
        <p:nvSpPr>
          <p:cNvPr id="4" name="Oval 3">
            <a:extLst>
              <a:ext uri="{FF2B5EF4-FFF2-40B4-BE49-F238E27FC236}">
                <a16:creationId id="{F5518008-3A0D-9C2C-7BAE-B369DD2D0B86}"/>
              </a:ext>
            </a:extLst>
          </p:cNvPr>
          <p:cNvSpPr>
            <a:spLocks noChangeAspect="1"/>
          </p:cNvSpPr>
          <p:nvPr/>
        </p:nvSpPr>
        <p:spPr>
          <a:xfrm flipH="1">
            <a:off x="5337781" y="4419292"/>
            <a:ext cx="304800" cy="304800"/>
          </a:xfrm>
          <a:prstGeom prst="ellipse">
            <a:avLst/>
          </a:prstGeom>
          <a:solidFill>
            <a:srgbClr val="0070C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 name="Oval 5">
            <a:extLst>
              <a:ext uri="{FF2B5EF4-FFF2-40B4-BE49-F238E27FC236}">
                <a16:creationId id="{7B16C4F3-6716-E2CD-9CC9-08863A0CB9D2}"/>
              </a:ext>
            </a:extLst>
          </p:cNvPr>
          <p:cNvSpPr>
            <a:spLocks noChangeAspect="1"/>
          </p:cNvSpPr>
          <p:nvPr/>
        </p:nvSpPr>
        <p:spPr>
          <a:xfrm flipH="1">
            <a:off x="6169262" y="2921623"/>
            <a:ext cx="304800" cy="304800"/>
          </a:xfrm>
          <a:prstGeom prst="ellipse">
            <a:avLst/>
          </a:prstGeom>
          <a:solidFill>
            <a:srgbClr val="FF0000"/>
          </a:solidFill>
          <a:ln w="12700">
            <a:solidFill>
              <a:schemeClr val="bg1"/>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 name="Oval 6">
            <a:extLst>
              <a:ext uri="{FF2B5EF4-FFF2-40B4-BE49-F238E27FC236}">
                <a16:creationId id="{68FE29E3-AA14-0975-BFDD-5AF64B9DF694}"/>
              </a:ext>
            </a:extLst>
          </p:cNvPr>
          <p:cNvSpPr>
            <a:spLocks noChangeAspect="1"/>
          </p:cNvSpPr>
          <p:nvPr/>
        </p:nvSpPr>
        <p:spPr>
          <a:xfrm flipH="1">
            <a:off x="104004" y="3691335"/>
            <a:ext cx="304800" cy="304800"/>
          </a:xfrm>
          <a:prstGeom prst="ellipse">
            <a:avLst/>
          </a:prstGeom>
          <a:solidFill>
            <a:srgbClr val="0070C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8" name="Oval 7">
            <a:extLst>
              <a:ext uri="{FF2B5EF4-FFF2-40B4-BE49-F238E27FC236}">
                <a16:creationId id="{D68AEB40-9406-C977-3D27-BE229941A7B2}"/>
              </a:ext>
            </a:extLst>
          </p:cNvPr>
          <p:cNvSpPr>
            <a:spLocks noChangeAspect="1"/>
          </p:cNvSpPr>
          <p:nvPr/>
        </p:nvSpPr>
        <p:spPr>
          <a:xfrm flipH="1">
            <a:off x="11375814" y="3608274"/>
            <a:ext cx="304800" cy="304800"/>
          </a:xfrm>
          <a:prstGeom prst="ellipse">
            <a:avLst/>
          </a:prstGeom>
          <a:solidFill>
            <a:srgbClr val="FF0000"/>
          </a:solidFill>
          <a:ln w="12700">
            <a:solidFill>
              <a:schemeClr val="bg1"/>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9" name="Oval 8">
            <a:extLst>
              <a:ext uri="{FF2B5EF4-FFF2-40B4-BE49-F238E27FC236}">
                <a16:creationId id="{A141F7E8-A2A1-7295-2756-72923248FD95}"/>
              </a:ext>
            </a:extLst>
          </p:cNvPr>
          <p:cNvSpPr>
            <a:spLocks noChangeAspect="1"/>
          </p:cNvSpPr>
          <p:nvPr/>
        </p:nvSpPr>
        <p:spPr>
          <a:xfrm flipH="1">
            <a:off x="7256993" y="5104021"/>
            <a:ext cx="304800" cy="304800"/>
          </a:xfrm>
          <a:prstGeom prst="ellipse">
            <a:avLst/>
          </a:prstGeom>
          <a:solidFill>
            <a:srgbClr val="0070C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1" name="Oval 10">
            <a:extLst>
              <a:ext uri="{FF2B5EF4-FFF2-40B4-BE49-F238E27FC236}">
                <a16:creationId id="{57C9B749-40C0-908B-EC86-837523F1F95E}"/>
              </a:ext>
            </a:extLst>
          </p:cNvPr>
          <p:cNvSpPr>
            <a:spLocks noChangeAspect="1"/>
          </p:cNvSpPr>
          <p:nvPr/>
        </p:nvSpPr>
        <p:spPr>
          <a:xfrm flipH="1">
            <a:off x="4309071" y="2064045"/>
            <a:ext cx="304800" cy="304800"/>
          </a:xfrm>
          <a:prstGeom prst="ellipse">
            <a:avLst/>
          </a:prstGeom>
          <a:solidFill>
            <a:srgbClr val="FF0000"/>
          </a:solidFill>
          <a:ln w="12700">
            <a:solidFill>
              <a:schemeClr val="bg1"/>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4" name="Footer Placeholder 3"/>
          <p:cNvSpPr txBox="1">
            <a:spLocks/>
          </p:cNvSpPr>
          <p:nvPr/>
        </p:nvSpPr>
        <p:spPr>
          <a:xfrm>
            <a:off x="10942204" y="6481737"/>
            <a:ext cx="1217443"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architrino.com</a:t>
            </a:r>
          </a:p>
        </p:txBody>
      </p:sp>
    </p:spTree>
    <p:extLst>
      <p:ext uri="{BB962C8B-B14F-4D97-AF65-F5344CB8AC3E}">
        <ns3:creationId val="2860064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path" presetSubtype="0" repeatCount="indefinite" fill="hold" grpId="0" nodeType="clickEffect">
                                  <p:stCondLst>
                                    <p:cond delay="0"/>
                                  </p:stCondLst>
                                  <p:endCondLst>
                                    <p:cond evt="onNext" delay="0">
                                      <p:tgtEl>
                                        <p:sldTgt/>
                                      </p:tgtEl>
                                    </p:cond>
                                  </p:endCondLst>
                                  <p:childTnLst>
                                    <p:animMotion origin="layout" path="M 0.19622 0.14097 C 0.25247 0.29514 0.26302 0.45972 0.22018 0.50949 C 0.17695 0.55856 0.09661 0.4743 0.04049 0.32176 C -0.0155 0.16805 -0.02553 0.00347 0.01692 -0.04653 C 0.06028 -0.0963 0.14036 -0.01181 0.19622 0.14097 Z " pathEditMode="relative" rAng="3420000" ptsTypes="AAAAA">
                                      <p:cBhvr>
                                        <p:cTn id="6" dur="2000" fill="hold"/>
                                        <p:tgtEl>
                                          <p:spTgt spid="11"/>
                                        </p:tgtEl>
                                        <p:attrNameLst>
                                          <p:attrName>ppt_x</p:attrName>
                                          <p:attrName>ppt_y</p:attrName>
                                        </p:attrNameLst>
                                      </p:cBhvr>
                                      <p:rCtr x="-7786" y="9051"/>
                                    </p:animMotion>
                                  </p:childTnLst>
                                </p:cTn>
                              </p:par>
                              <p:par>
                                <p:cTn id="7" presetID="1" presetClass="path" presetSubtype="0" repeatCount="indefinite" fill="hold" grpId="0" nodeType="withEffect">
                                  <p:stCondLst>
                                    <p:cond delay="1000"/>
                                  </p:stCondLst>
                                  <p:endCondLst>
                                    <p:cond evt="onNext" delay="0">
                                      <p:tgtEl>
                                        <p:sldTgt/>
                                      </p:tgtEl>
                                    </p:cond>
                                  </p:endCondLst>
                                  <p:childTnLst>
                                    <p:animMotion origin="layout" path="M -0.04545 -0.30255 C 0.00507 -0.14653 0.00911 0.01805 -0.03685 0.0662 C -0.08282 0.11342 -0.16172 0.02407 -0.21224 -0.13172 C -0.26289 -0.2875 -0.2668 -0.45324 -0.22071 -0.50047 C -0.17461 -0.54746 -0.09623 -0.45926 -0.04545 -0.30255 Z " pathEditMode="relative" rAng="3600000" ptsTypes="AAAAA">
                                      <p:cBhvr>
                                        <p:cTn id="8" dur="2000" fill="hold"/>
                                        <p:tgtEl>
                                          <p:spTgt spid="9"/>
                                        </p:tgtEl>
                                        <p:attrNameLst>
                                          <p:attrName>ppt_x</p:attrName>
                                          <p:attrName>ppt_y</p:attrName>
                                        </p:attrNameLst>
                                      </p:cBhvr>
                                      <p:rCtr x="-8333" y="8542"/>
                                    </p:animMotion>
                                  </p:childTnLst>
                                </p:cTn>
                              </p:par>
                              <p:par>
                                <p:cTn id="9" presetID="1" presetClass="path" presetSubtype="0" repeatCount="indefinite" fill="hold" grpId="0" nodeType="withEffect">
                                  <p:stCondLst>
                                    <p:cond delay="0"/>
                                  </p:stCondLst>
                                  <p:endCondLst>
                                    <p:cond evt="onNext" delay="0">
                                      <p:tgtEl>
                                        <p:sldTgt/>
                                      </p:tgtEl>
                                    </p:cond>
                                  </p:endCondLst>
                                  <p:childTnLst>
                                    <p:animMotion origin="layout" path="M -0.46028 -0.33727 C -0.2056 -0.33727 0.00104 -0.18102 0.00104 0.01204 C 0.00104 0.2044 -0.2056 0.36134 -0.46028 0.36134 C -0.71497 0.36134 -0.92148 0.2044 -0.92148 0.01204 C -0.92148 -0.18102 -0.71497 -0.33727 -0.46028 -0.33727 Z " pathEditMode="relative" rAng="0" ptsTypes="AAAAA">
                                      <p:cBhvr>
                                        <p:cTn id="10" dur="5000" fill="hold"/>
                                        <p:tgtEl>
                                          <p:spTgt spid="8"/>
                                        </p:tgtEl>
                                        <p:attrNameLst>
                                          <p:attrName>ppt_x</p:attrName>
                                          <p:attrName>ppt_y</p:attrName>
                                        </p:attrNameLst>
                                      </p:cBhvr>
                                      <p:rCtr x="0" y="34931"/>
                                    </p:animMotion>
                                  </p:childTnLst>
                                </p:cTn>
                              </p:par>
                              <p:par>
                                <p:cTn id="11" presetID="1" presetClass="path" presetSubtype="0" repeatCount="indefinite" fill="hold" grpId="0" nodeType="withEffect">
                                  <p:stCondLst>
                                    <p:cond delay="2500"/>
                                  </p:stCondLst>
                                  <p:endCondLst>
                                    <p:cond evt="onNext" delay="0">
                                      <p:tgtEl>
                                        <p:sldTgt/>
                                      </p:tgtEl>
                                    </p:cond>
                                  </p:endCondLst>
                                  <p:childTnLst>
                                    <p:animMotion origin="layout" path="M 0.46419 -0.34931 C 0.71888 -0.34931 0.92526 -0.19306 0.92526 -3.7037E-7 C 0.92526 0.19236 0.71888 0.34931 0.46419 0.34931 C 0.20937 0.34931 0.00273 0.19236 0.00273 -3.7037E-7 C 0.00273 -0.19306 0.20937 -0.34931 0.46419 -0.34931 Z " pathEditMode="relative" rAng="0" ptsTypes="AAAAA">
                                      <p:cBhvr>
                                        <p:cTn id="12" dur="5000" fill="hold"/>
                                        <p:tgtEl>
                                          <p:spTgt spid="7"/>
                                        </p:tgtEl>
                                        <p:attrNameLst>
                                          <p:attrName>ppt_x</p:attrName>
                                          <p:attrName>ppt_y</p:attrName>
                                        </p:attrNameLst>
                                      </p:cBhvr>
                                      <p:rCtr x="-26" y="34931"/>
                                    </p:animMotion>
                                  </p:childTnLst>
                                </p:cTn>
                              </p:par>
                              <p:par>
                                <p:cTn id="13" presetID="1" presetClass="path" presetSubtype="0" repeatCount="indefinite" fill="hold" grpId="0" nodeType="withEffect">
                                  <p:stCondLst>
                                    <p:cond delay="0"/>
                                  </p:stCondLst>
                                  <p:endCondLst>
                                    <p:cond evt="onNext" delay="0">
                                      <p:tgtEl>
                                        <p:sldTgt/>
                                      </p:tgtEl>
                                    </p:cond>
                                  </p:endCondLst>
                                  <p:childTnLst>
                                    <p:animMotion origin="layout" path="M 0.00443 1.85185E-6 C 0.01654 0.01296 0.0099 0.07245 -0.01068 0.13333 C -0.03073 0.19329 -0.05716 0.23125 -0.06901 0.21852 C -0.08151 0.20532 -0.07448 0.14653 -0.05443 0.08657 C -0.03385 0.02569 -0.00755 -0.01296 0.00443 1.85185E-6 Z " pathEditMode="relative" rAng="1860000" ptsTypes="AAAAA">
                                      <p:cBhvr>
                                        <p:cTn id="14" dur="1000" fill="hold"/>
                                        <p:tgtEl>
                                          <p:spTgt spid="6"/>
                                        </p:tgtEl>
                                        <p:attrNameLst>
                                          <p:attrName>ppt_x</p:attrName>
                                          <p:attrName>ppt_y</p:attrName>
                                        </p:attrNameLst>
                                      </p:cBhvr>
                                      <p:rCtr x="-3672" y="10926"/>
                                    </p:animMotion>
                                  </p:childTnLst>
                                </p:cTn>
                              </p:par>
                              <p:par>
                                <p:cTn id="15" presetID="1" presetClass="path" presetSubtype="0" repeatCount="indefinite" fill="hold" grpId="0" nodeType="withEffect">
                                  <p:stCondLst>
                                    <p:cond delay="500"/>
                                  </p:stCondLst>
                                  <p:endCondLst>
                                    <p:cond evt="onNext" delay="0">
                                      <p:tgtEl>
                                        <p:sldTgt/>
                                      </p:tgtEl>
                                    </p:cond>
                                  </p:endCondLst>
                                  <p:childTnLst>
                                    <p:animMotion origin="layout" path="M 0.07266 -0.21806 C 0.08477 -0.2051 0.07813 -0.14561 0.05755 -0.08473 C 0.0375 -0.02477 0.01107 0.01319 -0.00078 0.00046 C -0.01328 -0.01273 -0.00625 -0.07153 0.0138 -0.13148 C 0.03438 -0.19236 0.06068 -0.23102 0.07266 -0.21806 Z " pathEditMode="relative" rAng="1860000" ptsTypes="AAAAA">
                                      <p:cBhvr>
                                        <p:cTn id="16" dur="1000" fill="hold"/>
                                        <p:tgtEl>
                                          <p:spTgt spid="4"/>
                                        </p:tgtEl>
                                        <p:attrNameLst>
                                          <p:attrName>ppt_x</p:attrName>
                                          <p:attrName>ppt_y</p:attrName>
                                        </p:attrNameLst>
                                      </p:cBhvr>
                                      <p:rCtr x="-3672" y="1092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P spid="11" grpId="0" animBg="1"/>
    </p:bldLst>
  </p:timing>
</p:sld>
</file>

<file path=ppt/slides/slide7.xml><?xml version="1.0" encoding="utf-8"?>
<p:sld xmlns:a="http://schemas.openxmlformats.org/drawingml/2006/main" xmlns:a16="http://schemas.microsoft.com/office/drawing/2014/main" xmlns:ns3="http://schemas.microsoft.com/office/powerpoint/2010/main"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Footer Placeholder 3">
            <a:extLst>
              <a:ext uri="{FF2B5EF4-FFF2-40B4-BE49-F238E27FC236}">
                <a16:creationId id="{668F77D6-DFDA-5A46-8DF1-47F6A167C2B1}"/>
              </a:ext>
            </a:extLst>
          </p:cNvPr>
          <p:cNvSpPr txBox="1">
            <a:spLocks/>
          </p:cNvSpPr>
          <p:nvPr/>
        </p:nvSpPr>
        <p:spPr>
          <a:xfrm>
            <a:off x="10924248" y="6388602"/>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a:t>
            </a:r>
          </a:p>
        </p:txBody>
      </p:sp>
      <p:sp>
        <p:nvSpPr>
          <p:cNvPr id="2" name="Oval 1">
            <a:extLst>
              <a:ext uri="{FF2B5EF4-FFF2-40B4-BE49-F238E27FC236}">
                <a16:creationId id="{47D71178-1E46-B597-8D85-944B656E93ED}"/>
              </a:ext>
            </a:extLst>
          </p:cNvPr>
          <p:cNvSpPr/>
          <p:nvPr/>
        </p:nvSpPr>
        <p:spPr>
          <a:xfrm rot="7200000">
            <a:off x="5067282" y="3526398"/>
            <a:ext cx="1701597" cy="634674"/>
          </a:xfrm>
          <a:prstGeom prst="ellipse">
            <a:avLst/>
          </a:prstGeom>
          <a:noFill/>
          <a:ln w="1270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0" name="Straight Connector 9">
            <a:extLst>
              <a:ext uri="{FF2B5EF4-FFF2-40B4-BE49-F238E27FC236}">
                <a16:creationId id="{174E041C-172B-020E-078B-EC5562739827}"/>
              </a:ext>
            </a:extLst>
          </p:cNvPr>
          <p:cNvCxnSpPr>
            <a:cxnSpLocks/>
          </p:cNvCxnSpPr>
          <p:nvPr/>
        </p:nvCxnSpPr>
        <p:spPr>
          <a:xfrm>
            <a:off x="-177553" y="239697"/>
            <a:ext cx="11505460" cy="6720396"/>
          </a:xfrm>
          <a:prstGeom prst="line">
            <a:avLst/>
          </a:prstGeom>
          <a:ln w="9525">
            <a:solidFill>
              <a:srgbClr val="7030A0"/>
            </a:solidFill>
            <a:prstDash val="dashDot"/>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id="{2D66E320-044F-FF6B-745A-EEB0A0C8513C}"/>
              </a:ext>
            </a:extLst>
          </p:cNvPr>
          <p:cNvSpPr/>
          <p:nvPr/>
        </p:nvSpPr>
        <p:spPr>
          <a:xfrm rot="14400000">
            <a:off x="3637865" y="2677999"/>
            <a:ext cx="4522382" cy="2275977"/>
          </a:xfrm>
          <a:prstGeom prst="ellipse">
            <a:avLst/>
          </a:prstGeom>
          <a:noFill/>
          <a:ln w="1270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Oval 17">
            <a:extLst>
              <a:ext uri="{FF2B5EF4-FFF2-40B4-BE49-F238E27FC236}">
                <a16:creationId id="{29C5FBF2-D81F-F77E-EE4B-FADD35D47A9D}"/>
              </a:ext>
            </a:extLst>
          </p:cNvPr>
          <p:cNvSpPr/>
          <p:nvPr/>
        </p:nvSpPr>
        <p:spPr>
          <a:xfrm rot="10800000">
            <a:off x="294520" y="1449180"/>
            <a:ext cx="11247120" cy="4789112"/>
          </a:xfrm>
          <a:prstGeom prst="ellipse">
            <a:avLst/>
          </a:prstGeom>
          <a:noFill/>
          <a:ln w="1270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2" name="Straight Connector 21">
            <a:extLst>
              <a:ext uri="{FF2B5EF4-FFF2-40B4-BE49-F238E27FC236}">
                <a16:creationId id="{63E3415D-0EC7-FEF4-7EEC-458E9002BF2E}"/>
              </a:ext>
            </a:extLst>
          </p:cNvPr>
          <p:cNvCxnSpPr>
            <a:cxnSpLocks/>
          </p:cNvCxnSpPr>
          <p:nvPr/>
        </p:nvCxnSpPr>
        <p:spPr>
          <a:xfrm rot="3600000">
            <a:off x="157730" y="483537"/>
            <a:ext cx="11505460" cy="6720396"/>
          </a:xfrm>
          <a:prstGeom prst="line">
            <a:avLst/>
          </a:prstGeom>
          <a:ln w="9525">
            <a:solidFill>
              <a:srgbClr val="7030A0"/>
            </a:solidFill>
            <a:prstDash val="dash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id="{CDCA82C0-A939-DE94-42C7-2622B0765E45}"/>
              </a:ext>
            </a:extLst>
          </p:cNvPr>
          <p:cNvCxnSpPr>
            <a:cxnSpLocks/>
          </p:cNvCxnSpPr>
          <p:nvPr/>
        </p:nvCxnSpPr>
        <p:spPr>
          <a:xfrm rot="-3600000">
            <a:off x="127247" y="460677"/>
            <a:ext cx="11505460" cy="6720396"/>
          </a:xfrm>
          <a:prstGeom prst="line">
            <a:avLst/>
          </a:prstGeom>
          <a:ln w="9525">
            <a:solidFill>
              <a:srgbClr val="7030A0"/>
            </a:solidFill>
            <a:prstDash val="dashDot"/>
          </a:ln>
        </p:spPr>
        <p:style>
          <a:lnRef idx="1">
            <a:schemeClr val="accent1"/>
          </a:lnRef>
          <a:fillRef idx="0">
            <a:schemeClr val="accent1"/>
          </a:fillRef>
          <a:effectRef idx="0">
            <a:schemeClr val="accent1"/>
          </a:effectRef>
          <a:fontRef idx="minor">
            <a:schemeClr val="tx1"/>
          </a:fontRef>
        </p:style>
      </p:cxnSp>
      <p:sp>
        <p:nvSpPr>
          <p:cNvPr id="3" name="Triangle 2">
            <a:extLst>
              <a:ext uri="{FF2B5EF4-FFF2-40B4-BE49-F238E27FC236}">
                <a16:creationId id="{0BB63093-AB79-2C21-D264-E742BCC5746B}"/>
              </a:ext>
            </a:extLst>
          </p:cNvPr>
          <p:cNvSpPr/>
          <p:nvPr/>
        </p:nvSpPr>
        <p:spPr>
          <a:xfrm rot="18000000">
            <a:off x="7683389" y="2657784"/>
            <a:ext cx="425835" cy="459811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Triangle 12">
            <a:extLst>
              <a:ext uri="{FF2B5EF4-FFF2-40B4-BE49-F238E27FC236}">
                <a16:creationId id="{C67E867C-2059-D15A-B71A-BE7922644CB7}"/>
              </a:ext>
            </a:extLst>
          </p:cNvPr>
          <p:cNvSpPr/>
          <p:nvPr/>
        </p:nvSpPr>
        <p:spPr>
          <a:xfrm rot="3600000" flipV="1">
            <a:off x="7653511" y="379320"/>
            <a:ext cx="425835" cy="459811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Triangle 13">
            <a:extLst>
              <a:ext uri="{FF2B5EF4-FFF2-40B4-BE49-F238E27FC236}">
                <a16:creationId id="{B7D7F1EE-F275-F5E8-0866-AC50258AF484}"/>
              </a:ext>
            </a:extLst>
          </p:cNvPr>
          <p:cNvSpPr/>
          <p:nvPr/>
        </p:nvSpPr>
        <p:spPr>
          <a:xfrm rot="18000000" flipH="1" flipV="1">
            <a:off x="3792095" y="404428"/>
            <a:ext cx="425835" cy="459811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Triangle 15">
            <a:extLst>
              <a:ext uri="{FF2B5EF4-FFF2-40B4-BE49-F238E27FC236}">
                <a16:creationId id="{CE0950FA-1A7E-C1FE-EF19-0AD3CE2867A5}"/>
              </a:ext>
            </a:extLst>
          </p:cNvPr>
          <p:cNvSpPr/>
          <p:nvPr/>
        </p:nvSpPr>
        <p:spPr>
          <a:xfrm rot="3600000" flipH="1">
            <a:off x="3753145" y="2623082"/>
            <a:ext cx="425835" cy="459811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Triangle 16">
            <a:extLst>
              <a:ext uri="{FF2B5EF4-FFF2-40B4-BE49-F238E27FC236}">
                <a16:creationId id="{3360AA5D-1336-D9F5-47E3-17C5BA9A70B2}"/>
              </a:ext>
            </a:extLst>
          </p:cNvPr>
          <p:cNvSpPr/>
          <p:nvPr/>
        </p:nvSpPr>
        <p:spPr>
          <a:xfrm flipH="1">
            <a:off x="5702179" y="3750367"/>
            <a:ext cx="425835" cy="3002787"/>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Triangle 18">
            <a:extLst>
              <a:ext uri="{FF2B5EF4-FFF2-40B4-BE49-F238E27FC236}">
                <a16:creationId id="{1E110D80-9960-9DB6-6299-3A059A27C2D0}"/>
              </a:ext>
            </a:extLst>
          </p:cNvPr>
          <p:cNvSpPr/>
          <p:nvPr/>
        </p:nvSpPr>
        <p:spPr>
          <a:xfrm flipH="1" flipV="1">
            <a:off x="5702179" y="843389"/>
            <a:ext cx="425835" cy="3002787"/>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TextBox 19">
            <a:extLst>
              <a:ext uri="{FF2B5EF4-FFF2-40B4-BE49-F238E27FC236}">
                <a16:creationId id="{1B04EF87-D246-C217-EDC4-F20C86B970C3}"/>
              </a:ext>
            </a:extLst>
          </p:cNvPr>
          <p:cNvSpPr txBox="1"/>
          <p:nvPr/>
        </p:nvSpPr>
        <p:spPr>
          <a:xfrm>
            <a:off x="1048948" y="89941"/>
            <a:ext cx="949971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Important “Phases” May Occur When One of the Binaries is “Phase-Locked” at v = @</a:t>
            </a:r>
            <a:endParaRPr kumimoji="0" lang="en-US" sz="1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 name="Oval 3">
            <a:extLst>
              <a:ext uri="{FF2B5EF4-FFF2-40B4-BE49-F238E27FC236}">
                <a16:creationId id="{F5518008-3A0D-9C2C-7BAE-B369DD2D0B86}"/>
              </a:ext>
            </a:extLst>
          </p:cNvPr>
          <p:cNvSpPr>
            <a:spLocks noChangeAspect="1"/>
          </p:cNvSpPr>
          <p:nvPr/>
        </p:nvSpPr>
        <p:spPr>
          <a:xfrm flipH="1">
            <a:off x="5337781" y="4419292"/>
            <a:ext cx="304800" cy="304800"/>
          </a:xfrm>
          <a:prstGeom prst="ellipse">
            <a:avLst/>
          </a:prstGeom>
          <a:solidFill>
            <a:srgbClr val="0070C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 name="Oval 5">
            <a:extLst>
              <a:ext uri="{FF2B5EF4-FFF2-40B4-BE49-F238E27FC236}">
                <a16:creationId id="{7B16C4F3-6716-E2CD-9CC9-08863A0CB9D2}"/>
              </a:ext>
            </a:extLst>
          </p:cNvPr>
          <p:cNvSpPr>
            <a:spLocks noChangeAspect="1"/>
          </p:cNvSpPr>
          <p:nvPr/>
        </p:nvSpPr>
        <p:spPr>
          <a:xfrm flipH="1">
            <a:off x="6169262" y="2921623"/>
            <a:ext cx="304800" cy="304800"/>
          </a:xfrm>
          <a:prstGeom prst="ellipse">
            <a:avLst/>
          </a:prstGeom>
          <a:solidFill>
            <a:srgbClr val="FF0000"/>
          </a:solidFill>
          <a:ln w="12700">
            <a:solidFill>
              <a:schemeClr val="bg1"/>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 name="Oval 6">
            <a:extLst>
              <a:ext uri="{FF2B5EF4-FFF2-40B4-BE49-F238E27FC236}">
                <a16:creationId id="{68FE29E3-AA14-0975-BFDD-5AF64B9DF694}"/>
              </a:ext>
            </a:extLst>
          </p:cNvPr>
          <p:cNvSpPr>
            <a:spLocks noChangeAspect="1"/>
          </p:cNvSpPr>
          <p:nvPr/>
        </p:nvSpPr>
        <p:spPr>
          <a:xfrm flipH="1">
            <a:off x="104004" y="3691335"/>
            <a:ext cx="304800" cy="304800"/>
          </a:xfrm>
          <a:prstGeom prst="ellipse">
            <a:avLst/>
          </a:prstGeom>
          <a:solidFill>
            <a:srgbClr val="0070C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8" name="Oval 7">
            <a:extLst>
              <a:ext uri="{FF2B5EF4-FFF2-40B4-BE49-F238E27FC236}">
                <a16:creationId id="{D68AEB40-9406-C977-3D27-BE229941A7B2}"/>
              </a:ext>
            </a:extLst>
          </p:cNvPr>
          <p:cNvSpPr>
            <a:spLocks noChangeAspect="1"/>
          </p:cNvSpPr>
          <p:nvPr/>
        </p:nvSpPr>
        <p:spPr>
          <a:xfrm flipH="1">
            <a:off x="11375814" y="3608274"/>
            <a:ext cx="304800" cy="304800"/>
          </a:xfrm>
          <a:prstGeom prst="ellipse">
            <a:avLst/>
          </a:prstGeom>
          <a:solidFill>
            <a:srgbClr val="FF0000"/>
          </a:solidFill>
          <a:ln w="12700">
            <a:solidFill>
              <a:schemeClr val="bg1"/>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9" name="Oval 8">
            <a:extLst>
              <a:ext uri="{FF2B5EF4-FFF2-40B4-BE49-F238E27FC236}">
                <a16:creationId id="{A141F7E8-A2A1-7295-2756-72923248FD95}"/>
              </a:ext>
            </a:extLst>
          </p:cNvPr>
          <p:cNvSpPr>
            <a:spLocks noChangeAspect="1"/>
          </p:cNvSpPr>
          <p:nvPr/>
        </p:nvSpPr>
        <p:spPr>
          <a:xfrm flipH="1">
            <a:off x="7256993" y="5104021"/>
            <a:ext cx="304800" cy="304800"/>
          </a:xfrm>
          <a:prstGeom prst="ellipse">
            <a:avLst/>
          </a:prstGeom>
          <a:solidFill>
            <a:srgbClr val="0070C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1" name="Oval 10">
            <a:extLst>
              <a:ext uri="{FF2B5EF4-FFF2-40B4-BE49-F238E27FC236}">
                <a16:creationId id="{57C9B749-40C0-908B-EC86-837523F1F95E}"/>
              </a:ext>
            </a:extLst>
          </p:cNvPr>
          <p:cNvSpPr>
            <a:spLocks noChangeAspect="1"/>
          </p:cNvSpPr>
          <p:nvPr/>
        </p:nvSpPr>
        <p:spPr>
          <a:xfrm flipH="1">
            <a:off x="4309071" y="2064045"/>
            <a:ext cx="304800" cy="304800"/>
          </a:xfrm>
          <a:prstGeom prst="ellipse">
            <a:avLst/>
          </a:prstGeom>
          <a:solidFill>
            <a:srgbClr val="FF0000"/>
          </a:solidFill>
          <a:ln w="12700">
            <a:solidFill>
              <a:schemeClr val="bg1"/>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1" name="TextBox 20">
            <a:extLst>
              <a:ext uri="{FF2B5EF4-FFF2-40B4-BE49-F238E27FC236}">
                <a16:creationId id="{2DD8B040-BE25-D945-23B8-5EFEFEEE7B11}"/>
              </a:ext>
            </a:extLst>
          </p:cNvPr>
          <p:cNvSpPr txBox="1"/>
          <p:nvPr/>
        </p:nvSpPr>
        <p:spPr>
          <a:xfrm>
            <a:off x="1616396" y="3180408"/>
            <a:ext cx="1660731" cy="923330"/>
          </a:xfrm>
          <a:prstGeom prst="rect">
            <a:avLst/>
          </a:prstGeom>
          <a:noFill/>
        </p:spPr>
        <p:txBody>
          <a:bodyPr wrap="square">
            <a:spAutoFit/>
          </a:bodyPr>
          <a:lstStyle/>
          <a:p>
            <a:r>
              <a:rPr lang="en-US" b="1"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Generation I</a:t>
            </a:r>
          </a:p>
          <a:p>
            <a:r>
              <a:rPr lang="en-US" b="1"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Generation II</a:t>
            </a:r>
          </a:p>
          <a:p>
            <a:r>
              <a:rPr lang="en-US" b="1"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Generation III</a:t>
            </a:r>
          </a:p>
        </p:txBody>
      </p:sp>
      <p:cxnSp>
        <p:nvCxnSpPr>
          <p:cNvPr id="25" name="Straight Arrow Connector 24">
            <a:extLst>
              <a:ext uri="{FF2B5EF4-FFF2-40B4-BE49-F238E27FC236}">
                <a16:creationId id="{D90A2777-5754-7C3B-2DE8-86FA0A6394EB}"/>
              </a:ext>
            </a:extLst>
          </p:cNvPr>
          <p:cNvCxnSpPr>
            <a:cxnSpLocks/>
          </p:cNvCxnSpPr>
          <p:nvPr/>
        </p:nvCxnSpPr>
        <p:spPr>
          <a:xfrm flipH="1">
            <a:off x="495158" y="3367589"/>
            <a:ext cx="1159105" cy="0"/>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id="{DC1549E3-58E4-BD08-4B6C-12166EC9ECF6}"/>
              </a:ext>
            </a:extLst>
          </p:cNvPr>
          <p:cNvCxnSpPr>
            <a:cxnSpLocks/>
            <a:stCxn id="21" idx="3"/>
          </p:cNvCxnSpPr>
          <p:nvPr/>
        </p:nvCxnSpPr>
        <p:spPr>
          <a:xfrm>
            <a:off x="3277127" y="3642073"/>
            <a:ext cx="1184344" cy="0"/>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id="{DFAE438A-BEF5-4199-8510-C1381A4A7016}"/>
              </a:ext>
            </a:extLst>
          </p:cNvPr>
          <p:cNvCxnSpPr>
            <a:cxnSpLocks/>
          </p:cNvCxnSpPr>
          <p:nvPr/>
        </p:nvCxnSpPr>
        <p:spPr>
          <a:xfrm>
            <a:off x="3277127" y="3913074"/>
            <a:ext cx="2060654" cy="0"/>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6" name="Table 35">
            <a:extLst>
              <a:ext uri="{FF2B5EF4-FFF2-40B4-BE49-F238E27FC236}">
                <a16:creationId id="{983BE59E-B828-562F-AA46-E64CE9153158}"/>
              </a:ext>
            </a:extLst>
          </p:cNvPr>
          <p:cNvGraphicFramePr>
            <a:graphicFrameLocks/>
          </p:cNvGraphicFramePr>
          <p:nvPr>
            <p:extLst>
              <p:ext uri="{D42A27DB-BD31-4B8C-83A1-F6EECF244321}">
                <ns3:modId val="1482906810"/>
              </p:ext>
            </p:extLst>
          </p:nvPr>
        </p:nvGraphicFramePr>
        <p:xfrm>
          <a:off x="7616216" y="2891019"/>
          <a:ext cx="3308032" cy="1849936"/>
        </p:xfrm>
        <a:graphic>
          <a:graphicData uri="http://schemas.openxmlformats.org/drawingml/2006/table">
            <a:tbl>
              <a:tblPr firstRow="1" bandRow="1">
                <a:tableStyleId>{5C22544A-7EE6-4342-B048-85BDC9FD1C3A}</a:tableStyleId>
              </a:tblPr>
              <a:tblGrid>
                <a:gridCol w="1695767">
                  <a:extLst>
                    <a:ext uri="{9D8B030D-6E8A-4147-A177-3AD203B41FA5}">
                      <a16:colId val="2662534927"/>
                    </a:ext>
                  </a:extLst>
                </a:gridCol>
                <a:gridCol w="563880">
                  <a:extLst>
                    <a:ext uri="{9D8B030D-6E8A-4147-A177-3AD203B41FA5}">
                      <a16:colId val="1471760688"/>
                    </a:ext>
                  </a:extLst>
                </a:gridCol>
                <a:gridCol w="484505">
                  <a:extLst>
                    <a:ext uri="{9D8B030D-6E8A-4147-A177-3AD203B41FA5}">
                      <a16:colId val="2546470576"/>
                    </a:ext>
                  </a:extLst>
                </a:gridCol>
                <a:gridCol w="563880">
                  <a:extLst>
                    <a:ext uri="{9D8B030D-6E8A-4147-A177-3AD203B41FA5}">
                      <a16:colId val="1353440401"/>
                    </a:ext>
                  </a:extLst>
                </a:gridCol>
              </a:tblGrid>
              <a:tr h="168176">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Architrino Velocity</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gridSpan="3">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Generation</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dirty="0">
                        <a:latin typeface="Helvetica Neue" panose="02000503000000020004" pitchFamily="2" charset="0"/>
                        <a:ea typeface="Helvetica Neue" panose="02000503000000020004" pitchFamily="2" charset="0"/>
                        <a:cs typeface="Helvetica Neue" panose="02000503000000020004" pitchFamily="2" charset="0"/>
                      </a:endParaRPr>
                    </a:p>
                  </a:txBody>
                  <a:tcPr/>
                </a:tc>
                <a:tc hMerge="1">
                  <a:txBody>
                    <a:bodyPr/>
                    <a:lstStyle/>
                    <a:p>
                      <a:endParaRPr lang="en-US" dirty="0">
                        <a:latin typeface="Helvetica Neue" panose="02000503000000020004" pitchFamily="2" charset="0"/>
                        <a:ea typeface="Helvetica Neue" panose="02000503000000020004" pitchFamily="2" charset="0"/>
                        <a:cs typeface="Helvetica Neue" panose="02000503000000020004" pitchFamily="2" charset="0"/>
                      </a:endParaRPr>
                    </a:p>
                  </a:txBody>
                  <a:tcPr/>
                </a:tc>
                <a:extLst>
                  <a:ext uri="{0D108BD9-81ED-4DB2-BD59-A6C34878D82A}">
                    <a16:rowId val="2416222776"/>
                  </a:ext>
                </a:extLst>
              </a:tr>
              <a:tr h="168176">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Phase Hypothesis</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kern="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kern="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II</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kern="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III</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solidFill>
                  </a:tcPr>
                </a:tc>
                <a:extLst>
                  <a:ext uri="{0D108BD9-81ED-4DB2-BD59-A6C34878D82A}">
                    <a16:rowId val="213185815"/>
                  </a:ext>
                </a:extLst>
              </a:tr>
              <a:tr h="168176">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Binary Max Curvature</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max</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extLst>
                  <a:ext uri="{0D108BD9-81ED-4DB2-BD59-A6C34878D82A}">
                    <a16:rowId val="1387417564"/>
                  </a:ext>
                </a:extLst>
              </a:tr>
              <a:tr h="168176">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Decay to binaries?</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extLst>
                  <a:ext uri="{0D108BD9-81ED-4DB2-BD59-A6C34878D82A}">
                    <a16:rowId val="4158364645"/>
                  </a:ext>
                </a:extLst>
              </a:tr>
              <a:tr h="168176">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Inside a black hole </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&gt;@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&gt;&gt;@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&gt;&gt;&gt;@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extLst>
                  <a:ext uri="{0D108BD9-81ED-4DB2-BD59-A6C34878D82A}">
                    <a16:rowId val="1771413015"/>
                  </a:ext>
                </a:extLst>
              </a:tr>
              <a:tr h="168176">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Spacetime assemblies</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&gt;@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&gt;&gt;@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extLst>
                  <a:ext uri="{0D108BD9-81ED-4DB2-BD59-A6C34878D82A}">
                    <a16:rowId val="2761707017"/>
                  </a:ext>
                </a:extLst>
              </a:tr>
              <a:tr h="168176">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&lt;@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&gt;@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&gt;&gt;@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extLst>
                  <a:ext uri="{0D108BD9-81ED-4DB2-BD59-A6C34878D82A}">
                    <a16:rowId val="2344517578"/>
                  </a:ext>
                </a:extLst>
              </a:tr>
              <a:tr h="168176">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Typical Gen I fermion?</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&lt;@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&gt;@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extLst>
                  <a:ext uri="{0D108BD9-81ED-4DB2-BD59-A6C34878D82A}">
                    <a16:rowId val="3200329389"/>
                  </a:ext>
                </a:extLst>
              </a:tr>
              <a:tr h="168176">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&lt;&lt;@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&lt;@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&gt;@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extLst>
                  <a:ext uri="{0D108BD9-81ED-4DB2-BD59-A6C34878D82A}">
                    <a16:rowId val="1584133917"/>
                  </a:ext>
                </a:extLst>
              </a:tr>
              <a:tr h="168176">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&lt;&lt;@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&lt;@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extLst>
                  <a:ext uri="{0D108BD9-81ED-4DB2-BD59-A6C34878D82A}">
                    <a16:rowId val="3703702214"/>
                  </a:ext>
                </a:extLst>
              </a:tr>
              <a:tr h="168176">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&lt;&lt;&lt;@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&lt;&lt;@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&lt;@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extLst>
                  <a:ext uri="{0D108BD9-81ED-4DB2-BD59-A6C34878D82A}">
                    <a16:rowId val="493253458"/>
                  </a:ext>
                </a:extLst>
              </a:tr>
            </a:tbl>
          </a:graphicData>
        </a:graphic>
      </p:graphicFrame>
      <p:sp>
        <p:nvSpPr>
          <p:cNvPr id="37" name="Footer Placeholder 3"/>
          <p:cNvSpPr txBox="1">
            <a:spLocks/>
          </p:cNvSpPr>
          <p:nvPr/>
        </p:nvSpPr>
        <p:spPr>
          <a:xfrm>
            <a:off x="10942204" y="6481737"/>
            <a:ext cx="1217443"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architrino.com</a:t>
            </a:r>
          </a:p>
        </p:txBody>
      </p:sp>
    </p:spTree>
    <p:extLst>
      <p:ext uri="{BB962C8B-B14F-4D97-AF65-F5344CB8AC3E}">
        <ns3:creationId val="988754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path" presetSubtype="0" repeatCount="indefinite" fill="hold" grpId="0" nodeType="clickEffect">
                                  <p:stCondLst>
                                    <p:cond delay="0"/>
                                  </p:stCondLst>
                                  <p:endCondLst>
                                    <p:cond evt="onNext" delay="0">
                                      <p:tgtEl>
                                        <p:sldTgt/>
                                      </p:tgtEl>
                                    </p:cond>
                                  </p:endCondLst>
                                  <p:childTnLst>
                                    <p:animMotion origin="layout" path="M 0.19622 0.14097 C 0.25247 0.29514 0.26302 0.45972 0.22018 0.50949 C 0.17695 0.55856 0.09661 0.4743 0.04049 0.32176 C -0.0155 0.16805 -0.02553 0.00347 0.01692 -0.04653 C 0.06028 -0.0963 0.14036 -0.01181 0.19622 0.14097 Z " pathEditMode="relative" rAng="3420000" ptsTypes="AAAAA">
                                      <p:cBhvr>
                                        <p:cTn id="6" dur="2000" fill="hold"/>
                                        <p:tgtEl>
                                          <p:spTgt spid="11"/>
                                        </p:tgtEl>
                                        <p:attrNameLst>
                                          <p:attrName>ppt_x</p:attrName>
                                          <p:attrName>ppt_y</p:attrName>
                                        </p:attrNameLst>
                                      </p:cBhvr>
                                      <p:rCtr x="-7786" y="9051"/>
                                    </p:animMotion>
                                  </p:childTnLst>
                                </p:cTn>
                              </p:par>
                              <p:par>
                                <p:cTn id="7" presetID="1" presetClass="path" presetSubtype="0" repeatCount="indefinite" fill="hold" grpId="0" nodeType="withEffect">
                                  <p:stCondLst>
                                    <p:cond delay="1000"/>
                                  </p:stCondLst>
                                  <p:endCondLst>
                                    <p:cond evt="onNext" delay="0">
                                      <p:tgtEl>
                                        <p:sldTgt/>
                                      </p:tgtEl>
                                    </p:cond>
                                  </p:endCondLst>
                                  <p:childTnLst>
                                    <p:animMotion origin="layout" path="M -0.04545 -0.30255 C 0.00507 -0.14653 0.00911 0.01805 -0.03685 0.0662 C -0.08282 0.11342 -0.16172 0.02407 -0.21224 -0.13172 C -0.26289 -0.2875 -0.2668 -0.45324 -0.22071 -0.50047 C -0.17461 -0.54746 -0.09623 -0.45926 -0.04545 -0.30255 Z " pathEditMode="relative" rAng="3600000" ptsTypes="AAAAA">
                                      <p:cBhvr>
                                        <p:cTn id="8" dur="2000" fill="hold"/>
                                        <p:tgtEl>
                                          <p:spTgt spid="9"/>
                                        </p:tgtEl>
                                        <p:attrNameLst>
                                          <p:attrName>ppt_x</p:attrName>
                                          <p:attrName>ppt_y</p:attrName>
                                        </p:attrNameLst>
                                      </p:cBhvr>
                                      <p:rCtr x="-8333" y="8542"/>
                                    </p:animMotion>
                                  </p:childTnLst>
                                </p:cTn>
                              </p:par>
                              <p:par>
                                <p:cTn id="9" presetID="1" presetClass="path" presetSubtype="0" repeatCount="indefinite" fill="hold" grpId="0" nodeType="withEffect">
                                  <p:stCondLst>
                                    <p:cond delay="0"/>
                                  </p:stCondLst>
                                  <p:endCondLst>
                                    <p:cond evt="onNext" delay="0">
                                      <p:tgtEl>
                                        <p:sldTgt/>
                                      </p:tgtEl>
                                    </p:cond>
                                  </p:endCondLst>
                                  <p:childTnLst>
                                    <p:animMotion origin="layout" path="M -0.46028 -0.33727 C -0.2056 -0.33727 0.00104 -0.18102 0.00104 0.01204 C 0.00104 0.2044 -0.2056 0.36134 -0.46028 0.36134 C -0.71497 0.36134 -0.92148 0.2044 -0.92148 0.01204 C -0.92148 -0.18102 -0.71497 -0.33727 -0.46028 -0.33727 Z " pathEditMode="relative" rAng="0" ptsTypes="AAAAA">
                                      <p:cBhvr>
                                        <p:cTn id="10" dur="5000" fill="hold"/>
                                        <p:tgtEl>
                                          <p:spTgt spid="8"/>
                                        </p:tgtEl>
                                        <p:attrNameLst>
                                          <p:attrName>ppt_x</p:attrName>
                                          <p:attrName>ppt_y</p:attrName>
                                        </p:attrNameLst>
                                      </p:cBhvr>
                                      <p:rCtr x="0" y="34931"/>
                                    </p:animMotion>
                                  </p:childTnLst>
                                </p:cTn>
                              </p:par>
                              <p:par>
                                <p:cTn id="11" presetID="1" presetClass="path" presetSubtype="0" repeatCount="indefinite" fill="hold" grpId="0" nodeType="withEffect">
                                  <p:stCondLst>
                                    <p:cond delay="2500"/>
                                  </p:stCondLst>
                                  <p:endCondLst>
                                    <p:cond evt="onNext" delay="0">
                                      <p:tgtEl>
                                        <p:sldTgt/>
                                      </p:tgtEl>
                                    </p:cond>
                                  </p:endCondLst>
                                  <p:childTnLst>
                                    <p:animMotion origin="layout" path="M 0.46419 -0.34931 C 0.71888 -0.34931 0.92526 -0.19306 0.92526 -3.7037E-7 C 0.92526 0.19236 0.71888 0.34931 0.46419 0.34931 C 0.20937 0.34931 0.00273 0.19236 0.00273 -3.7037E-7 C 0.00273 -0.19306 0.20937 -0.34931 0.46419 -0.34931 Z " pathEditMode="relative" rAng="0" ptsTypes="AAAAA">
                                      <p:cBhvr>
                                        <p:cTn id="12" dur="5000" fill="hold"/>
                                        <p:tgtEl>
                                          <p:spTgt spid="7"/>
                                        </p:tgtEl>
                                        <p:attrNameLst>
                                          <p:attrName>ppt_x</p:attrName>
                                          <p:attrName>ppt_y</p:attrName>
                                        </p:attrNameLst>
                                      </p:cBhvr>
                                      <p:rCtr x="-26" y="34931"/>
                                    </p:animMotion>
                                  </p:childTnLst>
                                </p:cTn>
                              </p:par>
                              <p:par>
                                <p:cTn id="13" presetID="1" presetClass="path" presetSubtype="0" repeatCount="indefinite" fill="hold" grpId="0" nodeType="withEffect">
                                  <p:stCondLst>
                                    <p:cond delay="0"/>
                                  </p:stCondLst>
                                  <p:endCondLst>
                                    <p:cond evt="onNext" delay="0">
                                      <p:tgtEl>
                                        <p:sldTgt/>
                                      </p:tgtEl>
                                    </p:cond>
                                  </p:endCondLst>
                                  <p:childTnLst>
                                    <p:animMotion origin="layout" path="M 0.00443 1.85185E-6 C 0.01654 0.01296 0.0099 0.07245 -0.01068 0.13333 C -0.03073 0.19329 -0.05716 0.23125 -0.06901 0.21852 C -0.08151 0.20532 -0.07448 0.14653 -0.05443 0.08657 C -0.03385 0.02569 -0.00755 -0.01296 0.00443 1.85185E-6 Z " pathEditMode="relative" rAng="1860000" ptsTypes="AAAAA">
                                      <p:cBhvr>
                                        <p:cTn id="14" dur="1000" fill="hold"/>
                                        <p:tgtEl>
                                          <p:spTgt spid="6"/>
                                        </p:tgtEl>
                                        <p:attrNameLst>
                                          <p:attrName>ppt_x</p:attrName>
                                          <p:attrName>ppt_y</p:attrName>
                                        </p:attrNameLst>
                                      </p:cBhvr>
                                      <p:rCtr x="-3672" y="10926"/>
                                    </p:animMotion>
                                  </p:childTnLst>
                                </p:cTn>
                              </p:par>
                              <p:par>
                                <p:cTn id="15" presetID="1" presetClass="path" presetSubtype="0" repeatCount="indefinite" fill="hold" grpId="0" nodeType="withEffect">
                                  <p:stCondLst>
                                    <p:cond delay="500"/>
                                  </p:stCondLst>
                                  <p:endCondLst>
                                    <p:cond evt="onNext" delay="0">
                                      <p:tgtEl>
                                        <p:sldTgt/>
                                      </p:tgtEl>
                                    </p:cond>
                                  </p:endCondLst>
                                  <p:childTnLst>
                                    <p:animMotion origin="layout" path="M 0.07266 -0.21806 C 0.08477 -0.2051 0.07813 -0.14561 0.05755 -0.08473 C 0.0375 -0.02477 0.01107 0.01319 -0.00078 0.00046 C -0.01328 -0.01273 -0.00625 -0.07153 0.0138 -0.13148 C 0.03438 -0.19236 0.06068 -0.23102 0.07266 -0.21806 Z " pathEditMode="relative" rAng="1860000" ptsTypes="AAAAA">
                                      <p:cBhvr>
                                        <p:cTn id="16" dur="1000" fill="hold"/>
                                        <p:tgtEl>
                                          <p:spTgt spid="4"/>
                                        </p:tgtEl>
                                        <p:attrNameLst>
                                          <p:attrName>ppt_x</p:attrName>
                                          <p:attrName>ppt_y</p:attrName>
                                        </p:attrNameLst>
                                      </p:cBhvr>
                                      <p:rCtr x="-3672" y="1092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P spid="11" grpId="0" animBg="1"/>
    </p:bldLst>
  </p:timing>
</p:sld>
</file>

<file path=ppt/slides/slide8.xml><?xml version="1.0" encoding="utf-8"?>
<p:sld xmlns:a="http://schemas.openxmlformats.org/drawingml/2006/main" xmlns:a16="http://schemas.microsoft.com/office/drawing/2014/main" xmlns:ns3="http://schemas.microsoft.com/office/powerpoint/2010/main"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11" name="Footer Placeholder 3">
            <a:extLst>
              <a:ext uri="{FF2B5EF4-FFF2-40B4-BE49-F238E27FC236}">
                <a16:creationId id="{7C94C084-4476-0C4E-B896-CB3AC89A47F6}"/>
              </a:ext>
            </a:extLst>
          </p:cNvPr>
          <p:cNvSpPr txBox="1">
            <a:spLocks/>
          </p:cNvSpPr>
          <p:nvPr/>
        </p:nvSpPr>
        <p:spPr>
          <a:xfrm>
            <a:off x="11030928" y="6510522"/>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a:t>
            </a:r>
          </a:p>
        </p:txBody>
      </p:sp>
      <p:sp>
        <p:nvSpPr>
          <p:cNvPr id="10" name="Oval 9">
            <a:extLst>
              <a:ext uri="{FF2B5EF4-FFF2-40B4-BE49-F238E27FC236}">
                <a16:creationId id="{A28AE859-403F-BD43-BEB1-545EB8E1977A}"/>
              </a:ext>
            </a:extLst>
          </p:cNvPr>
          <p:cNvSpPr/>
          <p:nvPr/>
        </p:nvSpPr>
        <p:spPr>
          <a:xfrm rot="7985264">
            <a:off x="1327954" y="1643877"/>
            <a:ext cx="1433317" cy="3809334"/>
          </a:xfrm>
          <a:prstGeom prst="ellipse">
            <a:avLst/>
          </a:prstGeom>
          <a:solidFill>
            <a:srgbClr val="C0000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Oval 1">
            <a:extLst>
              <a:ext uri="{FF2B5EF4-FFF2-40B4-BE49-F238E27FC236}">
                <a16:creationId id="{F045F514-228E-6742-A307-C1B3A472F030}"/>
              </a:ext>
            </a:extLst>
          </p:cNvPr>
          <p:cNvSpPr/>
          <p:nvPr/>
        </p:nvSpPr>
        <p:spPr>
          <a:xfrm rot="3436369">
            <a:off x="1718784" y="2930802"/>
            <a:ext cx="691753" cy="1215494"/>
          </a:xfrm>
          <a:prstGeom prst="ellipse">
            <a:avLst/>
          </a:prstGeom>
          <a:solidFill>
            <a:srgbClr val="0070C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Oval 11">
            <a:extLst>
              <a:ext uri="{FF2B5EF4-FFF2-40B4-BE49-F238E27FC236}">
                <a16:creationId id="{B0F006D8-9498-264F-A24A-B468200FD3C3}"/>
              </a:ext>
            </a:extLst>
          </p:cNvPr>
          <p:cNvSpPr/>
          <p:nvPr/>
        </p:nvSpPr>
        <p:spPr>
          <a:xfrm rot="5400000">
            <a:off x="1951301" y="3257365"/>
            <a:ext cx="237067" cy="621220"/>
          </a:xfrm>
          <a:prstGeom prst="ellipse">
            <a:avLst/>
          </a:prstGeom>
          <a:solidFill>
            <a:srgbClr val="00B05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20" name="Straight Arrow Connector 19">
            <a:extLst>
              <a:ext uri="{FF2B5EF4-FFF2-40B4-BE49-F238E27FC236}">
                <a16:creationId id="{770F7325-8AD4-4F43-9113-4C17EE9953C7}"/>
              </a:ext>
            </a:extLst>
          </p:cNvPr>
          <p:cNvCxnSpPr>
            <a:cxnSpLocks/>
          </p:cNvCxnSpPr>
          <p:nvPr/>
        </p:nvCxnSpPr>
        <p:spPr>
          <a:xfrm flipH="1" flipV="1">
            <a:off x="661250" y="1756559"/>
            <a:ext cx="1408584" cy="1791985"/>
          </a:xfrm>
          <a:prstGeom prst="straightConnector1">
            <a:avLst/>
          </a:prstGeom>
          <a:ln w="571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id="{F2E31AF9-56E3-BC46-AFA6-42EFB601E7D5}"/>
              </a:ext>
            </a:extLst>
          </p:cNvPr>
          <p:cNvCxnSpPr>
            <a:cxnSpLocks/>
          </p:cNvCxnSpPr>
          <p:nvPr/>
        </p:nvCxnSpPr>
        <p:spPr>
          <a:xfrm flipV="1">
            <a:off x="2044612" y="2758475"/>
            <a:ext cx="761698" cy="80950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id="{E62C9C09-0DBC-9A42-9B8C-BF043D3B6C37}"/>
              </a:ext>
            </a:extLst>
          </p:cNvPr>
          <p:cNvSpPr/>
          <p:nvPr/>
        </p:nvSpPr>
        <p:spPr>
          <a:xfrm>
            <a:off x="2034909" y="3529685"/>
            <a:ext cx="57150" cy="5715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Oval 26">
            <a:extLst>
              <a:ext uri="{FF2B5EF4-FFF2-40B4-BE49-F238E27FC236}">
                <a16:creationId id="{DFCB96DE-856C-AE43-8844-A6E08EFF5D3E}"/>
              </a:ext>
            </a:extLst>
          </p:cNvPr>
          <p:cNvSpPr>
            <a:spLocks noChangeAspect="1"/>
          </p:cNvSpPr>
          <p:nvPr/>
        </p:nvSpPr>
        <p:spPr>
          <a:xfrm flipH="1">
            <a:off x="1466885" y="3577408"/>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8" name="Oval 27">
            <a:extLst>
              <a:ext uri="{FF2B5EF4-FFF2-40B4-BE49-F238E27FC236}">
                <a16:creationId id="{659A54D7-98B8-264E-9B65-96A3F96F0199}"/>
              </a:ext>
            </a:extLst>
          </p:cNvPr>
          <p:cNvSpPr>
            <a:spLocks noChangeAspect="1"/>
          </p:cNvSpPr>
          <p:nvPr/>
        </p:nvSpPr>
        <p:spPr>
          <a:xfrm flipH="1">
            <a:off x="2173705" y="3560654"/>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9" name="Oval 28">
            <a:extLst>
              <a:ext uri="{FF2B5EF4-FFF2-40B4-BE49-F238E27FC236}">
                <a16:creationId id="{B0B2E478-2356-F24B-A732-ADA817687CF2}"/>
              </a:ext>
            </a:extLst>
          </p:cNvPr>
          <p:cNvSpPr>
            <a:spLocks noChangeAspect="1"/>
          </p:cNvSpPr>
          <p:nvPr/>
        </p:nvSpPr>
        <p:spPr>
          <a:xfrm flipH="1">
            <a:off x="3448066" y="4482900"/>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0" name="Oval 29">
            <a:extLst>
              <a:ext uri="{FF2B5EF4-FFF2-40B4-BE49-F238E27FC236}">
                <a16:creationId id="{E1A14FE8-9B9C-EF42-8DE1-3124EA21ED1B}"/>
              </a:ext>
            </a:extLst>
          </p:cNvPr>
          <p:cNvSpPr>
            <a:spLocks noChangeAspect="1"/>
          </p:cNvSpPr>
          <p:nvPr/>
        </p:nvSpPr>
        <p:spPr>
          <a:xfrm flipH="1">
            <a:off x="492687" y="2457349"/>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1" name="Oval 30">
            <a:extLst>
              <a:ext uri="{FF2B5EF4-FFF2-40B4-BE49-F238E27FC236}">
                <a16:creationId id="{38A258A4-ED66-4F46-88B4-8430D9301022}"/>
              </a:ext>
            </a:extLst>
          </p:cNvPr>
          <p:cNvSpPr>
            <a:spLocks noChangeAspect="1"/>
          </p:cNvSpPr>
          <p:nvPr/>
        </p:nvSpPr>
        <p:spPr>
          <a:xfrm flipH="1">
            <a:off x="1771178" y="3402077"/>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2" name="Oval 31">
            <a:extLst>
              <a:ext uri="{FF2B5EF4-FFF2-40B4-BE49-F238E27FC236}">
                <a16:creationId id="{9524279B-E4E3-1B42-917A-FCF7BB324C88}"/>
              </a:ext>
            </a:extLst>
          </p:cNvPr>
          <p:cNvSpPr>
            <a:spLocks noChangeAspect="1"/>
          </p:cNvSpPr>
          <p:nvPr/>
        </p:nvSpPr>
        <p:spPr>
          <a:xfrm flipH="1">
            <a:off x="2516338" y="3334721"/>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35" name="Straight Arrow Connector 34">
            <a:extLst>
              <a:ext uri="{FF2B5EF4-FFF2-40B4-BE49-F238E27FC236}">
                <a16:creationId id="{B0ABF816-498E-324A-9A5C-A8C734DE83C8}"/>
              </a:ext>
            </a:extLst>
          </p:cNvPr>
          <p:cNvCxnSpPr>
            <a:cxnSpLocks/>
          </p:cNvCxnSpPr>
          <p:nvPr/>
        </p:nvCxnSpPr>
        <p:spPr>
          <a:xfrm>
            <a:off x="428708" y="2466874"/>
            <a:ext cx="35405"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id="{323DB1EB-B08B-1947-B375-3BCA73F65915}"/>
              </a:ext>
            </a:extLst>
          </p:cNvPr>
          <p:cNvCxnSpPr>
            <a:cxnSpLocks/>
          </p:cNvCxnSpPr>
          <p:nvPr/>
        </p:nvCxnSpPr>
        <p:spPr>
          <a:xfrm flipH="1" flipV="1">
            <a:off x="3602145" y="4421535"/>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id="{1FA2E9EF-0287-1E4E-BBBC-57C829D7E6F7}"/>
              </a:ext>
            </a:extLst>
          </p:cNvPr>
          <p:cNvCxnSpPr>
            <a:cxnSpLocks/>
          </p:cNvCxnSpPr>
          <p:nvPr/>
        </p:nvCxnSpPr>
        <p:spPr>
          <a:xfrm rot="5400000" flipH="1" flipV="1">
            <a:off x="2241769" y="3639499"/>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id="{6E38EC0A-5081-C44B-9103-E6D6C03352E9}"/>
              </a:ext>
            </a:extLst>
          </p:cNvPr>
          <p:cNvCxnSpPr>
            <a:cxnSpLocks/>
          </p:cNvCxnSpPr>
          <p:nvPr/>
        </p:nvCxnSpPr>
        <p:spPr>
          <a:xfrm flipH="1" flipV="1">
            <a:off x="2684901" y="3296236"/>
            <a:ext cx="8523" cy="192564"/>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id="{725B83A1-A579-CA49-A868-2B9441346B3D}"/>
              </a:ext>
            </a:extLst>
          </p:cNvPr>
          <p:cNvCxnSpPr>
            <a:cxnSpLocks/>
          </p:cNvCxnSpPr>
          <p:nvPr/>
        </p:nvCxnSpPr>
        <p:spPr>
          <a:xfrm rot="10800000" flipH="1" flipV="1">
            <a:off x="1448373" y="3561622"/>
            <a:ext cx="8523" cy="192564"/>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id="{1551D3CC-5882-2843-9818-376555954A5C}"/>
              </a:ext>
            </a:extLst>
          </p:cNvPr>
          <p:cNvCxnSpPr>
            <a:cxnSpLocks/>
          </p:cNvCxnSpPr>
          <p:nvPr/>
        </p:nvCxnSpPr>
        <p:spPr>
          <a:xfrm rot="16200000" flipH="1" flipV="1">
            <a:off x="1778808" y="3309054"/>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id="{509FC5D5-C755-AB4D-9CEA-D642127F1A79}"/>
              </a:ext>
            </a:extLst>
          </p:cNvPr>
          <p:cNvCxnSpPr>
            <a:cxnSpLocks/>
          </p:cNvCxnSpPr>
          <p:nvPr/>
        </p:nvCxnSpPr>
        <p:spPr>
          <a:xfrm>
            <a:off x="4062240" y="-3"/>
            <a:ext cx="0" cy="6858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id="{8C22A73D-9DED-8048-8E37-3F145D35B79B}"/>
              </a:ext>
            </a:extLst>
          </p:cNvPr>
          <p:cNvCxnSpPr>
            <a:cxnSpLocks/>
          </p:cNvCxnSpPr>
          <p:nvPr/>
        </p:nvCxnSpPr>
        <p:spPr>
          <a:xfrm>
            <a:off x="8124480" y="-3"/>
            <a:ext cx="0" cy="6858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9" name="Oval 58">
            <a:extLst>
              <a:ext uri="{FF2B5EF4-FFF2-40B4-BE49-F238E27FC236}">
                <a16:creationId id="{F43FFE0D-7144-9D45-B565-17E61A301AB1}"/>
              </a:ext>
            </a:extLst>
          </p:cNvPr>
          <p:cNvSpPr/>
          <p:nvPr/>
        </p:nvSpPr>
        <p:spPr>
          <a:xfrm rot="6000000">
            <a:off x="5391848" y="1643877"/>
            <a:ext cx="1433317" cy="3809334"/>
          </a:xfrm>
          <a:prstGeom prst="ellipse">
            <a:avLst/>
          </a:prstGeom>
          <a:solidFill>
            <a:srgbClr val="C0000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0" name="Oval 59">
            <a:extLst>
              <a:ext uri="{FF2B5EF4-FFF2-40B4-BE49-F238E27FC236}">
                <a16:creationId id="{1A04E3EE-14A9-9241-8B85-38226E1E8E8D}"/>
              </a:ext>
            </a:extLst>
          </p:cNvPr>
          <p:cNvSpPr/>
          <p:nvPr/>
        </p:nvSpPr>
        <p:spPr>
          <a:xfrm rot="4800000">
            <a:off x="5782678" y="2930802"/>
            <a:ext cx="691753" cy="1215494"/>
          </a:xfrm>
          <a:prstGeom prst="ellipse">
            <a:avLst/>
          </a:prstGeom>
          <a:solidFill>
            <a:srgbClr val="0070C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1" name="Oval 60">
            <a:extLst>
              <a:ext uri="{FF2B5EF4-FFF2-40B4-BE49-F238E27FC236}">
                <a16:creationId id="{01415BD3-0744-0C4E-B55B-EE973E04ED21}"/>
              </a:ext>
            </a:extLst>
          </p:cNvPr>
          <p:cNvSpPr/>
          <p:nvPr/>
        </p:nvSpPr>
        <p:spPr>
          <a:xfrm rot="5400000">
            <a:off x="6015195" y="3257365"/>
            <a:ext cx="237067" cy="621220"/>
          </a:xfrm>
          <a:prstGeom prst="ellipse">
            <a:avLst/>
          </a:prstGeom>
          <a:solidFill>
            <a:srgbClr val="00B05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63" name="Straight Arrow Connector 62">
            <a:extLst>
              <a:ext uri="{FF2B5EF4-FFF2-40B4-BE49-F238E27FC236}">
                <a16:creationId id="{4522A40D-E123-3145-9658-AB9C106EB437}"/>
              </a:ext>
            </a:extLst>
          </p:cNvPr>
          <p:cNvCxnSpPr>
            <a:cxnSpLocks/>
          </p:cNvCxnSpPr>
          <p:nvPr/>
        </p:nvCxnSpPr>
        <p:spPr>
          <a:xfrm flipH="1" flipV="1">
            <a:off x="5795681" y="1557343"/>
            <a:ext cx="338047" cy="1991201"/>
          </a:xfrm>
          <a:prstGeom prst="straightConnector1">
            <a:avLst/>
          </a:prstGeom>
          <a:ln w="571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id="{B10D7B18-1F83-8B41-98FF-F7F7C016CEFE}"/>
              </a:ext>
            </a:extLst>
          </p:cNvPr>
          <p:cNvCxnSpPr>
            <a:cxnSpLocks/>
          </p:cNvCxnSpPr>
          <p:nvPr/>
        </p:nvCxnSpPr>
        <p:spPr>
          <a:xfrm flipV="1">
            <a:off x="6108506" y="2547511"/>
            <a:ext cx="226203" cy="1020464"/>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65" name="Oval 64">
            <a:extLst>
              <a:ext uri="{FF2B5EF4-FFF2-40B4-BE49-F238E27FC236}">
                <a16:creationId id="{D4BBA26F-C510-FF4D-BE95-9AA1DD550A13}"/>
              </a:ext>
            </a:extLst>
          </p:cNvPr>
          <p:cNvSpPr/>
          <p:nvPr/>
        </p:nvSpPr>
        <p:spPr>
          <a:xfrm>
            <a:off x="6098803" y="3529685"/>
            <a:ext cx="57150" cy="5715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 name="Oval 65">
            <a:extLst>
              <a:ext uri="{FF2B5EF4-FFF2-40B4-BE49-F238E27FC236}">
                <a16:creationId id="{FEBE1167-E135-304B-8667-FCE9287DB2BD}"/>
              </a:ext>
            </a:extLst>
          </p:cNvPr>
          <p:cNvSpPr>
            <a:spLocks noChangeAspect="1"/>
          </p:cNvSpPr>
          <p:nvPr/>
        </p:nvSpPr>
        <p:spPr>
          <a:xfrm flipH="1">
            <a:off x="5457754" y="3577408"/>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7" name="Oval 66">
            <a:extLst>
              <a:ext uri="{FF2B5EF4-FFF2-40B4-BE49-F238E27FC236}">
                <a16:creationId id="{0136C9ED-6529-114B-BA78-8A66BE9B7004}"/>
              </a:ext>
            </a:extLst>
          </p:cNvPr>
          <p:cNvSpPr>
            <a:spLocks noChangeAspect="1"/>
          </p:cNvSpPr>
          <p:nvPr/>
        </p:nvSpPr>
        <p:spPr>
          <a:xfrm flipH="1">
            <a:off x="6237599" y="3560654"/>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8" name="Oval 67">
            <a:extLst>
              <a:ext uri="{FF2B5EF4-FFF2-40B4-BE49-F238E27FC236}">
                <a16:creationId id="{6EF1BAE3-EDFF-9940-B8C5-7AD66F813964}"/>
              </a:ext>
            </a:extLst>
          </p:cNvPr>
          <p:cNvSpPr>
            <a:spLocks noChangeAspect="1"/>
          </p:cNvSpPr>
          <p:nvPr/>
        </p:nvSpPr>
        <p:spPr>
          <a:xfrm flipH="1">
            <a:off x="7511960" y="4132380"/>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9" name="Oval 68">
            <a:extLst>
              <a:ext uri="{FF2B5EF4-FFF2-40B4-BE49-F238E27FC236}">
                <a16:creationId id="{09802901-FFE8-364C-A42F-772C20C0F55C}"/>
              </a:ext>
            </a:extLst>
          </p:cNvPr>
          <p:cNvSpPr>
            <a:spLocks noChangeAspect="1"/>
          </p:cNvSpPr>
          <p:nvPr/>
        </p:nvSpPr>
        <p:spPr>
          <a:xfrm flipH="1">
            <a:off x="4556581" y="2792629"/>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0" name="Oval 69">
            <a:extLst>
              <a:ext uri="{FF2B5EF4-FFF2-40B4-BE49-F238E27FC236}">
                <a16:creationId id="{2FA2CE8B-5F59-5F47-BD40-1A275C868236}"/>
              </a:ext>
            </a:extLst>
          </p:cNvPr>
          <p:cNvSpPr>
            <a:spLocks noChangeAspect="1"/>
          </p:cNvSpPr>
          <p:nvPr/>
        </p:nvSpPr>
        <p:spPr>
          <a:xfrm flipH="1">
            <a:off x="5835072" y="3402077"/>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1" name="Oval 70">
            <a:extLst>
              <a:ext uri="{FF2B5EF4-FFF2-40B4-BE49-F238E27FC236}">
                <a16:creationId id="{D53DB876-4C0A-4744-9A63-50436D251A95}"/>
              </a:ext>
            </a:extLst>
          </p:cNvPr>
          <p:cNvSpPr>
            <a:spLocks noChangeAspect="1"/>
          </p:cNvSpPr>
          <p:nvPr/>
        </p:nvSpPr>
        <p:spPr>
          <a:xfrm flipH="1">
            <a:off x="6634207" y="3334721"/>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72" name="Straight Arrow Connector 71">
            <a:extLst>
              <a:ext uri="{FF2B5EF4-FFF2-40B4-BE49-F238E27FC236}">
                <a16:creationId id="{7295B6CD-7989-C941-9D0B-0E709F8787F7}"/>
              </a:ext>
            </a:extLst>
          </p:cNvPr>
          <p:cNvCxnSpPr>
            <a:cxnSpLocks/>
          </p:cNvCxnSpPr>
          <p:nvPr/>
        </p:nvCxnSpPr>
        <p:spPr>
          <a:xfrm rot="5400000">
            <a:off x="4565426" y="2664129"/>
            <a:ext cx="35405"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id="{4101900D-E316-5C4E-9E20-96B10D815133}"/>
              </a:ext>
            </a:extLst>
          </p:cNvPr>
          <p:cNvCxnSpPr>
            <a:cxnSpLocks/>
          </p:cNvCxnSpPr>
          <p:nvPr/>
        </p:nvCxnSpPr>
        <p:spPr>
          <a:xfrm rot="5400000" flipH="1" flipV="1">
            <a:off x="7613652" y="4218265"/>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id="{C3889B20-A131-F348-9F79-30680F490D16}"/>
              </a:ext>
            </a:extLst>
          </p:cNvPr>
          <p:cNvCxnSpPr>
            <a:cxnSpLocks/>
          </p:cNvCxnSpPr>
          <p:nvPr/>
        </p:nvCxnSpPr>
        <p:spPr>
          <a:xfrm rot="5400000" flipH="1" flipV="1">
            <a:off x="6305663" y="3639499"/>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id="{C0F31FBC-E349-954C-ACF2-5775D4791E29}"/>
              </a:ext>
            </a:extLst>
          </p:cNvPr>
          <p:cNvCxnSpPr>
            <a:cxnSpLocks/>
          </p:cNvCxnSpPr>
          <p:nvPr/>
        </p:nvCxnSpPr>
        <p:spPr>
          <a:xfrm flipH="1" flipV="1">
            <a:off x="6802770" y="3296236"/>
            <a:ext cx="8523" cy="192564"/>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id="{CF9CC54C-94DB-B144-9856-71D4CF6A9FFC}"/>
              </a:ext>
            </a:extLst>
          </p:cNvPr>
          <p:cNvCxnSpPr>
            <a:cxnSpLocks/>
          </p:cNvCxnSpPr>
          <p:nvPr/>
        </p:nvCxnSpPr>
        <p:spPr>
          <a:xfrm rot="10800000" flipH="1" flipV="1">
            <a:off x="5439242" y="3561622"/>
            <a:ext cx="8523" cy="192564"/>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id="{2A1F54C2-0D47-414E-AB5A-64FBAA9CA73E}"/>
              </a:ext>
            </a:extLst>
          </p:cNvPr>
          <p:cNvCxnSpPr>
            <a:cxnSpLocks/>
          </p:cNvCxnSpPr>
          <p:nvPr/>
        </p:nvCxnSpPr>
        <p:spPr>
          <a:xfrm rot="16200000" flipH="1" flipV="1">
            <a:off x="5842702" y="3309054"/>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sp>
        <p:nvSpPr>
          <p:cNvPr id="79" name="Oval 78">
            <a:extLst>
              <a:ext uri="{FF2B5EF4-FFF2-40B4-BE49-F238E27FC236}">
                <a16:creationId id="{DCC97071-9D67-DC48-AD13-C0A25508CBD8}"/>
              </a:ext>
            </a:extLst>
          </p:cNvPr>
          <p:cNvSpPr/>
          <p:nvPr/>
        </p:nvSpPr>
        <p:spPr>
          <a:xfrm rot="5400000">
            <a:off x="9403928" y="1643877"/>
            <a:ext cx="1433317" cy="3809334"/>
          </a:xfrm>
          <a:prstGeom prst="ellipse">
            <a:avLst/>
          </a:prstGeom>
          <a:solidFill>
            <a:srgbClr val="C0000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0" name="Oval 79">
            <a:extLst>
              <a:ext uri="{FF2B5EF4-FFF2-40B4-BE49-F238E27FC236}">
                <a16:creationId id="{4B5172ED-2D8A-034A-8B6D-511FB837A5C1}"/>
              </a:ext>
            </a:extLst>
          </p:cNvPr>
          <p:cNvSpPr/>
          <p:nvPr/>
        </p:nvSpPr>
        <p:spPr>
          <a:xfrm rot="5400000">
            <a:off x="9794758" y="2930802"/>
            <a:ext cx="691753" cy="1215494"/>
          </a:xfrm>
          <a:prstGeom prst="ellipse">
            <a:avLst/>
          </a:prstGeom>
          <a:solidFill>
            <a:srgbClr val="0070C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1" name="Oval 80">
            <a:extLst>
              <a:ext uri="{FF2B5EF4-FFF2-40B4-BE49-F238E27FC236}">
                <a16:creationId id="{AB13C73C-22E9-E346-BD10-636EC5B03EEB}"/>
              </a:ext>
            </a:extLst>
          </p:cNvPr>
          <p:cNvSpPr/>
          <p:nvPr/>
        </p:nvSpPr>
        <p:spPr>
          <a:xfrm rot="5400000">
            <a:off x="10027275" y="3257365"/>
            <a:ext cx="237067" cy="621220"/>
          </a:xfrm>
          <a:prstGeom prst="ellipse">
            <a:avLst/>
          </a:prstGeom>
          <a:solidFill>
            <a:srgbClr val="00B05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16" name="Group 115">
            <a:extLst>
              <a:ext uri="{FF2B5EF4-FFF2-40B4-BE49-F238E27FC236}">
                <a16:creationId id="{1990AA94-0B5D-CE4D-9E67-06FDF3574AC7}"/>
              </a:ext>
            </a:extLst>
          </p:cNvPr>
          <p:cNvGrpSpPr/>
          <p:nvPr/>
        </p:nvGrpSpPr>
        <p:grpSpPr>
          <a:xfrm>
            <a:off x="2063484" y="603661"/>
            <a:ext cx="8075974" cy="2964314"/>
            <a:chOff x="2063484" y="475010"/>
            <a:chExt cx="8075974" cy="3092965"/>
          </a:xfrm>
        </p:grpSpPr>
        <p:cxnSp>
          <p:nvCxnSpPr>
            <p:cNvPr id="4" name="Straight Arrow Connector 3">
              <a:extLst>
                <a:ext uri="{FF2B5EF4-FFF2-40B4-BE49-F238E27FC236}">
                  <a16:creationId id="{73E8E4AC-0527-6B4F-BB34-1C07B68C379A}"/>
                </a:ext>
              </a:extLst>
            </p:cNvPr>
            <p:cNvCxnSpPr>
              <a:cxnSpLocks/>
            </p:cNvCxnSpPr>
            <p:nvPr/>
          </p:nvCxnSpPr>
          <p:spPr>
            <a:xfrm flipV="1">
              <a:off x="2063484" y="475010"/>
              <a:ext cx="0" cy="3092965"/>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id="{5D5DA236-2F5C-F24D-9362-22479B37AE27}"/>
                </a:ext>
              </a:extLst>
            </p:cNvPr>
            <p:cNvCxnSpPr>
              <a:cxnSpLocks/>
            </p:cNvCxnSpPr>
            <p:nvPr/>
          </p:nvCxnSpPr>
          <p:spPr>
            <a:xfrm flipV="1">
              <a:off x="6127378" y="475010"/>
              <a:ext cx="0" cy="3092965"/>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id="{E04B73D7-CFB3-AA47-B209-D5B652F58A9A}"/>
                </a:ext>
              </a:extLst>
            </p:cNvPr>
            <p:cNvCxnSpPr>
              <a:cxnSpLocks/>
            </p:cNvCxnSpPr>
            <p:nvPr/>
          </p:nvCxnSpPr>
          <p:spPr>
            <a:xfrm flipV="1">
              <a:off x="10139458" y="475010"/>
              <a:ext cx="0" cy="3092965"/>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83" name="Straight Arrow Connector 82">
            <a:extLst>
              <a:ext uri="{FF2B5EF4-FFF2-40B4-BE49-F238E27FC236}">
                <a16:creationId id="{94207A4C-8434-F641-A011-611D2AB4793F}"/>
              </a:ext>
            </a:extLst>
          </p:cNvPr>
          <p:cNvCxnSpPr>
            <a:cxnSpLocks/>
          </p:cNvCxnSpPr>
          <p:nvPr/>
        </p:nvCxnSpPr>
        <p:spPr>
          <a:xfrm flipH="1" flipV="1">
            <a:off x="10012781" y="1270415"/>
            <a:ext cx="39518" cy="2278129"/>
          </a:xfrm>
          <a:prstGeom prst="straightConnector1">
            <a:avLst/>
          </a:prstGeom>
          <a:ln w="571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id="{DD3586A5-C84D-3F42-8EFF-7CA3F5F12774}"/>
              </a:ext>
            </a:extLst>
          </p:cNvPr>
          <p:cNvCxnSpPr>
            <a:cxnSpLocks/>
          </p:cNvCxnSpPr>
          <p:nvPr/>
        </p:nvCxnSpPr>
        <p:spPr>
          <a:xfrm flipV="1">
            <a:off x="10254251" y="2415014"/>
            <a:ext cx="8815" cy="1125869"/>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5" name="Oval 84">
            <a:extLst>
              <a:ext uri="{FF2B5EF4-FFF2-40B4-BE49-F238E27FC236}">
                <a16:creationId id="{4B9400FD-E486-B14B-AC9C-BCB09D1135A2}"/>
              </a:ext>
            </a:extLst>
          </p:cNvPr>
          <p:cNvSpPr/>
          <p:nvPr/>
        </p:nvSpPr>
        <p:spPr>
          <a:xfrm>
            <a:off x="10110883" y="3529685"/>
            <a:ext cx="57150" cy="5715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6" name="Oval 85">
            <a:extLst>
              <a:ext uri="{FF2B5EF4-FFF2-40B4-BE49-F238E27FC236}">
                <a16:creationId id="{B6DDABCD-9B6E-0146-8BFF-3CBF4280B6B7}"/>
              </a:ext>
            </a:extLst>
          </p:cNvPr>
          <p:cNvSpPr>
            <a:spLocks noChangeAspect="1"/>
          </p:cNvSpPr>
          <p:nvPr/>
        </p:nvSpPr>
        <p:spPr>
          <a:xfrm flipH="1">
            <a:off x="9542859" y="3577408"/>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87" name="Oval 86">
            <a:extLst>
              <a:ext uri="{FF2B5EF4-FFF2-40B4-BE49-F238E27FC236}">
                <a16:creationId id="{E35603F7-4AC6-D54E-B796-8ECF3E139D28}"/>
              </a:ext>
            </a:extLst>
          </p:cNvPr>
          <p:cNvSpPr>
            <a:spLocks noChangeAspect="1"/>
          </p:cNvSpPr>
          <p:nvPr/>
        </p:nvSpPr>
        <p:spPr>
          <a:xfrm flipH="1">
            <a:off x="10249679" y="3560654"/>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88" name="Oval 87">
            <a:extLst>
              <a:ext uri="{FF2B5EF4-FFF2-40B4-BE49-F238E27FC236}">
                <a16:creationId id="{5E822E41-836D-6B4A-859F-FD430E027DC8}"/>
              </a:ext>
            </a:extLst>
          </p:cNvPr>
          <p:cNvSpPr>
            <a:spLocks noChangeAspect="1"/>
          </p:cNvSpPr>
          <p:nvPr/>
        </p:nvSpPr>
        <p:spPr>
          <a:xfrm flipH="1">
            <a:off x="11524040" y="3926640"/>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89" name="Oval 88">
            <a:extLst>
              <a:ext uri="{FF2B5EF4-FFF2-40B4-BE49-F238E27FC236}">
                <a16:creationId id="{942F0346-DB25-A44F-8938-8FB3746D7D80}"/>
              </a:ext>
            </a:extLst>
          </p:cNvPr>
          <p:cNvSpPr>
            <a:spLocks noChangeAspect="1"/>
          </p:cNvSpPr>
          <p:nvPr/>
        </p:nvSpPr>
        <p:spPr>
          <a:xfrm flipH="1">
            <a:off x="8568661" y="2990749"/>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90" name="Oval 89">
            <a:extLst>
              <a:ext uri="{FF2B5EF4-FFF2-40B4-BE49-F238E27FC236}">
                <a16:creationId id="{CC8884F5-50D7-4345-825E-5F4014AE501E}"/>
              </a:ext>
            </a:extLst>
          </p:cNvPr>
          <p:cNvSpPr>
            <a:spLocks noChangeAspect="1"/>
          </p:cNvSpPr>
          <p:nvPr/>
        </p:nvSpPr>
        <p:spPr>
          <a:xfrm flipH="1">
            <a:off x="9847152" y="3402077"/>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91" name="Oval 90">
            <a:extLst>
              <a:ext uri="{FF2B5EF4-FFF2-40B4-BE49-F238E27FC236}">
                <a16:creationId id="{7542A9BE-ECCE-5C40-A68A-16AE68143B72}"/>
              </a:ext>
            </a:extLst>
          </p:cNvPr>
          <p:cNvSpPr>
            <a:spLocks noChangeAspect="1"/>
          </p:cNvSpPr>
          <p:nvPr/>
        </p:nvSpPr>
        <p:spPr>
          <a:xfrm flipH="1">
            <a:off x="10592312" y="3334721"/>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94" name="Straight Arrow Connector 93">
            <a:extLst>
              <a:ext uri="{FF2B5EF4-FFF2-40B4-BE49-F238E27FC236}">
                <a16:creationId id="{F9C01C71-7A09-AE4B-B957-2044CA563BC5}"/>
              </a:ext>
            </a:extLst>
          </p:cNvPr>
          <p:cNvCxnSpPr>
            <a:cxnSpLocks/>
          </p:cNvCxnSpPr>
          <p:nvPr/>
        </p:nvCxnSpPr>
        <p:spPr>
          <a:xfrm rot="5400000" flipH="1" flipV="1">
            <a:off x="10317743" y="3639499"/>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id="{03FE165A-ABC8-BE4E-8543-7690FB45F3BF}"/>
              </a:ext>
            </a:extLst>
          </p:cNvPr>
          <p:cNvCxnSpPr>
            <a:cxnSpLocks/>
          </p:cNvCxnSpPr>
          <p:nvPr/>
        </p:nvCxnSpPr>
        <p:spPr>
          <a:xfrm flipH="1" flipV="1">
            <a:off x="10760875" y="3296236"/>
            <a:ext cx="8523" cy="192564"/>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id="{D99813F5-0792-5E44-BD4E-C5C96C3DDB3F}"/>
              </a:ext>
            </a:extLst>
          </p:cNvPr>
          <p:cNvCxnSpPr>
            <a:cxnSpLocks/>
          </p:cNvCxnSpPr>
          <p:nvPr/>
        </p:nvCxnSpPr>
        <p:spPr>
          <a:xfrm rot="10800000" flipH="1" flipV="1">
            <a:off x="9524347" y="3561622"/>
            <a:ext cx="8523" cy="192564"/>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id="{55CBB2A3-47BB-2A4B-A755-E5E82F457977}"/>
              </a:ext>
            </a:extLst>
          </p:cNvPr>
          <p:cNvCxnSpPr>
            <a:cxnSpLocks/>
          </p:cNvCxnSpPr>
          <p:nvPr/>
        </p:nvCxnSpPr>
        <p:spPr>
          <a:xfrm rot="16200000" flipH="1" flipV="1">
            <a:off x="9854782" y="3309054"/>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sp>
        <p:nvSpPr>
          <p:cNvPr id="98" name="TextBox 97">
            <a:extLst>
              <a:ext uri="{FF2B5EF4-FFF2-40B4-BE49-F238E27FC236}">
                <a16:creationId id="{03170DA2-933A-E746-8799-DEC80877A0BF}"/>
              </a:ext>
            </a:extLst>
          </p:cNvPr>
          <p:cNvSpPr txBox="1"/>
          <p:nvPr/>
        </p:nvSpPr>
        <p:spPr>
          <a:xfrm>
            <a:off x="167950" y="4983847"/>
            <a:ext cx="3613490" cy="18158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Low velocity Noether core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3D fermion orientation with spin ½</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Pauli exclusion principle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Fermi-Dirac statistics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Pro and anti orientations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Inertial mass = apparent energy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e.g., electrons, quarks</a:t>
            </a:r>
          </a:p>
        </p:txBody>
      </p:sp>
      <p:sp>
        <p:nvSpPr>
          <p:cNvPr id="99" name="TextBox 98">
            <a:extLst>
              <a:ext uri="{FF2B5EF4-FFF2-40B4-BE49-F238E27FC236}">
                <a16:creationId id="{2C353E9F-48D8-8D44-BD78-75598043198D}"/>
              </a:ext>
            </a:extLst>
          </p:cNvPr>
          <p:cNvSpPr txBox="1"/>
          <p:nvPr/>
        </p:nvSpPr>
        <p:spPr>
          <a:xfrm>
            <a:off x="8577597" y="4983847"/>
            <a:ext cx="3252814" cy="132343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Velocity </a:t>
            </a:r>
            <a:r>
              <a:rPr lang="en-US" sz="1600" b="1"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&gt;= “c” </a:t>
            </a: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Noether core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2D boson shape, ~0 exclusion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Spin 1</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Bose-Einstein statistics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e.g.,</a:t>
            </a: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  photon</a:t>
            </a:r>
          </a:p>
        </p:txBody>
      </p:sp>
      <p:sp>
        <p:nvSpPr>
          <p:cNvPr id="101" name="TextBox 100">
            <a:extLst>
              <a:ext uri="{FF2B5EF4-FFF2-40B4-BE49-F238E27FC236}">
                <a16:creationId id="{087455DC-03A3-AA4F-AD61-E0BCB1C90C94}"/>
              </a:ext>
            </a:extLst>
          </p:cNvPr>
          <p:cNvSpPr txBox="1"/>
          <p:nvPr/>
        </p:nvSpPr>
        <p:spPr>
          <a:xfrm>
            <a:off x="4233219" y="4983847"/>
            <a:ext cx="3994354"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High velocity Noether core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Pro and anti orientations of angular momentum vectors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Oscillating mass caused by </a:t>
            </a:r>
            <a:b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b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fluctuating superposition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e.g., neutrino</a:t>
            </a:r>
          </a:p>
        </p:txBody>
      </p:sp>
      <p:cxnSp>
        <p:nvCxnSpPr>
          <p:cNvPr id="106" name="Straight Arrow Connector 105">
            <a:extLst>
              <a:ext uri="{FF2B5EF4-FFF2-40B4-BE49-F238E27FC236}">
                <a16:creationId id="{B011BF8B-9B3B-194E-860A-C437CC99C7A7}"/>
              </a:ext>
            </a:extLst>
          </p:cNvPr>
          <p:cNvCxnSpPr>
            <a:cxnSpLocks/>
          </p:cNvCxnSpPr>
          <p:nvPr/>
        </p:nvCxnSpPr>
        <p:spPr>
          <a:xfrm rot="5100000">
            <a:off x="8562724" y="2854201"/>
            <a:ext cx="35405"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id="{1FEAF416-CED6-C54A-A22B-8A4184554071}"/>
              </a:ext>
            </a:extLst>
          </p:cNvPr>
          <p:cNvCxnSpPr>
            <a:cxnSpLocks/>
          </p:cNvCxnSpPr>
          <p:nvPr/>
        </p:nvCxnSpPr>
        <p:spPr>
          <a:xfrm rot="5400000" flipH="1" flipV="1">
            <a:off x="11610950" y="4044265"/>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sp>
        <p:nvSpPr>
          <p:cNvPr id="112" name="Rectangle 111">
            <a:extLst>
              <a:ext uri="{FF2B5EF4-FFF2-40B4-BE49-F238E27FC236}">
                <a16:creationId id="{4D9217BE-F0DF-0043-9A68-69C8B7088BF0}"/>
              </a:ext>
            </a:extLst>
          </p:cNvPr>
          <p:cNvSpPr/>
          <p:nvPr/>
        </p:nvSpPr>
        <p:spPr>
          <a:xfrm>
            <a:off x="0" y="197"/>
            <a:ext cx="12192000" cy="523220"/>
          </a:xfrm>
          <a:prstGeom prst="rect">
            <a:avLst/>
          </a:prstGeom>
          <a:solidFill>
            <a:srgbClr val="7030A0"/>
          </a:solidFill>
          <a:ln>
            <a:solidFill>
              <a:schemeClr val="bg1"/>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Noether Core: A Nested Tri-Binary Assembly of Architrinos</a:t>
            </a:r>
          </a:p>
        </p:txBody>
      </p:sp>
      <p:sp>
        <p:nvSpPr>
          <p:cNvPr id="5" name="Up Arrow Callout 4">
            <a:extLst>
              <a:ext uri="{FF2B5EF4-FFF2-40B4-BE49-F238E27FC236}">
                <a16:creationId id="{B23FD2B2-0A91-F8CE-1716-6E5846B3BAD3}"/>
              </a:ext>
            </a:extLst>
          </p:cNvPr>
          <p:cNvSpPr/>
          <p:nvPr/>
        </p:nvSpPr>
        <p:spPr>
          <a:xfrm>
            <a:off x="3037012" y="2254589"/>
            <a:ext cx="703014" cy="570680"/>
          </a:xfrm>
          <a:prstGeom prst="upArrowCallout">
            <a:avLst>
              <a:gd name="adj1" fmla="val 25000"/>
              <a:gd name="adj2" fmla="val 25000"/>
              <a:gd name="adj3" fmla="val 25000"/>
              <a:gd name="adj4" fmla="val 56415"/>
            </a:avLst>
          </a:prstGeom>
          <a:ln>
            <a:solidFill>
              <a:schemeClr val="bg1">
                <a:lumMod val="6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050" dirty="0">
                <a:latin typeface="Helvetica Neue" panose="02000503000000020004" pitchFamily="2" charset="0"/>
                <a:ea typeface="Helvetica Neue" panose="02000503000000020004" pitchFamily="2" charset="0"/>
                <a:cs typeface="Helvetica Neue" panose="02000503000000020004" pitchFamily="2" charset="0"/>
              </a:rPr>
              <a:t>Group</a:t>
            </a:r>
            <a:br>
              <a:rPr lang="en-US" sz="1050" dirty="0">
                <a:latin typeface="Helvetica Neue" panose="02000503000000020004" pitchFamily="2" charset="0"/>
                <a:ea typeface="Helvetica Neue" panose="02000503000000020004" pitchFamily="2" charset="0"/>
                <a:cs typeface="Helvetica Neue" panose="02000503000000020004" pitchFamily="2" charset="0"/>
              </a:rPr>
            </a:br>
            <a:r>
              <a:rPr lang="en-US" sz="1050" dirty="0">
                <a:latin typeface="Helvetica Neue" panose="02000503000000020004" pitchFamily="2" charset="0"/>
                <a:ea typeface="Helvetica Neue" panose="02000503000000020004" pitchFamily="2" charset="0"/>
                <a:cs typeface="Helvetica Neue" panose="02000503000000020004" pitchFamily="2" charset="0"/>
              </a:rPr>
              <a:t>Velocity</a:t>
            </a:r>
          </a:p>
        </p:txBody>
      </p:sp>
      <p:sp>
        <p:nvSpPr>
          <p:cNvPr id="6" name="Up Arrow Callout 5">
            <a:extLst>
              <a:ext uri="{FF2B5EF4-FFF2-40B4-BE49-F238E27FC236}">
                <a16:creationId id="{3A858C39-40E3-C371-2CB9-E81534047B20}"/>
              </a:ext>
            </a:extLst>
          </p:cNvPr>
          <p:cNvSpPr/>
          <p:nvPr/>
        </p:nvSpPr>
        <p:spPr>
          <a:xfrm>
            <a:off x="7160453" y="1724050"/>
            <a:ext cx="703014" cy="1101219"/>
          </a:xfrm>
          <a:prstGeom prst="upArrowCallout">
            <a:avLst>
              <a:gd name="adj1" fmla="val 25000"/>
              <a:gd name="adj2" fmla="val 25000"/>
              <a:gd name="adj3" fmla="val 25000"/>
              <a:gd name="adj4" fmla="val 30508"/>
            </a:avLst>
          </a:prstGeom>
          <a:ln>
            <a:solidFill>
              <a:schemeClr val="bg1">
                <a:lumMod val="6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050" dirty="0">
                <a:latin typeface="Helvetica Neue" panose="02000503000000020004" pitchFamily="2" charset="0"/>
                <a:ea typeface="Helvetica Neue" panose="02000503000000020004" pitchFamily="2" charset="0"/>
                <a:cs typeface="Helvetica Neue" panose="02000503000000020004" pitchFamily="2" charset="0"/>
              </a:rPr>
              <a:t>Group</a:t>
            </a:r>
            <a:br>
              <a:rPr lang="en-US" sz="1050" dirty="0">
                <a:latin typeface="Helvetica Neue" panose="02000503000000020004" pitchFamily="2" charset="0"/>
                <a:ea typeface="Helvetica Neue" panose="02000503000000020004" pitchFamily="2" charset="0"/>
                <a:cs typeface="Helvetica Neue" panose="02000503000000020004" pitchFamily="2" charset="0"/>
              </a:rPr>
            </a:br>
            <a:r>
              <a:rPr lang="en-US" sz="1050" dirty="0">
                <a:latin typeface="Helvetica Neue" panose="02000503000000020004" pitchFamily="2" charset="0"/>
                <a:ea typeface="Helvetica Neue" panose="02000503000000020004" pitchFamily="2" charset="0"/>
                <a:cs typeface="Helvetica Neue" panose="02000503000000020004" pitchFamily="2" charset="0"/>
              </a:rPr>
              <a:t>Velocity</a:t>
            </a:r>
          </a:p>
        </p:txBody>
      </p:sp>
      <p:sp>
        <p:nvSpPr>
          <p:cNvPr id="7" name="Up Arrow Callout 6">
            <a:extLst>
              <a:ext uri="{FF2B5EF4-FFF2-40B4-BE49-F238E27FC236}">
                <a16:creationId id="{6F8D9548-9B8C-4C8C-8C9F-5270736394DE}"/>
              </a:ext>
            </a:extLst>
          </p:cNvPr>
          <p:cNvSpPr/>
          <p:nvPr/>
        </p:nvSpPr>
        <p:spPr>
          <a:xfrm>
            <a:off x="11191249" y="726654"/>
            <a:ext cx="703014" cy="2098616"/>
          </a:xfrm>
          <a:prstGeom prst="upArrowCallout">
            <a:avLst>
              <a:gd name="adj1" fmla="val 25000"/>
              <a:gd name="adj2" fmla="val 25000"/>
              <a:gd name="adj3" fmla="val 25000"/>
              <a:gd name="adj4" fmla="val 15968"/>
            </a:avLst>
          </a:prstGeom>
          <a:ln>
            <a:solidFill>
              <a:schemeClr val="bg1">
                <a:lumMod val="6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050" dirty="0">
                <a:latin typeface="Helvetica Neue" panose="02000503000000020004" pitchFamily="2" charset="0"/>
                <a:ea typeface="Helvetica Neue" panose="02000503000000020004" pitchFamily="2" charset="0"/>
                <a:cs typeface="Helvetica Neue" panose="02000503000000020004" pitchFamily="2" charset="0"/>
              </a:rPr>
              <a:t>Group</a:t>
            </a:r>
            <a:br>
              <a:rPr lang="en-US" sz="1050" dirty="0">
                <a:latin typeface="Helvetica Neue" panose="02000503000000020004" pitchFamily="2" charset="0"/>
                <a:ea typeface="Helvetica Neue" panose="02000503000000020004" pitchFamily="2" charset="0"/>
                <a:cs typeface="Helvetica Neue" panose="02000503000000020004" pitchFamily="2" charset="0"/>
              </a:rPr>
            </a:br>
            <a:r>
              <a:rPr lang="en-US" sz="1050" dirty="0">
                <a:latin typeface="Helvetica Neue" panose="02000503000000020004" pitchFamily="2" charset="0"/>
                <a:ea typeface="Helvetica Neue" panose="02000503000000020004" pitchFamily="2" charset="0"/>
                <a:cs typeface="Helvetica Neue" panose="02000503000000020004" pitchFamily="2" charset="0"/>
              </a:rPr>
              <a:t>Velocity</a:t>
            </a:r>
          </a:p>
        </p:txBody>
      </p:sp>
      <p:sp>
        <p:nvSpPr>
          <p:cNvPr id="3" name="Footer Placeholder 3"/>
          <p:cNvSpPr txBox="1">
            <a:spLocks/>
          </p:cNvSpPr>
          <p:nvPr/>
        </p:nvSpPr>
        <p:spPr>
          <a:xfrm>
            <a:off x="10942204" y="6481737"/>
            <a:ext cx="1217443"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architrino.com</a:t>
            </a:r>
          </a:p>
        </p:txBody>
      </p:sp>
    </p:spTree>
    <p:extLst>
      <p:ext uri="{BB962C8B-B14F-4D97-AF65-F5344CB8AC3E}">
        <ns3:creationId val="3357355047"/>
      </p:ext>
    </p:extLst>
  </p:cSld>
  <p:clrMapOvr>
    <a:masterClrMapping/>
  </p:clrMapOvr>
</p:sld>
</file>

<file path=ppt/slides/slide9.xml><?xml version="1.0" encoding="utf-8"?>
<p:sld xmlns:a="http://schemas.openxmlformats.org/drawingml/2006/main" xmlns:a16="http://schemas.microsoft.com/office/drawing/2014/main" xmlns:ns3="http://schemas.microsoft.com/office/powerpoint/2010/main"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Donut 1">
            <a:extLst>
              <a:ext uri="{FF2B5EF4-FFF2-40B4-BE49-F238E27FC236}">
                <a16:creationId id="{BA4288FE-88D7-9EDC-40A6-C24DF48CE79A}"/>
              </a:ext>
            </a:extLst>
          </p:cNvPr>
          <p:cNvSpPr/>
          <p:nvPr/>
        </p:nvSpPr>
        <p:spPr>
          <a:xfrm>
            <a:off x="914209" y="1156872"/>
            <a:ext cx="4369174" cy="4369174"/>
          </a:xfrm>
          <a:prstGeom prst="donut">
            <a:avLst>
              <a:gd name="adj" fmla="val 17182"/>
            </a:avLst>
          </a:prstGeom>
          <a:solidFill>
            <a:srgbClr val="D88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Donut 2">
            <a:extLst>
              <a:ext uri="{FF2B5EF4-FFF2-40B4-BE49-F238E27FC236}">
                <a16:creationId id="{B708AADB-0A16-6D14-D9CD-DF1192E78C07}"/>
              </a:ext>
            </a:extLst>
          </p:cNvPr>
          <p:cNvSpPr/>
          <p:nvPr/>
        </p:nvSpPr>
        <p:spPr>
          <a:xfrm>
            <a:off x="1737842" y="1980507"/>
            <a:ext cx="2721908" cy="2721908"/>
          </a:xfrm>
          <a:prstGeom prst="donut">
            <a:avLst>
              <a:gd name="adj" fmla="val 24742"/>
            </a:avLst>
          </a:prstGeom>
          <a:solidFill>
            <a:srgbClr val="9437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Donut 3">
            <a:extLst>
              <a:ext uri="{FF2B5EF4-FFF2-40B4-BE49-F238E27FC236}">
                <a16:creationId id="{428EE5F5-1912-9D07-7806-71DBA8A4FA8F}"/>
              </a:ext>
            </a:extLst>
          </p:cNvPr>
          <p:cNvSpPr/>
          <p:nvPr/>
        </p:nvSpPr>
        <p:spPr>
          <a:xfrm>
            <a:off x="2528978" y="2759035"/>
            <a:ext cx="1164851" cy="1164851"/>
          </a:xfrm>
          <a:prstGeom prst="donut">
            <a:avLst>
              <a:gd name="adj" fmla="val 43960"/>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6" name="Straight Connector 5">
            <a:extLst>
              <a:ext uri="{FF2B5EF4-FFF2-40B4-BE49-F238E27FC236}">
                <a16:creationId id="{1D6AD72A-9502-F178-9424-440D8A6757ED}"/>
              </a:ext>
            </a:extLst>
          </p:cNvPr>
          <p:cNvCxnSpPr>
            <a:cxnSpLocks/>
            <a:endCxn id="2" idx="7"/>
          </p:cNvCxnSpPr>
          <p:nvPr/>
        </p:nvCxnSpPr>
        <p:spPr>
          <a:xfrm flipV="1">
            <a:off x="3098796" y="1796723"/>
            <a:ext cx="1544736" cy="1544738"/>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id="{CB52F6BF-FC61-3808-39AA-72AB802156DF}"/>
              </a:ext>
            </a:extLst>
          </p:cNvPr>
          <p:cNvCxnSpPr>
            <a:cxnSpLocks/>
          </p:cNvCxnSpPr>
          <p:nvPr/>
        </p:nvCxnSpPr>
        <p:spPr>
          <a:xfrm>
            <a:off x="3098796" y="3341460"/>
            <a:ext cx="595033" cy="1253986"/>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id="{54059970-CC4F-C26F-4E26-B67060AA9468}"/>
              </a:ext>
            </a:extLst>
          </p:cNvPr>
          <p:cNvCxnSpPr>
            <a:cxnSpLocks/>
          </p:cNvCxnSpPr>
          <p:nvPr/>
        </p:nvCxnSpPr>
        <p:spPr>
          <a:xfrm flipH="1" flipV="1">
            <a:off x="2492035" y="3157179"/>
            <a:ext cx="606761" cy="18428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id="{2AC75854-C582-B325-2779-91D5942E7C63}"/>
              </a:ext>
            </a:extLst>
          </p:cNvPr>
          <p:cNvSpPr txBox="1"/>
          <p:nvPr/>
        </p:nvSpPr>
        <p:spPr>
          <a:xfrm>
            <a:off x="2539994" y="5841067"/>
            <a:ext cx="1117603"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SLM</a:t>
            </a:r>
          </a:p>
        </p:txBody>
      </p:sp>
      <p:sp>
        <p:nvSpPr>
          <p:cNvPr id="5" name="Donut 4">
            <a:extLst>
              <a:ext uri="{FF2B5EF4-FFF2-40B4-BE49-F238E27FC236}">
                <a16:creationId id="{C1882956-1CD8-6E50-F8A3-2F831D543740}"/>
              </a:ext>
            </a:extLst>
          </p:cNvPr>
          <p:cNvSpPr/>
          <p:nvPr/>
        </p:nvSpPr>
        <p:spPr>
          <a:xfrm>
            <a:off x="6920345" y="1160777"/>
            <a:ext cx="4369174" cy="4369174"/>
          </a:xfrm>
          <a:prstGeom prst="donut">
            <a:avLst>
              <a:gd name="adj" fmla="val 17182"/>
            </a:avLst>
          </a:prstGeom>
          <a:solidFill>
            <a:srgbClr val="D88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Donut 6">
            <a:extLst>
              <a:ext uri="{FF2B5EF4-FFF2-40B4-BE49-F238E27FC236}">
                <a16:creationId id="{CF0500E5-1CEE-8D30-C186-9577181EEDC5}"/>
              </a:ext>
            </a:extLst>
          </p:cNvPr>
          <p:cNvSpPr/>
          <p:nvPr/>
        </p:nvSpPr>
        <p:spPr>
          <a:xfrm>
            <a:off x="7743978" y="1984412"/>
            <a:ext cx="2721908" cy="2721908"/>
          </a:xfrm>
          <a:prstGeom prst="donut">
            <a:avLst>
              <a:gd name="adj" fmla="val 24742"/>
            </a:avLst>
          </a:prstGeom>
          <a:solidFill>
            <a:srgbClr val="9437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Donut 8">
            <a:extLst>
              <a:ext uri="{FF2B5EF4-FFF2-40B4-BE49-F238E27FC236}">
                <a16:creationId id="{EE3E73BC-70EA-4ECC-D219-8C668A9231A4}"/>
              </a:ext>
            </a:extLst>
          </p:cNvPr>
          <p:cNvSpPr/>
          <p:nvPr/>
        </p:nvSpPr>
        <p:spPr>
          <a:xfrm>
            <a:off x="8535114" y="2762940"/>
            <a:ext cx="1164851" cy="1164851"/>
          </a:xfrm>
          <a:prstGeom prst="donut">
            <a:avLst>
              <a:gd name="adj" fmla="val 43960"/>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10" name="Straight Connector 9">
            <a:extLst>
              <a:ext uri="{FF2B5EF4-FFF2-40B4-BE49-F238E27FC236}">
                <a16:creationId id="{8EE73430-EA8C-4D56-5368-6EE84D719BA1}"/>
              </a:ext>
            </a:extLst>
          </p:cNvPr>
          <p:cNvCxnSpPr>
            <a:cxnSpLocks/>
            <a:endCxn id="7" idx="7"/>
          </p:cNvCxnSpPr>
          <p:nvPr/>
        </p:nvCxnSpPr>
        <p:spPr>
          <a:xfrm flipV="1">
            <a:off x="9104932" y="2383026"/>
            <a:ext cx="962340" cy="96234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id="{FA237148-3DC5-974C-0428-0EF5DFF85F6D}"/>
              </a:ext>
            </a:extLst>
          </p:cNvPr>
          <p:cNvCxnSpPr>
            <a:cxnSpLocks/>
          </p:cNvCxnSpPr>
          <p:nvPr/>
        </p:nvCxnSpPr>
        <p:spPr>
          <a:xfrm>
            <a:off x="9104932" y="3345365"/>
            <a:ext cx="812791" cy="2039435"/>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id="{3C17F5ED-BDDC-BF50-22F2-809681141604}"/>
              </a:ext>
            </a:extLst>
          </p:cNvPr>
          <p:cNvCxnSpPr>
            <a:cxnSpLocks/>
          </p:cNvCxnSpPr>
          <p:nvPr/>
        </p:nvCxnSpPr>
        <p:spPr>
          <a:xfrm flipH="1" flipV="1">
            <a:off x="8471877" y="3157179"/>
            <a:ext cx="633055" cy="188185"/>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id="{42D340C8-BCD0-C685-AA68-6274E1F27D72}"/>
              </a:ext>
            </a:extLst>
          </p:cNvPr>
          <p:cNvSpPr txBox="1"/>
          <p:nvPr/>
        </p:nvSpPr>
        <p:spPr>
          <a:xfrm>
            <a:off x="8546130" y="5841067"/>
            <a:ext cx="1117603"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SML</a:t>
            </a:r>
          </a:p>
        </p:txBody>
      </p:sp>
      <p:sp>
        <p:nvSpPr>
          <p:cNvPr id="30" name="Title 4">
            <a:extLst>
              <a:ext uri="{FF2B5EF4-FFF2-40B4-BE49-F238E27FC236}">
                <a16:creationId id="{C0C43CCF-97B1-AD41-7C98-F6EFE9A74335}"/>
              </a:ext>
            </a:extLst>
          </p:cNvPr>
          <p:cNvSpPr txBox="1">
            <a:spLocks/>
          </p:cNvSpPr>
          <p:nvPr/>
        </p:nvSpPr>
        <p:spPr>
          <a:xfrm>
            <a:off x="453293" y="187318"/>
            <a:ext cx="11238522" cy="777875"/>
          </a:xfrm>
          <a:prstGeom prst="rect">
            <a:avLst/>
          </a:prstGeom>
        </p:spPr>
        <p:txBody>
          <a:bodyPr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Distinct Angular Momentum Vector Orientation </a:t>
            </a:r>
          </a:p>
        </p:txBody>
      </p:sp>
      <p:sp>
        <p:nvSpPr>
          <p:cNvPr id="31" name="TextBox 30">
            <a:extLst>
              <a:ext uri="{FF2B5EF4-FFF2-40B4-BE49-F238E27FC236}">
                <a16:creationId id="{A0ACBB4C-A45F-8A60-4CAD-A0538D4CACB0}"/>
              </a:ext>
            </a:extLst>
          </p:cNvPr>
          <p:cNvSpPr txBox="1"/>
          <p:nvPr/>
        </p:nvSpPr>
        <p:spPr>
          <a:xfrm>
            <a:off x="3777497" y="5314225"/>
            <a:ext cx="696872"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M</a:t>
            </a:r>
          </a:p>
        </p:txBody>
      </p:sp>
      <p:sp>
        <p:nvSpPr>
          <p:cNvPr id="32" name="TextBox 31">
            <a:extLst>
              <a:ext uri="{FF2B5EF4-FFF2-40B4-BE49-F238E27FC236}">
                <a16:creationId id="{71945390-E14D-E3B4-3810-7D8CF00E9BA1}"/>
              </a:ext>
            </a:extLst>
          </p:cNvPr>
          <p:cNvSpPr txBox="1"/>
          <p:nvPr/>
        </p:nvSpPr>
        <p:spPr>
          <a:xfrm>
            <a:off x="6479683" y="2492438"/>
            <a:ext cx="696872"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S</a:t>
            </a:r>
          </a:p>
        </p:txBody>
      </p:sp>
      <p:sp>
        <p:nvSpPr>
          <p:cNvPr id="33" name="TextBox 32">
            <a:extLst>
              <a:ext uri="{FF2B5EF4-FFF2-40B4-BE49-F238E27FC236}">
                <a16:creationId id="{08AE107B-C680-F726-75BB-CEC65D991224}"/>
              </a:ext>
            </a:extLst>
          </p:cNvPr>
          <p:cNvSpPr txBox="1"/>
          <p:nvPr/>
        </p:nvSpPr>
        <p:spPr>
          <a:xfrm>
            <a:off x="4474369" y="1445966"/>
            <a:ext cx="696872"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L</a:t>
            </a:r>
          </a:p>
        </p:txBody>
      </p:sp>
      <p:sp>
        <p:nvSpPr>
          <p:cNvPr id="34" name="TextBox 33">
            <a:extLst>
              <a:ext uri="{FF2B5EF4-FFF2-40B4-BE49-F238E27FC236}">
                <a16:creationId id="{5D8F3AF5-4341-0AFB-6621-F883DF56D80F}"/>
              </a:ext>
            </a:extLst>
          </p:cNvPr>
          <p:cNvSpPr txBox="1"/>
          <p:nvPr/>
        </p:nvSpPr>
        <p:spPr>
          <a:xfrm>
            <a:off x="10465886" y="1429472"/>
            <a:ext cx="696872"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M</a:t>
            </a:r>
          </a:p>
        </p:txBody>
      </p:sp>
      <p:sp>
        <p:nvSpPr>
          <p:cNvPr id="35" name="TextBox 34">
            <a:extLst>
              <a:ext uri="{FF2B5EF4-FFF2-40B4-BE49-F238E27FC236}">
                <a16:creationId id="{5785E698-D0F4-2F28-B338-A2B3B2C6E5DA}"/>
              </a:ext>
            </a:extLst>
          </p:cNvPr>
          <p:cNvSpPr txBox="1"/>
          <p:nvPr/>
        </p:nvSpPr>
        <p:spPr>
          <a:xfrm>
            <a:off x="472203" y="2492438"/>
            <a:ext cx="696872"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S</a:t>
            </a:r>
          </a:p>
        </p:txBody>
      </p:sp>
      <p:sp>
        <p:nvSpPr>
          <p:cNvPr id="36" name="TextBox 35">
            <a:extLst>
              <a:ext uri="{FF2B5EF4-FFF2-40B4-BE49-F238E27FC236}">
                <a16:creationId id="{1955B46F-F178-3B04-0104-3A7E4B8A88AD}"/>
              </a:ext>
            </a:extLst>
          </p:cNvPr>
          <p:cNvSpPr txBox="1"/>
          <p:nvPr/>
        </p:nvSpPr>
        <p:spPr>
          <a:xfrm>
            <a:off x="9655795" y="5365217"/>
            <a:ext cx="696872"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L</a:t>
            </a:r>
          </a:p>
        </p:txBody>
      </p:sp>
      <p:sp>
        <p:nvSpPr>
          <p:cNvPr id="37" name="Footer Placeholder 3"/>
          <p:cNvSpPr txBox="1">
            <a:spLocks/>
          </p:cNvSpPr>
          <p:nvPr/>
        </p:nvSpPr>
        <p:spPr>
          <a:xfrm>
            <a:off x="10942204" y="6481737"/>
            <a:ext cx="1217443"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architrino.com</a:t>
            </a:r>
          </a:p>
        </p:txBody>
      </p:sp>
    </p:spTree>
    <p:extLst>
      <p:ext uri="{BB962C8B-B14F-4D97-AF65-F5344CB8AC3E}">
        <ns3:creationId val="1283311828"/>
      </p:ext>
    </p:extLst>
  </p:cSld>
  <p:clrMapOvr>
    <a:masterClrMapping/>
  </p:clrMapOvr>
</p:sld>
</file>

<file path=ppt/slides/slide10.xml><?xml version="1.0" encoding="utf-8"?>
<p:sld xmlns:a="http://schemas.openxmlformats.org/drawingml/2006/main" xmlns:a16="http://schemas.microsoft.com/office/drawing/2014/main" xmlns:ns3="http://schemas.microsoft.com/office/powerpoint/2010/main"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graphicFrame>
        <p:nvGraphicFramePr>
          <p:cNvPr id="3" name="Table 2">
            <a:extLst>
              <a:ext uri="{FF2B5EF4-FFF2-40B4-BE49-F238E27FC236}">
                <a16:creationId id="{724E0CA2-2D05-FFCC-E9C4-CA968FBD7555}"/>
              </a:ext>
            </a:extLst>
          </p:cNvPr>
          <p:cNvGraphicFramePr>
            <a:graphicFrameLocks noGrp="1"/>
          </p:cNvGraphicFramePr>
          <p:nvPr>
            <p:extLst>
              <p:ext uri="{D42A27DB-BD31-4B8C-83A1-F6EECF244321}">
                <ns3:modId val="3058871316"/>
              </p:ext>
            </p:extLst>
          </p:nvPr>
        </p:nvGraphicFramePr>
        <p:xfrm>
          <a:off x="781099" y="1430867"/>
          <a:ext cx="5545665" cy="4842933"/>
        </p:xfrm>
        <a:graphic>
          <a:graphicData uri="http://schemas.openxmlformats.org/drawingml/2006/table">
            <a:tbl>
              <a:tblPr firstRow="1" bandRow="1">
                <a:tableStyleId>{073A0DAA-6AF3-43AB-8588-CEC1D06C72B9}</a:tableStyleId>
              </a:tblPr>
              <a:tblGrid>
                <a:gridCol w="1848555">
                  <a:extLst>
                    <a:ext uri="{9D8B030D-6E8A-4147-A177-3AD203B41FA5}">
                      <a16:colId val="230221416"/>
                    </a:ext>
                  </a:extLst>
                </a:gridCol>
                <a:gridCol w="1848555">
                  <a:extLst>
                    <a:ext uri="{9D8B030D-6E8A-4147-A177-3AD203B41FA5}">
                      <a16:colId val="3174247679"/>
                    </a:ext>
                  </a:extLst>
                </a:gridCol>
                <a:gridCol w="1848555">
                  <a:extLst>
                    <a:ext uri="{9D8B030D-6E8A-4147-A177-3AD203B41FA5}">
                      <a16:colId val="1148376956"/>
                    </a:ext>
                  </a:extLst>
                </a:gridCol>
              </a:tblGrid>
              <a:tr h="1614311">
                <a:tc>
                  <a:txBody>
                    <a:bodyPr/>
                    <a:lstStyle/>
                    <a:p>
                      <a:pPr algn="ctr"/>
                      <a:r>
                        <a:rPr lang="en-US"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Tri Binary</a:t>
                      </a:r>
                    </a:p>
                    <a:p>
                      <a:pPr algn="ctr"/>
                      <a:r>
                        <a:rPr lang="en-US"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Forms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Left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Right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val="3796638479"/>
                  </a:ext>
                </a:extLst>
              </a:tr>
              <a:tr h="1614311">
                <a:tc>
                  <a:txBody>
                    <a:bodyPr/>
                    <a:lstStyle/>
                    <a:p>
                      <a:pPr algn="ctr"/>
                      <a:r>
                        <a:rPr lang="en-US" b="1" dirty="0">
                          <a:latin typeface="Helvetica Neue" panose="02000503000000020004" pitchFamily="2" charset="0"/>
                          <a:ea typeface="Helvetica Neue" panose="02000503000000020004" pitchFamily="2" charset="0"/>
                          <a:cs typeface="Helvetica Neue" panose="02000503000000020004" pitchFamily="2" charset="0"/>
                        </a:rPr>
                        <a:t>Pro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US" dirty="0">
                        <a:latin typeface="Helvetica Neue" panose="02000503000000020004" pitchFamily="2" charset="0"/>
                        <a:ea typeface="Helvetica Neue" panose="02000503000000020004" pitchFamily="2" charset="0"/>
                        <a:cs typeface="Helvetica Neue" panose="02000503000000020004"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dirty="0">
                        <a:latin typeface="Helvetica Neue" panose="02000503000000020004" pitchFamily="2" charset="0"/>
                        <a:ea typeface="Helvetica Neue" panose="02000503000000020004" pitchFamily="2" charset="0"/>
                        <a:cs typeface="Helvetica Neue" panose="02000503000000020004"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val="1596901457"/>
                  </a:ext>
                </a:extLst>
              </a:tr>
              <a:tr h="1614311">
                <a:tc>
                  <a:txBody>
                    <a:bodyPr/>
                    <a:lstStyle/>
                    <a:p>
                      <a:pPr algn="ctr"/>
                      <a:r>
                        <a:rPr lang="en-US" b="1" dirty="0">
                          <a:latin typeface="Helvetica Neue" panose="02000503000000020004" pitchFamily="2" charset="0"/>
                          <a:ea typeface="Helvetica Neue" panose="02000503000000020004" pitchFamily="2" charset="0"/>
                          <a:cs typeface="Helvetica Neue" panose="02000503000000020004" pitchFamily="2" charset="0"/>
                        </a:rPr>
                        <a:t>Anti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endParaRPr lang="en-US" dirty="0">
                        <a:latin typeface="Helvetica Neue" panose="02000503000000020004" pitchFamily="2" charset="0"/>
                        <a:ea typeface="Helvetica Neue" panose="02000503000000020004" pitchFamily="2" charset="0"/>
                        <a:cs typeface="Helvetica Neue" panose="02000503000000020004"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dirty="0">
                        <a:latin typeface="Helvetica Neue" panose="02000503000000020004" pitchFamily="2" charset="0"/>
                        <a:ea typeface="Helvetica Neue" panose="02000503000000020004" pitchFamily="2" charset="0"/>
                        <a:cs typeface="Helvetica Neue" panose="02000503000000020004"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val="3042622526"/>
                  </a:ext>
                </a:extLst>
              </a:tr>
            </a:tbl>
          </a:graphicData>
        </a:graphic>
      </p:graphicFrame>
      <p:grpSp>
        <p:nvGrpSpPr>
          <p:cNvPr id="5" name="Group 4">
            <a:extLst>
              <a:ext uri="{FF2B5EF4-FFF2-40B4-BE49-F238E27FC236}">
                <a16:creationId id="{D4ABFA44-986D-EBB0-AAAB-E799A3820470}"/>
              </a:ext>
            </a:extLst>
          </p:cNvPr>
          <p:cNvGrpSpPr/>
          <p:nvPr/>
        </p:nvGrpSpPr>
        <p:grpSpPr>
          <a:xfrm>
            <a:off x="3040221" y="4990413"/>
            <a:ext cx="1000690" cy="1000690"/>
            <a:chOff x="5070055" y="4965013"/>
            <a:chExt cx="1000690" cy="1000690"/>
          </a:xfrm>
        </p:grpSpPr>
        <p:grpSp>
          <p:nvGrpSpPr>
            <p:cNvPr id="884" name="Group 883">
              <a:extLst>
                <a:ext uri="{FF2B5EF4-FFF2-40B4-BE49-F238E27FC236}">
                  <a16:creationId id="{3788A685-B5AE-0EE0-02E2-BD13127E4924}"/>
                </a:ext>
              </a:extLst>
            </p:cNvPr>
            <p:cNvGrpSpPr/>
            <p:nvPr/>
          </p:nvGrpSpPr>
          <p:grpSpPr>
            <a:xfrm rot="14400000">
              <a:off x="5070055" y="4965013"/>
              <a:ext cx="1000690" cy="1000690"/>
              <a:chOff x="5354637" y="3446463"/>
              <a:chExt cx="214313" cy="214313"/>
            </a:xfrm>
          </p:grpSpPr>
          <p:sp>
            <p:nvSpPr>
              <p:cNvPr id="893" name="Arc 892">
                <a:extLst>
                  <a:ext uri="{FF2B5EF4-FFF2-40B4-BE49-F238E27FC236}">
                    <a16:creationId id="{36CB7700-E907-6A13-C359-273700B1A382}"/>
                  </a:ext>
                </a:extLst>
              </p:cNvPr>
              <p:cNvSpPr/>
              <p:nvPr/>
            </p:nvSpPr>
            <p:spPr>
              <a:xfrm>
                <a:off x="5354637" y="3446463"/>
                <a:ext cx="214313" cy="214313"/>
              </a:xfrm>
              <a:prstGeom prst="arc">
                <a:avLst>
                  <a:gd name="adj1" fmla="val 16980644"/>
                  <a:gd name="adj2" fmla="val 5405383"/>
                </a:avLst>
              </a:prstGeom>
              <a:ln w="12700" cap="rnd">
                <a:gradFill>
                  <a:gsLst>
                    <a:gs pos="0">
                      <a:schemeClr val="bg1"/>
                    </a:gs>
                    <a:gs pos="91000">
                      <a:srgbClr val="0070C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4" name="Arc 893">
                <a:extLst>
                  <a:ext uri="{FF2B5EF4-FFF2-40B4-BE49-F238E27FC236}">
                    <a16:creationId id="{233B539C-5706-C044-A36C-4A440F2CB174}"/>
                  </a:ext>
                </a:extLst>
              </p:cNvPr>
              <p:cNvSpPr/>
              <p:nvPr/>
            </p:nvSpPr>
            <p:spPr>
              <a:xfrm rot="10800000">
                <a:off x="5354637" y="3446463"/>
                <a:ext cx="214313" cy="214313"/>
              </a:xfrm>
              <a:prstGeom prst="arc">
                <a:avLst>
                  <a:gd name="adj1" fmla="val 17194449"/>
                  <a:gd name="adj2" fmla="val 5405383"/>
                </a:avLst>
              </a:prstGeom>
              <a:ln w="12700" cap="rnd">
                <a:gradFill>
                  <a:gsLst>
                    <a:gs pos="0">
                      <a:schemeClr val="bg1"/>
                    </a:gs>
                    <a:gs pos="86000">
                      <a:srgbClr val="FF000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86" name="Group 885">
              <a:extLst>
                <a:ext uri="{FF2B5EF4-FFF2-40B4-BE49-F238E27FC236}">
                  <a16:creationId id="{529336BD-FD8A-80B1-06AC-3EFDCD06B2D7}"/>
                </a:ext>
              </a:extLst>
            </p:cNvPr>
            <p:cNvGrpSpPr/>
            <p:nvPr/>
          </p:nvGrpSpPr>
          <p:grpSpPr>
            <a:xfrm>
              <a:off x="5297683" y="5192641"/>
              <a:ext cx="545436" cy="545436"/>
              <a:chOff x="5354637" y="3446463"/>
              <a:chExt cx="214313" cy="214313"/>
            </a:xfrm>
          </p:grpSpPr>
          <p:sp>
            <p:nvSpPr>
              <p:cNvPr id="891" name="Arc 890">
                <a:extLst>
                  <a:ext uri="{FF2B5EF4-FFF2-40B4-BE49-F238E27FC236}">
                    <a16:creationId id="{1465D130-2D7B-8F25-811E-DF848D90064F}"/>
                  </a:ext>
                </a:extLst>
              </p:cNvPr>
              <p:cNvSpPr/>
              <p:nvPr/>
            </p:nvSpPr>
            <p:spPr>
              <a:xfrm>
                <a:off x="5354637" y="3446463"/>
                <a:ext cx="214313" cy="214313"/>
              </a:xfrm>
              <a:prstGeom prst="arc">
                <a:avLst>
                  <a:gd name="adj1" fmla="val 16980644"/>
                  <a:gd name="adj2" fmla="val 5405383"/>
                </a:avLst>
              </a:prstGeom>
              <a:ln w="12700" cap="rnd">
                <a:gradFill>
                  <a:gsLst>
                    <a:gs pos="0">
                      <a:schemeClr val="bg1"/>
                    </a:gs>
                    <a:gs pos="91000">
                      <a:srgbClr val="0070C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2" name="Arc 891">
                <a:extLst>
                  <a:ext uri="{FF2B5EF4-FFF2-40B4-BE49-F238E27FC236}">
                    <a16:creationId id="{A281CF3F-1386-D588-8AD3-6379F2D99E77}"/>
                  </a:ext>
                </a:extLst>
              </p:cNvPr>
              <p:cNvSpPr/>
              <p:nvPr/>
            </p:nvSpPr>
            <p:spPr>
              <a:xfrm rot="10800000">
                <a:off x="5354637" y="3446463"/>
                <a:ext cx="214313" cy="214313"/>
              </a:xfrm>
              <a:prstGeom prst="arc">
                <a:avLst>
                  <a:gd name="adj1" fmla="val 17194449"/>
                  <a:gd name="adj2" fmla="val 5405383"/>
                </a:avLst>
              </a:prstGeom>
              <a:ln w="12700" cap="rnd">
                <a:gradFill>
                  <a:gsLst>
                    <a:gs pos="0">
                      <a:schemeClr val="bg1"/>
                    </a:gs>
                    <a:gs pos="86000">
                      <a:srgbClr val="FF000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87" name="Group 886">
              <a:extLst>
                <a:ext uri="{FF2B5EF4-FFF2-40B4-BE49-F238E27FC236}">
                  <a16:creationId id="{ADA46A4F-620A-7653-976E-B1DDDCE90D24}"/>
                </a:ext>
              </a:extLst>
            </p:cNvPr>
            <p:cNvGrpSpPr/>
            <p:nvPr/>
          </p:nvGrpSpPr>
          <p:grpSpPr>
            <a:xfrm rot="7200000">
              <a:off x="5184556" y="5079514"/>
              <a:ext cx="771690" cy="771690"/>
              <a:chOff x="5354637" y="3446463"/>
              <a:chExt cx="214313" cy="214313"/>
            </a:xfrm>
          </p:grpSpPr>
          <p:sp>
            <p:nvSpPr>
              <p:cNvPr id="889" name="Arc 888">
                <a:extLst>
                  <a:ext uri="{FF2B5EF4-FFF2-40B4-BE49-F238E27FC236}">
                    <a16:creationId id="{7FEDC80C-E0D5-FD26-0508-C035760A099C}"/>
                  </a:ext>
                </a:extLst>
              </p:cNvPr>
              <p:cNvSpPr/>
              <p:nvPr/>
            </p:nvSpPr>
            <p:spPr>
              <a:xfrm>
                <a:off x="5354637" y="3446463"/>
                <a:ext cx="214313" cy="214313"/>
              </a:xfrm>
              <a:prstGeom prst="arc">
                <a:avLst>
                  <a:gd name="adj1" fmla="val 16980644"/>
                  <a:gd name="adj2" fmla="val 5405383"/>
                </a:avLst>
              </a:prstGeom>
              <a:ln w="12700" cap="rnd">
                <a:gradFill>
                  <a:gsLst>
                    <a:gs pos="0">
                      <a:schemeClr val="bg1"/>
                    </a:gs>
                    <a:gs pos="91000">
                      <a:srgbClr val="0070C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0" name="Arc 889">
                <a:extLst>
                  <a:ext uri="{FF2B5EF4-FFF2-40B4-BE49-F238E27FC236}">
                    <a16:creationId id="{80EAEE0A-2226-488A-BAA7-6D1F67148E63}"/>
                  </a:ext>
                </a:extLst>
              </p:cNvPr>
              <p:cNvSpPr/>
              <p:nvPr/>
            </p:nvSpPr>
            <p:spPr>
              <a:xfrm rot="10800000">
                <a:off x="5354637" y="3446463"/>
                <a:ext cx="214313" cy="214313"/>
              </a:xfrm>
              <a:prstGeom prst="arc">
                <a:avLst>
                  <a:gd name="adj1" fmla="val 17194449"/>
                  <a:gd name="adj2" fmla="val 5405383"/>
                </a:avLst>
              </a:prstGeom>
              <a:ln w="12700" cap="rnd">
                <a:gradFill>
                  <a:gsLst>
                    <a:gs pos="0">
                      <a:schemeClr val="bg1"/>
                    </a:gs>
                    <a:gs pos="86000">
                      <a:srgbClr val="FF000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888" name="TextBox 887">
              <a:extLst>
                <a:ext uri="{FF2B5EF4-FFF2-40B4-BE49-F238E27FC236}">
                  <a16:creationId id="{890AF967-0D63-BFD5-19AE-4087E1F7778D}"/>
                </a:ext>
              </a:extLst>
            </p:cNvPr>
            <p:cNvSpPr txBox="1"/>
            <p:nvPr/>
          </p:nvSpPr>
          <p:spPr>
            <a:xfrm>
              <a:off x="5337804" y="5162187"/>
              <a:ext cx="465192" cy="584775"/>
            </a:xfrm>
            <a:prstGeom prst="rect">
              <a:avLst/>
            </a:prstGeom>
            <a:noFill/>
          </p:spPr>
          <p:txBody>
            <a:bodyPr wrap="non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7030A0">
                      <a:alpha val="50000"/>
                    </a:srgb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10" name="Group 9">
            <a:extLst>
              <a:ext uri="{FF2B5EF4-FFF2-40B4-BE49-F238E27FC236}">
                <a16:creationId id="{CBD0971C-302A-9F38-41E4-3630FB669227}"/>
              </a:ext>
            </a:extLst>
          </p:cNvPr>
          <p:cNvGrpSpPr/>
          <p:nvPr/>
        </p:nvGrpSpPr>
        <p:grpSpPr>
          <a:xfrm>
            <a:off x="3040221" y="3377734"/>
            <a:ext cx="1000690" cy="1000690"/>
            <a:chOff x="5070055" y="3352334"/>
            <a:chExt cx="1000690" cy="1000690"/>
          </a:xfrm>
        </p:grpSpPr>
        <p:grpSp>
          <p:nvGrpSpPr>
            <p:cNvPr id="874" name="Group 873">
              <a:extLst>
                <a:ext uri="{FF2B5EF4-FFF2-40B4-BE49-F238E27FC236}">
                  <a16:creationId id="{9FE66D80-328B-DAA5-F448-0B32A16DC785}"/>
                </a:ext>
              </a:extLst>
            </p:cNvPr>
            <p:cNvGrpSpPr/>
            <p:nvPr/>
          </p:nvGrpSpPr>
          <p:grpSpPr>
            <a:xfrm>
              <a:off x="5297684" y="3579968"/>
              <a:ext cx="545436" cy="545436"/>
              <a:chOff x="5354637" y="3446463"/>
              <a:chExt cx="214313" cy="214313"/>
            </a:xfrm>
          </p:grpSpPr>
          <p:sp>
            <p:nvSpPr>
              <p:cNvPr id="882" name="Arc 881">
                <a:extLst>
                  <a:ext uri="{FF2B5EF4-FFF2-40B4-BE49-F238E27FC236}">
                    <a16:creationId id="{FC15BCD7-61F1-F280-B291-6D3C7FB4ADD0}"/>
                  </a:ext>
                </a:extLst>
              </p:cNvPr>
              <p:cNvSpPr/>
              <p:nvPr/>
            </p:nvSpPr>
            <p:spPr>
              <a:xfrm>
                <a:off x="5354637" y="3446463"/>
                <a:ext cx="214313" cy="214313"/>
              </a:xfrm>
              <a:prstGeom prst="arc">
                <a:avLst>
                  <a:gd name="adj1" fmla="val 16980644"/>
                  <a:gd name="adj2" fmla="val 5405383"/>
                </a:avLst>
              </a:prstGeom>
              <a:ln w="12700" cap="rnd">
                <a:gradFill>
                  <a:gsLst>
                    <a:gs pos="0">
                      <a:schemeClr val="bg1"/>
                    </a:gs>
                    <a:gs pos="91000">
                      <a:srgbClr val="0070C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3" name="Arc 882">
                <a:extLst>
                  <a:ext uri="{FF2B5EF4-FFF2-40B4-BE49-F238E27FC236}">
                    <a16:creationId id="{C409198E-9FF1-9934-214B-CB1AE9BF1CA6}"/>
                  </a:ext>
                </a:extLst>
              </p:cNvPr>
              <p:cNvSpPr/>
              <p:nvPr/>
            </p:nvSpPr>
            <p:spPr>
              <a:xfrm rot="10800000">
                <a:off x="5354637" y="3446463"/>
                <a:ext cx="214313" cy="214313"/>
              </a:xfrm>
              <a:prstGeom prst="arc">
                <a:avLst>
                  <a:gd name="adj1" fmla="val 17194449"/>
                  <a:gd name="adj2" fmla="val 5405383"/>
                </a:avLst>
              </a:prstGeom>
              <a:ln w="12700" cap="rnd">
                <a:gradFill>
                  <a:gsLst>
                    <a:gs pos="0">
                      <a:schemeClr val="bg1"/>
                    </a:gs>
                    <a:gs pos="86000">
                      <a:srgbClr val="FF000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75" name="Group 874">
              <a:extLst>
                <a:ext uri="{FF2B5EF4-FFF2-40B4-BE49-F238E27FC236}">
                  <a16:creationId id="{3C8EDDAE-C1C9-D4BD-2A0E-C714BCD6A1B5}"/>
                </a:ext>
              </a:extLst>
            </p:cNvPr>
            <p:cNvGrpSpPr/>
            <p:nvPr/>
          </p:nvGrpSpPr>
          <p:grpSpPr>
            <a:xfrm rot="14400000">
              <a:off x="5184556" y="3466841"/>
              <a:ext cx="771690" cy="771690"/>
              <a:chOff x="5354637" y="3446463"/>
              <a:chExt cx="214313" cy="214313"/>
            </a:xfrm>
          </p:grpSpPr>
          <p:sp>
            <p:nvSpPr>
              <p:cNvPr id="880" name="Arc 879">
                <a:extLst>
                  <a:ext uri="{FF2B5EF4-FFF2-40B4-BE49-F238E27FC236}">
                    <a16:creationId id="{4F3C1EC7-6A00-1E0E-5587-84A4B83927BD}"/>
                  </a:ext>
                </a:extLst>
              </p:cNvPr>
              <p:cNvSpPr/>
              <p:nvPr/>
            </p:nvSpPr>
            <p:spPr>
              <a:xfrm>
                <a:off x="5354637" y="3446463"/>
                <a:ext cx="214313" cy="214313"/>
              </a:xfrm>
              <a:prstGeom prst="arc">
                <a:avLst>
                  <a:gd name="adj1" fmla="val 16980644"/>
                  <a:gd name="adj2" fmla="val 5405383"/>
                </a:avLst>
              </a:prstGeom>
              <a:ln w="12700" cap="rnd">
                <a:gradFill>
                  <a:gsLst>
                    <a:gs pos="0">
                      <a:schemeClr val="bg1"/>
                    </a:gs>
                    <a:gs pos="91000">
                      <a:srgbClr val="0070C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1" name="Arc 880">
                <a:extLst>
                  <a:ext uri="{FF2B5EF4-FFF2-40B4-BE49-F238E27FC236}">
                    <a16:creationId id="{1ADBB78A-3E70-4A44-59BC-3AB4D23B434B}"/>
                  </a:ext>
                </a:extLst>
              </p:cNvPr>
              <p:cNvSpPr/>
              <p:nvPr/>
            </p:nvSpPr>
            <p:spPr>
              <a:xfrm rot="10800000">
                <a:off x="5354637" y="3446463"/>
                <a:ext cx="214313" cy="214313"/>
              </a:xfrm>
              <a:prstGeom prst="arc">
                <a:avLst>
                  <a:gd name="adj1" fmla="val 17194449"/>
                  <a:gd name="adj2" fmla="val 5405383"/>
                </a:avLst>
              </a:prstGeom>
              <a:ln w="12700" cap="rnd">
                <a:gradFill>
                  <a:gsLst>
                    <a:gs pos="0">
                      <a:schemeClr val="bg1"/>
                    </a:gs>
                    <a:gs pos="86000">
                      <a:srgbClr val="FF000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76" name="Group 875">
              <a:extLst>
                <a:ext uri="{FF2B5EF4-FFF2-40B4-BE49-F238E27FC236}">
                  <a16:creationId id="{1368CFD4-E675-4EB5-DB33-CF9BF2DEF546}"/>
                </a:ext>
              </a:extLst>
            </p:cNvPr>
            <p:cNvGrpSpPr/>
            <p:nvPr/>
          </p:nvGrpSpPr>
          <p:grpSpPr>
            <a:xfrm rot="7200000">
              <a:off x="5070055" y="3352334"/>
              <a:ext cx="1000690" cy="1000690"/>
              <a:chOff x="5354637" y="3446463"/>
              <a:chExt cx="214313" cy="214313"/>
            </a:xfrm>
          </p:grpSpPr>
          <p:sp>
            <p:nvSpPr>
              <p:cNvPr id="878" name="Arc 877">
                <a:extLst>
                  <a:ext uri="{FF2B5EF4-FFF2-40B4-BE49-F238E27FC236}">
                    <a16:creationId id="{06F449CB-794E-5ADB-7CF6-72C5F8B76E92}"/>
                  </a:ext>
                </a:extLst>
              </p:cNvPr>
              <p:cNvSpPr/>
              <p:nvPr/>
            </p:nvSpPr>
            <p:spPr>
              <a:xfrm>
                <a:off x="5354637" y="3446463"/>
                <a:ext cx="214313" cy="214313"/>
              </a:xfrm>
              <a:prstGeom prst="arc">
                <a:avLst>
                  <a:gd name="adj1" fmla="val 16980644"/>
                  <a:gd name="adj2" fmla="val 5405383"/>
                </a:avLst>
              </a:prstGeom>
              <a:ln w="12700" cap="rnd">
                <a:gradFill>
                  <a:gsLst>
                    <a:gs pos="0">
                      <a:schemeClr val="bg1"/>
                    </a:gs>
                    <a:gs pos="91000">
                      <a:srgbClr val="0070C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9" name="Arc 878">
                <a:extLst>
                  <a:ext uri="{FF2B5EF4-FFF2-40B4-BE49-F238E27FC236}">
                    <a16:creationId id="{B36B7510-1BFA-36CB-A0DD-1FA558F7B120}"/>
                  </a:ext>
                </a:extLst>
              </p:cNvPr>
              <p:cNvSpPr/>
              <p:nvPr/>
            </p:nvSpPr>
            <p:spPr>
              <a:xfrm rot="10800000">
                <a:off x="5354637" y="3446463"/>
                <a:ext cx="214313" cy="214313"/>
              </a:xfrm>
              <a:prstGeom prst="arc">
                <a:avLst>
                  <a:gd name="adj1" fmla="val 17194449"/>
                  <a:gd name="adj2" fmla="val 5405383"/>
                </a:avLst>
              </a:prstGeom>
              <a:ln w="12700" cap="rnd">
                <a:gradFill>
                  <a:gsLst>
                    <a:gs pos="0">
                      <a:schemeClr val="bg1"/>
                    </a:gs>
                    <a:gs pos="86000">
                      <a:srgbClr val="FF000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877" name="TextBox 876">
              <a:extLst>
                <a:ext uri="{FF2B5EF4-FFF2-40B4-BE49-F238E27FC236}">
                  <a16:creationId id="{08CDEB2E-9954-7B09-E984-F3B13BA8E477}"/>
                </a:ext>
              </a:extLst>
            </p:cNvPr>
            <p:cNvSpPr txBox="1"/>
            <p:nvPr/>
          </p:nvSpPr>
          <p:spPr>
            <a:xfrm>
              <a:off x="5337804" y="3549513"/>
              <a:ext cx="465192" cy="584775"/>
            </a:xfrm>
            <a:prstGeom prst="rect">
              <a:avLst/>
            </a:prstGeom>
            <a:noFill/>
          </p:spPr>
          <p:txBody>
            <a:bodyPr wrap="non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7030A0">
                      <a:alpha val="49992"/>
                    </a:srgb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4" name="Group 3">
            <a:extLst>
              <a:ext uri="{FF2B5EF4-FFF2-40B4-BE49-F238E27FC236}">
                <a16:creationId id="{47B434D1-F3AB-18BD-F82A-E67590400429}"/>
              </a:ext>
            </a:extLst>
          </p:cNvPr>
          <p:cNvGrpSpPr/>
          <p:nvPr/>
        </p:nvGrpSpPr>
        <p:grpSpPr>
          <a:xfrm>
            <a:off x="4920128" y="4990413"/>
            <a:ext cx="1000690" cy="1000690"/>
            <a:chOff x="6949962" y="4965013"/>
            <a:chExt cx="1000690" cy="1000690"/>
          </a:xfrm>
        </p:grpSpPr>
        <p:grpSp>
          <p:nvGrpSpPr>
            <p:cNvPr id="863" name="Group 862">
              <a:extLst>
                <a:ext uri="{FF2B5EF4-FFF2-40B4-BE49-F238E27FC236}">
                  <a16:creationId id="{E189D93F-BB24-5955-90A1-FA3F46BE6D97}"/>
                </a:ext>
              </a:extLst>
            </p:cNvPr>
            <p:cNvGrpSpPr/>
            <p:nvPr/>
          </p:nvGrpSpPr>
          <p:grpSpPr>
            <a:xfrm rot="7200000" flipH="1">
              <a:off x="6949962" y="4965013"/>
              <a:ext cx="1000690" cy="1000690"/>
              <a:chOff x="5354637" y="3446463"/>
              <a:chExt cx="214313" cy="214313"/>
            </a:xfrm>
          </p:grpSpPr>
          <p:sp>
            <p:nvSpPr>
              <p:cNvPr id="872" name="Arc 871">
                <a:extLst>
                  <a:ext uri="{FF2B5EF4-FFF2-40B4-BE49-F238E27FC236}">
                    <a16:creationId id="{8BB61C30-8593-D3DC-8AD2-10BC6294B1A8}"/>
                  </a:ext>
                </a:extLst>
              </p:cNvPr>
              <p:cNvSpPr/>
              <p:nvPr/>
            </p:nvSpPr>
            <p:spPr>
              <a:xfrm>
                <a:off x="5354637" y="3446463"/>
                <a:ext cx="214313" cy="214313"/>
              </a:xfrm>
              <a:prstGeom prst="arc">
                <a:avLst>
                  <a:gd name="adj1" fmla="val 16980644"/>
                  <a:gd name="adj2" fmla="val 5405383"/>
                </a:avLst>
              </a:prstGeom>
              <a:ln w="12700" cap="rnd">
                <a:gradFill>
                  <a:gsLst>
                    <a:gs pos="0">
                      <a:schemeClr val="bg1"/>
                    </a:gs>
                    <a:gs pos="91000">
                      <a:srgbClr val="0070C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3" name="Arc 872">
                <a:extLst>
                  <a:ext uri="{FF2B5EF4-FFF2-40B4-BE49-F238E27FC236}">
                    <a16:creationId id="{47A0A3BE-65AE-F9F3-773A-23F07D69C506}"/>
                  </a:ext>
                </a:extLst>
              </p:cNvPr>
              <p:cNvSpPr/>
              <p:nvPr/>
            </p:nvSpPr>
            <p:spPr>
              <a:xfrm rot="10800000">
                <a:off x="5354637" y="3446463"/>
                <a:ext cx="214313" cy="214313"/>
              </a:xfrm>
              <a:prstGeom prst="arc">
                <a:avLst>
                  <a:gd name="adj1" fmla="val 17194449"/>
                  <a:gd name="adj2" fmla="val 5405383"/>
                </a:avLst>
              </a:prstGeom>
              <a:ln w="12700" cap="rnd">
                <a:gradFill>
                  <a:gsLst>
                    <a:gs pos="0">
                      <a:schemeClr val="bg1"/>
                    </a:gs>
                    <a:gs pos="86000">
                      <a:srgbClr val="FF000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65" name="Group 864">
              <a:extLst>
                <a:ext uri="{FF2B5EF4-FFF2-40B4-BE49-F238E27FC236}">
                  <a16:creationId id="{F4532B4B-BBCD-C616-F698-5A0CD47B260D}"/>
                </a:ext>
              </a:extLst>
            </p:cNvPr>
            <p:cNvGrpSpPr/>
            <p:nvPr/>
          </p:nvGrpSpPr>
          <p:grpSpPr>
            <a:xfrm flipH="1">
              <a:off x="7177590" y="5192641"/>
              <a:ext cx="545436" cy="545436"/>
              <a:chOff x="5354637" y="3446463"/>
              <a:chExt cx="214313" cy="214313"/>
            </a:xfrm>
          </p:grpSpPr>
          <p:sp>
            <p:nvSpPr>
              <p:cNvPr id="870" name="Arc 869">
                <a:extLst>
                  <a:ext uri="{FF2B5EF4-FFF2-40B4-BE49-F238E27FC236}">
                    <a16:creationId id="{281A41ED-02E0-5C34-7D1D-57E0E130F213}"/>
                  </a:ext>
                </a:extLst>
              </p:cNvPr>
              <p:cNvSpPr/>
              <p:nvPr/>
            </p:nvSpPr>
            <p:spPr>
              <a:xfrm>
                <a:off x="5354637" y="3446463"/>
                <a:ext cx="214313" cy="214313"/>
              </a:xfrm>
              <a:prstGeom prst="arc">
                <a:avLst>
                  <a:gd name="adj1" fmla="val 16980644"/>
                  <a:gd name="adj2" fmla="val 5405383"/>
                </a:avLst>
              </a:prstGeom>
              <a:ln w="12700" cap="rnd">
                <a:gradFill>
                  <a:gsLst>
                    <a:gs pos="0">
                      <a:schemeClr val="bg1"/>
                    </a:gs>
                    <a:gs pos="91000">
                      <a:srgbClr val="0070C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1" name="Arc 870">
                <a:extLst>
                  <a:ext uri="{FF2B5EF4-FFF2-40B4-BE49-F238E27FC236}">
                    <a16:creationId id="{C11561C2-AE49-9EE3-2EB2-9F726F44CED2}"/>
                  </a:ext>
                </a:extLst>
              </p:cNvPr>
              <p:cNvSpPr/>
              <p:nvPr/>
            </p:nvSpPr>
            <p:spPr>
              <a:xfrm rot="10800000">
                <a:off x="5354637" y="3446463"/>
                <a:ext cx="214313" cy="214313"/>
              </a:xfrm>
              <a:prstGeom prst="arc">
                <a:avLst>
                  <a:gd name="adj1" fmla="val 17194449"/>
                  <a:gd name="adj2" fmla="val 5405383"/>
                </a:avLst>
              </a:prstGeom>
              <a:ln w="12700" cap="rnd">
                <a:gradFill>
                  <a:gsLst>
                    <a:gs pos="0">
                      <a:schemeClr val="bg1"/>
                    </a:gs>
                    <a:gs pos="86000">
                      <a:srgbClr val="FF000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66" name="Group 865">
              <a:extLst>
                <a:ext uri="{FF2B5EF4-FFF2-40B4-BE49-F238E27FC236}">
                  <a16:creationId id="{79E835E1-6149-B756-8B12-509A4217F172}"/>
                </a:ext>
              </a:extLst>
            </p:cNvPr>
            <p:cNvGrpSpPr/>
            <p:nvPr/>
          </p:nvGrpSpPr>
          <p:grpSpPr>
            <a:xfrm rot="14400000" flipH="1">
              <a:off x="7064463" y="5079514"/>
              <a:ext cx="771690" cy="771690"/>
              <a:chOff x="5354637" y="3446463"/>
              <a:chExt cx="214313" cy="214313"/>
            </a:xfrm>
          </p:grpSpPr>
          <p:sp>
            <p:nvSpPr>
              <p:cNvPr id="868" name="Arc 867">
                <a:extLst>
                  <a:ext uri="{FF2B5EF4-FFF2-40B4-BE49-F238E27FC236}">
                    <a16:creationId id="{CABACCC7-A7D0-99BE-0364-A7A3C1495C5D}"/>
                  </a:ext>
                </a:extLst>
              </p:cNvPr>
              <p:cNvSpPr/>
              <p:nvPr/>
            </p:nvSpPr>
            <p:spPr>
              <a:xfrm>
                <a:off x="5354637" y="3446463"/>
                <a:ext cx="214313" cy="214313"/>
              </a:xfrm>
              <a:prstGeom prst="arc">
                <a:avLst>
                  <a:gd name="adj1" fmla="val 16980644"/>
                  <a:gd name="adj2" fmla="val 5405383"/>
                </a:avLst>
              </a:prstGeom>
              <a:ln w="12700" cap="rnd">
                <a:gradFill>
                  <a:gsLst>
                    <a:gs pos="0">
                      <a:schemeClr val="bg1"/>
                    </a:gs>
                    <a:gs pos="91000">
                      <a:srgbClr val="0070C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69" name="Arc 868">
                <a:extLst>
                  <a:ext uri="{FF2B5EF4-FFF2-40B4-BE49-F238E27FC236}">
                    <a16:creationId id="{1A3C75D1-B9B9-68F5-7E50-5EDA4B145CD9}"/>
                  </a:ext>
                </a:extLst>
              </p:cNvPr>
              <p:cNvSpPr/>
              <p:nvPr/>
            </p:nvSpPr>
            <p:spPr>
              <a:xfrm rot="10800000">
                <a:off x="5354637" y="3446463"/>
                <a:ext cx="214313" cy="214313"/>
              </a:xfrm>
              <a:prstGeom prst="arc">
                <a:avLst>
                  <a:gd name="adj1" fmla="val 17194449"/>
                  <a:gd name="adj2" fmla="val 5405383"/>
                </a:avLst>
              </a:prstGeom>
              <a:ln w="12700" cap="rnd">
                <a:gradFill>
                  <a:gsLst>
                    <a:gs pos="0">
                      <a:schemeClr val="bg1"/>
                    </a:gs>
                    <a:gs pos="86000">
                      <a:srgbClr val="FF000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867" name="TextBox 866">
              <a:extLst>
                <a:ext uri="{FF2B5EF4-FFF2-40B4-BE49-F238E27FC236}">
                  <a16:creationId id="{C565B451-6695-BFF1-B79F-53DC353055DC}"/>
                </a:ext>
              </a:extLst>
            </p:cNvPr>
            <p:cNvSpPr txBox="1"/>
            <p:nvPr/>
          </p:nvSpPr>
          <p:spPr>
            <a:xfrm>
              <a:off x="7217711" y="5162187"/>
              <a:ext cx="465192" cy="584775"/>
            </a:xfrm>
            <a:prstGeom prst="rect">
              <a:avLst/>
            </a:prstGeom>
            <a:noFill/>
          </p:spPr>
          <p:txBody>
            <a:bodyPr wrap="non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7030A0">
                      <a:alpha val="50419"/>
                    </a:srgb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8" name="Group 7">
            <a:extLst>
              <a:ext uri="{FF2B5EF4-FFF2-40B4-BE49-F238E27FC236}">
                <a16:creationId id="{FAE91C52-4CCA-7ABD-52A3-5D70DBE80172}"/>
              </a:ext>
            </a:extLst>
          </p:cNvPr>
          <p:cNvGrpSpPr/>
          <p:nvPr/>
        </p:nvGrpSpPr>
        <p:grpSpPr>
          <a:xfrm>
            <a:off x="4920128" y="3377734"/>
            <a:ext cx="1000690" cy="1000690"/>
            <a:chOff x="6949962" y="3352334"/>
            <a:chExt cx="1000690" cy="1000690"/>
          </a:xfrm>
        </p:grpSpPr>
        <p:grpSp>
          <p:nvGrpSpPr>
            <p:cNvPr id="853" name="Group 852">
              <a:extLst>
                <a:ext uri="{FF2B5EF4-FFF2-40B4-BE49-F238E27FC236}">
                  <a16:creationId id="{EA2F50F5-72E1-97FE-997E-D262918EA600}"/>
                </a:ext>
              </a:extLst>
            </p:cNvPr>
            <p:cNvGrpSpPr/>
            <p:nvPr/>
          </p:nvGrpSpPr>
          <p:grpSpPr>
            <a:xfrm flipH="1">
              <a:off x="7177591" y="3579960"/>
              <a:ext cx="545436" cy="545436"/>
              <a:chOff x="5354637" y="3446463"/>
              <a:chExt cx="214313" cy="214313"/>
            </a:xfrm>
          </p:grpSpPr>
          <p:sp>
            <p:nvSpPr>
              <p:cNvPr id="861" name="Arc 860">
                <a:extLst>
                  <a:ext uri="{FF2B5EF4-FFF2-40B4-BE49-F238E27FC236}">
                    <a16:creationId id="{3A4B5E9D-930B-00A3-60A0-6B12A671F4CB}"/>
                  </a:ext>
                </a:extLst>
              </p:cNvPr>
              <p:cNvSpPr/>
              <p:nvPr/>
            </p:nvSpPr>
            <p:spPr>
              <a:xfrm>
                <a:off x="5354637" y="3446463"/>
                <a:ext cx="214313" cy="214313"/>
              </a:xfrm>
              <a:prstGeom prst="arc">
                <a:avLst>
                  <a:gd name="adj1" fmla="val 16980644"/>
                  <a:gd name="adj2" fmla="val 5405383"/>
                </a:avLst>
              </a:prstGeom>
              <a:ln w="12700" cap="rnd">
                <a:gradFill>
                  <a:gsLst>
                    <a:gs pos="0">
                      <a:schemeClr val="bg1"/>
                    </a:gs>
                    <a:gs pos="91000">
                      <a:srgbClr val="0070C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62" name="Arc 861">
                <a:extLst>
                  <a:ext uri="{FF2B5EF4-FFF2-40B4-BE49-F238E27FC236}">
                    <a16:creationId id="{A7BF6E8B-FC95-3F54-2C50-F033C7731853}"/>
                  </a:ext>
                </a:extLst>
              </p:cNvPr>
              <p:cNvSpPr/>
              <p:nvPr/>
            </p:nvSpPr>
            <p:spPr>
              <a:xfrm rot="10800000">
                <a:off x="5354637" y="3446463"/>
                <a:ext cx="214313" cy="214313"/>
              </a:xfrm>
              <a:prstGeom prst="arc">
                <a:avLst>
                  <a:gd name="adj1" fmla="val 17194449"/>
                  <a:gd name="adj2" fmla="val 5405383"/>
                </a:avLst>
              </a:prstGeom>
              <a:ln w="12700" cap="rnd">
                <a:gradFill>
                  <a:gsLst>
                    <a:gs pos="0">
                      <a:schemeClr val="bg1"/>
                    </a:gs>
                    <a:gs pos="86000">
                      <a:srgbClr val="FF000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54" name="Group 853">
              <a:extLst>
                <a:ext uri="{FF2B5EF4-FFF2-40B4-BE49-F238E27FC236}">
                  <a16:creationId id="{37ABC4E7-9794-CE15-8C8C-566CE91F76B7}"/>
                </a:ext>
              </a:extLst>
            </p:cNvPr>
            <p:cNvGrpSpPr/>
            <p:nvPr/>
          </p:nvGrpSpPr>
          <p:grpSpPr>
            <a:xfrm rot="7200000" flipH="1">
              <a:off x="7064463" y="3466833"/>
              <a:ext cx="771690" cy="771690"/>
              <a:chOff x="5354637" y="3446463"/>
              <a:chExt cx="214313" cy="214313"/>
            </a:xfrm>
          </p:grpSpPr>
          <p:sp>
            <p:nvSpPr>
              <p:cNvPr id="859" name="Arc 858">
                <a:extLst>
                  <a:ext uri="{FF2B5EF4-FFF2-40B4-BE49-F238E27FC236}">
                    <a16:creationId id="{C29C5FA5-05DA-34E4-39A4-C6C46627E92C}"/>
                  </a:ext>
                </a:extLst>
              </p:cNvPr>
              <p:cNvSpPr/>
              <p:nvPr/>
            </p:nvSpPr>
            <p:spPr>
              <a:xfrm>
                <a:off x="5354637" y="3446463"/>
                <a:ext cx="214313" cy="214313"/>
              </a:xfrm>
              <a:prstGeom prst="arc">
                <a:avLst>
                  <a:gd name="adj1" fmla="val 16980644"/>
                  <a:gd name="adj2" fmla="val 5405383"/>
                </a:avLst>
              </a:prstGeom>
              <a:ln w="12700" cap="rnd">
                <a:gradFill>
                  <a:gsLst>
                    <a:gs pos="0">
                      <a:schemeClr val="bg1"/>
                    </a:gs>
                    <a:gs pos="91000">
                      <a:srgbClr val="0070C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60" name="Arc 859">
                <a:extLst>
                  <a:ext uri="{FF2B5EF4-FFF2-40B4-BE49-F238E27FC236}">
                    <a16:creationId id="{82B5BDD7-149F-21ED-59BD-14F093D00979}"/>
                  </a:ext>
                </a:extLst>
              </p:cNvPr>
              <p:cNvSpPr/>
              <p:nvPr/>
            </p:nvSpPr>
            <p:spPr>
              <a:xfrm rot="10800000">
                <a:off x="5354637" y="3446463"/>
                <a:ext cx="214313" cy="214313"/>
              </a:xfrm>
              <a:prstGeom prst="arc">
                <a:avLst>
                  <a:gd name="adj1" fmla="val 17194449"/>
                  <a:gd name="adj2" fmla="val 5405383"/>
                </a:avLst>
              </a:prstGeom>
              <a:ln w="12700" cap="rnd">
                <a:gradFill>
                  <a:gsLst>
                    <a:gs pos="0">
                      <a:schemeClr val="bg1"/>
                    </a:gs>
                    <a:gs pos="86000">
                      <a:srgbClr val="FF000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55" name="Group 854">
              <a:extLst>
                <a:ext uri="{FF2B5EF4-FFF2-40B4-BE49-F238E27FC236}">
                  <a16:creationId id="{3AF91A85-4D02-4BE1-596B-ECCC7BF9B3C6}"/>
                </a:ext>
              </a:extLst>
            </p:cNvPr>
            <p:cNvGrpSpPr/>
            <p:nvPr/>
          </p:nvGrpSpPr>
          <p:grpSpPr>
            <a:xfrm rot="14400000" flipH="1">
              <a:off x="6949962" y="3352334"/>
              <a:ext cx="1000690" cy="1000690"/>
              <a:chOff x="5354637" y="3446463"/>
              <a:chExt cx="214313" cy="214313"/>
            </a:xfrm>
          </p:grpSpPr>
          <p:sp>
            <p:nvSpPr>
              <p:cNvPr id="857" name="Arc 856">
                <a:extLst>
                  <a:ext uri="{FF2B5EF4-FFF2-40B4-BE49-F238E27FC236}">
                    <a16:creationId id="{1F348457-ED48-414D-121E-F2A86DC5B170}"/>
                  </a:ext>
                </a:extLst>
              </p:cNvPr>
              <p:cNvSpPr/>
              <p:nvPr/>
            </p:nvSpPr>
            <p:spPr>
              <a:xfrm>
                <a:off x="5354637" y="3446463"/>
                <a:ext cx="214313" cy="214313"/>
              </a:xfrm>
              <a:prstGeom prst="arc">
                <a:avLst>
                  <a:gd name="adj1" fmla="val 16980644"/>
                  <a:gd name="adj2" fmla="val 5405383"/>
                </a:avLst>
              </a:prstGeom>
              <a:ln w="12700" cap="rnd">
                <a:gradFill>
                  <a:gsLst>
                    <a:gs pos="0">
                      <a:schemeClr val="bg1"/>
                    </a:gs>
                    <a:gs pos="91000">
                      <a:srgbClr val="0070C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8" name="Arc 857">
                <a:extLst>
                  <a:ext uri="{FF2B5EF4-FFF2-40B4-BE49-F238E27FC236}">
                    <a16:creationId id="{6D713D2D-FCDF-18B9-ACB0-DCE09F878464}"/>
                  </a:ext>
                </a:extLst>
              </p:cNvPr>
              <p:cNvSpPr/>
              <p:nvPr/>
            </p:nvSpPr>
            <p:spPr>
              <a:xfrm rot="10800000">
                <a:off x="5354637" y="3446463"/>
                <a:ext cx="214313" cy="214313"/>
              </a:xfrm>
              <a:prstGeom prst="arc">
                <a:avLst>
                  <a:gd name="adj1" fmla="val 17194449"/>
                  <a:gd name="adj2" fmla="val 5405383"/>
                </a:avLst>
              </a:prstGeom>
              <a:ln w="12700" cap="rnd">
                <a:gradFill>
                  <a:gsLst>
                    <a:gs pos="0">
                      <a:schemeClr val="bg1"/>
                    </a:gs>
                    <a:gs pos="86000">
                      <a:srgbClr val="FF000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856" name="TextBox 855">
              <a:extLst>
                <a:ext uri="{FF2B5EF4-FFF2-40B4-BE49-F238E27FC236}">
                  <a16:creationId id="{A8E6DF8B-8E7B-A5AF-62B2-E0AE55D6B4F0}"/>
                </a:ext>
              </a:extLst>
            </p:cNvPr>
            <p:cNvSpPr txBox="1"/>
            <p:nvPr/>
          </p:nvSpPr>
          <p:spPr>
            <a:xfrm>
              <a:off x="7305074" y="3549506"/>
              <a:ext cx="290463" cy="584775"/>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7030A0">
                      <a:alpha val="49637"/>
                    </a:srgb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2" name="Title 4">
            <a:extLst>
              <a:ext uri="{FF2B5EF4-FFF2-40B4-BE49-F238E27FC236}">
                <a16:creationId id="{B9040AB9-DFC1-6CFE-B9B3-761DF2F3D7E7}"/>
              </a:ext>
            </a:extLst>
          </p:cNvPr>
          <p:cNvSpPr txBox="1">
            <a:spLocks/>
          </p:cNvSpPr>
          <p:nvPr/>
        </p:nvSpPr>
        <p:spPr>
          <a:xfrm>
            <a:off x="781099" y="365125"/>
            <a:ext cx="10854481" cy="777875"/>
          </a:xfrm>
          <a:prstGeom prst="rect">
            <a:avLst/>
          </a:prstGeom>
          <a:noFill/>
          <a:ln>
            <a:noFill/>
          </a:ln>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Tri Binaries Have Four Forms</a:t>
            </a:r>
          </a:p>
        </p:txBody>
      </p:sp>
      <p:sp>
        <p:nvSpPr>
          <p:cNvPr id="11" name="TextBox 10">
            <a:extLst>
              <a:ext uri="{FF2B5EF4-FFF2-40B4-BE49-F238E27FC236}">
                <a16:creationId id="{FAD0649E-86C3-CF0C-EFF6-DACBD08DA8D4}"/>
              </a:ext>
            </a:extLst>
          </p:cNvPr>
          <p:cNvSpPr txBox="1"/>
          <p:nvPr/>
        </p:nvSpPr>
        <p:spPr>
          <a:xfrm>
            <a:off x="6398435" y="1430867"/>
            <a:ext cx="5708826" cy="5262979"/>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Place your virtual observer at (1,1,1) examining the angular momentum vectors of the three binaries.</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Pro and anti are distinguished by the orientation of their angular momentum vectors — HML or HLM</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Left or right is the </a:t>
            </a:r>
            <a:r>
              <a:rPr lang="en-US" sz="24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orbital precession direction </a:t>
            </a:r>
            <a:r>
              <a:rPr kumimoji="0" lang="en-US" sz="24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of the binaries. </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The chart shows that tri-binaries have four geometrical variations.</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Binaries scale by many orders of magnitude in energy, frequency, radius, and orbital velocity</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895" name="Footer Placeholder 3"/>
          <p:cNvSpPr txBox="1">
            <a:spLocks/>
          </p:cNvSpPr>
          <p:nvPr/>
        </p:nvSpPr>
        <p:spPr>
          <a:xfrm>
            <a:off x="10942204" y="6481737"/>
            <a:ext cx="1217443"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architrino.com</a:t>
            </a:r>
          </a:p>
        </p:txBody>
      </p:sp>
    </p:spTree>
    <p:extLst>
      <p:ext uri="{BB962C8B-B14F-4D97-AF65-F5344CB8AC3E}">
        <ns3:creationId val="3140955479"/>
      </p:ext>
    </p:extLst>
  </p:cSld>
  <p:clrMapOvr>
    <a:masterClrMapping/>
  </p:clrMapOvr>
</p:sld>
</file>

<file path=ppt/slides/slide11.xml><?xml version="1.0" encoding="utf-8"?>
<p:sld xmlns:a="http://schemas.openxmlformats.org/drawingml/2006/main" xmlns:a16="http://schemas.microsoft.com/office/drawing/2014/main" xmlns:ns3="http://schemas.microsoft.com/office/powerpoint/2010/main"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112" name="Rectangle 111">
            <a:extLst>
              <a:ext uri="{FF2B5EF4-FFF2-40B4-BE49-F238E27FC236}">
                <a16:creationId id="{4D9217BE-F0DF-0043-9A68-69C8B7088BF0}"/>
              </a:ext>
            </a:extLst>
          </p:cNvPr>
          <p:cNvSpPr/>
          <p:nvPr/>
        </p:nvSpPr>
        <p:spPr>
          <a:xfrm>
            <a:off x="-1564" y="264003"/>
            <a:ext cx="12192000" cy="523220"/>
          </a:xfrm>
          <a:prstGeom prst="rect">
            <a:avLst/>
          </a:prstGeom>
          <a:solidFill>
            <a:srgbClr val="7030A0"/>
          </a:solidFill>
          <a:ln>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Noether Core’s Triply Nested Binaries with Personality Potentials</a:t>
            </a:r>
          </a:p>
        </p:txBody>
      </p:sp>
      <p:sp>
        <p:nvSpPr>
          <p:cNvPr id="177" name="TextBox 176">
            <a:extLst>
              <a:ext uri="{FF2B5EF4-FFF2-40B4-BE49-F238E27FC236}">
                <a16:creationId id="{CF706161-146F-363E-C3E1-CC4034884EA9}"/>
              </a:ext>
            </a:extLst>
          </p:cNvPr>
          <p:cNvSpPr txBox="1"/>
          <p:nvPr/>
        </p:nvSpPr>
        <p:spPr>
          <a:xfrm>
            <a:off x="412387" y="5485520"/>
            <a:ext cx="3015146" cy="25391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Various scales of energy and radii.</a:t>
            </a:r>
            <a:endParaRPr kumimoji="0" lang="en-US" sz="1050" b="0" i="1"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92" name="Straight Connector 91">
            <a:extLst>
              <a:ext uri="{FF2B5EF4-FFF2-40B4-BE49-F238E27FC236}">
                <a16:creationId id="{3FE0242A-08DF-980D-F565-9BC7D4C8BC4E}"/>
              </a:ext>
            </a:extLst>
          </p:cNvPr>
          <p:cNvCxnSpPr>
            <a:cxnSpLocks/>
          </p:cNvCxnSpPr>
          <p:nvPr/>
        </p:nvCxnSpPr>
        <p:spPr>
          <a:xfrm>
            <a:off x="6017396" y="1606525"/>
            <a:ext cx="0" cy="891142"/>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sp>
        <p:nvSpPr>
          <p:cNvPr id="194" name="Oval 193">
            <a:extLst>
              <a:ext uri="{FF2B5EF4-FFF2-40B4-BE49-F238E27FC236}">
                <a16:creationId id="{E6B7701F-38F5-E709-397C-98DBAA043E08}"/>
              </a:ext>
            </a:extLst>
          </p:cNvPr>
          <p:cNvSpPr>
            <a:spLocks noChangeAspect="1"/>
          </p:cNvSpPr>
          <p:nvPr/>
        </p:nvSpPr>
        <p:spPr>
          <a:xfrm flipH="1">
            <a:off x="5940357" y="1447652"/>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205" name="Oval 204">
            <a:extLst>
              <a:ext uri="{FF2B5EF4-FFF2-40B4-BE49-F238E27FC236}">
                <a16:creationId id="{81219D62-4289-176F-8E08-04F806AB525F}"/>
              </a:ext>
            </a:extLst>
          </p:cNvPr>
          <p:cNvSpPr>
            <a:spLocks noChangeAspect="1"/>
          </p:cNvSpPr>
          <p:nvPr/>
        </p:nvSpPr>
        <p:spPr>
          <a:xfrm flipH="1">
            <a:off x="5940357" y="5893263"/>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cxnSp>
        <p:nvCxnSpPr>
          <p:cNvPr id="49" name="Straight Connector 48">
            <a:extLst>
              <a:ext uri="{FF2B5EF4-FFF2-40B4-BE49-F238E27FC236}">
                <a16:creationId id="{4E2B42AA-FE86-6B0D-8686-E619B2563ABB}"/>
              </a:ext>
            </a:extLst>
          </p:cNvPr>
          <p:cNvCxnSpPr>
            <a:cxnSpLocks/>
          </p:cNvCxnSpPr>
          <p:nvPr/>
        </p:nvCxnSpPr>
        <p:spPr>
          <a:xfrm>
            <a:off x="6017396" y="5088467"/>
            <a:ext cx="0" cy="804796"/>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sp>
        <p:nvSpPr>
          <p:cNvPr id="79" name="Oval 78">
            <a:extLst>
              <a:ext uri="{FF2B5EF4-FFF2-40B4-BE49-F238E27FC236}">
                <a16:creationId id="{DCC97071-9D67-DC48-AD13-C0A25508CBD8}"/>
              </a:ext>
            </a:extLst>
          </p:cNvPr>
          <p:cNvSpPr/>
          <p:nvPr/>
        </p:nvSpPr>
        <p:spPr>
          <a:xfrm rot="5400000">
            <a:off x="4976354" y="-2078934"/>
            <a:ext cx="2043985" cy="11743786"/>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9" name="Oval 88">
            <a:extLst>
              <a:ext uri="{FF2B5EF4-FFF2-40B4-BE49-F238E27FC236}">
                <a16:creationId id="{942F0346-DB25-A44F-8938-8FB3746D7D80}"/>
              </a:ext>
            </a:extLst>
          </p:cNvPr>
          <p:cNvSpPr>
            <a:spLocks noChangeAspect="1"/>
          </p:cNvSpPr>
          <p:nvPr/>
        </p:nvSpPr>
        <p:spPr>
          <a:xfrm flipH="1">
            <a:off x="1513969" y="3065820"/>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06" name="Straight Arrow Connector 105">
            <a:extLst>
              <a:ext uri="{FF2B5EF4-FFF2-40B4-BE49-F238E27FC236}">
                <a16:creationId id="{B011BF8B-9B3B-194E-860A-C437CC99C7A7}"/>
              </a:ext>
            </a:extLst>
          </p:cNvPr>
          <p:cNvCxnSpPr>
            <a:cxnSpLocks/>
          </p:cNvCxnSpPr>
          <p:nvPr/>
        </p:nvCxnSpPr>
        <p:spPr>
          <a:xfrm rot="5100000">
            <a:off x="1508032" y="2929272"/>
            <a:ext cx="35405"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id="{B691BD1B-0C71-2652-AD52-47998D06C232}"/>
              </a:ext>
            </a:extLst>
          </p:cNvPr>
          <p:cNvGrpSpPr/>
          <p:nvPr/>
        </p:nvGrpSpPr>
        <p:grpSpPr>
          <a:xfrm>
            <a:off x="10182838" y="4393360"/>
            <a:ext cx="201597" cy="232311"/>
            <a:chOff x="10182838" y="4393360"/>
            <a:chExt cx="201597" cy="232311"/>
          </a:xfrm>
        </p:grpSpPr>
        <p:sp>
          <p:nvSpPr>
            <p:cNvPr id="88" name="Oval 87">
              <a:extLst>
                <a:ext uri="{FF2B5EF4-FFF2-40B4-BE49-F238E27FC236}">
                  <a16:creationId id="{5E822E41-836D-6B4A-859F-FD430E027DC8}"/>
                </a:ext>
              </a:extLst>
            </p:cNvPr>
            <p:cNvSpPr>
              <a:spLocks noChangeAspect="1"/>
            </p:cNvSpPr>
            <p:nvPr/>
          </p:nvSpPr>
          <p:spPr>
            <a:xfrm flipH="1">
              <a:off x="10182838" y="4393360"/>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07" name="Straight Arrow Connector 106">
              <a:extLst>
                <a:ext uri="{FF2B5EF4-FFF2-40B4-BE49-F238E27FC236}">
                  <a16:creationId id="{1FEAF416-CED6-C54A-A22B-8A4184554071}"/>
                </a:ext>
              </a:extLst>
            </p:cNvPr>
            <p:cNvCxnSpPr>
              <a:cxnSpLocks/>
            </p:cNvCxnSpPr>
            <p:nvPr/>
          </p:nvCxnSpPr>
          <p:spPr>
            <a:xfrm rot="5400000" flipH="1" flipV="1">
              <a:off x="10269748" y="4510985"/>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grpSp>
      <p:cxnSp>
        <p:nvCxnSpPr>
          <p:cNvPr id="75" name="Straight Connector 74">
            <a:extLst>
              <a:ext uri="{FF2B5EF4-FFF2-40B4-BE49-F238E27FC236}">
                <a16:creationId id="{86BA35E8-F55F-2668-671C-5DA98F573EA3}"/>
              </a:ext>
            </a:extLst>
          </p:cNvPr>
          <p:cNvCxnSpPr>
            <a:cxnSpLocks/>
          </p:cNvCxnSpPr>
          <p:nvPr/>
        </p:nvCxnSpPr>
        <p:spPr>
          <a:xfrm flipH="1">
            <a:off x="6168222" y="2963442"/>
            <a:ext cx="90603" cy="277579"/>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id="{D0556B34-06E7-FDA8-495E-EB40BFC8A215}"/>
              </a:ext>
            </a:extLst>
          </p:cNvPr>
          <p:cNvCxnSpPr>
            <a:cxnSpLocks/>
          </p:cNvCxnSpPr>
          <p:nvPr/>
        </p:nvCxnSpPr>
        <p:spPr>
          <a:xfrm rot="1084618">
            <a:off x="5760386" y="4313800"/>
            <a:ext cx="0" cy="353397"/>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sp>
        <p:nvSpPr>
          <p:cNvPr id="90" name="Oval 89">
            <a:extLst>
              <a:ext uri="{FF2B5EF4-FFF2-40B4-BE49-F238E27FC236}">
                <a16:creationId id="{463D8A50-BA55-4BA5-8F77-72FAC042FA19}"/>
              </a:ext>
            </a:extLst>
          </p:cNvPr>
          <p:cNvSpPr/>
          <p:nvPr/>
        </p:nvSpPr>
        <p:spPr>
          <a:xfrm rot="6484618">
            <a:off x="5536018" y="1527860"/>
            <a:ext cx="897541" cy="4503199"/>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123" name="Straight Connector 122">
            <a:extLst>
              <a:ext uri="{FF2B5EF4-FFF2-40B4-BE49-F238E27FC236}">
                <a16:creationId id="{77517358-66D6-909D-B148-8A53B4C43CFF}"/>
              </a:ext>
            </a:extLst>
          </p:cNvPr>
          <p:cNvCxnSpPr>
            <a:cxnSpLocks/>
          </p:cNvCxnSpPr>
          <p:nvPr/>
        </p:nvCxnSpPr>
        <p:spPr>
          <a:xfrm rot="19589315">
            <a:off x="5867674" y="3490548"/>
            <a:ext cx="0" cy="125496"/>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id="{E5ABB798-9816-DC3C-B09B-87220060F0F2}"/>
              </a:ext>
            </a:extLst>
          </p:cNvPr>
          <p:cNvCxnSpPr>
            <a:cxnSpLocks/>
          </p:cNvCxnSpPr>
          <p:nvPr/>
        </p:nvCxnSpPr>
        <p:spPr>
          <a:xfrm rot="19589315">
            <a:off x="6135041" y="3900400"/>
            <a:ext cx="0" cy="113337"/>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sp>
        <p:nvSpPr>
          <p:cNvPr id="129" name="Oval 128">
            <a:extLst>
              <a:ext uri="{FF2B5EF4-FFF2-40B4-BE49-F238E27FC236}">
                <a16:creationId id="{7BC6D58B-888D-2259-AAD2-733AF8590239}"/>
              </a:ext>
            </a:extLst>
          </p:cNvPr>
          <p:cNvSpPr/>
          <p:nvPr/>
        </p:nvSpPr>
        <p:spPr>
          <a:xfrm rot="3389315">
            <a:off x="5857958" y="3334630"/>
            <a:ext cx="287847" cy="847667"/>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5" name="Oval 134">
            <a:extLst>
              <a:ext uri="{FF2B5EF4-FFF2-40B4-BE49-F238E27FC236}">
                <a16:creationId id="{F493495A-2B26-4E85-24CA-F93040968695}"/>
              </a:ext>
            </a:extLst>
          </p:cNvPr>
          <p:cNvSpPr>
            <a:spLocks noChangeAspect="1"/>
          </p:cNvSpPr>
          <p:nvPr/>
        </p:nvSpPr>
        <p:spPr>
          <a:xfrm flipH="1">
            <a:off x="7148016" y="3680074"/>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36" name="Straight Arrow Connector 135">
            <a:extLst>
              <a:ext uri="{FF2B5EF4-FFF2-40B4-BE49-F238E27FC236}">
                <a16:creationId id="{79519A63-1B18-F0A5-19D2-CC40B88D3095}"/>
              </a:ext>
            </a:extLst>
          </p:cNvPr>
          <p:cNvCxnSpPr>
            <a:cxnSpLocks/>
          </p:cNvCxnSpPr>
          <p:nvPr/>
        </p:nvCxnSpPr>
        <p:spPr>
          <a:xfrm flipH="1" flipV="1">
            <a:off x="7205123" y="3590288"/>
            <a:ext cx="136743" cy="65812"/>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sp>
        <p:nvSpPr>
          <p:cNvPr id="137" name="Oval 136">
            <a:extLst>
              <a:ext uri="{FF2B5EF4-FFF2-40B4-BE49-F238E27FC236}">
                <a16:creationId id="{A6BCBBD9-4C68-E58D-B48F-F4470C10C0E4}"/>
              </a:ext>
            </a:extLst>
          </p:cNvPr>
          <p:cNvSpPr>
            <a:spLocks noChangeAspect="1"/>
          </p:cNvSpPr>
          <p:nvPr/>
        </p:nvSpPr>
        <p:spPr>
          <a:xfrm flipH="1">
            <a:off x="4512454" y="3633359"/>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38" name="Straight Arrow Connector 137">
            <a:extLst>
              <a:ext uri="{FF2B5EF4-FFF2-40B4-BE49-F238E27FC236}">
                <a16:creationId id="{E0DDDD78-97E5-74A8-6ACD-A658AFA670EF}"/>
              </a:ext>
            </a:extLst>
          </p:cNvPr>
          <p:cNvCxnSpPr>
            <a:cxnSpLocks/>
          </p:cNvCxnSpPr>
          <p:nvPr/>
        </p:nvCxnSpPr>
        <p:spPr>
          <a:xfrm>
            <a:off x="4482354" y="3787751"/>
            <a:ext cx="136342" cy="83313"/>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sp>
        <p:nvSpPr>
          <p:cNvPr id="139" name="Oval 138">
            <a:extLst>
              <a:ext uri="{FF2B5EF4-FFF2-40B4-BE49-F238E27FC236}">
                <a16:creationId id="{179B8960-EB84-C3D5-DD9A-3DE74A40C28E}"/>
              </a:ext>
            </a:extLst>
          </p:cNvPr>
          <p:cNvSpPr>
            <a:spLocks noChangeAspect="1"/>
          </p:cNvSpPr>
          <p:nvPr/>
        </p:nvSpPr>
        <p:spPr>
          <a:xfrm flipH="1">
            <a:off x="5628940" y="3757113"/>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40" name="Straight Arrow Connector 139">
            <a:extLst>
              <a:ext uri="{FF2B5EF4-FFF2-40B4-BE49-F238E27FC236}">
                <a16:creationId id="{6A774548-1FAB-CA59-90E2-4D36F7DEDA64}"/>
              </a:ext>
            </a:extLst>
          </p:cNvPr>
          <p:cNvCxnSpPr>
            <a:cxnSpLocks/>
          </p:cNvCxnSpPr>
          <p:nvPr/>
        </p:nvCxnSpPr>
        <p:spPr>
          <a:xfrm flipH="1">
            <a:off x="5569038" y="3706409"/>
            <a:ext cx="55833" cy="159332"/>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sp>
        <p:nvSpPr>
          <p:cNvPr id="141" name="Oval 140">
            <a:extLst>
              <a:ext uri="{FF2B5EF4-FFF2-40B4-BE49-F238E27FC236}">
                <a16:creationId id="{FCFBE2B9-5375-F9D6-DC26-28B8C38A30FA}"/>
              </a:ext>
            </a:extLst>
          </p:cNvPr>
          <p:cNvSpPr>
            <a:spLocks noChangeAspect="1"/>
          </p:cNvSpPr>
          <p:nvPr/>
        </p:nvSpPr>
        <p:spPr>
          <a:xfrm flipH="1">
            <a:off x="6220941" y="3618001"/>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42" name="Straight Arrow Connector 141">
            <a:extLst>
              <a:ext uri="{FF2B5EF4-FFF2-40B4-BE49-F238E27FC236}">
                <a16:creationId id="{36C4A668-F8F0-37A6-A499-F9EAB439CEC5}"/>
              </a:ext>
            </a:extLst>
          </p:cNvPr>
          <p:cNvCxnSpPr>
            <a:cxnSpLocks/>
          </p:cNvCxnSpPr>
          <p:nvPr/>
        </p:nvCxnSpPr>
        <p:spPr>
          <a:xfrm flipV="1">
            <a:off x="6408983" y="3633359"/>
            <a:ext cx="41235" cy="14610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sp>
        <p:nvSpPr>
          <p:cNvPr id="143" name="Oval 142">
            <a:extLst>
              <a:ext uri="{FF2B5EF4-FFF2-40B4-BE49-F238E27FC236}">
                <a16:creationId id="{76D91214-D6F4-E6A1-23E5-E0A9CDEB85BB}"/>
              </a:ext>
            </a:extLst>
          </p:cNvPr>
          <p:cNvSpPr>
            <a:spLocks noChangeAspect="1"/>
          </p:cNvSpPr>
          <p:nvPr/>
        </p:nvSpPr>
        <p:spPr>
          <a:xfrm flipH="1">
            <a:off x="5628517" y="4545985"/>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44" name="Oval 143">
            <a:extLst>
              <a:ext uri="{FF2B5EF4-FFF2-40B4-BE49-F238E27FC236}">
                <a16:creationId id="{FD9CF885-906A-AE2F-B1CF-6E037188E3C1}"/>
              </a:ext>
            </a:extLst>
          </p:cNvPr>
          <p:cNvSpPr>
            <a:spLocks noChangeAspect="1"/>
          </p:cNvSpPr>
          <p:nvPr/>
        </p:nvSpPr>
        <p:spPr>
          <a:xfrm flipH="1">
            <a:off x="6193658" y="2852648"/>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45" name="Oval 144">
            <a:extLst>
              <a:ext uri="{FF2B5EF4-FFF2-40B4-BE49-F238E27FC236}">
                <a16:creationId id="{B46CBF79-8FEB-E768-1ED0-F2BECF0CCE61}"/>
              </a:ext>
            </a:extLst>
          </p:cNvPr>
          <p:cNvSpPr>
            <a:spLocks noChangeAspect="1"/>
          </p:cNvSpPr>
          <p:nvPr/>
        </p:nvSpPr>
        <p:spPr>
          <a:xfrm flipH="1">
            <a:off x="6129631" y="3982137"/>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46" name="Oval 145">
            <a:extLst>
              <a:ext uri="{FF2B5EF4-FFF2-40B4-BE49-F238E27FC236}">
                <a16:creationId id="{E29105DC-7279-9A43-FAC8-0876C02BBA15}"/>
              </a:ext>
            </a:extLst>
          </p:cNvPr>
          <p:cNvSpPr>
            <a:spLocks noChangeAspect="1"/>
          </p:cNvSpPr>
          <p:nvPr/>
        </p:nvSpPr>
        <p:spPr>
          <a:xfrm flipH="1">
            <a:off x="5712370" y="3348729"/>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 name="Footer Placeholder 3"/>
          <p:cNvSpPr txBox="1">
            <a:spLocks/>
          </p:cNvSpPr>
          <p:nvPr/>
        </p:nvSpPr>
        <p:spPr>
          <a:xfrm>
            <a:off x="10942204" y="6481737"/>
            <a:ext cx="1217443"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architrino.com</a:t>
            </a:r>
          </a:p>
        </p:txBody>
      </p:sp>
    </p:spTree>
    <p:extLst>
      <p:ext uri="{BB962C8B-B14F-4D97-AF65-F5344CB8AC3E}">
        <ns3:creationId val="2997600140"/>
      </p:ext>
    </p:extLst>
  </p:cSld>
  <p:clrMapOvr>
    <a:masterClrMapping/>
  </p:clrMapOvr>
</p:sld>
</file>

<file path=ppt/slides/slide12.xml><?xml version="1.0" encoding="utf-8"?>
<p:sld xmlns:a="http://schemas.openxmlformats.org/drawingml/2006/main" xmlns:a16="http://schemas.microsoft.com/office/drawing/2014/main" xmlns:ns3="http://schemas.microsoft.com/office/powerpoint/2010/main"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itle 1">
            <a:extLst>
              <a:ext uri="{FF2B5EF4-FFF2-40B4-BE49-F238E27FC236}">
                <a16:creationId id="{12BCEC3F-FDDB-5983-8D2C-A4BFED7BAA0A}"/>
              </a:ext>
            </a:extLst>
          </p:cNvPr>
          <p:cNvSpPr>
            <a:spLocks noGrp="1"/>
          </p:cNvSpPr>
          <p:nvPr>
            <p:ph type="title"/>
          </p:nvPr>
        </p:nvSpPr>
        <p:spPr>
          <a:xfrm>
            <a:off x="730134" y="0"/>
            <a:ext cx="10515600" cy="1325563"/>
          </a:xfrm>
        </p:spPr>
        <p:txBody>
          <a:bodyPr>
            <a:normAutofit/>
          </a:bodyPr>
          <a:lstStyle/>
          <a:p>
            <a:r>
              <a:rPr lang="en-US"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Dynamics of Noether Cores</a:t>
            </a:r>
          </a:p>
        </p:txBody>
      </p:sp>
      <p:sp>
        <p:nvSpPr>
          <p:cNvPr id="3" name="Content Placeholder 2">
            <a:extLst>
              <a:ext uri="{FF2B5EF4-FFF2-40B4-BE49-F238E27FC236}">
                <a16:creationId id="{B79D155D-AAA3-5D9A-34B2-23F2E49ED074}"/>
              </a:ext>
            </a:extLst>
          </p:cNvPr>
          <p:cNvSpPr>
            <a:spLocks noGrp="1"/>
          </p:cNvSpPr>
          <p:nvPr>
            <p:ph idx="1"/>
          </p:nvPr>
        </p:nvSpPr>
        <p:spPr>
          <a:xfrm>
            <a:off x="539634" y="1526366"/>
            <a:ext cx="11112731" cy="4351338"/>
          </a:xfrm>
        </p:spPr>
        <p:txBody>
          <a:bodyPr>
            <a:noAutofit/>
          </a:bodyPr>
          <a:lstStyle/>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Noether Cores</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Binary based assemblies transmit potential via their wave equation, i.e., the spiraling causal wake surface streams. </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Noether core displaces spatial volume, occupying a volume of Euclidean time and space. </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3D space contained within a Noether core is can only be breached if a decay occurs. </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volume displaced by a Noether core depends on energy and group velocity.</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velocities far below field speed, Noether cores thus remain distinct from each other, in a Fermi-Dirac state.</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Higgs clusters </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Noether cores that implement Einstein’s spacetime are extremely well shielded. Gen II is Higgs.</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Higgs Noether cores may be so well shielded that they transmit very little energy. </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Higgs Noether cores become excited by the unshielded energy emanating from standard model assemblies. </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This increased energy causes the Higgs Noether cores to deflate and/or distort. (stretchy-curvy spacetime)</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As standard matter becomes denser, the permeating Higgs Noether cores deflate even more.</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gradient in Noether core energy and hence characteristics is the mechanism for gravity.</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extremes in energy standard model matter will react or decay and emerge as assemblies that are more stable at the higher, denser energies.  </a:t>
            </a:r>
          </a:p>
          <a:p>
            <a:pPr>
              <a:lnSpc>
                <a:spcPct val="80000"/>
              </a:lnSpc>
            </a:pPr>
            <a:endPar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pPr>
              <a:lnSpc>
                <a:spcPct val="80000"/>
              </a:lnSpc>
            </a:pPr>
            <a:endPar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pPr marL="0" indent="0">
              <a:lnSpc>
                <a:spcPct val="80000"/>
              </a:lnSpc>
              <a:buNone/>
            </a:pPr>
            <a:endPar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 name="Footer Placeholder 3"/>
          <p:cNvSpPr txBox="1">
            <a:spLocks/>
          </p:cNvSpPr>
          <p:nvPr/>
        </p:nvSpPr>
        <p:spPr>
          <a:xfrm>
            <a:off x="10942204" y="6481737"/>
            <a:ext cx="1217443"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architrino.com</a:t>
            </a:r>
          </a:p>
        </p:txBody>
      </p:sp>
    </p:spTree>
    <p:extLst>
      <p:ext uri="{BB962C8B-B14F-4D97-AF65-F5344CB8AC3E}">
        <ns3:creationId val="1941007213"/>
      </p:ext>
    </p:extLst>
  </p:cSld>
  <p:clrMapOvr>
    <a:masterClrMapping/>
  </p:clrMapOvr>
</p:sld>
</file>

<file path=ppt/slides/slide13.xml><?xml version="1.0" encoding="utf-8"?>
<p:sld xmlns:a="http://schemas.openxmlformats.org/drawingml/2006/main" xmlns:a16="http://schemas.microsoft.com/office/drawing/2014/main" xmlns:ns3="http://schemas.microsoft.com/office/powerpoint/2010/main"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itle 1">
            <a:extLst>
              <a:ext uri="{FF2B5EF4-FFF2-40B4-BE49-F238E27FC236}">
                <a16:creationId id="{12BCEC3F-FDDB-5983-8D2C-A4BFED7BAA0A}"/>
              </a:ext>
            </a:extLst>
          </p:cNvPr>
          <p:cNvSpPr>
            <a:spLocks noGrp="1"/>
          </p:cNvSpPr>
          <p:nvPr>
            <p:ph type="title"/>
          </p:nvPr>
        </p:nvSpPr>
        <p:spPr>
          <a:xfrm>
            <a:off x="299258" y="1"/>
            <a:ext cx="10515600" cy="914400"/>
          </a:xfrm>
        </p:spPr>
        <p:txBody>
          <a:bodyPr>
            <a:normAutofit/>
          </a:bodyPr>
          <a:lstStyle/>
          <a:p>
            <a:r>
              <a:rPr lang="en-US"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Dynamics of the Noether Core</a:t>
            </a:r>
          </a:p>
        </p:txBody>
      </p:sp>
      <p:sp>
        <p:nvSpPr>
          <p:cNvPr id="3" name="Content Placeholder 2">
            <a:extLst>
              <a:ext uri="{FF2B5EF4-FFF2-40B4-BE49-F238E27FC236}">
                <a16:creationId id="{B79D155D-AAA3-5D9A-34B2-23F2E49ED074}"/>
              </a:ext>
            </a:extLst>
          </p:cNvPr>
          <p:cNvSpPr>
            <a:spLocks noGrp="1"/>
          </p:cNvSpPr>
          <p:nvPr>
            <p:ph idx="1"/>
          </p:nvPr>
        </p:nvSpPr>
        <p:spPr>
          <a:xfrm>
            <a:off x="299258" y="1122219"/>
            <a:ext cx="11587942" cy="5311832"/>
          </a:xfrm>
        </p:spPr>
        <p:txBody>
          <a:bodyPr>
            <a:noAutofit/>
          </a:bodyPr>
          <a:lstStyle/>
          <a:p>
            <a:pPr>
              <a:lnSpc>
                <a:spcPct val="80000"/>
              </a:lnSpc>
            </a:pPr>
            <a:r>
              <a:rPr lang="en-US" sz="18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As assembly group velocity increases towards local c (which approaches @), </a:t>
            </a:r>
          </a:p>
          <a:p>
            <a:pPr lvl="1">
              <a:lnSpc>
                <a:spcPct val="80000"/>
              </a:lnSpc>
            </a:pPr>
            <a:r>
              <a:rPr lang="en-US" sz="18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geometry of the Noether core and overall assembly becomes more oblate</a:t>
            </a:r>
          </a:p>
          <a:p>
            <a:pPr lvl="2">
              <a:lnSpc>
                <a:spcPct val="80000"/>
              </a:lnSpc>
            </a:pPr>
            <a:r>
              <a:rPr lang="en-US" sz="18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Transitioning towards near planar form at v = local c?</a:t>
            </a:r>
          </a:p>
          <a:p>
            <a:pPr lvl="2">
              <a:lnSpc>
                <a:spcPct val="80000"/>
              </a:lnSpc>
            </a:pPr>
            <a:r>
              <a:rPr lang="en-US" sz="18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Does this map to Bose-Einstein statistics? </a:t>
            </a:r>
          </a:p>
          <a:p>
            <a:pPr lvl="1">
              <a:lnSpc>
                <a:spcPct val="80000"/>
              </a:lnSpc>
            </a:pPr>
            <a:r>
              <a:rPr lang="en-US" sz="18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magnitude of the preceding emissions transitions sharply. </a:t>
            </a:r>
          </a:p>
          <a:p>
            <a:pPr lvl="2">
              <a:lnSpc>
                <a:spcPct val="80000"/>
              </a:lnSpc>
            </a:pPr>
            <a:r>
              <a:rPr lang="en-US" sz="18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What is the shape of a compressed causal wake surface stream? </a:t>
            </a:r>
          </a:p>
          <a:p>
            <a:pPr lvl="2">
              <a:lnSpc>
                <a:spcPct val="80000"/>
              </a:lnSpc>
            </a:pPr>
            <a:r>
              <a:rPr lang="en-US" sz="18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What about the closest approach and then as it continues on its group path?</a:t>
            </a:r>
          </a:p>
          <a:p>
            <a:pPr lvl="2">
              <a:lnSpc>
                <a:spcPct val="80000"/>
              </a:lnSpc>
            </a:pPr>
            <a:r>
              <a:rPr lang="en-US" sz="18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These questions all remain to be pondered and simulated.</a:t>
            </a:r>
          </a:p>
          <a:p>
            <a:pPr>
              <a:lnSpc>
                <a:spcPct val="80000"/>
              </a:lnSpc>
            </a:pPr>
            <a:r>
              <a:rPr lang="en-US" sz="18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Standard model matter presents its generation I apparent energy (mass), </a:t>
            </a:r>
          </a:p>
          <a:p>
            <a:pPr>
              <a:lnSpc>
                <a:spcPct val="80000"/>
              </a:lnSpc>
            </a:pPr>
            <a:r>
              <a:rPr lang="en-US" sz="18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When standard model assemblies decay in a collider, they reveal more energy (mass) from the inner binaries</a:t>
            </a:r>
          </a:p>
          <a:p>
            <a:pPr>
              <a:lnSpc>
                <a:spcPct val="80000"/>
              </a:lnSpc>
            </a:pPr>
            <a:r>
              <a:rPr lang="en-US" sz="18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Naked generation II and III binaries appear to be highly reactive with Higgs </a:t>
            </a:r>
            <a:r>
              <a:rPr lang="en-US" sz="1800" dirty="0" err="1">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aether</a:t>
            </a:r>
            <a:r>
              <a:rPr lang="en-US" sz="18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assemblies. </a:t>
            </a:r>
          </a:p>
          <a:p>
            <a:pPr>
              <a:lnSpc>
                <a:spcPct val="80000"/>
              </a:lnSpc>
            </a:pPr>
            <a:r>
              <a:rPr lang="en-US" sz="18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Is there anything that can fly through a Noether core without reacting? Through any orbital?</a:t>
            </a:r>
          </a:p>
          <a:p>
            <a:pPr lvl="1">
              <a:lnSpc>
                <a:spcPct val="80000"/>
              </a:lnSpc>
            </a:pPr>
            <a:r>
              <a:rPr lang="en-US" sz="18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It would need to be extremely high velocity, perhaps greater than @, perhaps higher than the gen II or gen III binary.</a:t>
            </a:r>
          </a:p>
          <a:p>
            <a:pPr lvl="1">
              <a:lnSpc>
                <a:spcPct val="80000"/>
              </a:lnSpc>
            </a:pPr>
            <a:r>
              <a:rPr lang="en-US" sz="18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My hunch is that non-shielded architrinos or assembly fragments would quickly react like we see in collider particle showers and their energy and architrinos would either become Noether cores of spacetime </a:t>
            </a:r>
            <a:r>
              <a:rPr lang="en-US" sz="1800" dirty="0" err="1">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aether</a:t>
            </a:r>
            <a:r>
              <a:rPr lang="en-US" sz="18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or standard model particle assemblies. It is a Monte-Carlo phase space. If that makes sense. </a:t>
            </a:r>
          </a:p>
        </p:txBody>
      </p:sp>
      <p:sp>
        <p:nvSpPr>
          <p:cNvPr id="4" name="Footer Placeholder 3"/>
          <p:cNvSpPr txBox="1">
            <a:spLocks/>
          </p:cNvSpPr>
          <p:nvPr/>
        </p:nvSpPr>
        <p:spPr>
          <a:xfrm>
            <a:off x="10942204" y="6481737"/>
            <a:ext cx="1217443"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architrino.com</a:t>
            </a:r>
          </a:p>
        </p:txBody>
      </p:sp>
    </p:spTree>
    <p:extLst>
      <p:ext uri="{BB962C8B-B14F-4D97-AF65-F5344CB8AC3E}">
        <ns3:creationId val="3565157620"/>
      </p:ext>
    </p:extLst>
  </p:cSld>
  <p:clrMapOvr>
    <a:masterClrMapping/>
  </p:clrMapOvr>
</p:sld>
</file>

<file path=ppt/slides/slide14.xml><?xml version="1.0" encoding="utf-8"?>
<p:sld xmlns:a="http://schemas.openxmlformats.org/drawingml/2006/main" xmlns:a16="http://schemas.microsoft.com/office/drawing/2014/main" xmlns:ns3="http://schemas.microsoft.com/office/powerpoint/2010/main"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itle 1">
            <a:extLst>
              <a:ext uri="{FF2B5EF4-FFF2-40B4-BE49-F238E27FC236}">
                <a16:creationId id="{12BCEC3F-FDDB-5983-8D2C-A4BFED7BAA0A}"/>
              </a:ext>
            </a:extLst>
          </p:cNvPr>
          <p:cNvSpPr>
            <a:spLocks noGrp="1"/>
          </p:cNvSpPr>
          <p:nvPr>
            <p:ph type="title"/>
          </p:nvPr>
        </p:nvSpPr>
        <p:spPr>
          <a:xfrm>
            <a:off x="299258" y="1"/>
            <a:ext cx="10515600" cy="914400"/>
          </a:xfrm>
        </p:spPr>
        <p:txBody>
          <a:bodyPr>
            <a:normAutofit/>
          </a:bodyPr>
          <a:lstStyle/>
          <a:p>
            <a:r>
              <a:rPr lang="en-US"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Dynamics of the Noether Core</a:t>
            </a:r>
          </a:p>
        </p:txBody>
      </p:sp>
      <p:sp>
        <p:nvSpPr>
          <p:cNvPr id="3" name="Content Placeholder 2">
            <a:extLst>
              <a:ext uri="{FF2B5EF4-FFF2-40B4-BE49-F238E27FC236}">
                <a16:creationId id="{B79D155D-AAA3-5D9A-34B2-23F2E49ED074}"/>
              </a:ext>
            </a:extLst>
          </p:cNvPr>
          <p:cNvSpPr>
            <a:spLocks noGrp="1"/>
          </p:cNvSpPr>
          <p:nvPr>
            <p:ph idx="1"/>
          </p:nvPr>
        </p:nvSpPr>
        <p:spPr>
          <a:xfrm>
            <a:off x="299258" y="1122219"/>
            <a:ext cx="11587942" cy="5311832"/>
          </a:xfrm>
        </p:spPr>
        <p:txBody>
          <a:bodyPr>
            <a:noAutofit/>
          </a:bodyPr>
          <a:lstStyle/>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All architrinos are constant rate emitters of potential. </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Noether cores themselves present a very low energy wave equation.</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High frequency, attenuated emission magnitude q/|v|</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Binaries present a swirling field at each orbital pole.</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Compared to Noether cores of spacetime, </a:t>
            </a:r>
            <a:r>
              <a:rPr lang="en-US" sz="20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fermions</a:t>
            </a: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are lower energy with larger orbital radii. </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architectural configuration for each fermion has significant apparent energy, i.e., mass.</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Spacetime Noether cores are excited by the potential emitted by lower energy fermion assemblies.</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potential fields received by the architrinos in spacetime assemblies cause energy transfer</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When binaries receive energy, architrino speed increases and the binary radius decreases.</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Both PE and KE change in classical analysis.</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Fermion assemblies are the basis for all “massy” matter.</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Other standard model particles are ephemeral (</a:t>
            </a:r>
            <a:r>
              <a:rPr lang="en-US" sz="1600" dirty="0" err="1">
                <a:solidFill>
                  <a:schemeClr val="bg1"/>
                </a:solidFill>
                <a:latin typeface="Helvetica Neue" panose="02000503000000020004" pitchFamily="2" charset="0"/>
                <a:ea typeface="Helvetica Neue" panose="02000503000000020004" pitchFamily="2" charset="0"/>
                <a:cs typeface="Helvetica Neue" panose="02000503000000020004" pitchFamily="2" charset="0"/>
              </a:rPr>
              <a:t>Ws</a:t>
            </a: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Z, and exotics) or have very low mass (neutrino, photon).</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 fermion has six lower energy architrinos in the poles of a triply nested binary Noether core. </a:t>
            </a:r>
          </a:p>
          <a:p>
            <a:pPr marL="0" indent="0">
              <a:lnSpc>
                <a:spcPct val="80000"/>
              </a:lnSpc>
              <a:buNone/>
            </a:pPr>
            <a:endPar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 name="Footer Placeholder 3"/>
          <p:cNvSpPr txBox="1">
            <a:spLocks/>
          </p:cNvSpPr>
          <p:nvPr/>
        </p:nvSpPr>
        <p:spPr>
          <a:xfrm>
            <a:off x="10942204" y="6481737"/>
            <a:ext cx="1217443"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architrino.com</a:t>
            </a:r>
          </a:p>
        </p:txBody>
      </p:sp>
    </p:spTree>
    <p:extLst>
      <p:ext uri="{BB962C8B-B14F-4D97-AF65-F5344CB8AC3E}">
        <ns3:creationId val="3868557288"/>
      </p:ext>
    </p:extLst>
  </p:cSld>
  <p:clrMapOvr>
    <a:masterClrMapping/>
  </p:clrMapOvr>
</p:sld>
</file>

<file path=ppt/slides/slide15.xml><?xml version="1.0" encoding="utf-8"?>
<p:sld xmlns:a="http://schemas.openxmlformats.org/drawingml/2006/main" xmlns:a16="http://schemas.microsoft.com/office/drawing/2014/main" xmlns:ns4="http://schemas.microsoft.com/office/drawing/2010/main" xmlns:ns5="http://schemas.microsoft.com/office/powerpoint/2010/main" xmlns:p="http://schemas.openxmlformats.org/presentationml/2006/main" xmlns:r="http://schemas.openxmlformats.org/officeDocument/2006/relationships">
  <p:cSld>
    <p:bg>
      <p:bgPr>
        <a:solidFill>
          <a:srgbClr val="7030A0"/>
        </a:solidFill>
        <a:effectLst/>
      </p:bgPr>
    </p:bg>
    <p:spTree>
      <p:nvGrpSpPr>
        <p:cNvPr id="1" name=""/>
        <p:cNvGrpSpPr/>
        <p:nvPr/>
      </p:nvGrpSpPr>
      <p:grpSpPr>
        <a:xfrm>
          <a:off x="0" y="0"/>
          <a:ext cx="0" cy="0"/>
          <a:chOff x="0" y="0"/>
          <a:chExt cx="0" cy="0"/>
        </a:xfrm>
      </p:grpSpPr>
      <p:sp>
        <p:nvSpPr>
          <p:cNvPr id="2" name="Title 1">
            <a:extLst>
              <a:ext uri="{FF2B5EF4-FFF2-40B4-BE49-F238E27FC236}">
                <a16:creationId id="{12BCEC3F-FDDB-5983-8D2C-A4BFED7BAA0A}"/>
              </a:ext>
            </a:extLst>
          </p:cNvPr>
          <p:cNvSpPr>
            <a:spLocks noGrp="1"/>
          </p:cNvSpPr>
          <p:nvPr>
            <p:ph type="title"/>
          </p:nvPr>
        </p:nvSpPr>
        <p:spPr>
          <a:xfrm>
            <a:off x="329479" y="135398"/>
            <a:ext cx="11651506" cy="914400"/>
          </a:xfrm>
        </p:spPr>
        <p:txBody>
          <a:bodyPr>
            <a:normAutofit/>
          </a:bodyPr>
          <a:lstStyle/>
          <a:p>
            <a:r>
              <a:rPr lang="en-US"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Dynamics of the Noether Core - Ideation</a:t>
            </a:r>
          </a:p>
        </p:txBody>
      </p:sp>
      <p:sp>
        <p:nvSpPr>
          <p:cNvPr id="3" name="Content Placeholder 2">
            <a:extLst>
              <a:ext uri="{FF2B5EF4-FFF2-40B4-BE49-F238E27FC236}">
                <a16:creationId id="{B79D155D-AAA3-5D9A-34B2-23F2E49ED074}"/>
              </a:ext>
            </a:extLst>
          </p:cNvPr>
          <p:cNvSpPr>
            <a:spLocks noGrp="1"/>
          </p:cNvSpPr>
          <p:nvPr>
            <p:ph idx="1"/>
          </p:nvPr>
        </p:nvSpPr>
        <p:spPr>
          <a:xfrm>
            <a:off x="127320" y="1145735"/>
            <a:ext cx="11587942" cy="3082656"/>
          </a:xfrm>
        </p:spPr>
        <p:txBody>
          <a:bodyPr>
            <a:noAutofit/>
          </a:bodyPr>
          <a:lstStyle/>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 Higgs cluster has two pro and two anti Noether cores. Do they couple like a Helium nucleus?</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Our photon model suggests that counter-rotating binaries strongly couple.</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Let’s speculate we are coupling the two poles of the Gen III binary (highest energy binary).</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There are 4 Gen III binaries in a Higgs cluster.</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We have 8 poles to couple. </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Pro1, Pro2, Anti1, Anti2, each with L or R angular momentum</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Gen II binaries may also couple. Gen I binaries may also couple</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To what degree, if any, do these Gen III axial couplings contribute to assembly shielding?</a:t>
            </a:r>
          </a:p>
        </p:txBody>
      </p:sp>
      <p:grpSp>
        <p:nvGrpSpPr>
          <p:cNvPr id="75" name="Group 74">
            <a:extLst>
              <a:ext uri="{FF2B5EF4-FFF2-40B4-BE49-F238E27FC236}">
                <a16:creationId id="{B0A53707-C834-4F34-378C-5C72CF1AE58D}"/>
              </a:ext>
            </a:extLst>
          </p:cNvPr>
          <p:cNvGrpSpPr/>
          <p:nvPr/>
        </p:nvGrpSpPr>
        <p:grpSpPr>
          <a:xfrm>
            <a:off x="6671510" y="4199519"/>
            <a:ext cx="2417783" cy="2401433"/>
            <a:chOff x="9203694" y="2557847"/>
            <a:chExt cx="2197755" cy="2182893"/>
          </a:xfrm>
        </p:grpSpPr>
        <p:grpSp>
          <p:nvGrpSpPr>
            <p:cNvPr id="44" name="Group 43">
              <a:extLst>
                <a:ext uri="{FF2B5EF4-FFF2-40B4-BE49-F238E27FC236}">
                  <a16:creationId id="{1C7A851A-2597-3CBD-D89B-ECCAA7C13BCD}"/>
                </a:ext>
              </a:extLst>
            </p:cNvPr>
            <p:cNvGrpSpPr/>
            <p:nvPr/>
          </p:nvGrpSpPr>
          <p:grpSpPr>
            <a:xfrm>
              <a:off x="9208666" y="2560077"/>
              <a:ext cx="2192783" cy="2180663"/>
              <a:chOff x="3734227" y="5528530"/>
              <a:chExt cx="961621" cy="956306"/>
            </a:xfrm>
          </p:grpSpPr>
          <p:grpSp>
            <p:nvGrpSpPr>
              <p:cNvPr id="20" name="Group 19">
                <a:extLst>
                  <a:ext uri="{FF2B5EF4-FFF2-40B4-BE49-F238E27FC236}">
                    <a16:creationId id="{464CB806-5282-ADD2-4F22-950D24E28566}"/>
                  </a:ext>
                </a:extLst>
              </p:cNvPr>
              <p:cNvGrpSpPr/>
              <p:nvPr/>
            </p:nvGrpSpPr>
            <p:grpSpPr>
              <a:xfrm rot="-2700000">
                <a:off x="4237321" y="6197385"/>
                <a:ext cx="458527" cy="116379"/>
                <a:chOff x="2948270" y="5975076"/>
                <a:chExt cx="458527" cy="116379"/>
              </a:xfrm>
            </p:grpSpPr>
            <p:sp>
              <p:nvSpPr>
                <p:cNvPr id="9" name="Triangle 8">
                  <a:extLst>
                    <a:ext uri="{FF2B5EF4-FFF2-40B4-BE49-F238E27FC236}">
                      <a16:creationId id="{653D09CA-0607-266C-383E-88B09FA037BC}"/>
                    </a:ext>
                  </a:extLst>
                </p:cNvPr>
                <p:cNvSpPr/>
                <p:nvPr/>
              </p:nvSpPr>
              <p:spPr>
                <a:xfrm rot="16200000">
                  <a:off x="3223918" y="5908574"/>
                  <a:ext cx="116378" cy="249381"/>
                </a:xfrm>
                <a:prstGeom prst="triangle">
                  <a:avLst/>
                </a:prstGeom>
                <a:blipFill>
                  <a:blip r:embed="rId2"/>
                  <a:tile tx="0" ty="0" sx="100000" sy="10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riangle 9">
                  <a:extLst>
                    <a:ext uri="{FF2B5EF4-FFF2-40B4-BE49-F238E27FC236}">
                      <a16:creationId id="{CFBE7FBE-040E-20F1-BE9B-566DD8E2313F}"/>
                    </a:ext>
                  </a:extLst>
                </p:cNvPr>
                <p:cNvSpPr/>
                <p:nvPr/>
              </p:nvSpPr>
              <p:spPr>
                <a:xfrm rot="5400000">
                  <a:off x="3014772" y="5908575"/>
                  <a:ext cx="116378" cy="249381"/>
                </a:xfrm>
                <a:prstGeom prst="triangle">
                  <a:avLst/>
                </a:prstGeom>
                <a:blipFill>
                  <a:blip r:embed="rId2"/>
                  <a:tile tx="0" ty="0" sx="100000" sy="10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id="{45761C65-CCF1-CB46-65A2-C2BDE422D320}"/>
                  </a:ext>
                </a:extLst>
              </p:cNvPr>
              <p:cNvGrpSpPr/>
              <p:nvPr/>
            </p:nvGrpSpPr>
            <p:grpSpPr>
              <a:xfrm rot="8100000">
                <a:off x="3734227" y="5699604"/>
                <a:ext cx="458527" cy="116379"/>
                <a:chOff x="3462217" y="5772635"/>
                <a:chExt cx="458527" cy="116379"/>
              </a:xfrm>
            </p:grpSpPr>
            <p:sp>
              <p:nvSpPr>
                <p:cNvPr id="11" name="Triangle 10">
                  <a:extLst>
                    <a:ext uri="{FF2B5EF4-FFF2-40B4-BE49-F238E27FC236}">
                      <a16:creationId id="{839A7610-A33E-5562-3FFB-63A91538385F}"/>
                    </a:ext>
                  </a:extLst>
                </p:cNvPr>
                <p:cNvSpPr/>
                <p:nvPr/>
              </p:nvSpPr>
              <p:spPr>
                <a:xfrm rot="16200000">
                  <a:off x="3737865" y="5706133"/>
                  <a:ext cx="116378" cy="249381"/>
                </a:xfrm>
                <a:prstGeom prst="triangle">
                  <a:avLst/>
                </a:prstGeom>
                <a:blipFill>
                  <a:blip r:embed="rId2"/>
                  <a:tile tx="0" ty="0" sx="100000" sy="10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riangle 11">
                  <a:extLst>
                    <a:ext uri="{FF2B5EF4-FFF2-40B4-BE49-F238E27FC236}">
                      <a16:creationId id="{016C091E-ABD0-7F47-C973-830670EC4059}"/>
                    </a:ext>
                  </a:extLst>
                </p:cNvPr>
                <p:cNvSpPr/>
                <p:nvPr/>
              </p:nvSpPr>
              <p:spPr>
                <a:xfrm rot="5400000">
                  <a:off x="3528719" y="5706134"/>
                  <a:ext cx="116378" cy="249381"/>
                </a:xfrm>
                <a:prstGeom prst="triangle">
                  <a:avLst/>
                </a:prstGeom>
                <a:blipFill>
                  <a:blip r:embed="rId2"/>
                  <a:tile tx="0" ty="0" sx="100000" sy="10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id="{F350E158-BA92-80C3-3390-CFF134ACA5AC}"/>
                  </a:ext>
                </a:extLst>
              </p:cNvPr>
              <p:cNvGrpSpPr/>
              <p:nvPr/>
            </p:nvGrpSpPr>
            <p:grpSpPr>
              <a:xfrm rot="2700000">
                <a:off x="3734904" y="6197383"/>
                <a:ext cx="458527" cy="116379"/>
                <a:chOff x="2931935" y="5772635"/>
                <a:chExt cx="458527" cy="116379"/>
              </a:xfrm>
            </p:grpSpPr>
            <p:sp>
              <p:nvSpPr>
                <p:cNvPr id="13" name="Triangle 12">
                  <a:extLst>
                    <a:ext uri="{FF2B5EF4-FFF2-40B4-BE49-F238E27FC236}">
                      <a16:creationId id="{A4C53E10-D851-2A98-2CA7-76A5789B9D0B}"/>
                    </a:ext>
                  </a:extLst>
                </p:cNvPr>
                <p:cNvSpPr/>
                <p:nvPr/>
              </p:nvSpPr>
              <p:spPr>
                <a:xfrm rot="16200000">
                  <a:off x="3207583" y="5706133"/>
                  <a:ext cx="116378" cy="249381"/>
                </a:xfrm>
                <a:prstGeom prst="triangle">
                  <a:avLst/>
                </a:prstGeom>
                <a:blipFill>
                  <a:blip r:embed="rId2"/>
                  <a:tile tx="0" ty="0" sx="100000" sy="10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riangle 13">
                  <a:extLst>
                    <a:ext uri="{FF2B5EF4-FFF2-40B4-BE49-F238E27FC236}">
                      <a16:creationId id="{C114906B-31C3-748C-9C65-6B8FEC4B897E}"/>
                    </a:ext>
                  </a:extLst>
                </p:cNvPr>
                <p:cNvSpPr/>
                <p:nvPr/>
              </p:nvSpPr>
              <p:spPr>
                <a:xfrm rot="5400000">
                  <a:off x="2998437" y="5706134"/>
                  <a:ext cx="116378" cy="249381"/>
                </a:xfrm>
                <a:prstGeom prst="triangle">
                  <a:avLst/>
                </a:prstGeom>
                <a:blipFill>
                  <a:blip r:embed="rId2"/>
                  <a:tile tx="0" ty="0" sx="100000" sy="10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id="{CBCE6BA4-19D2-33BB-2809-C3DACF4A6883}"/>
                  </a:ext>
                </a:extLst>
              </p:cNvPr>
              <p:cNvGrpSpPr/>
              <p:nvPr/>
            </p:nvGrpSpPr>
            <p:grpSpPr>
              <a:xfrm rot="2700000">
                <a:off x="4231705" y="5699604"/>
                <a:ext cx="458527" cy="116379"/>
                <a:chOff x="3462216" y="5975074"/>
                <a:chExt cx="458527" cy="116379"/>
              </a:xfrm>
            </p:grpSpPr>
            <p:sp>
              <p:nvSpPr>
                <p:cNvPr id="15" name="Triangle 14">
                  <a:extLst>
                    <a:ext uri="{FF2B5EF4-FFF2-40B4-BE49-F238E27FC236}">
                      <a16:creationId id="{753BFA46-EB4C-4313-4832-955CC29B75A9}"/>
                    </a:ext>
                  </a:extLst>
                </p:cNvPr>
                <p:cNvSpPr/>
                <p:nvPr/>
              </p:nvSpPr>
              <p:spPr>
                <a:xfrm rot="16200000">
                  <a:off x="3737864" y="5908572"/>
                  <a:ext cx="116378" cy="249381"/>
                </a:xfrm>
                <a:prstGeom prst="triangle">
                  <a:avLst/>
                </a:prstGeom>
                <a:blipFill>
                  <a:blip r:embed="rId2"/>
                  <a:tile tx="0" ty="0" sx="100000" sy="10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riangle 15">
                  <a:extLst>
                    <a:ext uri="{FF2B5EF4-FFF2-40B4-BE49-F238E27FC236}">
                      <a16:creationId id="{A8DF63EE-3E59-637A-A6F5-9BB69F2A9886}"/>
                    </a:ext>
                  </a:extLst>
                </p:cNvPr>
                <p:cNvSpPr/>
                <p:nvPr/>
              </p:nvSpPr>
              <p:spPr>
                <a:xfrm rot="5400000">
                  <a:off x="3528718" y="5908573"/>
                  <a:ext cx="116378" cy="249381"/>
                </a:xfrm>
                <a:prstGeom prst="triangle">
                  <a:avLst/>
                </a:prstGeom>
                <a:blipFill>
                  <a:blip r:embed="rId2"/>
                  <a:tile tx="0" ty="0" sx="100000" sy="10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34" name="Straight Connector 33">
                <a:extLst>
                  <a:ext uri="{FF2B5EF4-FFF2-40B4-BE49-F238E27FC236}">
                    <a16:creationId id="{3EEF1367-DF19-62E3-9470-D102454AA553}"/>
                  </a:ext>
                </a:extLst>
              </p:cNvPr>
              <p:cNvCxnSpPr>
                <a:cxnSpLocks/>
                <a:stCxn id="12" idx="3"/>
                <a:endCxn id="16" idx="3"/>
              </p:cNvCxnSpPr>
              <p:nvPr/>
            </p:nvCxnSpPr>
            <p:spPr>
              <a:xfrm>
                <a:off x="4125603" y="5595680"/>
                <a:ext cx="173253" cy="0"/>
              </a:xfrm>
              <a:prstGeom prst="line">
                <a:avLst/>
              </a:prstGeom>
              <a:ln w="12700">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id="{63448240-84C7-8DB5-D59D-480DC43E389D}"/>
                  </a:ext>
                </a:extLst>
              </p:cNvPr>
              <p:cNvCxnSpPr>
                <a:cxnSpLocks/>
                <a:stCxn id="14" idx="3"/>
                <a:endCxn id="11" idx="3"/>
              </p:cNvCxnSpPr>
              <p:nvPr/>
            </p:nvCxnSpPr>
            <p:spPr>
              <a:xfrm flipH="1" flipV="1">
                <a:off x="3801378" y="5919908"/>
                <a:ext cx="677" cy="173551"/>
              </a:xfrm>
              <a:prstGeom prst="line">
                <a:avLst/>
              </a:prstGeom>
              <a:ln w="12700">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id="{70D1BF0D-4D23-F8BC-BCAD-2FE813E2BF14}"/>
                  </a:ext>
                </a:extLst>
              </p:cNvPr>
              <p:cNvCxnSpPr>
                <a:cxnSpLocks/>
                <a:stCxn id="9" idx="3"/>
                <a:endCxn id="15" idx="3"/>
              </p:cNvCxnSpPr>
              <p:nvPr/>
            </p:nvCxnSpPr>
            <p:spPr>
              <a:xfrm flipH="1" flipV="1">
                <a:off x="4623083" y="5919907"/>
                <a:ext cx="5614" cy="173553"/>
              </a:xfrm>
              <a:prstGeom prst="line">
                <a:avLst/>
              </a:prstGeom>
              <a:ln w="12700">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id="{9F5575F7-5D60-C40E-EC85-FF94E0190F3D}"/>
                  </a:ext>
                </a:extLst>
              </p:cNvPr>
              <p:cNvCxnSpPr>
                <a:cxnSpLocks/>
                <a:stCxn id="13" idx="3"/>
                <a:endCxn id="10" idx="3"/>
              </p:cNvCxnSpPr>
              <p:nvPr/>
            </p:nvCxnSpPr>
            <p:spPr>
              <a:xfrm>
                <a:off x="4126282" y="6417686"/>
                <a:ext cx="178190" cy="2"/>
              </a:xfrm>
              <a:prstGeom prst="line">
                <a:avLst/>
              </a:prstGeom>
              <a:ln w="12700">
                <a:solidFill>
                  <a:schemeClr val="bg1"/>
                </a:solidFill>
                <a:prstDash val="sysDot"/>
              </a:ln>
            </p:spPr>
            <p:style>
              <a:lnRef idx="1">
                <a:schemeClr val="accent1"/>
              </a:lnRef>
              <a:fillRef idx="0">
                <a:schemeClr val="accent1"/>
              </a:fillRef>
              <a:effectRef idx="0">
                <a:schemeClr val="accent1"/>
              </a:effectRef>
              <a:fontRef idx="minor">
                <a:schemeClr val="tx1"/>
              </a:fontRef>
            </p:style>
          </p:cxnSp>
        </p:grpSp>
        <p:sp>
          <p:nvSpPr>
            <p:cNvPr id="45" name="TextBox 44">
              <a:extLst>
                <a:ext uri="{FF2B5EF4-FFF2-40B4-BE49-F238E27FC236}">
                  <a16:creationId id="{F339CCE3-6906-02C9-C5A1-0222FAD39438}"/>
                </a:ext>
              </a:extLst>
            </p:cNvPr>
            <p:cNvSpPr txBox="1"/>
            <p:nvPr/>
          </p:nvSpPr>
          <p:spPr>
            <a:xfrm>
              <a:off x="9851150" y="3169387"/>
              <a:ext cx="570990" cy="261610"/>
            </a:xfrm>
            <a:prstGeom prst="rect">
              <a:avLst/>
            </a:prstGeom>
            <a:noFill/>
          </p:spPr>
          <p:txBody>
            <a:bodyPr wrap="none" rtlCol="0">
              <a:spAutoFit/>
            </a:bodyPr>
            <a:lstStyle/>
            <a:p>
              <a:r>
                <a:rPr lang="en-US" sz="105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binary</a:t>
              </a:r>
            </a:p>
          </p:txBody>
        </p:sp>
        <p:cxnSp>
          <p:nvCxnSpPr>
            <p:cNvPr id="49" name="Straight Arrow Connector 48">
              <a:extLst>
                <a:ext uri="{FF2B5EF4-FFF2-40B4-BE49-F238E27FC236}">
                  <a16:creationId id="{10CF9551-E499-D191-8D4D-F6A6C3C4C375}"/>
                </a:ext>
              </a:extLst>
            </p:cNvPr>
            <p:cNvCxnSpPr>
              <a:cxnSpLocks/>
            </p:cNvCxnSpPr>
            <p:nvPr/>
          </p:nvCxnSpPr>
          <p:spPr>
            <a:xfrm flipH="1" flipV="1">
              <a:off x="9753600" y="3121025"/>
              <a:ext cx="146469" cy="14899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id="{46F18FC3-BE40-166D-4932-593786F9F947}"/>
                </a:ext>
              </a:extLst>
            </p:cNvPr>
            <p:cNvSpPr txBox="1"/>
            <p:nvPr/>
          </p:nvSpPr>
          <p:spPr>
            <a:xfrm>
              <a:off x="10194948" y="3730054"/>
              <a:ext cx="592771" cy="377686"/>
            </a:xfrm>
            <a:prstGeom prst="rect">
              <a:avLst/>
            </a:prstGeom>
            <a:noFill/>
          </p:spPr>
          <p:txBody>
            <a:bodyPr wrap="square" rtlCol="0">
              <a:spAutoFit/>
            </a:bodyPr>
            <a:lstStyle/>
            <a:p>
              <a:pPr algn="r"/>
              <a:r>
                <a:rPr lang="en-US" sz="105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polar</a:t>
              </a:r>
              <a:br>
                <a:rPr lang="en-US" sz="105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br>
              <a:r>
                <a:rPr lang="en-US" sz="105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vortices</a:t>
              </a:r>
            </a:p>
          </p:txBody>
        </p:sp>
        <p:cxnSp>
          <p:nvCxnSpPr>
            <p:cNvPr id="52" name="Straight Arrow Connector 51">
              <a:extLst>
                <a:ext uri="{FF2B5EF4-FFF2-40B4-BE49-F238E27FC236}">
                  <a16:creationId id="{01325B96-44D0-9740-1F9D-17C18A797E42}"/>
                </a:ext>
              </a:extLst>
            </p:cNvPr>
            <p:cNvCxnSpPr>
              <a:cxnSpLocks/>
              <a:stCxn id="51" idx="3"/>
            </p:cNvCxnSpPr>
            <p:nvPr/>
          </p:nvCxnSpPr>
          <p:spPr>
            <a:xfrm>
              <a:off x="10787719" y="3918897"/>
              <a:ext cx="196564"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id="{1E99FCF6-4489-EBEC-FB78-440CC9008DAA}"/>
                </a:ext>
              </a:extLst>
            </p:cNvPr>
            <p:cNvCxnSpPr>
              <a:cxnSpLocks/>
              <a:stCxn id="51" idx="2"/>
            </p:cNvCxnSpPr>
            <p:nvPr/>
          </p:nvCxnSpPr>
          <p:spPr>
            <a:xfrm>
              <a:off x="10491333" y="4107740"/>
              <a:ext cx="1" cy="26771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id="{2AA37DFF-07B4-9D08-FD01-AE0E40B8F027}"/>
                </a:ext>
              </a:extLst>
            </p:cNvPr>
            <p:cNvSpPr txBox="1"/>
            <p:nvPr/>
          </p:nvSpPr>
          <p:spPr>
            <a:xfrm>
              <a:off x="9212511" y="2557847"/>
              <a:ext cx="386644" cy="253916"/>
            </a:xfrm>
            <a:prstGeom prst="rect">
              <a:avLst/>
            </a:prstGeom>
            <a:noFill/>
          </p:spPr>
          <p:txBody>
            <a:bodyPr wrap="none" rtlCol="0">
              <a:spAutoFit/>
            </a:bodyPr>
            <a:lstStyle/>
            <a:p>
              <a:r>
                <a:rPr lang="en-US" sz="105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pro</a:t>
              </a:r>
            </a:p>
          </p:txBody>
        </p:sp>
        <p:sp>
          <p:nvSpPr>
            <p:cNvPr id="69" name="TextBox 68">
              <a:extLst>
                <a:ext uri="{FF2B5EF4-FFF2-40B4-BE49-F238E27FC236}">
                  <a16:creationId id="{6B268216-980D-F119-FE40-9351C9D5FAE3}"/>
                </a:ext>
              </a:extLst>
            </p:cNvPr>
            <p:cNvSpPr txBox="1"/>
            <p:nvPr/>
          </p:nvSpPr>
          <p:spPr>
            <a:xfrm>
              <a:off x="10984283" y="2557847"/>
              <a:ext cx="404278" cy="253916"/>
            </a:xfrm>
            <a:prstGeom prst="rect">
              <a:avLst/>
            </a:prstGeom>
            <a:noFill/>
          </p:spPr>
          <p:txBody>
            <a:bodyPr wrap="none" rtlCol="0">
              <a:spAutoFit/>
            </a:bodyPr>
            <a:lstStyle/>
            <a:p>
              <a:r>
                <a:rPr lang="en-US" sz="105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anti</a:t>
              </a:r>
            </a:p>
          </p:txBody>
        </p:sp>
        <p:sp>
          <p:nvSpPr>
            <p:cNvPr id="70" name="TextBox 69">
              <a:extLst>
                <a:ext uri="{FF2B5EF4-FFF2-40B4-BE49-F238E27FC236}">
                  <a16:creationId id="{70ABAB73-6501-C0BC-CC56-3C2BF5188BF8}"/>
                </a:ext>
              </a:extLst>
            </p:cNvPr>
            <p:cNvSpPr txBox="1"/>
            <p:nvPr/>
          </p:nvSpPr>
          <p:spPr>
            <a:xfrm>
              <a:off x="10993100" y="4462810"/>
              <a:ext cx="386644" cy="253916"/>
            </a:xfrm>
            <a:prstGeom prst="rect">
              <a:avLst/>
            </a:prstGeom>
            <a:noFill/>
          </p:spPr>
          <p:txBody>
            <a:bodyPr wrap="none" rtlCol="0">
              <a:spAutoFit/>
            </a:bodyPr>
            <a:lstStyle/>
            <a:p>
              <a:r>
                <a:rPr lang="en-US" sz="105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pro</a:t>
              </a:r>
            </a:p>
          </p:txBody>
        </p:sp>
        <p:sp>
          <p:nvSpPr>
            <p:cNvPr id="71" name="TextBox 70">
              <a:extLst>
                <a:ext uri="{FF2B5EF4-FFF2-40B4-BE49-F238E27FC236}">
                  <a16:creationId id="{AF9E6D5F-FC9E-AE42-1E91-4C2F70D4A102}"/>
                </a:ext>
              </a:extLst>
            </p:cNvPr>
            <p:cNvSpPr txBox="1"/>
            <p:nvPr/>
          </p:nvSpPr>
          <p:spPr>
            <a:xfrm>
              <a:off x="9203694" y="4462810"/>
              <a:ext cx="404278" cy="253916"/>
            </a:xfrm>
            <a:prstGeom prst="rect">
              <a:avLst/>
            </a:prstGeom>
            <a:noFill/>
          </p:spPr>
          <p:txBody>
            <a:bodyPr wrap="none" rtlCol="0">
              <a:spAutoFit/>
            </a:bodyPr>
            <a:lstStyle/>
            <a:p>
              <a:r>
                <a:rPr lang="en-US" sz="105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anti</a:t>
              </a:r>
            </a:p>
          </p:txBody>
        </p:sp>
      </p:grpSp>
      <p:sp>
        <p:nvSpPr>
          <p:cNvPr id="78" name="TextBox 77">
            <a:extLst>
              <a:ext uri="{FF2B5EF4-FFF2-40B4-BE49-F238E27FC236}">
                <a16:creationId id="{F92F6B3E-561C-1B8D-4973-B0ED24B88912}"/>
              </a:ext>
            </a:extLst>
          </p:cNvPr>
          <p:cNvSpPr txBox="1"/>
          <p:nvPr/>
        </p:nvSpPr>
        <p:spPr>
          <a:xfrm>
            <a:off x="9359207" y="5067204"/>
            <a:ext cx="1621254" cy="553998"/>
          </a:xfrm>
          <a:prstGeom prst="rect">
            <a:avLst/>
          </a:prstGeom>
          <a:noFill/>
        </p:spPr>
        <p:txBody>
          <a:bodyPr wrap="square" rtlCol="0">
            <a:spAutoFit/>
          </a:bodyPr>
          <a:lstStyle/>
          <a:p>
            <a:pPr algn="ctr"/>
            <a:r>
              <a:rPr lang="en-US" sz="10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Two pro and two anti Noether Cores coupled as a Higgs cluster.</a:t>
            </a:r>
          </a:p>
        </p:txBody>
      </p:sp>
      <p:grpSp>
        <p:nvGrpSpPr>
          <p:cNvPr id="89" name="Group 88">
            <a:extLst>
              <a:ext uri="{FF2B5EF4-FFF2-40B4-BE49-F238E27FC236}">
                <a16:creationId id="{06E606D5-12A1-5ABE-34A5-5817D5105622}"/>
              </a:ext>
            </a:extLst>
          </p:cNvPr>
          <p:cNvGrpSpPr/>
          <p:nvPr/>
        </p:nvGrpSpPr>
        <p:grpSpPr>
          <a:xfrm>
            <a:off x="711483" y="4160806"/>
            <a:ext cx="4575326" cy="2573621"/>
            <a:chOff x="1439708" y="4199519"/>
            <a:chExt cx="4575326" cy="2573621"/>
          </a:xfrm>
        </p:grpSpPr>
        <p:pic>
          <p:nvPicPr>
            <p:cNvPr id="1026" name="Picture 2" descr="An illustration of a helium atom, with two protons and neutrons in its nucleus.">
              <a:extLst>
                <a:ext uri="{FF2B5EF4-FFF2-40B4-BE49-F238E27FC236}">
                  <a16:creationId id="{EC7B7A5D-5419-BB39-2E97-0D8C963B3246}"/>
                </a:ext>
              </a:extLst>
            </p:cNvPr>
            <p:cNvPicPr>
              <a:picLocks noChangeAspect="1" noChangeArrowheads="1"/>
            </p:cNvPicPr>
            <p:nvPr/>
          </p:nvPicPr>
          <p:blipFill>
            <a:blip r:embed="rId3">
              <a:extLst>
                <a:ext uri="{28A0092B-C50C-407E-A947-70E740481C1C}">
                  <ns4:useLocalDpi val="0"/>
                </a:ext>
              </a:extLst>
            </a:blip>
            <a:srcRect/>
            <a:stretch>
              <a:fillRect/>
            </a:stretch>
          </p:blipFill>
          <p:spPr bwMode="auto">
            <a:xfrm>
              <a:off x="1439708" y="4199519"/>
              <a:ext cx="4575326" cy="2573621"/>
            </a:xfrm>
            <a:prstGeom prst="rect">
              <a:avLst/>
            </a:prstGeom>
            <a:noFill/>
            <a:extLst>
              <a:ext uri="{909E8E84-426E-40DD-AFC4-6F175D3DCCD1}">
                <ns4:hiddenFill>
                  <a:solidFill>
                    <a:srgbClr val="FFFFFF"/>
                  </a:solidFill>
                </ns4:hiddenFill>
              </a:ext>
            </a:extLst>
          </p:spPr>
        </p:pic>
        <p:sp>
          <p:nvSpPr>
            <p:cNvPr id="76" name="TextBox 75">
              <a:extLst>
                <a:ext uri="{FF2B5EF4-FFF2-40B4-BE49-F238E27FC236}">
                  <a16:creationId id="{601D5D86-7FD4-1F0B-6DA1-D4A04134294C}"/>
                </a:ext>
              </a:extLst>
            </p:cNvPr>
            <p:cNvSpPr txBox="1"/>
            <p:nvPr/>
          </p:nvSpPr>
          <p:spPr>
            <a:xfrm>
              <a:off x="1439708" y="6511530"/>
              <a:ext cx="502061" cy="261610"/>
            </a:xfrm>
            <a:prstGeom prst="rect">
              <a:avLst/>
            </a:prstGeom>
            <a:noFill/>
          </p:spPr>
          <p:txBody>
            <a:bodyPr wrap="none" rtlCol="0">
              <a:spAutoFit/>
            </a:bodyPr>
            <a:lstStyle/>
            <a:p>
              <a:r>
                <a:rPr lang="en-US" sz="1050" dirty="0">
                  <a:solidFill>
                    <a:schemeClr val="bg1">
                      <a:lumMod val="65000"/>
                    </a:schemeClr>
                  </a:solidFill>
                </a:rPr>
                <a:t>Getty</a:t>
              </a:r>
            </a:p>
          </p:txBody>
        </p:sp>
        <p:sp>
          <p:nvSpPr>
            <p:cNvPr id="77" name="TextBox 76">
              <a:extLst>
                <a:ext uri="{FF2B5EF4-FFF2-40B4-BE49-F238E27FC236}">
                  <a16:creationId id="{57C0C6E2-85B6-8ED6-26B8-E40B70F042F6}"/>
                </a:ext>
              </a:extLst>
            </p:cNvPr>
            <p:cNvSpPr txBox="1"/>
            <p:nvPr/>
          </p:nvSpPr>
          <p:spPr>
            <a:xfrm>
              <a:off x="3874164" y="5317149"/>
              <a:ext cx="2109448" cy="577081"/>
            </a:xfrm>
            <a:prstGeom prst="rect">
              <a:avLst/>
            </a:prstGeom>
            <a:noFill/>
          </p:spPr>
          <p:txBody>
            <a:bodyPr wrap="square" rtlCol="0">
              <a:spAutoFit/>
            </a:bodyPr>
            <a:lstStyle/>
            <a:p>
              <a:pPr algn="r"/>
              <a:r>
                <a:rPr lang="en-US" sz="1050" dirty="0">
                  <a:solidFill>
                    <a:schemeClr val="bg1"/>
                  </a:solidFill>
                </a:rPr>
                <a:t>Helium Nucleus</a:t>
              </a:r>
            </a:p>
            <a:p>
              <a:pPr algn="r"/>
              <a:r>
                <a:rPr lang="en-US" sz="1050" dirty="0">
                  <a:solidFill>
                    <a:schemeClr val="bg1"/>
                  </a:solidFill>
                </a:rPr>
                <a:t>is two protons and  </a:t>
              </a:r>
            </a:p>
            <a:p>
              <a:pPr algn="r"/>
              <a:r>
                <a:rPr lang="en-US" sz="1050" dirty="0">
                  <a:solidFill>
                    <a:schemeClr val="bg1"/>
                  </a:solidFill>
                </a:rPr>
                <a:t>two neutrons</a:t>
              </a:r>
            </a:p>
          </p:txBody>
        </p:sp>
        <p:sp>
          <p:nvSpPr>
            <p:cNvPr id="79" name="TextBox 78">
              <a:extLst>
                <a:ext uri="{FF2B5EF4-FFF2-40B4-BE49-F238E27FC236}">
                  <a16:creationId id="{BE00E1F2-7CA5-21BB-5077-705A5413D8BF}"/>
                </a:ext>
              </a:extLst>
            </p:cNvPr>
            <p:cNvSpPr txBox="1"/>
            <p:nvPr/>
          </p:nvSpPr>
          <p:spPr>
            <a:xfrm>
              <a:off x="2614813" y="4199519"/>
              <a:ext cx="2109448" cy="253916"/>
            </a:xfrm>
            <a:prstGeom prst="rect">
              <a:avLst/>
            </a:prstGeom>
            <a:noFill/>
          </p:spPr>
          <p:txBody>
            <a:bodyPr wrap="square" rtlCol="0">
              <a:spAutoFit/>
            </a:bodyPr>
            <a:lstStyle/>
            <a:p>
              <a:pPr algn="r"/>
              <a:r>
                <a:rPr lang="en-US" sz="1050" dirty="0">
                  <a:solidFill>
                    <a:schemeClr val="bg1"/>
                  </a:solidFill>
                </a:rPr>
                <a:t>Two orbiting electrons</a:t>
              </a:r>
            </a:p>
          </p:txBody>
        </p:sp>
      </p:grpSp>
      <p:sp>
        <p:nvSpPr>
          <p:cNvPr id="1027" name="Footer Placeholder 3"/>
          <p:cNvSpPr txBox="1">
            <a:spLocks/>
          </p:cNvSpPr>
          <p:nvPr/>
        </p:nvSpPr>
        <p:spPr>
          <a:xfrm>
            <a:off x="10942204" y="6481737"/>
            <a:ext cx="1217443"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architrino.com</a:t>
            </a:r>
          </a:p>
        </p:txBody>
      </p:sp>
    </p:spTree>
    <p:extLst>
      <p:ext uri="{BB962C8B-B14F-4D97-AF65-F5344CB8AC3E}">
        <ns5:creationId val="2673204721"/>
      </p:ext>
    </p:extLst>
  </p:cSld>
  <p:clrMapOvr>
    <a:masterClrMapping/>
  </p:clrMapOvr>
</p:sld>
</file>

<file path=ppt/slides/slide16.xml><?xml version="1.0" encoding="utf-8"?>
<p:sld xmlns:a="http://schemas.openxmlformats.org/drawingml/2006/main" xmlns:a16="http://schemas.microsoft.com/office/drawing/2014/main" xmlns:ns3="http://schemas.microsoft.com/office/powerpoint/2010/main"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itle 1">
            <a:extLst>
              <a:ext uri="{FF2B5EF4-FFF2-40B4-BE49-F238E27FC236}">
                <a16:creationId id="{12BCEC3F-FDDB-5983-8D2C-A4BFED7BAA0A}"/>
              </a:ext>
            </a:extLst>
          </p:cNvPr>
          <p:cNvSpPr>
            <a:spLocks noGrp="1"/>
          </p:cNvSpPr>
          <p:nvPr>
            <p:ph type="title"/>
          </p:nvPr>
        </p:nvSpPr>
        <p:spPr>
          <a:xfrm>
            <a:off x="299257" y="1"/>
            <a:ext cx="11734525" cy="914400"/>
          </a:xfrm>
        </p:spPr>
        <p:txBody>
          <a:bodyPr>
            <a:normAutofit fontScale="90000"/>
          </a:bodyPr>
          <a:lstStyle/>
          <a:p>
            <a:r>
              <a:rPr lang="en-US"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Noether Core Geometry and the Lorentz Factor</a:t>
            </a:r>
          </a:p>
        </p:txBody>
      </p:sp>
      <p:sp>
        <p:nvSpPr>
          <p:cNvPr id="3" name="Content Placeholder 2">
            <a:extLst>
              <a:ext uri="{FF2B5EF4-FFF2-40B4-BE49-F238E27FC236}">
                <a16:creationId id="{B79D155D-AAA3-5D9A-34B2-23F2E49ED074}"/>
              </a:ext>
            </a:extLst>
          </p:cNvPr>
          <p:cNvSpPr>
            <a:spLocks noGrp="1"/>
          </p:cNvSpPr>
          <p:nvPr>
            <p:ph idx="1"/>
          </p:nvPr>
        </p:nvSpPr>
        <p:spPr>
          <a:xfrm>
            <a:off x="299258" y="1122219"/>
            <a:ext cx="11587942" cy="5311832"/>
          </a:xfrm>
        </p:spPr>
        <p:txBody>
          <a:bodyPr>
            <a:noAutofit/>
          </a:bodyPr>
          <a:lstStyle/>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high velocity, Noether cores become more oblate. Do all Noether cores, pro and anti, left and right, fold the same? </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In a standard matter particle? Yes. We are considering the positive quadrant only, given translation.</a:t>
            </a:r>
          </a:p>
          <a:p>
            <a:pPr lvl="2">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Therefore, they fold either LLL or RRR. Anti-ness disappears in the boson state because it was based on spin ½.</a:t>
            </a:r>
          </a:p>
          <a:p>
            <a:pPr lvl="2">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Standard matter particles are low total energy, but high apparent energy.</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In a photon? Photons are bosonic planar. Photons are a pro and anti Noether core, contra-rotating at an offset.</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Approaching a black hole? At some point all that is left is </a:t>
            </a:r>
          </a:p>
          <a:p>
            <a:pPr lvl="2">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Photons which were already planar, but also biplanar.</a:t>
            </a:r>
          </a:p>
          <a:p>
            <a:pPr lvl="2">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Does the crossing of the event horizon separate the pro and anti Noether cores of a photon?</a:t>
            </a:r>
          </a:p>
          <a:p>
            <a:pPr lvl="2">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Noether cores. Getting smaller and more oblate and planar at the event horizon</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Interior to the black hole</a:t>
            </a:r>
          </a:p>
          <a:p>
            <a:pPr lvl="2">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Everything is planar and photons (contra rotating pro and anti Noether core) continue to deflate.  Independent Noether cores are planar and deflate.</a:t>
            </a:r>
          </a:p>
          <a:p>
            <a:pPr lvl="2">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Orbitals perturb each other, causing orbit reversals all the way down. Approaching maximum curvature we have ring out until the core locks into one relative microstate, i.e., zero relative entropy.</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All have mirror symmetry.</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But this is occurring in a plane so CW and CCW are important factors.</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Ok so let’s enumerate them LLL LLR LRL LRR RLL RLR RRL RRR (8, essentially it is binary).</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Then it is emergence again </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Note, when we are talking velocity here, it is usually transverse orbital velocity.  Translational velocity is considered independent at this level of analysis)</a:t>
            </a:r>
          </a:p>
          <a:p>
            <a:pPr lvl="1">
              <a:lnSpc>
                <a:spcPct val="80000"/>
              </a:lnSpc>
            </a:pPr>
            <a:endPar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pPr>
              <a:lnSpc>
                <a:spcPct val="80000"/>
              </a:lnSpc>
            </a:pPr>
            <a:endPar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 name="Footer Placeholder 3"/>
          <p:cNvSpPr txBox="1">
            <a:spLocks/>
          </p:cNvSpPr>
          <p:nvPr/>
        </p:nvSpPr>
        <p:spPr>
          <a:xfrm>
            <a:off x="10942204" y="6481737"/>
            <a:ext cx="1217443"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architrino.com</a:t>
            </a:r>
          </a:p>
        </p:txBody>
      </p:sp>
    </p:spTree>
    <p:extLst>
      <p:ext uri="{BB962C8B-B14F-4D97-AF65-F5344CB8AC3E}">
        <ns3:creationId val="193964547"/>
      </p:ext>
    </p:extLst>
  </p:cSld>
  <p:clrMapOvr>
    <a:masterClrMapping/>
  </p:clrMapOvr>
</p:sld>
</file>

<file path=ppt/slides/slide17.xml><?xml version="1.0" encoding="utf-8"?>
<p:sld xmlns:a="http://schemas.openxmlformats.org/drawingml/2006/main" xmlns:a16="http://schemas.microsoft.com/office/drawing/2014/main" xmlns:ns4="http://schemas.microsoft.com/office/powerpoint/2010/main" xmlns:p="http://schemas.openxmlformats.org/presentationml/2006/main" xmlns:r="http://schemas.openxmlformats.org/officeDocument/2006/relationships">
  <p:cSld>
    <p:bg>
      <p:bgPr>
        <a:solidFill>
          <a:srgbClr val="7030A0"/>
        </a:solidFill>
        <a:effectLst/>
      </p:bgPr>
    </p:bg>
    <p:spTree>
      <p:nvGrpSpPr>
        <p:cNvPr id="1" name=""/>
        <p:cNvGrpSpPr/>
        <p:nvPr/>
      </p:nvGrpSpPr>
      <p:grpSpPr>
        <a:xfrm>
          <a:off x="0" y="0"/>
          <a:ext cx="0" cy="0"/>
          <a:chOff x="0" y="0"/>
          <a:chExt cx="0" cy="0"/>
        </a:xfrm>
      </p:grpSpPr>
      <p:sp>
        <p:nvSpPr>
          <p:cNvPr id="2" name="Title 1">
            <a:extLst>
              <a:ext uri="{FF2B5EF4-FFF2-40B4-BE49-F238E27FC236}">
                <a16:creationId id="{12BCEC3F-FDDB-5983-8D2C-A4BFED7BAA0A}"/>
              </a:ext>
            </a:extLst>
          </p:cNvPr>
          <p:cNvSpPr>
            <a:spLocks noGrp="1"/>
          </p:cNvSpPr>
          <p:nvPr>
            <p:ph type="title"/>
          </p:nvPr>
        </p:nvSpPr>
        <p:spPr>
          <a:xfrm>
            <a:off x="299257" y="1"/>
            <a:ext cx="11734525" cy="914400"/>
          </a:xfrm>
        </p:spPr>
        <p:txBody>
          <a:bodyPr>
            <a:normAutofit fontScale="90000"/>
          </a:bodyPr>
          <a:lstStyle/>
          <a:p>
            <a:r>
              <a:rPr lang="en-US"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Noether Core Geometry and the Lorentz Factor</a:t>
            </a:r>
          </a:p>
        </p:txBody>
      </p:sp>
      <p:pic>
        <p:nvPicPr>
          <p:cNvPr id="6" name="Picture 5">
            <a:extLst>
              <a:ext uri="{FF2B5EF4-FFF2-40B4-BE49-F238E27FC236}">
                <a16:creationId id="{9A6F1C21-5F46-9ACB-C73F-24F1F2C65549}"/>
              </a:ext>
            </a:extLst>
          </p:cNvPr>
          <p:cNvPicPr>
            <a:picLocks noChangeAspect="1"/>
          </p:cNvPicPr>
          <p:nvPr/>
        </p:nvPicPr>
        <p:blipFill>
          <a:blip r:embed="rId2"/>
          <a:stretch>
            <a:fillRect/>
          </a:stretch>
        </p:blipFill>
        <p:spPr>
          <a:xfrm>
            <a:off x="568749" y="914401"/>
            <a:ext cx="5597770" cy="3231319"/>
          </a:xfrm>
          <a:prstGeom prst="rect">
            <a:avLst/>
          </a:prstGeom>
        </p:spPr>
      </p:pic>
      <p:sp>
        <p:nvSpPr>
          <p:cNvPr id="7" name="Content Placeholder 2">
            <a:extLst>
              <a:ext uri="{FF2B5EF4-FFF2-40B4-BE49-F238E27FC236}">
                <a16:creationId id="{A3D88A00-B5CF-1508-09F1-6A91A0D7A0D5}"/>
              </a:ext>
            </a:extLst>
          </p:cNvPr>
          <p:cNvSpPr>
            <a:spLocks noGrp="1"/>
          </p:cNvSpPr>
          <p:nvPr>
            <p:ph idx="1"/>
          </p:nvPr>
        </p:nvSpPr>
        <p:spPr>
          <a:xfrm>
            <a:off x="6526459" y="773084"/>
            <a:ext cx="5306646" cy="5311832"/>
          </a:xfrm>
        </p:spPr>
        <p:txBody>
          <a:bodyPr>
            <a:noAutofit/>
          </a:bodyPr>
          <a:lstStyle/>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What is the Lorentz factor describing?</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It may be the oblateness, turning into pancaking of the orbitals in each Noether core.</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If we think of it from an action point of view, it would suggest that r is approaching zero. </a:t>
            </a:r>
          </a:p>
          <a:p>
            <a:pPr lvl="1">
              <a:lnSpc>
                <a:spcPct val="80000"/>
              </a:lnSpc>
            </a:pPr>
            <a:r>
              <a:rPr lang="en-US" sz="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We already know that v and r are related.</a:t>
            </a:r>
          </a:p>
          <a:p>
            <a:pPr>
              <a:lnSpc>
                <a:spcPct val="80000"/>
              </a:lnSpc>
            </a:pPr>
            <a:endPar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pPr marL="0" indent="0">
              <a:lnSpc>
                <a:spcPct val="80000"/>
              </a:lnSpc>
              <a:buNone/>
            </a:pPr>
            <a:endPar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symmetry breaking point occurs at v = @.</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This appears to correspond to the Planck scale.</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However, this is approaching the symmetry breaking point from only one side. </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There is more beyond, “Plus Ultra” as the self-action begins and the deflation begins in earnest.</a:t>
            </a:r>
          </a:p>
          <a:p>
            <a:pPr>
              <a:lnSpc>
                <a:spcPct val="80000"/>
              </a:lnSpc>
            </a:pPr>
            <a:endPar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p:txBody>
      </p:sp>
      <p:pic>
        <p:nvPicPr>
          <p:cNvPr id="8" name="Picture 7">
            <a:extLst>
              <a:ext uri="{FF2B5EF4-FFF2-40B4-BE49-F238E27FC236}">
                <a16:creationId id="{FC0B4237-AC3D-F18C-FA6D-415596D1B0C8}"/>
              </a:ext>
            </a:extLst>
          </p:cNvPr>
          <p:cNvPicPr>
            <a:picLocks noChangeAspect="1"/>
          </p:cNvPicPr>
          <p:nvPr/>
        </p:nvPicPr>
        <p:blipFill>
          <a:blip r:embed="rId3"/>
          <a:stretch>
            <a:fillRect/>
          </a:stretch>
        </p:blipFill>
        <p:spPr>
          <a:xfrm>
            <a:off x="103926" y="4411604"/>
            <a:ext cx="4699000" cy="2489930"/>
          </a:xfrm>
          <a:prstGeom prst="rect">
            <a:avLst/>
          </a:prstGeom>
        </p:spPr>
      </p:pic>
      <p:pic>
        <p:nvPicPr>
          <p:cNvPr id="9" name="Picture 8">
            <a:extLst>
              <a:ext uri="{FF2B5EF4-FFF2-40B4-BE49-F238E27FC236}">
                <a16:creationId id="{FA7C1B3A-AA9E-3006-87A2-8330E8F31F8F}"/>
              </a:ext>
            </a:extLst>
          </p:cNvPr>
          <p:cNvPicPr>
            <a:picLocks noChangeAspect="1"/>
          </p:cNvPicPr>
          <p:nvPr/>
        </p:nvPicPr>
        <p:blipFill>
          <a:blip r:embed="rId4"/>
          <a:stretch>
            <a:fillRect/>
          </a:stretch>
        </p:blipFill>
        <p:spPr>
          <a:xfrm>
            <a:off x="5162866" y="4368071"/>
            <a:ext cx="4984769" cy="2489929"/>
          </a:xfrm>
          <a:prstGeom prst="rect">
            <a:avLst/>
          </a:prstGeom>
        </p:spPr>
      </p:pic>
      <p:sp>
        <p:nvSpPr>
          <p:cNvPr id="3" name="Footer Placeholder 3"/>
          <p:cNvSpPr txBox="1">
            <a:spLocks/>
          </p:cNvSpPr>
          <p:nvPr/>
        </p:nvSpPr>
        <p:spPr>
          <a:xfrm>
            <a:off x="10942204" y="6481737"/>
            <a:ext cx="1217443"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architrino.com</a:t>
            </a:r>
          </a:p>
        </p:txBody>
      </p:sp>
    </p:spTree>
    <p:extLst>
      <p:ext uri="{BB962C8B-B14F-4D97-AF65-F5344CB8AC3E}">
        <ns4:creationId val="77877289"/>
      </p:ext>
    </p:extLst>
  </p:cSld>
  <p:clrMapOvr>
    <a:masterClrMapping/>
  </p:clrMapOvr>
</p:sld>
</file>

<file path=ppt/slides/slide18.xml><?xml version="1.0" encoding="utf-8"?>
<p:sld xmlns:a="http://schemas.openxmlformats.org/drawingml/2006/main" xmlns:a16="http://schemas.microsoft.com/office/drawing/2014/main" xmlns:ns3="http://schemas.microsoft.com/office/powerpoint/2010/main"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itle 1">
            <a:extLst>
              <a:ext uri="{FF2B5EF4-FFF2-40B4-BE49-F238E27FC236}">
                <a16:creationId id="{12BCEC3F-FDDB-5983-8D2C-A4BFED7BAA0A}"/>
              </a:ext>
            </a:extLst>
          </p:cNvPr>
          <p:cNvSpPr>
            <a:spLocks noGrp="1"/>
          </p:cNvSpPr>
          <p:nvPr>
            <p:ph type="title"/>
          </p:nvPr>
        </p:nvSpPr>
        <p:spPr>
          <a:xfrm>
            <a:off x="299257" y="1"/>
            <a:ext cx="11784587" cy="914400"/>
          </a:xfrm>
        </p:spPr>
        <p:txBody>
          <a:bodyPr>
            <a:normAutofit/>
          </a:bodyPr>
          <a:lstStyle/>
          <a:p>
            <a:r>
              <a:rPr lang="en-US"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Brainstorming on Noether Core Dynamics</a:t>
            </a:r>
          </a:p>
        </p:txBody>
      </p:sp>
      <p:sp>
        <p:nvSpPr>
          <p:cNvPr id="3" name="Content Placeholder 2">
            <a:extLst>
              <a:ext uri="{FF2B5EF4-FFF2-40B4-BE49-F238E27FC236}">
                <a16:creationId id="{B79D155D-AAA3-5D9A-34B2-23F2E49ED074}"/>
              </a:ext>
            </a:extLst>
          </p:cNvPr>
          <p:cNvSpPr>
            <a:spLocks noGrp="1"/>
          </p:cNvSpPr>
          <p:nvPr>
            <p:ph idx="1"/>
          </p:nvPr>
        </p:nvSpPr>
        <p:spPr>
          <a:xfrm>
            <a:off x="299258" y="914401"/>
            <a:ext cx="11587942" cy="5311832"/>
          </a:xfrm>
        </p:spPr>
        <p:txBody>
          <a:bodyPr>
            <a:noAutofit/>
          </a:bodyPr>
          <a:lstStyle/>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Binary Architecture (unperturbed)</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When v &lt;= @ the physics is only due to partner emissions</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When v &gt; @ the physics is due to both partner emissions and self emissions.</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Noether Core Architecture </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three binaries have different relationships depending on energy regime of the assembly.</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relationship between generations is complex and depends on physics in each regime.</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Higgs spacetime assembly clusters.</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Does a Higgs Noether core’s </a:t>
            </a:r>
            <a:r>
              <a:rPr lang="en-US" sz="20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outer</a:t>
            </a: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binary have v &gt;= @.</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Standard model assemblies </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fermions, photons, (W’s and Z are ephemeral, another topic)</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Does the middle binary have v = @ </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quanta h-bar is observable. Therefore, the quanta must remain in the outer binary.</a:t>
            </a:r>
          </a:p>
          <a:p>
            <a:pPr lvl="1">
              <a:lnSpc>
                <a:spcPct val="80000"/>
              </a:lnSpc>
            </a:pPr>
            <a:endPar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pPr lvl="1">
              <a:lnSpc>
                <a:spcPct val="80000"/>
              </a:lnSpc>
            </a:pPr>
            <a:endPar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pPr lvl="1">
              <a:lnSpc>
                <a:spcPct val="80000"/>
              </a:lnSpc>
            </a:pPr>
            <a:endPar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pPr>
              <a:lnSpc>
                <a:spcPct val="80000"/>
              </a:lnSpc>
            </a:pPr>
            <a:r>
              <a:rPr lang="en-US" sz="24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Or this could all be nonsense…. better to simulate</a:t>
            </a:r>
          </a:p>
          <a:p>
            <a:pPr marL="0" indent="0">
              <a:lnSpc>
                <a:spcPct val="80000"/>
              </a:lnSpc>
              <a:buNone/>
            </a:pPr>
            <a:endPar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 name="Footer Placeholder 3"/>
          <p:cNvSpPr txBox="1">
            <a:spLocks/>
          </p:cNvSpPr>
          <p:nvPr/>
        </p:nvSpPr>
        <p:spPr>
          <a:xfrm>
            <a:off x="10942204" y="6481737"/>
            <a:ext cx="1217443"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architrino.com</a:t>
            </a:r>
          </a:p>
        </p:txBody>
      </p:sp>
    </p:spTree>
    <p:extLst>
      <p:ext uri="{BB962C8B-B14F-4D97-AF65-F5344CB8AC3E}">
        <ns3:creationId val="2147377089"/>
      </p:ext>
    </p:extLst>
  </p:cSld>
  <p:clrMapOvr>
    <a:masterClrMapping/>
  </p:clrMapOvr>
</p:sld>
</file>

<file path=ppt/slides/slide19.xml><?xml version="1.0" encoding="utf-8"?>
<p:sld xmlns:a="http://schemas.openxmlformats.org/drawingml/2006/main" xmlns:a16="http://schemas.microsoft.com/office/drawing/2014/main" xmlns:ns3="http://schemas.microsoft.com/office/powerpoint/2010/main"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itle 1">
            <a:extLst>
              <a:ext uri="{FF2B5EF4-FFF2-40B4-BE49-F238E27FC236}">
                <a16:creationId id="{12BCEC3F-FDDB-5983-8D2C-A4BFED7BAA0A}"/>
              </a:ext>
            </a:extLst>
          </p:cNvPr>
          <p:cNvSpPr>
            <a:spLocks noGrp="1"/>
          </p:cNvSpPr>
          <p:nvPr>
            <p:ph type="title"/>
          </p:nvPr>
        </p:nvSpPr>
        <p:spPr>
          <a:xfrm>
            <a:off x="299257" y="1"/>
            <a:ext cx="11784587" cy="914400"/>
          </a:xfrm>
        </p:spPr>
        <p:txBody>
          <a:bodyPr>
            <a:normAutofit/>
          </a:bodyPr>
          <a:lstStyle/>
          <a:p>
            <a:r>
              <a:rPr lang="en-US"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Brainstorming on Noether Core Dynamics</a:t>
            </a:r>
          </a:p>
        </p:txBody>
      </p:sp>
      <p:sp>
        <p:nvSpPr>
          <p:cNvPr id="3" name="Content Placeholder 2">
            <a:extLst>
              <a:ext uri="{FF2B5EF4-FFF2-40B4-BE49-F238E27FC236}">
                <a16:creationId id="{B79D155D-AAA3-5D9A-34B2-23F2E49ED074}"/>
              </a:ext>
            </a:extLst>
          </p:cNvPr>
          <p:cNvSpPr>
            <a:spLocks noGrp="1"/>
          </p:cNvSpPr>
          <p:nvPr>
            <p:ph idx="1"/>
          </p:nvPr>
        </p:nvSpPr>
        <p:spPr>
          <a:xfrm>
            <a:off x="299258" y="914401"/>
            <a:ext cx="11587942" cy="5311832"/>
          </a:xfrm>
        </p:spPr>
        <p:txBody>
          <a:bodyPr>
            <a:noAutofit/>
          </a:bodyPr>
          <a:lstStyle/>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Orbits are presumably elliptical in an assembly relative frame, with influences from translation, acceleration, gravitational gradient, precession, and self or external perturbations. Studying the ideal circular (e.g., elliptical) orbit is recommended.</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It may be fruitful to examine the squashed Noether core with modeled/simulated elliptical orbits.  </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Is velocity constant or varying in an elliptical orbit? In classical physics velocity varies. </a:t>
            </a:r>
            <a:r>
              <a:rPr lang="en-US" sz="1600" b="1" i="1" dirty="0" err="1">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Intuitiion</a:t>
            </a:r>
            <a:r>
              <a:rPr lang="en-US" sz="1600" b="1" i="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 varying.</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Do truly exotic stable orbits occur? Are there cases where orbitals depart substantially from planar in the short term?</a:t>
            </a:r>
          </a:p>
          <a:p>
            <a:pPr>
              <a:lnSpc>
                <a:spcPct val="80000"/>
              </a:lnSpc>
            </a:pPr>
            <a:endPar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In an ellipse, the lengths of the semi-major axis ((a)) and the semi-minor axis ((b)) are different. </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For an ellipse with semi-major axis ( a ) and semi-minor axis ( b ), there isn’t a simple exact formula for the circumference. </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approximation from Ramanujan is often quite accurate : [ C \</a:t>
            </a:r>
            <a:r>
              <a:rPr lang="en-US" sz="1600" dirty="0" err="1">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approx</a:t>
            </a: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\pi \left[ 3(a + b) - \sqrt{(3a + b)(a + 3b)} \right] ]</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 circle is technically a special case of an ellipse where the two axes are equal (a = b).</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For a circle with radius ( r ), the circumference is given by the simple formula: C = 2 pi r </a:t>
            </a:r>
          </a:p>
          <a:p>
            <a:pPr>
              <a:lnSpc>
                <a:spcPct val="80000"/>
              </a:lnSpc>
            </a:pPr>
            <a:endPar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pPr>
              <a:lnSpc>
                <a:spcPct val="80000"/>
              </a:lnSpc>
            </a:pPr>
            <a:r>
              <a:rPr lang="en-US" sz="1600" dirty="0" err="1">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todo</a:t>
            </a: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check references and formulas</a:t>
            </a:r>
          </a:p>
        </p:txBody>
      </p:sp>
      <p:sp>
        <p:nvSpPr>
          <p:cNvPr id="4" name="Footer Placeholder 3"/>
          <p:cNvSpPr txBox="1">
            <a:spLocks/>
          </p:cNvSpPr>
          <p:nvPr/>
        </p:nvSpPr>
        <p:spPr>
          <a:xfrm>
            <a:off x="10942204" y="6481737"/>
            <a:ext cx="1217443"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architrino.com</a:t>
            </a:r>
          </a:p>
        </p:txBody>
      </p:sp>
    </p:spTree>
    <p:extLst>
      <p:ext uri="{BB962C8B-B14F-4D97-AF65-F5344CB8AC3E}">
        <ns3:creationId val="240914776"/>
      </p:ext>
    </p:extLst>
  </p:cSld>
  <p:clrMapOvr>
    <a:masterClrMapping/>
  </p:clrMapOvr>
</p:sld>
</file>

<file path=ppt/slides/slide20.xml><?xml version="1.0" encoding="utf-8"?>
<p:sld xmlns:a="http://schemas.openxmlformats.org/drawingml/2006/main" xmlns:a16="http://schemas.microsoft.com/office/drawing/2014/main" xmlns:ns3="http://schemas.microsoft.com/office/powerpoint/2010/main" xmlns:p="http://schemas.openxmlformats.org/presentationml/2006/main">
  <p:cSld>
    <p:bg>
      <p:bgPr>
        <a:solidFill>
          <a:srgbClr val="7030A0"/>
        </a:solidFill>
        <a:effectLst/>
      </p:bgPr>
    </p:bg>
    <p:spTree>
      <p:nvGrpSpPr>
        <p:cNvPr id="1" name="">
          <a:extLst>
            <a:ext uri="{FF2B5EF4-FFF2-40B4-BE49-F238E27FC236}">
              <a16:creationId id="{DEAA16AD-5255-730C-ED48-50C0A0607053}"/>
            </a:ext>
          </a:extLst>
        </p:cNvPr>
        <p:cNvGrpSpPr/>
        <p:nvPr/>
      </p:nvGrpSpPr>
      <p:grpSpPr>
        <a:xfrm>
          <a:off x="0" y="0"/>
          <a:ext cx="0" cy="0"/>
          <a:chOff x="0" y="0"/>
          <a:chExt cx="0" cy="0"/>
        </a:xfrm>
      </p:grpSpPr>
      <p:sp>
        <p:nvSpPr>
          <p:cNvPr id="2" name="Title 1">
            <a:extLst>
              <a:ext uri="{FF2B5EF4-FFF2-40B4-BE49-F238E27FC236}">
                <a16:creationId id="{7369F6C0-6861-371B-1E5F-E2E09EC6ECAB}"/>
              </a:ext>
            </a:extLst>
          </p:cNvPr>
          <p:cNvSpPr>
            <a:spLocks noGrp="1"/>
          </p:cNvSpPr>
          <p:nvPr>
            <p:ph type="title"/>
          </p:nvPr>
        </p:nvSpPr>
        <p:spPr>
          <a:xfrm>
            <a:off x="299257" y="1"/>
            <a:ext cx="11784587" cy="914400"/>
          </a:xfrm>
        </p:spPr>
        <p:txBody>
          <a:bodyPr>
            <a:normAutofit/>
          </a:bodyPr>
          <a:lstStyle/>
          <a:p>
            <a:r>
              <a:rPr lang="en-US"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Brainstorming on Noether Core Oblation</a:t>
            </a:r>
          </a:p>
        </p:txBody>
      </p:sp>
      <p:sp>
        <p:nvSpPr>
          <p:cNvPr id="3" name="Content Placeholder 2">
            <a:extLst>
              <a:ext uri="{FF2B5EF4-FFF2-40B4-BE49-F238E27FC236}">
                <a16:creationId id="{A553AB31-B546-3F5A-630A-C56877A839C1}"/>
              </a:ext>
            </a:extLst>
          </p:cNvPr>
          <p:cNvSpPr>
            <a:spLocks noGrp="1"/>
          </p:cNvSpPr>
          <p:nvPr>
            <p:ph idx="1"/>
          </p:nvPr>
        </p:nvSpPr>
        <p:spPr>
          <a:xfrm>
            <a:off x="299258" y="914401"/>
            <a:ext cx="11587942" cy="5311832"/>
          </a:xfrm>
        </p:spPr>
        <p:txBody>
          <a:bodyPr>
            <a:noAutofit/>
          </a:bodyPr>
          <a:lstStyle/>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 bare Noether core is presumably orthogonal on the cartesian planes, with orbital axis coinciding with x, y, z axes</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Electron similar but perhaps more chaotic? All personality electrinos acting upon each other.</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An orthogonal core would orient to pi/4 in each orbital plan in the vector direction of the group velocity.</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In other words, work performed on the Noether core would cause it’s angular momentum vectors to face forward</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As velocity increases an orthogonal core will become more oblate, and they will continue to converge symmetrically.</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An asymmetric personality layer will distort the orbital planes (or more broadly path equations) at group velocity = 0.</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 moving quark starts distorted and becomes more oblate with speed. Even the ideal scenario is complicated analytically.</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They all end up with a planar Noether core at v = @.</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Personality charges decay along the way.</a:t>
            </a:r>
          </a:p>
        </p:txBody>
      </p:sp>
      <p:sp>
        <p:nvSpPr>
          <p:cNvPr id="4" name="Footer Placeholder 3"/>
          <p:cNvSpPr txBox="1">
            <a:spLocks/>
          </p:cNvSpPr>
          <p:nvPr/>
        </p:nvSpPr>
        <p:spPr>
          <a:xfrm>
            <a:off x="10942204" y="6481737"/>
            <a:ext cx="1217443"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architrino.com</a:t>
            </a:r>
          </a:p>
        </p:txBody>
      </p:sp>
    </p:spTree>
    <p:extLst>
      <p:ext uri="{BB962C8B-B14F-4D97-AF65-F5344CB8AC3E}">
        <ns3:creationId val="3079415218"/>
      </p:ext>
    </p:extLst>
  </p:cSld>
  <p:clrMapOvr>
    <a:masterClrMapping/>
  </p:clrMapOvr>
</p:sld>
</file>

<file path=ppt/slides/slide21.xml><?xml version="1.0" encoding="utf-8"?>
<p:sld xmlns:a="http://schemas.openxmlformats.org/drawingml/2006/main" xmlns:a16="http://schemas.microsoft.com/office/drawing/2014/main" xmlns:ns3="http://schemas.microsoft.com/office/powerpoint/2010/main" xmlns:p="http://schemas.openxmlformats.org/presentationml/2006/main">
  <p:cSld>
    <p:bg>
      <p:bgPr>
        <a:solidFill>
          <a:srgbClr val="7030A0"/>
        </a:solidFill>
        <a:effectLst/>
      </p:bgPr>
    </p:bg>
    <p:spTree>
      <p:nvGrpSpPr>
        <p:cNvPr id="1" name="">
          <a:extLst>
            <a:ext uri="{FF2B5EF4-FFF2-40B4-BE49-F238E27FC236}">
              <a16:creationId id="{A19887CE-A9D7-EC21-97DA-CA2B35C1F6D3}"/>
            </a:ext>
          </a:extLst>
        </p:cNvPr>
        <p:cNvGrpSpPr/>
        <p:nvPr/>
      </p:nvGrpSpPr>
      <p:grpSpPr>
        <a:xfrm>
          <a:off x="0" y="0"/>
          <a:ext cx="0" cy="0"/>
          <a:chOff x="0" y="0"/>
          <a:chExt cx="0" cy="0"/>
        </a:xfrm>
      </p:grpSpPr>
      <p:sp>
        <p:nvSpPr>
          <p:cNvPr id="2" name="Title 1">
            <a:extLst>
              <a:ext uri="{FF2B5EF4-FFF2-40B4-BE49-F238E27FC236}">
                <a16:creationId id="{1B848C44-ACC7-309F-3DE5-145AACE17A4F}"/>
              </a:ext>
            </a:extLst>
          </p:cNvPr>
          <p:cNvSpPr>
            <a:spLocks noGrp="1"/>
          </p:cNvSpPr>
          <p:nvPr>
            <p:ph type="title"/>
          </p:nvPr>
        </p:nvSpPr>
        <p:spPr>
          <a:xfrm>
            <a:off x="0" y="1"/>
            <a:ext cx="12191999" cy="914400"/>
          </a:xfrm>
        </p:spPr>
        <p:txBody>
          <a:bodyPr>
            <a:normAutofit/>
          </a:bodyPr>
          <a:lstStyle/>
          <a:p>
            <a:pPr algn="ctr"/>
            <a:r>
              <a:rPr lang="en-US"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Some Fresh Thoughts on NC Operation</a:t>
            </a:r>
          </a:p>
        </p:txBody>
      </p:sp>
      <p:sp>
        <p:nvSpPr>
          <p:cNvPr id="3" name="Content Placeholder 2">
            <a:extLst>
              <a:ext uri="{FF2B5EF4-FFF2-40B4-BE49-F238E27FC236}">
                <a16:creationId id="{6C33FF57-F216-EDDC-F28F-09F51C7D57F3}"/>
              </a:ext>
            </a:extLst>
          </p:cNvPr>
          <p:cNvSpPr>
            <a:spLocks noGrp="1"/>
          </p:cNvSpPr>
          <p:nvPr>
            <p:ph idx="1"/>
          </p:nvPr>
        </p:nvSpPr>
        <p:spPr>
          <a:xfrm>
            <a:off x="302028" y="1207567"/>
            <a:ext cx="11587942" cy="5311832"/>
          </a:xfrm>
        </p:spPr>
        <p:txBody>
          <a:bodyPr>
            <a:noAutofit/>
          </a:bodyPr>
          <a:lstStyle/>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Presuming self-powering spiral of the unperturbed binary. ( a sort of new thought dec 2024?)</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that suggests that Gen III devolves to the maximal curvature binary. (also group v = max?)</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there is a duality to maximally dense regions of black hole cores </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it consumes all of its PE and converts it to KE.</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its orbital velocity = pi @ / 2 on both zonal and meridional rotation axes</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And if the Gen II binary has v = @ how is that related? Why would it form that way?</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Then the Gen III binary has it’s arbitrary frequency and that’s it.</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There would be no balance on either side of Gen II, or frequency relationships?</a:t>
            </a:r>
          </a:p>
          <a:p>
            <a:pPr lvl="1">
              <a:lnSpc>
                <a:spcPct val="80000"/>
              </a:lnSpc>
            </a:pPr>
            <a:endPar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It is simpler, but would it work?  </a:t>
            </a:r>
          </a:p>
          <a:p>
            <a:pPr>
              <a:lnSpc>
                <a:spcPct val="80000"/>
              </a:lnSpc>
            </a:pPr>
            <a:endPar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pPr lvl="1">
              <a:lnSpc>
                <a:spcPct val="80000"/>
              </a:lnSpc>
            </a:pPr>
            <a:endPar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 name="Footer Placeholder 3"/>
          <p:cNvSpPr txBox="1">
            <a:spLocks/>
          </p:cNvSpPr>
          <p:nvPr/>
        </p:nvSpPr>
        <p:spPr>
          <a:xfrm>
            <a:off x="10942204" y="6481737"/>
            <a:ext cx="1217443"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architrino.com</a:t>
            </a:r>
          </a:p>
        </p:txBody>
      </p:sp>
    </p:spTree>
    <p:extLst>
      <p:ext uri="{BB962C8B-B14F-4D97-AF65-F5344CB8AC3E}">
        <ns3:creationId val="2432598909"/>
      </p:ext>
    </p:extLst>
  </p:cSld>
  <p:clrMapOvr>
    <a:masterClrMapping/>
  </p:clrMapOvr>
</p:sld>
</file>

<file path=ppt/slides/slide22.xml><?xml version="1.0" encoding="utf-8"?>
<p:sld xmlns:a="http://schemas.openxmlformats.org/drawingml/2006/main" xmlns:a16="http://schemas.microsoft.com/office/drawing/2014/main" xmlns:ns3="http://schemas.microsoft.com/office/powerpoint/2010/main" xmlns:p="http://schemas.openxmlformats.org/presentationml/2006/main">
  <p:cSld>
    <p:bg>
      <p:bgPr>
        <a:solidFill>
          <a:srgbClr val="7030A0"/>
        </a:solidFill>
        <a:effectLst/>
      </p:bgPr>
    </p:bg>
    <p:spTree>
      <p:nvGrpSpPr>
        <p:cNvPr id="1" name="">
          <a:extLst>
            <a:ext uri="{FF2B5EF4-FFF2-40B4-BE49-F238E27FC236}">
              <a16:creationId id="{0E550581-AF1D-F18F-4EF1-D2E001496C55}"/>
            </a:ext>
          </a:extLst>
        </p:cNvPr>
        <p:cNvGrpSpPr/>
        <p:nvPr/>
      </p:nvGrpSpPr>
      <p:grpSpPr>
        <a:xfrm>
          <a:off x="0" y="0"/>
          <a:ext cx="0" cy="0"/>
          <a:chOff x="0" y="0"/>
          <a:chExt cx="0" cy="0"/>
        </a:xfrm>
      </p:grpSpPr>
      <p:sp>
        <p:nvSpPr>
          <p:cNvPr id="2" name="Title 1">
            <a:extLst>
              <a:ext uri="{FF2B5EF4-FFF2-40B4-BE49-F238E27FC236}">
                <a16:creationId id="{A9D4970C-A651-A67E-FEE0-9258DBF2E1BB}"/>
              </a:ext>
            </a:extLst>
          </p:cNvPr>
          <p:cNvSpPr>
            <a:spLocks noGrp="1"/>
          </p:cNvSpPr>
          <p:nvPr>
            <p:ph type="title"/>
          </p:nvPr>
        </p:nvSpPr>
        <p:spPr>
          <a:xfrm>
            <a:off x="299257" y="1"/>
            <a:ext cx="11784587" cy="914400"/>
          </a:xfrm>
        </p:spPr>
        <p:txBody>
          <a:bodyPr>
            <a:normAutofit/>
          </a:bodyPr>
          <a:lstStyle/>
          <a:p>
            <a:r>
              <a:rPr lang="en-US"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Noether Core Symmetry Balancing</a:t>
            </a:r>
          </a:p>
        </p:txBody>
      </p:sp>
      <p:sp>
        <p:nvSpPr>
          <p:cNvPr id="3" name="Content Placeholder 2">
            <a:extLst>
              <a:ext uri="{FF2B5EF4-FFF2-40B4-BE49-F238E27FC236}">
                <a16:creationId id="{FCB2950D-2236-7491-2419-D21A39E71BB1}"/>
              </a:ext>
            </a:extLst>
          </p:cNvPr>
          <p:cNvSpPr>
            <a:spLocks noGrp="1"/>
          </p:cNvSpPr>
          <p:nvPr>
            <p:ph idx="1"/>
          </p:nvPr>
        </p:nvSpPr>
        <p:spPr>
          <a:xfrm>
            <a:off x="299258" y="914401"/>
            <a:ext cx="11587942" cy="5382227"/>
          </a:xfrm>
        </p:spPr>
        <p:txBody>
          <a:bodyPr>
            <a:noAutofit/>
          </a:bodyPr>
          <a:lstStyle/>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In an R4 continuous model, with forward moving time, and architrinos. </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All the equations are smooth and continuously differentiable, so should be their superposition.</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Local maxima superpositions of potential are like binary saddle points or even local hilltops with the same slope in any direction, or more exotic shapes in superposition.</a:t>
            </a:r>
            <a:endParaRPr lang="en-US" sz="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Emergence (from natural laws) led to symmetry balancing point in every binary.</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Emergence led to the Noether core assembly which may balance its mid binary at field speed. </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Why are Noether core assemblies the dominant survivors?  </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High energy, shielding, mid-binary?</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|v| = @ binary creates a powerful rotor of causal wakes with travel between -1 and +1</a:t>
            </a:r>
            <a:r>
              <a:rPr lang="en-US" sz="16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a:t>
            </a:r>
          </a:p>
          <a:p>
            <a:pPr lvl="1">
              <a:lnSpc>
                <a:spcPct val="80000"/>
              </a:lnSpc>
            </a:pPr>
            <a:r>
              <a:rPr lang="en-US" sz="16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Is </a:t>
            </a: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architrino universe deterministic? </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We don't know the initial state. That shouldn't matter. </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Determinism vs. non-determinism is related to the free will question.</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Does the time delay nature from architrino emission to action cause non-determinism? </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What reactions could tip either way at the symmetry breaking point? </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two regions of geometry are asymmetrical. </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Is there less energy per step for |v| &gt; @ due to the self action?</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How do tipping point situations resolve?</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Is there variation in energy transfer accounting. Does this always leave some noise in the system?</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It seems to come down to why the outcome of any reaction would not be predetermined. </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If given the same starting conditions, why would two universes evolve differently?</a:t>
            </a:r>
          </a:p>
        </p:txBody>
      </p:sp>
      <p:sp>
        <p:nvSpPr>
          <p:cNvPr id="4" name="Footer Placeholder 3"/>
          <p:cNvSpPr txBox="1">
            <a:spLocks/>
          </p:cNvSpPr>
          <p:nvPr/>
        </p:nvSpPr>
        <p:spPr>
          <a:xfrm>
            <a:off x="10942204" y="6481737"/>
            <a:ext cx="1217443"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architrino.com</a:t>
            </a:r>
          </a:p>
        </p:txBody>
      </p:sp>
    </p:spTree>
    <p:extLst>
      <p:ext uri="{BB962C8B-B14F-4D97-AF65-F5344CB8AC3E}">
        <ns3:creationId val="2063794036"/>
      </p:ext>
    </p:extLst>
  </p:cSld>
  <p:clrMapOvr>
    <a:masterClrMapping/>
  </p:clrMapOvr>
</p:sld>
</file>

<file path=ppt/slides/slide23.xml><?xml version="1.0" encoding="utf-8"?>
<p:sld xmlns:a="http://schemas.openxmlformats.org/drawingml/2006/main" xmlns:a16="http://schemas.microsoft.com/office/drawing/2014/main" xmlns:ns4="http://schemas.microsoft.com/office/powerpoint/2010/main" xmlns:p="http://schemas.openxmlformats.org/presentationml/2006/main" xmlns:r="http://schemas.openxmlformats.org/officeDocument/2006/relationships">
  <p:cSld>
    <p:bg>
      <p:bgPr>
        <a:solidFill>
          <a:srgbClr val="7030A0"/>
        </a:solidFill>
        <a:effectLst/>
      </p:bgPr>
    </p:bg>
    <p:spTree>
      <p:nvGrpSpPr>
        <p:cNvPr id="1" name="">
          <a:extLst>
            <a:ext uri="{FF2B5EF4-FFF2-40B4-BE49-F238E27FC236}">
              <a16:creationId id="{DEFE8304-99FB-720D-36C6-0BA6CE796CF0}"/>
            </a:ext>
          </a:extLst>
        </p:cNvPr>
        <p:cNvGrpSpPr/>
        <p:nvPr/>
      </p:nvGrpSpPr>
      <p:grpSpPr>
        <a:xfrm>
          <a:off x="0" y="0"/>
          <a:ext cx="0" cy="0"/>
          <a:chOff x="0" y="0"/>
          <a:chExt cx="0" cy="0"/>
        </a:xfrm>
      </p:grpSpPr>
      <p:sp>
        <p:nvSpPr>
          <p:cNvPr id="2" name="Title 1">
            <a:extLst>
              <a:ext uri="{FF2B5EF4-FFF2-40B4-BE49-F238E27FC236}">
                <a16:creationId id="{284665D8-DB54-B8FB-6322-6F256281A7E9}"/>
              </a:ext>
            </a:extLst>
          </p:cNvPr>
          <p:cNvSpPr>
            <a:spLocks noGrp="1"/>
          </p:cNvSpPr>
          <p:nvPr>
            <p:ph type="title"/>
          </p:nvPr>
        </p:nvSpPr>
        <p:spPr>
          <a:xfrm>
            <a:off x="299257" y="1"/>
            <a:ext cx="11784587" cy="914400"/>
          </a:xfrm>
        </p:spPr>
        <p:txBody>
          <a:bodyPr>
            <a:normAutofit/>
          </a:bodyPr>
          <a:lstStyle/>
          <a:p>
            <a:r>
              <a:rPr lang="en-US"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Neutrino Oscillation</a:t>
            </a:r>
          </a:p>
        </p:txBody>
      </p:sp>
      <p:sp>
        <p:nvSpPr>
          <p:cNvPr id="3" name="Content Placeholder 2">
            <a:extLst>
              <a:ext uri="{FF2B5EF4-FFF2-40B4-BE49-F238E27FC236}">
                <a16:creationId id="{F008E055-59D9-08DF-F5E3-22B62398CD40}"/>
              </a:ext>
            </a:extLst>
          </p:cNvPr>
          <p:cNvSpPr>
            <a:spLocks noGrp="1"/>
          </p:cNvSpPr>
          <p:nvPr>
            <p:ph idx="1"/>
          </p:nvPr>
        </p:nvSpPr>
        <p:spPr>
          <a:xfrm>
            <a:off x="299258" y="914401"/>
            <a:ext cx="11587942" cy="5311832"/>
          </a:xfrm>
        </p:spPr>
        <p:txBody>
          <a:bodyPr>
            <a:noAutofit/>
          </a:bodyPr>
          <a:lstStyle/>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Not sure if neutrino musings go here </a:t>
            </a:r>
          </a:p>
        </p:txBody>
      </p:sp>
      <p:pic>
        <p:nvPicPr>
          <p:cNvPr id="4" name="Picture 3">
            <a:extLst>
              <a:ext uri="{FF2B5EF4-FFF2-40B4-BE49-F238E27FC236}">
                <a16:creationId id="{4C85D3BE-D2FC-24A4-4391-A1DBB398B723}"/>
              </a:ext>
            </a:extLst>
          </p:cNvPr>
          <p:cNvPicPr>
            <a:picLocks noChangeAspect="1"/>
          </p:cNvPicPr>
          <p:nvPr/>
        </p:nvPicPr>
        <p:blipFill>
          <a:blip r:embed="rId2"/>
          <a:stretch>
            <a:fillRect/>
          </a:stretch>
        </p:blipFill>
        <p:spPr>
          <a:xfrm>
            <a:off x="2209800" y="2199861"/>
            <a:ext cx="7772400" cy="2458278"/>
          </a:xfrm>
          <a:prstGeom prst="rect">
            <a:avLst/>
          </a:prstGeom>
        </p:spPr>
      </p:pic>
      <p:sp>
        <p:nvSpPr>
          <p:cNvPr id="5" name="Footer Placeholder 3"/>
          <p:cNvSpPr txBox="1">
            <a:spLocks/>
          </p:cNvSpPr>
          <p:nvPr/>
        </p:nvSpPr>
        <p:spPr>
          <a:xfrm>
            <a:off x="10942204" y="6481737"/>
            <a:ext cx="1217443"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architrino.com</a:t>
            </a:r>
          </a:p>
        </p:txBody>
      </p:sp>
    </p:spTree>
    <p:extLst>
      <p:ext uri="{BB962C8B-B14F-4D97-AF65-F5344CB8AC3E}">
        <ns4:creationId val="3039050706"/>
      </p:ext>
    </p:extLst>
  </p:cSld>
  <p:clrMapOvr>
    <a:masterClrMapping/>
  </p:clrMapOvr>
</p:sld>
</file>

<file path=ppt/slides/slide24.xml><?xml version="1.0" encoding="utf-8"?>
<p:sld xmlns:a="http://schemas.openxmlformats.org/drawingml/2006/main" xmlns:a16="http://schemas.microsoft.com/office/drawing/2014/main" xmlns:ns3="http://schemas.microsoft.com/office/powerpoint/2010/main"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id="{1D77ACA5-3691-8FEB-0266-8D47BBCCF4C6}"/>
              </a:ext>
            </a:extLst>
          </p:cNvPr>
          <p:cNvSpPr txBox="1"/>
          <p:nvPr/>
        </p:nvSpPr>
        <p:spPr>
          <a:xfrm>
            <a:off x="0" y="186247"/>
            <a:ext cx="12191999" cy="156966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FFC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The Four “Forces”</a:t>
            </a:r>
          </a:p>
        </p:txBody>
      </p:sp>
      <p:sp>
        <p:nvSpPr>
          <p:cNvPr id="3" name="Footer Placeholder 3"/>
          <p:cNvSpPr txBox="1">
            <a:spLocks/>
          </p:cNvSpPr>
          <p:nvPr/>
        </p:nvSpPr>
        <p:spPr>
          <a:xfrm>
            <a:off x="10942204" y="6481737"/>
            <a:ext cx="1217443"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architrino.com</a:t>
            </a:r>
          </a:p>
        </p:txBody>
      </p:sp>
    </p:spTree>
    <p:extLst>
      <p:ext uri="{BB962C8B-B14F-4D97-AF65-F5344CB8AC3E}">
        <ns3:creationId val="1147790527"/>
      </p:ext>
    </p:extLst>
  </p:cSld>
  <p:clrMapOvr>
    <a:masterClrMapping/>
  </p:clrMapOvr>
</p:sld>
</file>

<file path=ppt/slides/slide25.xml><?xml version="1.0" encoding="utf-8"?>
<p:sld xmlns:a="http://schemas.openxmlformats.org/drawingml/2006/main" xmlns:a16="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id="{C21D1148-3071-9B4A-8F3F-362963B39E0C}"/>
              </a:ext>
            </a:extLst>
          </p:cNvPr>
          <p:cNvSpPr>
            <a:spLocks noGrp="1"/>
          </p:cNvSpPr>
          <p:nvPr>
            <p:ph type="title"/>
          </p:nvPr>
        </p:nvSpPr>
        <p:spPr>
          <a:xfrm>
            <a:off x="838200" y="5129106"/>
            <a:ext cx="10515600" cy="777875"/>
          </a:xfrm>
        </p:spPr>
        <p:txBody>
          <a:bodyPr/>
          <a:lstStyle/>
          <a:p>
            <a:pPr algn="ctr"/>
            <a:r>
              <a:rPr lang="en-US" dirty="0">
                <a:solidFill>
                  <a:schemeClr val="tx1">
                    <a:lumMod val="50000"/>
                    <a:lumOff val="50000"/>
                  </a:schemeClr>
                </a:solidFill>
              </a:rPr>
              <a:t>The Four Forces of Nature</a:t>
            </a:r>
          </a:p>
        </p:txBody>
      </p:sp>
      <p:sp>
        <p:nvSpPr>
          <p:cNvPr id="3" name="Footer Placeholder 2">
            <a:extLst>
              <a:ext uri="{FF2B5EF4-FFF2-40B4-BE49-F238E27FC236}">
                <a16:creationId id="{2713EB4E-07B3-144F-B19D-8158D9CDB565}"/>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 - Model of Nature - March 2020</a:t>
            </a:r>
          </a:p>
        </p:txBody>
      </p:sp>
      <p:grpSp>
        <p:nvGrpSpPr>
          <p:cNvPr id="8" name="Group 7">
            <a:extLst>
              <a:ext uri="{FF2B5EF4-FFF2-40B4-BE49-F238E27FC236}">
                <a16:creationId id="{AD143478-6D07-F54B-A7F4-688B66CB50DB}"/>
              </a:ext>
            </a:extLst>
          </p:cNvPr>
          <p:cNvGrpSpPr/>
          <p:nvPr/>
        </p:nvGrpSpPr>
        <p:grpSpPr>
          <a:xfrm>
            <a:off x="2740846" y="1339956"/>
            <a:ext cx="2866490" cy="3006832"/>
            <a:chOff x="2188396" y="1955586"/>
            <a:chExt cx="2866490" cy="3006832"/>
          </a:xfrm>
        </p:grpSpPr>
        <p:sp>
          <p:nvSpPr>
            <p:cNvPr id="4" name="Oval 3">
              <a:extLst>
                <a:ext uri="{FF2B5EF4-FFF2-40B4-BE49-F238E27FC236}">
                  <a16:creationId id="{0640D646-41FF-A24F-AAE6-62E5D86B4887}"/>
                </a:ext>
              </a:extLst>
            </p:cNvPr>
            <p:cNvSpPr/>
            <p:nvPr/>
          </p:nvSpPr>
          <p:spPr>
            <a:xfrm>
              <a:off x="2188396" y="2095928"/>
              <a:ext cx="2866490" cy="2866490"/>
            </a:xfrm>
            <a:prstGeom prst="ellipse">
              <a:avLst/>
            </a:prstGeom>
            <a:ln w="38100">
              <a:solidFill>
                <a:srgbClr val="0070C0"/>
              </a:solidFill>
            </a:ln>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 name="Oval 4">
              <a:extLst>
                <a:ext uri="{FF2B5EF4-FFF2-40B4-BE49-F238E27FC236}">
                  <a16:creationId id="{B934B02A-2CB3-DF42-B8C1-A0E9E28D660D}"/>
                </a:ext>
              </a:extLst>
            </p:cNvPr>
            <p:cNvSpPr/>
            <p:nvPr/>
          </p:nvSpPr>
          <p:spPr>
            <a:xfrm>
              <a:off x="3040295" y="2947827"/>
              <a:ext cx="1162692" cy="1162692"/>
            </a:xfrm>
            <a:prstGeom prst="ellipse">
              <a:avLst/>
            </a:prstGeom>
            <a:ln w="38100">
              <a:solidFill>
                <a:srgbClr val="C00000"/>
              </a:solidFill>
            </a:ln>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6" name="Rectangle 5">
              <a:extLst>
                <a:ext uri="{FF2B5EF4-FFF2-40B4-BE49-F238E27FC236}">
                  <a16:creationId id="{017FD982-D71F-A249-A795-5E981ACA5003}"/>
                </a:ext>
              </a:extLst>
            </p:cNvPr>
            <p:cNvSpPr/>
            <p:nvPr/>
          </p:nvSpPr>
          <p:spPr>
            <a:xfrm>
              <a:off x="2707313" y="1955586"/>
              <a:ext cx="1828651" cy="1162692"/>
            </a:xfrm>
            <a:prstGeom prst="rect">
              <a:avLst/>
            </a:prstGeom>
            <a:noFill/>
          </p:spPr>
          <p:txBody>
            <a:bodyPr wrap="none" lIns="91440" tIns="45720" rIns="91440" bIns="45720">
              <a:prstTxWarp prst="textArchUp">
                <a:avLst>
                  <a:gd name="adj" fmla="val 13217802"/>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w="0"/>
                  <a:solidFill>
                    <a:srgbClr val="0070C0"/>
                  </a:solidFill>
                  <a:effectLst>
                    <a:outerShdw blurRad="38100" dist="25400" dir="5400000" algn="ctr" rotWithShape="0">
                      <a:srgbClr val="6E747A">
                        <a:alpha val="43000"/>
                      </a:srgbClr>
                    </a:outerShdw>
                  </a:effectLst>
                  <a:uLnTx/>
                  <a:uFillTx/>
                  <a:latin typeface="Helvetica Neue" panose="02000503000000020004" pitchFamily="2" charset="0"/>
                  <a:ea typeface="Helvetica Neue" panose="02000503000000020004" pitchFamily="2" charset="0"/>
                  <a:cs typeface="Helvetica Neue" panose="02000503000000020004" pitchFamily="2" charset="0"/>
                </a:rPr>
                <a:t>PERSONALITY</a:t>
              </a:r>
            </a:p>
          </p:txBody>
        </p:sp>
        <p:sp>
          <p:nvSpPr>
            <p:cNvPr id="7" name="Rectangle 6">
              <a:extLst>
                <a:ext uri="{FF2B5EF4-FFF2-40B4-BE49-F238E27FC236}">
                  <a16:creationId id="{5A12AC04-AF68-E742-8291-9DD669C39EF6}"/>
                </a:ext>
              </a:extLst>
            </p:cNvPr>
            <p:cNvSpPr/>
            <p:nvPr/>
          </p:nvSpPr>
          <p:spPr>
            <a:xfrm>
              <a:off x="2980920" y="2858784"/>
              <a:ext cx="1281435" cy="956459"/>
            </a:xfrm>
            <a:prstGeom prst="rect">
              <a:avLst/>
            </a:prstGeom>
            <a:noFill/>
          </p:spPr>
          <p:txBody>
            <a:bodyPr wrap="none" lIns="91440" tIns="45720" rIns="91440" bIns="45720">
              <a:prstTxWarp prst="textArchUp">
                <a:avLst>
                  <a:gd name="adj" fmla="val 9283728"/>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w="0"/>
                  <a:solidFill>
                    <a:srgbClr val="C00000"/>
                  </a:solidFill>
                  <a:effectLst>
                    <a:outerShdw blurRad="38100" dist="25400" dir="5400000" algn="ctr" rotWithShape="0">
                      <a:srgbClr val="6E747A">
                        <a:alpha val="43000"/>
                      </a:srgbClr>
                    </a:outerShdw>
                  </a:effectLst>
                  <a:uLnTx/>
                  <a:uFillTx/>
                  <a:latin typeface="Helvetica Neue" panose="02000503000000020004" pitchFamily="2" charset="0"/>
                  <a:ea typeface="Helvetica Neue" panose="02000503000000020004" pitchFamily="2" charset="0"/>
                  <a:cs typeface="Helvetica Neue" panose="02000503000000020004" pitchFamily="2" charset="0"/>
                </a:rPr>
                <a:t>NOETHER CORE</a:t>
              </a:r>
            </a:p>
          </p:txBody>
        </p:sp>
      </p:grpSp>
      <p:grpSp>
        <p:nvGrpSpPr>
          <p:cNvPr id="9" name="Group 8">
            <a:extLst>
              <a:ext uri="{FF2B5EF4-FFF2-40B4-BE49-F238E27FC236}">
                <a16:creationId id="{682FECFB-9AE6-7049-98EC-B23D949F6AB3}"/>
              </a:ext>
            </a:extLst>
          </p:cNvPr>
          <p:cNvGrpSpPr/>
          <p:nvPr/>
        </p:nvGrpSpPr>
        <p:grpSpPr>
          <a:xfrm>
            <a:off x="6802158" y="1480298"/>
            <a:ext cx="2866490" cy="2866490"/>
            <a:chOff x="2188396" y="2095928"/>
            <a:chExt cx="2866490" cy="2866490"/>
          </a:xfrm>
        </p:grpSpPr>
        <p:sp>
          <p:nvSpPr>
            <p:cNvPr id="10" name="Oval 9">
              <a:extLst>
                <a:ext uri="{FF2B5EF4-FFF2-40B4-BE49-F238E27FC236}">
                  <a16:creationId id="{75087440-9A1E-A44B-B6C2-BC5AE232BE86}"/>
                </a:ext>
              </a:extLst>
            </p:cNvPr>
            <p:cNvSpPr/>
            <p:nvPr/>
          </p:nvSpPr>
          <p:spPr>
            <a:xfrm>
              <a:off x="2188396" y="2095928"/>
              <a:ext cx="2866490" cy="2866490"/>
            </a:xfrm>
            <a:prstGeom prst="ellipse">
              <a:avLst/>
            </a:prstGeom>
            <a:ln w="38100">
              <a:solidFill>
                <a:srgbClr val="0070C0"/>
              </a:solidFill>
            </a:ln>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1" name="Oval 10">
              <a:extLst>
                <a:ext uri="{FF2B5EF4-FFF2-40B4-BE49-F238E27FC236}">
                  <a16:creationId id="{9B6909E6-9D09-3F43-8543-5352FFB6E61E}"/>
                </a:ext>
              </a:extLst>
            </p:cNvPr>
            <p:cNvSpPr/>
            <p:nvPr/>
          </p:nvSpPr>
          <p:spPr>
            <a:xfrm>
              <a:off x="3040295" y="2947827"/>
              <a:ext cx="1162692" cy="1162692"/>
            </a:xfrm>
            <a:prstGeom prst="ellipse">
              <a:avLst/>
            </a:prstGeom>
            <a:ln w="38100">
              <a:solidFill>
                <a:srgbClr val="C00000"/>
              </a:solidFill>
            </a:ln>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3" name="Rectangle 12">
              <a:extLst>
                <a:ext uri="{FF2B5EF4-FFF2-40B4-BE49-F238E27FC236}">
                  <a16:creationId id="{9BD165CE-8E4F-A745-9C85-21DA5C8F6E60}"/>
                </a:ext>
              </a:extLst>
            </p:cNvPr>
            <p:cNvSpPr/>
            <p:nvPr/>
          </p:nvSpPr>
          <p:spPr>
            <a:xfrm>
              <a:off x="2980920" y="2858784"/>
              <a:ext cx="1281435" cy="956459"/>
            </a:xfrm>
            <a:prstGeom prst="rect">
              <a:avLst/>
            </a:prstGeom>
            <a:noFill/>
          </p:spPr>
          <p:txBody>
            <a:bodyPr wrap="none" lIns="91440" tIns="45720" rIns="91440" bIns="45720">
              <a:prstTxWarp prst="textArchUp">
                <a:avLst>
                  <a:gd name="adj" fmla="val 9283728"/>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w="0"/>
                  <a:solidFill>
                    <a:srgbClr val="C00000"/>
                  </a:solidFill>
                  <a:effectLst>
                    <a:outerShdw blurRad="38100" dist="25400" dir="5400000" algn="ctr" rotWithShape="0">
                      <a:srgbClr val="6E747A">
                        <a:alpha val="43000"/>
                      </a:srgbClr>
                    </a:outerShdw>
                  </a:effectLst>
                  <a:uLnTx/>
                  <a:uFillTx/>
                  <a:latin typeface="Helvetica Neue" panose="02000503000000020004" pitchFamily="2" charset="0"/>
                  <a:ea typeface="Helvetica Neue" panose="02000503000000020004" pitchFamily="2" charset="0"/>
                  <a:cs typeface="Helvetica Neue" panose="02000503000000020004" pitchFamily="2" charset="0"/>
                </a:rPr>
                <a:t>NOETHER CORE</a:t>
              </a:r>
            </a:p>
          </p:txBody>
        </p:sp>
      </p:grpSp>
      <p:cxnSp>
        <p:nvCxnSpPr>
          <p:cNvPr id="15" name="Straight Arrow Connector 14">
            <a:extLst>
              <a:ext uri="{FF2B5EF4-FFF2-40B4-BE49-F238E27FC236}">
                <a16:creationId id="{04725820-59FB-734E-AEFD-D63EC05D8743}"/>
              </a:ext>
            </a:extLst>
          </p:cNvPr>
          <p:cNvCxnSpPr>
            <a:cxnSpLocks/>
            <a:stCxn id="4" idx="3"/>
            <a:endCxn id="5" idx="3"/>
          </p:cNvCxnSpPr>
          <p:nvPr/>
        </p:nvCxnSpPr>
        <p:spPr>
          <a:xfrm flipV="1">
            <a:off x="3160634" y="3324617"/>
            <a:ext cx="602383" cy="602383"/>
          </a:xfrm>
          <a:prstGeom prst="straightConnector1">
            <a:avLst/>
          </a:prstGeom>
          <a:ln w="381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id="{7BE6310E-948C-EB40-8893-0F52FCA7D53F}"/>
              </a:ext>
            </a:extLst>
          </p:cNvPr>
          <p:cNvSpPr txBox="1"/>
          <p:nvPr/>
        </p:nvSpPr>
        <p:spPr>
          <a:xfrm rot="18900000">
            <a:off x="3043215" y="3413991"/>
            <a:ext cx="607859"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7030A0"/>
                </a:solidFill>
                <a:effectLst/>
                <a:uLnTx/>
                <a:uFillTx/>
                <a:latin typeface="Helvetica Neue" panose="02000503000000020004" pitchFamily="2" charset="0"/>
                <a:ea typeface="Helvetica Neue" panose="02000503000000020004" pitchFamily="2" charset="0"/>
                <a:cs typeface="Helvetica Neue" panose="02000503000000020004" pitchFamily="2" charset="0"/>
              </a:rPr>
              <a:t>WEAK</a:t>
            </a:r>
          </a:p>
        </p:txBody>
      </p:sp>
      <p:cxnSp>
        <p:nvCxnSpPr>
          <p:cNvPr id="17" name="Straight Arrow Connector 16">
            <a:extLst>
              <a:ext uri="{FF2B5EF4-FFF2-40B4-BE49-F238E27FC236}">
                <a16:creationId id="{297B8DB3-9F6A-494B-8641-293BBD164D97}"/>
              </a:ext>
            </a:extLst>
          </p:cNvPr>
          <p:cNvCxnSpPr>
            <a:cxnSpLocks/>
          </p:cNvCxnSpPr>
          <p:nvPr/>
        </p:nvCxnSpPr>
        <p:spPr>
          <a:xfrm>
            <a:off x="5564777" y="2507454"/>
            <a:ext cx="1277348" cy="0"/>
          </a:xfrm>
          <a:prstGeom prst="straightConnector1">
            <a:avLst/>
          </a:prstGeom>
          <a:ln w="38100">
            <a:solidFill>
              <a:srgbClr val="00B05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id="{6320E437-BC32-974A-A06C-C24B0A29CF16}"/>
              </a:ext>
            </a:extLst>
          </p:cNvPr>
          <p:cNvSpPr txBox="1"/>
          <p:nvPr/>
        </p:nvSpPr>
        <p:spPr>
          <a:xfrm>
            <a:off x="5750681" y="2079819"/>
            <a:ext cx="944489"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B050"/>
                </a:solidFill>
                <a:effectLst/>
                <a:uLnTx/>
                <a:uFillTx/>
                <a:latin typeface="Helvetica Neue" panose="02000503000000020004" pitchFamily="2" charset="0"/>
                <a:ea typeface="Helvetica Neue" panose="02000503000000020004" pitchFamily="2" charset="0"/>
                <a:cs typeface="Helvetica Neue" panose="02000503000000020004" pitchFamily="2" charset="0"/>
              </a:rPr>
              <a:t>ELECTRO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B050"/>
                </a:solidFill>
                <a:effectLst/>
                <a:uLnTx/>
                <a:uFillTx/>
                <a:latin typeface="Helvetica Neue" panose="02000503000000020004" pitchFamily="2" charset="0"/>
                <a:ea typeface="Helvetica Neue" panose="02000503000000020004" pitchFamily="2" charset="0"/>
                <a:cs typeface="Helvetica Neue" panose="02000503000000020004" pitchFamily="2" charset="0"/>
              </a:rPr>
              <a:t>MAGNETIC</a:t>
            </a:r>
          </a:p>
        </p:txBody>
      </p:sp>
      <p:cxnSp>
        <p:nvCxnSpPr>
          <p:cNvPr id="21" name="Straight Arrow Connector 20">
            <a:extLst>
              <a:ext uri="{FF2B5EF4-FFF2-40B4-BE49-F238E27FC236}">
                <a16:creationId id="{68C26AE1-4773-3749-9F90-E5C02E3FA509}"/>
              </a:ext>
            </a:extLst>
          </p:cNvPr>
          <p:cNvCxnSpPr>
            <a:cxnSpLocks/>
          </p:cNvCxnSpPr>
          <p:nvPr/>
        </p:nvCxnSpPr>
        <p:spPr>
          <a:xfrm>
            <a:off x="4749087" y="3110227"/>
            <a:ext cx="2911320" cy="0"/>
          </a:xfrm>
          <a:prstGeom prst="straightConnector1">
            <a:avLst/>
          </a:prstGeom>
          <a:ln w="38100">
            <a:solidFill>
              <a:srgbClr val="C0000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id="{4A7D7B8F-4FE6-C143-8905-C1376196BF18}"/>
              </a:ext>
            </a:extLst>
          </p:cNvPr>
          <p:cNvSpPr txBox="1"/>
          <p:nvPr/>
        </p:nvSpPr>
        <p:spPr>
          <a:xfrm>
            <a:off x="5811851" y="3154680"/>
            <a:ext cx="785793"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C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STRONG</a:t>
            </a:r>
            <a:br>
              <a:rPr kumimoji="0" lang="en-US" sz="1100" b="1" i="0" u="none" strike="noStrike" kern="1200" cap="none" spc="0" normalizeH="0" baseline="0" noProof="0" dirty="0">
                <a:ln>
                  <a:noFill/>
                </a:ln>
                <a:solidFill>
                  <a:srgbClr val="C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br>
            <a:r>
              <a:rPr kumimoji="0" lang="en-US" sz="1100" b="1" i="0" u="none" strike="noStrike" kern="1200" cap="none" spc="0" normalizeH="0" baseline="0" noProof="0" dirty="0">
                <a:ln>
                  <a:noFill/>
                </a:ln>
                <a:solidFill>
                  <a:srgbClr val="C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gluon</a:t>
            </a:r>
          </a:p>
        </p:txBody>
      </p:sp>
      <p:sp>
        <p:nvSpPr>
          <p:cNvPr id="24" name="Rectangle 23">
            <a:extLst>
              <a:ext uri="{FF2B5EF4-FFF2-40B4-BE49-F238E27FC236}">
                <a16:creationId id="{E658ABB8-5033-C443-A141-507F219FFAD0}"/>
              </a:ext>
            </a:extLst>
          </p:cNvPr>
          <p:cNvSpPr/>
          <p:nvPr/>
        </p:nvSpPr>
        <p:spPr>
          <a:xfrm>
            <a:off x="7321073" y="1339956"/>
            <a:ext cx="1828651" cy="1162692"/>
          </a:xfrm>
          <a:prstGeom prst="rect">
            <a:avLst/>
          </a:prstGeom>
          <a:noFill/>
        </p:spPr>
        <p:txBody>
          <a:bodyPr wrap="none" lIns="91440" tIns="45720" rIns="91440" bIns="45720">
            <a:prstTxWarp prst="textArchUp">
              <a:avLst>
                <a:gd name="adj" fmla="val 13217802"/>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w="0"/>
                <a:solidFill>
                  <a:srgbClr val="0070C0"/>
                </a:solidFill>
                <a:effectLst>
                  <a:outerShdw blurRad="38100" dist="25400" dir="5400000" algn="ctr" rotWithShape="0">
                    <a:srgbClr val="6E747A">
                      <a:alpha val="43000"/>
                    </a:srgbClr>
                  </a:outerShdw>
                </a:effectLst>
                <a:uLnTx/>
                <a:uFillTx/>
                <a:latin typeface="Helvetica Neue" panose="02000503000000020004" pitchFamily="2" charset="0"/>
                <a:ea typeface="Helvetica Neue" panose="02000503000000020004" pitchFamily="2" charset="0"/>
                <a:cs typeface="Helvetica Neue" panose="02000503000000020004" pitchFamily="2" charset="0"/>
              </a:rPr>
              <a:t>PERSONALITY</a:t>
            </a:r>
          </a:p>
        </p:txBody>
      </p:sp>
      <p:sp>
        <p:nvSpPr>
          <p:cNvPr id="12" name="Lightning Bolt 11">
            <a:extLst>
              <a:ext uri="{FF2B5EF4-FFF2-40B4-BE49-F238E27FC236}">
                <a16:creationId id="{2D64B5AD-0C90-CC1C-FCC4-EE7E790D53C7}"/>
              </a:ext>
            </a:extLst>
          </p:cNvPr>
          <p:cNvSpPr/>
          <p:nvPr/>
        </p:nvSpPr>
        <p:spPr>
          <a:xfrm rot="20030957">
            <a:off x="9635675" y="2651499"/>
            <a:ext cx="1458852" cy="370604"/>
          </a:xfrm>
          <a:prstGeom prst="lightningBolt">
            <a:avLst/>
          </a:prstGeom>
          <a:solidFill>
            <a:schemeClr val="accent2"/>
          </a:solid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8" name="TextBox 17">
            <a:extLst>
              <a:ext uri="{FF2B5EF4-FFF2-40B4-BE49-F238E27FC236}">
                <a16:creationId id="{F93868B6-E690-FC38-23C9-C9E665DE4F9B}"/>
              </a:ext>
            </a:extLst>
          </p:cNvPr>
          <p:cNvSpPr txBox="1"/>
          <p:nvPr/>
        </p:nvSpPr>
        <p:spPr>
          <a:xfrm>
            <a:off x="9775636" y="3079390"/>
            <a:ext cx="6097162"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D31"/>
                </a:solidFill>
                <a:effectLst/>
                <a:uLnTx/>
                <a:uFillTx/>
                <a:latin typeface="Helvetica Neue" panose="02000503000000020004" pitchFamily="2" charset="0"/>
                <a:ea typeface="Helvetica Neue" panose="02000503000000020004" pitchFamily="2" charset="0"/>
                <a:cs typeface="Helvetica Neue" panose="02000503000000020004" pitchFamily="2" charset="0"/>
              </a:rPr>
              <a:t>GRAVITY is caused by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D31"/>
                </a:solidFill>
                <a:effectLst/>
                <a:uLnTx/>
                <a:uFillTx/>
                <a:latin typeface="Helvetica Neue" panose="02000503000000020004" pitchFamily="2" charset="0"/>
                <a:ea typeface="Helvetica Neue" panose="02000503000000020004" pitchFamily="2" charset="0"/>
                <a:cs typeface="Helvetica Neue" panose="02000503000000020004" pitchFamily="2" charset="0"/>
              </a:rPr>
              <a:t>Emitted potential exciting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D31"/>
                </a:solidFill>
                <a:effectLst/>
                <a:uLnTx/>
                <a:uFillTx/>
                <a:latin typeface="Helvetica Neue" panose="02000503000000020004" pitchFamily="2" charset="0"/>
                <a:ea typeface="Helvetica Neue" panose="02000503000000020004" pitchFamily="2" charset="0"/>
                <a:cs typeface="Helvetica Neue" panose="02000503000000020004" pitchFamily="2" charset="0"/>
              </a:rPr>
              <a:t>Spacetime Noether cores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D31"/>
                </a:solidFill>
                <a:effectLst/>
                <a:uLnTx/>
                <a:uFillTx/>
                <a:latin typeface="Helvetica Neue" panose="02000503000000020004" pitchFamily="2" charset="0"/>
                <a:ea typeface="Helvetica Neue" panose="02000503000000020004" pitchFamily="2" charset="0"/>
                <a:cs typeface="Helvetica Neue" panose="02000503000000020004" pitchFamily="2" charset="0"/>
              </a:rPr>
              <a:t>Which then change shape</a:t>
            </a:r>
            <a:endParaRPr kumimoji="0" lang="en-US" sz="1200" b="0" i="0" u="none" strike="noStrike" kern="1200" cap="none" spc="0" normalizeH="0" baseline="0" noProof="0" dirty="0">
              <a:ln>
                <a:noFill/>
              </a:ln>
              <a:solidFill>
                <a:srgbClr val="ED7D31"/>
              </a:solidFill>
              <a:effectLst/>
              <a:uLnTx/>
              <a:uFillTx/>
              <a:latin typeface="Calibri" panose="020F0502020204030204"/>
              <a:ea typeface="+mn-ea"/>
              <a:cs typeface="+mn-cs"/>
            </a:endParaRPr>
          </a:p>
        </p:txBody>
      </p:sp>
      <p:sp>
        <p:nvSpPr>
          <p:cNvPr id="25" name="Footer Placeholder 3"/>
          <p:cNvSpPr txBox="1">
            <a:spLocks/>
          </p:cNvSpPr>
          <p:nvPr/>
        </p:nvSpPr>
        <p:spPr>
          <a:xfrm>
            <a:off x="10942204" y="6481737"/>
            <a:ext cx="1217443"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architrino.com</a:t>
            </a:r>
          </a:p>
        </p:txBody>
      </p:sp>
    </p:spTree>
    <p:extLst>
      <p:ext uri="{BB962C8B-B14F-4D97-AF65-F5344CB8AC3E}">
        <ns3:creationId val="215706238"/>
      </p:ext>
    </p:extLst>
  </p:cSld>
  <p:clrMapOvr>
    <a:masterClrMapping/>
  </p:clrMapOvr>
</p:sld>
</file>

<file path=ppt/slides/slide26.xml><?xml version="1.0" encoding="utf-8"?>
<p:sld xmlns:a="http://schemas.openxmlformats.org/drawingml/2006/main" xmlns:a16="http://schemas.microsoft.com/office/drawing/2014/main" xmlns:ns3="http://schemas.microsoft.com/office/powerpoint/2010/main"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itle 1">
            <a:extLst>
              <a:ext uri="{FF2B5EF4-FFF2-40B4-BE49-F238E27FC236}">
                <a16:creationId id="{204E5B8A-167D-1947-A18F-1C9CC4445BEA}"/>
              </a:ext>
            </a:extLst>
          </p:cNvPr>
          <p:cNvSpPr>
            <a:spLocks noGrp="1"/>
          </p:cNvSpPr>
          <p:nvPr>
            <p:ph type="title"/>
          </p:nvPr>
        </p:nvSpPr>
        <p:spPr/>
        <p:txBody>
          <a:bodyPr/>
          <a:lstStyle/>
          <a:p>
            <a:pPr algn="ctr"/>
            <a:r>
              <a:rPr lang="en-US" b="1" dirty="0">
                <a:solidFill>
                  <a:schemeClr val="bg1"/>
                </a:solidFill>
              </a:rPr>
              <a:t>The Gravitational Force</a:t>
            </a:r>
          </a:p>
        </p:txBody>
      </p:sp>
      <p:sp>
        <p:nvSpPr>
          <p:cNvPr id="3" name="Content Placeholder 2">
            <a:extLst>
              <a:ext uri="{FF2B5EF4-FFF2-40B4-BE49-F238E27FC236}">
                <a16:creationId id="{9B46ABE7-9DBF-A34F-BAC6-A1B986F41E3A}"/>
              </a:ext>
            </a:extLst>
          </p:cNvPr>
          <p:cNvSpPr>
            <a:spLocks noGrp="1"/>
          </p:cNvSpPr>
          <p:nvPr>
            <p:ph idx="1"/>
          </p:nvPr>
        </p:nvSpPr>
        <p:spPr/>
        <p:txBody>
          <a:bodyPr>
            <a:normAutofit/>
          </a:bodyPr>
          <a:lstStyle/>
          <a:p>
            <a:r>
              <a:rPr lang="en-US" dirty="0">
                <a:solidFill>
                  <a:schemeClr val="bg1"/>
                </a:solidFill>
              </a:rPr>
              <a:t>All particles are continuously and </a:t>
            </a:r>
            <a:r>
              <a:rPr lang="en-US" b="1" dirty="0">
                <a:solidFill>
                  <a:schemeClr val="bg1"/>
                </a:solidFill>
              </a:rPr>
              <a:t>losslessly</a:t>
            </a:r>
            <a:r>
              <a:rPr lang="en-US" dirty="0">
                <a:solidFill>
                  <a:schemeClr val="bg1"/>
                </a:solidFill>
              </a:rPr>
              <a:t> exchanging energy with neighbors. Frequently, the neighbors are low apparent energy spacetime aether particles, i.e., gravitons.</a:t>
            </a:r>
          </a:p>
          <a:p>
            <a:r>
              <a:rPr lang="en-US" dirty="0">
                <a:solidFill>
                  <a:schemeClr val="bg1"/>
                </a:solidFill>
              </a:rPr>
              <a:t>When standard matter exchanges energy with spacetime we call that the mass of standard matter.</a:t>
            </a:r>
          </a:p>
          <a:p>
            <a:pPr lvl="1"/>
            <a:r>
              <a:rPr lang="en-US" dirty="0">
                <a:solidFill>
                  <a:schemeClr val="bg1"/>
                </a:solidFill>
              </a:rPr>
              <a:t>Mass is based on the root mean squared of the interacting potential.</a:t>
            </a:r>
          </a:p>
          <a:p>
            <a:r>
              <a:rPr lang="en-US" dirty="0">
                <a:solidFill>
                  <a:schemeClr val="bg1"/>
                </a:solidFill>
              </a:rPr>
              <a:t>When standard matter provides RMS mass energy to the spacetime aether, it causes the spacetime energy to rise and the constituent Noether cores to deflate.</a:t>
            </a:r>
          </a:p>
        </p:txBody>
      </p:sp>
      <p:sp>
        <p:nvSpPr>
          <p:cNvPr id="4" name="Footer Placeholder 3">
            <a:extLst>
              <a:ext uri="{FF2B5EF4-FFF2-40B4-BE49-F238E27FC236}">
                <a16:creationId id="{2B5F665D-58EE-074F-AAAD-E624095EEFC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 - Model of Nature - May 2019</a:t>
            </a:r>
            <a:endPar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 name="Footer Placeholder 3"/>
          <p:cNvSpPr txBox="1">
            <a:spLocks/>
          </p:cNvSpPr>
          <p:nvPr/>
        </p:nvSpPr>
        <p:spPr>
          <a:xfrm>
            <a:off x="10942204" y="6481737"/>
            <a:ext cx="1217443"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architrino.com</a:t>
            </a:r>
          </a:p>
        </p:txBody>
      </p:sp>
    </p:spTree>
    <p:extLst>
      <p:ext uri="{BB962C8B-B14F-4D97-AF65-F5344CB8AC3E}">
        <ns3:creationId val="1750700428"/>
      </p:ext>
    </p:extLst>
  </p:cSld>
  <p:clrMapOvr>
    <a:masterClrMapping/>
  </p:clrMapOvr>
</p:sld>
</file>

<file path=ppt/slides/slide27.xml><?xml version="1.0" encoding="utf-8"?>
<p:sld xmlns:a="http://schemas.openxmlformats.org/drawingml/2006/main" xmlns:a16="http://schemas.microsoft.com/office/drawing/2014/main" xmlns:ns4="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id="{BBC171C8-6518-9C4C-99FA-279F594C8E67}"/>
              </a:ext>
            </a:extLst>
          </p:cNvPr>
          <p:cNvSpPr>
            <a:spLocks noGrp="1"/>
          </p:cNvSpPr>
          <p:nvPr>
            <p:ph type="title"/>
          </p:nvPr>
        </p:nvSpPr>
        <p:spPr/>
        <p:txBody>
          <a:bodyPr/>
          <a:lstStyle/>
          <a:p>
            <a:r>
              <a:rPr lang="en-US" dirty="0"/>
              <a:t>Unification of the Four Forces</a:t>
            </a:r>
          </a:p>
        </p:txBody>
      </p:sp>
      <p:sp>
        <p:nvSpPr>
          <p:cNvPr id="3" name="Content Placeholder 2">
            <a:extLst>
              <a:ext uri="{FF2B5EF4-FFF2-40B4-BE49-F238E27FC236}">
                <a16:creationId id="{5DBFD086-826D-C347-BC0F-0E293D5D92CB}"/>
              </a:ext>
            </a:extLst>
          </p:cNvPr>
          <p:cNvSpPr>
            <a:spLocks noGrp="1"/>
          </p:cNvSpPr>
          <p:nvPr>
            <p:ph idx="1"/>
          </p:nvPr>
        </p:nvSpPr>
        <p:spPr>
          <a:xfrm>
            <a:off x="838200" y="1295400"/>
            <a:ext cx="6194083" cy="4881563"/>
          </a:xfrm>
        </p:spPr>
        <p:txBody>
          <a:bodyPr>
            <a:normAutofit/>
          </a:bodyPr>
          <a:lstStyle/>
          <a:p>
            <a:r>
              <a:rPr lang="en-US" dirty="0"/>
              <a:t>Photons have a 6/6 composition of electrinos and positrinos. </a:t>
            </a:r>
          </a:p>
          <a:p>
            <a:r>
              <a:rPr lang="en-US" dirty="0"/>
              <a:t>Superfluid is mostly slow photons and neutrinos, around 2.7 Kelvin. </a:t>
            </a:r>
          </a:p>
          <a:p>
            <a:r>
              <a:rPr lang="en-US" dirty="0"/>
              <a:t>The chart shows gravity beginning near 10</a:t>
            </a:r>
            <a:r>
              <a:rPr lang="en-US" baseline="30000" dirty="0"/>
              <a:t>-32 </a:t>
            </a:r>
            <a:r>
              <a:rPr lang="en-US" dirty="0"/>
              <a:t>Kelvin and 10</a:t>
            </a:r>
            <a:r>
              <a:rPr lang="en-US" baseline="30000" dirty="0"/>
              <a:t>-43 </a:t>
            </a:r>
            <a:r>
              <a:rPr lang="en-US" dirty="0"/>
              <a:t>seconds. </a:t>
            </a:r>
          </a:p>
          <a:p>
            <a:r>
              <a:rPr lang="en-US" dirty="0"/>
              <a:t>It seems that the emergence of the spacetime aether is primarily due to </a:t>
            </a:r>
            <a:r>
              <a:rPr lang="en-US" dirty="0" err="1"/>
              <a:t>redshifting</a:t>
            </a:r>
            <a:r>
              <a:rPr lang="en-US" dirty="0"/>
              <a:t> photons and neutrinos.</a:t>
            </a:r>
          </a:p>
        </p:txBody>
      </p:sp>
      <p:sp>
        <p:nvSpPr>
          <p:cNvPr id="4" name="Footer Placeholder 3">
            <a:extLst>
              <a:ext uri="{FF2B5EF4-FFF2-40B4-BE49-F238E27FC236}">
                <a16:creationId id="{57FD0D29-16FB-D945-B13D-2586D22D3368}"/>
              </a:ext>
            </a:extLst>
          </p:cNvPr>
          <p:cNvSpPr>
            <a:spLocks noGrp="1"/>
          </p:cNvSpPr>
          <p:nvPr>
            <p:ph type="ftr" sz="quarter" idx="1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 - Model of Nature - June 2019</a:t>
            </a:r>
          </a:p>
        </p:txBody>
      </p:sp>
      <p:grpSp>
        <p:nvGrpSpPr>
          <p:cNvPr id="7" name="Group 6">
            <a:extLst>
              <a:ext uri="{FF2B5EF4-FFF2-40B4-BE49-F238E27FC236}">
                <a16:creationId id="{10268E70-F9FA-C547-A11C-048607DCC3F0}"/>
              </a:ext>
            </a:extLst>
          </p:cNvPr>
          <p:cNvGrpSpPr/>
          <p:nvPr/>
        </p:nvGrpSpPr>
        <p:grpSpPr>
          <a:xfrm>
            <a:off x="7032284" y="1436637"/>
            <a:ext cx="5159716" cy="3751439"/>
            <a:chOff x="7032284" y="1436637"/>
            <a:chExt cx="5159716" cy="3751439"/>
          </a:xfrm>
        </p:grpSpPr>
        <p:pic>
          <p:nvPicPr>
            <p:cNvPr id="5" name="Picture 4">
              <a:extLst>
                <a:ext uri="{FF2B5EF4-FFF2-40B4-BE49-F238E27FC236}">
                  <a16:creationId id="{1DA8E8D6-34C5-F645-B6AC-11846AFE25AB}"/>
                </a:ext>
              </a:extLst>
            </p:cNvPr>
            <p:cNvPicPr>
              <a:picLocks noChangeAspect="1"/>
            </p:cNvPicPr>
            <p:nvPr/>
          </p:nvPicPr>
          <p:blipFill>
            <a:blip r:embed="rId3"/>
            <a:stretch>
              <a:fillRect/>
            </a:stretch>
          </p:blipFill>
          <p:spPr>
            <a:xfrm>
              <a:off x="7032284" y="1436637"/>
              <a:ext cx="5159716" cy="3744082"/>
            </a:xfrm>
            <a:prstGeom prst="rect">
              <a:avLst/>
            </a:prstGeom>
          </p:spPr>
        </p:pic>
        <p:sp>
          <p:nvSpPr>
            <p:cNvPr id="6" name="TextBox 5">
              <a:extLst>
                <a:ext uri="{FF2B5EF4-FFF2-40B4-BE49-F238E27FC236}">
                  <a16:creationId id="{6CAD5D9E-AE68-3643-BB9E-AF7410EF3FCB}"/>
                </a:ext>
              </a:extLst>
            </p:cNvPr>
            <p:cNvSpPr txBox="1"/>
            <p:nvPr/>
          </p:nvSpPr>
          <p:spPr>
            <a:xfrm>
              <a:off x="10536194" y="4941855"/>
              <a:ext cx="1407758"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prstClr val="black">
                      <a:lumMod val="50000"/>
                      <a:lumOff val="50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Credit: Colby College</a:t>
              </a:r>
            </a:p>
          </p:txBody>
        </p:sp>
      </p:grpSp>
      <p:sp>
        <p:nvSpPr>
          <p:cNvPr id="8" name="Footer Placeholder 3"/>
          <p:cNvSpPr txBox="1">
            <a:spLocks/>
          </p:cNvSpPr>
          <p:nvPr/>
        </p:nvSpPr>
        <p:spPr>
          <a:xfrm>
            <a:off x="10942204" y="6481737"/>
            <a:ext cx="1217443"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architrino.com</a:t>
            </a:r>
          </a:p>
        </p:txBody>
      </p:sp>
    </p:spTree>
    <p:extLst>
      <p:ext uri="{BB962C8B-B14F-4D97-AF65-F5344CB8AC3E}">
        <ns4:creationId val="1777485011"/>
      </p:ext>
    </p:extLst>
  </p:cSld>
  <p:clrMapOvr>
    <a:masterClrMapping/>
  </p:clrMapOvr>
</p:sld>
</file>

<file path=ppt/slides/slide28.xml><?xml version="1.0" encoding="utf-8"?>
<p:sld xmlns:a="http://schemas.openxmlformats.org/drawingml/2006/main" xmlns:a16="http://schemas.microsoft.com/office/drawing/2014/main" xmlns:ns4="http://schemas.microsoft.com/office/drawing/2010/main" xmlns:ns5="http://schemas.microsoft.com/office/powerpoint/2010/main" xmlns:p="http://schemas.openxmlformats.org/presentationml/2006/main" xmlns:r="http://schemas.openxmlformats.org/officeDocument/2006/relationships">
  <p:cSld>
    <p:bg>
      <p:bgPr>
        <a:solidFill>
          <a:srgbClr val="7030A0"/>
        </a:solidFill>
        <a:effectLst/>
      </p:bgPr>
    </p:bg>
    <p:spTree>
      <p:nvGrpSpPr>
        <p:cNvPr id="1" name=""/>
        <p:cNvGrpSpPr/>
        <p:nvPr/>
      </p:nvGrpSpPr>
      <p:grpSpPr>
        <a:xfrm>
          <a:off x="0" y="0"/>
          <a:ext cx="0" cy="0"/>
          <a:chOff x="0" y="0"/>
          <a:chExt cx="0" cy="0"/>
        </a:xfrm>
      </p:grpSpPr>
      <p:pic>
        <p:nvPicPr>
          <p:cNvPr id="2050" name="Picture 2">
            <a:extLst>
              <a:ext uri="{FF2B5EF4-FFF2-40B4-BE49-F238E27FC236}">
                <a16:creationId id="{BDEB983A-A656-8D89-E8EB-FCEBD8881647}"/>
              </a:ext>
            </a:extLst>
          </p:cNvPr>
          <p:cNvPicPr>
            <a:picLocks noChangeAspect="1" noChangeArrowheads="1"/>
          </p:cNvPicPr>
          <p:nvPr/>
        </p:nvPicPr>
        <p:blipFill>
          <a:blip r:embed="rId2">
            <a:extLst>
              <a:ext uri="{28A0092B-C50C-407E-A947-70E740481C1C}">
                <ns4:useLocalDpi val="0"/>
              </a:ext>
            </a:extLst>
          </a:blip>
          <a:srcRect/>
          <a:stretch>
            <a:fillRect/>
          </a:stretch>
        </p:blipFill>
        <p:spPr bwMode="auto">
          <a:xfrm>
            <a:off x="1365250" y="469900"/>
            <a:ext cx="9461500" cy="5918200"/>
          </a:xfrm>
          <a:prstGeom prst="rect">
            <a:avLst/>
          </a:prstGeom>
          <a:noFill/>
          <a:ln w="76200">
            <a:solidFill>
              <a:schemeClr val="bg1"/>
            </a:solidFill>
          </a:ln>
          <a:extLst>
            <a:ext uri="{909E8E84-426E-40DD-AFC4-6F175D3DCCD1}">
              <ns4:hiddenFill>
                <a:solidFill>
                  <a:srgbClr val="FFFFFF"/>
                </a:solidFill>
              </ns4:hiddenFill>
            </a:ext>
          </a:extLst>
        </p:spPr>
      </p:pic>
      <p:sp>
        <p:nvSpPr>
          <p:cNvPr id="3" name="TextBox 2">
            <a:extLst>
              <a:ext uri="{FF2B5EF4-FFF2-40B4-BE49-F238E27FC236}">
                <a16:creationId id="{E52D0E94-A2EB-94DC-09A9-7F44EE70ECB1}"/>
              </a:ext>
            </a:extLst>
          </p:cNvPr>
          <p:cNvSpPr txBox="1"/>
          <p:nvPr/>
        </p:nvSpPr>
        <p:spPr>
          <a:xfrm>
            <a:off x="2129742" y="5061646"/>
            <a:ext cx="1031051"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Quantum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Gravity</a:t>
            </a:r>
          </a:p>
        </p:txBody>
      </p:sp>
      <p:sp>
        <p:nvSpPr>
          <p:cNvPr id="4" name="TextBox 3">
            <a:extLst>
              <a:ext uri="{FF2B5EF4-FFF2-40B4-BE49-F238E27FC236}">
                <a16:creationId id="{363866A5-4442-083F-DDDE-62B8E83FA88A}"/>
              </a:ext>
            </a:extLst>
          </p:cNvPr>
          <p:cNvSpPr txBox="1"/>
          <p:nvPr/>
        </p:nvSpPr>
        <p:spPr>
          <a:xfrm>
            <a:off x="3833150" y="5307867"/>
            <a:ext cx="907621"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Inflation</a:t>
            </a:r>
          </a:p>
        </p:txBody>
      </p:sp>
      <p:sp>
        <p:nvSpPr>
          <p:cNvPr id="5" name="TextBox 4">
            <a:extLst>
              <a:ext uri="{FF2B5EF4-FFF2-40B4-BE49-F238E27FC236}">
                <a16:creationId id="{FDB1D1FB-CA30-4E81-2C7A-1916C0FC2EB2}"/>
              </a:ext>
            </a:extLst>
          </p:cNvPr>
          <p:cNvSpPr txBox="1"/>
          <p:nvPr/>
        </p:nvSpPr>
        <p:spPr>
          <a:xfrm>
            <a:off x="6241445" y="5061646"/>
            <a:ext cx="1356461" cy="5847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70C0"/>
                </a:solidFill>
                <a:effectLst/>
                <a:uLnTx/>
                <a:uFillTx/>
                <a:latin typeface="Helvetica Neue" panose="02000503000000020004" pitchFamily="2" charset="0"/>
                <a:ea typeface="Helvetica Neue" panose="02000503000000020004" pitchFamily="2" charset="0"/>
                <a:cs typeface="Helvetica Neue" panose="02000503000000020004" pitchFamily="2" charset="0"/>
              </a:rPr>
              <a:t>Qu</a:t>
            </a:r>
            <a:r>
              <a:rPr kumimoji="0" lang="en-US" sz="1600" b="0" i="0" u="none" strike="noStrike" kern="1200" cap="none" spc="0" normalizeH="0" baseline="0" noProof="0" dirty="0">
                <a:ln>
                  <a:noFill/>
                </a:ln>
                <a:solidFill>
                  <a:srgbClr val="FF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ark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Confinement</a:t>
            </a:r>
          </a:p>
        </p:txBody>
      </p:sp>
      <p:sp>
        <p:nvSpPr>
          <p:cNvPr id="6" name="TextBox 5">
            <a:extLst>
              <a:ext uri="{FF2B5EF4-FFF2-40B4-BE49-F238E27FC236}">
                <a16:creationId id="{D55B057B-F8DD-47CA-AC9D-9570270CF5FA}"/>
              </a:ext>
            </a:extLst>
          </p:cNvPr>
          <p:cNvSpPr txBox="1"/>
          <p:nvPr/>
        </p:nvSpPr>
        <p:spPr>
          <a:xfrm>
            <a:off x="7531401" y="5061646"/>
            <a:ext cx="1414041" cy="5847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7030A0"/>
                </a:solidFill>
                <a:effectLst/>
                <a:uLnTx/>
                <a:uFillTx/>
                <a:latin typeface="Helvetica Neue" panose="02000503000000020004" pitchFamily="2" charset="0"/>
                <a:ea typeface="Helvetica Neue" panose="02000503000000020004" pitchFamily="2" charset="0"/>
                <a:cs typeface="Helvetica Neue" panose="02000503000000020004" pitchFamily="2" charset="0"/>
              </a:rPr>
              <a:t>Neutrino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7030A0"/>
                </a:solidFill>
                <a:effectLst/>
                <a:uLnTx/>
                <a:uFillTx/>
                <a:latin typeface="Helvetica Neue" panose="02000503000000020004" pitchFamily="2" charset="0"/>
                <a:ea typeface="Helvetica Neue" panose="02000503000000020004" pitchFamily="2" charset="0"/>
                <a:cs typeface="Helvetica Neue" panose="02000503000000020004" pitchFamily="2" charset="0"/>
              </a:rPr>
              <a:t>Transparency</a:t>
            </a:r>
          </a:p>
        </p:txBody>
      </p:sp>
      <p:sp>
        <p:nvSpPr>
          <p:cNvPr id="7" name="TextBox 6">
            <a:extLst>
              <a:ext uri="{FF2B5EF4-FFF2-40B4-BE49-F238E27FC236}">
                <a16:creationId id="{DF521C23-84D3-B8BF-9D33-B5BD1E891D41}"/>
              </a:ext>
            </a:extLst>
          </p:cNvPr>
          <p:cNvSpPr txBox="1"/>
          <p:nvPr/>
        </p:nvSpPr>
        <p:spPr>
          <a:xfrm>
            <a:off x="8843361" y="5061646"/>
            <a:ext cx="1414041" cy="5847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7030A0"/>
                </a:solidFill>
                <a:effectLst/>
                <a:uLnTx/>
                <a:uFillTx/>
                <a:latin typeface="Helvetica Neue" panose="02000503000000020004" pitchFamily="2" charset="0"/>
                <a:ea typeface="Helvetica Neue" panose="02000503000000020004" pitchFamily="2" charset="0"/>
                <a:cs typeface="Helvetica Neue" panose="02000503000000020004" pitchFamily="2" charset="0"/>
              </a:rPr>
              <a:t>Photon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7030A0"/>
                </a:solidFill>
                <a:effectLst/>
                <a:uLnTx/>
                <a:uFillTx/>
                <a:latin typeface="Helvetica Neue" panose="02000503000000020004" pitchFamily="2" charset="0"/>
                <a:ea typeface="Helvetica Neue" panose="02000503000000020004" pitchFamily="2" charset="0"/>
                <a:cs typeface="Helvetica Neue" panose="02000503000000020004" pitchFamily="2" charset="0"/>
              </a:rPr>
              <a:t>Transparency</a:t>
            </a:r>
          </a:p>
        </p:txBody>
      </p:sp>
      <p:sp>
        <p:nvSpPr>
          <p:cNvPr id="2051" name="Footer Placeholder 3"/>
          <p:cNvSpPr txBox="1">
            <a:spLocks/>
          </p:cNvSpPr>
          <p:nvPr/>
        </p:nvSpPr>
        <p:spPr>
          <a:xfrm>
            <a:off x="10942204" y="6481737"/>
            <a:ext cx="1217443"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architrino.com</a:t>
            </a:r>
          </a:p>
        </p:txBody>
      </p:sp>
    </p:spTree>
    <p:extLst>
      <p:ext uri="{BB962C8B-B14F-4D97-AF65-F5344CB8AC3E}">
        <ns5:creationId val="1588823562"/>
      </p:ext>
    </p:extLst>
  </p:cSld>
  <p:clrMapOvr>
    <a:masterClrMapping/>
  </p:clrMapOvr>
</p:sld>
</file>

<file path=ppt/slides/slide29.xml><?xml version="1.0" encoding="utf-8"?>
<p:sld xmlns:a="http://schemas.openxmlformats.org/drawingml/2006/main" xmlns:a16="http://schemas.microsoft.com/office/drawing/2014/main" xmlns:ns3="http://schemas.microsoft.com/office/powerpoint/2010/main"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5" name="Footer Placeholder 3">
            <a:extLst>
              <a:ext uri="{FF2B5EF4-FFF2-40B4-BE49-F238E27FC236}">
                <a16:creationId id="{668F77D6-DFDA-5A46-8DF1-47F6A167C2B1}"/>
              </a:ext>
            </a:extLst>
          </p:cNvPr>
          <p:cNvSpPr txBox="1">
            <a:spLocks/>
          </p:cNvSpPr>
          <p:nvPr/>
        </p:nvSpPr>
        <p:spPr>
          <a:xfrm>
            <a:off x="10924248" y="6388602"/>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a:t>
            </a:r>
          </a:p>
        </p:txBody>
      </p:sp>
      <p:sp>
        <p:nvSpPr>
          <p:cNvPr id="19" name="Rectangle 18">
            <a:extLst>
              <a:ext uri="{FF2B5EF4-FFF2-40B4-BE49-F238E27FC236}">
                <a16:creationId id="{C1D15DA8-274F-5947-B33A-2CC9705A3468}"/>
              </a:ext>
            </a:extLst>
          </p:cNvPr>
          <p:cNvSpPr/>
          <p:nvPr/>
        </p:nvSpPr>
        <p:spPr>
          <a:xfrm>
            <a:off x="1013582" y="241177"/>
            <a:ext cx="10164835" cy="52322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Noether Core Symmetry Breaking Binary and Determinism</a:t>
            </a:r>
          </a:p>
        </p:txBody>
      </p:sp>
      <p:sp>
        <p:nvSpPr>
          <p:cNvPr id="2" name="TextBox 1">
            <a:extLst>
              <a:ext uri="{FF2B5EF4-FFF2-40B4-BE49-F238E27FC236}">
                <a16:creationId id="{7DB03928-EBCC-FBA2-4139-45199C922898}"/>
              </a:ext>
            </a:extLst>
          </p:cNvPr>
          <p:cNvSpPr txBox="1"/>
          <p:nvPr/>
        </p:nvSpPr>
        <p:spPr>
          <a:xfrm>
            <a:off x="191869" y="1028442"/>
            <a:ext cx="11874641" cy="4154984"/>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Hypothesis: The generation II dipole has velocity @, the symmetry breaking point.</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v = @ corresponds to the Planck scale </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2 </a:t>
            </a: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𝜋</a:t>
            </a:r>
            <a:r>
              <a:rPr kumimoji="0" lang="en-US" sz="24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 r </a:t>
            </a:r>
            <a:r>
              <a:rPr kumimoji="0" lang="en-US" sz="2400" b="0" i="0" u="none" strike="noStrike" kern="1200" cap="none" spc="0" normalizeH="0" baseline="0" noProof="0" dirty="0" err="1">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f</a:t>
            </a:r>
            <a:r>
              <a:rPr kumimoji="0" lang="en-US" sz="2400" b="0" i="0" u="none" strike="noStrike" kern="1200" cap="none" spc="0" normalizeH="0" baseline="-25000" noProof="0" dirty="0" err="1">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P</a:t>
            </a:r>
            <a:r>
              <a:rPr kumimoji="0" lang="en-US" sz="24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 = @,  r = @ / (2 </a:t>
            </a: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𝜋</a:t>
            </a:r>
            <a:r>
              <a:rPr kumimoji="0" lang="en-US" sz="24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 </a:t>
            </a:r>
            <a:r>
              <a:rPr kumimoji="0" lang="en-US" sz="2400" b="0" i="0" u="none" strike="noStrike" kern="1200" cap="none" spc="0" normalizeH="0" baseline="0" noProof="0" dirty="0" err="1">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f</a:t>
            </a:r>
            <a:r>
              <a:rPr kumimoji="0" lang="en-US" sz="2400" b="0" i="0" u="none" strike="noStrike" kern="1200" cap="none" spc="0" normalizeH="0" baseline="-25000" noProof="0" dirty="0" err="1">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P</a:t>
            </a:r>
            <a:r>
              <a:rPr kumimoji="0" lang="en-US" sz="24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Planck length </a:t>
            </a:r>
            <a:r>
              <a:rPr kumimoji="0" lang="en-US" sz="2400" b="0" i="0" u="none" strike="noStrike" kern="1200" cap="none" spc="0" normalizeH="0" baseline="0" noProof="0" dirty="0" err="1">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l</a:t>
            </a:r>
            <a:r>
              <a:rPr kumimoji="0" lang="en-US" sz="2400" b="0" i="0" u="none" strike="noStrike" kern="1200" cap="none" spc="0" normalizeH="0" baseline="-25000" noProof="0" dirty="0" err="1">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P</a:t>
            </a:r>
            <a:r>
              <a:rPr kumimoji="0" lang="en-US" sz="24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 = sqrt (h-bar G/ c</a:t>
            </a:r>
            <a:r>
              <a:rPr kumimoji="0" lang="en-US" sz="2400" b="0" i="0" u="none" strike="noStrike" kern="1200" cap="none" spc="0" normalizeH="0" baseline="3000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3</a:t>
            </a:r>
            <a:r>
              <a:rPr kumimoji="0" lang="en-US" sz="24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Perhaps some of the other Planck constants relate here as well? clues?</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The symmetry breaking point is asymmetric </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The v &gt; @ </a:t>
            </a:r>
            <a:r>
              <a:rPr kumimoji="0" lang="en-US" sz="2400" b="0" i="0" u="none" strike="noStrike" kern="1200" cap="none" spc="0" normalizeH="0" baseline="0" noProof="0" dirty="0" err="1">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AdS</a:t>
            </a:r>
            <a:r>
              <a:rPr kumimoji="0" lang="en-US" sz="24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 “quanta” g is larger than the v &lt; @ CFT “quanta” h.</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Does this relate to the frequency relationship of f(I) and f(III)?</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In a NC, some kind of interplay occurs between gen I, II, and III where angular momentum does or does not get transferred from an external assembly.</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 name="Footer Placeholder 3"/>
          <p:cNvSpPr txBox="1">
            <a:spLocks/>
          </p:cNvSpPr>
          <p:nvPr/>
        </p:nvSpPr>
        <p:spPr>
          <a:xfrm>
            <a:off x="10942204" y="6481737"/>
            <a:ext cx="1217443"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architrino.com</a:t>
            </a:r>
          </a:p>
        </p:txBody>
      </p:sp>
    </p:spTree>
    <p:extLst>
      <p:ext uri="{BB962C8B-B14F-4D97-AF65-F5344CB8AC3E}">
        <ns3:creationId val="32816634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3.2"/>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wrap="none">
        <a:spAutoFit/>
      </a:bodyPr>
      <a:lstStyle>
        <a:defPPr algn="l">
          <a:defRPr sz="2400" dirty="0" smtClean="0">
            <a:latin typeface="Helvetica Neue" panose="02000503000000020004" pitchFamily="2" charset="0"/>
            <a:ea typeface="Helvetica Neue" panose="02000503000000020004" pitchFamily="2" charset="0"/>
            <a:cs typeface="Helvetica Neue" panose="02000503000000020004" pitchFamily="2" charset="0"/>
          </a:defRPr>
        </a:defPPr>
      </a:lstStyle>
    </a:spDef>
    <a:txDef>
      <a:spPr>
        <a:noFill/>
      </a:spPr>
      <a:bodyPr wrap="none" rtlCol="0">
        <a:spAutoFit/>
      </a:bodyPr>
      <a:lstStyle>
        <a:defPPr algn="l">
          <a:defRPr dirty="0" smtClean="0">
            <a:latin typeface="Helvetica Neue" panose="02000503000000020004" pitchFamily="2" charset="0"/>
            <a:ea typeface="Helvetica Neue" panose="02000503000000020004" pitchFamily="2" charset="0"/>
            <a:cs typeface="Helvetica Neue" panose="02000503000000020004" pitchFamily="2"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21313</TotalTime>
  <Words>3420</Words>
  <Application>Microsoft Macintosh PowerPoint</Application>
  <PresentationFormat>Widescreen</PresentationFormat>
  <Paragraphs>473</Paragraphs>
  <Slides>29</Slides>
  <Notes>11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29</vt:i4>
      </vt:variant>
    </vt:vector>
  </HeadingPairs>
  <TitlesOfParts>
    <vt:vector size="37" baseType="lpstr">
      <vt:lpstr>Arial</vt:lpstr>
      <vt:lpstr>Calibri</vt:lpstr>
      <vt:lpstr>Calibri Light</vt:lpstr>
      <vt:lpstr>Helvetica Neue</vt:lpstr>
      <vt:lpstr>Helvetica Neue Condensed Black</vt:lpstr>
      <vt:lpstr>Helvetica Neue Light</vt:lpstr>
      <vt:lpstr>1_Office Theme</vt:lpstr>
      <vt:lpstr>2_Office Theme</vt:lpstr>
      <vt:lpstr>PowerPoint Presentation</vt:lpstr>
      <vt:lpstr>PowerPoint Presentation</vt:lpstr>
      <vt:lpstr>Noether Core Generations</vt:lpstr>
      <vt:lpstr>PowerPoint Presentation</vt:lpstr>
      <vt:lpstr>The Noether Energy Core</vt:lpstr>
      <vt:lpstr>PowerPoint Presentation</vt:lpstr>
      <vt:lpstr>PowerPoint Presentation</vt:lpstr>
      <vt:lpstr>PowerPoint Presentation</vt:lpstr>
      <vt:lpstr>PowerPoint Presentation</vt:lpstr>
      <vt:lpstr>PowerPoint Presentation</vt:lpstr>
      <vt:lpstr>PowerPoint Presentation</vt:lpstr>
      <vt:lpstr>Dynamics of Noether Cores</vt:lpstr>
      <vt:lpstr>Dynamics of the Noether Core</vt:lpstr>
      <vt:lpstr>Dynamics of the Noether Core</vt:lpstr>
      <vt:lpstr>Dynamics of the Noether Core - Ideation</vt:lpstr>
      <vt:lpstr>Noether Core Geometry and the Lorentz Factor</vt:lpstr>
      <vt:lpstr>Noether Core Geometry and the Lorentz Factor</vt:lpstr>
      <vt:lpstr>Brainstorming on Noether Core Dynamics</vt:lpstr>
      <vt:lpstr>Brainstorming on Noether Core Dynamics</vt:lpstr>
      <vt:lpstr>Brainstorming on Noether Core Oblation</vt:lpstr>
      <vt:lpstr>Some Fresh Thoughts on NC Operation</vt:lpstr>
      <vt:lpstr>Noether Core Symmetry Balancing</vt:lpstr>
      <vt:lpstr>Neutrino Oscillation</vt:lpstr>
      <vt:lpstr>PowerPoint Presentation</vt:lpstr>
      <vt:lpstr>The Four Forces of Nature</vt:lpstr>
      <vt:lpstr>The Gravitational Force</vt:lpstr>
      <vt:lpstr>Unification of the Four Forces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NeoClassical Physics &amp; Quantum Gravity</dc:title>
  <dc:creator>Mark Morris</dc:creator>
  <cp:lastModifiedBy>Mark Morris</cp:lastModifiedBy>
  <cp:revision>165</cp:revision>
  <dcterms:created xsi:type="dcterms:W3CDTF">2019-06-10T19:11:01Z</dcterms:created>
  <dcterms:modified xsi:type="dcterms:W3CDTF">2026-07-03T17:29:02Z</dcterms:modified>
</cp:coreProperties>
</file>