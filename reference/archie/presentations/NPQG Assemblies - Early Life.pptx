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5" r:id="rId1"/>
  </p:sldMasterIdLst>
  <p:notesMasterIdLst>
    <p:notesMasterId r:id="rId7"/>
  </p:notesMasterIdLst>
  <p:sldIdLst>
    <p:sldId id="856" r:id="rId2"/>
    <p:sldId id="808" r:id="rId3"/>
    <p:sldId id="855" r:id="rId4"/>
    <p:sldId id="809" r:id="rId5"/>
    <p:sldId id="815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368" userDrawn="1">
          <p15:clr>
            <a:srgbClr val="A4A3A4"/>
          </p15:clr>
        </p15:guide>
        <p15:guide id="2" pos="3744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ark Morris" initials="MM" lastIdx="1" clrIdx="0">
    <p:extLst>
      <p:ext uri="{19B8F6BF-5375-455C-9EA6-DF929625EA0E}">
        <p15:presenceInfo xmlns:p15="http://schemas.microsoft.com/office/powerpoint/2012/main" userId="e0501bf2facbc5eb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85FF"/>
    <a:srgbClr val="0096FF"/>
    <a:srgbClr val="941100"/>
    <a:srgbClr val="76D6FF"/>
    <a:srgbClr val="008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>
    <p:restoredLeft sz="4701"/>
    <p:restoredTop sz="96301"/>
  </p:normalViewPr>
  <p:slideViewPr>
    <p:cSldViewPr snapToGrid="0" snapToObjects="1">
      <p:cViewPr varScale="1">
        <p:scale>
          <a:sx n="122" d="100"/>
          <a:sy n="122" d="100"/>
        </p:scale>
        <p:origin x="1736" y="200"/>
      </p:cViewPr>
      <p:guideLst>
        <p:guide orient="horz" pos="1368"/>
        <p:guide pos="374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" d="1"/>
        <a:sy n="1" d="1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commentAuthors" Target="commentAuthor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98DD096-C670-234E-818F-1013BEFC83A3}" type="doc">
      <dgm:prSet loTypeId="urn:microsoft.com/office/officeart/2005/8/layout/venn2" loCatId="" qsTypeId="urn:microsoft.com/office/officeart/2005/8/quickstyle/3d9" qsCatId="3D" csTypeId="urn:microsoft.com/office/officeart/2005/8/colors/colorful1" csCatId="colorful" phldr="1"/>
      <dgm:spPr/>
    </dgm:pt>
    <dgm:pt modelId="{E11BA652-3D30-5542-AB08-B497B2697702}">
      <dgm:prSet phldrT="[Text]" custT="1"/>
      <dgm:spPr/>
      <dgm:t>
        <a:bodyPr/>
        <a:lstStyle/>
        <a:p>
          <a:pPr algn="r"/>
          <a:r>
            <a:rPr lang="en-US" sz="2600" b="1" i="0" dirty="0">
              <a:latin typeface="Helvetica Neue Condensed Black" panose="02000503000000020004" pitchFamily="2" charset="0"/>
              <a:ea typeface="Helvetica Neue Condensed Black" panose="02000503000000020004" pitchFamily="2" charset="0"/>
              <a:cs typeface="Helvetica Neue Condensed Black" panose="02000503000000020004" pitchFamily="2" charset="0"/>
            </a:rPr>
            <a:t>redundancy</a:t>
          </a:r>
        </a:p>
      </dgm:t>
    </dgm:pt>
    <dgm:pt modelId="{C506ADCD-5BED-B144-9A85-C31ABBE37F40}" type="parTrans" cxnId="{EF2404AE-72AF-324D-B4BC-B1DA9472EF50}">
      <dgm:prSet/>
      <dgm:spPr/>
      <dgm:t>
        <a:bodyPr/>
        <a:lstStyle/>
        <a:p>
          <a:endParaRPr lang="en-US" sz="2600"/>
        </a:p>
      </dgm:t>
    </dgm:pt>
    <dgm:pt modelId="{73475859-9D2E-7F49-A28C-F1F13FBFEA8F}" type="sibTrans" cxnId="{EF2404AE-72AF-324D-B4BC-B1DA9472EF50}">
      <dgm:prSet/>
      <dgm:spPr/>
      <dgm:t>
        <a:bodyPr/>
        <a:lstStyle/>
        <a:p>
          <a:endParaRPr lang="en-US" sz="2600"/>
        </a:p>
      </dgm:t>
    </dgm:pt>
    <dgm:pt modelId="{C990511F-B88F-FE4E-BA9D-5B3919F93193}">
      <dgm:prSet phldrT="[Text]" custT="1"/>
      <dgm:spPr/>
      <dgm:t>
        <a:bodyPr/>
        <a:lstStyle/>
        <a:p>
          <a:pPr algn="r"/>
          <a:r>
            <a:rPr lang="en-US" sz="2600" b="1" i="0" dirty="0">
              <a:latin typeface="Helvetica Neue Condensed Black" panose="02000503000000020004" pitchFamily="2" charset="0"/>
              <a:ea typeface="Helvetica Neue Condensed Black" panose="02000503000000020004" pitchFamily="2" charset="0"/>
              <a:cs typeface="Helvetica Neue Condensed Black" panose="02000503000000020004" pitchFamily="2" charset="0"/>
            </a:rPr>
            <a:t>self repair</a:t>
          </a:r>
        </a:p>
      </dgm:t>
    </dgm:pt>
    <dgm:pt modelId="{DDB217EF-D94E-E84F-AD22-456060CCAA75}" type="parTrans" cxnId="{D6D82808-2195-C943-B0F9-CA85715DD1E7}">
      <dgm:prSet/>
      <dgm:spPr/>
      <dgm:t>
        <a:bodyPr/>
        <a:lstStyle/>
        <a:p>
          <a:endParaRPr lang="en-US" sz="2600"/>
        </a:p>
      </dgm:t>
    </dgm:pt>
    <dgm:pt modelId="{BF028D6E-5B5A-B449-AA70-F82F610792A7}" type="sibTrans" cxnId="{D6D82808-2195-C943-B0F9-CA85715DD1E7}">
      <dgm:prSet/>
      <dgm:spPr/>
      <dgm:t>
        <a:bodyPr/>
        <a:lstStyle/>
        <a:p>
          <a:endParaRPr lang="en-US" sz="2600"/>
        </a:p>
      </dgm:t>
    </dgm:pt>
    <dgm:pt modelId="{F7DED27B-182C-7942-B2FB-2E52560E4626}">
      <dgm:prSet phldrT="[Text]" custT="1"/>
      <dgm:spPr/>
      <dgm:t>
        <a:bodyPr/>
        <a:lstStyle/>
        <a:p>
          <a:pPr algn="r"/>
          <a:r>
            <a:rPr lang="en-US" sz="2600" b="1" i="0" dirty="0">
              <a:latin typeface="Helvetica Neue Condensed Black" panose="02000503000000020004" pitchFamily="2" charset="0"/>
              <a:ea typeface="Helvetica Neue Condensed Black" panose="02000503000000020004" pitchFamily="2" charset="0"/>
              <a:cs typeface="Helvetica Neue Condensed Black" panose="02000503000000020004" pitchFamily="2" charset="0"/>
            </a:rPr>
            <a:t>radiation and reaction resistance</a:t>
          </a:r>
        </a:p>
      </dgm:t>
    </dgm:pt>
    <dgm:pt modelId="{88E7808F-AAA8-234A-AD9F-47DC711060FA}" type="parTrans" cxnId="{5517AB32-E187-0A40-BD9B-39CDF069C14E}">
      <dgm:prSet/>
      <dgm:spPr/>
      <dgm:t>
        <a:bodyPr/>
        <a:lstStyle/>
        <a:p>
          <a:endParaRPr lang="en-US" sz="2600"/>
        </a:p>
      </dgm:t>
    </dgm:pt>
    <dgm:pt modelId="{AF40EC81-B91A-FA41-A187-9D41CAEAC29E}" type="sibTrans" cxnId="{5517AB32-E187-0A40-BD9B-39CDF069C14E}">
      <dgm:prSet/>
      <dgm:spPr/>
      <dgm:t>
        <a:bodyPr/>
        <a:lstStyle/>
        <a:p>
          <a:endParaRPr lang="en-US" sz="2600"/>
        </a:p>
      </dgm:t>
    </dgm:pt>
    <dgm:pt modelId="{A073EF18-EF1A-5E4D-BD8A-C8B92B11661D}">
      <dgm:prSet custT="1"/>
      <dgm:spPr/>
      <dgm:t>
        <a:bodyPr/>
        <a:lstStyle/>
        <a:p>
          <a:pPr algn="r"/>
          <a:r>
            <a:rPr kumimoji="0" lang="en-US" sz="2600" b="1" i="0" u="none" strike="noStrike" cap="none" spc="0" normalizeH="0" baseline="0" noProof="0" dirty="0">
              <a:ln/>
              <a:effectLst/>
              <a:uLnTx/>
              <a:uFillTx/>
              <a:latin typeface="Helvetica Neue Condensed Black" panose="02000503000000020004" pitchFamily="2" charset="0"/>
              <a:ea typeface="Helvetica Neue Condensed Black" panose="02000503000000020004" pitchFamily="2" charset="0"/>
              <a:cs typeface="Helvetica Neue Condensed Black" panose="02000503000000020004" pitchFamily="2" charset="0"/>
            </a:rPr>
            <a:t>nil environmental requirements</a:t>
          </a:r>
        </a:p>
      </dgm:t>
    </dgm:pt>
    <dgm:pt modelId="{3708A7DA-D163-5F49-9BF7-87F29F5A733B}" type="sibTrans" cxnId="{0D5DFEBE-8248-714D-B3A8-07C0E0F8A0BC}">
      <dgm:prSet/>
      <dgm:spPr/>
      <dgm:t>
        <a:bodyPr/>
        <a:lstStyle/>
        <a:p>
          <a:endParaRPr lang="en-US" sz="2600"/>
        </a:p>
      </dgm:t>
    </dgm:pt>
    <dgm:pt modelId="{F9DA67DB-AAB2-C546-9D01-8DCAE1E62400}" type="parTrans" cxnId="{0D5DFEBE-8248-714D-B3A8-07C0E0F8A0BC}">
      <dgm:prSet/>
      <dgm:spPr/>
      <dgm:t>
        <a:bodyPr/>
        <a:lstStyle/>
        <a:p>
          <a:endParaRPr lang="en-US" sz="2600"/>
        </a:p>
      </dgm:t>
    </dgm:pt>
    <dgm:pt modelId="{9336F42E-7694-5246-AB7C-07D28779ECF1}" type="pres">
      <dgm:prSet presAssocID="{898DD096-C670-234E-818F-1013BEFC83A3}" presName="Name0" presStyleCnt="0">
        <dgm:presLayoutVars>
          <dgm:chMax val="7"/>
          <dgm:resizeHandles val="exact"/>
        </dgm:presLayoutVars>
      </dgm:prSet>
      <dgm:spPr/>
    </dgm:pt>
    <dgm:pt modelId="{00D79D5E-53A6-C240-B8C1-1138140FD7E1}" type="pres">
      <dgm:prSet presAssocID="{898DD096-C670-234E-818F-1013BEFC83A3}" presName="comp1" presStyleCnt="0"/>
      <dgm:spPr/>
    </dgm:pt>
    <dgm:pt modelId="{4A63DFA4-0CA6-974F-95FE-14F79A3FAD8D}" type="pres">
      <dgm:prSet presAssocID="{898DD096-C670-234E-818F-1013BEFC83A3}" presName="circle1" presStyleLbl="node1" presStyleIdx="0" presStyleCnt="4"/>
      <dgm:spPr/>
    </dgm:pt>
    <dgm:pt modelId="{4C27BA4F-61AB-424D-BFFF-7CEE1DC4331C}" type="pres">
      <dgm:prSet presAssocID="{898DD096-C670-234E-818F-1013BEFC83A3}" presName="c1text" presStyleLbl="node1" presStyleIdx="0" presStyleCnt="4">
        <dgm:presLayoutVars>
          <dgm:bulletEnabled val="1"/>
        </dgm:presLayoutVars>
      </dgm:prSet>
      <dgm:spPr/>
    </dgm:pt>
    <dgm:pt modelId="{4DAE54CB-3637-A84E-8513-2D1AB6C263FE}" type="pres">
      <dgm:prSet presAssocID="{898DD096-C670-234E-818F-1013BEFC83A3}" presName="comp2" presStyleCnt="0"/>
      <dgm:spPr/>
    </dgm:pt>
    <dgm:pt modelId="{28C969EF-A430-EF4F-A8C4-4A2F818EC016}" type="pres">
      <dgm:prSet presAssocID="{898DD096-C670-234E-818F-1013BEFC83A3}" presName="circle2" presStyleLbl="node1" presStyleIdx="1" presStyleCnt="4" custLinFactNeighborX="-3324" custLinFactNeighborY="4374"/>
      <dgm:spPr/>
    </dgm:pt>
    <dgm:pt modelId="{8776CE88-1D2B-BD45-B5FB-DB306638066D}" type="pres">
      <dgm:prSet presAssocID="{898DD096-C670-234E-818F-1013BEFC83A3}" presName="c2text" presStyleLbl="node1" presStyleIdx="1" presStyleCnt="4">
        <dgm:presLayoutVars>
          <dgm:bulletEnabled val="1"/>
        </dgm:presLayoutVars>
      </dgm:prSet>
      <dgm:spPr/>
    </dgm:pt>
    <dgm:pt modelId="{21D09D46-E24C-D249-AE6F-DAD11CD5387A}" type="pres">
      <dgm:prSet presAssocID="{898DD096-C670-234E-818F-1013BEFC83A3}" presName="comp3" presStyleCnt="0"/>
      <dgm:spPr/>
    </dgm:pt>
    <dgm:pt modelId="{70521028-65C7-DA4E-8B39-C6D8AACF4A8E}" type="pres">
      <dgm:prSet presAssocID="{898DD096-C670-234E-818F-1013BEFC83A3}" presName="circle3" presStyleLbl="node1" presStyleIdx="2" presStyleCnt="4"/>
      <dgm:spPr/>
    </dgm:pt>
    <dgm:pt modelId="{F88E7D5F-28AF-9348-A5CB-09D55984F211}" type="pres">
      <dgm:prSet presAssocID="{898DD096-C670-234E-818F-1013BEFC83A3}" presName="c3text" presStyleLbl="node1" presStyleIdx="2" presStyleCnt="4">
        <dgm:presLayoutVars>
          <dgm:bulletEnabled val="1"/>
        </dgm:presLayoutVars>
      </dgm:prSet>
      <dgm:spPr/>
    </dgm:pt>
    <dgm:pt modelId="{4D403406-BEA9-5A4E-A0B9-1837CF9D6782}" type="pres">
      <dgm:prSet presAssocID="{898DD096-C670-234E-818F-1013BEFC83A3}" presName="comp4" presStyleCnt="0"/>
      <dgm:spPr/>
    </dgm:pt>
    <dgm:pt modelId="{8E6F3E2B-0D9B-3448-A0E9-AF89EA1FD203}" type="pres">
      <dgm:prSet presAssocID="{898DD096-C670-234E-818F-1013BEFC83A3}" presName="circle4" presStyleLbl="node1" presStyleIdx="3" presStyleCnt="4"/>
      <dgm:spPr/>
    </dgm:pt>
    <dgm:pt modelId="{46BEC05B-877C-CC4E-B823-19F534A7D55D}" type="pres">
      <dgm:prSet presAssocID="{898DD096-C670-234E-818F-1013BEFC83A3}" presName="c4text" presStyleLbl="node1" presStyleIdx="3" presStyleCnt="4">
        <dgm:presLayoutVars>
          <dgm:bulletEnabled val="1"/>
        </dgm:presLayoutVars>
      </dgm:prSet>
      <dgm:spPr/>
    </dgm:pt>
  </dgm:ptLst>
  <dgm:cxnLst>
    <dgm:cxn modelId="{D6D82808-2195-C943-B0F9-CA85715DD1E7}" srcId="{898DD096-C670-234E-818F-1013BEFC83A3}" destId="{C990511F-B88F-FE4E-BA9D-5B3919F93193}" srcOrd="3" destOrd="0" parTransId="{DDB217EF-D94E-E84F-AD22-456060CCAA75}" sibTransId="{BF028D6E-5B5A-B449-AA70-F82F610792A7}"/>
    <dgm:cxn modelId="{5517AB32-E187-0A40-BD9B-39CDF069C14E}" srcId="{898DD096-C670-234E-818F-1013BEFC83A3}" destId="{F7DED27B-182C-7942-B2FB-2E52560E4626}" srcOrd="1" destOrd="0" parTransId="{88E7808F-AAA8-234A-AD9F-47DC711060FA}" sibTransId="{AF40EC81-B91A-FA41-A187-9D41CAEAC29E}"/>
    <dgm:cxn modelId="{83797852-C4C2-234D-8CE1-E036B64CF84E}" type="presOf" srcId="{A073EF18-EF1A-5E4D-BD8A-C8B92B11661D}" destId="{4A63DFA4-0CA6-974F-95FE-14F79A3FAD8D}" srcOrd="0" destOrd="0" presId="urn:microsoft.com/office/officeart/2005/8/layout/venn2"/>
    <dgm:cxn modelId="{64F80D74-DB0C-E244-9554-E2B05A23B561}" type="presOf" srcId="{F7DED27B-182C-7942-B2FB-2E52560E4626}" destId="{28C969EF-A430-EF4F-A8C4-4A2F818EC016}" srcOrd="0" destOrd="0" presId="urn:microsoft.com/office/officeart/2005/8/layout/venn2"/>
    <dgm:cxn modelId="{855C339C-2C29-3447-91C4-C95CCBE6BA61}" type="presOf" srcId="{A073EF18-EF1A-5E4D-BD8A-C8B92B11661D}" destId="{4C27BA4F-61AB-424D-BFFF-7CEE1DC4331C}" srcOrd="1" destOrd="0" presId="urn:microsoft.com/office/officeart/2005/8/layout/venn2"/>
    <dgm:cxn modelId="{CDAA55A0-F843-1E46-A407-6B2A2C60DB74}" type="presOf" srcId="{C990511F-B88F-FE4E-BA9D-5B3919F93193}" destId="{8E6F3E2B-0D9B-3448-A0E9-AF89EA1FD203}" srcOrd="0" destOrd="0" presId="urn:microsoft.com/office/officeart/2005/8/layout/venn2"/>
    <dgm:cxn modelId="{F9AA62A9-7F57-5E42-8D22-E61187F6C5C4}" type="presOf" srcId="{E11BA652-3D30-5542-AB08-B497B2697702}" destId="{F88E7D5F-28AF-9348-A5CB-09D55984F211}" srcOrd="1" destOrd="0" presId="urn:microsoft.com/office/officeart/2005/8/layout/venn2"/>
    <dgm:cxn modelId="{DF7A3DAC-6E16-3249-B350-0FD591DD5AF6}" type="presOf" srcId="{898DD096-C670-234E-818F-1013BEFC83A3}" destId="{9336F42E-7694-5246-AB7C-07D28779ECF1}" srcOrd="0" destOrd="0" presId="urn:microsoft.com/office/officeart/2005/8/layout/venn2"/>
    <dgm:cxn modelId="{EF2404AE-72AF-324D-B4BC-B1DA9472EF50}" srcId="{898DD096-C670-234E-818F-1013BEFC83A3}" destId="{E11BA652-3D30-5542-AB08-B497B2697702}" srcOrd="2" destOrd="0" parTransId="{C506ADCD-5BED-B144-9A85-C31ABBE37F40}" sibTransId="{73475859-9D2E-7F49-A28C-F1F13FBFEA8F}"/>
    <dgm:cxn modelId="{0D5DFEBE-8248-714D-B3A8-07C0E0F8A0BC}" srcId="{898DD096-C670-234E-818F-1013BEFC83A3}" destId="{A073EF18-EF1A-5E4D-BD8A-C8B92B11661D}" srcOrd="0" destOrd="0" parTransId="{F9DA67DB-AAB2-C546-9D01-8DCAE1E62400}" sibTransId="{3708A7DA-D163-5F49-9BF7-87F29F5A733B}"/>
    <dgm:cxn modelId="{4B8F2DC2-BC4B-A243-9B96-27353CBABA74}" type="presOf" srcId="{C990511F-B88F-FE4E-BA9D-5B3919F93193}" destId="{46BEC05B-877C-CC4E-B823-19F534A7D55D}" srcOrd="1" destOrd="0" presId="urn:microsoft.com/office/officeart/2005/8/layout/venn2"/>
    <dgm:cxn modelId="{76B9BBC4-E800-B14B-9BDF-44D5EE4A3F7D}" type="presOf" srcId="{F7DED27B-182C-7942-B2FB-2E52560E4626}" destId="{8776CE88-1D2B-BD45-B5FB-DB306638066D}" srcOrd="1" destOrd="0" presId="urn:microsoft.com/office/officeart/2005/8/layout/venn2"/>
    <dgm:cxn modelId="{EFCA4BDF-E87F-4643-908C-06946763A6B3}" type="presOf" srcId="{E11BA652-3D30-5542-AB08-B497B2697702}" destId="{70521028-65C7-DA4E-8B39-C6D8AACF4A8E}" srcOrd="0" destOrd="0" presId="urn:microsoft.com/office/officeart/2005/8/layout/venn2"/>
    <dgm:cxn modelId="{72AD078B-E39E-AB42-BB8E-5755673FA1CD}" type="presParOf" srcId="{9336F42E-7694-5246-AB7C-07D28779ECF1}" destId="{00D79D5E-53A6-C240-B8C1-1138140FD7E1}" srcOrd="0" destOrd="0" presId="urn:microsoft.com/office/officeart/2005/8/layout/venn2"/>
    <dgm:cxn modelId="{8147C751-4D0A-2F43-B3ED-47D5A8E2067F}" type="presParOf" srcId="{00D79D5E-53A6-C240-B8C1-1138140FD7E1}" destId="{4A63DFA4-0CA6-974F-95FE-14F79A3FAD8D}" srcOrd="0" destOrd="0" presId="urn:microsoft.com/office/officeart/2005/8/layout/venn2"/>
    <dgm:cxn modelId="{14254ACC-BFF9-3643-95FD-42A2BA4F3441}" type="presParOf" srcId="{00D79D5E-53A6-C240-B8C1-1138140FD7E1}" destId="{4C27BA4F-61AB-424D-BFFF-7CEE1DC4331C}" srcOrd="1" destOrd="0" presId="urn:microsoft.com/office/officeart/2005/8/layout/venn2"/>
    <dgm:cxn modelId="{33C11C59-A453-C74B-90C2-D2A173EE78FA}" type="presParOf" srcId="{9336F42E-7694-5246-AB7C-07D28779ECF1}" destId="{4DAE54CB-3637-A84E-8513-2D1AB6C263FE}" srcOrd="1" destOrd="0" presId="urn:microsoft.com/office/officeart/2005/8/layout/venn2"/>
    <dgm:cxn modelId="{34FE785D-95BF-E544-B217-E05B77C791E4}" type="presParOf" srcId="{4DAE54CB-3637-A84E-8513-2D1AB6C263FE}" destId="{28C969EF-A430-EF4F-A8C4-4A2F818EC016}" srcOrd="0" destOrd="0" presId="urn:microsoft.com/office/officeart/2005/8/layout/venn2"/>
    <dgm:cxn modelId="{60FDB38F-E046-A344-AEE1-CE836BEA77F1}" type="presParOf" srcId="{4DAE54CB-3637-A84E-8513-2D1AB6C263FE}" destId="{8776CE88-1D2B-BD45-B5FB-DB306638066D}" srcOrd="1" destOrd="0" presId="urn:microsoft.com/office/officeart/2005/8/layout/venn2"/>
    <dgm:cxn modelId="{ADAB9C46-A577-8643-81DB-C2D516989F16}" type="presParOf" srcId="{9336F42E-7694-5246-AB7C-07D28779ECF1}" destId="{21D09D46-E24C-D249-AE6F-DAD11CD5387A}" srcOrd="2" destOrd="0" presId="urn:microsoft.com/office/officeart/2005/8/layout/venn2"/>
    <dgm:cxn modelId="{6359F6DC-199D-2040-B56B-2B00743635BE}" type="presParOf" srcId="{21D09D46-E24C-D249-AE6F-DAD11CD5387A}" destId="{70521028-65C7-DA4E-8B39-C6D8AACF4A8E}" srcOrd="0" destOrd="0" presId="urn:microsoft.com/office/officeart/2005/8/layout/venn2"/>
    <dgm:cxn modelId="{0BD869B0-D333-CF46-985A-BBE27E933A7F}" type="presParOf" srcId="{21D09D46-E24C-D249-AE6F-DAD11CD5387A}" destId="{F88E7D5F-28AF-9348-A5CB-09D55984F211}" srcOrd="1" destOrd="0" presId="urn:microsoft.com/office/officeart/2005/8/layout/venn2"/>
    <dgm:cxn modelId="{B1E257B0-A8A3-D143-AB32-157ABA98DE3D}" type="presParOf" srcId="{9336F42E-7694-5246-AB7C-07D28779ECF1}" destId="{4D403406-BEA9-5A4E-A0B9-1837CF9D6782}" srcOrd="3" destOrd="0" presId="urn:microsoft.com/office/officeart/2005/8/layout/venn2"/>
    <dgm:cxn modelId="{FDB2D14E-929C-1F49-90CC-C3AF6F48E287}" type="presParOf" srcId="{4D403406-BEA9-5A4E-A0B9-1837CF9D6782}" destId="{8E6F3E2B-0D9B-3448-A0E9-AF89EA1FD203}" srcOrd="0" destOrd="0" presId="urn:microsoft.com/office/officeart/2005/8/layout/venn2"/>
    <dgm:cxn modelId="{75A4FA33-61B1-E04F-9D8E-DBE59124B9DC}" type="presParOf" srcId="{4D403406-BEA9-5A4E-A0B9-1837CF9D6782}" destId="{46BEC05B-877C-CC4E-B823-19F534A7D55D}" srcOrd="1" destOrd="0" presId="urn:microsoft.com/office/officeart/2005/8/layout/ven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A63DFA4-0CA6-974F-95FE-14F79A3FAD8D}">
      <dsp:nvSpPr>
        <dsp:cNvPr id="0" name=""/>
        <dsp:cNvSpPr/>
      </dsp:nvSpPr>
      <dsp:spPr>
        <a:xfrm>
          <a:off x="5073316" y="0"/>
          <a:ext cx="8446167" cy="8446167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  <a:sp3d extrusionH="152250" prstMaterial="matte">
          <a:bevelT w="165100" prst="coolSlant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84912" tIns="184912" rIns="184912" bIns="184912" numCol="1" spcCol="1270" anchor="ctr" anchorCtr="0">
          <a:noAutofit/>
          <a:sp3d extrusionH="28000" prstMaterial="matte"/>
        </a:bodyPr>
        <a:lstStyle/>
        <a:p>
          <a:pPr marL="0" lvl="0" indent="0" algn="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0" lang="en-US" sz="2600" b="1" i="0" u="none" strike="noStrike" kern="1200" cap="none" spc="0" normalizeH="0" baseline="0" noProof="0" dirty="0">
              <a:ln/>
              <a:effectLst/>
              <a:uLnTx/>
              <a:uFillTx/>
              <a:latin typeface="Helvetica Neue Condensed Black" panose="02000503000000020004" pitchFamily="2" charset="0"/>
              <a:ea typeface="Helvetica Neue Condensed Black" panose="02000503000000020004" pitchFamily="2" charset="0"/>
              <a:cs typeface="Helvetica Neue Condensed Black" panose="02000503000000020004" pitchFamily="2" charset="0"/>
            </a:rPr>
            <a:t>nil environmental requirements</a:t>
          </a:r>
        </a:p>
      </dsp:txBody>
      <dsp:txXfrm>
        <a:off x="8115625" y="422308"/>
        <a:ext cx="2361548" cy="1266925"/>
      </dsp:txXfrm>
    </dsp:sp>
    <dsp:sp modelId="{28C969EF-A430-EF4F-A8C4-4A2F818EC016}">
      <dsp:nvSpPr>
        <dsp:cNvPr id="0" name=""/>
        <dsp:cNvSpPr/>
      </dsp:nvSpPr>
      <dsp:spPr>
        <a:xfrm>
          <a:off x="5693332" y="1689233"/>
          <a:ext cx="6756933" cy="6756933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  <a:sp3d extrusionH="152250" prstMaterial="matte">
          <a:bevelT w="165100" prst="coolSlant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84912" tIns="184912" rIns="184912" bIns="184912" numCol="1" spcCol="1270" anchor="ctr" anchorCtr="0">
          <a:noAutofit/>
          <a:sp3d extrusionH="28000" prstMaterial="matte"/>
        </a:bodyPr>
        <a:lstStyle/>
        <a:p>
          <a:pPr marL="0" lvl="0" indent="0" algn="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b="1" i="0" kern="1200" dirty="0">
              <a:latin typeface="Helvetica Neue Condensed Black" panose="02000503000000020004" pitchFamily="2" charset="0"/>
              <a:ea typeface="Helvetica Neue Condensed Black" panose="02000503000000020004" pitchFamily="2" charset="0"/>
              <a:cs typeface="Helvetica Neue Condensed Black" panose="02000503000000020004" pitchFamily="2" charset="0"/>
            </a:rPr>
            <a:t>radiation and reaction resistance</a:t>
          </a:r>
        </a:p>
      </dsp:txBody>
      <dsp:txXfrm>
        <a:off x="7891025" y="2094649"/>
        <a:ext cx="2361548" cy="1216248"/>
      </dsp:txXfrm>
    </dsp:sp>
    <dsp:sp modelId="{70521028-65C7-DA4E-8B39-C6D8AACF4A8E}">
      <dsp:nvSpPr>
        <dsp:cNvPr id="0" name=""/>
        <dsp:cNvSpPr/>
      </dsp:nvSpPr>
      <dsp:spPr>
        <a:xfrm>
          <a:off x="6762549" y="3378466"/>
          <a:ext cx="5067700" cy="5067700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  <a:sp3d extrusionH="152250" prstMaterial="matte">
          <a:bevelT w="165100" prst="coolSlant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84912" tIns="184912" rIns="184912" bIns="184912" numCol="1" spcCol="1270" anchor="ctr" anchorCtr="0">
          <a:noAutofit/>
          <a:sp3d extrusionH="28000" prstMaterial="matte"/>
        </a:bodyPr>
        <a:lstStyle/>
        <a:p>
          <a:pPr marL="0" lvl="0" indent="0" algn="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b="1" i="0" kern="1200" dirty="0">
              <a:latin typeface="Helvetica Neue Condensed Black" panose="02000503000000020004" pitchFamily="2" charset="0"/>
              <a:ea typeface="Helvetica Neue Condensed Black" panose="02000503000000020004" pitchFamily="2" charset="0"/>
              <a:cs typeface="Helvetica Neue Condensed Black" panose="02000503000000020004" pitchFamily="2" charset="0"/>
            </a:rPr>
            <a:t>redundancy</a:t>
          </a:r>
        </a:p>
      </dsp:txBody>
      <dsp:txXfrm>
        <a:off x="8115625" y="3758544"/>
        <a:ext cx="2361548" cy="1140232"/>
      </dsp:txXfrm>
    </dsp:sp>
    <dsp:sp modelId="{8E6F3E2B-0D9B-3448-A0E9-AF89EA1FD203}">
      <dsp:nvSpPr>
        <dsp:cNvPr id="0" name=""/>
        <dsp:cNvSpPr/>
      </dsp:nvSpPr>
      <dsp:spPr>
        <a:xfrm>
          <a:off x="7607166" y="5067700"/>
          <a:ext cx="3378466" cy="3378466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  <a:sp3d extrusionH="152250" prstMaterial="matte">
          <a:bevelT w="165100" prst="coolSlant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84912" tIns="184912" rIns="184912" bIns="184912" numCol="1" spcCol="1270" anchor="ctr" anchorCtr="0">
          <a:noAutofit/>
          <a:sp3d extrusionH="28000" prstMaterial="matte"/>
        </a:bodyPr>
        <a:lstStyle/>
        <a:p>
          <a:pPr marL="0" lvl="0" indent="0" algn="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b="1" i="0" kern="1200" dirty="0">
              <a:latin typeface="Helvetica Neue Condensed Black" panose="02000503000000020004" pitchFamily="2" charset="0"/>
              <a:ea typeface="Helvetica Neue Condensed Black" panose="02000503000000020004" pitchFamily="2" charset="0"/>
              <a:cs typeface="Helvetica Neue Condensed Black" panose="02000503000000020004" pitchFamily="2" charset="0"/>
            </a:rPr>
            <a:t>self repair</a:t>
          </a:r>
        </a:p>
      </dsp:txBody>
      <dsp:txXfrm>
        <a:off x="8101931" y="5912316"/>
        <a:ext cx="2388936" cy="168923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enn2">
  <dgm:title val=""/>
  <dgm:desc val=""/>
  <dgm:catLst>
    <dgm:cat type="relationship" pri="3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chMax val="7"/>
      <dgm:resizeHandles val="exact"/>
    </dgm:varLst>
    <dgm:alg type="composite">
      <dgm:param type="ar" val="1"/>
    </dgm:alg>
    <dgm:shape xmlns:r="http://schemas.openxmlformats.org/officeDocument/2006/relationships" r:blip="">
      <dgm:adjLst/>
    </dgm:shape>
    <dgm:presOf/>
    <dgm:choose name="Name1">
      <dgm:if name="Name2" axis="ch" ptType="node" func="cnt" op="lte" val="3">
        <dgm:constrLst>
          <dgm:constr type="w" for="ch" forName="comp1" refType="w"/>
          <dgm:constr type="h" for="ch" forName="comp1" refType="w" refFor="ch" refForName="comp1"/>
          <dgm:constr type="w" for="ch" forName="comp2" refType="w" fact="0.75"/>
          <dgm:constr type="h" for="ch" forName="comp2" refType="w" refFor="ch" refForName="comp2"/>
          <dgm:constr type="ctrX" for="ch" forName="comp2" refType="ctrX" refFor="ch" refForName="comp1"/>
          <dgm:constr type="b" for="ch" forName="comp2" refType="b" refFor="ch" refForName="comp1"/>
          <dgm:constr type="w" for="ch" forName="comp3" refType="w" fact="0.5"/>
          <dgm:constr type="h" for="ch" forName="comp3" refType="w" refFor="ch" refForName="comp3"/>
          <dgm:constr type="ctrX" for="ch" forName="comp3" refType="ctrX" refFor="ch" refForName="comp1"/>
          <dgm:constr type="b" for="ch" forName="comp3" refType="b" refFor="ch" refForName="comp1"/>
          <dgm:constr type="primFontSz" for="des" ptType="node" op="equ" val="65"/>
        </dgm:constrLst>
      </dgm:if>
      <dgm:if name="Name3" axis="ch" ptType="node" func="cnt" op="equ" val="4">
        <dgm:constrLst>
          <dgm:constr type="w" for="ch" forName="comp1" refType="w"/>
          <dgm:constr type="h" for="ch" forName="comp1" refType="w" refFor="ch" refForName="comp1"/>
          <dgm:constr type="w" for="ch" forName="comp2" refType="w" fact="0.8"/>
          <dgm:constr type="h" for="ch" forName="comp2" refType="w" refFor="ch" refForName="comp2"/>
          <dgm:constr type="ctrX" for="ch" forName="comp2" refType="ctrX" refFor="ch" refForName="comp1"/>
          <dgm:constr type="b" for="ch" forName="comp2" refType="b" refFor="ch" refForName="comp1"/>
          <dgm:constr type="w" for="ch" forName="comp3" refType="w" fact="0.6"/>
          <dgm:constr type="h" for="ch" forName="comp3" refType="w" refFor="ch" refForName="comp3"/>
          <dgm:constr type="ctrX" for="ch" forName="comp3" refType="ctrX" refFor="ch" refForName="comp1"/>
          <dgm:constr type="b" for="ch" forName="comp3" refType="b" refFor="ch" refForName="comp1"/>
          <dgm:constr type="w" for="ch" forName="comp4" refType="w" fact="0.4"/>
          <dgm:constr type="h" for="ch" forName="comp4" refType="w" refFor="ch" refForName="comp4"/>
          <dgm:constr type="ctrX" for="ch" forName="comp4" refType="ctrX" refFor="ch" refForName="comp1"/>
          <dgm:constr type="b" for="ch" forName="comp4" refType="b" refFor="ch" refForName="comp1"/>
          <dgm:constr type="primFontSz" for="des" ptType="node" op="equ" val="65"/>
        </dgm:constrLst>
      </dgm:if>
      <dgm:else name="Name4">
        <dgm:constrLst>
          <dgm:constr type="w" for="ch" forName="comp1" refType="w"/>
          <dgm:constr type="h" for="ch" forName="comp1" refType="w" refFor="ch" refForName="comp1"/>
          <dgm:constr type="w" for="ch" forName="comp2" refType="w" fact="0.85"/>
          <dgm:constr type="h" for="ch" forName="comp2" refType="w" refFor="ch" refForName="comp2"/>
          <dgm:constr type="ctrX" for="ch" forName="comp2" refType="ctrX" refFor="ch" refForName="comp1"/>
          <dgm:constr type="b" for="ch" forName="comp2" refType="b" refFor="ch" refForName="comp1"/>
          <dgm:constr type="w" for="ch" forName="comp3" refType="w" fact="0.7"/>
          <dgm:constr type="h" for="ch" forName="comp3" refType="w" refFor="ch" refForName="comp3"/>
          <dgm:constr type="ctrX" for="ch" forName="comp3" refType="ctrX" refFor="ch" refForName="comp1"/>
          <dgm:constr type="b" for="ch" forName="comp3" refType="b" refFor="ch" refForName="comp1"/>
          <dgm:constr type="w" for="ch" forName="comp4" refType="w" fact="0.55"/>
          <dgm:constr type="h" for="ch" forName="comp4" refType="w" refFor="ch" refForName="comp4"/>
          <dgm:constr type="ctrX" for="ch" forName="comp4" refType="ctrX" refFor="ch" refForName="comp1"/>
          <dgm:constr type="b" for="ch" forName="comp4" refType="b" refFor="ch" refForName="comp1"/>
          <dgm:constr type="w" for="ch" forName="comp5" refType="w" fact="0.4"/>
          <dgm:constr type="h" for="ch" forName="comp5" refType="w" refFor="ch" refForName="comp5"/>
          <dgm:constr type="ctrX" for="ch" forName="comp5" refType="ctrX" refFor="ch" refForName="comp1"/>
          <dgm:constr type="b" for="ch" forName="comp5" refType="b" refFor="ch" refForName="comp1"/>
          <dgm:constr type="w" for="ch" forName="comp6" refType="w" fact="0.25"/>
          <dgm:constr type="h" for="ch" forName="comp6" refType="w" refFor="ch" refForName="comp6"/>
          <dgm:constr type="ctrX" for="ch" forName="comp6" refType="ctrX" refFor="ch" refForName="comp1"/>
          <dgm:constr type="b" for="ch" forName="comp6" refType="b" refFor="ch" refForName="comp1"/>
          <dgm:constr type="w" for="ch" forName="comp7" refType="w" fact="0.15"/>
          <dgm:constr type="h" for="ch" forName="comp7" refType="w" refFor="ch" refForName="comp7"/>
          <dgm:constr type="ctrX" for="ch" forName="comp7" refType="ctrX" refFor="ch" refForName="comp1"/>
          <dgm:constr type="b" for="ch" forName="comp7" refType="b" refFor="ch" refForName="comp1"/>
          <dgm:constr type="primFontSz" for="des" ptType="node" op="equ" val="65"/>
        </dgm:constrLst>
      </dgm:else>
    </dgm:choose>
    <dgm:ruleLst/>
    <dgm:choose name="Name5">
      <dgm:if name="Name6" axis="ch" ptType="node" func="cnt" op="gte" val="1">
        <dgm:layoutNode name="comp1">
          <dgm:alg type="composite"/>
          <dgm:shape xmlns:r="http://schemas.openxmlformats.org/officeDocument/2006/relationships" r:blip="">
            <dgm:adjLst/>
          </dgm:shape>
          <dgm:presOf/>
          <dgm:choose name="Name7">
            <dgm:if name="Name8" axis="ch" ptType="node" func="cnt" op="equ" val="1">
              <dgm:constrLst>
                <dgm:constr type="w" for="ch" forName="circle1" refType="w"/>
                <dgm:constr type="h" for="ch" forName="circle1" refType="h"/>
                <dgm:constr type="ctrX" for="ch" forName="circle1" refType="w" fact="0.5"/>
                <dgm:constr type="ctrY" for="ch" forName="circle1" refType="h" fact="0.5"/>
                <dgm:constr type="ctrX" for="ch" forName="c1text" refType="w" fact="0.5"/>
                <dgm:constr type="ctrY" for="ch" forName="c1text" refType="h" fact="0.5"/>
                <dgm:constr type="w" for="ch" forName="c1text" refType="w" refFor="ch" refForName="circle1" fact="0.70711"/>
                <dgm:constr type="h" for="ch" forName="c1text" refType="h" refFor="ch" refForName="circle1" fact="0.5"/>
              </dgm:constrLst>
            </dgm:if>
            <dgm:if name="Name9" axis="ch" ptType="node" func="cnt" op="equ" val="2">
              <dgm:constrLst>
                <dgm:constr type="w" for="ch" forName="circle1" refType="w"/>
                <dgm:constr type="h" for="ch" forName="circle1" refType="h"/>
                <dgm:constr type="ctrX" for="ch" forName="circle1" refType="w" fact="0.5"/>
                <dgm:constr type="ctrY" for="ch" forName="circle1" refType="h" fact="0.5"/>
                <dgm:constr type="ctrX" for="ch" forName="c1text" refType="w" fact="0.5"/>
                <dgm:constr type="ctrY" for="ch" forName="c1text" refType="h" fact="0.16"/>
                <dgm:constr type="w" for="ch" forName="c1text" refType="w" refFor="ch" refForName="circle1" fact="0.525"/>
                <dgm:constr type="h" for="ch" forName="c1text" refType="h" refFor="ch" refForName="circle1" fact="0.17"/>
              </dgm:constrLst>
            </dgm:if>
            <dgm:if name="Name10" axis="ch" ptType="node" func="cnt" op="equ" val="3">
              <dgm:constrLst>
                <dgm:constr type="w" for="ch" forName="circle1" refType="w"/>
                <dgm:constr type="h" for="ch" forName="circle1" refType="h"/>
                <dgm:constr type="ctrX" for="ch" forName="circle1" refType="w" fact="0.5"/>
                <dgm:constr type="ctrY" for="ch" forName="circle1" refType="h" fact="0.5"/>
                <dgm:constr type="ctrX" for="ch" forName="c1text" refType="w" fact="0.5"/>
                <dgm:constr type="ctrY" for="ch" forName="c1text" refType="h" fact="0.125"/>
                <dgm:constr type="w" for="ch" forName="c1text" refType="w" refFor="ch" refForName="circle1" fact="0.3495"/>
                <dgm:constr type="h" for="ch" forName="c1text" refType="h" refFor="ch" refForName="circle1" fact="0.15"/>
              </dgm:constrLst>
            </dgm:if>
            <dgm:if name="Name11" axis="ch" ptType="node" func="cnt" op="equ" val="4">
              <dgm:constrLst>
                <dgm:constr type="w" for="ch" forName="circle1" refType="w"/>
                <dgm:constr type="h" for="ch" forName="circle1" refType="h"/>
                <dgm:constr type="ctrX" for="ch" forName="circle1" refType="w" fact="0.5"/>
                <dgm:constr type="ctrY" for="ch" forName="circle1" refType="h" fact="0.5"/>
                <dgm:constr type="ctrX" for="ch" forName="c1text" refType="w" fact="0.5"/>
                <dgm:constr type="ctrY" for="ch" forName="c1text" refType="h" fact="0.125"/>
                <dgm:constr type="w" for="ch" forName="c1text" refType="w" refFor="ch" refForName="circle1" fact="0.2796"/>
                <dgm:constr type="h" for="ch" forName="c1text" refType="h" refFor="ch" refForName="circle1" fact="0.15"/>
              </dgm:constrLst>
            </dgm:if>
            <dgm:if name="Name12" axis="ch" ptType="node" func="cnt" op="gte" val="5">
              <dgm:constrLst>
                <dgm:constr type="w" for="ch" forName="circle1" refType="w"/>
                <dgm:constr type="h" for="ch" forName="circle1" refType="h"/>
                <dgm:constr type="ctrX" for="ch" forName="circle1" refType="w" fact="0.5"/>
                <dgm:constr type="ctrY" for="ch" forName="circle1" refType="h" fact="0.5"/>
                <dgm:constr type="ctrX" for="ch" forName="c1text" refType="w" fact="0.5"/>
                <dgm:constr type="ctrY" for="ch" forName="c1text" refType="h" fact="0.1"/>
                <dgm:constr type="w" for="ch" forName="c1text" refType="w" refFor="ch" refForName="circle1" fact="0.375"/>
                <dgm:constr type="h" for="ch" forName="c1text" refType="h" refFor="ch" refForName="circle1" fact="0.1"/>
              </dgm:constrLst>
            </dgm:if>
            <dgm:else name="Name13"/>
          </dgm:choose>
          <dgm:ruleLst/>
          <dgm:layoutNode name="circle1" styleLbl="node1">
            <dgm:alg type="sp"/>
            <dgm:shape xmlns:r="http://schemas.openxmlformats.org/officeDocument/2006/relationships" type="ellipse" r:blip="">
              <dgm:adjLst/>
            </dgm:shape>
            <dgm:presOf axis="ch desOrSelf" ptType="node node" st="1 1" cnt="1 0"/>
            <dgm:constrLst>
              <dgm:constr type="h" refType="w"/>
            </dgm:constrLst>
            <dgm:ruleLst/>
          </dgm:layoutNode>
          <dgm:layoutNode name="c1text">
            <dgm:varLst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ch desOrSelf" ptType="node node" st="1 1" cnt="1 0"/>
            <dgm:constrLst/>
            <dgm:ruleLst>
              <dgm:rule type="primFontSz" val="5" fact="NaN" max="NaN"/>
            </dgm:ruleLst>
          </dgm:layoutNode>
        </dgm:layoutNode>
      </dgm:if>
      <dgm:else name="Name14"/>
    </dgm:choose>
    <dgm:choose name="Name15">
      <dgm:if name="Name16" axis="ch" ptType="node" func="cnt" op="gte" val="2">
        <dgm:layoutNode name="comp2">
          <dgm:alg type="composite"/>
          <dgm:shape xmlns:r="http://schemas.openxmlformats.org/officeDocument/2006/relationships" r:blip="">
            <dgm:adjLst/>
          </dgm:shape>
          <dgm:presOf/>
          <dgm:choose name="Name17">
            <dgm:if name="Name18" axis="ch" ptType="node" func="cnt" op="equ" val="2">
              <dgm:constrLst>
                <dgm:constr type="w" for="ch" forName="circle2" refType="w"/>
                <dgm:constr type="h" for="ch" forName="circle2" refType="h"/>
                <dgm:constr type="ctrX" for="ch" forName="circle2" refType="w" fact="0.5"/>
                <dgm:constr type="ctrY" for="ch" forName="circle2" refType="h" fact="0.5"/>
                <dgm:constr type="ctrX" for="ch" forName="c2text" refType="w" fact="0.5"/>
                <dgm:constr type="ctrY" for="ch" forName="c2text" refType="h" fact="0.5"/>
                <dgm:constr type="w" for="ch" forName="c2text" refType="w" refFor="ch" refForName="circle2" fact="0.70711"/>
                <dgm:constr type="h" for="ch" forName="c2text" refType="h" refFor="ch" refForName="circle2" fact="0.5"/>
              </dgm:constrLst>
            </dgm:if>
            <dgm:if name="Name19" axis="ch" ptType="node" func="cnt" op="equ" val="3">
              <dgm:constrLst>
                <dgm:constr type="w" for="ch" forName="circle2" refType="w"/>
                <dgm:constr type="h" for="ch" forName="circle2" refType="h"/>
                <dgm:constr type="ctrX" for="ch" forName="circle2" refType="w" fact="0.5"/>
                <dgm:constr type="ctrY" for="ch" forName="circle2" refType="h" fact="0.5"/>
                <dgm:constr type="ctrX" for="ch" forName="c2text" refType="w" fact="0.5"/>
                <dgm:constr type="ctrY" for="ch" forName="c2text" refType="h" fact="0.15625"/>
                <dgm:constr type="w" for="ch" forName="c2text" refType="w" refFor="ch" refForName="circle2" fact="0.466"/>
                <dgm:constr type="h" for="ch" forName="c2text" refType="h" refFor="ch" refForName="circle2" fact="0.1875"/>
              </dgm:constrLst>
            </dgm:if>
            <dgm:if name="Name20" axis="ch" ptType="node" func="cnt" op="equ" val="4">
              <dgm:constrLst>
                <dgm:constr type="w" for="ch" forName="circle2" refType="w"/>
                <dgm:constr type="h" for="ch" forName="circle2" refType="h"/>
                <dgm:constr type="ctrX" for="ch" forName="circle2" refType="w" fact="0.5"/>
                <dgm:constr type="ctrY" for="ch" forName="circle2" refType="h" fact="0.5"/>
                <dgm:constr type="ctrX" for="ch" forName="c2text" refType="w" fact="0.5"/>
                <dgm:constr type="ctrY" for="ch" forName="c2text" refType="h" fact="0.15"/>
                <dgm:constr type="w" for="ch" forName="c2text" refType="w" refFor="ch" refForName="circle2" fact="0.3495"/>
                <dgm:constr type="h" for="ch" forName="c2text" refType="h" refFor="ch" refForName="circle2" fact="0.18"/>
              </dgm:constrLst>
            </dgm:if>
            <dgm:if name="Name21" axis="ch" ptType="node" func="cnt" op="gte" val="5">
              <dgm:constrLst>
                <dgm:constr type="w" for="ch" forName="circle2" refType="w"/>
                <dgm:constr type="h" for="ch" forName="circle2" refType="h"/>
                <dgm:constr type="ctrX" for="ch" forName="circle2" refType="w" fact="0.5"/>
                <dgm:constr type="ctrY" for="ch" forName="circle2" refType="h" fact="0.5"/>
                <dgm:constr type="ctrX" for="ch" forName="c2text" refType="w" fact="0.5"/>
                <dgm:constr type="ctrY" for="ch" forName="c2text" refType="h" fact="0.115"/>
                <dgm:constr type="w" for="ch" forName="c2text" refType="w" refFor="ch" refForName="circle2" fact="0.43125"/>
                <dgm:constr type="h" for="ch" forName="c2text" refType="h" refFor="ch" refForName="circle2" fact="0.115"/>
              </dgm:constrLst>
            </dgm:if>
            <dgm:else name="Name22"/>
          </dgm:choose>
          <dgm:ruleLst/>
          <dgm:layoutNode name="circle2" styleLbl="node1">
            <dgm:alg type="sp"/>
            <dgm:shape xmlns:r="http://schemas.openxmlformats.org/officeDocument/2006/relationships" type="ellipse" r:blip="">
              <dgm:adjLst/>
            </dgm:shape>
            <dgm:presOf axis="ch desOrSelf" ptType="node node" st="2 1" cnt="1 0"/>
            <dgm:constrLst>
              <dgm:constr type="h" refType="w"/>
            </dgm:constrLst>
            <dgm:ruleLst/>
          </dgm:layoutNode>
          <dgm:layoutNode name="c2text">
            <dgm:varLst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ch desOrSelf" ptType="node node" st="2 1" cnt="1 0"/>
            <dgm:constrLst/>
            <dgm:ruleLst>
              <dgm:rule type="primFontSz" val="5" fact="NaN" max="NaN"/>
            </dgm:ruleLst>
          </dgm:layoutNode>
        </dgm:layoutNode>
      </dgm:if>
      <dgm:else name="Name23"/>
    </dgm:choose>
    <dgm:choose name="Name24">
      <dgm:if name="Name25" axis="ch" ptType="node" func="cnt" op="gte" val="3">
        <dgm:layoutNode name="comp3">
          <dgm:alg type="composite"/>
          <dgm:shape xmlns:r="http://schemas.openxmlformats.org/officeDocument/2006/relationships" r:blip="">
            <dgm:adjLst/>
          </dgm:shape>
          <dgm:presOf/>
          <dgm:choose name="Name26">
            <dgm:if name="Name27" axis="ch" ptType="node" func="cnt" op="equ" val="3">
              <dgm:constrLst>
                <dgm:constr type="w" for="ch" forName="circle3" refType="w"/>
                <dgm:constr type="h" for="ch" forName="circle3" refType="h"/>
                <dgm:constr type="ctrX" for="ch" forName="circle3" refType="w" fact="0.5"/>
                <dgm:constr type="ctrY" for="ch" forName="circle3" refType="h" fact="0.5"/>
                <dgm:constr type="ctrX" for="ch" forName="c3text" refType="w" fact="0.5"/>
                <dgm:constr type="ctrY" for="ch" forName="c3text" refType="h" fact="0.5"/>
                <dgm:constr type="w" for="ch" forName="c3text" refType="w" refFor="ch" refForName="circle3" fact="0.70711"/>
                <dgm:constr type="h" for="ch" forName="c3text" refType="h" refFor="ch" refForName="circle3" fact="0.5"/>
              </dgm:constrLst>
            </dgm:if>
            <dgm:if name="Name28" axis="ch" ptType="node" func="cnt" op="equ" val="4">
              <dgm:constrLst>
                <dgm:constr type="w" for="ch" forName="circle3" refType="w"/>
                <dgm:constr type="h" for="ch" forName="circle3" refType="h"/>
                <dgm:constr type="ctrX" for="ch" forName="circle3" refType="w" fact="0.5"/>
                <dgm:constr type="ctrY" for="ch" forName="circle3" refType="h" fact="0.5"/>
                <dgm:constr type="ctrX" for="ch" forName="c3text" refType="w" fact="0.5"/>
                <dgm:constr type="ctrY" for="ch" forName="c3text" refType="h" fact="0.1875"/>
                <dgm:constr type="w" for="ch" forName="c3text" refType="w" refFor="ch" refForName="circle3" fact="0.466"/>
                <dgm:constr type="h" for="ch" forName="c3text" refType="h" refFor="ch" refForName="circle3" fact="0.225"/>
              </dgm:constrLst>
            </dgm:if>
            <dgm:if name="Name29" axis="ch" ptType="node" func="cnt" op="gte" val="5">
              <dgm:constrLst>
                <dgm:constr type="w" for="ch" forName="circle3" refType="w"/>
                <dgm:constr type="h" for="ch" forName="circle3" refType="h"/>
                <dgm:constr type="ctrX" for="ch" forName="circle3" refType="w" fact="0.5"/>
                <dgm:constr type="ctrY" for="ch" forName="circle3" refType="h" fact="0.5"/>
                <dgm:constr type="ctrX" for="ch" forName="c3text" refType="w" fact="0.5"/>
                <dgm:constr type="ctrY" for="ch" forName="c3text" refType="h" fact="0.138"/>
                <dgm:constr type="w" for="ch" forName="c3text" refType="w" refFor="ch" refForName="circle3" fact="0.5175"/>
                <dgm:constr type="h" for="ch" forName="c3text" refType="h" refFor="ch" refForName="circle3" fact="0.138"/>
              </dgm:constrLst>
            </dgm:if>
            <dgm:else name="Name30"/>
          </dgm:choose>
          <dgm:ruleLst/>
          <dgm:layoutNode name="circle3" styleLbl="node1">
            <dgm:alg type="sp"/>
            <dgm:shape xmlns:r="http://schemas.openxmlformats.org/officeDocument/2006/relationships" type="ellipse" r:blip="">
              <dgm:adjLst/>
            </dgm:shape>
            <dgm:presOf axis="ch desOrSelf" ptType="node node" st="3 1" cnt="1 0"/>
            <dgm:constrLst>
              <dgm:constr type="h" refType="w"/>
            </dgm:constrLst>
            <dgm:ruleLst/>
          </dgm:layoutNode>
          <dgm:layoutNode name="c3text">
            <dgm:varLst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ch desOrSelf" ptType="node node" st="3 1" cnt="1 0"/>
            <dgm:constrLst/>
            <dgm:ruleLst>
              <dgm:rule type="primFontSz" val="5" fact="NaN" max="NaN"/>
            </dgm:ruleLst>
          </dgm:layoutNode>
        </dgm:layoutNode>
      </dgm:if>
      <dgm:else name="Name31"/>
    </dgm:choose>
    <dgm:choose name="Name32">
      <dgm:if name="Name33" axis="ch" ptType="node" func="cnt" op="gte" val="4">
        <dgm:layoutNode name="comp4">
          <dgm:alg type="composite"/>
          <dgm:shape xmlns:r="http://schemas.openxmlformats.org/officeDocument/2006/relationships" r:blip="">
            <dgm:adjLst/>
          </dgm:shape>
          <dgm:presOf/>
          <dgm:choose name="Name34">
            <dgm:if name="Name35" axis="ch" ptType="node" func="cnt" op="equ" val="4">
              <dgm:constrLst>
                <dgm:constr type="w" for="ch" forName="circle4" refType="w"/>
                <dgm:constr type="h" for="ch" forName="circle4" refType="h"/>
                <dgm:constr type="ctrX" for="ch" forName="circle4" refType="w" fact="0.5"/>
                <dgm:constr type="ctrY" for="ch" forName="circle4" refType="h" fact="0.5"/>
                <dgm:constr type="ctrX" for="ch" forName="c4text" refType="w" fact="0.5"/>
                <dgm:constr type="ctrY" for="ch" forName="c4text" refType="h" fact="0.5"/>
                <dgm:constr type="w" for="ch" forName="c4text" refType="w" refFor="ch" refForName="circle4" fact="0.70711"/>
                <dgm:constr type="h" for="ch" forName="c4text" refType="h" refFor="ch" refForName="circle4" fact="0.5"/>
              </dgm:constrLst>
            </dgm:if>
            <dgm:if name="Name36" axis="ch" ptType="node" func="cnt" op="gte" val="5">
              <dgm:constrLst>
                <dgm:constr type="w" for="ch" forName="circle4" refType="w"/>
                <dgm:constr type="h" for="ch" forName="circle4" refType="h"/>
                <dgm:constr type="ctrX" for="ch" forName="circle4" refType="w" fact="0.5"/>
                <dgm:constr type="ctrY" for="ch" forName="circle4" refType="h" fact="0.5"/>
                <dgm:constr type="ctrX" for="ch" forName="c4text" refType="w" fact="0.5"/>
                <dgm:constr type="ctrY" for="ch" forName="c4text" refType="h" fact="0.18"/>
                <dgm:constr type="w" for="ch" forName="c4text" refType="w" refFor="ch" refForName="circle4" fact="0.54"/>
                <dgm:constr type="h" for="ch" forName="c4text" refType="h" refFor="ch" refForName="circle4" fact="0.18"/>
              </dgm:constrLst>
            </dgm:if>
            <dgm:else name="Name37"/>
          </dgm:choose>
          <dgm:ruleLst/>
          <dgm:layoutNode name="circle4" styleLbl="node1">
            <dgm:alg type="sp"/>
            <dgm:shape xmlns:r="http://schemas.openxmlformats.org/officeDocument/2006/relationships" type="ellipse" r:blip="">
              <dgm:adjLst/>
            </dgm:shape>
            <dgm:presOf axis="ch desOrSelf" ptType="node node" st="4 1" cnt="1 0"/>
            <dgm:constrLst>
              <dgm:constr type="h" refType="w"/>
            </dgm:constrLst>
            <dgm:ruleLst/>
          </dgm:layoutNode>
          <dgm:layoutNode name="c4text">
            <dgm:varLst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ch desOrSelf" ptType="node node" st="4 1" cnt="1 0"/>
            <dgm:constrLst/>
            <dgm:ruleLst>
              <dgm:rule type="primFontSz" val="5" fact="NaN" max="NaN"/>
            </dgm:ruleLst>
          </dgm:layoutNode>
        </dgm:layoutNode>
      </dgm:if>
      <dgm:else name="Name38"/>
    </dgm:choose>
    <dgm:choose name="Name39">
      <dgm:if name="Name40" axis="ch" ptType="node" func="cnt" op="gte" val="5">
        <dgm:layoutNode name="comp5">
          <dgm:alg type="composite"/>
          <dgm:shape xmlns:r="http://schemas.openxmlformats.org/officeDocument/2006/relationships" r:blip="">
            <dgm:adjLst/>
          </dgm:shape>
          <dgm:presOf/>
          <dgm:choose name="Name41">
            <dgm:if name="Name42" axis="ch" ptType="node" func="cnt" op="equ" val="5">
              <dgm:constrLst>
                <dgm:constr type="w" for="ch" forName="circle5" refType="w"/>
                <dgm:constr type="h" for="ch" forName="circle5" refType="h"/>
                <dgm:constr type="ctrX" for="ch" forName="circle5" refType="w" fact="0.5"/>
                <dgm:constr type="ctrY" for="ch" forName="circle5" refType="h" fact="0.5"/>
                <dgm:constr type="ctrX" for="ch" forName="c5text" refType="w" fact="0.5"/>
                <dgm:constr type="ctrY" for="ch" forName="c5text" refType="h" fact="0.5"/>
                <dgm:constr type="w" for="ch" forName="c5text" refType="w" refFor="ch" refForName="circle5" fact="0.70711"/>
                <dgm:constr type="h" for="ch" forName="c5text" refType="h" refFor="ch" refForName="circle5" fact="0.5"/>
              </dgm:constrLst>
            </dgm:if>
            <dgm:if name="Name43" axis="ch" ptType="node" func="cnt" op="gte" val="6">
              <dgm:constrLst>
                <dgm:constr type="w" for="ch" forName="circle5" refType="w"/>
                <dgm:constr type="h" for="ch" forName="circle5" refType="h"/>
                <dgm:constr type="ctrX" for="ch" forName="circle5" refType="w" fact="0.5"/>
                <dgm:constr type="ctrY" for="ch" forName="circle5" refType="h" fact="0.5"/>
                <dgm:constr type="ctrX" for="ch" forName="c5text" refType="w" fact="0.5"/>
                <dgm:constr type="ctrY" for="ch" forName="c5text" refType="h" fact="0.25"/>
                <dgm:constr type="w" for="ch" forName="c5text" refType="w" refFor="ch" refForName="circle5" fact="0.65"/>
                <dgm:constr type="h" for="ch" forName="c5text" refType="h" refFor="ch" refForName="circle5" fact="0.25"/>
              </dgm:constrLst>
            </dgm:if>
            <dgm:else name="Name44"/>
          </dgm:choose>
          <dgm:ruleLst/>
          <dgm:layoutNode name="circle5" styleLbl="node1">
            <dgm:alg type="sp"/>
            <dgm:shape xmlns:r="http://schemas.openxmlformats.org/officeDocument/2006/relationships" type="ellipse" r:blip="">
              <dgm:adjLst/>
            </dgm:shape>
            <dgm:presOf axis="ch desOrSelf" ptType="node node" st="5 1" cnt="1 0"/>
            <dgm:constrLst>
              <dgm:constr type="h" refType="w"/>
            </dgm:constrLst>
            <dgm:ruleLst/>
          </dgm:layoutNode>
          <dgm:layoutNode name="c5text">
            <dgm:varLst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ch desOrSelf" ptType="node node" st="5 1" cnt="1 0"/>
            <dgm:constrLst/>
            <dgm:ruleLst>
              <dgm:rule type="primFontSz" val="5" fact="NaN" max="NaN"/>
            </dgm:ruleLst>
          </dgm:layoutNode>
        </dgm:layoutNode>
      </dgm:if>
      <dgm:else name="Name45"/>
    </dgm:choose>
    <dgm:choose name="Name46">
      <dgm:if name="Name47" axis="ch" ptType="node" func="cnt" op="gte" val="6">
        <dgm:layoutNode name="comp6">
          <dgm:alg type="composite"/>
          <dgm:shape xmlns:r="http://schemas.openxmlformats.org/officeDocument/2006/relationships" r:blip="">
            <dgm:adjLst/>
          </dgm:shape>
          <dgm:presOf/>
          <dgm:choose name="Name48">
            <dgm:if name="Name49" axis="ch" ptType="node" func="cnt" op="equ" val="6">
              <dgm:constrLst>
                <dgm:constr type="w" for="ch" forName="circle6" refType="w"/>
                <dgm:constr type="h" for="ch" forName="circle6" refType="h"/>
                <dgm:constr type="ctrX" for="ch" forName="circle6" refType="w" fact="0.5"/>
                <dgm:constr type="ctrY" for="ch" forName="circle6" refType="h" fact="0.5"/>
                <dgm:constr type="ctrX" for="ch" forName="c6text" refType="w" fact="0.5"/>
                <dgm:constr type="ctrY" for="ch" forName="c6text" refType="h" fact="0.5"/>
                <dgm:constr type="w" for="ch" forName="c6text" refType="w" refFor="ch" refForName="circle6" fact="0.70711"/>
                <dgm:constr type="h" for="ch" forName="c6text" refType="h" refFor="ch" refForName="circle6" fact="0.5"/>
              </dgm:constrLst>
            </dgm:if>
            <dgm:if name="Name50" axis="ch" ptType="node" func="cnt" op="gte" val="7">
              <dgm:constrLst>
                <dgm:constr type="w" for="ch" forName="circle6" refType="w"/>
                <dgm:constr type="h" for="ch" forName="circle6" refType="h"/>
                <dgm:constr type="ctrX" for="ch" forName="circle6" refType="w" fact="0.5"/>
                <dgm:constr type="ctrY" for="ch" forName="circle6" refType="h" fact="0.5"/>
                <dgm:constr type="ctrX" for="ch" forName="c6text" refType="w" fact="0.5"/>
                <dgm:constr type="ctrY" for="ch" forName="c6text" refType="h" fact="0.27"/>
                <dgm:constr type="w" for="ch" forName="c6text" refType="w" refFor="ch" refForName="circle6" fact="0.68"/>
                <dgm:constr type="h" for="ch" forName="c6text" refType="h" refFor="ch" refForName="circle6" fact="0.241"/>
              </dgm:constrLst>
            </dgm:if>
            <dgm:else name="Name51"/>
          </dgm:choose>
          <dgm:ruleLst/>
          <dgm:layoutNode name="circle6" styleLbl="node1">
            <dgm:alg type="sp"/>
            <dgm:shape xmlns:r="http://schemas.openxmlformats.org/officeDocument/2006/relationships" type="ellipse" r:blip="">
              <dgm:adjLst/>
            </dgm:shape>
            <dgm:presOf axis="ch desOrSelf" ptType="node node" st="6 1" cnt="1 0"/>
            <dgm:constrLst>
              <dgm:constr type="h" refType="w"/>
            </dgm:constrLst>
            <dgm:ruleLst/>
          </dgm:layoutNode>
          <dgm:layoutNode name="c6text">
            <dgm:varLst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ch desOrSelf" ptType="node node" st="6 1" cnt="1 0"/>
            <dgm:constrLst/>
            <dgm:ruleLst>
              <dgm:rule type="primFontSz" val="5" fact="NaN" max="NaN"/>
            </dgm:ruleLst>
          </dgm:layoutNode>
        </dgm:layoutNode>
      </dgm:if>
      <dgm:else name="Name52"/>
    </dgm:choose>
    <dgm:choose name="Name53">
      <dgm:if name="Name54" axis="ch" ptType="node" func="cnt" op="gte" val="7">
        <dgm:layoutNode name="comp7">
          <dgm:alg type="composite"/>
          <dgm:shape xmlns:r="http://schemas.openxmlformats.org/officeDocument/2006/relationships" r:blip="">
            <dgm:adjLst/>
          </dgm:shape>
          <dgm:presOf/>
          <dgm:constrLst>
            <dgm:constr type="w" for="ch" forName="circle7" refType="w"/>
            <dgm:constr type="h" for="ch" forName="circle7" refType="h"/>
            <dgm:constr type="ctrX" for="ch" forName="circle7" refType="w" fact="0.5"/>
            <dgm:constr type="ctrY" for="ch" forName="circle7" refType="h" fact="0.5"/>
            <dgm:constr type="ctrX" for="ch" forName="c7text" refType="w" fact="0.5"/>
            <dgm:constr type="ctrY" for="ch" forName="c7text" refType="h" fact="0.5"/>
            <dgm:constr type="w" for="ch" forName="c7text" refType="w" refFor="ch" refForName="circle7" fact="0.70711"/>
            <dgm:constr type="h" for="ch" forName="c7text" refType="h" refFor="ch" refForName="circle7" fact="0.5"/>
          </dgm:constrLst>
          <dgm:ruleLst/>
          <dgm:layoutNode name="circle7" styleLbl="node1">
            <dgm:alg type="sp"/>
            <dgm:shape xmlns:r="http://schemas.openxmlformats.org/officeDocument/2006/relationships" type="ellipse" r:blip="">
              <dgm:adjLst/>
            </dgm:shape>
            <dgm:presOf axis="ch desOrSelf" ptType="node node" st="7 1" cnt="1 0"/>
            <dgm:constrLst>
              <dgm:constr type="h" refType="w"/>
            </dgm:constrLst>
            <dgm:ruleLst/>
          </dgm:layoutNode>
          <dgm:layoutNode name="c7text">
            <dgm:varLst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ch desOrSelf" ptType="node node" st="7 1" cnt="1 0"/>
            <dgm:constrLst/>
            <dgm:ruleLst>
              <dgm:rule type="primFontSz" val="5" fact="NaN" max="NaN"/>
            </dgm:ruleLst>
          </dgm:layoutNode>
        </dgm:layoutNode>
      </dgm:if>
      <dgm:else name="Name55"/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9">
  <dgm:title val=""/>
  <dgm:desc val=""/>
  <dgm:catLst>
    <dgm:cat type="3D" pri="11900"/>
  </dgm:catLst>
  <dgm:scene3d>
    <a:camera prst="perspectiveRelaxed">
      <a:rot lat="19149996" lon="20104178" rev="1577324"/>
    </a:camera>
    <a:lightRig rig="soft" dir="t"/>
    <a:backdrop>
      <a:anchor x="0" y="0" z="-210000"/>
      <a:norm dx="0" dy="0" dz="914400"/>
      <a:up dx="0" dy="914400" dz="0"/>
    </a:backdrop>
  </dgm:scene3d>
  <dgm:styleLbl name="node0">
    <dgm:scene3d>
      <a:camera prst="orthographicFront"/>
      <a:lightRig rig="threePt" dir="t"/>
    </dgm:scene3d>
    <dgm:sp3d extrusionH="152250" prstMaterial="matte">
      <a:bevelT w="165100" prst="coolSlant"/>
    </dgm:sp3d>
    <dgm:txPr>
      <a:sp3d extrusionH="28000" prstMaterial="matte"/>
    </dgm:txPr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 extrusionH="152250" prstMaterial="matte">
      <a:bevelT w="165100" prst="coolSlant"/>
    </dgm:sp3d>
    <dgm:txPr>
      <a:sp3d extrusionH="28000" prstMaterial="matte"/>
    </dgm:txPr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 extrusionH="152250" prstMaterial="matte">
      <a:bevelT w="165100" prst="coolSlant"/>
    </dgm:sp3d>
    <dgm:txPr>
      <a:sp3d extrusionH="28000" prstMaterial="matte"/>
    </dgm:txPr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 extrusionH="152250" prstMaterial="matte">
      <a:bevelT w="165100" prst="coolSlant"/>
    </dgm:sp3d>
    <dgm:txPr>
      <a:sp3d extrusionH="28000" prstMaterial="matte"/>
    </dgm:txPr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 extrusionH="152250" prstMaterial="matte">
      <a:bevelT w="165100" prst="coolSlant"/>
    </dgm:sp3d>
    <dgm:txPr>
      <a:sp3d extrusionH="28000" prstMaterial="matte"/>
    </dgm:txPr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 extrusionH="152250" prstMaterial="matte">
      <a:bevelT w="165100" prst="coolSlant"/>
    </dgm:sp3d>
    <dgm:txPr>
      <a:sp3d extrusionH="28000" prstMaterial="matte"/>
    </dgm:txPr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 extrusionH="152250" prstMaterial="matte">
      <a:bevelT w="165100" prst="coolSlant"/>
    </dgm:sp3d>
    <dgm:txPr>
      <a:sp3d extrusionH="28000" prstMaterial="matte"/>
    </dgm:txPr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 extrusionH="152250" prstMaterial="matte">
      <a:bevelT w="165100" prst="coolSlant"/>
    </dgm:sp3d>
    <dgm:txPr>
      <a:sp3d extrusionH="28000" prstMaterial="matte"/>
    </dgm:txPr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 extrusionH="152250" prstMaterial="matte">
      <a:bevelT w="165100" prst="coolSlan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 z="-22735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 z="-22735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 prstMaterial="matte"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 z="-22735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 z="-22735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 extrusionH="152250" prstMaterial="matte">
      <a:bevelT w="165100" prst="coolSlant"/>
    </dgm:sp3d>
    <dgm:txPr>
      <a:sp3d extrusionH="28000" prstMaterial="matte"/>
    </dgm:txPr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 extrusionH="152250" prstMaterial="matte">
      <a:bevelT w="165100" prst="coolSlant"/>
    </dgm:sp3d>
    <dgm:txPr>
      <a:sp3d extrusionH="28000" prstMaterial="matte"/>
    </dgm:txPr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 extrusionH="152250" prstMaterial="matte">
      <a:bevelT w="165100" prst="coolSlant"/>
    </dgm:sp3d>
    <dgm:txPr>
      <a:sp3d extrusionH="28000" prstMaterial="matte"/>
    </dgm:txPr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 extrusionH="152250" prstMaterial="matte">
      <a:bevelT w="165100" prst="coolSlant"/>
    </dgm:sp3d>
    <dgm:txPr>
      <a:sp3d extrusionH="28000" prstMaterial="matte"/>
    </dgm:txPr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 z="-22735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 z="-22735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 z="-227350" prstMaterial="matte"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 z="-227350" prstMaterial="matte"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 z="-22735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 z="-22735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 z="-22735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 z="-22735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 z="-22735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 extrusionH="152250" prstMaterial="matte">
      <a:bevelT w="165100" prst="coolSlant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 extrusionH="152250" prstMaterial="matte">
      <a:bevelT w="165100" prst="coolSlant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 z="-22735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 extrusionH="152250" prstMaterial="matte">
      <a:bevelT w="165100" prst="coolSlant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 z="-22735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 extrusionH="152250" prstMaterial="matte">
      <a:bevelT w="165100" prst="coolSlant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 z="-22735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 z="-22735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 z="-22735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trBgShp">
    <dgm:scene3d>
      <a:camera prst="orthographicFront"/>
      <a:lightRig rig="threePt" dir="t"/>
    </dgm:scene3d>
    <dgm:sp3d z="-22735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>
      <a:sp3d extrusionH="28000" prstMaterial="matte"/>
    </dgm:txPr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7505754-C48E-DF4E-9B84-E7B6A3B19E2D}" type="datetimeFigureOut">
              <a:rPr lang="en-US" smtClean="0"/>
              <a:t>7/3/26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BB0362E-5C5C-984E-ABC7-C52ED959C0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50992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03BC77-BAF6-CD28-FA7D-D59C5525AA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FFD670-1CEC-D74C-4A05-51A82D90E2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E84B4A-6795-02D7-673A-BCCB278BA2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Hi. Welcome to this episode of Emergent Nature. </a:t>
            </a:r>
          </a:p>
          <a:p>
            <a:endParaRPr lang="en-US" dirty="0"/>
          </a:p>
          <a:p>
            <a:r>
              <a:rPr lang="en-US" dirty="0"/>
              <a:t>My name is J Mark Morris. I go by Mark.</a:t>
            </a:r>
          </a:p>
          <a:p>
            <a:endParaRPr lang="en-US" dirty="0"/>
          </a:p>
          <a:p>
            <a:r>
              <a:rPr lang="en-US" dirty="0"/>
              <a:t>In this episode I’ll discuss the error that caused science to go off track into general relativity and quantum mechanics.</a:t>
            </a:r>
          </a:p>
          <a:p>
            <a:endParaRPr lang="en-US" dirty="0"/>
          </a:p>
          <a:p>
            <a:r>
              <a:rPr lang="en-US" dirty="0"/>
              <a:t>That may seem like an unusual thing to say, since general relativity and quantum theory are generally considered to be successful effective theories.</a:t>
            </a:r>
          </a:p>
          <a:p>
            <a:endParaRPr lang="en-US" dirty="0"/>
          </a:p>
          <a:p>
            <a:r>
              <a:rPr lang="en-US" dirty="0"/>
              <a:t>However, as we will see, an error circa 1900 threw science off track.</a:t>
            </a:r>
          </a:p>
          <a:p>
            <a:endParaRPr lang="en-US" dirty="0"/>
          </a:p>
          <a:p>
            <a:r>
              <a:rPr lang="en-US" dirty="0"/>
              <a:t>There is a parsimonious solution to nature.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7994F9-2BF6-D957-AB37-2EBE65B407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C398A3-AF21-A342-B6A8-6929C36BB1B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023580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6E3E94-CC92-C8A9-85EC-3FC93BCAFB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900915D-200B-EF7D-C77F-F0806AAB73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9CB3727-192B-65C3-9CDF-6276AE9BE0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Hi. Welcome to this episode of Emergent Nature. </a:t>
            </a:r>
          </a:p>
          <a:p>
            <a:endParaRPr lang="en-US" dirty="0"/>
          </a:p>
          <a:p>
            <a:r>
              <a:rPr lang="en-US" dirty="0"/>
              <a:t>My name is J Mark Morris. I go by Mark.</a:t>
            </a:r>
          </a:p>
          <a:p>
            <a:endParaRPr lang="en-US" dirty="0"/>
          </a:p>
          <a:p>
            <a:r>
              <a:rPr lang="en-US" dirty="0"/>
              <a:t>In this episode I’ll discuss the error that caused science to go off track into general relativity and quantum mechanics.</a:t>
            </a:r>
          </a:p>
          <a:p>
            <a:endParaRPr lang="en-US" dirty="0"/>
          </a:p>
          <a:p>
            <a:r>
              <a:rPr lang="en-US" dirty="0"/>
              <a:t>That may seem like an unusual thing to say, since general relativity and quantum theory are generally considered to be successful effective theories.</a:t>
            </a:r>
          </a:p>
          <a:p>
            <a:endParaRPr lang="en-US" dirty="0"/>
          </a:p>
          <a:p>
            <a:r>
              <a:rPr lang="en-US" dirty="0"/>
              <a:t>However, as we will see, an error circa 1900 threw science off track.</a:t>
            </a:r>
          </a:p>
          <a:p>
            <a:endParaRPr lang="en-US" dirty="0"/>
          </a:p>
          <a:p>
            <a:r>
              <a:rPr lang="en-US" dirty="0"/>
              <a:t>There is a parsimonious solution to nature.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161451-A9AA-B5C3-8E77-A4A49856A3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C398A3-AF21-A342-B6A8-6929C36BB1B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2284027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DA7925-154D-5B7A-5702-0EACD395E3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B1A3A45-82D3-4422-9208-87570272AB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4ED792B-E5C1-DEAD-19B5-5DD7BDBE7D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Hi. Welcome to this episode of Emergent Nature. </a:t>
            </a:r>
          </a:p>
          <a:p>
            <a:endParaRPr lang="en-US" dirty="0"/>
          </a:p>
          <a:p>
            <a:r>
              <a:rPr lang="en-US" dirty="0"/>
              <a:t>My name is J Mark Morris. I go by Mark.</a:t>
            </a:r>
          </a:p>
          <a:p>
            <a:endParaRPr lang="en-US" dirty="0"/>
          </a:p>
          <a:p>
            <a:r>
              <a:rPr lang="en-US" dirty="0"/>
              <a:t>In this episode I’ll discuss the error that caused science to go off track into general relativity and quantum mechanics.</a:t>
            </a:r>
          </a:p>
          <a:p>
            <a:endParaRPr lang="en-US" dirty="0"/>
          </a:p>
          <a:p>
            <a:r>
              <a:rPr lang="en-US" dirty="0"/>
              <a:t>That may seem like an unusual thing to say, since general relativity and quantum theory are generally considered to be successful effective theories.</a:t>
            </a:r>
          </a:p>
          <a:p>
            <a:endParaRPr lang="en-US" dirty="0"/>
          </a:p>
          <a:p>
            <a:r>
              <a:rPr lang="en-US" dirty="0"/>
              <a:t>However, as we will see, an error circa 1900 threw science off track.</a:t>
            </a:r>
          </a:p>
          <a:p>
            <a:endParaRPr lang="en-US" dirty="0"/>
          </a:p>
          <a:p>
            <a:r>
              <a:rPr lang="en-US" dirty="0"/>
              <a:t>There is a parsimonious solution to nature.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162BAB-B476-538B-F6C5-748305F859B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C398A3-AF21-A342-B6A8-6929C36BB1B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3410261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D307E2-1E26-EE2B-C8AB-E80009B588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3B5B6C8-E7D5-3A93-EFCA-C196EEE21A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759DCE1-3CDE-9586-5794-299DFA5BDF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Hi. Welcome to this episode of Emergent Nature. </a:t>
            </a:r>
          </a:p>
          <a:p>
            <a:endParaRPr lang="en-US" dirty="0"/>
          </a:p>
          <a:p>
            <a:r>
              <a:rPr lang="en-US" dirty="0"/>
              <a:t>My name is J Mark Morris. I go by Mark.</a:t>
            </a:r>
          </a:p>
          <a:p>
            <a:endParaRPr lang="en-US" dirty="0"/>
          </a:p>
          <a:p>
            <a:r>
              <a:rPr lang="en-US" dirty="0"/>
              <a:t>In this episode I’ll discuss the error that caused science to go off track into general relativity and quantum mechanics.</a:t>
            </a:r>
          </a:p>
          <a:p>
            <a:endParaRPr lang="en-US" dirty="0"/>
          </a:p>
          <a:p>
            <a:r>
              <a:rPr lang="en-US" dirty="0"/>
              <a:t>That may seem like an unusual thing to say, since general relativity and quantum theory are generally considered to be successful effective theories.</a:t>
            </a:r>
          </a:p>
          <a:p>
            <a:endParaRPr lang="en-US" dirty="0"/>
          </a:p>
          <a:p>
            <a:r>
              <a:rPr lang="en-US" dirty="0"/>
              <a:t>However, as we will see, an error circa 1900 threw science off track.</a:t>
            </a:r>
          </a:p>
          <a:p>
            <a:endParaRPr lang="en-US" dirty="0"/>
          </a:p>
          <a:p>
            <a:r>
              <a:rPr lang="en-US" dirty="0"/>
              <a:t>There is a parsimonious solution to nature.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F999F4-210B-9AE5-4ACA-A1998CC4B6B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C398A3-AF21-A342-B6A8-6929C36BB1B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7185967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C06EAE-DE53-A5B5-CF94-F7B68F0581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E17579-08BF-A8CC-E163-8F9954A834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0F271A1-C072-6E70-4362-D2CB88F8DC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Hi. Welcome to this episode of Emergent Nature. </a:t>
            </a:r>
          </a:p>
          <a:p>
            <a:endParaRPr lang="en-US" dirty="0"/>
          </a:p>
          <a:p>
            <a:r>
              <a:rPr lang="en-US" dirty="0"/>
              <a:t>My name is J Mark Morris. I go by Mark.</a:t>
            </a:r>
          </a:p>
          <a:p>
            <a:endParaRPr lang="en-US" dirty="0"/>
          </a:p>
          <a:p>
            <a:r>
              <a:rPr lang="en-US" dirty="0"/>
              <a:t>In this episode I’ll discuss the error that caused science to go off track into general relativity and quantum mechanics.</a:t>
            </a:r>
          </a:p>
          <a:p>
            <a:endParaRPr lang="en-US" dirty="0"/>
          </a:p>
          <a:p>
            <a:r>
              <a:rPr lang="en-US" dirty="0"/>
              <a:t>That may seem like an unusual thing to say, since general relativity and quantum theory are generally considered to be successful effective theories.</a:t>
            </a:r>
          </a:p>
          <a:p>
            <a:endParaRPr lang="en-US" dirty="0"/>
          </a:p>
          <a:p>
            <a:r>
              <a:rPr lang="en-US" dirty="0"/>
              <a:t>However, as we will see, an error circa 1900 threw science off track.</a:t>
            </a:r>
          </a:p>
          <a:p>
            <a:endParaRPr lang="en-US" dirty="0"/>
          </a:p>
          <a:p>
            <a:r>
              <a:rPr lang="en-US" dirty="0"/>
              <a:t>There is a parsimonious solution to nature.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AF084F-2F06-9B47-093F-73D52CE627F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C398A3-AF21-A342-B6A8-6929C36BB1B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9662368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D6AC4F-7A0F-A943-A37C-CBCA0E32BF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6A297DA-E85E-0C4F-99BF-0A156C60B78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D6CA89-2D26-3A41-89B1-5012647427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42ED2-DF18-DB41-BB39-D7AA7F2F2082}" type="datetimeFigureOut">
              <a:rPr lang="en-US" smtClean="0"/>
              <a:t>7/3/26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BAD168-D168-924A-82CE-07F9D6F7CD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D38C6D-1145-FE40-A5F3-AA76BBFA80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4A510-E3A4-8144-9597-B0C6EECC92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51053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104DC4-2DA1-B348-A4DF-75DC7F91C2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0539A7-F958-5045-8004-AB9AE1A96D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D4E59F-8028-6640-B7CD-712A00A55C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42ED2-DF18-DB41-BB39-D7AA7F2F2082}" type="datetimeFigureOut">
              <a:rPr lang="en-US" smtClean="0"/>
              <a:t>7/3/26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35207B-575E-EB46-9167-DC8B9A1A77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325824-8924-0F4E-BA06-D6714EF019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4A510-E3A4-8144-9597-B0C6EECC92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7659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AC153B-5FCE-B74A-A920-BCEF1F63D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3B97D35-0983-3A42-B252-8AD80D9BF1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21E38F-3C0D-E140-A6E9-29E4DFD584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42ED2-DF18-DB41-BB39-D7AA7F2F2082}" type="datetimeFigureOut">
              <a:rPr lang="en-US" smtClean="0"/>
              <a:t>7/3/26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31BD2A-DB13-B24A-BBFC-927CE89613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A7F839-BEAD-4046-84B9-B65359FFF1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4A510-E3A4-8144-9597-B0C6EECC92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71251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6CC177-DB72-3842-8FEB-9F3714731A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3F9017-D4AC-4443-9CD1-2655A6BD26A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D78D979-597B-B94B-BB54-1E681A7ECD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6A3BD60-7139-A04D-9B93-01CBEFB009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42ED2-DF18-DB41-BB39-D7AA7F2F2082}" type="datetimeFigureOut">
              <a:rPr lang="en-US" smtClean="0"/>
              <a:t>7/3/26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7B9F3AA-F8ED-E14B-85E0-12F62683C4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17C5392-4C49-3D4E-A960-85F3FF79B1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4A510-E3A4-8144-9597-B0C6EECC92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64490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6C7FD0-5120-0C4E-9ED8-2E64DC8B93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ECB33E-1A4C-E646-937B-3065B793BD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8E4967C-4E8D-224B-B99B-5A8BFB4A646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2B943C8-A2E5-9D40-B765-79FA0F4A92E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F450570-0F93-F641-B441-AF42A2D4E4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71A5EAD-E92B-9048-B9C8-92222381FE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42ED2-DF18-DB41-BB39-D7AA7F2F2082}" type="datetimeFigureOut">
              <a:rPr lang="en-US" smtClean="0"/>
              <a:t>7/3/26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1BD3873-3B3E-ED46-AB43-A96EABCE28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0982CEE-B54E-EB49-A16C-7BD03BE41C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4A510-E3A4-8144-9597-B0C6EECC92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7974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A6FC62-6751-0643-9250-97D2B5E359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E19D249-AD5C-E04F-9713-314E504E7A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42ED2-DF18-DB41-BB39-D7AA7F2F2082}" type="datetimeFigureOut">
              <a:rPr lang="en-US" smtClean="0"/>
              <a:t>7/3/26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9FAE547-A907-884B-BE81-EF89D3D64A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B72ED8E-C4AB-F14B-8929-F9E030329E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4A510-E3A4-8144-9597-B0C6EECC92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24945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574BB6F-7B9B-964D-886B-D85350A3C9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42ED2-DF18-DB41-BB39-D7AA7F2F2082}" type="datetimeFigureOut">
              <a:rPr lang="en-US" smtClean="0"/>
              <a:t>7/3/26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B12AF3E-955F-E044-BADD-4B3F334697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694269-793F-EC42-A5AD-E4EDD73AAD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4A510-E3A4-8144-9597-B0C6EECC92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73203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2D5B24-7F29-EB4C-8550-397A4EF22B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2BE189-5B1A-7048-AE10-17298DF6DC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B40FD4A-1397-2F45-A4D7-06ABB587632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1F62886-2AD3-CD44-9D2F-2032001175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42ED2-DF18-DB41-BB39-D7AA7F2F2082}" type="datetimeFigureOut">
              <a:rPr lang="en-US" smtClean="0"/>
              <a:t>7/3/26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45F0679-BAA2-4A4A-A43D-4712441F01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9F063EA-2E55-AB41-AAC6-3B06B0A425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4A510-E3A4-8144-9597-B0C6EECC92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47454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FBCBE6-8654-C64C-A30A-1F235AC123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1F834EB-69C2-AA42-98DA-7B4340442C4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1F0A069-EA0A-1644-B57A-5EAE0C27D7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C095D40-9D00-D947-957C-66E69B00B7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42ED2-DF18-DB41-BB39-D7AA7F2F2082}" type="datetimeFigureOut">
              <a:rPr lang="en-US" smtClean="0"/>
              <a:t>7/3/26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D6C0489-A2A3-BD45-A96A-DD5F4DAED3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5B4D875-A92C-C04E-8A5E-F2BC568281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4A510-E3A4-8144-9597-B0C6EECC92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62296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09C65C-399B-6E41-B6BD-80F186188A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F25FAD-24BB-2D45-A8F1-E9A895511D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CE0D81-B122-544D-8ACE-546BF4911D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42ED2-DF18-DB41-BB39-D7AA7F2F2082}" type="datetimeFigureOut">
              <a:rPr lang="en-US" smtClean="0"/>
              <a:t>7/3/26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74E702-5864-8141-AF11-25FF6E46C8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F83AE1-F5D3-DF4B-8CC4-896B37D8A1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4A510-E3A4-8144-9597-B0C6EECC92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19727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E62BFE7-4426-2841-9026-40331CF4D86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EAFECEF-DF15-7A4D-BABF-0E2EA14CC5F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D24D43-6AD7-3A4D-9528-F70FC789D5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42ED2-DF18-DB41-BB39-D7AA7F2F2082}" type="datetimeFigureOut">
              <a:rPr lang="en-US" smtClean="0"/>
              <a:t>7/3/26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DD42A1-B626-9246-BFA2-70780398A2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E7DCD8-6D3F-824E-8311-38CE4EC557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4A510-E3A4-8144-9597-B0C6EECC92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67320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7D8D635-033D-CA45-AECF-FEC145E57A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B899257-A465-2C4D-9918-BC8C54895E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4DCD3B-E2F2-854E-BB00-D5B0BB2A985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3E42ED2-DF18-DB41-BB39-D7AA7F2F2082}" type="datetimeFigureOut">
              <a:rPr lang="en-US" smtClean="0"/>
              <a:t>7/3/26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E405ED-7212-D349-B4CE-23AE6F2BE7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D46886-3E69-B540-9366-21DA707D68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1D4A510-E3A4-8144-9597-B0C6EECC92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5738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6" r:id="rId1"/>
    <p:sldLayoutId id="2147483657" r:id="rId2"/>
    <p:sldLayoutId id="2147483658" r:id="rId3"/>
    <p:sldLayoutId id="2147483659" r:id="rId4"/>
    <p:sldLayoutId id="2147483660" r:id="rId5"/>
    <p:sldLayoutId id="2147483661" r:id="rId6"/>
    <p:sldLayoutId id="2147483662" r:id="rId7"/>
    <p:sldLayoutId id="2147483663" r:id="rId8"/>
    <p:sldLayoutId id="2147483664" r:id="rId9"/>
    <p:sldLayoutId id="2147483665" r:id="rId10"/>
    <p:sldLayoutId id="2147483666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95AD505-148F-7C13-EC73-22518E14F4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3C53938-22FE-22BD-E59A-97F76192783B}"/>
              </a:ext>
            </a:extLst>
          </p:cNvPr>
          <p:cNvSpPr txBox="1"/>
          <p:nvPr/>
        </p:nvSpPr>
        <p:spPr>
          <a:xfrm>
            <a:off x="0" y="858908"/>
            <a:ext cx="12191999" cy="39539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0" b="1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Helvetica Neue Condensed Black" panose="02000503000000020004" pitchFamily="2" charset="0"/>
                <a:ea typeface="Helvetica Neue Condensed Black" panose="02000503000000020004" pitchFamily="2" charset="0"/>
                <a:cs typeface="Helvetica Neue Condensed Black" panose="02000503000000020004" pitchFamily="2" charset="0"/>
              </a:rPr>
              <a:t>What Life Form </a:t>
            </a:r>
            <a:br>
              <a:rPr kumimoji="0" lang="en-US" sz="11500" b="1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Helvetica Neue Condensed Black" panose="02000503000000020004" pitchFamily="2" charset="0"/>
                <a:ea typeface="Helvetica Neue Condensed Black" panose="02000503000000020004" pitchFamily="2" charset="0"/>
                <a:cs typeface="Helvetica Neue Condensed Black" panose="02000503000000020004" pitchFamily="2" charset="0"/>
              </a:rPr>
            </a:br>
            <a:r>
              <a:rPr kumimoji="0" lang="en-US" sz="11500" b="1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Helvetica Neue Condensed Black" panose="02000503000000020004" pitchFamily="2" charset="0"/>
                <a:ea typeface="Helvetica Neue Condensed Black" panose="02000503000000020004" pitchFamily="2" charset="0"/>
                <a:cs typeface="Helvetica Neue Condensed Black" panose="02000503000000020004" pitchFamily="2" charset="0"/>
              </a:rPr>
              <a:t>has the Fewest </a:t>
            </a:r>
          </a:p>
          <a:p>
            <a:pPr marL="0" marR="0" lvl="0" indent="0" algn="ctr" defTabSz="914400" rtl="0" eaLnBrk="1" fontAlgn="auto" latinLnBrk="0" hangingPunct="1">
              <a:lnSpc>
                <a:spcPts val="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0" b="1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Helvetica Neue Condensed Black" panose="02000503000000020004" pitchFamily="2" charset="0"/>
                <a:ea typeface="Helvetica Neue Condensed Black" panose="02000503000000020004" pitchFamily="2" charset="0"/>
                <a:cs typeface="Helvetica Neue Condensed Black" panose="02000503000000020004" pitchFamily="2" charset="0"/>
              </a:rPr>
              <a:t>Architrinos?</a:t>
            </a:r>
            <a:endParaRPr kumimoji="0" lang="en-US" sz="11500" b="1" i="0" u="none" strike="noStrike" kern="1200" cap="none" spc="0" normalizeH="0" baseline="0" noProof="0" dirty="0">
              <a:ln>
                <a:noFill/>
              </a:ln>
              <a:solidFill>
                <a:srgbClr val="FF8AD8"/>
              </a:solidFill>
              <a:effectLst/>
              <a:uLnTx/>
              <a:uFillTx/>
              <a:latin typeface="Helvetica Neue Condensed Black" panose="02000503000000020004" pitchFamily="2" charset="0"/>
              <a:ea typeface="Helvetica Neue Condensed Black" panose="02000503000000020004" pitchFamily="2" charset="0"/>
              <a:cs typeface="Helvetica Neue Condensed Black" panose="02000503000000020004" pitchFamily="2" charset="0"/>
            </a:endParaRPr>
          </a:p>
        </p:txBody>
      </p:sp>
      <p:sp>
        <p:nvSpPr>
          <p:cNvPr id="3" name="Footer Placeholder 3"/>
          <p:cNvSpPr txBox="1">
            <a:spLocks/>
          </p:cNvSpPr>
          <p:nvPr/>
        </p:nvSpPr>
        <p:spPr>
          <a:xfrm>
            <a:off x="10942204" y="6481737"/>
            <a:ext cx="121744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architrino.com</a:t>
            </a:r>
          </a:p>
        </p:txBody>
      </p:sp>
    </p:spTree>
    <p:extLst>
      <p:ext uri="{BB962C8B-B14F-4D97-AF65-F5344CB8AC3E}">
        <p14:creationId xmlns:p14="http://schemas.microsoft.com/office/powerpoint/2010/main" val="33117132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65CF149-638E-D4FE-A688-5F738F294D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A22E71C-3B43-3887-6804-C1009A7A1619}"/>
              </a:ext>
            </a:extLst>
          </p:cNvPr>
          <p:cNvSpPr txBox="1"/>
          <p:nvPr/>
        </p:nvSpPr>
        <p:spPr>
          <a:xfrm>
            <a:off x="0" y="186247"/>
            <a:ext cx="12191999" cy="13747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0000"/>
              </a:lnSpc>
              <a:defRPr/>
            </a:pPr>
            <a:r>
              <a:rPr kumimoji="0" lang="en-US" sz="8800" b="1" i="0" u="none" strike="noStrike" kern="1200" cap="none" spc="0" normalizeH="0" baseline="0" noProof="0" dirty="0" err="1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Helvetica Neue Condensed Black" panose="02000503000000020004" pitchFamily="2" charset="0"/>
                <a:ea typeface="Helvetica Neue Condensed Black" panose="02000503000000020004" pitchFamily="2" charset="0"/>
                <a:cs typeface="Helvetica Neue Condensed Black" panose="02000503000000020004" pitchFamily="2" charset="0"/>
              </a:rPr>
              <a:t>Nanoarchaeum</a:t>
            </a:r>
            <a:r>
              <a:rPr kumimoji="0" lang="en-US" sz="8800" b="1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Helvetica Neue Condensed Black" panose="02000503000000020004" pitchFamily="2" charset="0"/>
                <a:ea typeface="Helvetica Neue Condensed Black" panose="02000503000000020004" pitchFamily="2" charset="0"/>
                <a:cs typeface="Helvetica Neue Condensed Black" panose="02000503000000020004" pitchFamily="2" charset="0"/>
              </a:rPr>
              <a:t> </a:t>
            </a:r>
            <a:r>
              <a:rPr kumimoji="0" lang="en-US" sz="8800" b="1" i="0" u="none" strike="noStrike" kern="1200" cap="none" spc="0" normalizeH="0" baseline="0" noProof="0" dirty="0" err="1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Helvetica Neue Condensed Black" panose="02000503000000020004" pitchFamily="2" charset="0"/>
                <a:ea typeface="Helvetica Neue Condensed Black" panose="02000503000000020004" pitchFamily="2" charset="0"/>
                <a:cs typeface="Helvetica Neue Condensed Black" panose="02000503000000020004" pitchFamily="2" charset="0"/>
              </a:rPr>
              <a:t>equitans</a:t>
            </a:r>
            <a:endParaRPr kumimoji="0" lang="en-US" sz="8800" b="1" i="0" u="none" strike="noStrike" kern="1200" cap="none" spc="0" normalizeH="0" baseline="0" noProof="0" dirty="0">
              <a:ln>
                <a:noFill/>
              </a:ln>
              <a:solidFill>
                <a:srgbClr val="FFC000"/>
              </a:solidFill>
              <a:effectLst/>
              <a:uLnTx/>
              <a:uFillTx/>
              <a:latin typeface="Helvetica Neue Condensed Black" panose="02000503000000020004" pitchFamily="2" charset="0"/>
              <a:ea typeface="Helvetica Neue Condensed Black" panose="02000503000000020004" pitchFamily="2" charset="0"/>
              <a:cs typeface="Helvetica Neue Condensed Black" panose="02000503000000020004" pitchFamily="2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FD60923-3051-E75C-EBA1-5F01B55BA37A}"/>
              </a:ext>
            </a:extLst>
          </p:cNvPr>
          <p:cNvSpPr txBox="1"/>
          <p:nvPr/>
        </p:nvSpPr>
        <p:spPr>
          <a:xfrm>
            <a:off x="0" y="1568935"/>
            <a:ext cx="12191999" cy="4816234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285750" indent="-285750">
              <a:buFont typeface="Arial" panose="020B0604020202020204" pitchFamily="34" charset="0"/>
              <a:buChar char="•"/>
              <a:defRPr/>
            </a:pPr>
            <a:endParaRPr kumimoji="0" lang="en-US" sz="2000" b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marL="742950" lvl="1" indent="-285750">
              <a:buFont typeface="Arial" panose="020B0604020202020204" pitchFamily="34" charset="0"/>
              <a:buChar char="•"/>
              <a:defRPr/>
            </a:pPr>
            <a:r>
              <a:rPr lang="en-US" sz="20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 smallest living organism recognized by scientists is </a:t>
            </a:r>
            <a:r>
              <a:rPr lang="en-US" sz="2000" b="1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Nanoarchaeum</a:t>
            </a:r>
            <a:r>
              <a:rPr lang="en-US" sz="20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en-US" sz="2000" b="1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equitans</a:t>
            </a:r>
            <a:r>
              <a:rPr lang="en-US" sz="20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. </a:t>
            </a:r>
          </a:p>
          <a:p>
            <a:pPr marL="742950" lvl="1" indent="-285750">
              <a:buFont typeface="Arial" panose="020B0604020202020204" pitchFamily="34" charset="0"/>
              <a:buChar char="•"/>
              <a:defRPr/>
            </a:pPr>
            <a:r>
              <a:rPr lang="en-US" sz="20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This microbe was discovered in 2002 in a hydrothermal vent off the coast of Iceland. </a:t>
            </a:r>
          </a:p>
          <a:p>
            <a:pPr marL="742950" lvl="1" indent="-285750">
              <a:buFont typeface="Arial" panose="020B0604020202020204" pitchFamily="34" charset="0"/>
              <a:buChar char="•"/>
              <a:defRPr/>
            </a:pPr>
            <a:r>
              <a:rPr lang="en-US" sz="20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Its cells are only about 400 nanometers in diameter.</a:t>
            </a:r>
          </a:p>
          <a:p>
            <a:pPr marL="742950" lvl="1" indent="-285750">
              <a:buFont typeface="Arial" panose="020B0604020202020204" pitchFamily="34" charset="0"/>
              <a:buChar char="•"/>
              <a:defRPr/>
            </a:pPr>
            <a:r>
              <a:rPr lang="en-US" sz="20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It has one of the smallest genomes of any sequenced microbe, with only 490,885 base pairs.</a:t>
            </a:r>
          </a:p>
          <a:p>
            <a:pPr marL="742950" lvl="1" indent="-285750">
              <a:buFont typeface="Arial" panose="020B0604020202020204" pitchFamily="34" charset="0"/>
              <a:buChar char="•"/>
              <a:defRPr/>
            </a:pPr>
            <a:r>
              <a:rPr lang="en-US" sz="20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Its small size and minimal genome suggest it contains a relatively low number of atoms compared to larger organisms.</a:t>
            </a:r>
          </a:p>
          <a:p>
            <a:pPr marL="742950" lvl="1" indent="-285750">
              <a:buFont typeface="Arial" panose="020B0604020202020204" pitchFamily="34" charset="0"/>
              <a:buChar char="•"/>
              <a:defRPr/>
            </a:pPr>
            <a:r>
              <a:rPr lang="en-US" sz="20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We know that RNA molecules </a:t>
            </a:r>
            <a:r>
              <a:rPr lang="en-US" sz="2000" b="1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cantain</a:t>
            </a:r>
            <a:r>
              <a:rPr lang="en-US" sz="20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4K-6K architrinos.</a:t>
            </a:r>
          </a:p>
          <a:p>
            <a:pPr marL="742950" lvl="1" indent="-285750">
              <a:buFont typeface="Arial" panose="020B0604020202020204" pitchFamily="34" charset="0"/>
              <a:buChar char="•"/>
              <a:defRPr/>
            </a:pPr>
            <a:r>
              <a:rPr lang="en-US" sz="20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 genome therefore contains 500K x 10K ~= 5B architrinos.</a:t>
            </a:r>
          </a:p>
          <a:p>
            <a:pPr marL="742950" lvl="1" indent="-285750">
              <a:buFont typeface="Arial" panose="020B0604020202020204" pitchFamily="34" charset="0"/>
              <a:buChar char="•"/>
              <a:defRPr/>
            </a:pPr>
            <a:endParaRPr lang="en-US" sz="2000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marL="742950" lvl="1" indent="-285750">
              <a:buFont typeface="Arial" panose="020B0604020202020204" pitchFamily="34" charset="0"/>
              <a:buChar char="•"/>
              <a:defRPr/>
            </a:pPr>
            <a:r>
              <a:rPr kumimoji="0" lang="en-US" sz="2000" i="1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h/t CoPilot and Wikipedia</a:t>
            </a:r>
          </a:p>
          <a:p>
            <a:pPr marL="742950" lvl="1" indent="-285750">
              <a:buFont typeface="Arial" panose="020B0604020202020204" pitchFamily="34" charset="0"/>
              <a:buChar char="•"/>
              <a:defRPr/>
            </a:pPr>
            <a:endParaRPr kumimoji="0" lang="en-US" sz="2000" b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000" b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000" b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000" b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000" b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pic>
        <p:nvPicPr>
          <p:cNvPr id="3074" name="Picture 2" descr="undefined">
            <a:extLst>
              <a:ext uri="{FF2B5EF4-FFF2-40B4-BE49-F238E27FC236}">
                <a16:creationId xmlns:a16="http://schemas.microsoft.com/office/drawing/2014/main" id="{446818C8-F552-491F-947A-ACEDA4EBAF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24158" y="3977052"/>
            <a:ext cx="2794000" cy="2336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Footer Placeholder 3"/>
          <p:cNvSpPr txBox="1">
            <a:spLocks/>
          </p:cNvSpPr>
          <p:nvPr/>
        </p:nvSpPr>
        <p:spPr>
          <a:xfrm>
            <a:off x="10942204" y="6481737"/>
            <a:ext cx="121744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architrino.com</a:t>
            </a:r>
          </a:p>
        </p:txBody>
      </p:sp>
    </p:spTree>
    <p:extLst>
      <p:ext uri="{BB962C8B-B14F-4D97-AF65-F5344CB8AC3E}">
        <p14:creationId xmlns:p14="http://schemas.microsoft.com/office/powerpoint/2010/main" val="33253314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711A77B-062A-BD38-03C1-60CB4990FB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0904127-1953-FD93-0848-CFD145C7CE67}"/>
              </a:ext>
            </a:extLst>
          </p:cNvPr>
          <p:cNvSpPr txBox="1"/>
          <p:nvPr/>
        </p:nvSpPr>
        <p:spPr>
          <a:xfrm>
            <a:off x="0" y="186247"/>
            <a:ext cx="12191999" cy="13747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800" b="1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Helvetica Neue Condensed Black" panose="02000503000000020004" pitchFamily="2" charset="0"/>
                <a:ea typeface="Helvetica Neue Condensed Black" panose="02000503000000020004" pitchFamily="2" charset="0"/>
                <a:cs typeface="Helvetica Neue Condensed Black" panose="02000503000000020004" pitchFamily="2" charset="0"/>
              </a:rPr>
              <a:t>D. </a:t>
            </a:r>
            <a:r>
              <a:rPr kumimoji="0" lang="en-US" sz="8800" b="1" i="0" u="none" strike="noStrike" kern="1200" cap="none" spc="0" normalizeH="0" baseline="0" noProof="0" dirty="0" err="1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Helvetica Neue Condensed Black" panose="02000503000000020004" pitchFamily="2" charset="0"/>
                <a:ea typeface="Helvetica Neue Condensed Black" panose="02000503000000020004" pitchFamily="2" charset="0"/>
                <a:cs typeface="Helvetica Neue Condensed Black" panose="02000503000000020004" pitchFamily="2" charset="0"/>
              </a:rPr>
              <a:t>Radiodurans</a:t>
            </a:r>
            <a:endParaRPr kumimoji="0" lang="en-US" sz="8800" b="1" i="0" u="none" strike="noStrike" kern="1200" cap="none" spc="0" normalizeH="0" baseline="0" noProof="0" dirty="0">
              <a:ln>
                <a:noFill/>
              </a:ln>
              <a:solidFill>
                <a:srgbClr val="FF8AD8"/>
              </a:solidFill>
              <a:effectLst/>
              <a:uLnTx/>
              <a:uFillTx/>
              <a:latin typeface="Helvetica Neue Condensed Black" panose="02000503000000020004" pitchFamily="2" charset="0"/>
              <a:ea typeface="Helvetica Neue Condensed Black" panose="02000503000000020004" pitchFamily="2" charset="0"/>
              <a:cs typeface="Helvetica Neue Condensed Black" panose="02000503000000020004" pitchFamily="2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A4BFBEF-ACE4-2284-D65B-A6DB0D04FC01}"/>
              </a:ext>
            </a:extLst>
          </p:cNvPr>
          <p:cNvSpPr txBox="1"/>
          <p:nvPr/>
        </p:nvSpPr>
        <p:spPr>
          <a:xfrm>
            <a:off x="0" y="1568935"/>
            <a:ext cx="12191999" cy="4816234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285750" indent="-285750">
              <a:buFont typeface="Arial" panose="020B0604020202020204" pitchFamily="34" charset="0"/>
              <a:buChar char="•"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marL="742950" lvl="1" indent="-285750">
              <a:buFont typeface="Arial" panose="020B0604020202020204" pitchFamily="34" charset="0"/>
              <a:buChar char="•"/>
              <a:defRPr/>
            </a:pPr>
            <a:r>
              <a:rPr lang="en-US" sz="2000" b="1" i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Deinococcus </a:t>
            </a:r>
            <a:r>
              <a:rPr lang="en-US" sz="2000" b="1" i="1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radiodurans</a:t>
            </a:r>
            <a:r>
              <a:rPr lang="en-US" sz="2000" b="1" i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 </a:t>
            </a:r>
            <a:r>
              <a:rPr lang="en-US" sz="20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is a microbe and a bacterium with 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extraordinary survival capabilities</a:t>
            </a:r>
            <a:endParaRPr lang="en-US" sz="2000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marL="742950" lvl="1" indent="-285750">
              <a:buFont typeface="Arial" panose="020B0604020202020204" pitchFamily="34" charset="0"/>
              <a:buChar char="•"/>
              <a:defRPr/>
            </a:pPr>
            <a:r>
              <a:rPr lang="en-US" sz="20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Microbe refers to any microscopic organism, which includes bacteria, viruses, fungi, and protozoa.</a:t>
            </a:r>
          </a:p>
          <a:p>
            <a:pPr marL="742950" lvl="1" indent="-285750">
              <a:buFont typeface="Arial" panose="020B0604020202020204" pitchFamily="34" charset="0"/>
              <a:buChar char="•"/>
              <a:defRPr/>
            </a:pPr>
            <a:r>
              <a:rPr lang="en-US" sz="20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Bacterium is a specific type of microbe that belongs to the domain Bacteria.</a:t>
            </a:r>
          </a:p>
          <a:p>
            <a:pPr marL="742950" lvl="1" indent="-285750">
              <a:buFont typeface="Arial" panose="020B0604020202020204" pitchFamily="34" charset="0"/>
              <a:buChar char="•"/>
              <a:defRPr/>
            </a:pPr>
            <a:r>
              <a:rPr kumimoji="0" lang="en-US" sz="2000" b="0" i="1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D. </a:t>
            </a:r>
            <a:r>
              <a:rPr kumimoji="0" lang="en-US" sz="2000" b="0" i="1" u="none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radiodurans</a:t>
            </a:r>
            <a:r>
              <a:rPr kumimoji="0" lang="en-US" sz="2000" b="0" i="1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is a polyextremophilic bacterium known for its remarkable resistance to </a:t>
            </a:r>
          </a:p>
          <a:p>
            <a:pPr marL="1200150" lvl="2" indent="-285750">
              <a:buFont typeface="Arial" panose="020B0604020202020204" pitchFamily="34" charset="0"/>
              <a:buChar char="•"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radiation (i.e., various frequency photons)</a:t>
            </a:r>
          </a:p>
          <a:p>
            <a:pPr marL="1200150" lvl="2" indent="-285750">
              <a:buFont typeface="Arial" panose="020B0604020202020204" pitchFamily="34" charset="0"/>
              <a:buChar char="•"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cold (how does it radiate photons as a blackbody?)</a:t>
            </a:r>
          </a:p>
          <a:p>
            <a:pPr marL="1200150" lvl="2" indent="-285750">
              <a:buFont typeface="Arial" panose="020B0604020202020204" pitchFamily="34" charset="0"/>
              <a:buChar char="•"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dehydration (does not require water)</a:t>
            </a:r>
          </a:p>
          <a:p>
            <a:pPr marL="1200150" lvl="2" indent="-285750">
              <a:buFont typeface="Arial" panose="020B0604020202020204" pitchFamily="34" charset="0"/>
              <a:buChar char="•"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vacuum (does not require any surrounding gas,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etc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)</a:t>
            </a:r>
          </a:p>
          <a:p>
            <a:pPr marL="1200150" lvl="2" indent="-285750">
              <a:buFont typeface="Arial" panose="020B0604020202020204" pitchFamily="34" charset="0"/>
              <a:buChar char="•"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acid (is not reactive)</a:t>
            </a:r>
          </a:p>
          <a:p>
            <a:pPr marL="1200150" lvl="2" indent="-285750">
              <a:buFont typeface="Arial" panose="020B0604020202020204" pitchFamily="34" charset="0"/>
              <a:buChar char="•"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outer space for extended periods (low energy spacetime)</a:t>
            </a:r>
          </a:p>
          <a:p>
            <a:pPr marL="742950" lvl="1" indent="-285750">
              <a:buFont typeface="Arial" panose="020B0604020202020204" pitchFamily="34" charset="0"/>
              <a:buChar char="•"/>
              <a:defRPr/>
            </a:pPr>
            <a:r>
              <a:rPr lang="en-US" sz="20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ts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survival skills may emerge from its unique ability </a:t>
            </a:r>
            <a:b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</a:b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to repair both single and double stranded DNA.</a:t>
            </a:r>
          </a:p>
          <a:p>
            <a:pPr marL="742950" lvl="1" indent="-285750">
              <a:buFont typeface="Arial" panose="020B0604020202020204" pitchFamily="34" charset="0"/>
              <a:buChar char="•"/>
              <a:defRPr/>
            </a:pPr>
            <a:endParaRPr lang="en-US" sz="2000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marL="742950" lvl="1" indent="-285750">
              <a:buFont typeface="Arial" panose="020B0604020202020204" pitchFamily="34" charset="0"/>
              <a:buChar char="•"/>
              <a:defRPr/>
            </a:pPr>
            <a:r>
              <a:rPr kumimoji="0" lang="en-US" sz="2000" i="1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Helvetica Neue Thin" panose="020B0403020202020204" pitchFamily="34" charset="0"/>
                <a:ea typeface="Helvetica Neue Thin" panose="020B0403020202020204" pitchFamily="34" charset="0"/>
                <a:cs typeface="Helvetica Neue" panose="02000503000000020004" pitchFamily="2" charset="0"/>
              </a:rPr>
              <a:t>h/t CoPilot and Wikipedia</a:t>
            </a:r>
          </a:p>
          <a:p>
            <a:pPr marL="742950" lvl="1" indent="-285750">
              <a:buFont typeface="Arial" panose="020B0604020202020204" pitchFamily="34" charset="0"/>
              <a:buChar char="•"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1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pic>
        <p:nvPicPr>
          <p:cNvPr id="9" name="Picture 2">
            <a:extLst>
              <a:ext uri="{FF2B5EF4-FFF2-40B4-BE49-F238E27FC236}">
                <a16:creationId xmlns:a16="http://schemas.microsoft.com/office/drawing/2014/main" id="{9E983575-73C1-C2AA-EAB2-22F5A2F203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8264091" y="2962677"/>
            <a:ext cx="3449556" cy="39685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Footer Placeholder 3"/>
          <p:cNvSpPr txBox="1">
            <a:spLocks/>
          </p:cNvSpPr>
          <p:nvPr/>
        </p:nvSpPr>
        <p:spPr>
          <a:xfrm>
            <a:off x="10942204" y="6481737"/>
            <a:ext cx="121744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architrino.com</a:t>
            </a:r>
          </a:p>
        </p:txBody>
      </p:sp>
    </p:spTree>
    <p:extLst>
      <p:ext uri="{BB962C8B-B14F-4D97-AF65-F5344CB8AC3E}">
        <p14:creationId xmlns:p14="http://schemas.microsoft.com/office/powerpoint/2010/main" val="26491052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BFBF43E-80A4-D013-5C64-AD16BBE309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F4E743A-E740-B9E8-D400-EA3F32FF1D55}"/>
              </a:ext>
            </a:extLst>
          </p:cNvPr>
          <p:cNvSpPr txBox="1"/>
          <p:nvPr/>
        </p:nvSpPr>
        <p:spPr>
          <a:xfrm>
            <a:off x="0" y="186247"/>
            <a:ext cx="12191999" cy="13747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800" b="1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Helvetica Neue Condensed Black" panose="02000503000000020004" pitchFamily="2" charset="0"/>
                <a:ea typeface="Helvetica Neue Condensed Black" panose="02000503000000020004" pitchFamily="2" charset="0"/>
                <a:cs typeface="Helvetica Neue Condensed Black" panose="02000503000000020004" pitchFamily="2" charset="0"/>
              </a:rPr>
              <a:t>D. </a:t>
            </a:r>
            <a:r>
              <a:rPr kumimoji="0" lang="en-US" sz="8800" b="1" i="0" u="none" strike="noStrike" kern="1200" cap="none" spc="0" normalizeH="0" baseline="0" noProof="0" dirty="0" err="1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Helvetica Neue Condensed Black" panose="02000503000000020004" pitchFamily="2" charset="0"/>
                <a:ea typeface="Helvetica Neue Condensed Black" panose="02000503000000020004" pitchFamily="2" charset="0"/>
                <a:cs typeface="Helvetica Neue Condensed Black" panose="02000503000000020004" pitchFamily="2" charset="0"/>
              </a:rPr>
              <a:t>Radiodurans</a:t>
            </a:r>
            <a:endParaRPr kumimoji="0" lang="en-US" sz="8800" b="1" i="0" u="none" strike="noStrike" kern="1200" cap="none" spc="0" normalizeH="0" baseline="0" noProof="0" dirty="0">
              <a:ln>
                <a:noFill/>
              </a:ln>
              <a:solidFill>
                <a:srgbClr val="FFC000"/>
              </a:solidFill>
              <a:effectLst/>
              <a:uLnTx/>
              <a:uFillTx/>
              <a:latin typeface="Helvetica Neue Condensed Black" panose="02000503000000020004" pitchFamily="2" charset="0"/>
              <a:ea typeface="Helvetica Neue Condensed Black" panose="02000503000000020004" pitchFamily="2" charset="0"/>
              <a:cs typeface="Helvetica Neue Condensed Black" panose="02000503000000020004" pitchFamily="2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2082ECC-CEEB-D2B8-60C0-FAF5A1857737}"/>
              </a:ext>
            </a:extLst>
          </p:cNvPr>
          <p:cNvSpPr txBox="1"/>
          <p:nvPr/>
        </p:nvSpPr>
        <p:spPr>
          <a:xfrm>
            <a:off x="0" y="1568935"/>
            <a:ext cx="12191999" cy="4816234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285750" indent="-285750">
              <a:buFont typeface="Arial" panose="020B0604020202020204" pitchFamily="34" charset="0"/>
              <a:buChar char="•"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marL="742950" lvl="1" indent="-285750">
              <a:buFont typeface="Arial" panose="020B0604020202020204" pitchFamily="34" charset="0"/>
              <a:buChar char="•"/>
              <a:defRPr/>
            </a:pPr>
            <a:r>
              <a:rPr lang="en-US" sz="2000" b="1" dirty="0">
                <a:solidFill>
                  <a:srgbClr val="FF85FF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DNA:</a:t>
            </a:r>
            <a:r>
              <a:rPr lang="en-US" sz="20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Its genome consists of </a:t>
            </a:r>
          </a:p>
          <a:p>
            <a:pPr marL="1200150" lvl="2" indent="-285750">
              <a:buFont typeface="Arial" panose="020B0604020202020204" pitchFamily="34" charset="0"/>
              <a:buChar char="•"/>
              <a:defRPr/>
            </a:pPr>
            <a:r>
              <a:rPr lang="en-US" sz="20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two circular chromosomes, </a:t>
            </a:r>
          </a:p>
          <a:p>
            <a:pPr marL="1657350" lvl="3" indent="-285750">
              <a:buFont typeface="Arial" panose="020B0604020202020204" pitchFamily="34" charset="0"/>
              <a:buChar char="•"/>
              <a:defRPr/>
            </a:pPr>
            <a:r>
              <a:rPr lang="en-US" sz="20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one 2.65 million base pairs long </a:t>
            </a:r>
          </a:p>
          <a:p>
            <a:pPr marL="1657350" lvl="3" indent="-285750">
              <a:buFont typeface="Arial" panose="020B0604020202020204" pitchFamily="34" charset="0"/>
              <a:buChar char="•"/>
              <a:defRPr/>
            </a:pPr>
            <a:r>
              <a:rPr lang="en-US" sz="20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one 412,000 base pairs long, </a:t>
            </a:r>
          </a:p>
          <a:p>
            <a:pPr marL="1200150" lvl="2" indent="-285750">
              <a:buFont typeface="Arial" panose="020B0604020202020204" pitchFamily="34" charset="0"/>
              <a:buChar char="•"/>
              <a:defRPr/>
            </a:pPr>
            <a:r>
              <a:rPr lang="en-US" sz="20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 </a:t>
            </a:r>
            <a:r>
              <a:rPr lang="en-US" sz="2000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megaplasmid</a:t>
            </a:r>
            <a:r>
              <a:rPr lang="en-US" sz="20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of 177,000 base pairs</a:t>
            </a:r>
          </a:p>
          <a:p>
            <a:pPr marL="1200150" lvl="2" indent="-285750">
              <a:buFont typeface="Arial" panose="020B0604020202020204" pitchFamily="34" charset="0"/>
              <a:buChar char="•"/>
              <a:defRPr/>
            </a:pPr>
            <a:r>
              <a:rPr lang="en-US" sz="20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 plasmid of 46,000 base pairs. </a:t>
            </a:r>
          </a:p>
          <a:p>
            <a:pPr marL="1200150" lvl="2" indent="-285750">
              <a:buFont typeface="Arial" panose="020B0604020202020204" pitchFamily="34" charset="0"/>
              <a:buChar char="•"/>
              <a:defRPr/>
            </a:pPr>
            <a:r>
              <a:rPr lang="en-US" sz="20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It has approximately 3,195 genes. </a:t>
            </a:r>
          </a:p>
          <a:p>
            <a:pPr marL="1200150" lvl="2" indent="-285750">
              <a:buFont typeface="Arial" panose="020B0604020202020204" pitchFamily="34" charset="0"/>
              <a:buChar char="•"/>
              <a:defRPr/>
            </a:pPr>
            <a:r>
              <a:rPr lang="en-US" sz="20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In its stationary phase, each bacterial cell contains </a:t>
            </a:r>
            <a:r>
              <a:rPr lang="en-US" sz="2000" b="1" dirty="0">
                <a:solidFill>
                  <a:srgbClr val="FFC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four copies of this genome.</a:t>
            </a:r>
            <a:endParaRPr lang="en-US" sz="2000" dirty="0">
              <a:solidFill>
                <a:srgbClr val="FFC000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marL="1200150" lvl="2" indent="-285750">
              <a:buFont typeface="Arial" panose="020B0604020202020204" pitchFamily="34" charset="0"/>
              <a:buChar char="•"/>
              <a:defRPr/>
            </a:pPr>
            <a:r>
              <a:rPr lang="en-US" sz="20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when rapidly multiplying, each bacterium contains </a:t>
            </a:r>
            <a:r>
              <a:rPr lang="en-US" sz="2000" b="1" dirty="0">
                <a:solidFill>
                  <a:srgbClr val="FFC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eight to ten copies of the genome.</a:t>
            </a:r>
          </a:p>
          <a:p>
            <a:pPr marL="742950" lvl="1" indent="-285750">
              <a:buFont typeface="Arial" panose="020B0604020202020204" pitchFamily="34" charset="0"/>
              <a:buChar char="•"/>
              <a:defRPr/>
            </a:pPr>
            <a:r>
              <a:rPr kumimoji="0" lang="en-US" sz="2000" b="1" u="none" strike="noStrike" kern="1200" cap="none" spc="0" normalizeH="0" baseline="0" noProof="0" dirty="0">
                <a:ln>
                  <a:noFill/>
                </a:ln>
                <a:solidFill>
                  <a:srgbClr val="FF85FF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Proteins</a:t>
            </a:r>
            <a:r>
              <a:rPr kumimoji="0" lang="en-US" sz="2000" u="none" strike="noStrike" kern="1200" cap="none" spc="0" normalizeH="0" baseline="0" noProof="0" dirty="0">
                <a:ln>
                  <a:noFill/>
                </a:ln>
                <a:solidFill>
                  <a:srgbClr val="FF85FF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: </a:t>
            </a:r>
            <a:r>
              <a:rPr kumimoji="0" lang="en-US" sz="200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It has a variety of proteins, including those involved in </a:t>
            </a:r>
            <a:r>
              <a:rPr kumimoji="0" lang="en-US" sz="2000" b="1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DNA repair</a:t>
            </a:r>
            <a:r>
              <a:rPr kumimoji="0" lang="en-US" sz="200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, </a:t>
            </a:r>
          </a:p>
          <a:p>
            <a:pPr marL="1200150" lvl="2" indent="-285750">
              <a:buFont typeface="Arial" panose="020B0604020202020204" pitchFamily="34" charset="0"/>
              <a:buChar char="•"/>
              <a:defRPr/>
            </a:pPr>
            <a:r>
              <a:rPr kumimoji="0" lang="en-US" sz="200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such as </a:t>
            </a:r>
            <a:r>
              <a:rPr kumimoji="0" lang="en-US" sz="2000" u="none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UvrA</a:t>
            </a:r>
            <a:r>
              <a:rPr kumimoji="0" lang="en-US" sz="200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, </a:t>
            </a:r>
            <a:r>
              <a:rPr kumimoji="0" lang="en-US" sz="2000" u="none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UvrB</a:t>
            </a:r>
            <a:r>
              <a:rPr kumimoji="0" lang="en-US" sz="200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, </a:t>
            </a:r>
            <a:r>
              <a:rPr kumimoji="0" lang="en-US" sz="2000" u="none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UvrC</a:t>
            </a:r>
            <a:r>
              <a:rPr kumimoji="0" lang="en-US" sz="200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, and UvrD2.</a:t>
            </a:r>
          </a:p>
          <a:p>
            <a:pPr marL="742950" lvl="1" indent="-285750">
              <a:buFont typeface="Arial" panose="020B0604020202020204" pitchFamily="34" charset="0"/>
              <a:buChar char="•"/>
              <a:defRPr/>
            </a:pPr>
            <a:r>
              <a:rPr kumimoji="0" lang="en-US" sz="2000" b="1" u="none" strike="noStrike" kern="1200" cap="none" spc="0" normalizeH="0" baseline="0" noProof="0" dirty="0">
                <a:ln>
                  <a:noFill/>
                </a:ln>
                <a:solidFill>
                  <a:srgbClr val="FF85FF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Carbohydrates:</a:t>
            </a:r>
            <a:r>
              <a:rPr kumimoji="0" lang="en-US" sz="200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The biofilm matrix of D. </a:t>
            </a:r>
            <a:r>
              <a:rPr kumimoji="0" lang="en-US" sz="2000" u="none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radiodurans</a:t>
            </a:r>
            <a:r>
              <a:rPr kumimoji="0" lang="en-US" sz="200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contains proteins and carbohydrates.</a:t>
            </a:r>
          </a:p>
          <a:p>
            <a:pPr marL="742950" lvl="1" indent="-285750">
              <a:buFont typeface="Arial" panose="020B0604020202020204" pitchFamily="34" charset="0"/>
              <a:buChar char="•"/>
              <a:defRPr/>
            </a:pPr>
            <a:r>
              <a:rPr kumimoji="0" lang="en-US" sz="2000" b="1" u="none" strike="noStrike" kern="1200" cap="none" spc="0" normalizeH="0" baseline="0" noProof="0" dirty="0">
                <a:ln>
                  <a:noFill/>
                </a:ln>
                <a:solidFill>
                  <a:srgbClr val="FF85FF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Pigments:</a:t>
            </a:r>
            <a:r>
              <a:rPr kumimoji="0" lang="en-US" sz="200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It produces unique pigments, </a:t>
            </a:r>
          </a:p>
          <a:p>
            <a:pPr marL="1200150" lvl="2" indent="-285750">
              <a:buFont typeface="Arial" panose="020B0604020202020204" pitchFamily="34" charset="0"/>
              <a:buChar char="•"/>
              <a:defRPr/>
            </a:pPr>
            <a:r>
              <a:rPr kumimoji="0" lang="en-US" sz="200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especially carotenoids like </a:t>
            </a:r>
            <a:r>
              <a:rPr kumimoji="0" lang="en-US" sz="2000" u="none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deinoxanthin</a:t>
            </a:r>
            <a:r>
              <a:rPr kumimoji="0" lang="en-US" sz="200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, which </a:t>
            </a:r>
            <a:r>
              <a:rPr kumimoji="0" lang="en-US" sz="2000" b="1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play a critical role in its radiation resistance</a:t>
            </a:r>
            <a:r>
              <a:rPr kumimoji="0" lang="en-US" sz="200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.</a:t>
            </a:r>
          </a:p>
          <a:p>
            <a:pPr marL="742950" lvl="1" indent="-285750">
              <a:buFont typeface="Arial" panose="020B0604020202020204" pitchFamily="34" charset="0"/>
              <a:buChar char="•"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1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3" name="Footer Placeholder 3"/>
          <p:cNvSpPr txBox="1">
            <a:spLocks/>
          </p:cNvSpPr>
          <p:nvPr/>
        </p:nvSpPr>
        <p:spPr>
          <a:xfrm>
            <a:off x="10942204" y="6481737"/>
            <a:ext cx="121744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architrino.com</a:t>
            </a:r>
          </a:p>
        </p:txBody>
      </p:sp>
    </p:spTree>
    <p:extLst>
      <p:ext uri="{BB962C8B-B14F-4D97-AF65-F5344CB8AC3E}">
        <p14:creationId xmlns:p14="http://schemas.microsoft.com/office/powerpoint/2010/main" val="38630080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453722B-3781-0E08-25A9-7EDF71C962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64AD777F-D0D7-80D3-EA3B-8A560D8BC35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32438656"/>
              </p:ext>
            </p:extLst>
          </p:nvPr>
        </p:nvGraphicFramePr>
        <p:xfrm>
          <a:off x="-1411705" y="-1588167"/>
          <a:ext cx="18592800" cy="84461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8B0D959F-1F8C-C85F-60B5-2379D17C87E3}"/>
              </a:ext>
            </a:extLst>
          </p:cNvPr>
          <p:cNvSpPr txBox="1"/>
          <p:nvPr/>
        </p:nvSpPr>
        <p:spPr>
          <a:xfrm>
            <a:off x="149912" y="4755362"/>
            <a:ext cx="12191999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D. </a:t>
            </a:r>
            <a:r>
              <a:rPr kumimoji="0" lang="en-US" sz="4000" b="1" i="0" u="none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Radiodurans</a:t>
            </a:r>
            <a:endParaRPr lang="en-US" sz="4000" b="1" noProof="0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marL="571500" marR="0" lvl="0" indent="-571500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400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~10</a:t>
            </a:r>
            <a:r>
              <a:rPr kumimoji="0" lang="en-US" sz="4000" i="0" u="none" strike="noStrike" kern="1200" cap="none" spc="0" normalizeH="0" baseline="3000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11</a:t>
            </a:r>
            <a:r>
              <a:rPr kumimoji="0" lang="en-US" sz="400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atoms</a:t>
            </a:r>
          </a:p>
          <a:p>
            <a:pPr marL="571500" marR="0" lvl="0" indent="-571500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400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~10</a:t>
            </a:r>
            <a:r>
              <a:rPr kumimoji="0" lang="en-US" sz="4000" i="0" u="none" strike="noStrike" kern="1200" cap="none" spc="0" normalizeH="0" baseline="3000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14</a:t>
            </a:r>
            <a:r>
              <a:rPr kumimoji="0" lang="en-US" sz="400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architrinos</a:t>
            </a:r>
          </a:p>
        </p:txBody>
      </p:sp>
      <p:sp>
        <p:nvSpPr>
          <p:cNvPr id="5" name="Footer Placeholder 3"/>
          <p:cNvSpPr txBox="1">
            <a:spLocks/>
          </p:cNvSpPr>
          <p:nvPr/>
        </p:nvSpPr>
        <p:spPr>
          <a:xfrm>
            <a:off x="10942204" y="6481737"/>
            <a:ext cx="121744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architrino.com</a:t>
            </a:r>
          </a:p>
        </p:txBody>
      </p:sp>
    </p:spTree>
    <p:extLst>
      <p:ext uri="{BB962C8B-B14F-4D97-AF65-F5344CB8AC3E}">
        <p14:creationId xmlns:p14="http://schemas.microsoft.com/office/powerpoint/2010/main" val="213017330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43611</TotalTime>
  <Words>888</Words>
  <Application>Microsoft Macintosh PowerPoint</Application>
  <PresentationFormat>Widescreen</PresentationFormat>
  <Paragraphs>131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2" baseType="lpstr">
      <vt:lpstr>Arial</vt:lpstr>
      <vt:lpstr>Calibri</vt:lpstr>
      <vt:lpstr>Calibri Light</vt:lpstr>
      <vt:lpstr>Helvetica Neue</vt:lpstr>
      <vt:lpstr>Helvetica Neue Condensed Black</vt:lpstr>
      <vt:lpstr>Helvetica Neue Thin</vt:lpstr>
      <vt:lpstr>1_Office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Neoclassical Physics Draft Slides In Progress Unbaked Ideas! </dc:title>
  <dc:creator>Mark Morris</dc:creator>
  <cp:lastModifiedBy>Mark Morris</cp:lastModifiedBy>
  <cp:revision>603</cp:revision>
  <cp:lastPrinted>2021-05-04T05:16:46Z</cp:lastPrinted>
  <dcterms:created xsi:type="dcterms:W3CDTF">2019-04-23T04:22:11Z</dcterms:created>
  <dcterms:modified xsi:type="dcterms:W3CDTF">2026-07-03T23:00:31Z</dcterms:modified>
</cp:coreProperties>
</file>