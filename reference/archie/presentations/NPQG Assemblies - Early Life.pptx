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7"/>
  </p:notesMasterIdLst>
  <p:sldIdLst>
    <p:sldId id="856" r:id="rId2"/>
    <p:sldId id="808" r:id="rId3"/>
    <p:sldId id="855" r:id="rId4"/>
    <p:sldId id="809" r:id="rId5"/>
    <p:sldId id="81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Morris" initials="MM" lastIdx="1" clrIdx="0">
    <p:extLst>
      <p:ext uri="{19B8F6BF-5375-455C-9EA6-DF929625EA0E}">
        <p15:presenceInfo xmlns:p15="http://schemas.microsoft.com/office/powerpoint/2012/main" userId="e0501bf2facbc5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0096FF"/>
    <a:srgbClr val="941100"/>
    <a:srgbClr val="76D6FF"/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70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1736" y="208"/>
      </p:cViewPr>
      <p:guideLst>
        <p:guide orient="horz" pos="1368"/>
        <p:guide pos="37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8DD096-C670-234E-818F-1013BEFC83A3}" type="doc">
      <dgm:prSet loTypeId="urn:microsoft.com/office/officeart/2005/8/layout/venn2" loCatId="" qsTypeId="urn:microsoft.com/office/officeart/2005/8/quickstyle/3d9" qsCatId="3D" csTypeId="urn:microsoft.com/office/officeart/2005/8/colors/colorful1" csCatId="colorful" phldr="1"/>
      <dgm:spPr/>
    </dgm:pt>
    <dgm:pt modelId="{E11BA652-3D30-5542-AB08-B497B2697702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redundancy</a:t>
          </a:r>
        </a:p>
      </dgm:t>
    </dgm:pt>
    <dgm:pt modelId="{C506ADCD-5BED-B144-9A85-C31ABBE37F40}" type="parTrans" cxnId="{EF2404AE-72AF-324D-B4BC-B1DA9472EF50}">
      <dgm:prSet/>
      <dgm:spPr/>
      <dgm:t>
        <a:bodyPr/>
        <a:lstStyle/>
        <a:p>
          <a:endParaRPr lang="en-US" sz="2600"/>
        </a:p>
      </dgm:t>
    </dgm:pt>
    <dgm:pt modelId="{73475859-9D2E-7F49-A28C-F1F13FBFEA8F}" type="sibTrans" cxnId="{EF2404AE-72AF-324D-B4BC-B1DA9472EF50}">
      <dgm:prSet/>
      <dgm:spPr/>
      <dgm:t>
        <a:bodyPr/>
        <a:lstStyle/>
        <a:p>
          <a:endParaRPr lang="en-US" sz="2600"/>
        </a:p>
      </dgm:t>
    </dgm:pt>
    <dgm:pt modelId="{C990511F-B88F-FE4E-BA9D-5B3919F93193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self repair</a:t>
          </a:r>
        </a:p>
      </dgm:t>
    </dgm:pt>
    <dgm:pt modelId="{DDB217EF-D94E-E84F-AD22-456060CCAA75}" type="parTrans" cxnId="{D6D82808-2195-C943-B0F9-CA85715DD1E7}">
      <dgm:prSet/>
      <dgm:spPr/>
      <dgm:t>
        <a:bodyPr/>
        <a:lstStyle/>
        <a:p>
          <a:endParaRPr lang="en-US" sz="2600"/>
        </a:p>
      </dgm:t>
    </dgm:pt>
    <dgm:pt modelId="{BF028D6E-5B5A-B449-AA70-F82F610792A7}" type="sibTrans" cxnId="{D6D82808-2195-C943-B0F9-CA85715DD1E7}">
      <dgm:prSet/>
      <dgm:spPr/>
      <dgm:t>
        <a:bodyPr/>
        <a:lstStyle/>
        <a:p>
          <a:endParaRPr lang="en-US" sz="2600"/>
        </a:p>
      </dgm:t>
    </dgm:pt>
    <dgm:pt modelId="{F7DED27B-182C-7942-B2FB-2E52560E4626}">
      <dgm:prSet phldrT="[Text]" custT="1"/>
      <dgm:spPr/>
      <dgm:t>
        <a:bodyPr/>
        <a:lstStyle/>
        <a:p>
          <a:pPr algn="r"/>
          <a:r>
            <a:rPr lang="en-US" sz="2600" b="1" i="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radiation and reaction resistance</a:t>
          </a:r>
        </a:p>
      </dgm:t>
    </dgm:pt>
    <dgm:pt modelId="{88E7808F-AAA8-234A-AD9F-47DC711060FA}" type="parTrans" cxnId="{5517AB32-E187-0A40-BD9B-39CDF069C14E}">
      <dgm:prSet/>
      <dgm:spPr/>
      <dgm:t>
        <a:bodyPr/>
        <a:lstStyle/>
        <a:p>
          <a:endParaRPr lang="en-US" sz="2600"/>
        </a:p>
      </dgm:t>
    </dgm:pt>
    <dgm:pt modelId="{AF40EC81-B91A-FA41-A187-9D41CAEAC29E}" type="sibTrans" cxnId="{5517AB32-E187-0A40-BD9B-39CDF069C14E}">
      <dgm:prSet/>
      <dgm:spPr/>
      <dgm:t>
        <a:bodyPr/>
        <a:lstStyle/>
        <a:p>
          <a:endParaRPr lang="en-US" sz="2600"/>
        </a:p>
      </dgm:t>
    </dgm:pt>
    <dgm:pt modelId="{A073EF18-EF1A-5E4D-BD8A-C8B92B11661D}">
      <dgm:prSet custT="1"/>
      <dgm:spPr/>
      <dgm:t>
        <a:bodyPr/>
        <a:lstStyle/>
        <a:p>
          <a:pPr algn="r"/>
          <a:r>
            <a:rPr kumimoji="0" lang="en-US" sz="2600" b="1" i="0" u="none" strike="noStrike" cap="none" spc="0" normalizeH="0" baseline="0" noProof="0" dirty="0">
              <a:ln/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nil environmental requirements</a:t>
          </a:r>
        </a:p>
      </dgm:t>
    </dgm:pt>
    <dgm:pt modelId="{3708A7DA-D163-5F49-9BF7-87F29F5A733B}" type="sibTrans" cxnId="{0D5DFEBE-8248-714D-B3A8-07C0E0F8A0BC}">
      <dgm:prSet/>
      <dgm:spPr/>
      <dgm:t>
        <a:bodyPr/>
        <a:lstStyle/>
        <a:p>
          <a:endParaRPr lang="en-US" sz="2600"/>
        </a:p>
      </dgm:t>
    </dgm:pt>
    <dgm:pt modelId="{F9DA67DB-AAB2-C546-9D01-8DCAE1E62400}" type="parTrans" cxnId="{0D5DFEBE-8248-714D-B3A8-07C0E0F8A0BC}">
      <dgm:prSet/>
      <dgm:spPr/>
      <dgm:t>
        <a:bodyPr/>
        <a:lstStyle/>
        <a:p>
          <a:endParaRPr lang="en-US" sz="2600"/>
        </a:p>
      </dgm:t>
    </dgm:pt>
    <dgm:pt modelId="{9336F42E-7694-5246-AB7C-07D28779ECF1}" type="pres">
      <dgm:prSet presAssocID="{898DD096-C670-234E-818F-1013BEFC83A3}" presName="Name0" presStyleCnt="0">
        <dgm:presLayoutVars>
          <dgm:chMax val="7"/>
          <dgm:resizeHandles val="exact"/>
        </dgm:presLayoutVars>
      </dgm:prSet>
      <dgm:spPr/>
    </dgm:pt>
    <dgm:pt modelId="{00D79D5E-53A6-C240-B8C1-1138140FD7E1}" type="pres">
      <dgm:prSet presAssocID="{898DD096-C670-234E-818F-1013BEFC83A3}" presName="comp1" presStyleCnt="0"/>
      <dgm:spPr/>
    </dgm:pt>
    <dgm:pt modelId="{4A63DFA4-0CA6-974F-95FE-14F79A3FAD8D}" type="pres">
      <dgm:prSet presAssocID="{898DD096-C670-234E-818F-1013BEFC83A3}" presName="circle1" presStyleLbl="node1" presStyleIdx="0" presStyleCnt="4"/>
      <dgm:spPr/>
    </dgm:pt>
    <dgm:pt modelId="{4C27BA4F-61AB-424D-BFFF-7CEE1DC4331C}" type="pres">
      <dgm:prSet presAssocID="{898DD096-C670-234E-818F-1013BEFC83A3}" presName="c1text" presStyleLbl="node1" presStyleIdx="0" presStyleCnt="4">
        <dgm:presLayoutVars>
          <dgm:bulletEnabled val="1"/>
        </dgm:presLayoutVars>
      </dgm:prSet>
      <dgm:spPr/>
    </dgm:pt>
    <dgm:pt modelId="{4DAE54CB-3637-A84E-8513-2D1AB6C263FE}" type="pres">
      <dgm:prSet presAssocID="{898DD096-C670-234E-818F-1013BEFC83A3}" presName="comp2" presStyleCnt="0"/>
      <dgm:spPr/>
    </dgm:pt>
    <dgm:pt modelId="{28C969EF-A430-EF4F-A8C4-4A2F818EC016}" type="pres">
      <dgm:prSet presAssocID="{898DD096-C670-234E-818F-1013BEFC83A3}" presName="circle2" presStyleLbl="node1" presStyleIdx="1" presStyleCnt="4" custLinFactNeighborX="-3324" custLinFactNeighborY="4374"/>
      <dgm:spPr/>
    </dgm:pt>
    <dgm:pt modelId="{8776CE88-1D2B-BD45-B5FB-DB306638066D}" type="pres">
      <dgm:prSet presAssocID="{898DD096-C670-234E-818F-1013BEFC83A3}" presName="c2text" presStyleLbl="node1" presStyleIdx="1" presStyleCnt="4">
        <dgm:presLayoutVars>
          <dgm:bulletEnabled val="1"/>
        </dgm:presLayoutVars>
      </dgm:prSet>
      <dgm:spPr/>
    </dgm:pt>
    <dgm:pt modelId="{21D09D46-E24C-D249-AE6F-DAD11CD5387A}" type="pres">
      <dgm:prSet presAssocID="{898DD096-C670-234E-818F-1013BEFC83A3}" presName="comp3" presStyleCnt="0"/>
      <dgm:spPr/>
    </dgm:pt>
    <dgm:pt modelId="{70521028-65C7-DA4E-8B39-C6D8AACF4A8E}" type="pres">
      <dgm:prSet presAssocID="{898DD096-C670-234E-818F-1013BEFC83A3}" presName="circle3" presStyleLbl="node1" presStyleIdx="2" presStyleCnt="4"/>
      <dgm:spPr/>
    </dgm:pt>
    <dgm:pt modelId="{F88E7D5F-28AF-9348-A5CB-09D55984F211}" type="pres">
      <dgm:prSet presAssocID="{898DD096-C670-234E-818F-1013BEFC83A3}" presName="c3text" presStyleLbl="node1" presStyleIdx="2" presStyleCnt="4">
        <dgm:presLayoutVars>
          <dgm:bulletEnabled val="1"/>
        </dgm:presLayoutVars>
      </dgm:prSet>
      <dgm:spPr/>
    </dgm:pt>
    <dgm:pt modelId="{4D403406-BEA9-5A4E-A0B9-1837CF9D6782}" type="pres">
      <dgm:prSet presAssocID="{898DD096-C670-234E-818F-1013BEFC83A3}" presName="comp4" presStyleCnt="0"/>
      <dgm:spPr/>
    </dgm:pt>
    <dgm:pt modelId="{8E6F3E2B-0D9B-3448-A0E9-AF89EA1FD203}" type="pres">
      <dgm:prSet presAssocID="{898DD096-C670-234E-818F-1013BEFC83A3}" presName="circle4" presStyleLbl="node1" presStyleIdx="3" presStyleCnt="4"/>
      <dgm:spPr/>
    </dgm:pt>
    <dgm:pt modelId="{46BEC05B-877C-CC4E-B823-19F534A7D55D}" type="pres">
      <dgm:prSet presAssocID="{898DD096-C670-234E-818F-1013BEFC83A3}" presName="c4text" presStyleLbl="node1" presStyleIdx="3" presStyleCnt="4">
        <dgm:presLayoutVars>
          <dgm:bulletEnabled val="1"/>
        </dgm:presLayoutVars>
      </dgm:prSet>
      <dgm:spPr/>
    </dgm:pt>
  </dgm:ptLst>
  <dgm:cxnLst>
    <dgm:cxn modelId="{D6D82808-2195-C943-B0F9-CA85715DD1E7}" srcId="{898DD096-C670-234E-818F-1013BEFC83A3}" destId="{C990511F-B88F-FE4E-BA9D-5B3919F93193}" srcOrd="3" destOrd="0" parTransId="{DDB217EF-D94E-E84F-AD22-456060CCAA75}" sibTransId="{BF028D6E-5B5A-B449-AA70-F82F610792A7}"/>
    <dgm:cxn modelId="{5517AB32-E187-0A40-BD9B-39CDF069C14E}" srcId="{898DD096-C670-234E-818F-1013BEFC83A3}" destId="{F7DED27B-182C-7942-B2FB-2E52560E4626}" srcOrd="1" destOrd="0" parTransId="{88E7808F-AAA8-234A-AD9F-47DC711060FA}" sibTransId="{AF40EC81-B91A-FA41-A187-9D41CAEAC29E}"/>
    <dgm:cxn modelId="{83797852-C4C2-234D-8CE1-E036B64CF84E}" type="presOf" srcId="{A073EF18-EF1A-5E4D-BD8A-C8B92B11661D}" destId="{4A63DFA4-0CA6-974F-95FE-14F79A3FAD8D}" srcOrd="0" destOrd="0" presId="urn:microsoft.com/office/officeart/2005/8/layout/venn2"/>
    <dgm:cxn modelId="{64F80D74-DB0C-E244-9554-E2B05A23B561}" type="presOf" srcId="{F7DED27B-182C-7942-B2FB-2E52560E4626}" destId="{28C969EF-A430-EF4F-A8C4-4A2F818EC016}" srcOrd="0" destOrd="0" presId="urn:microsoft.com/office/officeart/2005/8/layout/venn2"/>
    <dgm:cxn modelId="{855C339C-2C29-3447-91C4-C95CCBE6BA61}" type="presOf" srcId="{A073EF18-EF1A-5E4D-BD8A-C8B92B11661D}" destId="{4C27BA4F-61AB-424D-BFFF-7CEE1DC4331C}" srcOrd="1" destOrd="0" presId="urn:microsoft.com/office/officeart/2005/8/layout/venn2"/>
    <dgm:cxn modelId="{CDAA55A0-F843-1E46-A407-6B2A2C60DB74}" type="presOf" srcId="{C990511F-B88F-FE4E-BA9D-5B3919F93193}" destId="{8E6F3E2B-0D9B-3448-A0E9-AF89EA1FD203}" srcOrd="0" destOrd="0" presId="urn:microsoft.com/office/officeart/2005/8/layout/venn2"/>
    <dgm:cxn modelId="{F9AA62A9-7F57-5E42-8D22-E61187F6C5C4}" type="presOf" srcId="{E11BA652-3D30-5542-AB08-B497B2697702}" destId="{F88E7D5F-28AF-9348-A5CB-09D55984F211}" srcOrd="1" destOrd="0" presId="urn:microsoft.com/office/officeart/2005/8/layout/venn2"/>
    <dgm:cxn modelId="{DF7A3DAC-6E16-3249-B350-0FD591DD5AF6}" type="presOf" srcId="{898DD096-C670-234E-818F-1013BEFC83A3}" destId="{9336F42E-7694-5246-AB7C-07D28779ECF1}" srcOrd="0" destOrd="0" presId="urn:microsoft.com/office/officeart/2005/8/layout/venn2"/>
    <dgm:cxn modelId="{EF2404AE-72AF-324D-B4BC-B1DA9472EF50}" srcId="{898DD096-C670-234E-818F-1013BEFC83A3}" destId="{E11BA652-3D30-5542-AB08-B497B2697702}" srcOrd="2" destOrd="0" parTransId="{C506ADCD-5BED-B144-9A85-C31ABBE37F40}" sibTransId="{73475859-9D2E-7F49-A28C-F1F13FBFEA8F}"/>
    <dgm:cxn modelId="{0D5DFEBE-8248-714D-B3A8-07C0E0F8A0BC}" srcId="{898DD096-C670-234E-818F-1013BEFC83A3}" destId="{A073EF18-EF1A-5E4D-BD8A-C8B92B11661D}" srcOrd="0" destOrd="0" parTransId="{F9DA67DB-AAB2-C546-9D01-8DCAE1E62400}" sibTransId="{3708A7DA-D163-5F49-9BF7-87F29F5A733B}"/>
    <dgm:cxn modelId="{4B8F2DC2-BC4B-A243-9B96-27353CBABA74}" type="presOf" srcId="{C990511F-B88F-FE4E-BA9D-5B3919F93193}" destId="{46BEC05B-877C-CC4E-B823-19F534A7D55D}" srcOrd="1" destOrd="0" presId="urn:microsoft.com/office/officeart/2005/8/layout/venn2"/>
    <dgm:cxn modelId="{76B9BBC4-E800-B14B-9BDF-44D5EE4A3F7D}" type="presOf" srcId="{F7DED27B-182C-7942-B2FB-2E52560E4626}" destId="{8776CE88-1D2B-BD45-B5FB-DB306638066D}" srcOrd="1" destOrd="0" presId="urn:microsoft.com/office/officeart/2005/8/layout/venn2"/>
    <dgm:cxn modelId="{EFCA4BDF-E87F-4643-908C-06946763A6B3}" type="presOf" srcId="{E11BA652-3D30-5542-AB08-B497B2697702}" destId="{70521028-65C7-DA4E-8B39-C6D8AACF4A8E}" srcOrd="0" destOrd="0" presId="urn:microsoft.com/office/officeart/2005/8/layout/venn2"/>
    <dgm:cxn modelId="{72AD078B-E39E-AB42-BB8E-5755673FA1CD}" type="presParOf" srcId="{9336F42E-7694-5246-AB7C-07D28779ECF1}" destId="{00D79D5E-53A6-C240-B8C1-1138140FD7E1}" srcOrd="0" destOrd="0" presId="urn:microsoft.com/office/officeart/2005/8/layout/venn2"/>
    <dgm:cxn modelId="{8147C751-4D0A-2F43-B3ED-47D5A8E2067F}" type="presParOf" srcId="{00D79D5E-53A6-C240-B8C1-1138140FD7E1}" destId="{4A63DFA4-0CA6-974F-95FE-14F79A3FAD8D}" srcOrd="0" destOrd="0" presId="urn:microsoft.com/office/officeart/2005/8/layout/venn2"/>
    <dgm:cxn modelId="{14254ACC-BFF9-3643-95FD-42A2BA4F3441}" type="presParOf" srcId="{00D79D5E-53A6-C240-B8C1-1138140FD7E1}" destId="{4C27BA4F-61AB-424D-BFFF-7CEE1DC4331C}" srcOrd="1" destOrd="0" presId="urn:microsoft.com/office/officeart/2005/8/layout/venn2"/>
    <dgm:cxn modelId="{33C11C59-A453-C74B-90C2-D2A173EE78FA}" type="presParOf" srcId="{9336F42E-7694-5246-AB7C-07D28779ECF1}" destId="{4DAE54CB-3637-A84E-8513-2D1AB6C263FE}" srcOrd="1" destOrd="0" presId="urn:microsoft.com/office/officeart/2005/8/layout/venn2"/>
    <dgm:cxn modelId="{34FE785D-95BF-E544-B217-E05B77C791E4}" type="presParOf" srcId="{4DAE54CB-3637-A84E-8513-2D1AB6C263FE}" destId="{28C969EF-A430-EF4F-A8C4-4A2F818EC016}" srcOrd="0" destOrd="0" presId="urn:microsoft.com/office/officeart/2005/8/layout/venn2"/>
    <dgm:cxn modelId="{60FDB38F-E046-A344-AEE1-CE836BEA77F1}" type="presParOf" srcId="{4DAE54CB-3637-A84E-8513-2D1AB6C263FE}" destId="{8776CE88-1D2B-BD45-B5FB-DB306638066D}" srcOrd="1" destOrd="0" presId="urn:microsoft.com/office/officeart/2005/8/layout/venn2"/>
    <dgm:cxn modelId="{ADAB9C46-A577-8643-81DB-C2D516989F16}" type="presParOf" srcId="{9336F42E-7694-5246-AB7C-07D28779ECF1}" destId="{21D09D46-E24C-D249-AE6F-DAD11CD5387A}" srcOrd="2" destOrd="0" presId="urn:microsoft.com/office/officeart/2005/8/layout/venn2"/>
    <dgm:cxn modelId="{6359F6DC-199D-2040-B56B-2B00743635BE}" type="presParOf" srcId="{21D09D46-E24C-D249-AE6F-DAD11CD5387A}" destId="{70521028-65C7-DA4E-8B39-C6D8AACF4A8E}" srcOrd="0" destOrd="0" presId="urn:microsoft.com/office/officeart/2005/8/layout/venn2"/>
    <dgm:cxn modelId="{0BD869B0-D333-CF46-985A-BBE27E933A7F}" type="presParOf" srcId="{21D09D46-E24C-D249-AE6F-DAD11CD5387A}" destId="{F88E7D5F-28AF-9348-A5CB-09D55984F211}" srcOrd="1" destOrd="0" presId="urn:microsoft.com/office/officeart/2005/8/layout/venn2"/>
    <dgm:cxn modelId="{B1E257B0-A8A3-D143-AB32-157ABA98DE3D}" type="presParOf" srcId="{9336F42E-7694-5246-AB7C-07D28779ECF1}" destId="{4D403406-BEA9-5A4E-A0B9-1837CF9D6782}" srcOrd="3" destOrd="0" presId="urn:microsoft.com/office/officeart/2005/8/layout/venn2"/>
    <dgm:cxn modelId="{FDB2D14E-929C-1F49-90CC-C3AF6F48E287}" type="presParOf" srcId="{4D403406-BEA9-5A4E-A0B9-1837CF9D6782}" destId="{8E6F3E2B-0D9B-3448-A0E9-AF89EA1FD203}" srcOrd="0" destOrd="0" presId="urn:microsoft.com/office/officeart/2005/8/layout/venn2"/>
    <dgm:cxn modelId="{75A4FA33-61B1-E04F-9D8E-DBE59124B9DC}" type="presParOf" srcId="{4D403406-BEA9-5A4E-A0B9-1837CF9D6782}" destId="{46BEC05B-877C-CC4E-B823-19F534A7D55D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3DFA4-0CA6-974F-95FE-14F79A3FAD8D}">
      <dsp:nvSpPr>
        <dsp:cNvPr id="0" name=""/>
        <dsp:cNvSpPr/>
      </dsp:nvSpPr>
      <dsp:spPr>
        <a:xfrm>
          <a:off x="5073316" y="0"/>
          <a:ext cx="8446167" cy="844616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sz="2600" b="1" i="0" u="none" strike="noStrike" kern="1200" cap="none" spc="0" normalizeH="0" baseline="0" noProof="0" dirty="0">
              <a:ln/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nil environmental requirements</a:t>
          </a:r>
        </a:p>
      </dsp:txBody>
      <dsp:txXfrm>
        <a:off x="8115625" y="422308"/>
        <a:ext cx="2361548" cy="1266925"/>
      </dsp:txXfrm>
    </dsp:sp>
    <dsp:sp modelId="{28C969EF-A430-EF4F-A8C4-4A2F818EC016}">
      <dsp:nvSpPr>
        <dsp:cNvPr id="0" name=""/>
        <dsp:cNvSpPr/>
      </dsp:nvSpPr>
      <dsp:spPr>
        <a:xfrm>
          <a:off x="5693332" y="1689233"/>
          <a:ext cx="6756933" cy="67569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radiation and reaction resistance</a:t>
          </a:r>
        </a:p>
      </dsp:txBody>
      <dsp:txXfrm>
        <a:off x="7891025" y="2094649"/>
        <a:ext cx="2361548" cy="1216248"/>
      </dsp:txXfrm>
    </dsp:sp>
    <dsp:sp modelId="{70521028-65C7-DA4E-8B39-C6D8AACF4A8E}">
      <dsp:nvSpPr>
        <dsp:cNvPr id="0" name=""/>
        <dsp:cNvSpPr/>
      </dsp:nvSpPr>
      <dsp:spPr>
        <a:xfrm>
          <a:off x="6762549" y="3378466"/>
          <a:ext cx="5067700" cy="5067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redundancy</a:t>
          </a:r>
        </a:p>
      </dsp:txBody>
      <dsp:txXfrm>
        <a:off x="8115625" y="3758544"/>
        <a:ext cx="2361548" cy="1140232"/>
      </dsp:txXfrm>
    </dsp:sp>
    <dsp:sp modelId="{8E6F3E2B-0D9B-3448-A0E9-AF89EA1FD203}">
      <dsp:nvSpPr>
        <dsp:cNvPr id="0" name=""/>
        <dsp:cNvSpPr/>
      </dsp:nvSpPr>
      <dsp:spPr>
        <a:xfrm>
          <a:off x="7607166" y="5067700"/>
          <a:ext cx="3378466" cy="337846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  <a:sp3d extrusionH="28000" prstMaterial="matte"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dirty="0"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rPr>
            <a:t>self repair</a:t>
          </a:r>
        </a:p>
      </dsp:txBody>
      <dsp:txXfrm>
        <a:off x="8101931" y="5912316"/>
        <a:ext cx="2388936" cy="16892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05754-C48E-DF4E-9B84-E7B6A3B19E2D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0362E-5C5C-984E-ABC7-C52ED959C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9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BC77-BAF6-CD28-FA7D-D59C5525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FD670-1CEC-D74C-4A05-51A82D90E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84B4A-6795-02D7-673A-BCCB278BA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994F9-2BF6-D957-AB37-2EBE65B40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3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3E94-CC92-C8A9-85EC-3FC93BCA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0915D-200B-EF7D-C77F-F0806AAB7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B3727-192B-65C3-9CDF-6276AE9BE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61451-A9AA-B5C3-8E77-A4A49856A3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840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7925-154D-5B7A-5702-0EACD395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A3A45-82D3-4422-9208-87570272A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D792B-E5C1-DEAD-19B5-5DD7BDBE7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62BAB-B476-538B-F6C5-748305F85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102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307E2-1E26-EE2B-C8AB-E80009B5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5B6C8-E7D5-3A93-EFCA-C196EEE21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9DCE1-3CDE-9586-5794-299DFA5BD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999F4-210B-9AE5-4ACA-A1998CC4B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85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6EAE-DE53-A5B5-CF94-F7B68F05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17579-08BF-A8CC-E163-8F9954A83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271A1-C072-6E70-4362-D2CB88F8D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F084F-2F06-9B47-093F-73D52CE62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623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C4F-7A0F-A943-A37C-CBCA0E32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97DA-E85E-0C4F-99BF-0A156C60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CA89-2D26-3A41-89B1-50126474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D168-D168-924A-82CE-07F9D6F7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8C6D-1145-FE40-A5F3-AA76BBFA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0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4DC4-2DA1-B348-A4DF-75DC7F91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39A7-F958-5045-8004-AB9AE1A9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E59F-8028-6640-B7CD-712A00A5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207B-575E-EB46-9167-DC8B9A1A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5824-8924-0F4E-BA06-D6714EF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153B-5FCE-B74A-A920-BCEF1F6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D35-0983-3A42-B252-8AD80D9BF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E38F-3C0D-E140-A6E9-29E4DFD5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BD2A-DB13-B24A-BBFC-927CE896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F839-BEAD-4046-84B9-B65359FF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177-DB72-3842-8FEB-9F37147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9017-D4AC-4443-9CD1-2655A6BD2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979-597B-B94B-BB54-1E681A7E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BD60-7139-A04D-9B93-01CBEFB0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F3AA-F8ED-E14B-85E0-12F62683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392-4C49-3D4E-A960-85F3FF7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4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7FD0-5120-0C4E-9ED8-2E64DC8B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CB33E-1A4C-E646-937B-3065B793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67C-4E8D-224B-B99B-5A8BFB4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43C8-A2E5-9D40-B765-79FA0F4A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570-0F93-F641-B441-AF42A2D4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A5EAD-E92B-9048-B9C8-92222381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873-3B3E-ED46-AB43-A96EABC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82CEE-B54E-EB49-A16C-7BD03BE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FC62-6751-0643-9250-97D2B5E3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D249-AD5C-E04F-9713-314E504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AE547-A907-884B-BE81-EF89D3D6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2ED8E-C4AB-F14B-8929-F9E0303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9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BB6F-7B9B-964D-886B-D85350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F3E-955F-E044-BADD-4B3F3346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94269-793F-EC42-A5AD-E4EDD73A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B24-7F29-EB4C-8550-397A4EF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189-5B1A-7048-AE10-17298DF6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4A-1397-2F45-A4D7-06ABB587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2886-2AD3-CD44-9D2F-2032001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F0679-BAA2-4A4A-A43D-4712441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63EA-2E55-AB41-AAC6-3B06B0A4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4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BE6-8654-C64C-A30A-1F235AC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34EB-69C2-AA42-98DA-7B434044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0A069-EA0A-1644-B57A-5EAE0C27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5D40-9D00-D947-957C-66E69B00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0489-A2A3-BD45-A96A-DD5F4DAE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D875-A92C-C04E-8A5E-F2BC5682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2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C65C-399B-6E41-B6BD-80F1861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5FAD-24BB-2D45-A8F1-E9A89551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0D81-B122-544D-8ACE-546BF491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702-5864-8141-AF11-25FF6E4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3AE1-F5D3-DF4B-8CC4-896B37D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BFE7-4426-2841-9026-40331CF4D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ECEF-DF15-7A4D-BABF-0E2EA14C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4D43-6AD7-3A4D-9528-F70FC789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42A1-B626-9246-BFA2-70780398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CD8-6D3F-824E-8311-38CE4EC5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D635-033D-CA45-AECF-FEC145E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99257-A465-2C4D-9918-BC8C5489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D3B-E2F2-854E-BB00-D5B0BB2A9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42ED2-DF18-DB41-BB39-D7AA7F2F208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05ED-7212-D349-B4CE-23AE6F2BE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6886-3E69-B540-9366-21DA707D6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A95AD505-148F-7C13-EC73-22518E14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id="{B3C53938-22FE-22BD-E59A-97F76192783B}"/>
              </a:ext>
            </a:extLst>
          </p:cNvPr>
          <p:cNvSpPr txBox="1"/>
          <p:nvPr/>
        </p:nvSpPr>
        <p:spPr>
          <a:xfrm>
            <a:off x="0" y="186247"/>
            <a:ext cx="12191999" cy="395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What Life Form </a:t>
            </a:r>
            <a:b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</a:b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has the Fewest 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Architrinos?</a:t>
            </a:r>
            <a:endParaRPr kumimoji="0" lang="en-US" sz="115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311713244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365CF149-638E-D4FE-A688-5F738F29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id="{CA22E71C-3B43-3887-6804-C1009A7A1619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0"/>
              </a:lnSpc>
              <a:defRPr/>
            </a:pP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Nanoarchaeum</a:t>
            </a: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equitans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id="{9FD60923-3051-E75C-EBA1-5F01B55BA37A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smallest living organism recognized by scientists is 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Nanoarchaeum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equitans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 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microbe was discovered in 2002 in a hydrothermal vent off the coast of Iceland. 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cells are only about 400 nanometers in diameter.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one of the smallest genomes of any sequenced microbe, with only 490,885 base pairs.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 small size and minimal genome suggest it contains a relatively low number of atoms compared to larger organisms.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know that RNA molecules </a:t>
            </a:r>
            <a:r>
              <a:rPr lang="en-US" sz="20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cantain</a:t>
            </a: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4K-6K architrinos.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genome therefore contains 500K x 10K ~= 5B architrinos.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h/t CoPilot and Wikipedia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 descr="undefined">
            <a:extLst>
              <a:ext uri="{FF2B5EF4-FFF2-40B4-BE49-F238E27FC236}">
                <a16:creationId id="{446818C8-F552-491F-947A-ACEDA4EBA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8924158" y="3977052"/>
            <a:ext cx="2794000" cy="23368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5:creationId val="3325331473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A711A77B-062A-BD38-03C1-60CB4990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id="{50904127-1953-FD93-0848-CFD145C7CE67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D.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Radiodurans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id="{5A4BFBEF-ACE4-2284-D65B-A6DB0D04FC01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Deinococcus </a:t>
            </a:r>
            <a:r>
              <a:rPr lang="en-US" sz="2000" b="1" i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lang="en-US" sz="2000" b="1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microbe and a bacterium with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extraordinary survival capabilities</a:t>
            </a: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Microbe refers to any microscopic organism, which includes bacteria, viruses, fungi, and protozoa.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Bacterium is a specific type of microbe that belongs to the domain Bacteria.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D.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a polyextremophilic bacterium known for its remarkable resistance to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radiation (i.e., various frequency photons)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cold (how does it radiate photons as a blackbody?)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dehydration (does not require water)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vacuum (does not require any surrounding gas,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acid (is not reactive)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outer space for extended periods (low energy spacetime)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survival skills may emerge from its unique ability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 repair both single and double stranded DNA.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h/t CoPilot and Wikipedia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id="{9E983575-73C1-C2AA-EAB2-22F5A2F20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264091" y="2962677"/>
            <a:ext cx="3449556" cy="396859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5:creationId val="2649105293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BBFBF43E-80A4-D013-5C64-AD16BBE30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id="{DF4E743A-E740-B9E8-D400-EA3F32FF1D55}"/>
              </a:ext>
            </a:extLst>
          </p:cNvPr>
          <p:cNvSpPr txBox="1"/>
          <p:nvPr/>
        </p:nvSpPr>
        <p:spPr>
          <a:xfrm>
            <a:off x="0" y="186247"/>
            <a:ext cx="12191999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D. </a:t>
            </a:r>
            <a:r>
              <a:rPr kumimoji="0" lang="en-US" sz="88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Radiodurans</a:t>
            </a:r>
            <a:endParaRPr kumimoji="0" lang="en-US" sz="8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id="{42082ECC-CEEB-D2B8-60C0-FAF5A1857737}"/>
              </a:ext>
            </a:extLst>
          </p:cNvPr>
          <p:cNvSpPr txBox="1"/>
          <p:nvPr/>
        </p:nvSpPr>
        <p:spPr>
          <a:xfrm>
            <a:off x="0" y="1568935"/>
            <a:ext cx="12191999" cy="48162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FF85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DNA: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Its genome consists of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two circular chromosomes, 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2.65 million base pairs long </a:t>
            </a:r>
          </a:p>
          <a:p>
            <a:pPr marL="1657350" lvl="3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412,000 base pairs long,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</a:t>
            </a:r>
            <a:r>
              <a:rPr lang="en-US" sz="2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megaplasmid</a:t>
            </a: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177,000 base pairs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plasmid of 46,000 base pairs.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approximately 3,195 genes.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its stationary phase, each bacterial cell contains </a:t>
            </a:r>
            <a:r>
              <a:rPr lang="en-US" sz="20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four copies of this genome.</a:t>
            </a:r>
            <a:endParaRPr lang="en-US" sz="2000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rapidly multiplying, each bacterium contains </a:t>
            </a:r>
            <a:r>
              <a:rPr lang="en-US" sz="20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eight to ten copies of the genome.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Proteins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a variety of proteins, including those involved in </a:t>
            </a: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DNA repair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such as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UvrA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UvrB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UvrC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and UvrD2.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Carbohydrates: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biofilm matrix of D. 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contains proteins and carbohydrates.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Pigments: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It produces unique pigments, 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especially carotenoids like </a:t>
            </a:r>
            <a:r>
              <a:rPr kumimoji="0" lang="en-US" sz="20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deinoxanthin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which </a:t>
            </a:r>
            <a:r>
              <a:rPr kumimoji="0" lang="en-US" sz="2000" b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play a critical role in its radiation resistance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3863008067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ns3="http://schemas.microsoft.com/office/powerpoint/2010/main" xmlns:ns4="http://schemas.openxmlformats.org/drawingml/2006/diagram" xmlns:p="http://schemas.openxmlformats.org/presentationml/2006/main" xmlns:r="http://schemas.openxmlformats.org/officeDocument/2006/relationships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id="{1453722B-3781-0E08-25A9-7EDF71C9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id="{64AD777F-D0D7-80D3-EA3B-8A560D8BC354}"/>
              </a:ext>
            </a:extLst>
          </p:cNvPr>
          <p:cNvGraphicFramePr/>
          <p:nvPr>
            <p:extLst>
              <p:ext uri="{D42A27DB-BD31-4B8C-83A1-F6EECF244321}">
                <ns3:modId val="4232438656"/>
              </p:ext>
            </p:extLst>
          </p:nvPr>
        </p:nvGraphicFramePr>
        <p:xfrm>
          <a:off x="-1411705" y="-1588167"/>
          <a:ext cx="18592800" cy="8446167"/>
        </p:xfrm>
        <a:graphic>
          <a:graphicData uri="http://schemas.openxmlformats.org/drawingml/2006/diagram">
            <ns4:relIds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id="{8B0D959F-1F8C-C85F-60B5-2379D17C87E3}"/>
              </a:ext>
            </a:extLst>
          </p:cNvPr>
          <p:cNvSpPr txBox="1"/>
          <p:nvPr/>
        </p:nvSpPr>
        <p:spPr>
          <a:xfrm>
            <a:off x="149912" y="4755362"/>
            <a:ext cx="1219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D.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Radiodurans</a:t>
            </a:r>
            <a:endParaRPr lang="en-US" sz="4000" b="1" noProof="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71500" marR="0" lvl="0" indent="-57150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~10</a:t>
            </a:r>
            <a:r>
              <a:rPr kumimoji="0" lang="en-US" sz="400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11</a:t>
            </a: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atoms</a:t>
            </a:r>
          </a:p>
          <a:p>
            <a:pPr marL="571500" marR="0" lvl="0" indent="-57150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~10</a:t>
            </a:r>
            <a:r>
              <a:rPr kumimoji="0" lang="en-US" sz="400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14</a:t>
            </a:r>
            <a:r>
              <a:rPr kumimoji="0" 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architrinos</a:t>
            </a:r>
          </a:p>
        </p:txBody>
      </p:sp>
      <p:sp>
        <p:nvSpPr>
          <p:cNvPr id="5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2130173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43610</TotalTime>
  <Words>877</Words>
  <Application>Microsoft Macintosh PowerPoint</Application>
  <PresentationFormat>Widescreen</PresentationFormat>
  <Paragraphs>126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Helvetica Neue Condensed Black</vt:lpstr>
      <vt:lpstr>Helvetica Neue Thin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Neoclassical Physics Draft Slides In Progress Unbaked Ideas! </dc:title>
  <dc:creator>Mark Morris</dc:creator>
  <cp:lastModifiedBy>Mark Morris</cp:lastModifiedBy>
  <cp:revision>602</cp:revision>
  <cp:lastPrinted>2021-05-04T05:16:46Z</cp:lastPrinted>
  <dcterms:created xsi:type="dcterms:W3CDTF">2019-04-23T04:22:11Z</dcterms:created>
  <dcterms:modified xsi:type="dcterms:W3CDTF">2026-07-03T17:39:14Z</dcterms:modified>
</cp:coreProperties>
</file>