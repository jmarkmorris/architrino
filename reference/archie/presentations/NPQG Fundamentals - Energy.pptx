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730" r:id="rId2"/>
    <p:sldId id="809" r:id="rId3"/>
    <p:sldId id="771" r:id="rId4"/>
    <p:sldId id="810" r:id="rId5"/>
    <p:sldId id="811" r:id="rId6"/>
    <p:sldId id="812" r:id="rId7"/>
    <p:sldId id="881" r:id="rId8"/>
    <p:sldId id="88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5FF"/>
    <a:srgbClr val="FF8AD8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5266"/>
    <p:restoredTop sz="97363"/>
  </p:normalViewPr>
  <p:slideViewPr>
    <p:cSldViewPr snapToGrid="0" snapToObjects="1">
      <p:cViewPr>
        <p:scale>
          <a:sx n="84" d="100"/>
          <a:sy n="84" d="100"/>
        </p:scale>
        <p:origin x="2840" y="11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DA440-6FDE-5E41-BA40-A3C0E02BAB9F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C398A3-AF21-A342-B6A8-6929C36BB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6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5686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BB3A9-9E4D-1B45-B3D5-CA3715227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4A437C-6978-EF42-B683-287B0BCC6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36A90-6A63-474E-AE00-47FF46C1C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A6875-C7C8-8141-9B12-87599614E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F87BB-FFE9-4F4E-9787-48475824C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95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67A8A-0845-AD47-90A8-18776E749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5297E-D5E0-6745-91A9-52029EE30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9309D-6084-C74B-884A-230D6CFAC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05DDE-4455-5940-ADF4-C579F78A2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64C6E-4C44-A641-B028-04035B812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53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E37A-D8BF-D64A-8216-7ABA6C58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06964-1DAB-F14D-8D48-DEDCBF195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D9634-1414-224C-B6B9-3F0D98D67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57A06-C042-C649-8823-09CD9E492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72125-B186-EA4F-87C1-D421E15E6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50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A32C6-604D-5245-AF13-1117649C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3D95E-DB7F-8741-AA7E-E9FECF96C0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FF041-1EE3-1840-9A00-F30BE067B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2B0A9-40F9-DB4D-BDC1-10F58EBA8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5749E-ED3B-3643-8D22-DA2D88FF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183C9-D2C9-CE44-B58B-ACE8898D0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42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A45A6-44FE-3848-88E8-5552DDC45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C7C1F-E9B4-4E48-ACFC-DC65D6617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CFE821-3558-AB4C-948F-6C6990D14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74632-D045-5A44-BB14-E3D5737A29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E5E05E-D502-E74B-91AF-BB193D328C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03287E-662E-F54F-9162-3F755DD6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8BB5FE-E651-1B4F-8E93-FD794E8A5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AAD7C8-64AF-684B-98B6-D6D6714A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572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DC2D9-851F-F94A-83EC-CAB579920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BF4D5-34AD-5A43-853F-006AD601F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670C52-9CA4-AB4F-957A-7AAD4E259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41625-0652-EB4F-8E04-6C901136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306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592881-FA37-DD45-860A-EA6B38C31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652DC6-52F3-8040-8665-17D023390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CEF52-EC52-6C42-81BD-397B5CE03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734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0788-9DB9-6745-96CF-A7A186227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3299F-D119-D449-BD57-1CE490CB5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3BB0FB-61B4-DC45-9D1E-63F99E6AB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F87701-43E6-A248-ABD9-E1C49D62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6954C-9DFB-264A-A710-D12E71DB3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88770-2503-8F4E-AFC6-6941CC59F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689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3FF65-890A-1A47-B873-C56E2C7D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05E9CE-538C-294A-A814-80A50548B2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3C7C9D-B309-CF46-90D8-B95DD6C2D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7CA5D-F1C9-604D-83E1-2E60AE6E2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BE16D-FB3D-AA41-B06D-73A0FCDF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9839D-F44C-4B47-9DFE-D154851F5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182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5DFD1-B5EF-8445-B336-8B2E596E2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086E7C-46AA-9440-8F1F-C1AD5E8EC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62E40-F60A-404F-9DB3-AC863A0E0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ABF7D-A207-9243-8354-69D0FCFA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599E-5B81-624B-A60C-D22AF58B6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77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BC040-CE85-6347-809B-760E676EF4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7DD51C-FD4B-524F-8054-62599D261A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9F735-3187-1341-AE2A-1316DEDA7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F8F3D-1D9D-EF45-9F9C-E682715F6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DF4D4-99B2-C24C-BCFF-B3AB3F96C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27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14B483-3334-204F-ADDF-2B9BC6A8D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CC4CF-F19A-1848-8467-61B9807AC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28E2E-CB42-B64B-A2AC-B8713F8A0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830BA-8B9E-D54E-AA7F-1B6C247B3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634F2-31DD-3F49-A362-988026E56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32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20.png"/><Relationship Id="rId10" Type="http://schemas.openxmlformats.org/officeDocument/2006/relationships/image" Target="../media/image4.png"/><Relationship Id="rId4" Type="http://schemas.openxmlformats.org/officeDocument/2006/relationships/image" Target="../media/image19.png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a16="http://schemas.microsoft.com/office/drawing/2014/main" xmlns:ns2="http://schemas.openxmlformats.org/markup-compatibility/2006" xmlns:ns4="http://schemas.microsoft.com/office/drawing/2010/main" xmlns:ns5="http://schemas.openxmlformats.org/officeDocument/2006/math" xmlns:ns7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2:AlternateContent>
        <ns2:Choice Requires="a14">
          <p:sp>
            <p:nvSpPr>
              <p:cNvPr id="2" name="TextBox 1">
                <a:extLst>
                  <a:ext uri="{FF2B5EF4-FFF2-40B4-BE49-F238E27FC236}">
                    <a16:creationId id="{09ACD5B1-F579-BE46-A136-9763C9D36C66}"/>
                  </a:ext>
                </a:extLst>
              </p:cNvPr>
              <p:cNvSpPr txBox="1"/>
              <p:nvPr/>
            </p:nvSpPr>
            <p:spPr>
              <a:xfrm>
                <a:off x="2693154" y="2369064"/>
                <a:ext cx="69638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ns4:m>
                  <ns5:oMath>
                    <ns5:sSub>
                      <ns5:sSubPr>
                        <ns5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ns5:ctrlPr>
                      </ns5:sSubPr>
                      <ns5:e>
                        <ns5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ns5:t>𝐸𝑛𝑒𝑟𝑔𝑦</ns5:t>
                        </ns5:r>
                      </ns5:e>
                      <ns5:sub>
                        <ns5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ns5:t>𝑇𝑂𝑇𝐴𝐿</ns5:t>
                        </ns5:r>
                      </ns5:sub>
                    </ns5:sSub>
                  </ns5:oMath>
                </ns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= </a:t>
                </a:r>
                <ns4:m>
                  <ns5:oMath>
                    <ns5:sSub>
                      <ns5:sSubPr>
                        <ns5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ns5:ctrlPr>
                      </ns5:sSubPr>
                      <ns5:e>
                        <ns5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ns5:t>𝐸𝑛𝑒𝑟𝑔𝑦</ns5:t>
                        </ns5:r>
                      </ns5:e>
                      <ns5:sub>
                        <ns5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ns5:t>𝐴𝑃𝑃𝐴𝑅𝐸𝑁𝑇</ns5:t>
                        </ns5:r>
                      </ns5:sub>
                    </ns5:sSub>
                  </ns5:oMath>
                </ns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+ </a:t>
                </a:r>
                <ns4:m>
                  <ns5:oMath>
                    <ns5:sSub>
                      <ns5:sSubPr>
                        <ns5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ns5:ctrlPr>
                      </ns5:sSubPr>
                      <ns5:e>
                        <ns5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ns5:t>𝐸𝑛𝑒𝑟𝑔𝑦</ns5:t>
                        </ns5:r>
                      </ns5:e>
                      <ns5:sub>
                        <ns5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ns5:t>𝑆𝐻𝐼𝐸𝐿𝐷𝐸𝐷𝑣𝑖𝑎𝑆𝑈𝑃𝐸𝑅𝑃𝑂𝑆𝐼𝑇𝐼𝑂𝑁</ns5:t>
                        </ns5:r>
                      </ns5:sub>
                    </ns5:sSub>
                  </ns5:oMath>
                </ns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</a:t>
                </a:r>
              </a:p>
            </p:txBody>
          </p:sp>
        </ns2:Choice>
        <ns2:Fallback>
          <p:sp>
            <p:nvSpPr>
              <p:cNvPr id="2" name="TextBox 1">
                <a:extLst>
                  <a:ext uri="{FF2B5EF4-FFF2-40B4-BE49-F238E27FC236}">
                    <a16:creationId id="{09ACD5B1-F579-BE46-A136-9763C9D36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154" y="2369064"/>
                <a:ext cx="6963894" cy="369332"/>
              </a:xfrm>
              <a:prstGeom prst="rect">
                <a:avLst/>
              </a:prstGeom>
              <a:blipFill>
                <a:blip r:embed="rId3"/>
                <a:stretch>
                  <a:fillRect l="-182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ns2:Fallback>
      </ns2:AlternateContent>
      <ns2:AlternateContent>
        <ns2:Choice Requires="a14">
          <p:sp>
            <p:nvSpPr>
              <p:cNvPr id="4" name="TextBox 3">
                <a:extLst>
                  <a:ext uri="{FF2B5EF4-FFF2-40B4-BE49-F238E27FC236}">
                    <a16:creationId id="{1F81FDB4-73FA-704E-B5D5-4BC4D73D775C}"/>
                  </a:ext>
                </a:extLst>
              </p:cNvPr>
              <p:cNvSpPr txBox="1"/>
              <p:nvPr/>
            </p:nvSpPr>
            <p:spPr>
              <a:xfrm>
                <a:off x="4058368" y="1651873"/>
                <a:ext cx="42334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ns4:m>
                  <ns5:oMathPara>
                    <ns5:oMathParaPr>
                      <ns5:jc ns5:val="centerGroup"/>
                    </ns5:oMathParaPr>
                    <ns5:oMath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𝑁</ns5:t>
                      </ns5:r>
                      <ns5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𝑎𝑡𝑢𝑟𝑒</ns5:t>
                      </ns5:r>
                      <ns5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:</ns5:t>
                      </ns5:r>
                      <ns5:sSub>
                        <ns5:sSubPr>
                          <ns5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ns5:ctrlPr>
                        </ns5:sSubPr>
                        <ns5:e>
                          <ns5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ns5:t> </ns5:t>
                          </ns5:r>
                          <ns5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ns5:t>𝐸𝑛𝑒𝑟𝑔𝑦</ns5:t>
                          </ns5:r>
                        </ns5:e>
                        <ns5:sub>
                          <ns5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ns5:t>𝐴𝑃𝑃𝐴𝑅𝐸𝑁𝑇</ns5:t>
                          </ns5:r>
                        </ns5:sub>
                      </ns5:sSub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= </ns5:t>
                      </ns5:r>
                      <ns5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𝑀𝑎𝑠𝑠</ns5:t>
                      </ns5:r>
                      <ns5:r>
                        <ns5:rPr>
                          <ns5:nor/>
                        </ns5:rP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ns5:t> ∗ </ns5:t>
                      </ns5:r>
                      <ns5:sSup>
                        <ns5:sSupPr>
                          <ns5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ns5:ctrlPr>
                        </ns5:sSupPr>
                        <ns5:e>
                          <ns5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ns5:t>𝑐</ns5:t>
                          </ns5:r>
                        </ns5:e>
                        <ns5:sup>
                          <ns5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ns5:t>2</ns5:t>
                          </ns5:r>
                        </ns5:sup>
                      </ns5:sSup>
                      <ns5:r>
                        <ns5:rPr>
                          <ns5:nor/>
                        </ns5:rP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ns5:t> </ns5:t>
                      </ns5:r>
                    </ns5:oMath>
                  </ns5:oMathPara>
                </ns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ns2:Choice>
        <ns2:Fallback>
          <p:sp>
            <p:nvSpPr>
              <p:cNvPr id="4" name="TextBox 3">
                <a:extLst>
                  <a:ext uri="{FF2B5EF4-FFF2-40B4-BE49-F238E27FC236}">
                    <a16:creationId id="{1F81FDB4-73FA-704E-B5D5-4BC4D73D7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368" y="1651873"/>
                <a:ext cx="4233467" cy="369332"/>
              </a:xfrm>
              <a:prstGeom prst="rect">
                <a:avLst/>
              </a:prstGeom>
              <a:blipFill>
                <a:blip r:embed="rId4"/>
                <a:stretch>
                  <a:fillRect t="-6667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ns2:Fallback>
      </ns2:AlternateContent>
      <ns2:AlternateContent>
        <ns2:Choice Requires="a14">
          <p:sp>
            <p:nvSpPr>
              <p:cNvPr id="11" name="TextBox 10">
                <a:extLst>
                  <a:ext uri="{FF2B5EF4-FFF2-40B4-BE49-F238E27FC236}">
                    <a16:creationId id="{4929D634-5CDA-EA4B-AB4E-C56D95412138}"/>
                  </a:ext>
                </a:extLst>
              </p:cNvPr>
              <p:cNvSpPr txBox="1"/>
              <p:nvPr/>
            </p:nvSpPr>
            <p:spPr>
              <a:xfrm>
                <a:off x="4435747" y="934682"/>
                <a:ext cx="34787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ns4:m>
                  <ns5:oMath>
                    <ns5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𝐸𝑖𝑛𝑠𝑡𝑒𝑖𝑛</ns5:t>
                    </ns5:r>
                    <ns5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 : </ns5:t>
                    </ns5:r>
                    <ns5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𝐸𝑛𝑒𝑟𝑔𝑦</ns5:t>
                    </ns5:r>
                    <ns5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= </ns5:t>
                    </ns5:r>
                    <ns5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𝑀𝑎𝑠𝑠</ns5:t>
                    </ns5:r>
                  </ns5:oMath>
                </ns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* </a:t>
                </a:r>
                <ns4:m>
                  <ns5:oMath>
                    <ns5:sSup>
                      <ns5:sSupPr>
                        <ns5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ns5:ctrlPr>
                      </ns5:sSupPr>
                      <ns5:e>
                        <ns5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ns5:t>𝑐</ns5:t>
                        </ns5:r>
                      </ns5:e>
                      <ns5:sup>
                        <ns5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ns5:t>2</ns5:t>
                        </ns5:r>
                      </ns5:sup>
                    </ns5:sSup>
                  </ns5:oMath>
                </ns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</p:txBody>
          </p:sp>
        </ns2:Choice>
        <ns2:Fallback>
          <p:sp>
            <p:nvSpPr>
              <p:cNvPr id="11" name="TextBox 10">
                <a:extLst>
                  <a:ext uri="{FF2B5EF4-FFF2-40B4-BE49-F238E27FC236}">
                    <a16:creationId id="{4929D634-5CDA-EA4B-AB4E-C56D95412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5747" y="934682"/>
                <a:ext cx="3478709" cy="369332"/>
              </a:xfrm>
              <a:prstGeom prst="rect">
                <a:avLst/>
              </a:prstGeom>
              <a:blipFill>
                <a:blip r:embed="rId5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ns2:Fallback>
      </ns2:AlternateContent>
      <ns2:AlternateContent>
        <ns2:Choice Requires="a14">
          <p:sp>
            <p:nvSpPr>
              <p:cNvPr id="14" name="TextBox 13">
                <a:extLst>
                  <a:ext uri="{FF2B5EF4-FFF2-40B4-BE49-F238E27FC236}">
                    <a16:creationId id="{E13AC0F3-5C34-2644-BA21-4D36596EADBA}"/>
                  </a:ext>
                </a:extLst>
              </p:cNvPr>
              <p:cNvSpPr txBox="1"/>
              <p:nvPr/>
            </p:nvSpPr>
            <p:spPr>
              <a:xfrm>
                <a:off x="2705240" y="245304"/>
                <a:ext cx="6591869" cy="369332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ns4:m>
                  <ns5:oMathPara>
                    <ns5:oMathParaPr>
                      <ns5:jc ns5:val="centerGroup"/>
                    </ns5:oMathParaPr>
                    <ns5:oMath>
                      <ns5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𝑺𝒕𝒂𝒏𝒅𝒂𝒓𝒅</ns5:t>
                      </ns5:r>
                      <ns5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𝒎𝒂𝒕𝒕𝒆𝒓</ns5:t>
                      </ns5:r>
                      <ns5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𝒑𝒂𝒓𝒕𝒊𝒄𝒍𝒆</ns5:t>
                      </ns5:r>
                      <ns5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𝒂𝒔𝒔𝒆𝒎𝒃𝒍𝒚</ns5:t>
                      </ns5:r>
                      <ns5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𝒂𝒕</ns5:t>
                      </ns5:r>
                      <ns5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𝒓𝒆𝒔𝒕</ns5:t>
                      </ns5:r>
                      <ns5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𝒊𝒏</ns5:t>
                      </ns5:r>
                      <ns5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𝒕𝒉𝒆</ns5:t>
                      </ns5:r>
                      <ns5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𝒂𝒆𝒕𝒉𝒆𝒓</ns5:t>
                      </ns5:r>
                    </ns5:oMath>
                  </ns5:oMathPara>
                </ns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ns2:Choice>
        <ns2:Fallback>
          <p:sp>
            <p:nvSpPr>
              <p:cNvPr id="14" name="TextBox 13">
                <a:extLst>
                  <a:ext uri="{FF2B5EF4-FFF2-40B4-BE49-F238E27FC236}">
                    <a16:creationId id="{E13AC0F3-5C34-2644-BA21-4D36596EA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240" y="245304"/>
                <a:ext cx="6591869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ns2:Fallback>
      </ns2:AlternateContent>
      <ns2:AlternateContent>
        <ns2:Choice Requires="a14">
          <p:sp>
            <p:nvSpPr>
              <p:cNvPr id="16" name="TextBox 15">
                <a:extLst>
                  <a:ext uri="{FF2B5EF4-FFF2-40B4-BE49-F238E27FC236}">
                    <a16:creationId id="{EE3E7794-1E88-FF47-B593-FD8ABD326D20}"/>
                  </a:ext>
                </a:extLst>
              </p:cNvPr>
              <p:cNvSpPr txBox="1"/>
              <p:nvPr/>
            </p:nvSpPr>
            <p:spPr>
              <a:xfrm>
                <a:off x="3902331" y="4520636"/>
                <a:ext cx="4545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ns4:m>
                  <ns5:oMath>
                    <ns5:sSub>
                      <ns5:sSubPr>
                        <ns5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ns5:ctrlPr>
                      </ns5:sSubPr>
                      <ns5:e>
                        <ns5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ns5:t>𝐸𝑛𝑒𝑟𝑔𝑦</ns5:t>
                        </ns5:r>
                      </ns5:e>
                      <ns5:sub>
                        <ns5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ns5:t>𝑇𝑂𝑇𝐴𝐿</ns5:t>
                        </ns5:r>
                      </ns5:sub>
                    </ns5:sSub>
                    <ns5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 =</ns5:t>
                    </ns5:r>
                    <ns5:sSub>
                      <ns5:sSubPr>
                        <ns5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ns5:ctrlPr>
                      </ns5:sSubPr>
                      <ns5:e>
                        <ns5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ns5:t>𝐸𝑛𝑒𝑟𝑔𝑦</ns5:t>
                        </ns5:r>
                      </ns5:e>
                      <ns5:sub>
                        <ns5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ns5:t>𝐴𝑃𝑃𝐴𝑅𝐸𝑁𝑇</ns5:t>
                        </ns5:r>
                      </ns5:sub>
                    </ns5:sSub>
                  </ns5:oMath>
                </ns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= </a:t>
                </a:r>
                <ns4:m>
                  <ns5:oMath>
                    <ns5:sSup>
                      <ns5:sSupPr>
                        <ns5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ns5:ctrlPr>
                      </ns5:sSupPr>
                      <ns5:e>
                        <ns5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ns5:t>𝑞</ns5:t>
                        </ns5:r>
                        <ns5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ns5:t> ∗ @</ns5:t>
                        </ns5:r>
                      </ns5:e>
                      <ns5:sup>
                        <ns5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ns5:t>2</ns5:t>
                        </ns5:r>
                      </ns5:sup>
                    </ns5:sSup>
                  </ns5:oMath>
                </ns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</p:txBody>
          </p:sp>
        </ns2:Choice>
        <ns2:Fallback>
          <p:sp>
            <p:nvSpPr>
              <p:cNvPr id="16" name="TextBox 15">
                <a:extLst>
                  <a:ext uri="{FF2B5EF4-FFF2-40B4-BE49-F238E27FC236}">
                    <a16:creationId id="{EE3E7794-1E88-FF47-B593-FD8ABD326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331" y="4520636"/>
                <a:ext cx="4545540" cy="369332"/>
              </a:xfrm>
              <a:prstGeom prst="rect">
                <a:avLst/>
              </a:prstGeom>
              <a:blipFill>
                <a:blip r:embed="rId7"/>
                <a:stretch>
                  <a:fillRect l="-279" t="-10345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ns2:Fallback>
      </ns2:AlternateContent>
      <ns2:AlternateContent>
        <ns2:Choice Requires="a14">
          <p:sp>
            <p:nvSpPr>
              <p:cNvPr id="18" name="TextBox 17">
                <a:extLst>
                  <a:ext uri="{FF2B5EF4-FFF2-40B4-BE49-F238E27FC236}">
                    <a16:creationId id="{E8F051DE-2A4B-0C4E-A0CC-04A871A02B3D}"/>
                  </a:ext>
                </a:extLst>
              </p:cNvPr>
              <p:cNvSpPr txBox="1"/>
              <p:nvPr/>
            </p:nvSpPr>
            <p:spPr>
              <a:xfrm>
                <a:off x="1485772" y="3803446"/>
                <a:ext cx="9030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ns4:m>
                  <ns5:oMath>
                    <ns5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𝐿𝑒𝑡</ns5:t>
                    </ns5:r>
                    <ns5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 </ns5:t>
                    </ns5:r>
                    <ns5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𝑡h𝑒</ns5:t>
                    </ns5:r>
                    <ns5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 </ns5:t>
                    </ns5:r>
                    <ns5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𝑠𝑦𝑚𝑏𝑜𝑙</ns5:t>
                    </ns5:r>
                    <ns5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 </ns5:t>
                    </ns5:r>
                    <ns5:r>
                      <a:rPr kumimoji="0" lang="en-US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@</ns5:t>
                    </ns5:r>
                    <ns5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 </ns5:t>
                    </ns5:r>
                    <ns5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𝑐𝑜𝑟𝑟𝑒𝑠𝑝𝑜𝑛𝑑</ns5:t>
                    </ns5:r>
                    <ns5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 </ns5:t>
                    </ns5:r>
                    <ns5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𝑡𝑜</ns5:t>
                    </ns5:r>
                    <ns5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 </ns5:t>
                    </ns5:r>
                    <ns5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𝑡h𝑒</ns5:t>
                    </ns5:r>
                    <ns5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 </ns5:t>
                    </ns5:r>
                    <ns5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𝑢𝑛𝑖𝑣𝑒𝑟𝑠𝑎𝑙</ns5:t>
                    </ns5:r>
                    <ns5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 </ns5:t>
                    </ns5:r>
                    <ns5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𝑐𝑜𝑛𝑠𝑡𝑎𝑛𝑡</ns5:t>
                    </ns5:r>
                    <ns5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 </ns5:t>
                    </ns5:r>
                    <ns5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𝑠𝑝𝑒𝑒𝑑</ns5:t>
                    </ns5:r>
                    <ns5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 </ns5:t>
                    </ns5:r>
                    <ns5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𝑜𝑓</ns5:t>
                    </ns5:r>
                    <ns5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 </ns5:t>
                    </ns5:r>
                    <ns5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𝑝𝑜𝑡𝑒𝑛𝑡𝑖𝑎𝑙</ns5:t>
                    </ns5:r>
                    <ns5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 </ns5:t>
                    </ns5:r>
                    <ns5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𝑒𝑚𝑖𝑠𝑠𝑖𝑜𝑛𝑠</ns5:t>
                    </ns5:r>
                  </ns5:oMath>
                </ns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.</a:t>
                </a:r>
              </a:p>
            </p:txBody>
          </p:sp>
        </ns2:Choice>
        <ns2:Fallback>
          <p:sp>
            <p:nvSpPr>
              <p:cNvPr id="18" name="TextBox 17">
                <a:extLst>
                  <a:ext uri="{FF2B5EF4-FFF2-40B4-BE49-F238E27FC236}">
                    <a16:creationId id="{E8F051DE-2A4B-0C4E-A0CC-04A871A02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772" y="3803446"/>
                <a:ext cx="9030806" cy="369332"/>
              </a:xfrm>
              <a:prstGeom prst="rect">
                <a:avLst/>
              </a:prstGeom>
              <a:blipFill>
                <a:blip r:embed="rId8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ns2:Fallback>
      </ns2:AlternateContent>
      <ns2:AlternateContent>
        <ns2:Choice Requires="a14">
          <p:sp>
            <p:nvSpPr>
              <p:cNvPr id="20" name="TextBox 19">
                <a:extLst>
                  <a:ext uri="{FF2B5EF4-FFF2-40B4-BE49-F238E27FC236}">
                    <a16:creationId id="{B3FFFA43-DC28-C04C-8FF8-72E533B0CF14}"/>
                  </a:ext>
                </a:extLst>
              </p:cNvPr>
              <p:cNvSpPr txBox="1"/>
              <p:nvPr/>
            </p:nvSpPr>
            <p:spPr>
              <a:xfrm>
                <a:off x="1179767" y="3086255"/>
                <a:ext cx="9990668" cy="369332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ns4:m>
                  <ns5:oMath>
                    <ns5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𝑷𝒐𝒊𝒏𝒕</ns5:t>
                    </ns5:r>
                    <ns5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 </ns5:t>
                    </ns5:r>
                    <ns5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𝒑𝒐𝒕𝒆𝒏𝒕𝒊𝒂𝒍</ns5:t>
                    </ns5:r>
                    <ns5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 </ns5:t>
                    </ns5:r>
                    <ns5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𝒊𝒔𝒐𝒍𝒂𝒕𝒆𝒅</ns5:t>
                    </ns5:r>
                    <ns5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 </ns5:t>
                    </ns5:r>
                    <ns5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𝒊𝒏</ns5:t>
                    </ns5:r>
                    <ns5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 </ns5:t>
                    </ns5:r>
                    <ns5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𝒂</ns5:t>
                    </ns5:r>
                    <ns5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 </ns5:t>
                    </ns5:r>
                    <ns5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𝑬𝒖𝒄𝒍𝒊𝒅𝒆𝒂𝒏</ns5:t>
                    </ns5:r>
                    <ns5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 </ns5:t>
                    </ns5:r>
                    <ns5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𝒗𝒐𝒊𝒅</ns5:t>
                    </ns5:r>
                    <ns5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 </ns5:t>
                    </ns5:r>
                    <ns5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𝒐𝒇</ns5:t>
                    </ns5:r>
                    <ns5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 </ns5:t>
                    </ns5:r>
                    <ns5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𝒔𝒑𝒂𝒄𝒆</ns5:t>
                    </ns5:r>
                    <ns5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 </ns5:t>
                    </ns5:r>
                    <ns5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𝒂𝒏𝒅</ns5:t>
                    </ns5:r>
                    <ns5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 </ns5:t>
                    </ns5:r>
                    <ns5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𝒕𝒊𝒎𝒆</ns5:t>
                    </ns5:r>
                    <ns5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 (</ns5:t>
                    </ns5:r>
                    <ns5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𝒗𝒆𝒍𝒐𝒄𝒊𝒕𝒚</ns5:t>
                    </ns5:r>
                    <ns5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 </ns5:t>
                    </ns5:r>
                    <ns5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𝒏𝒐𝒕</ns5:t>
                    </ns5:r>
                    <ns5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 </ns5:t>
                    </ns5:r>
                    <ns5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𝒅𝒆𝒇𝒊𝒏𝒆𝒅</ns5:t>
                    </ns5:r>
                    <ns5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ns5:t>)</ns5:t>
                    </ns5:r>
                  </ns5:oMath>
                </ns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</p:txBody>
          </p:sp>
        </ns2:Choice>
        <ns2:Fallback>
          <p:sp>
            <p:nvSpPr>
              <p:cNvPr id="20" name="TextBox 19">
                <a:extLst>
                  <a:ext uri="{FF2B5EF4-FFF2-40B4-BE49-F238E27FC236}">
                    <a16:creationId id="{B3FFFA43-DC28-C04C-8FF8-72E533B0C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767" y="3086255"/>
                <a:ext cx="9990668" cy="369332"/>
              </a:xfrm>
              <a:prstGeom prst="rect">
                <a:avLst/>
              </a:prstGeom>
              <a:blipFill>
                <a:blip r:embed="rId9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ns2:Fallback>
      </ns2:AlternateContent>
      <ns2:AlternateContent>
        <ns2:Choice Requires="a14">
          <p:sp>
            <p:nvSpPr>
              <p:cNvPr id="22" name="TextBox 21">
                <a:extLst>
                  <a:ext uri="{FF2B5EF4-FFF2-40B4-BE49-F238E27FC236}">
                    <a16:creationId id="{2F270859-FECE-2645-A10D-F6319FAE5B09}"/>
                  </a:ext>
                </a:extLst>
              </p:cNvPr>
              <p:cNvSpPr txBox="1"/>
              <p:nvPr/>
            </p:nvSpPr>
            <p:spPr>
              <a:xfrm>
                <a:off x="2088245" y="5135368"/>
                <a:ext cx="8173712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ns4:m>
                  <ns5:oMathPara>
                    <ns5:oMathParaPr>
                      <ns5:jc ns5:val="centerGroup"/>
                    </ns5:oMathParaPr>
                    <ns5:oMath>
                      <ns5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𝑫𝒖𝒂𝒍𝒊𝒕𝒚</ns5:t>
                      </ns5:r>
                    </ns5:oMath>
                  </ns5:oMathPara>
                </ns4:m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ns4:m>
                  <ns5:oMathPara>
                    <ns5:oMathParaPr>
                      <ns5:jc ns5:val="centerGroup"/>
                    </ns5:oMathParaPr>
                    <ns5:oMath>
                      <ns5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𝑃𝑜𝑖𝑛𝑡</ns5:t>
                      </ns5:r>
                      <ns5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𝑝𝑜𝑡𝑒𝑛𝑡𝑖𝑎𝑙</ns5:t>
                      </ns5:r>
                      <ns5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𝑓𝑖𝑒𝑙𝑑𝑠</ns5:t>
                      </ns5:r>
                      <ns5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𝑡𝑟𝑎𝑣𝑒𝑙</ns5:t>
                      </ns5:r>
                      <ns5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𝑟𝑎𝑑𝑖𝑎𝑙𝑙𝑦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𝑓𝑟𝑜𝑚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𝑒𝑚𝑖𝑠𝑠𝑖𝑜𝑛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𝑎𝑡</ns5:t>
                      </ns5:r>
                      <ns5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𝑠𝑝𝑒𝑒𝑑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@</ns5:t>
                      </ns5:r>
                      <ns5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.</ns5:t>
                      </ns5:r>
                    </ns5:oMath>
                  </ns5:oMathPara>
                </ns4:m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ns4:m>
                  <ns5:oMathPara>
                    <ns5:oMathParaPr>
                      <ns5:jc ns5:val="centerGroup"/>
                    </ns5:oMathParaPr>
                    <ns5:oMath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𝑃h𝑜𝑡𝑜𝑛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𝑠𝑡𝑟𝑢𝑐𝑡𝑢𝑟𝑒𝑠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𝑡𝑟𝑎𝑣𝑒𝑙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𝑎𝑡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𝑐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, 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𝑡h𝑒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𝒍𝒐𝒄𝒂𝒍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𝑠𝑝𝑒𝑒𝑑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𝑜𝑓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𝑙𝑖𝑔h𝑡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𝑡h𝑟𝑜𝑢𝑔h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𝑡h𝑒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𝑎𝑒𝑡h𝑒𝑟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.</ns5:t>
                      </ns5:r>
                    </ns5:oMath>
                  </ns5:oMathPara>
                </ns4:m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ns4:m>
                  <ns5:oMathPara>
                    <ns5:oMathParaPr>
                      <ns5:jc ns5:val="centerGroup"/>
                    </ns5:oMathParaPr>
                    <ns5:oMath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𝐿𝑜𝑐𝑎𝑙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𝑐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𝑎𝑝𝑝𝑟𝑜𝑎𝑐h𝑒𝑠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@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𝑎𝑠</ns5:t>
                      </ns5:r>
                      <ns5:sSub>
                        <ns5:sSubPr>
                          <ns5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ns5:ctrlPr>
                        </ns5:sSubPr>
                        <ns5:e>
                          <ns5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ns5:t> </ns5:t>
                          </ns5:r>
                          <ns5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ns5:t>𝐸𝑛𝑒𝑟𝑔𝑦</ns5:t>
                          </ns5:r>
                        </ns5:e>
                        <ns5:sub>
                          <ns5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ns5:t>𝐴𝑃𝑃𝐴𝑅𝐸𝑁𝑇</ns5:t>
                          </ns5:r>
                        </ns5:sub>
                      </ns5:sSub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𝑜𝑓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𝑡h𝑒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𝑎𝑒𝑡h𝑒𝑟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𝑎𝑝𝑝𝑟𝑜𝑎𝑐h𝑒𝑠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𝑧𝑒𝑟𝑜</ns5:t>
                      </ns5:r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.</ns5:t>
                      </ns5:r>
                    </ns5:oMath>
                  </ns5:oMathPara>
                </ns4:m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ns4:m>
                  <ns5:oMathPara>
                    <ns5:oMathParaPr>
                      <ns5:jc ns5:val="centerGroup"/>
                    </ns5:oMathParaPr>
                    <ns5:oMath>
                      <ns5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ns5:t> </ns5:t>
                      </ns5:r>
                    </ns5:oMath>
                  </ns5:oMathPara>
                </ns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ns2:Choice>
        <ns2:Fallback>
          <p:sp>
            <p:nvSpPr>
              <p:cNvPr id="22" name="TextBox 21">
                <a:extLst>
                  <a:ext uri="{FF2B5EF4-FFF2-40B4-BE49-F238E27FC236}">
                    <a16:creationId id="{2F270859-FECE-2645-A10D-F6319FAE5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245" y="5135368"/>
                <a:ext cx="8173712" cy="1477328"/>
              </a:xfrm>
              <a:prstGeom prst="rect">
                <a:avLst/>
              </a:prstGeom>
              <a:blipFill>
                <a:blip r:embed="rId10"/>
                <a:stretch>
                  <a:fillRect b="-3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ns2:Fallback>
      </ns2:AlternateContent>
      <p:sp>
        <p:nvSpPr>
          <p:cNvPr id="12" name="Footer Placeholder 3">
            <a:extLst>
              <a:ext uri="{FF2B5EF4-FFF2-40B4-BE49-F238E27FC236}">
                <a16:creationId id="{3FE47B7C-83DE-044A-9B6F-FADD034B7A1A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7:creationId val="3268287473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id="{8FB6C664-DA1B-F62F-45ED-4FE37C051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id="{F209704C-664D-2F6D-EF83-DE4BC64E5FEE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2" name="TextBox 1">
            <a:extLst>
              <a:ext uri="{FF2B5EF4-FFF2-40B4-BE49-F238E27FC236}">
                <a16:creationId id="{E4F2D21E-2DBB-57C9-E71C-4622E984F2C5}"/>
              </a:ext>
            </a:extLst>
          </p:cNvPr>
          <p:cNvSpPr txBox="1"/>
          <p:nvPr/>
        </p:nvSpPr>
        <p:spPr>
          <a:xfrm>
            <a:off x="914462" y="751114"/>
            <a:ext cx="95281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quantum mechanics, the Hamiltonian of a system is an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operator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corresponding to the total energy of that system, including both kinetic energy and potential energy.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mm: so we have momentum type energy = KE = qv?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Its spectrum, the system's energy spectrum or its set of energy eigenvalues, is the set of possible outcomes obtainable from a measurement of the system's total energy.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mm: We don’t have possible outcomes in AAA theory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id="{0DCD5B8F-8323-AED9-632D-6EAD4C78699F}"/>
              </a:ext>
            </a:extLst>
          </p:cNvPr>
          <p:cNvSpPr txBox="1"/>
          <p:nvPr/>
        </p:nvSpPr>
        <p:spPr>
          <a:xfrm>
            <a:off x="2558823" y="117606"/>
            <a:ext cx="70743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Hamiltonian</a:t>
            </a:r>
          </a:p>
        </p:txBody>
      </p:sp>
      <p:pic>
        <p:nvPicPr>
          <p:cNvPr id="3" name="Picture 2">
            <a:extLst>
              <a:ext uri="{FF2B5EF4-FFF2-40B4-BE49-F238E27FC236}">
                <a16:creationId id="{8E4FE5CE-B828-3159-94EF-4EB2E1349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047" y="2631518"/>
            <a:ext cx="4699095" cy="4004740"/>
          </a:xfrm>
          <a:prstGeom prst="rect">
            <a:avLst/>
          </a:prstGeom>
        </p:spPr>
      </p:pic>
      <p:sp>
        <p:nvSpPr>
          <p:cNvPr id="9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4:creationId val="970005215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id="{668F77D6-DFDA-5A46-8DF1-47F6A167C2B1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2" name="TextBox 1">
            <a:extLst>
              <a:ext uri="{FF2B5EF4-FFF2-40B4-BE49-F238E27FC236}">
                <a16:creationId id="{DDEA4115-15F8-921F-AB6F-6FB061DB5DDD}"/>
              </a:ext>
            </a:extLst>
          </p:cNvPr>
          <p:cNvSpPr txBox="1"/>
          <p:nvPr/>
        </p:nvSpPr>
        <p:spPr>
          <a:xfrm>
            <a:off x="1396093" y="751114"/>
            <a:ext cx="952815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Imagine two architrinos isolated in T3S.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Draw a picture with opposite architrinos starting out at a very large real distance.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Show it on the 1/r curve.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KE on the ends is 0, and let’s say each potential has a PE equal which we will show is  q@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/2 at v =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Now start the experiment and they attract and their velocity approaches @ asymptotically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potentials blow right through each other, which is fine.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 can’t start the experiment at true infinity, but if we could, then the potentials would pass at v = @.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 at the moment they pass, the PE is zero since the potential field is defined as 0 at r=0.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Therefore KE must be q@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/2 + q@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/2 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 we have the equation PE + KE = q@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since energy is conserved.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this specific system due to symmetry, PE + KE = q@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/2 for each architrino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But this is different from the virial theorem. Why is that?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 am probably confused. I don’t think I have the potential to mass mapping thought out.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“The relationship between kinetic energy and momentum is given by the equation T=p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/2m, where T is kinetic energy, p is momentum and m is mass. This relationship comes directly from the definitions of momentum (p=mv) and kinetic energy (T=½mv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).”</a:t>
            </a:r>
          </a:p>
        </p:txBody>
      </p:sp>
      <p:sp>
        <p:nvSpPr>
          <p:cNvPr id="8" name="TextBox 7">
            <a:extLst>
              <a:ext uri="{FF2B5EF4-FFF2-40B4-BE49-F238E27FC236}">
                <a16:creationId id="{60D7070F-73F6-024C-A784-AA2DE3B8E022}"/>
              </a:ext>
            </a:extLst>
          </p:cNvPr>
          <p:cNvSpPr txBox="1"/>
          <p:nvPr/>
        </p:nvSpPr>
        <p:spPr>
          <a:xfrm>
            <a:off x="2579914" y="313050"/>
            <a:ext cx="70743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Foundation for a dynamical geometry of nature and the universe </a:t>
            </a:r>
          </a:p>
        </p:txBody>
      </p:sp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1881800938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id="{AD5167F6-EC11-70C0-EB31-19160305A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id="{934C1DBC-3221-5038-85EE-57DDBAD4C75D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2" name="TextBox 1">
            <a:extLst>
              <a:ext uri="{FF2B5EF4-FFF2-40B4-BE49-F238E27FC236}">
                <a16:creationId id="{4C4AED66-D2A5-8BF7-61E9-C9FFCC4C3607}"/>
              </a:ext>
            </a:extLst>
          </p:cNvPr>
          <p:cNvSpPr txBox="1"/>
          <p:nvPr/>
        </p:nvSpPr>
        <p:spPr>
          <a:xfrm>
            <a:off x="516594" y="923406"/>
            <a:ext cx="1146134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symmetry breaking point flip is particularly important because it is asymmetrical.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 we know it is the transition from inflation and expansion.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 know the rate of change of slope starts high and decreases to 1 at the symmetry breaking point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At v&lt;@ when expanding, the rate of change of slope starts at 1 and increases over time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is a lot like a transistor. Two ranges of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behaviour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 The physics are different.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if energy accounting is on a delay basis. is there a time delay Hamiltonian?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There is a delay between emission and action and the delay to return the feedback.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the end, everything works out, but the books can be slightly out of sync.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Energy exchange is not an atomic transaction. 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 is a committed yet lazy self correcting update.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Does this make sense if all Noether cores balance the mid binary at v = @?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Then the mid binary is resting on the symmetry breaking point and sometimes goes one way or the other based on causally out of sync emitters.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there math or information theory on this topic.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But any h-bar step in energy can rest on the edge of up or down. local perturbations flip an energy level.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 why is the symmetry breaking point so important?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v &gt; @ an energy generation state?? Self action went from zero to high quickly.</a:t>
            </a:r>
          </a:p>
        </p:txBody>
      </p:sp>
      <p:sp>
        <p:nvSpPr>
          <p:cNvPr id="8" name="TextBox 7">
            <a:extLst>
              <a:ext uri="{FF2B5EF4-FFF2-40B4-BE49-F238E27FC236}">
                <a16:creationId id="{8721DA69-5DF4-7083-7F7A-4105442F27DE}"/>
              </a:ext>
            </a:extLst>
          </p:cNvPr>
          <p:cNvSpPr txBox="1"/>
          <p:nvPr/>
        </p:nvSpPr>
        <p:spPr>
          <a:xfrm>
            <a:off x="2558823" y="215328"/>
            <a:ext cx="70743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Accounting for Energy</a:t>
            </a:r>
          </a:p>
        </p:txBody>
      </p:sp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3966409932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id="{3C068AEF-8B80-5B82-CDB2-A02AC2DAA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id="{6B1242D3-B3B6-EB05-5D73-E8AC219BA0B7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2" name="TextBox 1">
            <a:extLst>
              <a:ext uri="{FF2B5EF4-FFF2-40B4-BE49-F238E27FC236}">
                <a16:creationId id="{473FE1CD-1253-1CBE-5638-D22D59596C10}"/>
              </a:ext>
            </a:extLst>
          </p:cNvPr>
          <p:cNvSpPr txBox="1"/>
          <p:nvPr/>
        </p:nvSpPr>
        <p:spPr>
          <a:xfrm>
            <a:off x="516594" y="923406"/>
            <a:ext cx="1146134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i="0" u="none" strike="noStrike" dirty="0">
                <a:solidFill>
                  <a:srgbClr val="FFFFFF"/>
                </a:solidFill>
                <a:effectLst/>
                <a:latin typeface="HelveticaNeue-UltraLightItalic" panose="02000503000000020004" pitchFamily="2" charset="0"/>
              </a:rPr>
              <a:t>all binaries in a Noether core of spacetime tend to couple and try to equalize in energy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i="0" u="none" strike="noStrike" dirty="0">
                <a:solidFill>
                  <a:srgbClr val="FFFFFF"/>
                </a:solidFill>
                <a:effectLst/>
                <a:latin typeface="HelveticaNeue-UltraLightItalic" panose="02000503000000020004" pitchFamily="2" charset="0"/>
              </a:rPr>
              <a:t>but when the variation is too high, it is like a transmission not engaging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i="0" u="none" strike="noStrike" dirty="0">
                <a:solidFill>
                  <a:srgbClr val="FFFFFF"/>
                </a:solidFill>
                <a:effectLst/>
                <a:latin typeface="HelveticaNeue-UltraLightItalic" panose="02000503000000020004" pitchFamily="2" charset="0"/>
              </a:rPr>
              <a:t>but I presume binary couplings also change and jump around, for reasons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i="0" u="none" strike="noStrike" dirty="0">
                <a:solidFill>
                  <a:srgbClr val="FFFFFF"/>
                </a:solidFill>
                <a:effectLst/>
                <a:latin typeface="HelveticaNeue-UltraLightItalic" panose="02000503000000020004" pitchFamily="2" charset="0"/>
              </a:rPr>
              <a:t>perhaps the high energy binary couplings in the Noether cores are more synchronized and in a locked state?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i="0" u="none" strike="noStrike" dirty="0">
                <a:solidFill>
                  <a:srgbClr val="FFFFFF"/>
                </a:solidFill>
                <a:effectLst/>
                <a:latin typeface="HelveticaNeue-UltraLightItalic" panose="02000503000000020004" pitchFamily="2" charset="0"/>
              </a:rPr>
              <a:t>Mid energy is probably at v = @ might lock states with other mid energy binaries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i="0" u="none" strike="noStrike" dirty="0">
                <a:solidFill>
                  <a:srgbClr val="FFFFFF"/>
                </a:solidFill>
                <a:effectLst/>
                <a:latin typeface="HelveticaNeue-UltraLightItalic" panose="02000503000000020004" pitchFamily="2" charset="0"/>
              </a:rPr>
              <a:t>it is probably the outer binaries that really jump around in coupling.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i="0" u="none" strike="noStrike" dirty="0">
                <a:solidFill>
                  <a:srgbClr val="FFFFFF"/>
                </a:solidFill>
                <a:effectLst/>
                <a:latin typeface="HelveticaNeue-UltraLightItalic" panose="02000503000000020004" pitchFamily="2" charset="0"/>
              </a:rPr>
              <a:t>So perhaps that has a lot to do with apparent energy (mass) when spacetime Noether cores couple with fermions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i="0" u="none" strike="noStrike" dirty="0">
                <a:solidFill>
                  <a:srgbClr val="FFFFFF"/>
                </a:solidFill>
                <a:effectLst/>
                <a:latin typeface="HelveticaNeue-UltraLightItalic" panose="02000503000000020004" pitchFamily="2" charset="0"/>
              </a:rPr>
              <a:t>Mass would represent the amount of coupling to fermions in local spacetime assemblies.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i="0" u="none" strike="noStrike" dirty="0">
                <a:solidFill>
                  <a:srgbClr val="FFFFFF"/>
                </a:solidFill>
                <a:effectLst/>
                <a:latin typeface="HelveticaNeue-UltraLightItalic" panose="02000503000000020004" pitchFamily="2" charset="0"/>
              </a:rPr>
              <a:t>The more concentrated the mass, the more engagement of local spacetime assemblies.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id="{6EDF4C4C-923C-4D93-92C5-2AEF3203433C}"/>
              </a:ext>
            </a:extLst>
          </p:cNvPr>
          <p:cNvSpPr txBox="1"/>
          <p:nvPr/>
        </p:nvSpPr>
        <p:spPr>
          <a:xfrm>
            <a:off x="2558823" y="215328"/>
            <a:ext cx="70743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Conjecture</a:t>
            </a:r>
          </a:p>
        </p:txBody>
      </p:sp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4279716620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id="{0D17EF14-3CDB-27F9-F38C-05524B02F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id="{1B750387-6F5D-0257-9DC3-653F28CC7E2B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2" name="TextBox 1">
            <a:extLst>
              <a:ext uri="{FF2B5EF4-FFF2-40B4-BE49-F238E27FC236}">
                <a16:creationId id="{EA0E8BC7-A30D-EEB1-9D23-9E700DF39AE4}"/>
              </a:ext>
            </a:extLst>
          </p:cNvPr>
          <p:cNvSpPr txBox="1"/>
          <p:nvPr/>
        </p:nvSpPr>
        <p:spPr>
          <a:xfrm>
            <a:off x="516594" y="923406"/>
            <a:ext cx="1146134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FFFFFF"/>
                </a:solidFill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</a:t>
            </a:r>
            <a:r>
              <a:rPr kumimoji="0" lang="en-US" sz="1800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uLnTx/>
                <a:uFillTx/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onsider</a:t>
            </a:r>
            <a:r>
              <a:rPr kumimoji="0" lang="en-US" sz="1800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these cases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b="0" i="0" u="none" strike="noStrike" dirty="0">
                <a:solidFill>
                  <a:srgbClr val="FFFFFF"/>
                </a:solidFill>
                <a:effectLst/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architrino kicks over v = @ and gets a boost from work done upon it by its own self action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kumimoji="0" lang="en-US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energy to kick it over the symmetry breaking point is less than the energy gained.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b="0" i="0" u="none" strike="noStrike" dirty="0">
                <a:solidFill>
                  <a:srgbClr val="FFFFFF"/>
                </a:solidFill>
                <a:effectLst/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architrino binary </a:t>
            </a:r>
            <a:r>
              <a:rPr lang="en-US" dirty="0">
                <a:solidFill>
                  <a:srgbClr val="FFFFFF"/>
                </a:solidFill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continuously generates a sphere stream that spirals through the universe creating a differential potential which is available for work.</a:t>
            </a:r>
            <a:br>
              <a:rPr lang="en-US" dirty="0">
                <a:solidFill>
                  <a:srgbClr val="FFFFFF"/>
                </a:solidFill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en-US" dirty="0">
              <a:solidFill>
                <a:srgbClr val="FFFFFF"/>
              </a:solidFill>
              <a:latin typeface="HelveticaNeue-UltraLightItalic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Consider a binary and two arbitrary local opposite architrinos as a system. (two electrinos and two positrinos)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each architrino has an 8-ball.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 might be two binaries at times, but everything evolves, the binaries may even switch partners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FFFFFF"/>
              </a:solidFill>
              <a:latin typeface="HelveticaNeue-UltraLightItalic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the intuition here?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 seems like a binary is a perpetual rotor and the wake that it creates can do work.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yet is there some overall equal and opposite effect??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will take more time to visualize and conceptualize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Just break it down to similar and opposites duos.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FFFFFF"/>
              </a:solidFill>
              <a:latin typeface="HelveticaNeue-UltraLightItalic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KE changes relate to the architrino changes on a 1/r potential curve.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Orbiting on a 1/r geodesic does not change KE magnitude. 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HelveticaNeue-UltraLightItalic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If KE is a vector then there is more math.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FFFFFF"/>
              </a:solidFill>
              <a:latin typeface="HelveticaNeue-UltraLightItalic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id="{9D9A0382-67FC-989B-49FA-CC7E4D35E08F}"/>
              </a:ext>
            </a:extLst>
          </p:cNvPr>
          <p:cNvSpPr txBox="1"/>
          <p:nvPr/>
        </p:nvSpPr>
        <p:spPr>
          <a:xfrm>
            <a:off x="2558823" y="215328"/>
            <a:ext cx="70743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PE + KE a constant? It is quite complex.</a:t>
            </a:r>
          </a:p>
        </p:txBody>
      </p:sp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2872470597"/>
      </p:ext>
    </p:extLst>
  </p:cSld>
  <p:clrMapOvr>
    <a:masterClrMapping/>
  </p:clrMapOvr>
</p:sld>
</file>

<file path=ppt/slides/slide7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id="{15AB8420-5829-AE65-35FD-B9B726396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id="{CCB07F1B-345A-682C-7786-B93DA7229F70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id="{9178114D-FA61-2425-6DA6-903E1E0EEAEF}"/>
              </a:ext>
            </a:extLst>
          </p:cNvPr>
          <p:cNvSpPr/>
          <p:nvPr/>
        </p:nvSpPr>
        <p:spPr>
          <a:xfrm>
            <a:off x="2473327" y="378829"/>
            <a:ext cx="72454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Binary Energy Equalization to Equilibrium</a:t>
            </a:r>
          </a:p>
        </p:txBody>
      </p:sp>
      <p:sp>
        <p:nvSpPr>
          <p:cNvPr id="2" name="TextBox 1">
            <a:extLst>
              <a:ext uri="{FF2B5EF4-FFF2-40B4-BE49-F238E27FC236}">
                <a16:creationId id="{2EEF71A6-14E1-8A45-1EEC-76EE6482016F}"/>
              </a:ext>
            </a:extLst>
          </p:cNvPr>
          <p:cNvSpPr txBox="1"/>
          <p:nvPr/>
        </p:nvSpPr>
        <p:spPr>
          <a:xfrm>
            <a:off x="317359" y="1166842"/>
            <a:ext cx="1187464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Quantum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behaviour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emerges from a continuous geometry.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neighborhood of spacetime Noether cores are attempting to equalize apparent energy.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They are all trading in quanta of energy in pi/2 state increments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They operate like a slipping transmission, forward or backward. 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a local neighborhood, assemblies quickly reach equilibrium.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At the fundamental level, below these assemblies, it is a continuous system.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do the mathematical implications of skipping a beat apply?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skipping a beat is the well exercised conditions at the end of each state.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Arriving causal wakes influence the quantum choices.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a lightly perturbed locality, the assemblies quickly arrive at equilibrium.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IDEA: the denser the architrinos, the more energy they capture.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 isolated architrino, distant from others, has little influence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architrino in the local neighborhood causes significant action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2436473042"/>
      </p:ext>
    </p:extLst>
  </p:cSld>
  <p:clrMapOvr>
    <a:masterClrMapping/>
  </p:clrMapOvr>
</p:sld>
</file>

<file path=ppt/slides/slide8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id="{F1C52D0E-7D5D-C1E8-B3FC-06030AF54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id="{ACA2C156-0E3D-FFC8-797A-AEA6E32F32A3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id="{487F020D-D17B-D7C7-0950-4C1355A7F023}"/>
              </a:ext>
            </a:extLst>
          </p:cNvPr>
          <p:cNvSpPr/>
          <p:nvPr/>
        </p:nvSpPr>
        <p:spPr>
          <a:xfrm>
            <a:off x="1878554" y="281107"/>
            <a:ext cx="814184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Analysis of Energy in an Ideal Binary</a:t>
            </a:r>
          </a:p>
        </p:txBody>
      </p:sp>
      <p:sp>
        <p:nvSpPr>
          <p:cNvPr id="2" name="TextBox 1">
            <a:extLst>
              <a:ext uri="{FF2B5EF4-FFF2-40B4-BE49-F238E27FC236}">
                <a16:creationId id="{17E5F500-9630-DE5B-4156-454D4ACDDF86}"/>
              </a:ext>
            </a:extLst>
          </p:cNvPr>
          <p:cNvSpPr txBox="1"/>
          <p:nvPr/>
        </p:nvSpPr>
        <p:spPr>
          <a:xfrm>
            <a:off x="317359" y="1331402"/>
            <a:ext cx="1187464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natural unperturbed ideal spiral is the self powered spiral with two regions.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CFT Region : rate per spiral cycle = h (partner action)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AdS Region : rate per spiral cycle = h (partner action) + g (self action)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radius, frequency, velocity all have first and second degree derivatives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defines a natural emergent timeline – our rate of time vs the natural rate.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 ideal 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onstant rate gains of energy in the form of angular momentum, 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radius will get smaller more quickly,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frequency and orbital velocity will get faster more quickly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 ideal 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onstant rate losses of energy in the form of angular momentum, 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radius will get larger more quickly,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frequency and orbital velocity will get slower more quickly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id="{7A2175A5-74A8-2670-C353-E09D4CB21198}"/>
              </a:ext>
            </a:extLst>
          </p:cNvPr>
          <p:cNvSpPr txBox="1"/>
          <p:nvPr/>
        </p:nvSpPr>
        <p:spPr>
          <a:xfrm>
            <a:off x="-14368639" y="-5417"/>
            <a:ext cx="1436863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Known physics may correctly assess that the binary would spiral to what they thought was oblivion for various reasons.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But they didn’t understand that was merely the symmetry breaking point between the CFT and AdS regions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 can leverage this into a more abstract and yet correct energy analysis.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i.e., add an h, frequency increases from 0 to 1, what did we learn?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these are points on the natural spiral so we know they are valid. 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 must be cautious to remember that stability is the natural spiral behaviour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 think what is possibly confusing is that there are natural rates of change, in fact two of them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sz="2000" dirty="0">
              <a:solidFill>
                <a:srgbClr val="FFC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 when we apply more energy that is changing the rate at which things were changing, thus an acceleration or deceleration.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once the energy transfer stops, then those changes are locked in and we continue the natural progression from there.  </a:t>
            </a:r>
          </a:p>
          <a:p>
            <a:pPr>
              <a:defRPr/>
            </a:pPr>
            <a:endParaRPr lang="en-US" sz="2000" dirty="0">
              <a:solidFill>
                <a:srgbClr val="FFC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Vector potential q/(vr) intersecting a architrino with an eightball. What happens.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2018786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9296</TotalTime>
  <Words>1609</Words>
  <Application>Microsoft Macintosh PowerPoint</Application>
  <PresentationFormat>Widescreen</PresentationFormat>
  <Paragraphs>132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Helvetica Neue</vt:lpstr>
      <vt:lpstr>HelveticaNeue-UltraLightItalic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Morris</dc:creator>
  <cp:lastModifiedBy>Mark Morris</cp:lastModifiedBy>
  <cp:revision>363</cp:revision>
  <cp:lastPrinted>2022-09-07T12:10:19Z</cp:lastPrinted>
  <dcterms:created xsi:type="dcterms:W3CDTF">2022-02-05T18:41:13Z</dcterms:created>
  <dcterms:modified xsi:type="dcterms:W3CDTF">2026-07-03T17:23:11Z</dcterms:modified>
</cp:coreProperties>
</file>